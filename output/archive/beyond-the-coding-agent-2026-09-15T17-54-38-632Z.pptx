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bcedab4f654694" /><Relationship Type="http://schemas.openxmlformats.org/officeDocument/2006/relationships/extended-properties" Target="/docProps/app.xml" Id="Rbc35fc8fd6f04b0c" /><Relationship Type="http://schemas.openxmlformats.org/officeDocument/2006/relationships/officeDocument" Target="/ppt/presentation.xml" Id="Rfed1679421854999"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213dfd5b871741e9"/>
    <p:sldMasterId xmlns:r="http://schemas.openxmlformats.org/officeDocument/2006/relationships" id="2147483650" r:id="Rebc7aea960a4443b"/>
  </p:sldMasterIdLst>
  <p:notesMasterIdLst>
    <p:notesMasterId xmlns:r="http://schemas.openxmlformats.org/officeDocument/2006/relationships" r:id="Ra65ea85ba90f4c7e"/>
  </p:notesMasterIdLst>
  <p:sldIdLst>
    <p:sldId xmlns:r="http://schemas.openxmlformats.org/officeDocument/2006/relationships" id="256" r:id="R8aa1ffa42c7144cb"/>
    <p:sldId xmlns:r="http://schemas.openxmlformats.org/officeDocument/2006/relationships" id="257" r:id="R9499028ba25040f8"/>
    <p:sldId xmlns:r="http://schemas.openxmlformats.org/officeDocument/2006/relationships" id="258" r:id="Rafab8a2156c94a12"/>
    <p:sldId xmlns:r="http://schemas.openxmlformats.org/officeDocument/2006/relationships" id="259" r:id="Rff66aada5bdd49b0"/>
    <p:sldId xmlns:r="http://schemas.openxmlformats.org/officeDocument/2006/relationships" id="260" r:id="R5c2b8653e1714c0d"/>
    <p:sldId xmlns:r="http://schemas.openxmlformats.org/officeDocument/2006/relationships" id="261" r:id="Reb1cf200a0fa44e8"/>
    <p:sldId xmlns:r="http://schemas.openxmlformats.org/officeDocument/2006/relationships" id="262" r:id="R155de7f6ef074640"/>
    <p:sldId xmlns:r="http://schemas.openxmlformats.org/officeDocument/2006/relationships" id="263" r:id="R53436453fe014a82"/>
    <p:sldId xmlns:r="http://schemas.openxmlformats.org/officeDocument/2006/relationships" id="264" r:id="Rfd061dc5b6294e88"/>
    <p:sldId xmlns:r="http://schemas.openxmlformats.org/officeDocument/2006/relationships" id="265" r:id="R8caaa632c4d349dd"/>
    <p:sldId xmlns:r="http://schemas.openxmlformats.org/officeDocument/2006/relationships" id="266" r:id="R331a8d06bf9f408f"/>
    <p:sldId xmlns:r="http://schemas.openxmlformats.org/officeDocument/2006/relationships" id="267" r:id="R54db1f6495414f26"/>
    <p:sldId xmlns:r="http://schemas.openxmlformats.org/officeDocument/2006/relationships" id="268" r:id="Rdc1c54a630854167"/>
    <p:sldId xmlns:r="http://schemas.openxmlformats.org/officeDocument/2006/relationships" id="269" r:id="R599a204e4f384754"/>
    <p:sldId xmlns:r="http://schemas.openxmlformats.org/officeDocument/2006/relationships" id="270" r:id="R8cefcd032b244c00"/>
    <p:sldId xmlns:r="http://schemas.openxmlformats.org/officeDocument/2006/relationships" id="271" r:id="Rc1857365e7ea4f2b"/>
    <p:sldId xmlns:r="http://schemas.openxmlformats.org/officeDocument/2006/relationships" id="272" r:id="R2114d29c93854ee5"/>
    <p:sldId xmlns:r="http://schemas.openxmlformats.org/officeDocument/2006/relationships" id="273" r:id="Rfe09063fc56e456c"/>
    <p:sldId xmlns:r="http://schemas.openxmlformats.org/officeDocument/2006/relationships" id="274" r:id="Rbfc7e84ddf614e80"/>
    <p:sldId xmlns:r="http://schemas.openxmlformats.org/officeDocument/2006/relationships" id="275" r:id="R74b7690bbbe44028"/>
    <p:sldId xmlns:r="http://schemas.openxmlformats.org/officeDocument/2006/relationships" id="276" r:id="Rb43019e62838434f"/>
    <p:sldId xmlns:r="http://schemas.openxmlformats.org/officeDocument/2006/relationships" id="277" r:id="Rc9d9b5a2dfa54c94"/>
    <p:sldId xmlns:r="http://schemas.openxmlformats.org/officeDocument/2006/relationships" id="278" r:id="R63e6f2d8a08741bf"/>
    <p:sldId xmlns:r="http://schemas.openxmlformats.org/officeDocument/2006/relationships" id="279" r:id="R7441aa85cafc4022"/>
    <p:sldId xmlns:r="http://schemas.openxmlformats.org/officeDocument/2006/relationships" id="280" r:id="Re4b6e5a669d843e4"/>
    <p:sldId xmlns:r="http://schemas.openxmlformats.org/officeDocument/2006/relationships" id="281" r:id="R8b16ff4f7bca45fb"/>
    <p:sldId xmlns:r="http://schemas.openxmlformats.org/officeDocument/2006/relationships" id="282" r:id="R9342f0d5de174509"/>
    <p:sldId xmlns:r="http://schemas.openxmlformats.org/officeDocument/2006/relationships" id="283" r:id="R7fdbb9e8bc844252"/>
    <p:sldId xmlns:r="http://schemas.openxmlformats.org/officeDocument/2006/relationships" id="284" r:id="R7ab747c671b7418c"/>
    <p:sldId xmlns:r="http://schemas.openxmlformats.org/officeDocument/2006/relationships" id="285" r:id="Rba1c147c93784703"/>
    <p:sldId xmlns:r="http://schemas.openxmlformats.org/officeDocument/2006/relationships" id="286" r:id="R1a3add097979495b"/>
    <p:sldId xmlns:r="http://schemas.openxmlformats.org/officeDocument/2006/relationships" id="287" r:id="Rdc80ea6632d047f2"/>
    <p:sldId xmlns:r="http://schemas.openxmlformats.org/officeDocument/2006/relationships" id="288" r:id="Rd7f91e1d7f5e42a6"/>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06b103df1c47fc" /><Relationship Type="http://schemas.openxmlformats.org/officeDocument/2006/relationships/slideMaster" Target="/ppt/slideMasters/slideMaster1.xml" Id="R213dfd5b871741e9" /><Relationship Type="http://schemas.openxmlformats.org/officeDocument/2006/relationships/slideMaster" Target="/ppt/slideMasters/slideMaster2.xml" Id="Rebc7aea960a4443b" /><Relationship Type="http://schemas.openxmlformats.org/officeDocument/2006/relationships/notesMaster" Target="/ppt/notesMasters/notesMaster1.xml" Id="Ra65ea85ba90f4c7e" /><Relationship Type="http://schemas.openxmlformats.org/officeDocument/2006/relationships/presProps" Target="/ppt/presProps.xml" Id="R618f0d74543449c3" /><Relationship Type="http://schemas.openxmlformats.org/officeDocument/2006/relationships/tableStyles" Target="/ppt/tableStyles.xml" Id="R3e0bb1ca5c2b42b2" /><Relationship Type="http://schemas.openxmlformats.org/officeDocument/2006/relationships/slide" Target="/ppt/slides/slide1.xml" Id="R8aa1ffa42c7144cb" /><Relationship Type="http://schemas.openxmlformats.org/officeDocument/2006/relationships/slide" Target="/ppt/slides/slide2.xml" Id="R9499028ba25040f8" /><Relationship Type="http://schemas.openxmlformats.org/officeDocument/2006/relationships/slide" Target="/ppt/slides/slide3.xml" Id="Rafab8a2156c94a12" /><Relationship Type="http://schemas.openxmlformats.org/officeDocument/2006/relationships/slide" Target="/ppt/slides/slide4.xml" Id="Rff66aada5bdd49b0" /><Relationship Type="http://schemas.openxmlformats.org/officeDocument/2006/relationships/slide" Target="/ppt/slides/slide5.xml" Id="R5c2b8653e1714c0d" /><Relationship Type="http://schemas.openxmlformats.org/officeDocument/2006/relationships/slide" Target="/ppt/slides/slide6.xml" Id="Reb1cf200a0fa44e8" /><Relationship Type="http://schemas.openxmlformats.org/officeDocument/2006/relationships/slide" Target="/ppt/slides/slide7.xml" Id="R155de7f6ef074640" /><Relationship Type="http://schemas.openxmlformats.org/officeDocument/2006/relationships/slide" Target="/ppt/slides/slide8.xml" Id="R53436453fe014a82" /><Relationship Type="http://schemas.openxmlformats.org/officeDocument/2006/relationships/slide" Target="/ppt/slides/slide9.xml" Id="Rfd061dc5b6294e88" /><Relationship Type="http://schemas.openxmlformats.org/officeDocument/2006/relationships/slide" Target="/ppt/slides/slide10.xml" Id="R8caaa632c4d349dd" /><Relationship Type="http://schemas.openxmlformats.org/officeDocument/2006/relationships/slide" Target="/ppt/slides/slide11.xml" Id="R331a8d06bf9f408f" /><Relationship Type="http://schemas.openxmlformats.org/officeDocument/2006/relationships/slide" Target="/ppt/slides/slide12.xml" Id="R54db1f6495414f26" /><Relationship Type="http://schemas.openxmlformats.org/officeDocument/2006/relationships/slide" Target="/ppt/slides/slide13.xml" Id="Rdc1c54a630854167" /><Relationship Type="http://schemas.openxmlformats.org/officeDocument/2006/relationships/slide" Target="/ppt/slides/slide14.xml" Id="R599a204e4f384754" /><Relationship Type="http://schemas.openxmlformats.org/officeDocument/2006/relationships/slide" Target="/ppt/slides/slide15.xml" Id="R8cefcd032b244c00" /><Relationship Type="http://schemas.openxmlformats.org/officeDocument/2006/relationships/slide" Target="/ppt/slides/slide16.xml" Id="Rc1857365e7ea4f2b" /><Relationship Type="http://schemas.openxmlformats.org/officeDocument/2006/relationships/slide" Target="/ppt/slides/slide17.xml" Id="R2114d29c93854ee5" /><Relationship Type="http://schemas.openxmlformats.org/officeDocument/2006/relationships/slide" Target="/ppt/slides/slide18.xml" Id="Rfe09063fc56e456c" /><Relationship Type="http://schemas.openxmlformats.org/officeDocument/2006/relationships/slide" Target="/ppt/slides/slide19.xml" Id="Rbfc7e84ddf614e80" /><Relationship Type="http://schemas.openxmlformats.org/officeDocument/2006/relationships/slide" Target="/ppt/slides/slide20.xml" Id="R74b7690bbbe44028" /><Relationship Type="http://schemas.openxmlformats.org/officeDocument/2006/relationships/slide" Target="/ppt/slides/slide21.xml" Id="Rb43019e62838434f" /><Relationship Type="http://schemas.openxmlformats.org/officeDocument/2006/relationships/slide" Target="/ppt/slides/slide22.xml" Id="Rc9d9b5a2dfa54c94" /><Relationship Type="http://schemas.openxmlformats.org/officeDocument/2006/relationships/slide" Target="/ppt/slides/slide23.xml" Id="R63e6f2d8a08741bf" /><Relationship Type="http://schemas.openxmlformats.org/officeDocument/2006/relationships/slide" Target="/ppt/slides/slide24.xml" Id="R7441aa85cafc4022" /><Relationship Type="http://schemas.openxmlformats.org/officeDocument/2006/relationships/slide" Target="/ppt/slides/slide25.xml" Id="Re4b6e5a669d843e4" /><Relationship Type="http://schemas.openxmlformats.org/officeDocument/2006/relationships/slide" Target="/ppt/slides/slide26.xml" Id="R8b16ff4f7bca45fb" /><Relationship Type="http://schemas.openxmlformats.org/officeDocument/2006/relationships/slide" Target="/ppt/slides/slide27.xml" Id="R9342f0d5de174509" /><Relationship Type="http://schemas.openxmlformats.org/officeDocument/2006/relationships/slide" Target="/ppt/slides/slide28.xml" Id="R7fdbb9e8bc844252" /><Relationship Type="http://schemas.openxmlformats.org/officeDocument/2006/relationships/slide" Target="/ppt/slides/slide29.xml" Id="R7ab747c671b7418c" /><Relationship Type="http://schemas.openxmlformats.org/officeDocument/2006/relationships/slide" Target="/ppt/slides/slide30.xml" Id="Rba1c147c93784703" /><Relationship Type="http://schemas.openxmlformats.org/officeDocument/2006/relationships/slide" Target="/ppt/slides/slide31.xml" Id="R1a3add097979495b" /><Relationship Type="http://schemas.openxmlformats.org/officeDocument/2006/relationships/slide" Target="/ppt/slides/slide32.xml" Id="Rdc80ea6632d047f2" /><Relationship Type="http://schemas.openxmlformats.org/officeDocument/2006/relationships/slide" Target="/ppt/slides/slide33.xml" Id="Rd7f91e1d7f5e42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7e67cf2550f48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b9bd10519145e6" /><Relationship Type="http://schemas.openxmlformats.org/officeDocument/2006/relationships/notesMaster" Target="/ppt/notesMasters/notesMaster1.xml" Id="R752b291c9d024f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347fc19de34308" /><Relationship Type="http://schemas.openxmlformats.org/officeDocument/2006/relationships/notesMaster" Target="/ppt/notesMasters/notesMaster1.xml" Id="Rb67effc2787545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07f0adb4404eb6" /><Relationship Type="http://schemas.openxmlformats.org/officeDocument/2006/relationships/notesMaster" Target="/ppt/notesMasters/notesMaster1.xml" Id="R828aeea9037c42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651c79f76b4673" /><Relationship Type="http://schemas.openxmlformats.org/officeDocument/2006/relationships/notesMaster" Target="/ppt/notesMasters/notesMaster1.xml" Id="R3ef234514ab14d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c0371fd9a1463a" /><Relationship Type="http://schemas.openxmlformats.org/officeDocument/2006/relationships/notesMaster" Target="/ppt/notesMasters/notesMaster1.xml" Id="R9b61694de6164a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2873f1096a4913" /><Relationship Type="http://schemas.openxmlformats.org/officeDocument/2006/relationships/notesMaster" Target="/ppt/notesMasters/notesMaster1.xml" Id="R0839702cc2d84e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a789122648439c" /><Relationship Type="http://schemas.openxmlformats.org/officeDocument/2006/relationships/notesMaster" Target="/ppt/notesMasters/notesMaster1.xml" Id="R24806a6eff844f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bd35165ec04939" /><Relationship Type="http://schemas.openxmlformats.org/officeDocument/2006/relationships/notesMaster" Target="/ppt/notesMasters/notesMaster1.xml" Id="R4a721235da1f44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901afe1b1f49c2" /><Relationship Type="http://schemas.openxmlformats.org/officeDocument/2006/relationships/notesMaster" Target="/ppt/notesMasters/notesMaster1.xml" Id="Rd7e97d1503cd45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0d090cc68c4fc9" /><Relationship Type="http://schemas.openxmlformats.org/officeDocument/2006/relationships/notesMaster" Target="/ppt/notesMasters/notesMaster1.xml" Id="Rdc0cd7aa43b14b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354f037c5b4182" /><Relationship Type="http://schemas.openxmlformats.org/officeDocument/2006/relationships/notesMaster" Target="/ppt/notesMasters/notesMaster1.xml" Id="Rc093912de9de4f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3e720140394980" /><Relationship Type="http://schemas.openxmlformats.org/officeDocument/2006/relationships/notesMaster" Target="/ppt/notesMasters/notesMaster1.xml" Id="R9b50873f519b4b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fb5e0f2eda481e" /><Relationship Type="http://schemas.openxmlformats.org/officeDocument/2006/relationships/notesMaster" Target="/ppt/notesMasters/notesMaster1.xml" Id="Ra5797116682d46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35d08908ac49fd" /><Relationship Type="http://schemas.openxmlformats.org/officeDocument/2006/relationships/notesMaster" Target="/ppt/notesMasters/notesMaster1.xml" Id="R78aca66ebebe43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d6fb4b24ef404d" /><Relationship Type="http://schemas.openxmlformats.org/officeDocument/2006/relationships/notesMaster" Target="/ppt/notesMasters/notesMaster1.xml" Id="Re2ed3ffeea4e4b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fae6598b754c70" /><Relationship Type="http://schemas.openxmlformats.org/officeDocument/2006/relationships/notesMaster" Target="/ppt/notesMasters/notesMaster1.xml" Id="Rb3c30dfcb4b946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dc7c3fd3e5e434e" /><Relationship Type="http://schemas.openxmlformats.org/officeDocument/2006/relationships/notesMaster" Target="/ppt/notesMasters/notesMaster1.xml" Id="R68f239b297cd44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d26716548e4c9c" /><Relationship Type="http://schemas.openxmlformats.org/officeDocument/2006/relationships/notesMaster" Target="/ppt/notesMasters/notesMaster1.xml" Id="Rfa2efc47ab1c4b3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35ec59e69547ef" /><Relationship Type="http://schemas.openxmlformats.org/officeDocument/2006/relationships/notesMaster" Target="/ppt/notesMasters/notesMaster1.xml" Id="R31f00743aab34fa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b2cd0527d6b4463" /><Relationship Type="http://schemas.openxmlformats.org/officeDocument/2006/relationships/notesMaster" Target="/ppt/notesMasters/notesMaster1.xml" Id="Rea729b78b0ca42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567dbf354a4af1" /><Relationship Type="http://schemas.openxmlformats.org/officeDocument/2006/relationships/notesMaster" Target="/ppt/notesMasters/notesMaster1.xml" Id="Rbb1497704462402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7bd402886764e89" /><Relationship Type="http://schemas.openxmlformats.org/officeDocument/2006/relationships/notesMaster" Target="/ppt/notesMasters/notesMaster1.xml" Id="R38bb8a96cc8244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3892fb72564b17" /><Relationship Type="http://schemas.openxmlformats.org/officeDocument/2006/relationships/notesMaster" Target="/ppt/notesMasters/notesMaster1.xml" Id="R4d64318f44b14b5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84ef880a114115" /><Relationship Type="http://schemas.openxmlformats.org/officeDocument/2006/relationships/notesMaster" Target="/ppt/notesMasters/notesMaster1.xml" Id="R3bd7303aa0a043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9811c2eae314a3b" /><Relationship Type="http://schemas.openxmlformats.org/officeDocument/2006/relationships/notesMaster" Target="/ppt/notesMasters/notesMaster1.xml" Id="R4259b836b5914b6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40cb5b01fed4c0d" /><Relationship Type="http://schemas.openxmlformats.org/officeDocument/2006/relationships/notesMaster" Target="/ppt/notesMasters/notesMaster1.xml" Id="R3275f256245e484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da83c0c0514c83" /><Relationship Type="http://schemas.openxmlformats.org/officeDocument/2006/relationships/notesMaster" Target="/ppt/notesMasters/notesMaster1.xml" Id="R58d75653826948d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421734bc0e48c0" /><Relationship Type="http://schemas.openxmlformats.org/officeDocument/2006/relationships/notesMaster" Target="/ppt/notesMasters/notesMaster1.xml" Id="Rea30a5f094704de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437d9389bf14857" /><Relationship Type="http://schemas.openxmlformats.org/officeDocument/2006/relationships/notesMaster" Target="/ppt/notesMasters/notesMaster1.xml" Id="R0636ef60f435453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5f3b7dde884495e" /><Relationship Type="http://schemas.openxmlformats.org/officeDocument/2006/relationships/notesMaster" Target="/ppt/notesMasters/notesMaster1.xml" Id="R9409c203cbf048e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efbbab9005c40d3" /><Relationship Type="http://schemas.openxmlformats.org/officeDocument/2006/relationships/notesMaster" Target="/ppt/notesMasters/notesMaster1.xml" Id="Rb378404568d34b2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4b7d3b593204e13" /><Relationship Type="http://schemas.openxmlformats.org/officeDocument/2006/relationships/notesMaster" Target="/ppt/notesMasters/notesMaster1.xml" Id="R2d487276a5e7402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061a152e8644dca" /><Relationship Type="http://schemas.openxmlformats.org/officeDocument/2006/relationships/notesMaster" Target="/ppt/notesMasters/notesMaster1.xml" Id="Rf0ab0959b8c942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01</a:t>
            </a:r>
          </a:p>
          <a:p xmlns:a="http://schemas.openxmlformats.org/drawingml/2006/main">
            <a:r>
              <a:t>Beat 1.1 Opener. Section 1. Time 1:00.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state. A greeting, nothing more.</a:t>
            </a:r>
          </a:p>
          <a:p xmlns:a="http://schemas.openxmlformats.org/drawingml/2006/main">
            <a:r>
              <a:t/>
            </a:r>
          </a:p>
          <a:p xmlns:a="http://schemas.openxmlformats.org/drawingml/2006/main">
            <a:r>
              <a:t>In June 2025, Andrej Karpathy put the whole problem in one line.</a:t>
            </a:r>
          </a:p>
          <a:p xmlns:a="http://schemas.openxmlformats.org/drawingml/2006/main">
            <a:r>
              <a:t/>
            </a:r>
          </a:p>
          <a:p xmlns:a="http://schemas.openxmlformats.org/drawingml/2006/main">
            <a:r>
              <a:t>[0:10] Build 1.</a:t>
            </a:r>
          </a:p>
          <a:p xmlns:a="http://schemas.openxmlformats.org/drawingml/2006/main">
            <a:r>
              <a:t/>
            </a:r>
          </a:p>
          <a:p xmlns:a="http://schemas.openxmlformats.org/drawingml/2006/main">
            <a:r>
              <a:t>**"Demo is works.any(), product is works.all()."**</a:t>
            </a:r>
          </a:p>
          <a:p xmlns:a="http://schemas.openxmlformats.org/drawingml/2006/main">
            <a:r>
              <a:t/>
            </a:r>
          </a:p>
          <a:p xmlns:a="http://schemas.openxmlformats.org/drawingml/2006/main">
            <a:r>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t>[0:25] **You have probably seen your coding agent do something impressive this week.** That experience is the starting point for this talk.</a:t>
            </a:r>
          </a:p>
          <a:p xmlns:a="http://schemas.openxmlformats.org/drawingml/2006/main">
            <a:r>
              <a:t/>
            </a:r>
          </a:p>
          <a:p xmlns:a="http://schemas.openxmlformats.org/drawingml/2006/main">
            <a:r>
              <a:t>[0:40] **The distance between those two calls is what this talk is about.** It is the distance between using AI and engineering it.</a:t>
            </a:r>
          </a:p>
          <a:p xmlns:a="http://schemas.openxmlformats.org/drawingml/2006/main">
            <a:r>
              <a:t/>
            </a:r>
          </a:p>
          <a:p xmlns:a="http://schemas.openxmlformats.org/drawingml/2006/main">
            <a:r>
              <a:t>[1:00] Advance to slide 2.</a:t>
            </a:r>
          </a:p>
          <a:p xmlns:a="http://schemas.openxmlformats.org/drawingml/2006/main">
            <a:r>
              <a:t/>
            </a:r>
          </a:p>
          <a:p xmlns:a="http://schemas.openxmlformats.org/drawingml/2006/main">
            <a:r>
              <a:t>Cut first: the greeting and the final setup sentence. Never cut the intended-use and safe-failure interpretation of the metaphor.</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"Software Is Changing (Again)," YC AI Startup School, June 17, 2025. Research §2 in `research/section-1.md`. Marked `[primary]`, quoted verbatim from the Latent Space transcript. No `[verify]` flag.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Conference name and date on the title state, if wanted.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02</a:t>
            </a:r>
          </a:p>
          <a:p xmlns:a="http://schemas.openxmlformats.org/drawingml/2006/main">
            <a:r>
              <a:t>Beat 1.2 Who is talking. Section 1. Time 0:30.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sentences, spoken, not read.</a:t>
            </a:r>
          </a:p>
          <a:p xmlns:a="http://schemas.openxmlformats.org/drawingml/2006/main">
            <a:r>
              <a:t/>
            </a:r>
          </a:p>
          <a:p xmlns:a="http://schemas.openxmlformats.org/drawingml/2006/main">
            <a:r>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t>[0:30] Advance to slide 3.</a:t>
            </a:r>
          </a:p>
          <a:p xmlns:a="http://schemas.openxmlformats.org/drawingml/2006/main">
            <a:r>
              <a:t/>
            </a:r>
          </a:p>
          <a:p xmlns:a="http://schemas.openxmlformats.org/drawingml/2006/main">
            <a:r>
              <a:t>Backup, not spoken: eight to ten concurrent AI and ML efforts; an 85% reduction in production ML deployment time. Both are on the public site if anyone asks what "production" means.</a:t>
            </a:r>
          </a:p>
          <a:p xmlns:a="http://schemas.openxmlformats.org/drawingml/2006/main">
            <a:r>
              <a:t/>
            </a:r>
          </a:p>
          <a:p xmlns:a="http://schemas.openxmlformats.org/drawingml/2006/main">
            <a:r>
              <a:t>**[your story #1, optional].** The moment a demo you built turned out not to be the product. It must show one concrete failure where a working path was not a working system. Thirty seconds.</a:t>
            </a:r>
          </a:p>
          <a:p xmlns:a="http://schemas.openxmlformats.org/drawingml/2006/main">
            <a:r>
              <a:t/>
            </a:r>
          </a:p>
          <a:p xmlns:a="http://schemas.openxmlformats.org/drawingml/2006/main">
            <a:r>
              <a:t>Timing note: this beat is budgeted at 0:30 for the bio alone. Telling the story here needs another 0:30 from somewhere in Section 1, and no Section 1 beat has that much backup material. The story fits inside 2.5 as the evals example, either as story #2 or in place of it. Recommendation: hold it for slide 16 unless the bio can be delivered in ten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sequenzia.com, read September 14, 2026: current role since 2022; "8–10 concurrent AI/ML efforts"; "500+ engineers" reached through agentic engineering enablement; "~85% deployment-time reduction." The three lines are the presenter's own claims about the presenter and need no external citation, but they must be true as spoken.</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#1: here, on slide 16, or dropped.</a:t>
            </a:r>
          </a:p>
          <a:p xmlns:a="http://schemas.openxmlformats.org/drawingml/2006/main">
            <a:r>
              <a:t>- Larger photo if the template wants it above 320 pixels.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03</a:t>
            </a:r>
          </a:p>
          <a:p xmlns:a="http://schemas.openxmlformats.org/drawingml/2006/main">
            <a:r>
              <a:t>Beat 1.3 The thesis.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**Using AI makes you an AI-enabled software engineer. Engineering systems that depend on AI makes you an AI engineer.**</a:t>
            </a:r>
          </a:p>
          <a:p xmlns:a="http://schemas.openxmlformats.org/drawingml/2006/main">
            <a:r>
              <a:t/>
            </a:r>
          </a:p>
          <a:p xmlns:a="http://schemas.openxmlformats.org/drawingml/2006/main">
            <a:r>
              <a:t>[0:08] **This talk focuses on building products around foundation models.** Your software engineering skills are the foundation. The additional responsibility is measuring and controlling model-dependent behavior.</a:t>
            </a:r>
          </a:p>
          <a:p xmlns:a="http://schemas.openxmlformats.org/drawingml/2006/main">
            <a:r>
              <a:t/>
            </a:r>
          </a:p>
          <a:p xmlns:a="http://schemas.openxmlformats.org/drawingml/2006/main">
            <a:r>
              <a:t>[0:22] 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t>[0:34] **Owner means the engineer or team accountable for the delivered product's behavior and operating limits.**</a:t>
            </a:r>
          </a:p>
          <a:p xmlns:a="http://schemas.openxmlformats.org/drawingml/2006/main">
            <a:r>
              <a:t/>
            </a:r>
          </a:p>
          <a:p xmlns:a="http://schemas.openxmlformats.org/drawingml/2006/main">
            <a:r>
              <a:t>[0:45] Advance to slide 4.</a:t>
            </a:r>
          </a:p>
          <a:p xmlns:a="http://schemas.openxmlformats.org/drawingml/2006/main">
            <a:r>
              <a:t/>
            </a:r>
          </a:p>
          <a:p xmlns:a="http://schemas.openxmlformats.org/drawingml/2006/main">
            <a:r>
              <a:t>Cut first: the adaptation and fine-tuning example. Never cut the thesis, the overlap qualification, or the owner definition.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CMU SEI, AI engineering definition; Huyen, AI Engineering, 2025. Research §1 in `research/section-1.md`. Application engineering includes adaptation. Roles overlap.</a:t>
            </a:r>
          </a:p>
          <a:p xmlns:a="http://schemas.openxmlformats.org/drawingml/2006/main">
            <a:r>
              <a:t>- swyx, June 2023, remains background. The essay does not date the invention of the title.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04</a:t>
            </a:r>
          </a:p>
          <a:p xmlns:a="http://schemas.openxmlformats.org/drawingml/2006/main">
            <a:r>
              <a:t>Beat 1.4 Using AI vs engineering AI, and why it is a different discipline. Section 1. Time 1:45.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**This comparison is about where the model-dependent behavior lives.**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t>[0:18] **You design the checks, approval steps, and failure handling.** Human review can be part of either system. Your team owns the product's behavior and operating limits.</a:t>
            </a:r>
          </a:p>
          <a:p xmlns:a="http://schemas.openxmlformats.org/drawingml/2006/main">
            <a:r>
              <a:t/>
            </a:r>
          </a:p>
          <a:p xmlns:a="http://schemas.openxmlformats.org/drawingml/2006/main">
            <a:r>
              <a:t>[0:34] Separately, Anthropic distinguishes workflows on predefined code paths from agents with model-selected actions. **An agent adds model-selected actions to control flow. Ordinary code can still enforce permissions, limits, and other guarantees.** That is why we will examine the system around the model.</a:t>
            </a:r>
          </a:p>
          <a:p xmlns:a="http://schemas.openxmlformats.org/drawingml/2006/main">
            <a:r>
              <a:t/>
            </a:r>
          </a:p>
          <a:p xmlns:a="http://schemas.openxmlformats.org/drawingml/2006/main">
            <a:r>
              <a:t>[0:58] 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t>[1:12] Shankar and colleagues studied how grading outputs helps people refine evaluation criteria. **Watching failures can expose missing requirements.** Some checks are known from the start; others improve as we learn.</a:t>
            </a:r>
          </a:p>
          <a:p xmlns:a="http://schemas.openxmlformats.org/drawingml/2006/main">
            <a:r>
              <a:t/>
            </a:r>
          </a:p>
          <a:p xmlns:a="http://schemas.openxmlformats.org/drawingml/2006/main">
            <a:r>
              <a:t>[1:30] Build 2. **A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t>[1:40] **Using AI changes how you build. Engineering AI changes what you are responsible for.**</a:t>
            </a:r>
          </a:p>
          <a:p xmlns:a="http://schemas.openxmlformats.org/drawingml/2006/main">
            <a:r>
              <a:t/>
            </a:r>
          </a:p>
          <a:p xmlns:a="http://schemas.openxmlformats.org/drawingml/2006/main">
            <a:r>
              <a:t>[1:45] Advance to slide 5.</a:t>
            </a:r>
          </a:p>
          <a:p xmlns:a="http://schemas.openxmlformats.org/drawingml/2006/main">
            <a:r>
              <a:t/>
            </a:r>
          </a:p>
          <a:p xmlns:a="http://schemas.openxmlformats.org/drawingml/2006/main">
            <a:r>
              <a:t>Cut first: the row walk, then the Fowler comparison. Never cut the model-selected-actions distinction, enforceable limits, or commitments.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verbatim. Research §5 in `research/section-1.md`. `[primary]`.</a:t>
            </a:r>
          </a:p>
          <a:p xmlns:a="http://schemas.openxmlformats.org/drawingml/2006/main">
            <a:r>
              <a:t>- Fowler, "Some thoughts on LLMs and Software Development," August 2025. Paraphrased. His text reads "a world on non-determinism," so quote it as written or paraphrase, never "of." Research §2. `[primary]`.</a:t>
            </a:r>
          </a:p>
          <a:p xmlns:a="http://schemas.openxmlformats.org/drawingml/2006/main">
            <a:r>
              <a:t>- Shankar, Zamfirescu-Pereira, Hartmann, Parameswaran, Arawjo, "Who Validates the Validators?" UIST 2024. "Grading outputs helps users define criteria" is from the abstract. Research §3. `[primary]`.</a:t>
            </a:r>
          </a:p>
          <a:p xmlns:a="http://schemas.openxmlformats.org/drawingml/2006/main">
            <a:r>
              <a:t>- The three commitments restate the published session description in the README.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05</a:t>
            </a:r>
          </a:p>
          <a:p xmlns:a="http://schemas.openxmlformats.org/drawingml/2006/main">
            <a:r>
              <a:t>Beat 1.5 What you will leave with, and the agenda.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things to leave with. **A conceptual map of the discipline. An honest sense of how much there is. And a roadmap for making the transition.**</a:t>
            </a:r>
          </a:p>
          <a:p xmlns:a="http://schemas.openxmlformats.org/drawingml/2006/main">
            <a:r>
              <a:t/>
            </a:r>
          </a:p>
          <a:p xmlns:a="http://schemas.openxmlformats.org/drawingml/2006/main">
            <a:r>
              <a:t>[0:10] 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t>[0:26] **For each area: When you are the user, including what someone engineered, then When you are the owner.**</a:t>
            </a:r>
          </a:p>
          <a:p xmlns:a="http://schemas.openxmlformats.org/drawingml/2006/main">
            <a:r>
              <a:t/>
            </a:r>
          </a:p>
          <a:p xmlns:a="http://schemas.openxmlformats.org/drawingml/2006/main">
            <a:r>
              <a:t>[0:45] Advance to slide 6.</a:t>
            </a:r>
          </a:p>
          <a:p xmlns:a="http://schemas.openxmlformats.org/drawingml/2006/main">
            <a:r>
              <a:t/>
            </a:r>
          </a:p>
          <a:p xmlns:a="http://schemas.openxmlformats.org/drawingml/2006/main">
            <a:r>
              <a:t>Cuttable if short on time: reading the minutes aloud. Say "the map, six areas, the transition, then your questions" and let the slide carry the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session description in the README. The three takeaways paraphrase its closing sentence.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06</a:t>
            </a:r>
          </a:p>
          <a:p xmlns:a="http://schemas.openxmlformats.org/drawingml/2006/main">
            <a:r>
              <a:t>Beat 1.6 Transition. Section 1. Time 0:15. Builds: 0.</a:t>
            </a:r>
          </a:p>
          <a:p xmlns:a="http://schemas.openxmlformats.org/drawingml/2006/main">
            <a:r>
              <a:t>Static cursor fallback from the design brief.</a:t>
            </a:r>
          </a:p>
          <a:p xmlns:a="http://schemas.openxmlformats.org/drawingml/2006/main">
            <a:r>
              <a:t/>
            </a:r>
          </a:p>
          <a:p xmlns:a="http://schemas.openxmlformats.org/drawingml/2006/main">
            <a:r>
              <a:t/>
            </a:r>
          </a:p>
          <a:p xmlns:a="http://schemas.openxmlformats.org/drawingml/2006/main">
            <a:r>
              <a:t/>
            </a:r>
          </a:p>
          <a:p xmlns:a="http://schemas.openxmlformats.org/drawingml/2006/main">
            <a:r>
              <a:t>[0:00] Let the terminal sit for a moment. Then:</a:t>
            </a:r>
          </a:p>
          <a:p xmlns:a="http://schemas.openxmlformats.org/drawingml/2006/main">
            <a:r>
              <a:t/>
            </a:r>
          </a:p>
          <a:p xmlns:a="http://schemas.openxmlformats.org/drawingml/2006/main">
            <a:r>
              <a:t>**Let's open up the tool you used this morning.**</a:t>
            </a:r>
          </a:p>
          <a:p xmlns:a="http://schemas.openxmlformats.org/drawingml/2006/main">
            <a:r>
              <a:t/>
            </a:r>
          </a:p>
          <a:p xmlns:a="http://schemas.openxmlformats.org/drawingml/2006/main">
            <a:r>
              <a:t>[0:15] Advance to slide 7.</a:t>
            </a:r>
          </a:p>
          <a:p xmlns:a="http://schemas.openxmlformats.org/drawingml/2006/main">
            <a:r>
              <a:t/>
            </a:r>
          </a:p>
          <a:p xmlns:a="http://schemas.openxmlformats.org/drawingml/2006/main">
            <a:r>
              <a:t>The fifteen seconds is deliberate. It is the breath between the five-minute setup and the twenty-five-minute body. Do not fill it.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None.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Confirm the deck template can render a full-screen terminal frame. If not, use the text fallback.</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07</a:t>
            </a:r>
          </a:p>
          <a:p xmlns:a="http://schemas.openxmlformats.org/drawingml/2006/main">
            <a:r>
              <a:t>Beat 2.0 The map. Section 2. Time 2:00. Builds: 4 highlights, optional.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the deck tool can do the four highlight builds on this image. If it imports SVG, each region can be dimmed by adjusting opacity on its group.</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08b</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When you are the owner, the model is a component you select, measure, and replace.</a:t>
            </a:r>
          </a:p>
          <a:p xmlns:a="http://schemas.openxmlformats.org/drawingml/2006/main">
            <a:r>
              <a:t/>
            </a:r>
          </a:p>
          <a:p xmlns:a="http://schemas.openxmlformats.org/drawingml/2006/main">
            <a:r>
              <a:t>[0:05] Build 1. Select for capability on your tasks, cost per completed task, p95 latency, context, tool use, and data residency.</a:t>
            </a:r>
          </a:p>
          <a:p xmlns:a="http://schemas.openxmlformats.org/drawingml/2006/main">
            <a:r>
              <a:t/>
            </a:r>
          </a:p>
          <a:p xmlns:a="http://schemas.openxmlformats.org/drawingml/2006/main">
            <a:r>
              <a:t>[0:23] Build 2. **Measure your product on representative cases under its operating conditions.** Public benchmarks use a different population and harness.</a:t>
            </a:r>
          </a:p>
          <a:p xmlns:a="http://schemas.openxmlformats.org/drawingml/2006/main">
            <a:r>
              <a:t/>
            </a:r>
          </a:p>
          <a:p xmlns:a="http://schemas.openxmlformats.org/drawingml/2006/main">
            <a:r>
              <a:t>[0:40] Build 3. **Pinned version: controlled migration and lifecycle management. Moving alias: automatic updates and regression monitoring.**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t>[1:14] Build 4. LangChain compared three configurations across 145 tasks. **Read accuracy and cost together.**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**Which configuration meets your product's quality requirement?**</a:t>
            </a:r>
          </a:p>
          <a:p xmlns:a="http://schemas.openxmlformats.org/drawingml/2006/main">
            <a:r>
              <a:t/>
            </a:r>
          </a:p>
          <a:p xmlns:a="http://schemas.openxmlformats.org/drawingml/2006/main">
            <a:r>
              <a:t>[2:04] Build 5. **A hardcoded model ID with no eval suite behind it.** That leaves you choosing a replacement without evidence.</a:t>
            </a:r>
          </a:p>
          <a:p xmlns:a="http://schemas.openxmlformats.org/drawingml/2006/main">
            <a:r>
              <a:t/>
            </a:r>
          </a:p>
          <a:p xmlns:a="http://schemas.openxmlformats.org/drawingml/2006/main">
            <a:r>
              <a:t>[2:20]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Cut first: spoken selection axes and the frontier-share range, which remain visible. Never cut the scope of the prime example, accuracy tradeoff, run-variation qualification, or product-quality question.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Chen, Zaharia, Zou, revised 2023 paper. Research §1 in `research/section-2.md`. [primary], checked in a browser September 15, 2026. Task and prompting limitations retained.</a:t>
            </a:r>
          </a:p>
          <a:p xmlns:a="http://schemas.openxmlformats.org/drawingml/2006/main">
            <a:r>
              <a:t>- LangChain, August 11, 2026. Research §1. [primary], checked September 15. Three configurations, judge-call exclusion, and observed run variation retained.</a:t>
            </a:r>
          </a:p>
          <a:p xmlns:a="http://schemas.openxmlformats.org/drawingml/2006/main">
            <a:r>
              <a:t>- Anthropic and OpenAI lifecycle pages. Research §1. A snapshot does not freeze the whole system.</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a:t>
            </a:r>
          </a:p>
          <a:p xmlns:a="http://schemas.openxmlformats.org/drawingml/2006/main">
            <a:r>
              <a:t>Beat 2.2 Context and knowledge, first half. Section 2. Time 2:30 of the beat's 3:30; slide 11 takes 1:00.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10b</a:t>
            </a:r>
          </a:p>
          <a:p xmlns:a="http://schemas.openxmlformats.org/drawingml/2006/main">
            <a:r>
              <a:t>Beat 2.2 Context and knowledge, first half. Section 2. Time 2:30 of the beat's 3:30; slide 11 takes 1:00.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11</a:t>
            </a:r>
          </a:p>
          <a:p xmlns:a="http://schemas.openxmlformats.org/drawingml/2006/main">
            <a:r>
              <a:t>Beat 2.2 Context and knowledge, second half. Section 2. Time 1:00 of the beat's 3:30; slide 10 took 2:30.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t>[0:10] Build 2.</a:t>
            </a:r>
          </a:p>
          <a:p xmlns:a="http://schemas.openxmlformats.org/drawingml/2006/main">
            <a:r>
              <a:t/>
            </a:r>
          </a:p>
          <a:p xmlns:a="http://schemas.openxmlformats.org/drawingml/2006/main">
            <a:r>
              <a:t>The vendor chose your context budget, your compaction policy, your memory convention, and your retrieval strategy. **You own all four now.**</a:t>
            </a:r>
          </a:p>
          <a:p xmlns:a="http://schemas.openxmlformats.org/drawingml/2006/main">
            <a:r>
              <a:t/>
            </a:r>
          </a:p>
          <a:p xmlns:a="http://schemas.openxmlformats.org/drawingml/2006/main">
            <a:r>
              <a:t>[0:19] Build 3.</a:t>
            </a:r>
          </a:p>
          <a:p xmlns:a="http://schemas.openxmlformats.org/drawingml/2006/main">
            <a:r>
              <a:t/>
            </a:r>
          </a:p>
          <a:p xmlns:a="http://schemas.openxmlformats.org/drawingml/2006/main">
            <a:r>
              <a:t>Customer-facing raises the stakes, because the context now holds another person's data. **A compaction that drops a constraint can produce a wrong answer. Memory exposed to the wrong user or tenant is a breach.**</a:t>
            </a:r>
          </a:p>
          <a:p xmlns:a="http://schemas.openxmlformats.org/drawingml/2006/main">
            <a:r>
              <a:t/>
            </a:r>
          </a:p>
          <a:p xmlns:a="http://schemas.openxmlformats.org/drawingml/2006/main">
            <a:r>
              <a:t>[0:33] Build 4.</a:t>
            </a:r>
          </a:p>
          <a:p xmlns:a="http://schemas.openxmlformats.org/drawingml/2006/main">
            <a:r>
              <a:t/>
            </a:r>
          </a:p>
          <a:p xmlns:a="http://schemas.openxmlformats.org/drawingml/2006/main">
            <a:r>
              <a:t>The pitfall: **adding context instead of curating it.** A big window is not permission to fill it.</a:t>
            </a:r>
          </a:p>
          <a:p xmlns:a="http://schemas.openxmlformats.org/drawingml/2006/main">
            <a:r>
              <a:t/>
            </a:r>
          </a:p>
          <a:p xmlns:a="http://schemas.openxmlformats.org/drawingml/2006/main">
            <a:r>
              <a:t>[0:41] **Context is a budget, not a bucket.**</a:t>
            </a:r>
          </a:p>
          <a:p xmlns:a="http://schemas.openxmlformats.org/drawingml/2006/main">
            <a:r>
              <a:t/>
            </a:r>
          </a:p>
          <a:p xmlns:a="http://schemas.openxmlformats.org/drawingml/2006/main">
            <a:r>
              <a:t>[1:00] Advance to slide 12.</a:t>
            </a:r>
          </a:p>
          <a:p xmlns:a="http://schemas.openxmlformats.org/drawingml/2006/main">
            <a:r>
              <a:t/>
            </a:r>
          </a:p>
          <a:p xmlns:a="http://schemas.openxmlformats.org/drawingml/2006/main">
            <a:r>
              <a:t>The track runs about 0:45. The slack is for the two customer-facing sentences, which should be delivered slowly. Nothing on this slide is cuttable; it is already the short form.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contents of the window, the four attributes, and the four things you own are the talk's own framing, drawn from Anthropic's context-engineering post and the Karpathy enumeration on slide 10. Research §2 in `research/section-2.md`.</a:t>
            </a:r>
          </a:p>
          <a:p xmlns:a="http://schemas.openxmlformats.org/drawingml/2006/main">
            <a:r>
              <a:t>- Chroma's finding, on slide 10, is the evidence behind "a big window is not permission to fill it." Research §2. `[primary]`.</a:t>
            </a:r>
          </a:p>
          <a:p xmlns:a="http://schemas.openxmlformats.org/drawingml/2006/main">
            <a:r>
              <a:t>- No new claims on this slide.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12b</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13</a:t>
            </a:r>
          </a:p>
          <a:p xmlns:a="http://schemas.openxmlformats.org/drawingml/2006/main">
            <a:r>
              <a:t>Beat 2.3 Tools and extensibility, second half. Section 2. Time 1:10 of the beat's 3:00; slide 12 took 1:50.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write descriptions and evaluate task fit. You build the gate.** Payload detail, granularity, and failure handling are your decisions.</a:t>
            </a:r>
          </a:p>
          <a:p xmlns:a="http://schemas.openxmlformats.org/drawingml/2006/main">
            <a:r>
              <a:t/>
            </a:r>
          </a:p>
          <a:p xmlns:a="http://schemas.openxmlformats.org/drawingml/2006/main">
            <a:r>
              <a:t>[0:14] Build 2. Scoped reads need access enforcement. Reversible changes need validation and recovery. Consequential actions need policy authorization or approval. **Authorization applies to every category and is enforced outside the model. A model recommendation does not establish permission.** Approval may be human, async, or an enforced policy.</a:t>
            </a:r>
          </a:p>
          <a:p xmlns:a="http://schemas.openxmlformats.org/drawingml/2006/main">
            <a:r>
              <a:t/>
            </a:r>
          </a:p>
          <a:p xmlns:a="http://schemas.openxmlformats.org/drawingml/2006/main">
            <a:r>
              <a:t>[0:39] Build 3. Legit Security demonstrated CamoLeak: hidden pull-request instructions exfiltrated private data through image URLs. Separately, The Hacker News reported Koi's audit: 341 malicious skills among 2,857. That is secondary reporting, not an independently checked audit here.</a:t>
            </a:r>
          </a:p>
          <a:p xmlns:a="http://schemas.openxmlformats.org/drawingml/2006/main">
            <a:r>
              <a:t/>
            </a:r>
          </a:p>
          <a:p xmlns:a="http://schemas.openxmlformats.org/drawingml/2006/main">
            <a:r>
              <a:t>[0:56] Build 4. **Copying the API surface without evaluating task fit.**</a:t>
            </a:r>
          </a:p>
          <a:p xmlns:a="http://schemas.openxmlformats.org/drawingml/2006/main">
            <a:r>
              <a:t/>
            </a:r>
          </a:p>
          <a:p xmlns:a="http://schemas.openxmlformats.org/drawingml/2006/main">
            <a:r>
              <a:t>[1:02] **Design tools for a caller that reads the description every time and can still get it wrong.**</a:t>
            </a:r>
          </a:p>
          <a:p xmlns:a="http://schemas.openxmlformats.org/drawingml/2006/main">
            <a:r>
              <a:t/>
            </a:r>
          </a:p>
          <a:p xmlns:a="http://schemas.openxmlformats.org/drawingml/2006/main">
            <a:r>
              <a:t>[1:10] Advance to slide 14.</a:t>
            </a:r>
          </a:p>
          <a:p xmlns:a="http://schemas.openxmlformats.org/drawingml/2006/main">
            <a:r>
              <a:t/>
            </a:r>
          </a:p>
          <a:p xmlns:a="http://schemas.openxmlformats.org/drawingml/2006/main">
            <a:r>
              <a:t>Cut first: the payload list and spoken CVSS detail. Never cut authorization across categories, outside-model enforcement, evidence type, or pitfall.</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OWASP Excessive Agency, 2025. Research §3 in `research/section-2.md`. [primary], checked September 15, 2026. Categories are the talk's heuristic.</a:t>
            </a:r>
          </a:p>
          <a:p xmlns:a="http://schemas.openxmlformats.org/drawingml/2006/main">
            <a:r>
              <a:t>- Legit Security, October 2025. Research §3. Direct researcher demonstration, checked September 14.</a:t>
            </a:r>
          </a:p>
          <a:p xmlns:a="http://schemas.openxmlformats.org/drawingml/2006/main">
            <a:r>
              <a:t>- Koi audit via The Hacker News, February 2026. Research §3. Directly checked secondary report; underlying audit not independently checked.</a:t>
            </a:r>
          </a:p>
          <a:p xmlns:a="http://schemas.openxmlformats.org/drawingml/2006/main">
            <a:r>
              <a:t>- Anthropic tool design, September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15</a:t>
            </a:r>
          </a:p>
          <a:p xmlns:a="http://schemas.openxmlformats.org/drawingml/2006/main">
            <a:r>
              <a:t>Beat 2.4 Orchestration, second half. Section 2. Time 1:30 of the beat's 3:30; slide 14 took 2:00.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Workflows are LLMs and tools on predefined code paths. Agents direct their own. **Start with the workflow.** Five patterns cover most of it: chaining, routing, parallelization, orchestrator and workers, evaluator and optimizer.</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**You own the loop.**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Customer-facing: a human is waiting. Latency is a product requirement. **An unbounded loop is an outage.**</a:t>
            </a:r>
          </a:p>
          <a:p xmlns:a="http://schemas.openxmlformats.org/drawingml/2006/main">
            <a:r>
              <a:t/>
            </a:r>
          </a:p>
          <a:p xmlns:a="http://schemas.openxmlformats.org/drawingml/2006/main">
            <a:r>
              <a:t>[0:50] Build 4.</a:t>
            </a:r>
          </a:p>
          <a:p xmlns:a="http://schemas.openxmlformats.org/drawingml/2006/main">
            <a:r>
              <a:t/>
            </a:r>
          </a:p>
          <a:p xmlns:a="http://schemas.openxmlformats.org/drawingml/2006/main">
            <a:r>
              <a:t>The pitfall: **multi-agent orchestration before a workflow was tried.** Separately, Gartner's June 2025 forecast predicted over 40% of agentic projects canceled by end of 2027, citing cost, unclear value, and inadequate controls. **That forecast does not establish that multi-agent architecture causes cancellations.**</a:t>
            </a:r>
          </a:p>
          <a:p xmlns:a="http://schemas.openxmlformats.org/drawingml/2006/main">
            <a:r>
              <a:t/>
            </a:r>
          </a:p>
          <a:p xmlns:a="http://schemas.openxmlformats.org/drawingml/2006/main">
            <a:r>
              <a:t>[1:10] **The loop is where autonomy gets its limits. Start with the workflow.**</a:t>
            </a:r>
          </a:p>
          <a:p xmlns:a="http://schemas.openxmlformats.org/drawingml/2006/main">
            <a:r>
              <a:t/>
            </a:r>
          </a:p>
          <a:p xmlns:a="http://schemas.openxmlformats.org/drawingml/2006/main">
            <a:r>
              <a:t>[1:30] Advance to slide 16.</a:t>
            </a:r>
          </a:p>
          <a:p xmlns:a="http://schemas.openxmlformats.org/drawingml/2006/main">
            <a:r>
              <a:t/>
            </a:r>
          </a:p>
          <a:p xmlns:a="http://schemas.openxmlformats.org/drawingml/2006/main">
            <a:r>
              <a:t>The track runs about 1:15. The slack belongs to build 2, which is a list and should not be rushed. Cuttable if the section runs long: the five pattern names, since they are on the slide; the Gartner forecast, if needed. Keep its forecast label whenever used. Do not cut "start with the workflow," "you own the loop," "an unbounded loop is an outage,"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"we recommend finding the simplest solution possible"; stopping conditions "such as a maximum number of iterations"; the five patterns: prompt chaining, routing, parallelization, orchestrator-workers, evaluator-optimizer. Research §4 in `research/section-2.md`. `[primary]`.</a:t>
            </a:r>
          </a:p>
          <a:p xmlns:a="http://schemas.openxmlformats.org/drawingml/2006/main">
            <a:r>
              <a:t>- Dex Horthy, HumanLayer, "12-Factor Agents." Factors 2, 3, 8, and 7 in the order spoken: own your prompts, own your context window, own your control flow, contact humans with tool calls. Research §4. `[primary]`.</a:t>
            </a:r>
          </a:p>
          <a:p xmlns:a="http://schemas.openxmlformats.org/drawingml/2006/main">
            <a:r>
              <a:t>- Gartner, press release, June 25, 2025. "Over 40% of agentic AI projects will be canceled by the end of 2027, due to escalating costs, unclear business value or inadequate risk controls." Research §4. `[primary]`, read in a browser September 14, 2026. The `[verify wording]` flag is cleared in the outline.</a:t>
            </a:r>
          </a:p>
          <a:p xmlns:a="http://schemas.openxmlformats.org/drawingml/2006/main">
            <a:r>
              <a:t>- Planner-to-worker routing points back to the LangChain figures on slide 9.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The flag on this slide is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a:t>
            </a:r>
          </a:p>
          <a:p xmlns:a="http://schemas.openxmlformats.org/drawingml/2006/main">
            <a:r>
              <a:t>Beat 2.5 Verification and evals, first half. Section 2. Time 3:45 of the beat's 5:00, including story #2 at 1:00; slide 17 takes 1:15.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17</a:t>
            </a:r>
          </a:p>
          <a:p xmlns:a="http://schemas.openxmlformats.org/drawingml/2006/main">
            <a:r>
              <a:t>Beat 2.5 Verification and evals, second half. Section 2. Time 1:15 of the beat's 5:00; slide 16 took 3:45.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must define the checks your domain needs.** Refund limits, duplicate actions, account ownership, and ledger state may be directly checkable. Other qualities, such as faithfulness, may need expert judgment.</a:t>
            </a:r>
          </a:p>
          <a:p xmlns:a="http://schemas.openxmlformats.org/drawingml/2006/main">
            <a:r>
              <a:t/>
            </a:r>
          </a:p>
          <a:p xmlns:a="http://schemas.openxmlformats.org/drawingml/2006/main">
            <a:r>
              <a:t>[0:15] Build 2. Build the verifier. Measure behavior across representative cases and repeated trials. Keep regression checks running and sample production traffic as the system changes.</a:t>
            </a:r>
          </a:p>
          <a:p xmlns:a="http://schemas.openxmlformats.org/drawingml/2006/main">
            <a:r>
              <a:t/>
            </a:r>
          </a:p>
          <a:p xmlns:a="http://schemas.openxmlformats.org/drawingml/2006/main">
            <a:r>
              <a:t>[0:35] Build 3. **Your eval suite gives evidence for a migration decision.** The time and confidence depend on the task, sample size, and deployment constraints.</a:t>
            </a:r>
          </a:p>
          <a:p xmlns:a="http://schemas.openxmlformats.org/drawingml/2006/main">
            <a:r>
              <a:t/>
            </a:r>
          </a:p>
          <a:p xmlns:a="http://schemas.openxmlformats.org/drawingml/2006/main">
            <a:r>
              <a:t>[0:48] Build 4. **A generic judge instead of error analysis. Trusting the success claim without checking the result.**</a:t>
            </a:r>
          </a:p>
          <a:p xmlns:a="http://schemas.openxmlformats.org/drawingml/2006/main">
            <a:r>
              <a:t/>
            </a:r>
          </a:p>
          <a:p xmlns:a="http://schemas.openxmlformats.org/drawingml/2006/main">
            <a:r>
              <a:t>[0:58] **Check the action before accepting it. Measure behavior across representative cases. Keep both checks running as the system changes.**</a:t>
            </a:r>
          </a:p>
          <a:p xmlns:a="http://schemas.openxmlformats.org/drawingml/2006/main">
            <a:r>
              <a:t/>
            </a:r>
          </a:p>
          <a:p xmlns:a="http://schemas.openxmlformats.org/drawingml/2006/main">
            <a:r>
              <a:t>[1:15] Advance to slide 18.</a:t>
            </a:r>
          </a:p>
          <a:p xmlns:a="http://schemas.openxmlformats.org/drawingml/2006/main">
            <a:r>
              <a:t/>
            </a:r>
          </a:p>
          <a:p xmlns:a="http://schemas.openxmlformats.org/drawingml/2006/main">
            <a:r>
              <a:t>Cut first: the domain-example list and migration-time detail. Never cut the responsibility to define checks, ongoing measurement, or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January 2026, and Husain, 2024 and 2026. Research §5 in `research/section-2.md`. Checks and evals are complementary. The migration payoff is evidence, not a one-day promise.</a:t>
            </a:r>
          </a:p>
          <a:p xmlns:a="http://schemas.openxmlformats.org/drawingml/2006/main">
            <a:r>
              <a:t>- Slide 9's model lifecycle pitfall sets up the migration decision.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a:t>
            </a:r>
          </a:p>
          <a:p xmlns:a="http://schemas.openxmlformats.org/drawingml/2006/main">
            <a:r>
              <a:t>Beat 2.6 Operating it, second half, plus the section wrap. Section 2. Time 1:15 of the beat's 4:30; slide 18 took 3:15.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20.</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19b</a:t>
            </a:r>
          </a:p>
          <a:p xmlns:a="http://schemas.openxmlformats.org/drawingml/2006/main">
            <a:r>
              <a:t>Beat 2.6 Operating it, second half, plus the section wrap. Section 2. Time 1:15 of the beat's 4:30; slide 18 took 3:15. Builds: 3.</a:t>
            </a:r>
          </a:p>
          <a:p xmlns:a="http://schemas.openxmlformats.org/drawingml/2006/main">
            <a:r>
              <a:t>Source slide 19, build 3. Hard cut to the section wrap at 0:50.</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20.</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20</a:t>
            </a:r>
          </a:p>
          <a:p xmlns:a="http://schemas.openxmlformats.org/drawingml/2006/main">
            <a:r>
              <a:t>Beat 3.1 What transfers. Section 3. Time 1:15.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up.</a:t>
            </a:r>
          </a:p>
          <a:p xmlns:a="http://schemas.openxmlformats.org/drawingml/2006/main">
            <a:r>
              <a:t/>
            </a:r>
          </a:p>
          <a:p xmlns:a="http://schemas.openxmlformats.org/drawingml/2006/main">
            <a:r>
              <a:t>Everything in the last twenty-five minutes was engineering. **Most of it is engineering you already do.**</a:t>
            </a:r>
          </a:p>
          <a:p xmlns:a="http://schemas.openxmlformats.org/drawingml/2006/main">
            <a:r>
              <a:t/>
            </a:r>
          </a:p>
          <a:p xmlns:a="http://schemas.openxmlformats.org/drawingml/2006/main">
            <a:r>
              <a:t>[0:06] Build 1.</a:t>
            </a:r>
          </a:p>
          <a:p xmlns:a="http://schemas.openxmlformats.org/drawingml/2006/main">
            <a:r>
              <a:t/>
            </a:r>
          </a:p>
          <a:p xmlns:a="http://schemas.openxmlformats.org/drawingml/2006/main">
            <a:r>
              <a:t>**Decomposition and systems thinking transfer whole.** Matt Morgis at Elsevier: "For experienced engineers who know how to break problems down, AI tools are an incredible force multiplier." The harness is a systems design problem. **Interface design becomes tool design.** The same instincts about contracts, naming, granularity, and error handling. The caller changed. **Testing discipline extends to evals.**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t>[0:50] Build 2.</a:t>
            </a:r>
          </a:p>
          <a:p xmlns:a="http://schemas.openxmlformats.org/drawingml/2006/main">
            <a:r>
              <a:t/>
            </a:r>
          </a:p>
          <a:p xmlns:a="http://schemas.openxmlformats.org/drawingml/2006/main">
            <a:r>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t>[1:06] **You are not starting over. You are adding a layer.**</a:t>
            </a:r>
          </a:p>
          <a:p xmlns:a="http://schemas.openxmlformats.org/drawingml/2006/main">
            <a:r>
              <a:t/>
            </a:r>
          </a:p>
          <a:p xmlns:a="http://schemas.openxmlformats.org/drawingml/2006/main">
            <a:r>
              <a:t>[1:15] Advance to slide 21.</a:t>
            </a:r>
          </a:p>
          <a:p xmlns:a="http://schemas.openxmlformats.org/drawingml/2006/main">
            <a:r>
              <a:t/>
            </a:r>
          </a:p>
          <a:p xmlns:a="http://schemas.openxmlformats.org/drawingml/2006/main">
            <a:r>
              <a:t>The track runs about 1:10. Cuttable if Section 3 runs long, in this order: the Morgis quote spoken aloud, since it is on the slide; the three near-identity rows spoken as sentences, reduced to "Observability, security, and operations transfer almost unchanged." Do not cut the three bold transformations, the field evidence,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Orosz, "AI Engineering in the real world," The Pragmatic Engineer, March 25, 2025. Morgis quote verbatim; profiles at incident.io, Sentry, Wordsmith, Augment Code, Elsevier, Simply Business, and DSI; Ryan Cogswell at DSI, twenty-five years, about two months. Research §1 in `research/section-3.md`. `[primary]`.</a:t>
            </a:r>
          </a:p>
          <a:p xmlns:a="http://schemas.openxmlformats.org/drawingml/2006/main">
            <a:r>
              <a:t>- OpenTelemetry GenAI conventions and OWASP, as referenced in rows 4 and 5, are sourced on slide 18. Research §6 in `research/section-2.md`. `[primary]`.</a:t>
            </a:r>
          </a:p>
          <a:p xmlns:a="http://schemas.openxmlformats.org/drawingml/2006/main">
            <a:r>
              <a:t>- The six-row mapping is the talk's own framing.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21</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22.</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21b</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22.</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22</a:t>
            </a:r>
          </a:p>
          <a:p xmlns:a="http://schemas.openxmlformats.org/drawingml/2006/main">
            <a:r>
              <a:t>Beat 3.3 The pitfalls, on one slide. Section 3. Time 0:35.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 Let them read it.</a:t>
            </a:r>
          </a:p>
          <a:p xmlns:a="http://schemas.openxmlformats.org/drawingml/2006/main">
            <a:r>
              <a:t/>
            </a:r>
          </a:p>
          <a:p xmlns:a="http://schemas.openxmlformats.org/drawingml/2006/main">
            <a:r>
              <a:t>You have seen all six.</a:t>
            </a:r>
          </a:p>
          <a:p xmlns:a="http://schemas.openxmlformats.org/drawingml/2006/main">
            <a:r>
              <a:t/>
            </a:r>
          </a:p>
          <a:p xmlns:a="http://schemas.openxmlformats.org/drawingml/2006/main">
            <a:r>
              <a:t>[0:05] **Every one is a symptom of the same thing: treating the demo as the product.** works.any() shipped as works.all().</a:t>
            </a:r>
          </a:p>
          <a:p xmlns:a="http://schemas.openxmlformats.org/drawingml/2006/main">
            <a:r>
              <a:t/>
            </a:r>
          </a:p>
          <a:p xmlns:a="http://schemas.openxmlformats.org/drawingml/2006/main">
            <a:r>
              <a:t>[0:13] 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t>[0:29] **Every pitfall on this list is a demo mistaken for a product.**</a:t>
            </a:r>
          </a:p>
          <a:p xmlns:a="http://schemas.openxmlformats.org/drawingml/2006/main">
            <a:r>
              <a:t/>
            </a:r>
          </a:p>
          <a:p xmlns:a="http://schemas.openxmlformats.org/drawingml/2006/main">
            <a:r>
              <a:t>[0:35] Advance to slide 23.</a:t>
            </a:r>
          </a:p>
          <a:p xmlns:a="http://schemas.openxmlformats.org/drawingml/2006/main">
            <a:r>
              <a:t/>
            </a:r>
          </a:p>
          <a:p xmlns:a="http://schemas.openxmlformats.org/drawingml/2006/main">
            <a:r>
              <a:t>The track runs about 0:34. The five seconds of silence at the top are deliberate; the audience needs them to recognize the six lines. Cuttable if Section 3 runs long: the framework paragraph, which returns on slide 23 as "own the harness." Do not cut the two bold lines.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pitfalls are Section 2's, one per area. Research §1 through §6 in `research/section-2.md`.</a:t>
            </a:r>
          </a:p>
          <a:p xmlns:a="http://schemas.openxmlformats.org/drawingml/2006/main">
            <a:r>
              <a:t>- Anthropic, "Building effective agents," December 2024. Frameworks "often create extra layers of abstraction that can obscure the underlying prompts and responses, making them harder to debug." Quoted as a substring. Research §3 in `research/section-3.md`. `[primary]`.</a:t>
            </a:r>
          </a:p>
          <a:p xmlns:a="http://schemas.openxmlformats.org/drawingml/2006/main">
            <a:r>
              <a:t>- works.any() and works.all() from slide 1. Research §2 in `research/section-1.md`.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Decide whether the framework pitfall appears as a second build or stays spoken.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23</a:t>
            </a:r>
          </a:p>
          <a:p xmlns:a="http://schemas.openxmlformats.org/drawingml/2006/main">
            <a:r>
              <a:t>Beat 3.4 The roadmap. Section 3. Time 1:25, including story #3 at 0:30. Builds: 2.</a:t>
            </a:r>
          </a:p>
          <a:p xmlns:a="http://schemas.openxmlformats.org/drawingml/2006/main">
            <a:r>
              <a:t>Sublines are spoken. The six-stage adoption arc uses the compact fallback.</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Four steps. **Look before you build. On Monday, review twenty to fifty outputs of whatever AI feature you are closest to, by hand.** Write down what is wrong with each one. That is your first eval. Do it before any infrastructure.</a:t>
            </a:r>
          </a:p>
          <a:p xmlns:a="http://schemas.openxmlformats.org/drawingml/2006/main">
            <a:r>
              <a:t/>
            </a:r>
          </a:p>
          <a:p xmlns:a="http://schemas.openxmlformats.org/drawingml/2006/main">
            <a:r>
              <a:t>[0:18] **Start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t>[0:29] 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t>[0:41] **Add autonomy as your evals earn it.** Every step up is paid for by a check that catches what it breaks.</a:t>
            </a:r>
          </a:p>
          <a:p xmlns:a="http://schemas.openxmlformats.org/drawingml/2006/main">
            <a:r>
              <a:t/>
            </a:r>
          </a:p>
          <a:p xmlns:a="http://schemas.openxmlformats.org/drawingml/2006/main">
            <a:r>
              <a:t>[0:49] Build 2.</a:t>
            </a:r>
          </a:p>
          <a:p xmlns:a="http://schemas.openxmlformats.org/drawingml/2006/main">
            <a:r>
              <a:t/>
            </a:r>
          </a:p>
          <a:p xmlns:a="http://schemas.openxmlformats.org/drawingml/2006/main">
            <a:r>
              <a:t>On the slide, the shape of Mitchell Hashimoto's own year: six steps, each earned by the last.</a:t>
            </a:r>
          </a:p>
          <a:p xmlns:a="http://schemas.openxmlformats.org/drawingml/2006/main">
            <a:r>
              <a:t/>
            </a:r>
          </a:p>
          <a:p xmlns:a="http://schemas.openxmlformats.org/drawingml/2006/main">
            <a:r>
              <a:t>[0:55] Story #3.</a:t>
            </a:r>
          </a:p>
          <a:p xmlns:a="http://schemas.openxmlformats.org/drawingml/2006/main">
            <a:r>
              <a:t/>
            </a:r>
          </a:p>
          <a:p xmlns:a="http://schemas.openxmlformats.org/drawingml/2006/main">
            <a:r>
              <a:t>**[your story #3]**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t>[1:25] **Autonomy is earned by evals, one step at a time.** Advance to slide 24 on the last word.</a:t>
            </a:r>
          </a:p>
          <a:p xmlns:a="http://schemas.openxmlformats.org/drawingml/2006/main">
            <a:r>
              <a:t/>
            </a:r>
          </a:p>
          <a:p xmlns:a="http://schemas.openxmlformats.org/drawingml/2006/main">
            <a:r>
              <a:t>The track runs about 1:27 with the story. If story #3 is not told, speak the arc in full instead: chat, then an agent reproducing manual work, then background agents, then delegating what you are confident in, then building verification tools, then continuous operation. Each step earned by the last. That version runs about 1:10.</a:t>
            </a:r>
          </a:p>
          <a:p xmlns:a="http://schemas.openxmlformats.org/drawingml/2006/main">
            <a:r>
              <a:t/>
            </a:r>
          </a:p>
          <a:p xmlns:a="http://schemas.openxmlformats.org/drawingml/2006/main">
            <a:r>
              <a:t>Cuttable if Section 3 runs long, in this order: the second sentence of "own the harness"; "Write down what is wrong with each one. That is your first eval." Backup for questions, not spoken: Anthropic's "find the simplest solution possible" and OpenAI's "start small, validate with real users, and grow."</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Husain, "AI Evals: Everything You Need to Know": "Start with error analysis, not infrastructure. Spend 30 minutes manually reviewing 20-50 LLM outputs." Research §4 in `research/section-3.md`. `[primary]`.</a:t>
            </a:r>
          </a:p>
          <a:p xmlns:a="http://schemas.openxmlformats.org/drawingml/2006/main">
            <a:r>
              <a:t>- Anthropic, "Building effective agents," December 2024: "we recommend finding the simplest solution possible"; "optimizing single LLM calls with retrieval and in-context examples is usually enough"; "adding complexity only when it demonstrably improves outcomes." Research §5 in `research/section-1.md`. `[primary]`.</a:t>
            </a:r>
          </a:p>
          <a:p xmlns:a="http://schemas.openxmlformats.org/drawingml/2006/main">
            <a:r>
              <a:t>- OpenAI, "A practical guide to building agents," 2025: "Start small, validate with real users, and grow capabilities over time." Research §4 in `research/section-3.md`. Quoted from the PDF; page numbers unconfirmed. Backup only.</a:t>
            </a:r>
          </a:p>
          <a:p xmlns:a="http://schemas.openxmlformats.org/drawingml/2006/main">
            <a:r>
              <a:t>- 12-Factor Agents for "own your prompts, own your context window, own your control flow." Research §4 in `research/section-2.md`. `[primary]`.</a:t>
            </a:r>
          </a:p>
          <a:p xmlns:a="http://schemas.openxmlformats.org/drawingml/2006/main">
            <a:r>
              <a:t>- Hashimoto, "My AI Adoption Journey," February 5, 2026. The six-step arc, paraphrased. Do not credit him with the phrase "harness engineering." Research §4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#3.</a:t>
            </a:r>
          </a:p>
          <a:p xmlns:a="http://schemas.openxmlformats.org/drawingml/2006/main">
            <a:r>
              <a:t>- Decide whether the sublines under the four steps appear on the slide or stay spoken.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24</a:t>
            </a:r>
          </a:p>
          <a:p xmlns:a="http://schemas.openxmlformats.org/drawingml/2006/main">
            <a:r>
              <a:t>Beat 3.5 Resources and close, first half. Section 3. Time 0:08 of the beat's 0:30; slide 25 takes 0:22.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Resources. They will be in the deck, so take the photo now.</a:t>
            </a:r>
          </a:p>
          <a:p xmlns:a="http://schemas.openxmlformats.org/drawingml/2006/main">
            <a:r>
              <a:t/>
            </a:r>
          </a:p>
          <a:p xmlns:a="http://schemas.openxmlformats.org/drawingml/2006/main">
            <a:r>
              <a:t>[0:08] Advance to slide 25.</a:t>
            </a:r>
          </a:p>
          <a:p xmlns:a="http://schemas.openxmlformats.org/drawingml/2006/main">
            <a:r>
              <a:t/>
            </a:r>
          </a:p>
          <a:p xmlns:a="http://schemas.openxmlformats.org/drawingml/2006/main">
            <a:r>
              <a:t>Nothing else is spoken. If someone photographs it slowly, wait; the close can absorb a few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Every item is cited in Section 2 or 3 and traced in the research files. The forthcoming Shankar and Husain book is listed for October 31, 2026 with ISBN 9798341660724; say "October" and nothing more precise. Research §4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to add a QR code, and to what page.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25</a:t>
            </a:r>
          </a:p>
          <a:p xmlns:a="http://schemas.openxmlformats.org/drawingml/2006/main">
            <a:r>
              <a:t>Beat 3.5 Resources and close, second half. Section 3. Time 0:22 of the beat's 0:30; slide 24 took 0:08. Builds: 1. Stays up for the fifteen minutes of questions.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**Using AI makes you an AI-enabled software engineer. Engineering systems that depend on AI makes you an AI engineer.** The difference is not the tools. **It is what you are responsible for.**</a:t>
            </a:r>
          </a:p>
          <a:p xmlns:a="http://schemas.openxmlformats.org/drawingml/2006/main">
            <a:r>
              <a:t/>
            </a:r>
          </a:p>
          <a:p xmlns:a="http://schemas.openxmlformats.org/drawingml/2006/main">
            <a:r>
              <a:t>[0:15] Build 1.</a:t>
            </a:r>
          </a:p>
          <a:p xmlns:a="http://schemas.openxmlformats.org/drawingml/2006/main">
            <a:r>
              <a:t/>
            </a:r>
          </a:p>
          <a:p xmlns:a="http://schemas.openxmlformats.org/drawingml/2006/main">
            <a:r>
              <a:t>We have fifteen minutes for your questions.</a:t>
            </a:r>
          </a:p>
          <a:p xmlns:a="http://schemas.openxmlformats.org/drawingml/2006/main">
            <a:r>
              <a:t/>
            </a:r>
          </a:p>
          <a:p xmlns:a="http://schemas.openxmlformats.org/drawingml/2006/main">
            <a:r>
              <a:t>[0:22] Section 4 begins. The slide stays.</a:t>
            </a:r>
          </a:p>
          <a:p xmlns:a="http://schemas.openxmlformats.org/drawingml/2006/main">
            <a:r>
              <a:t/>
            </a:r>
          </a:p>
          <a:p xmlns:a="http://schemas.openxmlformats.org/drawingml/2006/main">
            <a:r>
              <a:t>## Backup for the fifteen minutes</a:t>
            </a:r>
          </a:p>
          <a:p xmlns:a="http://schemas.openxmlformats.org/drawingml/2006/main">
            <a:r>
              <a:t/>
            </a:r>
          </a:p>
          <a:p xmlns:a="http://schemas.openxmlformats.org/drawingml/2006/main">
            <a:r>
              <a:t>The outline's Section 4 is canonical; this is the podium copy. Two-line answers, each traced to a slide.</a:t>
            </a:r>
          </a:p>
          <a:p xmlns:a="http://schemas.openxmlformats.org/drawingml/2006/main">
            <a:r>
              <a:t/>
            </a:r>
          </a:p>
          <a:p xmlns:a="http://schemas.openxmlformats.org/drawingml/2006/main">
            <a:r>
              <a:t>1. **Do I need to learn machine learning first?** You can begin without training a model. Learn enough about model behavior, retrieval, evaluation, and uncertainty to investigate failures.</a:t>
            </a:r>
          </a:p>
          <a:p xmlns:a="http://schemas.openxmlformats.org/drawingml/2006/main">
            <a:r>
              <a:t>2. **Which framework should I learn?** Build or inspect a small loop whose state and tool calls you understand. Choose abstractions you can observe, test, and replace.</a:t>
            </a:r>
          </a:p>
          <a:p xmlns:a="http://schemas.openxmlformats.org/drawingml/2006/main">
            <a:r>
              <a:t>3. **How are evals different from tests, concretely?** Evals are tests that measure AI behavior across cases and repeated trials. Code checks, model graders, and human review can all contribute. Capability suites probe limits; regression suites should keep established cases passing. Inside and outside the loop are this talk's organizing model.</a:t>
            </a:r>
          </a:p>
          <a:p xmlns:a="http://schemas.openxmlformats.org/drawingml/2006/main">
            <a:r>
              <a:t>4. **Is prompt injection solved?** Investigate the specific attack path: untrusted content influencing actions, private data access, or external communication. Enforce access and action limits outside the model. Breaking an exfiltration path does not solve every security threat.</a:t>
            </a:r>
          </a:p>
          <a:p xmlns:a="http://schemas.openxmlformats.org/drawingml/2006/main">
            <a:r>
              <a:t>5. **Single agent or multi-agent?** Start with a simple call or workflow and measure whether more autonomy helps. Use task decomposition and observed gains to decide. Anthropic's historical 90.2% quality gain compared research systems; its roughly 15x token comparison was against chat, not the single-agent research baseline.</a:t>
            </a:r>
          </a:p>
          <a:p xmlns:a="http://schemas.openxmlformats.org/drawingml/2006/main">
            <a:r>
              <a:t>6. **What about cost at scale?** Measure cost per completed task at the required quality, including failures, judge overhead, and tail latency. Test caching and routing on your traffic, preserve useful stable prefixes, and enforce token and action budgets. Correctness and authorization take precedence over cache savings.</a:t>
            </a:r>
          </a:p>
          <a:p xmlns:a="http://schemas.openxmlformats.org/drawingml/2006/main">
            <a:r>
              <a:t>7. **Will better models absorb the harness and make this obsolete?** My judgment is that some mechanisms will simplify, but the future architecture is uncertain. The product still needs explicit permissions, integration, measurement, and accountable operation.</a:t>
            </a:r>
          </a:p>
          <a:p xmlns:a="http://schemas.openxmlformats.org/drawingml/2006/main">
            <a:r>
              <a:t>8. **How do I get hired as an AI engineer?** Demonstrate a small system, its failure cases, its evals, and improvements justified by evidence. Show that you can investigate failures and operate within clear limits. Hiring figures are optional backup context, not the evidence of your competence.</a:t>
            </a:r>
          </a:p>
          <a:p xmlns:a="http://schemas.openxmlformats.org/drawingml/2006/main">
            <a:r>
              <a:t>9. **How do I trust the judge?** Use direct checks where possible. Calibrate subjective graders against domain experts, review disagreements, and evaluate on separate data that was not used to tune the judge. Recheck calibration as tasks and models change.</a:t>
            </a:r>
          </a:p>
          <a:p xmlns:a="http://schemas.openxmlformats.org/drawingml/2006/main">
            <a:r>
              <a:t>10. **How much accuracy is enough to ship?** Set a requirement for the use case and failure severity. Measure under expected operating conditions, examine serious failure cases separately, and design human fallback and safe failure handling. There is no universal threshold.</a:t>
            </a:r>
          </a:p>
          <a:p xmlns:a="http://schemas.openxmlformats.org/drawingml/2006/main">
            <a:r>
              <a:t/>
            </a:r>
          </a:p>
          <a:p xmlns:a="http://schemas.openxmlformats.org/drawingml/2006/main">
            <a:r>
              <a:t>Optional hiring backup: Dice reported AI/ML postings up 101% year over year in August 2026 versus 18% for all tech postings. The publisher page was checked September 14. Dice also reported LinkedIn's #1 AI Engineer ranking; the ranking is secondary evidence. Research §1 in `research/section-3.md`.</a:t>
            </a:r>
          </a:p>
          <a:p xmlns:a="http://schemas.openxmlformats.org/drawingml/2006/main">
            <a:r>
              <a:t/>
            </a:r>
          </a:p>
          <a:p xmlns:a="http://schemas.openxmlformats.org/drawingml/2006/main">
            <a:r>
              <a:t>If the room is quiet:</a:t>
            </a:r>
          </a:p>
          <a:p xmlns:a="http://schemas.openxmlformats.org/drawingml/2006/main">
            <a:r>
              <a:t/>
            </a:r>
          </a:p>
          <a:p xmlns:a="http://schemas.openxmlformats.org/drawingml/2006/main">
            <a:r>
              <a:t>- "Who here has shipped something where the model chose the control flow? What broke first?"</a:t>
            </a:r>
          </a:p>
          <a:p xmlns:a="http://schemas.openxmlformats.org/drawingml/2006/main">
            <a:r>
              <a:t>- "What did your coding agent do for you this week that you would have to build yourself?"</a:t>
            </a:r>
          </a:p>
          <a:p xmlns:a="http://schemas.openxmlformats.org/drawingml/2006/main">
            <a:r>
              <a:t>- "Where does your organization's AI project sit right now: pilot, workflow, or agent? What would it take to move it one step?"</a:t>
            </a:r>
          </a:p>
          <a:p xmlns:a="http://schemas.openxmlformats.org/drawingml/2006/main">
            <a:r>
              <a:t/>
            </a:r>
          </a:p>
          <a:p xmlns:a="http://schemas.openxmlformats.org/drawingml/2006/main">
            <a:r>
              <a:t>Not on stage, even if asked: the MIT NANDA 95% figure as fact, Karpathy's Sequoia lines, any salary band, the 89% versus 52% observability-versus-evals statistic. The "Do not use on stage" list at the end of the outline has the reasons.</a:t>
            </a:r>
          </a:p>
          <a:p xmlns:a="http://schemas.openxmlformats.org/drawingml/2006/main">
            <a:r>
              <a:t/>
            </a:r>
          </a:p>
          <a:p xmlns:a="http://schemas.openxmlformats.org/drawingml/2006/main">
            <a:r>
              <a:t>For a routing question, Devin CLI's Fusion (September 11, 2026) is in research §1 of `research/section-2.md`: a lead model for planning and review paired with a cheaper sidekick for execution. Not on the slides because it is a week old.</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thesis sentences: slide 3. Research §1 in `research/section-1.md`.</a:t>
            </a:r>
          </a:p>
          <a:p xmlns:a="http://schemas.openxmlformats.org/drawingml/2006/main">
            <a:r>
              <a:t>- Q&amp;A answers trace to the slides named. The Dice figure was confirmed on the publisher page September 14, 2026. Research §1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c128b8f20b4e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015adb76d6d54e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634140d20a5c42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FF0AAAB5-6460-4357-BE99-7C82943E1989}"/>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f67bc97a0b4a2f" /><Relationship Type="http://schemas.openxmlformats.org/officeDocument/2006/relationships/slideLayout" Target="/ppt/slideLayouts/slideLayout1.xml" Id="R49733143ae244ce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bf12a8ac9bdf4691" /><Relationship Type="http://schemas.openxmlformats.org/officeDocument/2006/relationships/slideLayout" Target="/ppt/slideLayouts/slideLayout2.xml" Id="R5a61d0f20af04052" /><Relationship Type="http://schemas.openxmlformats.org/officeDocument/2006/relationships/slideLayout" Target="/ppt/slideLayouts/slideLayout3.xml" Id="R85ffb2348a0344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733143ae244ce4"/>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5a61d0f20af04052"/>
    <p:sldLayoutId xmlns:r="http://schemas.openxmlformats.org/officeDocument/2006/relationships" id="2147483652" r:id="R85ffb2348a0344b8"/>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799cea10204423a" /><Relationship Type="http://schemas.openxmlformats.org/officeDocument/2006/relationships/notesSlide" Target="/ppt/notesSlides/notesSlide1.xml" Id="R545c3a5ff8f043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4782707955f4467" /><Relationship Type="http://schemas.openxmlformats.org/officeDocument/2006/relationships/image" Target="/ppt/media/image.png" Id="R897bbae37eb54d1c" /><Relationship Type="http://schemas.openxmlformats.org/officeDocument/2006/relationships/notesSlide" Target="/ppt/notesSlides/notesSlide2.xml" Id="R7b3f958a15d040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13548c5c7a548b1" /><Relationship Type="http://schemas.openxmlformats.org/officeDocument/2006/relationships/notesSlide" Target="/ppt/notesSlides/notesSlide3.xml" Id="Rb035855a7a3843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6c17a44b7874216" /><Relationship Type="http://schemas.openxmlformats.org/officeDocument/2006/relationships/notesSlide" Target="/ppt/notesSlides/notesSlide4.xml" Id="R66ab9bb1dbce4e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0172506e28e4612" /><Relationship Type="http://schemas.openxmlformats.org/officeDocument/2006/relationships/notesSlide" Target="/ppt/notesSlides/notesSlide5.xml" Id="Rce02d928cb8245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1dc64de88394fee" /><Relationship Type="http://schemas.openxmlformats.org/officeDocument/2006/relationships/notesSlide" Target="/ppt/notesSlides/notesSlide6.xml" Id="Rb8eb9942905c48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3997c2e27304dbb" /><Relationship Type="http://schemas.openxmlformats.org/officeDocument/2006/relationships/image" Target="/ppt/media/image2.png" Id="Rfdcc49c618fe4b65" /><Relationship Type="http://schemas.openxmlformats.org/officeDocument/2006/relationships/image" Target="/ppt/media/image3.png" Id="R50dcce2ccbce4d50" /><Relationship Type="http://schemas.openxmlformats.org/officeDocument/2006/relationships/image" Target="/ppt/media/image4.png" Id="Rf3b5e3b11dc34802" /><Relationship Type="http://schemas.openxmlformats.org/officeDocument/2006/relationships/image" Target="/ppt/media/image5.png" Id="R89e3ca885f224458" /><Relationship Type="http://schemas.openxmlformats.org/officeDocument/2006/relationships/image" Target="/ppt/media/image6.png" Id="R1e6342f1a1d34477" /><Relationship Type="http://schemas.openxmlformats.org/officeDocument/2006/relationships/image" Target="/ppt/media/image7.png" Id="R912616a7ee0f4fe8" /><Relationship Type="http://schemas.openxmlformats.org/officeDocument/2006/relationships/notesSlide" Target="/ppt/notesSlides/notesSlide7.xml" Id="Rb80d8e9dd8f040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fdb2a62b8ad4a11" /><Relationship Type="http://schemas.openxmlformats.org/officeDocument/2006/relationships/notesSlide" Target="/ppt/notesSlides/notesSlide8.xml" Id="Rc5c8477aaec444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fe23b98b3f445f5" /><Relationship Type="http://schemas.openxmlformats.org/officeDocument/2006/relationships/image" Target="/ppt/media/image8.png" Id="Rb39b1ca742c345bc" /><Relationship Type="http://schemas.openxmlformats.org/officeDocument/2006/relationships/notesSlide" Target="/ppt/notesSlides/notesSlide9.xml" Id="R224d4e449a6444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83b6bb8ab984892" /><Relationship Type="http://schemas.openxmlformats.org/officeDocument/2006/relationships/image" Target="/ppt/media/image9.png" Id="R8804c65546974241" /><Relationship Type="http://schemas.openxmlformats.org/officeDocument/2006/relationships/notesSlide" Target="/ppt/notesSlides/notesSlide10.xml" Id="R2b907d028e7a41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c8cf5c114f24d73" /><Relationship Type="http://schemas.openxmlformats.org/officeDocument/2006/relationships/notesSlide" Target="/ppt/notesSlides/notesSlide11.xml" Id="Rfdab3fff26fd49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0066faaf89544b3" /><Relationship Type="http://schemas.openxmlformats.org/officeDocument/2006/relationships/image" Target="/ppt/media/image10.png" Id="R19873101b80840dc" /><Relationship Type="http://schemas.openxmlformats.org/officeDocument/2006/relationships/notesSlide" Target="/ppt/notesSlides/notesSlide12.xml" Id="Rd566c997ba004c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92796483a6f4f57" /><Relationship Type="http://schemas.openxmlformats.org/officeDocument/2006/relationships/image" Target="/ppt/media/image11.png" Id="R26a1c69beac743ed" /><Relationship Type="http://schemas.openxmlformats.org/officeDocument/2006/relationships/notesSlide" Target="/ppt/notesSlides/notesSlide13.xml" Id="R03299f479f0348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d78401862a24bac" /><Relationship Type="http://schemas.openxmlformats.org/officeDocument/2006/relationships/notesSlide" Target="/ppt/notesSlides/notesSlide14.xml" Id="Rae84edae7af54d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ef64c9d57094cbc" /><Relationship Type="http://schemas.openxmlformats.org/officeDocument/2006/relationships/image" Target="/ppt/media/image12.png" Id="R12d7b6ba146b4a52" /><Relationship Type="http://schemas.openxmlformats.org/officeDocument/2006/relationships/notesSlide" Target="/ppt/notesSlides/notesSlide15.xml" Id="Rf65c9ce5131c46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6ba122fd5b0c429f" /><Relationship Type="http://schemas.openxmlformats.org/officeDocument/2006/relationships/image" Target="/ppt/media/image13.png" Id="R1acb48aefb434275" /><Relationship Type="http://schemas.openxmlformats.org/officeDocument/2006/relationships/notesSlide" Target="/ppt/notesSlides/notesSlide16.xml" Id="R91ed38d344c44e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64c0ec15fed43d6" /><Relationship Type="http://schemas.openxmlformats.org/officeDocument/2006/relationships/notesSlide" Target="/ppt/notesSlides/notesSlide17.xml" Id="Re3d125c1386a47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55d1df063d540fa" /><Relationship Type="http://schemas.openxmlformats.org/officeDocument/2006/relationships/image" Target="/ppt/media/image14.png" Id="R342182d0334a4d06" /><Relationship Type="http://schemas.openxmlformats.org/officeDocument/2006/relationships/notesSlide" Target="/ppt/notesSlides/notesSlide18.xml" Id="Rd89a61d6f89e41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26d48b76767c419b" /><Relationship Type="http://schemas.openxmlformats.org/officeDocument/2006/relationships/image" Target="/ppt/media/image15.png" Id="R6e79a39838dd49f7" /><Relationship Type="http://schemas.openxmlformats.org/officeDocument/2006/relationships/notesSlide" Target="/ppt/notesSlides/notesSlide19.xml" Id="R153b02910b7148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8b3cb0735504bd6" /><Relationship Type="http://schemas.openxmlformats.org/officeDocument/2006/relationships/notesSlide" Target="/ppt/notesSlides/notesSlide20.xml" Id="R973cd1f2fe8943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54b75c498bd4e71" /><Relationship Type="http://schemas.openxmlformats.org/officeDocument/2006/relationships/image" Target="/ppt/media/image16.png" Id="R507159620ab64f76" /><Relationship Type="http://schemas.openxmlformats.org/officeDocument/2006/relationships/notesSlide" Target="/ppt/notesSlides/notesSlide21.xml" Id="R4e92711354944a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0200e1b588e495e" /><Relationship Type="http://schemas.openxmlformats.org/officeDocument/2006/relationships/image" Target="/ppt/media/image17.png" Id="Rcd8e2f61c3f14d0e" /><Relationship Type="http://schemas.openxmlformats.org/officeDocument/2006/relationships/notesSlide" Target="/ppt/notesSlides/notesSlide22.xml" Id="R3268343a0cec44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517bb9c2e9ea4494" /><Relationship Type="http://schemas.openxmlformats.org/officeDocument/2006/relationships/notesSlide" Target="/ppt/notesSlides/notesSlide23.xml" Id="Red6591192f5e44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7b278283c11e47f6" /><Relationship Type="http://schemas.openxmlformats.org/officeDocument/2006/relationships/image" Target="/ppt/media/image18.png" Id="R5f999c7785c6461e" /><Relationship Type="http://schemas.openxmlformats.org/officeDocument/2006/relationships/notesSlide" Target="/ppt/notesSlides/notesSlide24.xml" Id="R58554603fcc34f3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a3df5f1be004706" /><Relationship Type="http://schemas.openxmlformats.org/officeDocument/2006/relationships/image" Target="/ppt/media/image19.png" Id="R0033906760be484c" /><Relationship Type="http://schemas.openxmlformats.org/officeDocument/2006/relationships/notesSlide" Target="/ppt/notesSlides/notesSlide25.xml" Id="R474b46dcba8f410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41ef17dbff5d493c" /><Relationship Type="http://schemas.openxmlformats.org/officeDocument/2006/relationships/image" Target="/ppt/media/image20.png" Id="Re3bbf85e715d4c7d" /><Relationship Type="http://schemas.openxmlformats.org/officeDocument/2006/relationships/notesSlide" Target="/ppt/notesSlides/notesSlide26.xml" Id="Rfffbf05eac7a43c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ee2177da32b343aa" /><Relationship Type="http://schemas.openxmlformats.org/officeDocument/2006/relationships/image" Target="/ppt/media/image21.png" Id="R658d3fd949c64ea2" /><Relationship Type="http://schemas.openxmlformats.org/officeDocument/2006/relationships/notesSlide" Target="/ppt/notesSlides/notesSlide27.xml" Id="R4a50902a9c57499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fb3c8611b4fa4137" /><Relationship Type="http://schemas.openxmlformats.org/officeDocument/2006/relationships/image" Target="/ppt/media/image22.png" Id="R322acd89f0c947bb" /><Relationship Type="http://schemas.openxmlformats.org/officeDocument/2006/relationships/notesSlide" Target="/ppt/notesSlides/notesSlide28.xml" Id="R095b85e2f88741a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5b790157ea6f435c" /><Relationship Type="http://schemas.openxmlformats.org/officeDocument/2006/relationships/image" Target="/ppt/media/image23.png" Id="R8058be7cda41469d" /><Relationship Type="http://schemas.openxmlformats.org/officeDocument/2006/relationships/notesSlide" Target="/ppt/notesSlides/notesSlide29.xml" Id="R837ab319f80144a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abd6945a154547b7" /><Relationship Type="http://schemas.openxmlformats.org/officeDocument/2006/relationships/notesSlide" Target="/ppt/notesSlides/notesSlide30.xml" Id="Re8a5c9a4e2204f5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ddd907fe0c54ee1" /><Relationship Type="http://schemas.openxmlformats.org/officeDocument/2006/relationships/image" Target="/ppt/media/image24.png" Id="R157f87b4ab1a4471" /><Relationship Type="http://schemas.openxmlformats.org/officeDocument/2006/relationships/notesSlide" Target="/ppt/notesSlides/notesSlide31.xml" Id="R859d5f936180426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4bd319fd468c4f05" /><Relationship Type="http://schemas.openxmlformats.org/officeDocument/2006/relationships/notesSlide" Target="/ppt/notesSlides/notesSlide32.xml" Id="R5dd7957176384ad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5baf466449444ca9" /><Relationship Type="http://schemas.openxmlformats.org/officeDocument/2006/relationships/notesSlide" Target="/ppt/notesSlides/notesSlide33.xml" Id="Rc1a5f11cabba49b1"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 name="01-text-1">
            <a:extLst xmlns:a="http://schemas.openxmlformats.org/drawingml/2006/main">
              <a:ext uri="{FF2B5EF4-FFF2-40B4-BE49-F238E27FC236}">
                <a16:creationId xmlns:a16="http://schemas.microsoft.com/office/drawing/2014/main" id="{866F541E-DBCF-4E52-B01B-B2CC3DA5B1CD}"/>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6CBABB9D-16F5-441F-AFCB-4F8AE20E92F1}"/>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8961FB45-771E-4629-8387-E8E51F638026}"/>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01-text-4">
            <a:extLst xmlns:a="http://schemas.openxmlformats.org/drawingml/2006/main">
              <a:ext uri="{FF2B5EF4-FFF2-40B4-BE49-F238E27FC236}">
                <a16:creationId xmlns:a16="http://schemas.microsoft.com/office/drawing/2014/main" id="{4BE7EB96-B5F6-43F7-9E09-461BE2468A8A}"/>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 name="01-text-5">
            <a:extLst xmlns:a="http://schemas.openxmlformats.org/drawingml/2006/main">
              <a:ext uri="{FF2B5EF4-FFF2-40B4-BE49-F238E27FC236}">
                <a16:creationId xmlns:a16="http://schemas.microsoft.com/office/drawing/2014/main" id="{A755E55F-A6E7-4D34-9343-1B5250F2FB07}"/>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Andrej Karpathy, June 2025</a:t>
            </a:r>
          </a:p>
        </p:txBody>
      </p:sp>
    </p:spTree>
    <p:extLst>
      <p:ext uri="{BB962C8B-B14F-4D97-AF65-F5344CB8AC3E}">
        <p14:creationId xmlns:p14="http://schemas.microsoft.com/office/powerpoint/2010/main" val="176247548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2-image-1"/>
          <p:cNvPicPr>
            <a:picLocks xmlns:a="http://schemas.openxmlformats.org/drawingml/2006/main" noChangeAspect="1"/>
          </p:cNvPicPr>
          <p:nvPr/>
        </p:nvPicPr>
        <p:blipFill>
          <a:blip xmlns:r="http://schemas.openxmlformats.org/officeDocument/2006/relationships" xmlns:a="http://schemas.openxmlformats.org/drawingml/2006/main" r:embed="R897bbae37eb54d1c"/>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2" name="02-text-2">
            <a:extLst xmlns:a="http://schemas.openxmlformats.org/drawingml/2006/main">
              <a:ext uri="{FF2B5EF4-FFF2-40B4-BE49-F238E27FC236}">
                <a16:creationId xmlns:a16="http://schemas.microsoft.com/office/drawing/2014/main" id="{68C3FC56-A321-4EF8-8A4F-938EB2643B55}"/>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3" name="02-text-3">
            <a:extLst xmlns:a="http://schemas.openxmlformats.org/drawingml/2006/main">
              <a:ext uri="{FF2B5EF4-FFF2-40B4-BE49-F238E27FC236}">
                <a16:creationId xmlns:a16="http://schemas.microsoft.com/office/drawing/2014/main" id="{D5228759-CB2F-41B1-863F-C75E8F1E490E}"/>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4" name="02-text-4">
            <a:extLst xmlns:a="http://schemas.openxmlformats.org/drawingml/2006/main">
              <a:ext uri="{FF2B5EF4-FFF2-40B4-BE49-F238E27FC236}">
                <a16:creationId xmlns:a16="http://schemas.microsoft.com/office/drawing/2014/main" id="{19AC62C9-4591-4176-A524-CD42C5C60FD8}"/>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5" name="02-text-5">
            <a:extLst xmlns:a="http://schemas.openxmlformats.org/drawingml/2006/main">
              <a:ext uri="{FF2B5EF4-FFF2-40B4-BE49-F238E27FC236}">
                <a16:creationId xmlns:a16="http://schemas.microsoft.com/office/drawing/2014/main" id="{10353369-A750-4AF1-9A6A-7B9030C4512B}"/>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6" name="02-text-6">
            <a:extLst xmlns:a="http://schemas.openxmlformats.org/drawingml/2006/main">
              <a:ext uri="{FF2B5EF4-FFF2-40B4-BE49-F238E27FC236}">
                <a16:creationId xmlns:a16="http://schemas.microsoft.com/office/drawing/2014/main" id="{9332001D-1CE0-4098-9452-8ADFB3AC3722}"/>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Tree>
    <p:extLst>
      <p:ext uri="{BB962C8B-B14F-4D97-AF65-F5344CB8AC3E}">
        <p14:creationId xmlns:p14="http://schemas.microsoft.com/office/powerpoint/2010/main" val="425681802"/>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 name="03-text-1">
            <a:extLst xmlns:a="http://schemas.openxmlformats.org/drawingml/2006/main">
              <a:ext uri="{FF2B5EF4-FFF2-40B4-BE49-F238E27FC236}">
                <a16:creationId xmlns:a16="http://schemas.microsoft.com/office/drawing/2014/main" id="{6CFC4382-7E5B-4ABE-8D77-AF33D2A9CB91}"/>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03-text-2">
            <a:extLst xmlns:a="http://schemas.openxmlformats.org/drawingml/2006/main">
              <a:ext uri="{FF2B5EF4-FFF2-40B4-BE49-F238E27FC236}">
                <a16:creationId xmlns:a16="http://schemas.microsoft.com/office/drawing/2014/main" id="{BBC366B5-FFDA-4F85-93D9-24F1AF495B1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Tree>
    <p:extLst>
      <p:ext uri="{BB962C8B-B14F-4D97-AF65-F5344CB8AC3E}">
        <p14:creationId xmlns:p14="http://schemas.microsoft.com/office/powerpoint/2010/main" val="2133426205"/>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9"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 name="04-text-2">
            <a:extLst xmlns:a="http://schemas.openxmlformats.org/drawingml/2006/main">
              <a:ext uri="{FF2B5EF4-FFF2-40B4-BE49-F238E27FC236}">
                <a16:creationId xmlns:a16="http://schemas.microsoft.com/office/drawing/2014/main" id="{3507F25F-C443-447E-B0E5-11F74434D482}"/>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3" name="04-text-3">
            <a:extLst xmlns:a="http://schemas.openxmlformats.org/drawingml/2006/main">
              <a:ext uri="{FF2B5EF4-FFF2-40B4-BE49-F238E27FC236}">
                <a16:creationId xmlns:a16="http://schemas.microsoft.com/office/drawing/2014/main" id="{B8BB4D82-0CA6-4CC5-A9CA-A850979E1F18}"/>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 name="04-text-4">
            <a:extLst xmlns:a="http://schemas.openxmlformats.org/drawingml/2006/main">
              <a:ext uri="{FF2B5EF4-FFF2-40B4-BE49-F238E27FC236}">
                <a16:creationId xmlns:a16="http://schemas.microsoft.com/office/drawing/2014/main" id="{823A43F6-1D66-462B-B46C-592D466BF88F}"/>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5" name="04-text-5">
            <a:extLst xmlns:a="http://schemas.openxmlformats.org/drawingml/2006/main">
              <a:ext uri="{FF2B5EF4-FFF2-40B4-BE49-F238E27FC236}">
                <a16:creationId xmlns:a16="http://schemas.microsoft.com/office/drawing/2014/main" id="{728090DF-CE0A-4580-A058-6D25AB8881CF}"/>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6" name="04-text-6">
            <a:extLst xmlns:a="http://schemas.openxmlformats.org/drawingml/2006/main">
              <a:ext uri="{FF2B5EF4-FFF2-40B4-BE49-F238E27FC236}">
                <a16:creationId xmlns:a16="http://schemas.microsoft.com/office/drawing/2014/main" id="{60CC06C9-3EF5-432D-97D5-4B9205286F4B}"/>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7" name="04-text-7">
            <a:extLst xmlns:a="http://schemas.openxmlformats.org/drawingml/2006/main">
              <a:ext uri="{FF2B5EF4-FFF2-40B4-BE49-F238E27FC236}">
                <a16:creationId xmlns:a16="http://schemas.microsoft.com/office/drawing/2014/main" id="{A8253DF5-111C-4D2A-8462-97264A43F50F}"/>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8" name="04-text-8">
            <a:extLst xmlns:a="http://schemas.openxmlformats.org/drawingml/2006/main">
              <a:ext uri="{FF2B5EF4-FFF2-40B4-BE49-F238E27FC236}">
                <a16:creationId xmlns:a16="http://schemas.microsoft.com/office/drawing/2014/main" id="{8B812BB5-4B41-4653-82C5-0C87315925AB}"/>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Tree>
    <p:extLst>
      <p:ext uri="{BB962C8B-B14F-4D97-AF65-F5344CB8AC3E}">
        <p14:creationId xmlns:p14="http://schemas.microsoft.com/office/powerpoint/2010/main" val="102386373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05-text-1">
            <a:extLst xmlns:a="http://schemas.openxmlformats.org/drawingml/2006/main">
              <a:ext uri="{FF2B5EF4-FFF2-40B4-BE49-F238E27FC236}">
                <a16:creationId xmlns:a16="http://schemas.microsoft.com/office/drawing/2014/main" id="{986C159D-58A4-4563-ABD7-2D761675D3A6}"/>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 name="05-text-2">
            <a:extLst xmlns:a="http://schemas.openxmlformats.org/drawingml/2006/main">
              <a:ext uri="{FF2B5EF4-FFF2-40B4-BE49-F238E27FC236}">
                <a16:creationId xmlns:a16="http://schemas.microsoft.com/office/drawing/2014/main" id="{B17BB847-4E96-45A7-92D2-CB23DACD8C0F}"/>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 name="05-text-3">
            <a:extLst xmlns:a="http://schemas.openxmlformats.org/drawingml/2006/main">
              <a:ext uri="{FF2B5EF4-FFF2-40B4-BE49-F238E27FC236}">
                <a16:creationId xmlns:a16="http://schemas.microsoft.com/office/drawing/2014/main" id="{B01C4364-AC6F-4859-BB38-AD9E6934CC6F}"/>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4" name="05-text-4">
            <a:extLst xmlns:a="http://schemas.openxmlformats.org/drawingml/2006/main">
              <a:ext uri="{FF2B5EF4-FFF2-40B4-BE49-F238E27FC236}">
                <a16:creationId xmlns:a16="http://schemas.microsoft.com/office/drawing/2014/main" id="{9A3B8B3F-2773-4613-97C3-990E55C9E473}"/>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5" name="05-text-5">
            <a:extLst xmlns:a="http://schemas.openxmlformats.org/drawingml/2006/main">
              <a:ext uri="{FF2B5EF4-FFF2-40B4-BE49-F238E27FC236}">
                <a16:creationId xmlns:a16="http://schemas.microsoft.com/office/drawing/2014/main" id="{7B1F29F5-890F-4F0E-A2DC-C70238570B9B}"/>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6" name="05-text-6">
            <a:extLst xmlns:a="http://schemas.openxmlformats.org/drawingml/2006/main">
              <a:ext uri="{FF2B5EF4-FFF2-40B4-BE49-F238E27FC236}">
                <a16:creationId xmlns:a16="http://schemas.microsoft.com/office/drawing/2014/main" id="{E44E4C2C-D79E-4E91-81FE-B4305F5379F3}"/>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7" name="05-text-7">
            <a:extLst xmlns:a="http://schemas.openxmlformats.org/drawingml/2006/main">
              <a:ext uri="{FF2B5EF4-FFF2-40B4-BE49-F238E27FC236}">
                <a16:creationId xmlns:a16="http://schemas.microsoft.com/office/drawing/2014/main" id="{6A62CD6A-D037-4556-BF21-FC9AC3DCC9EB}"/>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8" name="05-text-8">
            <a:extLst xmlns:a="http://schemas.openxmlformats.org/drawingml/2006/main">
              <a:ext uri="{FF2B5EF4-FFF2-40B4-BE49-F238E27FC236}">
                <a16:creationId xmlns:a16="http://schemas.microsoft.com/office/drawing/2014/main" id="{42260B9C-84B8-4978-B028-FDD825655DC9}"/>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9" name="05-text-9">
            <a:extLst xmlns:a="http://schemas.openxmlformats.org/drawingml/2006/main">
              <a:ext uri="{FF2B5EF4-FFF2-40B4-BE49-F238E27FC236}">
                <a16:creationId xmlns:a16="http://schemas.microsoft.com/office/drawing/2014/main" id="{A2158C15-2315-4673-8233-B0AF5BC9248A}"/>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10" name="05-text-10">
            <a:extLst xmlns:a="http://schemas.openxmlformats.org/drawingml/2006/main">
              <a:ext uri="{FF2B5EF4-FFF2-40B4-BE49-F238E27FC236}">
                <a16:creationId xmlns:a16="http://schemas.microsoft.com/office/drawing/2014/main" id="{F6C07CE5-0233-4A27-9883-07797E859F7C}"/>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11" name="05-text-11">
            <a:extLst xmlns:a="http://schemas.openxmlformats.org/drawingml/2006/main">
              <a:ext uri="{FF2B5EF4-FFF2-40B4-BE49-F238E27FC236}">
                <a16:creationId xmlns:a16="http://schemas.microsoft.com/office/drawing/2014/main" id="{9660A64D-2769-4417-8B09-41592B36186E}"/>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12" name="05-text-12">
            <a:extLst xmlns:a="http://schemas.openxmlformats.org/drawingml/2006/main">
              <a:ext uri="{FF2B5EF4-FFF2-40B4-BE49-F238E27FC236}">
                <a16:creationId xmlns:a16="http://schemas.microsoft.com/office/drawing/2014/main" id="{3413E6CC-8893-49ED-A47B-ED5D18F701E9}"/>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13" name="05-text-13">
            <a:extLst xmlns:a="http://schemas.openxmlformats.org/drawingml/2006/main">
              <a:ext uri="{FF2B5EF4-FFF2-40B4-BE49-F238E27FC236}">
                <a16:creationId xmlns:a16="http://schemas.microsoft.com/office/drawing/2014/main" id="{53F2A2CC-7FE0-4115-AD8C-6720AAA45867}"/>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14" name="05-text-14">
            <a:extLst xmlns:a="http://schemas.openxmlformats.org/drawingml/2006/main">
              <a:ext uri="{FF2B5EF4-FFF2-40B4-BE49-F238E27FC236}">
                <a16:creationId xmlns:a16="http://schemas.microsoft.com/office/drawing/2014/main" id="{E9691F68-8A4C-4A2D-BD9E-BA04B9686857}"/>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15" name="05-text-15">
            <a:extLst xmlns:a="http://schemas.openxmlformats.org/drawingml/2006/main">
              <a:ext uri="{FF2B5EF4-FFF2-40B4-BE49-F238E27FC236}">
                <a16:creationId xmlns:a16="http://schemas.microsoft.com/office/drawing/2014/main" id="{2BF642F8-B6AB-4798-A3F8-0A76155A9F8B}"/>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16" name="05-text-16">
            <a:extLst xmlns:a="http://schemas.openxmlformats.org/drawingml/2006/main">
              <a:ext uri="{FF2B5EF4-FFF2-40B4-BE49-F238E27FC236}">
                <a16:creationId xmlns:a16="http://schemas.microsoft.com/office/drawing/2014/main" id="{CB7A34EB-B690-4864-A229-ADFE7748CFA8}"/>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17" name="05-text-17">
            <a:extLst xmlns:a="http://schemas.openxmlformats.org/drawingml/2006/main">
              <a:ext uri="{FF2B5EF4-FFF2-40B4-BE49-F238E27FC236}">
                <a16:creationId xmlns:a16="http://schemas.microsoft.com/office/drawing/2014/main" id="{963C609A-5672-423F-B028-B9E80D7D5992}"/>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18" name="05-text-18">
            <a:extLst xmlns:a="http://schemas.openxmlformats.org/drawingml/2006/main">
              <a:ext uri="{FF2B5EF4-FFF2-40B4-BE49-F238E27FC236}">
                <a16:creationId xmlns:a16="http://schemas.microsoft.com/office/drawing/2014/main" id="{02F7ED21-E9BC-4FF8-9ADB-6E8653444AF5}"/>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Tree>
    <p:extLst>
      <p:ext uri="{BB962C8B-B14F-4D97-AF65-F5344CB8AC3E}">
        <p14:creationId xmlns:p14="http://schemas.microsoft.com/office/powerpoint/2010/main" val="236807832"/>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 name="06-text-1">
            <a:extLst xmlns:a="http://schemas.openxmlformats.org/drawingml/2006/main">
              <a:ext uri="{FF2B5EF4-FFF2-40B4-BE49-F238E27FC236}">
                <a16:creationId xmlns:a16="http://schemas.microsoft.com/office/drawing/2014/main" id="{05961838-0E4D-491B-B2E5-73CB16D32CFB}"/>
              </a:ext>
            </a:extLst>
          </p:cNvPr>
          <p:cNvSpPr>
            <a:spLocks xmlns:a="http://schemas.openxmlformats.org/drawingml/2006/main"/>
          </p:cNvSpPr>
          <p:nvPr/>
        </p:nvSpPr>
        <p:spPr>
          <a:xfrm xmlns:a="http://schemas.openxmlformats.org/drawingml/2006/main">
            <a:off x="609600" y="6096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Consolas"/>
                <a:ea typeface="Consolas"/>
                <a:cs typeface="Consolas"/>
              </a:defRPr>
            </a:pPr>
            <a:r>
              <a:rPr b="0">
                <a:solidFill>
                  <a:srgbClr val="FFFCF5"/>
                </a:solidFill>
                <a:latin typeface="Consolas"/>
                <a:ea typeface="Consolas"/>
                <a:cs typeface="Consolas"/>
              </a:rPr>
              <a:t>›</a:t>
            </a:r>
          </a:p>
        </p:txBody>
      </p:sp>
      <p:sp>
        <p:nvSpPr>
          <p:cNvPr id="2" name="06-shape-2">
            <a:extLst xmlns:a="http://schemas.openxmlformats.org/drawingml/2006/main">
              <a:ext uri="{FF2B5EF4-FFF2-40B4-BE49-F238E27FC236}">
                <a16:creationId xmlns:a16="http://schemas.microsoft.com/office/drawing/2014/main" id="{5467FEC3-3DDA-4848-8904-09ACAACD6712}"/>
              </a:ext>
            </a:extLst>
          </p:cNvPr>
          <p:cNvSpPr>
            <a:spLocks xmlns:a="http://schemas.openxmlformats.org/drawingml/2006/main"/>
          </p:cNvSpPr>
          <p:nvPr/>
        </p:nvSpPr>
        <p:spPr>
          <a:xfrm xmlns:a="http://schemas.openxmlformats.org/drawingml/2006/main">
            <a:off x="1066800" y="660400"/>
            <a:ext cx="203200" cy="406400"/>
          </a:xfrm>
          <a:prstGeom xmlns:a="http://schemas.openxmlformats.org/drawingml/2006/main" prst="rect">
            <a:avLst/>
          </a:prstGeom>
          <a:solidFill xmlns:a="http://schemas.openxmlformats.org/drawingml/2006/main">
            <a:srgbClr val="FFFCF5"/>
          </a:solidFill>
          <a:ln xmlns:a="http://schemas.openxmlformats.org/drawingml/2006/main" w="0">
            <a:noFill/>
          </a:ln>
        </p:spPr>
      </p:sp>
    </p:spTree>
    <p:extLst>
      <p:ext uri="{BB962C8B-B14F-4D97-AF65-F5344CB8AC3E}">
        <p14:creationId xmlns:p14="http://schemas.microsoft.com/office/powerpoint/2010/main" val="73099118"/>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7-image-1"/>
          <p:cNvPicPr>
            <a:picLocks xmlns:a="http://schemas.openxmlformats.org/drawingml/2006/main" noChangeAspect="1"/>
          </p:cNvPicPr>
          <p:nvPr/>
        </p:nvPicPr>
        <p:blipFill>
          <a:blip xmlns:r="http://schemas.openxmlformats.org/officeDocument/2006/relationships" xmlns:a="http://schemas.openxmlformats.org/drawingml/2006/main" r:embed="Rfdcc49c618fe4b6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8" name="07-image-2"/>
          <p:cNvPicPr>
            <a:picLocks xmlns:a="http://schemas.openxmlformats.org/drawingml/2006/main" noChangeAspect="1"/>
          </p:cNvPicPr>
          <p:nvPr/>
        </p:nvPicPr>
        <p:blipFill>
          <a:blip xmlns:r="http://schemas.openxmlformats.org/officeDocument/2006/relationships" xmlns:a="http://schemas.openxmlformats.org/drawingml/2006/main" r:embed="R50dcce2ccbce4d5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9" name="07-image-3"/>
          <p:cNvPicPr>
            <a:picLocks xmlns:a="http://schemas.openxmlformats.org/drawingml/2006/main" noChangeAspect="1"/>
          </p:cNvPicPr>
          <p:nvPr/>
        </p:nvPicPr>
        <p:blipFill>
          <a:blip xmlns:r="http://schemas.openxmlformats.org/officeDocument/2006/relationships" xmlns:a="http://schemas.openxmlformats.org/drawingml/2006/main" r:embed="Rf3b5e3b11dc3480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0" name="07-image-4"/>
          <p:cNvPicPr>
            <a:picLocks xmlns:a="http://schemas.openxmlformats.org/drawingml/2006/main" noChangeAspect="1"/>
          </p:cNvPicPr>
          <p:nvPr/>
        </p:nvPicPr>
        <p:blipFill>
          <a:blip xmlns:r="http://schemas.openxmlformats.org/officeDocument/2006/relationships" xmlns:a="http://schemas.openxmlformats.org/drawingml/2006/main" r:embed="R89e3ca885f22445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1" name="07-image-5"/>
          <p:cNvPicPr>
            <a:picLocks xmlns:a="http://schemas.openxmlformats.org/drawingml/2006/main" noChangeAspect="1"/>
          </p:cNvPicPr>
          <p:nvPr/>
        </p:nvPicPr>
        <p:blipFill>
          <a:blip xmlns:r="http://schemas.openxmlformats.org/officeDocument/2006/relationships" xmlns:a="http://schemas.openxmlformats.org/drawingml/2006/main" r:embed="R1e6342f1a1d3447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2" name="07-image-6"/>
          <p:cNvPicPr>
            <a:picLocks xmlns:a="http://schemas.openxmlformats.org/drawingml/2006/main" noChangeAspect="1"/>
          </p:cNvPicPr>
          <p:nvPr/>
        </p:nvPicPr>
        <p:blipFill>
          <a:blip xmlns:r="http://schemas.openxmlformats.org/officeDocument/2006/relationships" xmlns:a="http://schemas.openxmlformats.org/drawingml/2006/main" r:embed="R912616a7ee0f4fe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7361712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00" fill="hold"/>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fill="hold"/>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fill="hold"/>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fill="hold"/>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area-header">
            <a:extLst xmlns:a="http://schemas.openxmlformats.org/drawingml/2006/main">
              <a:ext uri="{FF2B5EF4-FFF2-40B4-BE49-F238E27FC236}">
                <a16:creationId xmlns:a16="http://schemas.microsoft.com/office/drawing/2014/main" id="{719BF373-0D0A-4964-B064-B50BECF9F345}"/>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E81B5518-0459-437F-A5DA-FFA290F96AA8}"/>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3" name="!!area-beat">
            <a:extLst xmlns:a="http://schemas.openxmlformats.org/drawingml/2006/main">
              <a:ext uri="{FF2B5EF4-FFF2-40B4-BE49-F238E27FC236}">
                <a16:creationId xmlns:a16="http://schemas.microsoft.com/office/drawing/2014/main" id="{38AACECF-C775-47F0-88C9-C6E40FD3462B}"/>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4" name="!!screenshot-Devin Desktop">
            <a:extLst xmlns:a="http://schemas.openxmlformats.org/drawingml/2006/main">
              <a:ext uri="{FF2B5EF4-FFF2-40B4-BE49-F238E27FC236}">
                <a16:creationId xmlns:a16="http://schemas.microsoft.com/office/drawing/2014/main" id="{110D1E83-ADF6-4BBE-B7AB-8569D43670DF}"/>
              </a:ext>
            </a:extLst>
          </p:cNvPr>
          <p:cNvSpPr>
            <a:spLocks xmlns:a="http://schemas.openxmlformats.org/drawingml/2006/main"/>
          </p:cNvSpPr>
          <p:nvPr/>
        </p:nvSpPr>
        <p:spPr>
          <a:xfrm xmlns:a="http://schemas.openxmlformats.org/drawingml/2006/main">
            <a:off x="609600" y="19812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5" name="08-text-1">
            <a:extLst xmlns:a="http://schemas.openxmlformats.org/drawingml/2006/main">
              <a:ext uri="{FF2B5EF4-FFF2-40B4-BE49-F238E27FC236}">
                <a16:creationId xmlns:a16="http://schemas.microsoft.com/office/drawing/2014/main" id="{6B884C1A-48DE-4BFE-9DA0-4369E577E72D}"/>
              </a:ext>
            </a:extLst>
          </p:cNvPr>
          <p:cNvSpPr>
            <a:spLocks xmlns:a="http://schemas.openxmlformats.org/drawingml/2006/main"/>
          </p:cNvSpPr>
          <p:nvPr/>
        </p:nvSpPr>
        <p:spPr>
          <a:xfrm xmlns:a="http://schemas.openxmlformats.org/drawingml/2006/main">
            <a:off x="812800" y="26797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 name="08-text-2">
            <a:extLst xmlns:a="http://schemas.openxmlformats.org/drawingml/2006/main">
              <a:ext uri="{FF2B5EF4-FFF2-40B4-BE49-F238E27FC236}">
                <a16:creationId xmlns:a16="http://schemas.microsoft.com/office/drawing/2014/main" id="{5719030D-98EB-4570-8B84-9084754F932F}"/>
              </a:ext>
            </a:extLst>
          </p:cNvPr>
          <p:cNvSpPr>
            <a:spLocks xmlns:a="http://schemas.openxmlformats.org/drawingml/2006/main"/>
          </p:cNvSpPr>
          <p:nvPr/>
        </p:nvSpPr>
        <p:spPr>
          <a:xfrm xmlns:a="http://schemas.openxmlformats.org/drawingml/2006/main">
            <a:off x="812800" y="32004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 name="!!screenshot-Codex CLI">
            <a:extLst xmlns:a="http://schemas.openxmlformats.org/drawingml/2006/main">
              <a:ext uri="{FF2B5EF4-FFF2-40B4-BE49-F238E27FC236}">
                <a16:creationId xmlns:a16="http://schemas.microsoft.com/office/drawing/2014/main" id="{098EEDD4-DC4E-4259-82C6-42B53843A2CD}"/>
              </a:ext>
            </a:extLst>
          </p:cNvPr>
          <p:cNvSpPr>
            <a:spLocks xmlns:a="http://schemas.openxmlformats.org/drawingml/2006/main"/>
          </p:cNvSpPr>
          <p:nvPr/>
        </p:nvSpPr>
        <p:spPr>
          <a:xfrm xmlns:a="http://schemas.openxmlformats.org/drawingml/2006/main">
            <a:off x="8128000" y="19812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8" name="08-text-3">
            <a:extLst xmlns:a="http://schemas.openxmlformats.org/drawingml/2006/main">
              <a:ext uri="{FF2B5EF4-FFF2-40B4-BE49-F238E27FC236}">
                <a16:creationId xmlns:a16="http://schemas.microsoft.com/office/drawing/2014/main" id="{4F90EB1A-C0C5-44F4-84BD-6282766BBB24}"/>
              </a:ext>
            </a:extLst>
          </p:cNvPr>
          <p:cNvSpPr>
            <a:spLocks xmlns:a="http://schemas.openxmlformats.org/drawingml/2006/main"/>
          </p:cNvSpPr>
          <p:nvPr/>
        </p:nvSpPr>
        <p:spPr>
          <a:xfrm xmlns:a="http://schemas.openxmlformats.org/drawingml/2006/main">
            <a:off x="8331200" y="26797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9" name="08-text-4">
            <a:extLst xmlns:a="http://schemas.openxmlformats.org/drawingml/2006/main">
              <a:ext uri="{FF2B5EF4-FFF2-40B4-BE49-F238E27FC236}">
                <a16:creationId xmlns:a16="http://schemas.microsoft.com/office/drawing/2014/main" id="{89B92DCA-F33D-44C1-90F5-A75EF637B3C3}"/>
              </a:ext>
            </a:extLst>
          </p:cNvPr>
          <p:cNvSpPr>
            <a:spLocks xmlns:a="http://schemas.openxmlformats.org/drawingml/2006/main"/>
          </p:cNvSpPr>
          <p:nvPr/>
        </p:nvSpPr>
        <p:spPr>
          <a:xfrm xmlns:a="http://schemas.openxmlformats.org/drawingml/2006/main">
            <a:off x="8331200" y="32004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10" name="08-text-5">
            <a:extLst xmlns:a="http://schemas.openxmlformats.org/drawingml/2006/main">
              <a:ext uri="{FF2B5EF4-FFF2-40B4-BE49-F238E27FC236}">
                <a16:creationId xmlns:a16="http://schemas.microsoft.com/office/drawing/2014/main" id="{A1304933-BF23-4FED-A8F4-5B48B8B5296E}"/>
              </a:ext>
            </a:extLst>
          </p:cNvPr>
          <p:cNvSpPr>
            <a:spLocks xmlns:a="http://schemas.openxmlformats.org/drawingml/2006/main"/>
          </p:cNvSpPr>
          <p:nvPr/>
        </p:nvSpPr>
        <p:spPr>
          <a:xfrm xmlns:a="http://schemas.openxmlformats.org/drawingml/2006/main">
            <a:off x="609600" y="5486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Devin Desktop, the model picker</a:t>
            </a:r>
          </a:p>
        </p:txBody>
      </p:sp>
      <p:sp>
        <p:nvSpPr>
          <p:cNvPr id="11" name="08-text-6">
            <a:extLst xmlns:a="http://schemas.openxmlformats.org/drawingml/2006/main">
              <a:ext uri="{FF2B5EF4-FFF2-40B4-BE49-F238E27FC236}">
                <a16:creationId xmlns:a16="http://schemas.microsoft.com/office/drawing/2014/main" id="{45023274-B1F2-43A3-B9F3-802928C9B6E7}"/>
              </a:ext>
            </a:extLst>
          </p:cNvPr>
          <p:cNvSpPr>
            <a:spLocks xmlns:a="http://schemas.openxmlformats.org/drawingml/2006/main"/>
          </p:cNvSpPr>
          <p:nvPr/>
        </p:nvSpPr>
        <p:spPr>
          <a:xfrm xmlns:a="http://schemas.openxmlformats.org/drawingml/2006/main">
            <a:off x="8128000" y="5486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Tree>
    <p:extLst>
      <p:ext uri="{BB962C8B-B14F-4D97-AF65-F5344CB8AC3E}">
        <p14:creationId xmlns:p14="http://schemas.microsoft.com/office/powerpoint/2010/main" val="141955464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area-name">
            <a:extLst xmlns:a="http://schemas.openxmlformats.org/drawingml/2006/main">
              <a:ext uri="{FF2B5EF4-FFF2-40B4-BE49-F238E27FC236}">
                <a16:creationId xmlns:a16="http://schemas.microsoft.com/office/drawing/2014/main" id="{131A9803-525E-4B09-A995-A6CA12468B6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user</a:t>
            </a:r>
          </a:p>
        </p:txBody>
      </p:sp>
      <p:pic>
        <p:nvPicPr>
          <p:cNvPr id="17" name="mini-map"/>
          <p:cNvPicPr>
            <a:picLocks xmlns:a="http://schemas.openxmlformats.org/drawingml/2006/main" noChangeAspect="1"/>
          </p:cNvPicPr>
          <p:nvPr/>
        </p:nvPicPr>
        <p:blipFill>
          <a:blip xmlns:r="http://schemas.openxmlformats.org/officeDocument/2006/relationships" xmlns:a="http://schemas.openxmlformats.org/drawingml/2006/main" r:embed="Rb39b1ca742c345b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creenshot-Devin Desktop">
            <a:extLst xmlns:a="http://schemas.openxmlformats.org/drawingml/2006/main">
              <a:ext uri="{FF2B5EF4-FFF2-40B4-BE49-F238E27FC236}">
                <a16:creationId xmlns:a16="http://schemas.microsoft.com/office/drawing/2014/main" id="{6761D259-0A92-42A9-8A11-5E5579CF2863}"/>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4" name="08b-text-1">
            <a:extLst xmlns:a="http://schemas.openxmlformats.org/drawingml/2006/main">
              <a:ext uri="{FF2B5EF4-FFF2-40B4-BE49-F238E27FC236}">
                <a16:creationId xmlns:a16="http://schemas.microsoft.com/office/drawing/2014/main" id="{E87BA0A7-65BA-4629-8EDE-7C19A6D3CAAA}"/>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5" name="08b-text-2">
            <a:extLst xmlns:a="http://schemas.openxmlformats.org/drawingml/2006/main">
              <a:ext uri="{FF2B5EF4-FFF2-40B4-BE49-F238E27FC236}">
                <a16:creationId xmlns:a16="http://schemas.microsoft.com/office/drawing/2014/main" id="{786C66AA-5BCD-421C-9E6B-B9AE32029032}"/>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 Desktop</a:t>
            </a:r>
          </a:p>
        </p:txBody>
      </p:sp>
      <p:sp>
        <p:nvSpPr>
          <p:cNvPr id="6" name="!!screenshot-Codex CLI">
            <a:extLst xmlns:a="http://schemas.openxmlformats.org/drawingml/2006/main">
              <a:ext uri="{FF2B5EF4-FFF2-40B4-BE49-F238E27FC236}">
                <a16:creationId xmlns:a16="http://schemas.microsoft.com/office/drawing/2014/main" id="{70062A13-DE03-4157-8E3C-E1B4DDF223AF}"/>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7" name="08b-text-3">
            <a:extLst xmlns:a="http://schemas.openxmlformats.org/drawingml/2006/main">
              <a:ext uri="{FF2B5EF4-FFF2-40B4-BE49-F238E27FC236}">
                <a16:creationId xmlns:a16="http://schemas.microsoft.com/office/drawing/2014/main" id="{72D4B39B-806E-49A5-AEF3-9E6687814EF0}"/>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 name="08b-text-4">
            <a:extLst xmlns:a="http://schemas.openxmlformats.org/drawingml/2006/main">
              <a:ext uri="{FF2B5EF4-FFF2-40B4-BE49-F238E27FC236}">
                <a16:creationId xmlns:a16="http://schemas.microsoft.com/office/drawing/2014/main" id="{64ED1A64-1DF4-4685-A5D2-CC86234D0086}"/>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 CLI</a:t>
            </a:r>
          </a:p>
        </p:txBody>
      </p:sp>
      <p:sp>
        <p:nvSpPr>
          <p:cNvPr id="9" name="08b-text-5">
            <a:extLst xmlns:a="http://schemas.openxmlformats.org/drawingml/2006/main">
              <a:ext uri="{FF2B5EF4-FFF2-40B4-BE49-F238E27FC236}">
                <a16:creationId xmlns:a16="http://schemas.microsoft.com/office/drawing/2014/main" id="{2737009B-8F7F-4AA9-9567-10FAAC4485AC}"/>
              </a:ext>
            </a:extLst>
          </p:cNvPr>
          <p:cNvSpPr>
            <a:spLocks xmlns:a="http://schemas.openxmlformats.org/drawingml/2006/main"/>
          </p:cNvSpPr>
          <p:nvPr/>
        </p:nvSpPr>
        <p:spPr>
          <a:xfrm xmlns:a="http://schemas.openxmlformats.org/drawingml/2006/main">
            <a:off x="609600" y="2082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Provider responsibilities behind the picker:</a:t>
            </a:r>
          </a:p>
        </p:txBody>
      </p:sp>
      <p:sp>
        <p:nvSpPr>
          <p:cNvPr id="10" name="08b-text-6">
            <a:extLst xmlns:a="http://schemas.openxmlformats.org/drawingml/2006/main">
              <a:ext uri="{FF2B5EF4-FFF2-40B4-BE49-F238E27FC236}">
                <a16:creationId xmlns:a16="http://schemas.microsoft.com/office/drawing/2014/main" id="{DE009980-4B13-4CE4-A77E-7702669D985F}"/>
              </a:ext>
            </a:extLst>
          </p:cNvPr>
          <p:cNvSpPr>
            <a:spLocks xmlns:a="http://schemas.openxmlformats.org/drawingml/2006/main"/>
          </p:cNvSpPr>
          <p:nvPr/>
        </p:nvSpPr>
        <p:spPr>
          <a:xfrm xmlns:a="http://schemas.openxmlformats.org/drawingml/2006/main">
            <a:off x="609600" y="2603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Defaults.</a:t>
            </a:r>
          </a:p>
        </p:txBody>
      </p:sp>
      <p:sp>
        <p:nvSpPr>
          <p:cNvPr id="11" name="08b-text-7">
            <a:extLst xmlns:a="http://schemas.openxmlformats.org/drawingml/2006/main">
              <a:ext uri="{FF2B5EF4-FFF2-40B4-BE49-F238E27FC236}">
                <a16:creationId xmlns:a16="http://schemas.microsoft.com/office/drawing/2014/main" id="{7BF249B2-A041-455A-A505-21B249439862}"/>
              </a:ext>
            </a:extLst>
          </p:cNvPr>
          <p:cNvSpPr>
            <a:spLocks xmlns:a="http://schemas.openxmlformats.org/drawingml/2006/main"/>
          </p:cNvSpPr>
          <p:nvPr/>
        </p:nvSpPr>
        <p:spPr>
          <a:xfrm xmlns:a="http://schemas.openxmlformats.org/drawingml/2006/main">
            <a:off x="609600" y="3073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Model-specific prompt and tool tuning.</a:t>
            </a:r>
          </a:p>
        </p:txBody>
      </p:sp>
      <p:sp>
        <p:nvSpPr>
          <p:cNvPr id="12" name="08b-text-8">
            <a:extLst xmlns:a="http://schemas.openxmlformats.org/drawingml/2006/main">
              <a:ext uri="{FF2B5EF4-FFF2-40B4-BE49-F238E27FC236}">
                <a16:creationId xmlns:a16="http://schemas.microsoft.com/office/drawing/2014/main" id="{04B977FC-7199-4A62-92A3-1E0C2F69E866}"/>
              </a:ext>
            </a:extLst>
          </p:cNvPr>
          <p:cNvSpPr>
            <a:spLocks xmlns:a="http://schemas.openxmlformats.org/drawingml/2006/main"/>
          </p:cNvSpPr>
          <p:nvPr/>
        </p:nvSpPr>
        <p:spPr>
          <a:xfrm xmlns:a="http://schemas.openxmlformats.org/drawingml/2006/main">
            <a:off x="609600" y="3543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Failover.</a:t>
            </a:r>
          </a:p>
        </p:txBody>
      </p:sp>
      <p:sp>
        <p:nvSpPr>
          <p:cNvPr id="13" name="08b-text-9">
            <a:extLst xmlns:a="http://schemas.openxmlformats.org/drawingml/2006/main">
              <a:ext uri="{FF2B5EF4-FFF2-40B4-BE49-F238E27FC236}">
                <a16:creationId xmlns:a16="http://schemas.microsoft.com/office/drawing/2014/main" id="{8E461079-53EF-48E3-B58C-84AEBD44FF77}"/>
              </a:ext>
            </a:extLst>
          </p:cNvPr>
          <p:cNvSpPr>
            <a:spLocks xmlns:a="http://schemas.openxmlformats.org/drawingml/2006/main"/>
          </p:cNvSpPr>
          <p:nvPr/>
        </p:nvSpPr>
        <p:spPr>
          <a:xfrm xmlns:a="http://schemas.openxmlformats.org/drawingml/2006/main">
            <a:off x="609600" y="4013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Price-change handling.</a:t>
            </a:r>
          </a:p>
        </p:txBody>
      </p:sp>
      <p:sp>
        <p:nvSpPr>
          <p:cNvPr id="14" name="08b-text-10">
            <a:extLst xmlns:a="http://schemas.openxmlformats.org/drawingml/2006/main">
              <a:ext uri="{FF2B5EF4-FFF2-40B4-BE49-F238E27FC236}">
                <a16:creationId xmlns:a16="http://schemas.microsoft.com/office/drawing/2014/main" id="{A6DE0A88-333D-437D-B0D0-05441257E874}"/>
              </a:ext>
            </a:extLst>
          </p:cNvPr>
          <p:cNvSpPr>
            <a:spLocks xmlns:a="http://schemas.openxmlformats.org/drawingml/2006/main"/>
          </p:cNvSpPr>
          <p:nvPr/>
        </p:nvSpPr>
        <p:spPr>
          <a:xfrm xmlns:a="http://schemas.openxmlformats.org/drawingml/2006/main">
            <a:off x="609600" y="4483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Retirement handling.</a:t>
            </a:r>
          </a:p>
        </p:txBody>
      </p:sp>
      <p:sp>
        <p:nvSpPr>
          <p:cNvPr id="15" name="08b-text-11">
            <a:extLst xmlns:a="http://schemas.openxmlformats.org/drawingml/2006/main">
              <a:ext uri="{FF2B5EF4-FFF2-40B4-BE49-F238E27FC236}">
                <a16:creationId xmlns:a16="http://schemas.microsoft.com/office/drawing/2014/main" id="{8FD32FAB-25CD-4586-BB64-C93364DE1301}"/>
              </a:ext>
            </a:extLst>
          </p:cNvPr>
          <p:cNvSpPr>
            <a:spLocks xmlns:a="http://schemas.openxmlformats.org/drawingml/2006/main"/>
          </p:cNvSpPr>
          <p:nvPr/>
        </p:nvSpPr>
        <p:spPr>
          <a:xfrm xmlns:a="http://schemas.openxmlformats.org/drawingml/2006/main">
            <a:off x="609600" y="53467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 retirement creates migration work.</a:t>
            </a:r>
          </a:p>
        </p:txBody>
      </p:sp>
    </p:spTree>
    <p:extLst>
      <p:ext uri="{BB962C8B-B14F-4D97-AF65-F5344CB8AC3E}">
        <p14:creationId xmlns:p14="http://schemas.microsoft.com/office/powerpoint/2010/main" val="6148616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 name="!!area-name">
            <a:extLst xmlns:a="http://schemas.openxmlformats.org/drawingml/2006/main">
              <a:ext uri="{FF2B5EF4-FFF2-40B4-BE49-F238E27FC236}">
                <a16:creationId xmlns:a16="http://schemas.microsoft.com/office/drawing/2014/main" id="{771DF30B-F40A-411B-AC30-3911FE28FBE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40" name="mini-map"/>
          <p:cNvPicPr>
            <a:picLocks xmlns:a="http://schemas.openxmlformats.org/drawingml/2006/main" noChangeAspect="1"/>
          </p:cNvPicPr>
          <p:nvPr/>
        </p:nvPicPr>
        <p:blipFill>
          <a:blip xmlns:r="http://schemas.openxmlformats.org/officeDocument/2006/relationships" xmlns:a="http://schemas.openxmlformats.org/drawingml/2006/main" r:embed="R8804c6554697424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BCEE7568-1718-48F5-B564-3C7C08B2A61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4" name="09-text-1">
            <a:extLst xmlns:a="http://schemas.openxmlformats.org/drawingml/2006/main">
              <a:ext uri="{FF2B5EF4-FFF2-40B4-BE49-F238E27FC236}">
                <a16:creationId xmlns:a16="http://schemas.microsoft.com/office/drawing/2014/main" id="{191F4D16-DF51-40E8-8B2B-9AB81A85042D}"/>
              </a:ext>
            </a:extLst>
          </p:cNvPr>
          <p:cNvSpPr>
            <a:spLocks xmlns:a="http://schemas.openxmlformats.org/drawingml/2006/main"/>
          </p:cNvSpPr>
          <p:nvPr/>
        </p:nvSpPr>
        <p:spPr>
          <a:xfrm xmlns:a="http://schemas.openxmlformats.org/drawingml/2006/main">
            <a:off x="609600" y="2032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5" name="09-shape-2">
            <a:extLst xmlns:a="http://schemas.openxmlformats.org/drawingml/2006/main">
              <a:ext uri="{FF2B5EF4-FFF2-40B4-BE49-F238E27FC236}">
                <a16:creationId xmlns:a16="http://schemas.microsoft.com/office/drawing/2014/main" id="{57F83BBA-6CFC-45EB-AE03-7510AF8A7A50}"/>
              </a:ext>
            </a:extLst>
          </p:cNvPr>
          <p:cNvSpPr>
            <a:spLocks xmlns:a="http://schemas.openxmlformats.org/drawingml/2006/main"/>
          </p:cNvSpPr>
          <p:nvPr/>
        </p:nvSpPr>
        <p:spPr>
          <a:xfrm xmlns:a="http://schemas.openxmlformats.org/drawingml/2006/main">
            <a:off x="2489200" y="1981200"/>
            <a:ext cx="3009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6" name="09-text-3">
            <a:extLst xmlns:a="http://schemas.openxmlformats.org/drawingml/2006/main">
              <a:ext uri="{FF2B5EF4-FFF2-40B4-BE49-F238E27FC236}">
                <a16:creationId xmlns:a16="http://schemas.microsoft.com/office/drawing/2014/main" id="{3EE67BAA-A70C-49B8-AF29-84DE10077CFA}"/>
              </a:ext>
            </a:extLst>
          </p:cNvPr>
          <p:cNvSpPr>
            <a:spLocks xmlns:a="http://schemas.openxmlformats.org/drawingml/2006/main"/>
          </p:cNvSpPr>
          <p:nvPr/>
        </p:nvSpPr>
        <p:spPr>
          <a:xfrm xmlns:a="http://schemas.openxmlformats.org/drawingml/2006/main">
            <a:off x="2641600" y="2019300"/>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Capability on your tasks</a:t>
            </a:r>
          </a:p>
        </p:txBody>
      </p:sp>
      <p:sp>
        <p:nvSpPr>
          <p:cNvPr id="7" name="09-shape-4">
            <a:extLst xmlns:a="http://schemas.openxmlformats.org/drawingml/2006/main">
              <a:ext uri="{FF2B5EF4-FFF2-40B4-BE49-F238E27FC236}">
                <a16:creationId xmlns:a16="http://schemas.microsoft.com/office/drawing/2014/main" id="{48887452-A0A0-451D-8960-2F4D11F1D745}"/>
              </a:ext>
            </a:extLst>
          </p:cNvPr>
          <p:cNvSpPr>
            <a:spLocks xmlns:a="http://schemas.openxmlformats.org/drawingml/2006/main"/>
          </p:cNvSpPr>
          <p:nvPr/>
        </p:nvSpPr>
        <p:spPr>
          <a:xfrm xmlns:a="http://schemas.openxmlformats.org/drawingml/2006/main">
            <a:off x="5600700" y="1981200"/>
            <a:ext cx="3048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09-text-5">
            <a:extLst xmlns:a="http://schemas.openxmlformats.org/drawingml/2006/main">
              <a:ext uri="{FF2B5EF4-FFF2-40B4-BE49-F238E27FC236}">
                <a16:creationId xmlns:a16="http://schemas.microsoft.com/office/drawing/2014/main" id="{CFB7C2E6-27CC-4160-806D-9A91B907F42B}"/>
              </a:ext>
            </a:extLst>
          </p:cNvPr>
          <p:cNvSpPr>
            <a:spLocks xmlns:a="http://schemas.openxmlformats.org/drawingml/2006/main"/>
          </p:cNvSpPr>
          <p:nvPr/>
        </p:nvSpPr>
        <p:spPr>
          <a:xfrm xmlns:a="http://schemas.openxmlformats.org/drawingml/2006/main">
            <a:off x="5753100" y="20193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a:t>
            </a:r>
          </a:p>
        </p:txBody>
      </p:sp>
      <p:sp>
        <p:nvSpPr>
          <p:cNvPr id="9" name="09-shape-6">
            <a:extLst xmlns:a="http://schemas.openxmlformats.org/drawingml/2006/main">
              <a:ext uri="{FF2B5EF4-FFF2-40B4-BE49-F238E27FC236}">
                <a16:creationId xmlns:a16="http://schemas.microsoft.com/office/drawing/2014/main" id="{25C9010E-405A-4EEC-A6FB-BDF7C976368C}"/>
              </a:ext>
            </a:extLst>
          </p:cNvPr>
          <p:cNvSpPr>
            <a:spLocks xmlns:a="http://schemas.openxmlformats.org/drawingml/2006/main"/>
          </p:cNvSpPr>
          <p:nvPr/>
        </p:nvSpPr>
        <p:spPr>
          <a:xfrm xmlns:a="http://schemas.openxmlformats.org/drawingml/2006/main">
            <a:off x="8750300" y="1981200"/>
            <a:ext cx="1981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09-text-7">
            <a:extLst xmlns:a="http://schemas.openxmlformats.org/drawingml/2006/main">
              <a:ext uri="{FF2B5EF4-FFF2-40B4-BE49-F238E27FC236}">
                <a16:creationId xmlns:a16="http://schemas.microsoft.com/office/drawing/2014/main" id="{EF0A1D8B-563F-4559-B0FD-5AE75CAA4758}"/>
              </a:ext>
            </a:extLst>
          </p:cNvPr>
          <p:cNvSpPr>
            <a:spLocks xmlns:a="http://schemas.openxmlformats.org/drawingml/2006/main"/>
          </p:cNvSpPr>
          <p:nvPr/>
        </p:nvSpPr>
        <p:spPr>
          <a:xfrm xmlns:a="http://schemas.openxmlformats.org/drawingml/2006/main">
            <a:off x="8902700" y="2019300"/>
            <a:ext cx="167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Latency at p95</a:t>
            </a:r>
          </a:p>
        </p:txBody>
      </p:sp>
      <p:sp>
        <p:nvSpPr>
          <p:cNvPr id="11" name="09-shape-8">
            <a:extLst xmlns:a="http://schemas.openxmlformats.org/drawingml/2006/main">
              <a:ext uri="{FF2B5EF4-FFF2-40B4-BE49-F238E27FC236}">
                <a16:creationId xmlns:a16="http://schemas.microsoft.com/office/drawing/2014/main" id="{B27F47A2-2311-460A-801D-95D1174E9F2E}"/>
              </a:ext>
            </a:extLst>
          </p:cNvPr>
          <p:cNvSpPr>
            <a:spLocks xmlns:a="http://schemas.openxmlformats.org/drawingml/2006/main"/>
          </p:cNvSpPr>
          <p:nvPr/>
        </p:nvSpPr>
        <p:spPr>
          <a:xfrm xmlns:a="http://schemas.openxmlformats.org/drawingml/2006/main">
            <a:off x="2489200" y="2501900"/>
            <a:ext cx="2108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09-text-9">
            <a:extLst xmlns:a="http://schemas.openxmlformats.org/drawingml/2006/main">
              <a:ext uri="{FF2B5EF4-FFF2-40B4-BE49-F238E27FC236}">
                <a16:creationId xmlns:a16="http://schemas.microsoft.com/office/drawing/2014/main" id="{89041AB2-3B8F-4EF4-9C10-A82FB3B62E4D}"/>
              </a:ext>
            </a:extLst>
          </p:cNvPr>
          <p:cNvSpPr>
            <a:spLocks xmlns:a="http://schemas.openxmlformats.org/drawingml/2006/main"/>
          </p:cNvSpPr>
          <p:nvPr/>
        </p:nvSpPr>
        <p:spPr>
          <a:xfrm xmlns:a="http://schemas.openxmlformats.org/drawingml/2006/main">
            <a:off x="2641600" y="2540000"/>
            <a:ext cx="180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window</a:t>
            </a:r>
          </a:p>
        </p:txBody>
      </p:sp>
      <p:sp>
        <p:nvSpPr>
          <p:cNvPr id="13" name="09-shape-10">
            <a:extLst xmlns:a="http://schemas.openxmlformats.org/drawingml/2006/main">
              <a:ext uri="{FF2B5EF4-FFF2-40B4-BE49-F238E27FC236}">
                <a16:creationId xmlns:a16="http://schemas.microsoft.com/office/drawing/2014/main" id="{9FBC19A6-5F0B-45AB-9EA6-C2E9D3B9C0B3}"/>
              </a:ext>
            </a:extLst>
          </p:cNvPr>
          <p:cNvSpPr>
            <a:spLocks xmlns:a="http://schemas.openxmlformats.org/drawingml/2006/main"/>
          </p:cNvSpPr>
          <p:nvPr/>
        </p:nvSpPr>
        <p:spPr>
          <a:xfrm xmlns:a="http://schemas.openxmlformats.org/drawingml/2006/main">
            <a:off x="4699000" y="2501900"/>
            <a:ext cx="2324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4" name="09-text-11">
            <a:extLst xmlns:a="http://schemas.openxmlformats.org/drawingml/2006/main">
              <a:ext uri="{FF2B5EF4-FFF2-40B4-BE49-F238E27FC236}">
                <a16:creationId xmlns:a16="http://schemas.microsoft.com/office/drawing/2014/main" id="{314EC461-704D-4AC1-BEED-A1AD52D3F719}"/>
              </a:ext>
            </a:extLst>
          </p:cNvPr>
          <p:cNvSpPr>
            <a:spLocks xmlns:a="http://schemas.openxmlformats.org/drawingml/2006/main"/>
          </p:cNvSpPr>
          <p:nvPr/>
        </p:nvSpPr>
        <p:spPr>
          <a:xfrm xmlns:a="http://schemas.openxmlformats.org/drawingml/2006/main">
            <a:off x="4851400" y="254000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Tool-use reliability</a:t>
            </a:r>
          </a:p>
        </p:txBody>
      </p:sp>
      <p:sp>
        <p:nvSpPr>
          <p:cNvPr id="15" name="09-shape-12">
            <a:extLst xmlns:a="http://schemas.openxmlformats.org/drawingml/2006/main">
              <a:ext uri="{FF2B5EF4-FFF2-40B4-BE49-F238E27FC236}">
                <a16:creationId xmlns:a16="http://schemas.microsoft.com/office/drawing/2014/main" id="{F10AA887-5265-467B-9EDB-88CB28682710}"/>
              </a:ext>
            </a:extLst>
          </p:cNvPr>
          <p:cNvSpPr>
            <a:spLocks xmlns:a="http://schemas.openxmlformats.org/drawingml/2006/main"/>
          </p:cNvSpPr>
          <p:nvPr/>
        </p:nvSpPr>
        <p:spPr>
          <a:xfrm xmlns:a="http://schemas.openxmlformats.org/drawingml/2006/main">
            <a:off x="7124700" y="2501900"/>
            <a:ext cx="2006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6" name="09-text-13">
            <a:extLst xmlns:a="http://schemas.openxmlformats.org/drawingml/2006/main">
              <a:ext uri="{FF2B5EF4-FFF2-40B4-BE49-F238E27FC236}">
                <a16:creationId xmlns:a16="http://schemas.microsoft.com/office/drawing/2014/main" id="{645952D2-DF17-476C-ABB8-511F37771CB0}"/>
              </a:ext>
            </a:extLst>
          </p:cNvPr>
          <p:cNvSpPr>
            <a:spLocks xmlns:a="http://schemas.openxmlformats.org/drawingml/2006/main"/>
          </p:cNvSpPr>
          <p:nvPr/>
        </p:nvSpPr>
        <p:spPr>
          <a:xfrm xmlns:a="http://schemas.openxmlformats.org/drawingml/2006/main">
            <a:off x="7277100" y="2540000"/>
            <a:ext cx="170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Data residency</a:t>
            </a:r>
          </a:p>
        </p:txBody>
      </p:sp>
      <p:sp>
        <p:nvSpPr>
          <p:cNvPr id="17" name="09-text-14">
            <a:extLst xmlns:a="http://schemas.openxmlformats.org/drawingml/2006/main">
              <a:ext uri="{FF2B5EF4-FFF2-40B4-BE49-F238E27FC236}">
                <a16:creationId xmlns:a16="http://schemas.microsoft.com/office/drawing/2014/main" id="{1D45BF67-2206-429E-ADFB-71E43864D22F}"/>
              </a:ext>
            </a:extLst>
          </p:cNvPr>
          <p:cNvSpPr>
            <a:spLocks xmlns:a="http://schemas.openxmlformats.org/drawingml/2006/main"/>
          </p:cNvSpPr>
          <p:nvPr/>
        </p:nvSpPr>
        <p:spPr>
          <a:xfrm xmlns:a="http://schemas.openxmlformats.org/drawingml/2006/main">
            <a:off x="609600" y="3429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8" name="09-text-15">
            <a:extLst xmlns:a="http://schemas.openxmlformats.org/drawingml/2006/main">
              <a:ext uri="{FF2B5EF4-FFF2-40B4-BE49-F238E27FC236}">
                <a16:creationId xmlns:a16="http://schemas.microsoft.com/office/drawing/2014/main" id="{E742723B-8319-4A04-94CF-269ACE0E60CB}"/>
              </a:ext>
            </a:extLst>
          </p:cNvPr>
          <p:cNvSpPr>
            <a:spLocks xmlns:a="http://schemas.openxmlformats.org/drawingml/2006/main"/>
          </p:cNvSpPr>
          <p:nvPr/>
        </p:nvSpPr>
        <p:spPr>
          <a:xfrm xmlns:a="http://schemas.openxmlformats.org/drawingml/2006/main">
            <a:off x="2489200" y="3378200"/>
            <a:ext cx="90932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Benchmarks use their task population and harness.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Measure your product on representative cases.</a:t>
            </a:r>
          </a:p>
        </p:txBody>
      </p:sp>
      <p:sp>
        <p:nvSpPr>
          <p:cNvPr id="19" name="09-text-16">
            <a:extLst xmlns:a="http://schemas.openxmlformats.org/drawingml/2006/main">
              <a:ext uri="{FF2B5EF4-FFF2-40B4-BE49-F238E27FC236}">
                <a16:creationId xmlns:a16="http://schemas.microsoft.com/office/drawing/2014/main" id="{682AAC4C-60F6-47DB-94B5-F4EE738F00DA}"/>
              </a:ext>
            </a:extLst>
          </p:cNvPr>
          <p:cNvSpPr>
            <a:spLocks xmlns:a="http://schemas.openxmlformats.org/drawingml/2006/main"/>
          </p:cNvSpPr>
          <p:nvPr/>
        </p:nvSpPr>
        <p:spPr>
          <a:xfrm xmlns:a="http://schemas.openxmlformats.org/drawingml/2006/main">
            <a:off x="609600" y="1981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20" name="09-shape-17">
            <a:extLst xmlns:a="http://schemas.openxmlformats.org/drawingml/2006/main">
              <a:ext uri="{FF2B5EF4-FFF2-40B4-BE49-F238E27FC236}">
                <a16:creationId xmlns:a16="http://schemas.microsoft.com/office/drawing/2014/main" id="{D7F8269A-EE23-4EC5-BDE7-3515BFEC31FA}"/>
              </a:ext>
            </a:extLst>
          </p:cNvPr>
          <p:cNvSpPr>
            <a:spLocks xmlns:a="http://schemas.openxmlformats.org/drawingml/2006/main"/>
          </p:cNvSpPr>
          <p:nvPr/>
        </p:nvSpPr>
        <p:spPr>
          <a:xfrm xmlns:a="http://schemas.openxmlformats.org/drawingml/2006/main">
            <a:off x="609600" y="24384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21" name="09-text-18">
            <a:extLst xmlns:a="http://schemas.openxmlformats.org/drawingml/2006/main">
              <a:ext uri="{FF2B5EF4-FFF2-40B4-BE49-F238E27FC236}">
                <a16:creationId xmlns:a16="http://schemas.microsoft.com/office/drawing/2014/main" id="{727EDFD1-BEC5-4FD5-A561-C196A36536BB}"/>
              </a:ext>
            </a:extLst>
          </p:cNvPr>
          <p:cNvSpPr>
            <a:spLocks xmlns:a="http://schemas.openxmlformats.org/drawingml/2006/main"/>
          </p:cNvSpPr>
          <p:nvPr/>
        </p:nvSpPr>
        <p:spPr>
          <a:xfrm xmlns:a="http://schemas.openxmlformats.org/drawingml/2006/main">
            <a:off x="812800" y="25908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Pinned version</a:t>
            </a:r>
          </a:p>
        </p:txBody>
      </p:sp>
      <p:sp>
        <p:nvSpPr>
          <p:cNvPr id="22" name="09-text-19">
            <a:extLst xmlns:a="http://schemas.openxmlformats.org/drawingml/2006/main">
              <a:ext uri="{FF2B5EF4-FFF2-40B4-BE49-F238E27FC236}">
                <a16:creationId xmlns:a16="http://schemas.microsoft.com/office/drawing/2014/main" id="{EC43EA3F-A1B0-4FD1-B5E4-536E0FECD243}"/>
              </a:ext>
            </a:extLst>
          </p:cNvPr>
          <p:cNvSpPr>
            <a:spLocks xmlns:a="http://schemas.openxmlformats.org/drawingml/2006/main"/>
          </p:cNvSpPr>
          <p:nvPr/>
        </p:nvSpPr>
        <p:spPr>
          <a:xfrm xmlns:a="http://schemas.openxmlformats.org/drawingml/2006/main">
            <a:off x="812800" y="30480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23" name="09-shape-20">
            <a:extLst xmlns:a="http://schemas.openxmlformats.org/drawingml/2006/main">
              <a:ext uri="{FF2B5EF4-FFF2-40B4-BE49-F238E27FC236}">
                <a16:creationId xmlns:a16="http://schemas.microsoft.com/office/drawing/2014/main" id="{5D602354-3D42-49D8-8540-0E732FD62F07}"/>
              </a:ext>
            </a:extLst>
          </p:cNvPr>
          <p:cNvSpPr>
            <a:spLocks xmlns:a="http://schemas.openxmlformats.org/drawingml/2006/main"/>
          </p:cNvSpPr>
          <p:nvPr/>
        </p:nvSpPr>
        <p:spPr>
          <a:xfrm xmlns:a="http://schemas.openxmlformats.org/drawingml/2006/main">
            <a:off x="6248400" y="24384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24" name="09-text-21">
            <a:extLst xmlns:a="http://schemas.openxmlformats.org/drawingml/2006/main">
              <a:ext uri="{FF2B5EF4-FFF2-40B4-BE49-F238E27FC236}">
                <a16:creationId xmlns:a16="http://schemas.microsoft.com/office/drawing/2014/main" id="{B2DA1CE6-C428-4057-9437-5475120D5F61}"/>
              </a:ext>
            </a:extLst>
          </p:cNvPr>
          <p:cNvSpPr>
            <a:spLocks xmlns:a="http://schemas.openxmlformats.org/drawingml/2006/main"/>
          </p:cNvSpPr>
          <p:nvPr/>
        </p:nvSpPr>
        <p:spPr>
          <a:xfrm xmlns:a="http://schemas.openxmlformats.org/drawingml/2006/main">
            <a:off x="6451600" y="25908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Moving alias</a:t>
            </a:r>
          </a:p>
        </p:txBody>
      </p:sp>
      <p:sp>
        <p:nvSpPr>
          <p:cNvPr id="25" name="09-text-22">
            <a:extLst xmlns:a="http://schemas.openxmlformats.org/drawingml/2006/main">
              <a:ext uri="{FF2B5EF4-FFF2-40B4-BE49-F238E27FC236}">
                <a16:creationId xmlns:a16="http://schemas.microsoft.com/office/drawing/2014/main" id="{4842B883-0FC8-4EB1-8DAB-20ED5185E1DB}"/>
              </a:ext>
            </a:extLst>
          </p:cNvPr>
          <p:cNvSpPr>
            <a:spLocks xmlns:a="http://schemas.openxmlformats.org/drawingml/2006/main"/>
          </p:cNvSpPr>
          <p:nvPr/>
        </p:nvSpPr>
        <p:spPr>
          <a:xfrm xmlns:a="http://schemas.openxmlformats.org/drawingml/2006/main">
            <a:off x="6451600" y="30480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26" name="09-text-23">
            <a:extLst xmlns:a="http://schemas.openxmlformats.org/drawingml/2006/main">
              <a:ext uri="{FF2B5EF4-FFF2-40B4-BE49-F238E27FC236}">
                <a16:creationId xmlns:a16="http://schemas.microsoft.com/office/drawing/2014/main" id="{4A7035E3-07BD-4B9A-9EB2-ED199C504174}"/>
              </a:ext>
            </a:extLst>
          </p:cNvPr>
          <p:cNvSpPr>
            <a:spLocks xmlns:a="http://schemas.openxmlformats.org/drawingml/2006/main"/>
          </p:cNvSpPr>
          <p:nvPr/>
        </p:nvSpPr>
        <p:spPr>
          <a:xfrm xmlns:a="http://schemas.openxmlformats.org/drawingml/2006/main">
            <a:off x="609600" y="39878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controls one source of variation. Prompts, tools, retrieval,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the environment also affect behavior.</a:t>
            </a:r>
          </a:p>
        </p:txBody>
      </p:sp>
      <p:sp>
        <p:nvSpPr>
          <p:cNvPr id="27" name="09-text-24">
            <a:extLst xmlns:a="http://schemas.openxmlformats.org/drawingml/2006/main">
              <a:ext uri="{FF2B5EF4-FFF2-40B4-BE49-F238E27FC236}">
                <a16:creationId xmlns:a16="http://schemas.microsoft.com/office/drawing/2014/main" id="{8C8F1193-B42E-494C-893D-910066F55AE4}"/>
              </a:ext>
            </a:extLst>
          </p:cNvPr>
          <p:cNvSpPr>
            <a:spLocks xmlns:a="http://schemas.openxmlformats.org/drawingml/2006/main"/>
          </p:cNvSpPr>
          <p:nvPr/>
        </p:nvSpPr>
        <p:spPr>
          <a:xfrm xmlns:a="http://schemas.openxmlformats.org/drawingml/2006/main">
            <a:off x="609600" y="4749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GPT-4 prime/composite task, step-by-step prompting: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84% in March 2023, 51% in June 2023.</a:t>
            </a:r>
          </a:p>
        </p:txBody>
      </p:sp>
      <p:sp>
        <p:nvSpPr>
          <p:cNvPr id="28" name="09-text-25">
            <a:extLst xmlns:a="http://schemas.openxmlformats.org/drawingml/2006/main">
              <a:ext uri="{FF2B5EF4-FFF2-40B4-BE49-F238E27FC236}">
                <a16:creationId xmlns:a16="http://schemas.microsoft.com/office/drawing/2014/main" id="{9736D169-F7BB-4287-B0A0-39AB135F1751}"/>
              </a:ext>
            </a:extLst>
          </p:cNvPr>
          <p:cNvSpPr>
            <a:spLocks xmlns:a="http://schemas.openxmlformats.org/drawingml/2006/main"/>
          </p:cNvSpPr>
          <p:nvPr/>
        </p:nvSpPr>
        <p:spPr>
          <a:xfrm xmlns:a="http://schemas.openxmlformats.org/drawingml/2006/main">
            <a:off x="609600" y="5562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Chen, Zaharia, Zou, revised 2023 paper. Task-specific, not overall model quality.</a:t>
            </a:r>
          </a:p>
        </p:txBody>
      </p:sp>
      <p:sp>
        <p:nvSpPr>
          <p:cNvPr id="29" name="09-text-26">
            <a:extLst xmlns:a="http://schemas.openxmlformats.org/drawingml/2006/main">
              <a:ext uri="{FF2B5EF4-FFF2-40B4-BE49-F238E27FC236}">
                <a16:creationId xmlns:a16="http://schemas.microsoft.com/office/drawing/2014/main" id="{03812362-6ABA-4B6D-87F0-80AE3B963848}"/>
              </a:ext>
            </a:extLst>
          </p:cNvPr>
          <p:cNvSpPr>
            <a:spLocks xmlns:a="http://schemas.openxmlformats.org/drawingml/2006/main"/>
          </p:cNvSpPr>
          <p:nvPr/>
        </p:nvSpPr>
        <p:spPr>
          <a:xfrm xmlns:a="http://schemas.openxmlformats.org/drawingml/2006/main">
            <a:off x="609600" y="1981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30" name="09-text-27">
            <a:extLst xmlns:a="http://schemas.openxmlformats.org/drawingml/2006/main">
              <a:ext uri="{FF2B5EF4-FFF2-40B4-BE49-F238E27FC236}">
                <a16:creationId xmlns:a16="http://schemas.microsoft.com/office/drawing/2014/main" id="{3FD428A6-A03C-44EC-8E0A-C14603EE8367}"/>
              </a:ext>
            </a:extLst>
          </p:cNvPr>
          <p:cNvSpPr>
            <a:spLocks xmlns:a="http://schemas.openxmlformats.org/drawingml/2006/main"/>
          </p:cNvSpPr>
          <p:nvPr/>
        </p:nvSpPr>
        <p:spPr>
          <a:xfrm xmlns:a="http://schemas.openxmlformats.org/drawingml/2006/main">
            <a:off x="2489200" y="20066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LangChain, August 11, 2026 · 145 tasks · 7% frontier selection · judge calls excluded</a:t>
            </a:r>
          </a:p>
        </p:txBody>
      </p:sp>
      <p:graphicFrame>
        <p:nvGraphicFramePr>
          <p:cNvPr id="69" name="09-table-28"/>
          <p:cNvGraphicFramePr/>
          <p:nvPr/>
        </p:nvGraphicFramePr>
        <p:xfrm>
          <a:off xmlns:a="http://schemas.openxmlformats.org/drawingml/2006/main" x="609600" y="2489200"/>
          <a:ext xmlns:a="http://schemas.openxmlformats.org/drawingml/2006/main" cx="10972800" cy="1854200"/>
        </p:xfrm>
        <a:graphic xmlns:a="http://schemas.openxmlformats.org/drawingml/2006/main">
          <a:graphicData uri="http://schemas.openxmlformats.org/drawingml/2006/table">
            <a:tbl>
              <a:tblPr firstRow="0" firstCol="0" lastCol="0" bandRow="0" bandCol="0"/>
              <a:tblGrid>
                <a:gridCol w="4572000"/>
                <a:gridCol w="2286000"/>
                <a:gridCol w="4114800"/>
              </a:tblGrid>
              <a:tr h="635000">
                <a:tc>
                  <a:txBody>
                    <a:bodyPr>
                      <a:noAutofit/>
                    </a:bodyPr>
                    <a:lstStyle/>
                    <a:p>
                      <a:pPr>
                        <a:lnSpc>
                          <a:spcPct val="125000"/>
                        </a:lnSpc>
                        <a:buNone/>
                      </a:pPr>
                      <a:r>
                        <a:rPr sz="2000" b="1">
                          <a:solidFill>
                            <a:srgbClr val="1064F8"/>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Accuracy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Cost per</a:t>
                      </a:r>
                    </a:p>
                    <a:p>
                      <a:pPr>
                        <a:lnSpc>
                          <a:spcPct val="125000"/>
                        </a:lnSpc>
                        <a:buNone/>
                      </a:pPr>
                      <a:r>
                        <a:rPr sz="2000" b="1">
                          <a:solidFill>
                            <a:srgbClr val="1064F8"/>
                          </a:solidFill>
                          <a:latin typeface="Helvetica"/>
                          <a:ea typeface="Helvetica"/>
                          <a:cs typeface="Helvetica"/>
                        </a:rPr>
                        <a:t>completed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Frontier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86.0%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$0.092</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Routed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80.0%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$0.026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Small model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77.7%</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$0.006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2" name="09-text-29">
            <a:extLst xmlns:a="http://schemas.openxmlformats.org/drawingml/2006/main">
              <a:ext uri="{FF2B5EF4-FFF2-40B4-BE49-F238E27FC236}">
                <a16:creationId xmlns:a16="http://schemas.microsoft.com/office/drawing/2014/main" id="{3C99AF7C-8CC8-4AE5-B72A-C5E7A06AC83C}"/>
              </a:ext>
            </a:extLst>
          </p:cNvPr>
          <p:cNvSpPr>
            <a:spLocks xmlns:a="http://schemas.openxmlformats.org/drawingml/2006/main"/>
          </p:cNvSpPr>
          <p:nvPr/>
        </p:nvSpPr>
        <p:spPr>
          <a:xfrm xmlns:a="http://schemas.openxmlformats.org/drawingml/2006/main">
            <a:off x="609600" y="4394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Run variation: about 2.7 points. Routed gain over small-only: 2.3 points.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Frontier selection: 4.1% to 9.1% across five runs.</a:t>
            </a:r>
          </a:p>
        </p:txBody>
      </p:sp>
      <p:sp>
        <p:nvSpPr>
          <p:cNvPr id="33" name="09-text-30">
            <a:extLst xmlns:a="http://schemas.openxmlformats.org/drawingml/2006/main">
              <a:ext uri="{FF2B5EF4-FFF2-40B4-BE49-F238E27FC236}">
                <a16:creationId xmlns:a16="http://schemas.microsoft.com/office/drawing/2014/main" id="{FCA7E44B-9A79-4D60-8479-3AD8CF90E818}"/>
              </a:ext>
            </a:extLst>
          </p:cNvPr>
          <p:cNvSpPr>
            <a:spLocks xmlns:a="http://schemas.openxmlformats.org/drawingml/2006/main"/>
          </p:cNvSpPr>
          <p:nvPr/>
        </p:nvSpPr>
        <p:spPr>
          <a:xfrm xmlns:a="http://schemas.openxmlformats.org/drawingml/2006/main">
            <a:off x="609600" y="5054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About 72% lower cost per completed task; article: 74% lower total cost.</a:t>
            </a:r>
          </a:p>
        </p:txBody>
      </p:sp>
      <p:sp>
        <p:nvSpPr>
          <p:cNvPr id="34" name="09-text-31">
            <a:extLst xmlns:a="http://schemas.openxmlformats.org/drawingml/2006/main">
              <a:ext uri="{FF2B5EF4-FFF2-40B4-BE49-F238E27FC236}">
                <a16:creationId xmlns:a16="http://schemas.microsoft.com/office/drawing/2014/main" id="{76FCEA23-7FF6-45DE-B147-4B2A5A0D3CA6}"/>
              </a:ext>
            </a:extLst>
          </p:cNvPr>
          <p:cNvSpPr>
            <a:spLocks xmlns:a="http://schemas.openxmlformats.org/drawingml/2006/main"/>
          </p:cNvSpPr>
          <p:nvPr/>
        </p:nvSpPr>
        <p:spPr>
          <a:xfrm xmlns:a="http://schemas.openxmlformats.org/drawingml/2006/main">
            <a:off x="609600" y="5537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configuration meets your product's quality requirement?</a:t>
            </a:r>
          </a:p>
        </p:txBody>
      </p:sp>
      <p:sp>
        <p:nvSpPr>
          <p:cNvPr id="35" name="09-shape-32">
            <a:extLst xmlns:a="http://schemas.openxmlformats.org/drawingml/2006/main">
              <a:ext uri="{FF2B5EF4-FFF2-40B4-BE49-F238E27FC236}">
                <a16:creationId xmlns:a16="http://schemas.microsoft.com/office/drawing/2014/main" id="{240141E0-3E8F-41DF-A166-F243172B88CF}"/>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6" name="09-shape-33">
            <a:extLst xmlns:a="http://schemas.openxmlformats.org/drawingml/2006/main">
              <a:ext uri="{FF2B5EF4-FFF2-40B4-BE49-F238E27FC236}">
                <a16:creationId xmlns:a16="http://schemas.microsoft.com/office/drawing/2014/main" id="{7A070562-F2DF-4213-A958-07D98171BCD0}"/>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37" name="09-text-34">
            <a:extLst xmlns:a="http://schemas.openxmlformats.org/drawingml/2006/main">
              <a:ext uri="{FF2B5EF4-FFF2-40B4-BE49-F238E27FC236}">
                <a16:creationId xmlns:a16="http://schemas.microsoft.com/office/drawing/2014/main" id="{20C614A4-F3B4-4634-842F-F7F895101642}"/>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38" name="09-text-35">
            <a:extLst xmlns:a="http://schemas.openxmlformats.org/drawingml/2006/main">
              <a:ext uri="{FF2B5EF4-FFF2-40B4-BE49-F238E27FC236}">
                <a16:creationId xmlns:a16="http://schemas.microsoft.com/office/drawing/2014/main" id="{F56E7AC0-DE7D-4CD2-80BF-4F423F03D465}"/>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Tree>
    <p:extLst>
      <p:ext uri="{BB962C8B-B14F-4D97-AF65-F5344CB8AC3E}">
        <p14:creationId xmlns:p14="http://schemas.microsoft.com/office/powerpoint/2010/main" val="210523144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200" fill="hold"/>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fill="hold"/>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fill="hold"/>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fill="hold"/>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fill="hold"/>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fill="hold"/>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fill="hold"/>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fill="hold"/>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fill="hold"/>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fill="hold"/>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200" fill="hold"/>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 fill="hold"/>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4"/>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5"/>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6"/>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7"/>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8"/>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9"/>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0"/>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1"/>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2"/>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13"/>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4"/>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5"/>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6"/>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17"/>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18"/>
                                        </p:tgtEl>
                                        <p:attrNameLst>
                                          <p:attrName>style.visibility</p:attrName>
                                        </p:attrNameLst>
                                      </p:cBhvr>
                                      <p:to>
                                        <p:strVal val="hidden"/>
                                      </p:to>
                                    </p:set>
                                  </p:childTnLst>
                                </p:cTn>
                              </p:par>
                              <p:par>
                                <p:cTn id="81" presetID="1" presetClass="entr" presetSubtype="0" fill="hold" nodeType="withEffect">
                                  <p:stCondLst>
                                    <p:cond delay="0"/>
                                  </p:stCondLst>
                                  <p:childTnLst>
                                    <p:set>
                                      <p:cBhvr>
                                        <p:cTn id="82" dur="1" fill="hold">
                                          <p:stCondLst>
                                            <p:cond delay="0"/>
                                          </p:stCondLst>
                                        </p:cTn>
                                        <p:tgtEl>
                                          <p:spTgt spid="19"/>
                                        </p:tgtEl>
                                        <p:attrNameLst>
                                          <p:attrName>style.visibility</p:attrName>
                                        </p:attrNameLst>
                                      </p:cBhvr>
                                      <p:to>
                                        <p:strVal val="visible"/>
                                      </p:to>
                                    </p:set>
                                  </p:childTnLst>
                                </p:cTn>
                              </p:par>
                              <p:par>
                                <p:cTn id="83" presetID="10" presetClass="entr" presetSubtype="0" fill="hold"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200" fill="hold"/>
                                        <p:tgtEl>
                                          <p:spTgt spid="20"/>
                                        </p:tgtEl>
                                      </p:cBhvr>
                                    </p:animEffect>
                                  </p:childTnLst>
                                </p:cTn>
                              </p:par>
                              <p:par>
                                <p:cTn id="86" presetID="10" presetClass="entr" presetSubtype="0" fill="hold"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200" fill="hold"/>
                                        <p:tgtEl>
                                          <p:spTgt spid="21"/>
                                        </p:tgtEl>
                                      </p:cBhvr>
                                    </p:animEffect>
                                  </p:childTnLst>
                                </p:cTn>
                              </p:par>
                              <p:par>
                                <p:cTn id="89" presetID="10" presetClass="entr" presetSubtype="0" fill="hold" nodeType="with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200" fill="hold"/>
                                        <p:tgtEl>
                                          <p:spTgt spid="22"/>
                                        </p:tgtEl>
                                      </p:cBhvr>
                                    </p:animEffect>
                                  </p:childTnLst>
                                </p:cTn>
                              </p:par>
                              <p:par>
                                <p:cTn id="92" presetID="10" presetClass="entr" presetSubtype="0" fill="hold" nodeType="with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200" fill="hold"/>
                                        <p:tgtEl>
                                          <p:spTgt spid="23"/>
                                        </p:tgtEl>
                                      </p:cBhvr>
                                    </p:animEffect>
                                  </p:childTnLst>
                                </p:cTn>
                              </p:par>
                              <p:par>
                                <p:cTn id="95" presetID="10" presetClass="entr" presetSubtype="0" fill="hold" nodeType="with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200" fill="hold"/>
                                        <p:tgtEl>
                                          <p:spTgt spid="24"/>
                                        </p:tgtEl>
                                      </p:cBhvr>
                                    </p:animEffect>
                                  </p:childTnLst>
                                </p:cTn>
                              </p:par>
                              <p:par>
                                <p:cTn id="98" presetID="10" presetClass="entr" presetSubtype="0" fill="hold" nodeType="with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200" fill="hold"/>
                                        <p:tgtEl>
                                          <p:spTgt spid="25"/>
                                        </p:tgtEl>
                                      </p:cBhvr>
                                    </p:animEffect>
                                  </p:childTnLst>
                                </p:cTn>
                              </p:par>
                              <p:par>
                                <p:cTn id="101" presetID="1" presetClass="entr" presetSubtype="0" fill="hold" nodeType="withEffect">
                                  <p:stCondLst>
                                    <p:cond delay="0"/>
                                  </p:stCondLst>
                                  <p:childTnLst>
                                    <p:set>
                                      <p:cBhvr>
                                        <p:cTn id="102" dur="1" fill="hold">
                                          <p:stCondLst>
                                            <p:cond delay="0"/>
                                          </p:stCondLst>
                                        </p:cTn>
                                        <p:tgtEl>
                                          <p:spTgt spid="26"/>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nodeType="clickEffect">
                                  <p:stCondLst>
                                    <p:cond delay="0"/>
                                  </p:stCondLst>
                                  <p:childTnLst>
                                    <p:set>
                                      <p:cBhvr>
                                        <p:cTn id="110" dur="1" fill="hold">
                                          <p:stCondLst>
                                            <p:cond delay="0"/>
                                          </p:stCondLst>
                                        </p:cTn>
                                        <p:tgtEl>
                                          <p:spTgt spid="19"/>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0"/>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1"/>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2"/>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23"/>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24"/>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5"/>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26"/>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27"/>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28"/>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2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30"/>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69"/>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32"/>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33"/>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34"/>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nodeType="clickEffect">
                                  <p:stCondLst>
                                    <p:cond delay="0"/>
                                  </p:stCondLst>
                                  <p:childTnLst>
                                    <p:set>
                                      <p:cBhvr>
                                        <p:cTn id="144" dur="1" fill="hold">
                                          <p:stCondLst>
                                            <p:cond delay="0"/>
                                          </p:stCondLst>
                                        </p:cTn>
                                        <p:tgtEl>
                                          <p:spTgt spid="35"/>
                                        </p:tgtEl>
                                        <p:attrNameLst>
                                          <p:attrName>style.visibility</p:attrName>
                                        </p:attrNameLst>
                                      </p:cBhvr>
                                      <p:to>
                                        <p:strVal val="visible"/>
                                      </p:to>
                                    </p:set>
                                    <p:animEffect transition="in" filter="fade">
                                      <p:cBhvr>
                                        <p:cTn id="145" dur="300" fill="hold"/>
                                        <p:tgtEl>
                                          <p:spTgt spid="35"/>
                                        </p:tgtEl>
                                      </p:cBhvr>
                                    </p:animEffect>
                                  </p:childTnLst>
                                </p:cTn>
                              </p:par>
                              <p:par>
                                <p:cTn id="146" presetID="10" presetClass="entr" presetSubtype="0" fill="hold" nodeType="withEffect">
                                  <p:stCondLst>
                                    <p:cond delay="0"/>
                                  </p:stCondLst>
                                  <p:childTnLst>
                                    <p:set>
                                      <p:cBhvr>
                                        <p:cTn id="147" dur="1" fill="hold">
                                          <p:stCondLst>
                                            <p:cond delay="0"/>
                                          </p:stCondLst>
                                        </p:cTn>
                                        <p:tgtEl>
                                          <p:spTgt spid="36"/>
                                        </p:tgtEl>
                                        <p:attrNameLst>
                                          <p:attrName>style.visibility</p:attrName>
                                        </p:attrNameLst>
                                      </p:cBhvr>
                                      <p:to>
                                        <p:strVal val="visible"/>
                                      </p:to>
                                    </p:set>
                                    <p:animEffect transition="in" filter="fade">
                                      <p:cBhvr>
                                        <p:cTn id="148" dur="300" fill="hold"/>
                                        <p:tgtEl>
                                          <p:spTgt spid="36"/>
                                        </p:tgtEl>
                                      </p:cBhvr>
                                    </p:animEffect>
                                  </p:childTnLst>
                                </p:cTn>
                              </p:par>
                              <p:par>
                                <p:cTn id="149" presetID="10" presetClass="entr" presetSubtype="0" fill="hold" nodeType="withEffect">
                                  <p:stCondLst>
                                    <p:cond delay="0"/>
                                  </p:stCondLst>
                                  <p:childTnLst>
                                    <p:set>
                                      <p:cBhvr>
                                        <p:cTn id="150" dur="1" fill="hold">
                                          <p:stCondLst>
                                            <p:cond delay="0"/>
                                          </p:stCondLst>
                                        </p:cTn>
                                        <p:tgtEl>
                                          <p:spTgt spid="37"/>
                                        </p:tgtEl>
                                        <p:attrNameLst>
                                          <p:attrName>style.visibility</p:attrName>
                                        </p:attrNameLst>
                                      </p:cBhvr>
                                      <p:to>
                                        <p:strVal val="visible"/>
                                      </p:to>
                                    </p:set>
                                    <p:animEffect transition="in" filter="fade">
                                      <p:cBhvr>
                                        <p:cTn id="151" dur="300" fill="hold"/>
                                        <p:tgtEl>
                                          <p:spTgt spid="37"/>
                                        </p:tgtEl>
                                      </p:cBhvr>
                                    </p:animEffect>
                                  </p:childTnLst>
                                </p:cTn>
                              </p:par>
                              <p:par>
                                <p:cTn id="152" presetID="10" presetClass="entr" presetSubtype="0" fill="hold" nodeType="withEffect">
                                  <p:stCondLst>
                                    <p:cond delay="0"/>
                                  </p:stCondLst>
                                  <p:childTnLst>
                                    <p:set>
                                      <p:cBhvr>
                                        <p:cTn id="153" dur="1" fill="hold">
                                          <p:stCondLst>
                                            <p:cond delay="0"/>
                                          </p:stCondLst>
                                        </p:cTn>
                                        <p:tgtEl>
                                          <p:spTgt spid="38"/>
                                        </p:tgtEl>
                                        <p:attrNameLst>
                                          <p:attrName>style.visibility</p:attrName>
                                        </p:attrNameLst>
                                      </p:cBhvr>
                                      <p:to>
                                        <p:strVal val="visible"/>
                                      </p:to>
                                    </p:set>
                                    <p:animEffect transition="in" filter="fade">
                                      <p:cBhvr>
                                        <p:cTn id="154" dur="300" fill="hold"/>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area-header">
            <a:extLst xmlns:a="http://schemas.openxmlformats.org/drawingml/2006/main">
              <a:ext uri="{FF2B5EF4-FFF2-40B4-BE49-F238E27FC236}">
                <a16:creationId xmlns:a16="http://schemas.microsoft.com/office/drawing/2014/main" id="{2D95ABF5-7685-4241-B7C0-70450D63A209}"/>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C89EF33A-3F3B-48DE-B833-457C630F0358}"/>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3" name="!!area-beat">
            <a:extLst xmlns:a="http://schemas.openxmlformats.org/drawingml/2006/main">
              <a:ext uri="{FF2B5EF4-FFF2-40B4-BE49-F238E27FC236}">
                <a16:creationId xmlns:a16="http://schemas.microsoft.com/office/drawing/2014/main" id="{E78575FE-17D9-4A53-ABBE-D27321780C77}"/>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screenshot-AGENTS.md">
            <a:extLst xmlns:a="http://schemas.openxmlformats.org/drawingml/2006/main">
              <a:ext uri="{FF2B5EF4-FFF2-40B4-BE49-F238E27FC236}">
                <a16:creationId xmlns:a16="http://schemas.microsoft.com/office/drawing/2014/main" id="{4363D43F-6F7C-475D-853E-11B3510ADC34}"/>
              </a:ext>
            </a:extLst>
          </p:cNvPr>
          <p:cNvSpPr>
            <a:spLocks xmlns:a="http://schemas.openxmlformats.org/drawingml/2006/main"/>
          </p:cNvSpPr>
          <p:nvPr/>
        </p:nvSpPr>
        <p:spPr>
          <a:xfrm xmlns:a="http://schemas.openxmlformats.org/drawingml/2006/main">
            <a:off x="609600" y="19812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5" name="10-text-1">
            <a:extLst xmlns:a="http://schemas.openxmlformats.org/drawingml/2006/main">
              <a:ext uri="{FF2B5EF4-FFF2-40B4-BE49-F238E27FC236}">
                <a16:creationId xmlns:a16="http://schemas.microsoft.com/office/drawing/2014/main" id="{AB025C61-F7BA-402F-BA63-6A2EF61EE31D}"/>
              </a:ext>
            </a:extLst>
          </p:cNvPr>
          <p:cNvSpPr>
            <a:spLocks xmlns:a="http://schemas.openxmlformats.org/drawingml/2006/main"/>
          </p:cNvSpPr>
          <p:nvPr/>
        </p:nvSpPr>
        <p:spPr>
          <a:xfrm xmlns:a="http://schemas.openxmlformats.org/drawingml/2006/main">
            <a:off x="812800" y="26797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 name="10-text-2">
            <a:extLst xmlns:a="http://schemas.openxmlformats.org/drawingml/2006/main">
              <a:ext uri="{FF2B5EF4-FFF2-40B4-BE49-F238E27FC236}">
                <a16:creationId xmlns:a16="http://schemas.microsoft.com/office/drawing/2014/main" id="{E0821171-045D-4F79-9DA3-0A333856FF8A}"/>
              </a:ext>
            </a:extLst>
          </p:cNvPr>
          <p:cNvSpPr>
            <a:spLocks xmlns:a="http://schemas.openxmlformats.org/drawingml/2006/main"/>
          </p:cNvSpPr>
          <p:nvPr/>
        </p:nvSpPr>
        <p:spPr>
          <a:xfrm xmlns:a="http://schemas.openxmlformats.org/drawingml/2006/main">
            <a:off x="812800" y="32004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7" name="!!screenshot-Codex CLI">
            <a:extLst xmlns:a="http://schemas.openxmlformats.org/drawingml/2006/main">
              <a:ext uri="{FF2B5EF4-FFF2-40B4-BE49-F238E27FC236}">
                <a16:creationId xmlns:a16="http://schemas.microsoft.com/office/drawing/2014/main" id="{32201AA4-C19E-4090-8BBB-A49714AD0D28}"/>
              </a:ext>
            </a:extLst>
          </p:cNvPr>
          <p:cNvSpPr>
            <a:spLocks xmlns:a="http://schemas.openxmlformats.org/drawingml/2006/main"/>
          </p:cNvSpPr>
          <p:nvPr/>
        </p:nvSpPr>
        <p:spPr>
          <a:xfrm xmlns:a="http://schemas.openxmlformats.org/drawingml/2006/main">
            <a:off x="6248400" y="19812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8" name="10-text-3">
            <a:extLst xmlns:a="http://schemas.openxmlformats.org/drawingml/2006/main">
              <a:ext uri="{FF2B5EF4-FFF2-40B4-BE49-F238E27FC236}">
                <a16:creationId xmlns:a16="http://schemas.microsoft.com/office/drawing/2014/main" id="{4C685AF5-44E8-44AB-BA91-F2DCC7A684D5}"/>
              </a:ext>
            </a:extLst>
          </p:cNvPr>
          <p:cNvSpPr>
            <a:spLocks xmlns:a="http://schemas.openxmlformats.org/drawingml/2006/main"/>
          </p:cNvSpPr>
          <p:nvPr/>
        </p:nvSpPr>
        <p:spPr>
          <a:xfrm xmlns:a="http://schemas.openxmlformats.org/drawingml/2006/main">
            <a:off x="6451600" y="26797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9" name="10-text-4">
            <a:extLst xmlns:a="http://schemas.openxmlformats.org/drawingml/2006/main">
              <a:ext uri="{FF2B5EF4-FFF2-40B4-BE49-F238E27FC236}">
                <a16:creationId xmlns:a16="http://schemas.microsoft.com/office/drawing/2014/main" id="{45B098E5-0111-4AC4-B541-353910E6970B}"/>
              </a:ext>
            </a:extLst>
          </p:cNvPr>
          <p:cNvSpPr>
            <a:spLocks xmlns:a="http://schemas.openxmlformats.org/drawingml/2006/main"/>
          </p:cNvSpPr>
          <p:nvPr/>
        </p:nvSpPr>
        <p:spPr>
          <a:xfrm xmlns:a="http://schemas.openxmlformats.org/drawingml/2006/main">
            <a:off x="6451600" y="32004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0" name="10-text-5">
            <a:extLst xmlns:a="http://schemas.openxmlformats.org/drawingml/2006/main">
              <a:ext uri="{FF2B5EF4-FFF2-40B4-BE49-F238E27FC236}">
                <a16:creationId xmlns:a16="http://schemas.microsoft.com/office/drawing/2014/main" id="{25C62ADB-50C2-4E97-91F8-3A3D2E1F2A97}"/>
              </a:ext>
            </a:extLst>
          </p:cNvPr>
          <p:cNvSpPr>
            <a:spLocks xmlns:a="http://schemas.openxmlformats.org/drawingml/2006/main"/>
          </p:cNvSpPr>
          <p:nvPr/>
        </p:nvSpPr>
        <p:spPr>
          <a:xfrm xmlns:a="http://schemas.openxmlformats.org/drawingml/2006/main">
            <a:off x="609600" y="54864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FFFCF5"/>
                </a:solidFill>
                <a:latin typeface="Consolas"/>
                <a:ea typeface="Consolas"/>
                <a:cs typeface="Consolas"/>
              </a:rPr>
              <a:t>AGENTS.md</a:t>
            </a:r>
          </a:p>
        </p:txBody>
      </p:sp>
      <p:sp>
        <p:nvSpPr>
          <p:cNvPr id="11" name="10-text-6">
            <a:extLst xmlns:a="http://schemas.openxmlformats.org/drawingml/2006/main">
              <a:ext uri="{FF2B5EF4-FFF2-40B4-BE49-F238E27FC236}">
                <a16:creationId xmlns:a16="http://schemas.microsoft.com/office/drawing/2014/main" id="{3D86EF70-D3AA-4C82-B23A-1B00FA5D6A67}"/>
              </a:ext>
            </a:extLst>
          </p:cNvPr>
          <p:cNvSpPr>
            <a:spLocks xmlns:a="http://schemas.openxmlformats.org/drawingml/2006/main"/>
          </p:cNvSpPr>
          <p:nvPr/>
        </p:nvSpPr>
        <p:spPr>
          <a:xfrm xmlns:a="http://schemas.openxmlformats.org/drawingml/2006/main">
            <a:off x="6248400" y="54864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FFFCF5"/>
                </a:solidFill>
                <a:latin typeface="Consolas"/>
                <a:ea typeface="Consolas"/>
                <a:cs typeface="Consolas"/>
              </a:rPr>
              <a:t>/compact</a:t>
            </a:r>
          </a:p>
        </p:txBody>
      </p:sp>
    </p:spTree>
    <p:extLst>
      <p:ext uri="{BB962C8B-B14F-4D97-AF65-F5344CB8AC3E}">
        <p14:creationId xmlns:p14="http://schemas.microsoft.com/office/powerpoint/2010/main" val="1547952708"/>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 name="!!area-name">
            <a:extLst xmlns:a="http://schemas.openxmlformats.org/drawingml/2006/main">
              <a:ext uri="{FF2B5EF4-FFF2-40B4-BE49-F238E27FC236}">
                <a16:creationId xmlns:a16="http://schemas.microsoft.com/office/drawing/2014/main" id="{59498CFB-55DF-4786-AC07-21BA38844F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9" name="mini-map"/>
          <p:cNvPicPr>
            <a:picLocks xmlns:a="http://schemas.openxmlformats.org/drawingml/2006/main" noChangeAspect="1"/>
          </p:cNvPicPr>
          <p:nvPr/>
        </p:nvPicPr>
        <p:blipFill>
          <a:blip xmlns:r="http://schemas.openxmlformats.org/officeDocument/2006/relationships" xmlns:a="http://schemas.openxmlformats.org/drawingml/2006/main" r:embed="R19873101b80840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creenshot-AGENTS.md">
            <a:extLst xmlns:a="http://schemas.openxmlformats.org/drawingml/2006/main">
              <a:ext uri="{FF2B5EF4-FFF2-40B4-BE49-F238E27FC236}">
                <a16:creationId xmlns:a16="http://schemas.microsoft.com/office/drawing/2014/main" id="{BC97BC90-0987-4B7A-94E1-6DB2FCF417DA}"/>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4" name="10b-text-1">
            <a:extLst xmlns:a="http://schemas.openxmlformats.org/drawingml/2006/main">
              <a:ext uri="{FF2B5EF4-FFF2-40B4-BE49-F238E27FC236}">
                <a16:creationId xmlns:a16="http://schemas.microsoft.com/office/drawing/2014/main" id="{B4C268E0-6374-4B0D-8990-3A293138A6F0}"/>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5" name="10b-text-2">
            <a:extLst xmlns:a="http://schemas.openxmlformats.org/drawingml/2006/main">
              <a:ext uri="{FF2B5EF4-FFF2-40B4-BE49-F238E27FC236}">
                <a16:creationId xmlns:a16="http://schemas.microsoft.com/office/drawing/2014/main" id="{7BE55667-2281-4F6B-89B7-0E014FCDC135}"/>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6" name="!!screenshot-Codex CLI">
            <a:extLst xmlns:a="http://schemas.openxmlformats.org/drawingml/2006/main">
              <a:ext uri="{FF2B5EF4-FFF2-40B4-BE49-F238E27FC236}">
                <a16:creationId xmlns:a16="http://schemas.microsoft.com/office/drawing/2014/main" id="{4EF952AF-1721-43A7-B7D7-1BEE4BFBCCA0}"/>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7" name="10b-text-3">
            <a:extLst xmlns:a="http://schemas.openxmlformats.org/drawingml/2006/main">
              <a:ext uri="{FF2B5EF4-FFF2-40B4-BE49-F238E27FC236}">
                <a16:creationId xmlns:a16="http://schemas.microsoft.com/office/drawing/2014/main" id="{812F4BB0-14ED-4CEC-939C-7E889B85F6BA}"/>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 name="10b-text-4">
            <a:extLst xmlns:a="http://schemas.openxmlformats.org/drawingml/2006/main">
              <a:ext uri="{FF2B5EF4-FFF2-40B4-BE49-F238E27FC236}">
                <a16:creationId xmlns:a16="http://schemas.microsoft.com/office/drawing/2014/main" id="{707907B8-2986-401F-8B30-BA7CA52D3726}"/>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9" name="10b-text-5">
            <a:extLst xmlns:a="http://schemas.openxmlformats.org/drawingml/2006/main">
              <a:ext uri="{FF2B5EF4-FFF2-40B4-BE49-F238E27FC236}">
                <a16:creationId xmlns:a16="http://schemas.microsoft.com/office/drawing/2014/main" id="{4C9417C1-CF70-4C68-AA8B-76D3E8C5E751}"/>
              </a:ext>
            </a:extLst>
          </p:cNvPr>
          <p:cNvSpPr>
            <a:spLocks xmlns:a="http://schemas.openxmlformats.org/drawingml/2006/main"/>
          </p:cNvSpPr>
          <p:nvPr/>
        </p:nvSpPr>
        <p:spPr>
          <a:xfrm xmlns:a="http://schemas.openxmlformats.org/drawingml/2006/main">
            <a:off x="609600" y="2082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0" name="10b-text-6">
            <a:extLst xmlns:a="http://schemas.openxmlformats.org/drawingml/2006/main">
              <a:ext uri="{FF2B5EF4-FFF2-40B4-BE49-F238E27FC236}">
                <a16:creationId xmlns:a16="http://schemas.microsoft.com/office/drawing/2014/main" id="{C317889D-2DBF-4D96-A6ED-D10706275465}"/>
              </a:ext>
            </a:extLst>
          </p:cNvPr>
          <p:cNvSpPr>
            <a:spLocks xmlns:a="http://schemas.openxmlformats.org/drawingml/2006/main"/>
          </p:cNvSpPr>
          <p:nvPr/>
        </p:nvSpPr>
        <p:spPr>
          <a:xfrm xmlns:a="http://schemas.openxmlformats.org/drawingml/2006/main">
            <a:off x="609600" y="2565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1" name="10b-text-7">
            <a:extLst xmlns:a="http://schemas.openxmlformats.org/drawingml/2006/main">
              <a:ext uri="{FF2B5EF4-FFF2-40B4-BE49-F238E27FC236}">
                <a16:creationId xmlns:a16="http://schemas.microsoft.com/office/drawing/2014/main" id="{D9CD66E6-50A2-4A74-8810-C00C77AE7931}"/>
              </a:ext>
            </a:extLst>
          </p:cNvPr>
          <p:cNvSpPr>
            <a:spLocks xmlns:a="http://schemas.openxmlformats.org/drawingml/2006/main"/>
          </p:cNvSpPr>
          <p:nvPr/>
        </p:nvSpPr>
        <p:spPr>
          <a:xfrm xmlns:a="http://schemas.openxmlformats.org/drawingml/2006/main">
            <a:off x="609600" y="3352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2" name="10b-text-8">
            <a:extLst xmlns:a="http://schemas.openxmlformats.org/drawingml/2006/main">
              <a:ext uri="{FF2B5EF4-FFF2-40B4-BE49-F238E27FC236}">
                <a16:creationId xmlns:a16="http://schemas.microsoft.com/office/drawing/2014/main" id="{413B2BC1-0CAD-4ECF-B52C-82C0E6CF51AA}"/>
              </a:ext>
            </a:extLst>
          </p:cNvPr>
          <p:cNvSpPr>
            <a:spLocks xmlns:a="http://schemas.openxmlformats.org/drawingml/2006/main"/>
          </p:cNvSpPr>
          <p:nvPr/>
        </p:nvSpPr>
        <p:spPr>
          <a:xfrm xmlns:a="http://schemas.openxmlformats.org/drawingml/2006/main">
            <a:off x="609600" y="2209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3" name="10b-text-9">
            <a:extLst xmlns:a="http://schemas.openxmlformats.org/drawingml/2006/main">
              <a:ext uri="{FF2B5EF4-FFF2-40B4-BE49-F238E27FC236}">
                <a16:creationId xmlns:a16="http://schemas.microsoft.com/office/drawing/2014/main" id="{A3D22DEE-3A05-4E4D-BBD3-6B6521206DAF}"/>
              </a:ext>
            </a:extLst>
          </p:cNvPr>
          <p:cNvSpPr>
            <a:spLocks xmlns:a="http://schemas.openxmlformats.org/drawingml/2006/main"/>
          </p:cNvSpPr>
          <p:nvPr/>
        </p:nvSpPr>
        <p:spPr>
          <a:xfrm xmlns:a="http://schemas.openxmlformats.org/drawingml/2006/main">
            <a:off x="609600" y="2743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4" name="10b-text-10">
            <a:extLst xmlns:a="http://schemas.openxmlformats.org/drawingml/2006/main">
              <a:ext uri="{FF2B5EF4-FFF2-40B4-BE49-F238E27FC236}">
                <a16:creationId xmlns:a16="http://schemas.microsoft.com/office/drawing/2014/main" id="{E7683E28-F179-47A2-A61C-B68E0565FD57}"/>
              </a:ext>
            </a:extLst>
          </p:cNvPr>
          <p:cNvSpPr>
            <a:spLocks xmlns:a="http://schemas.openxmlformats.org/drawingml/2006/main"/>
          </p:cNvSpPr>
          <p:nvPr/>
        </p:nvSpPr>
        <p:spPr>
          <a:xfrm xmlns:a="http://schemas.openxmlformats.org/drawingml/2006/main">
            <a:off x="609600" y="32766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5" name="10b-text-11">
            <a:extLst xmlns:a="http://schemas.openxmlformats.org/drawingml/2006/main">
              <a:ext uri="{FF2B5EF4-FFF2-40B4-BE49-F238E27FC236}">
                <a16:creationId xmlns:a16="http://schemas.microsoft.com/office/drawing/2014/main" id="{45A4ED82-92E6-48BA-8FE0-4EA3363869C1}"/>
              </a:ext>
            </a:extLst>
          </p:cNvPr>
          <p:cNvSpPr>
            <a:spLocks xmlns:a="http://schemas.openxmlformats.org/drawingml/2006/main"/>
          </p:cNvSpPr>
          <p:nvPr/>
        </p:nvSpPr>
        <p:spPr>
          <a:xfrm xmlns:a="http://schemas.openxmlformats.org/drawingml/2006/main">
            <a:off x="609600" y="4216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6" name="10b-text-12">
            <a:extLst xmlns:a="http://schemas.openxmlformats.org/drawingml/2006/main">
              <a:ext uri="{FF2B5EF4-FFF2-40B4-BE49-F238E27FC236}">
                <a16:creationId xmlns:a16="http://schemas.microsoft.com/office/drawing/2014/main" id="{BF23F962-8934-4558-9AB4-2DBB8DF9882B}"/>
              </a:ext>
            </a:extLst>
          </p:cNvPr>
          <p:cNvSpPr>
            <a:spLocks xmlns:a="http://schemas.openxmlformats.org/drawingml/2006/main"/>
          </p:cNvSpPr>
          <p:nvPr/>
        </p:nvSpPr>
        <p:spPr>
          <a:xfrm xmlns:a="http://schemas.openxmlformats.org/drawingml/2006/main">
            <a:off x="609600" y="4953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useful stable prefixes. Measure cache savings.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 for correctness and authorization.</a:t>
            </a:r>
          </a:p>
        </p:txBody>
      </p:sp>
      <p:sp>
        <p:nvSpPr>
          <p:cNvPr id="17" name="10b-text-13">
            <a:extLst xmlns:a="http://schemas.openxmlformats.org/drawingml/2006/main">
              <a:ext uri="{FF2B5EF4-FFF2-40B4-BE49-F238E27FC236}">
                <a16:creationId xmlns:a16="http://schemas.microsoft.com/office/drawing/2014/main" id="{81701AE8-9146-43CF-AD59-0E4FB8DDE87A}"/>
              </a:ext>
            </a:extLst>
          </p:cNvPr>
          <p:cNvSpPr>
            <a:spLocks xmlns:a="http://schemas.openxmlformats.org/drawingml/2006/main"/>
          </p:cNvSpPr>
          <p:nvPr/>
        </p:nvSpPr>
        <p:spPr>
          <a:xfrm xmlns:a="http://schemas.openxmlformats.org/drawingml/2006/main">
            <a:off x="609600" y="57404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Tree>
    <p:extLst>
      <p:ext uri="{BB962C8B-B14F-4D97-AF65-F5344CB8AC3E}">
        <p14:creationId xmlns:p14="http://schemas.microsoft.com/office/powerpoint/2010/main" val="177162484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 name="!!area-name">
            <a:extLst xmlns:a="http://schemas.openxmlformats.org/drawingml/2006/main">
              <a:ext uri="{FF2B5EF4-FFF2-40B4-BE49-F238E27FC236}">
                <a16:creationId xmlns:a16="http://schemas.microsoft.com/office/drawing/2014/main" id="{33CC01A5-933E-4C60-B141-9AA4F084601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34" name="mini-map"/>
          <p:cNvPicPr>
            <a:picLocks xmlns:a="http://schemas.openxmlformats.org/drawingml/2006/main" noChangeAspect="1"/>
          </p:cNvPicPr>
          <p:nvPr/>
        </p:nvPicPr>
        <p:blipFill>
          <a:blip xmlns:r="http://schemas.openxmlformats.org/officeDocument/2006/relationships" xmlns:a="http://schemas.openxmlformats.org/drawingml/2006/main" r:embed="R26a1c69beac743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D522FB10-6F29-4860-809C-9B631D63A99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4" name="11-shape-1">
            <a:extLst xmlns:a="http://schemas.openxmlformats.org/drawingml/2006/main">
              <a:ext uri="{FF2B5EF4-FFF2-40B4-BE49-F238E27FC236}">
                <a16:creationId xmlns:a16="http://schemas.microsoft.com/office/drawing/2014/main" id="{67325A7E-B68E-4FC5-9603-E8E2203D680E}"/>
              </a:ext>
            </a:extLst>
          </p:cNvPr>
          <p:cNvSpPr>
            <a:spLocks xmlns:a="http://schemas.openxmlformats.org/drawingml/2006/main"/>
          </p:cNvSpPr>
          <p:nvPr/>
        </p:nvSpPr>
        <p:spPr>
          <a:xfrm xmlns:a="http://schemas.openxmlformats.org/drawingml/2006/main">
            <a:off x="609600" y="2057400"/>
            <a:ext cx="10972800" cy="1498600"/>
          </a:xfrm>
          <a:prstGeom xmlns:a="http://schemas.openxmlformats.org/drawingml/2006/main" prst="roundRect">
            <a:avLst>
              <a:gd name="adj" fmla="val 5085"/>
            </a:avLst>
          </a:prstGeom>
          <a:noFill xmlns:a="http://schemas.openxmlformats.org/drawingml/2006/main"/>
          <a:ln xmlns:a="http://schemas.openxmlformats.org/drawingml/2006/main" w="25400">
            <a:solidFill>
              <a:srgbClr val="F948BE"/>
            </a:solidFill>
          </a:ln>
        </p:spPr>
      </p:sp>
      <p:sp>
        <p:nvSpPr>
          <p:cNvPr id="5" name="11-shape-2">
            <a:extLst xmlns:a="http://schemas.openxmlformats.org/drawingml/2006/main">
              <a:ext uri="{FF2B5EF4-FFF2-40B4-BE49-F238E27FC236}">
                <a16:creationId xmlns:a16="http://schemas.microsoft.com/office/drawing/2014/main" id="{4B34A8D5-689D-4EC0-A762-A9C2CF909BDF}"/>
              </a:ext>
            </a:extLst>
          </p:cNvPr>
          <p:cNvSpPr>
            <a:spLocks xmlns:a="http://schemas.openxmlformats.org/drawingml/2006/main"/>
          </p:cNvSpPr>
          <p:nvPr/>
        </p:nvSpPr>
        <p:spPr>
          <a:xfrm xmlns:a="http://schemas.openxmlformats.org/drawingml/2006/main">
            <a:off x="812800" y="1905000"/>
            <a:ext cx="1397000" cy="279400"/>
          </a:xfrm>
          <a:prstGeom xmlns:a="http://schemas.openxmlformats.org/drawingml/2006/main" prst="rect">
            <a:avLst/>
          </a:prstGeom>
          <a:solidFill xmlns:a="http://schemas.openxmlformats.org/drawingml/2006/main">
            <a:srgbClr val="14161C"/>
          </a:solidFill>
          <a:ln xmlns:a="http://schemas.openxmlformats.org/drawingml/2006/main" w="0">
            <a:noFill/>
          </a:ln>
        </p:spPr>
      </p:sp>
      <p:sp>
        <p:nvSpPr>
          <p:cNvPr id="6" name="11-text-3">
            <a:extLst xmlns:a="http://schemas.openxmlformats.org/drawingml/2006/main">
              <a:ext uri="{FF2B5EF4-FFF2-40B4-BE49-F238E27FC236}">
                <a16:creationId xmlns:a16="http://schemas.microsoft.com/office/drawing/2014/main" id="{383E9599-3531-449A-B686-34DC78F34CC7}"/>
              </a:ext>
            </a:extLst>
          </p:cNvPr>
          <p:cNvSpPr>
            <a:spLocks xmlns:a="http://schemas.openxmlformats.org/drawingml/2006/main"/>
          </p:cNvSpPr>
          <p:nvPr/>
        </p:nvSpPr>
        <p:spPr>
          <a:xfrm xmlns:a="http://schemas.openxmlformats.org/drawingml/2006/main">
            <a:off x="914400" y="19050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window</a:t>
            </a:r>
          </a:p>
        </p:txBody>
      </p:sp>
      <p:sp>
        <p:nvSpPr>
          <p:cNvPr id="7" name="11-shape-4">
            <a:extLst xmlns:a="http://schemas.openxmlformats.org/drawingml/2006/main">
              <a:ext uri="{FF2B5EF4-FFF2-40B4-BE49-F238E27FC236}">
                <a16:creationId xmlns:a16="http://schemas.microsoft.com/office/drawing/2014/main" id="{47CF0E76-236F-48DA-B891-4BAFC70550DA}"/>
              </a:ext>
            </a:extLst>
          </p:cNvPr>
          <p:cNvSpPr>
            <a:spLocks xmlns:a="http://schemas.openxmlformats.org/drawingml/2006/main"/>
          </p:cNvSpPr>
          <p:nvPr/>
        </p:nvSpPr>
        <p:spPr>
          <a:xfrm xmlns:a="http://schemas.openxmlformats.org/drawingml/2006/main">
            <a:off x="7620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8" name="11-text-5">
            <a:extLst xmlns:a="http://schemas.openxmlformats.org/drawingml/2006/main">
              <a:ext uri="{FF2B5EF4-FFF2-40B4-BE49-F238E27FC236}">
                <a16:creationId xmlns:a16="http://schemas.microsoft.com/office/drawing/2014/main" id="{F04FD76F-738A-4DC1-AAC9-6E01E29E00AB}"/>
              </a:ext>
            </a:extLst>
          </p:cNvPr>
          <p:cNvSpPr>
            <a:spLocks xmlns:a="http://schemas.openxmlformats.org/drawingml/2006/main"/>
          </p:cNvSpPr>
          <p:nvPr/>
        </p:nvSpPr>
        <p:spPr>
          <a:xfrm xmlns:a="http://schemas.openxmlformats.org/drawingml/2006/main">
            <a:off x="9652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a:t>
            </a:r>
          </a:p>
        </p:txBody>
      </p:sp>
      <p:sp>
        <p:nvSpPr>
          <p:cNvPr id="9" name="11-shape-6">
            <a:extLst xmlns:a="http://schemas.openxmlformats.org/drawingml/2006/main">
              <a:ext uri="{FF2B5EF4-FFF2-40B4-BE49-F238E27FC236}">
                <a16:creationId xmlns:a16="http://schemas.microsoft.com/office/drawing/2014/main" id="{39D57E06-D8FC-4E50-BD64-ACEBABD4AC76}"/>
              </a:ext>
            </a:extLst>
          </p:cNvPr>
          <p:cNvSpPr>
            <a:spLocks xmlns:a="http://schemas.openxmlformats.org/drawingml/2006/main"/>
          </p:cNvSpPr>
          <p:nvPr/>
        </p:nvSpPr>
        <p:spPr>
          <a:xfrm xmlns:a="http://schemas.openxmlformats.org/drawingml/2006/main">
            <a:off x="25654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0" name="11-text-7">
            <a:extLst xmlns:a="http://schemas.openxmlformats.org/drawingml/2006/main">
              <a:ext uri="{FF2B5EF4-FFF2-40B4-BE49-F238E27FC236}">
                <a16:creationId xmlns:a16="http://schemas.microsoft.com/office/drawing/2014/main" id="{D13C730D-DD51-4BB6-9DBE-0510CFE2624D}"/>
              </a:ext>
            </a:extLst>
          </p:cNvPr>
          <p:cNvSpPr>
            <a:spLocks xmlns:a="http://schemas.openxmlformats.org/drawingml/2006/main"/>
          </p:cNvSpPr>
          <p:nvPr/>
        </p:nvSpPr>
        <p:spPr>
          <a:xfrm xmlns:a="http://schemas.openxmlformats.org/drawingml/2006/main">
            <a:off x="27686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Examples</a:t>
            </a:r>
          </a:p>
        </p:txBody>
      </p:sp>
      <p:sp>
        <p:nvSpPr>
          <p:cNvPr id="11" name="11-shape-8">
            <a:extLst xmlns:a="http://schemas.openxmlformats.org/drawingml/2006/main">
              <a:ext uri="{FF2B5EF4-FFF2-40B4-BE49-F238E27FC236}">
                <a16:creationId xmlns:a16="http://schemas.microsoft.com/office/drawing/2014/main" id="{8E91E60B-F7BA-40E7-88C5-6DF1CABF67EC}"/>
              </a:ext>
            </a:extLst>
          </p:cNvPr>
          <p:cNvSpPr>
            <a:spLocks xmlns:a="http://schemas.openxmlformats.org/drawingml/2006/main"/>
          </p:cNvSpPr>
          <p:nvPr/>
        </p:nvSpPr>
        <p:spPr>
          <a:xfrm xmlns:a="http://schemas.openxmlformats.org/drawingml/2006/main">
            <a:off x="43688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2" name="11-text-9">
            <a:extLst xmlns:a="http://schemas.openxmlformats.org/drawingml/2006/main">
              <a:ext uri="{FF2B5EF4-FFF2-40B4-BE49-F238E27FC236}">
                <a16:creationId xmlns:a16="http://schemas.microsoft.com/office/drawing/2014/main" id="{884B3BC7-8517-4D60-B7AE-24357479F009}"/>
              </a:ext>
            </a:extLst>
          </p:cNvPr>
          <p:cNvSpPr>
            <a:spLocks xmlns:a="http://schemas.openxmlformats.org/drawingml/2006/main"/>
          </p:cNvSpPr>
          <p:nvPr/>
        </p:nvSpPr>
        <p:spPr>
          <a:xfrm xmlns:a="http://schemas.openxmlformats.org/drawingml/2006/main">
            <a:off x="45720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knowledge</a:t>
            </a:r>
          </a:p>
        </p:txBody>
      </p:sp>
      <p:sp>
        <p:nvSpPr>
          <p:cNvPr id="13" name="11-shape-10">
            <a:extLst xmlns:a="http://schemas.openxmlformats.org/drawingml/2006/main">
              <a:ext uri="{FF2B5EF4-FFF2-40B4-BE49-F238E27FC236}">
                <a16:creationId xmlns:a16="http://schemas.microsoft.com/office/drawing/2014/main" id="{1D47B244-5A6F-4F4A-A5F1-2A895B3DCDF4}"/>
              </a:ext>
            </a:extLst>
          </p:cNvPr>
          <p:cNvSpPr>
            <a:spLocks xmlns:a="http://schemas.openxmlformats.org/drawingml/2006/main"/>
          </p:cNvSpPr>
          <p:nvPr/>
        </p:nvSpPr>
        <p:spPr>
          <a:xfrm xmlns:a="http://schemas.openxmlformats.org/drawingml/2006/main">
            <a:off x="61722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4" name="11-text-11">
            <a:extLst xmlns:a="http://schemas.openxmlformats.org/drawingml/2006/main">
              <a:ext uri="{FF2B5EF4-FFF2-40B4-BE49-F238E27FC236}">
                <a16:creationId xmlns:a16="http://schemas.microsoft.com/office/drawing/2014/main" id="{7D262104-EF6F-47D7-96F5-77E8775DADC7}"/>
              </a:ext>
            </a:extLst>
          </p:cNvPr>
          <p:cNvSpPr>
            <a:spLocks xmlns:a="http://schemas.openxmlformats.org/drawingml/2006/main"/>
          </p:cNvSpPr>
          <p:nvPr/>
        </p:nvSpPr>
        <p:spPr>
          <a:xfrm xmlns:a="http://schemas.openxmlformats.org/drawingml/2006/main">
            <a:off x="63754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15" name="11-shape-12">
            <a:extLst xmlns:a="http://schemas.openxmlformats.org/drawingml/2006/main">
              <a:ext uri="{FF2B5EF4-FFF2-40B4-BE49-F238E27FC236}">
                <a16:creationId xmlns:a16="http://schemas.microsoft.com/office/drawing/2014/main" id="{20763D68-32F8-4161-8876-B176ED79EC2D}"/>
              </a:ext>
            </a:extLst>
          </p:cNvPr>
          <p:cNvSpPr>
            <a:spLocks xmlns:a="http://schemas.openxmlformats.org/drawingml/2006/main"/>
          </p:cNvSpPr>
          <p:nvPr/>
        </p:nvSpPr>
        <p:spPr>
          <a:xfrm xmlns:a="http://schemas.openxmlformats.org/drawingml/2006/main">
            <a:off x="79756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6" name="11-text-13">
            <a:extLst xmlns:a="http://schemas.openxmlformats.org/drawingml/2006/main">
              <a:ext uri="{FF2B5EF4-FFF2-40B4-BE49-F238E27FC236}">
                <a16:creationId xmlns:a16="http://schemas.microsoft.com/office/drawing/2014/main" id="{E1C29121-6549-4C09-A3E7-C47492EADE62}"/>
              </a:ext>
            </a:extLst>
          </p:cNvPr>
          <p:cNvSpPr>
            <a:spLocks xmlns:a="http://schemas.openxmlformats.org/drawingml/2006/main"/>
          </p:cNvSpPr>
          <p:nvPr/>
        </p:nvSpPr>
        <p:spPr>
          <a:xfrm xmlns:a="http://schemas.openxmlformats.org/drawingml/2006/main">
            <a:off x="81788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a:t>
            </a:r>
          </a:p>
        </p:txBody>
      </p:sp>
      <p:sp>
        <p:nvSpPr>
          <p:cNvPr id="17" name="11-shape-14">
            <a:extLst xmlns:a="http://schemas.openxmlformats.org/drawingml/2006/main">
              <a:ext uri="{FF2B5EF4-FFF2-40B4-BE49-F238E27FC236}">
                <a16:creationId xmlns:a16="http://schemas.microsoft.com/office/drawing/2014/main" id="{F307D734-E63D-47BE-BE95-84B24B638AAE}"/>
              </a:ext>
            </a:extLst>
          </p:cNvPr>
          <p:cNvSpPr>
            <a:spLocks xmlns:a="http://schemas.openxmlformats.org/drawingml/2006/main"/>
          </p:cNvSpPr>
          <p:nvPr/>
        </p:nvSpPr>
        <p:spPr>
          <a:xfrm xmlns:a="http://schemas.openxmlformats.org/drawingml/2006/main">
            <a:off x="97790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8" name="11-text-15">
            <a:extLst xmlns:a="http://schemas.openxmlformats.org/drawingml/2006/main">
              <a:ext uri="{FF2B5EF4-FFF2-40B4-BE49-F238E27FC236}">
                <a16:creationId xmlns:a16="http://schemas.microsoft.com/office/drawing/2014/main" id="{63133545-8F7B-47E9-BE05-6336AD6011B9}"/>
              </a:ext>
            </a:extLst>
          </p:cNvPr>
          <p:cNvSpPr>
            <a:spLocks xmlns:a="http://schemas.openxmlformats.org/drawingml/2006/main"/>
          </p:cNvSpPr>
          <p:nvPr/>
        </p:nvSpPr>
        <p:spPr>
          <a:xfrm xmlns:a="http://schemas.openxmlformats.org/drawingml/2006/main">
            <a:off x="99822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a:t>
            </a:r>
          </a:p>
        </p:txBody>
      </p:sp>
      <p:sp>
        <p:nvSpPr>
          <p:cNvPr id="19" name="11-text-16">
            <a:extLst xmlns:a="http://schemas.openxmlformats.org/drawingml/2006/main">
              <a:ext uri="{FF2B5EF4-FFF2-40B4-BE49-F238E27FC236}">
                <a16:creationId xmlns:a16="http://schemas.microsoft.com/office/drawing/2014/main" id="{D9D4F413-91F2-41C7-BD89-EA9F8F46BB89}"/>
              </a:ext>
            </a:extLst>
          </p:cNvPr>
          <p:cNvSpPr>
            <a:spLocks xmlns:a="http://schemas.openxmlformats.org/drawingml/2006/main"/>
          </p:cNvSpPr>
          <p:nvPr/>
        </p:nvSpPr>
        <p:spPr>
          <a:xfrm xmlns:a="http://schemas.openxmlformats.org/drawingml/2006/main">
            <a:off x="609600" y="3683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has a relevance, a freshness, a provenance, and a size.</a:t>
            </a:r>
          </a:p>
        </p:txBody>
      </p:sp>
      <p:sp>
        <p:nvSpPr>
          <p:cNvPr id="20" name="11-shape-17">
            <a:extLst xmlns:a="http://schemas.openxmlformats.org/drawingml/2006/main">
              <a:ext uri="{FF2B5EF4-FFF2-40B4-BE49-F238E27FC236}">
                <a16:creationId xmlns:a16="http://schemas.microsoft.com/office/drawing/2014/main" id="{6B0902EF-19EF-4C31-BD68-72F4EFE7C982}"/>
              </a:ext>
            </a:extLst>
          </p:cNvPr>
          <p:cNvSpPr>
            <a:spLocks xmlns:a="http://schemas.openxmlformats.org/drawingml/2006/main"/>
          </p:cNvSpPr>
          <p:nvPr/>
        </p:nvSpPr>
        <p:spPr>
          <a:xfrm xmlns:a="http://schemas.openxmlformats.org/drawingml/2006/main">
            <a:off x="609600" y="4191000"/>
            <a:ext cx="2032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1" name="11-text-18">
            <a:extLst xmlns:a="http://schemas.openxmlformats.org/drawingml/2006/main">
              <a:ext uri="{FF2B5EF4-FFF2-40B4-BE49-F238E27FC236}">
                <a16:creationId xmlns:a16="http://schemas.microsoft.com/office/drawing/2014/main" id="{EFEDBF10-9F08-4291-8E9C-8A0D747A0C64}"/>
              </a:ext>
            </a:extLst>
          </p:cNvPr>
          <p:cNvSpPr>
            <a:spLocks xmlns:a="http://schemas.openxmlformats.org/drawingml/2006/main"/>
          </p:cNvSpPr>
          <p:nvPr/>
        </p:nvSpPr>
        <p:spPr>
          <a:xfrm xmlns:a="http://schemas.openxmlformats.org/drawingml/2006/main">
            <a:off x="762000" y="4229100"/>
            <a:ext cx="172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budget</a:t>
            </a:r>
          </a:p>
        </p:txBody>
      </p:sp>
      <p:sp>
        <p:nvSpPr>
          <p:cNvPr id="22" name="11-shape-19">
            <a:extLst xmlns:a="http://schemas.openxmlformats.org/drawingml/2006/main">
              <a:ext uri="{FF2B5EF4-FFF2-40B4-BE49-F238E27FC236}">
                <a16:creationId xmlns:a16="http://schemas.microsoft.com/office/drawing/2014/main" id="{A1511082-3671-437D-B842-4F81DE5D7A60}"/>
              </a:ext>
            </a:extLst>
          </p:cNvPr>
          <p:cNvSpPr>
            <a:spLocks xmlns:a="http://schemas.openxmlformats.org/drawingml/2006/main"/>
          </p:cNvSpPr>
          <p:nvPr/>
        </p:nvSpPr>
        <p:spPr>
          <a:xfrm xmlns:a="http://schemas.openxmlformats.org/drawingml/2006/main">
            <a:off x="2743200" y="4191000"/>
            <a:ext cx="2387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3" name="11-text-20">
            <a:extLst xmlns:a="http://schemas.openxmlformats.org/drawingml/2006/main">
              <a:ext uri="{FF2B5EF4-FFF2-40B4-BE49-F238E27FC236}">
                <a16:creationId xmlns:a16="http://schemas.microsoft.com/office/drawing/2014/main" id="{A2077572-2D7A-445F-B52A-C681573D9822}"/>
              </a:ext>
            </a:extLst>
          </p:cNvPr>
          <p:cNvSpPr>
            <a:spLocks xmlns:a="http://schemas.openxmlformats.org/drawingml/2006/main"/>
          </p:cNvSpPr>
          <p:nvPr/>
        </p:nvSpPr>
        <p:spPr>
          <a:xfrm xmlns:a="http://schemas.openxmlformats.org/drawingml/2006/main">
            <a:off x="2895600" y="4229100"/>
            <a:ext cx="208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Compaction policy</a:t>
            </a:r>
          </a:p>
        </p:txBody>
      </p:sp>
      <p:sp>
        <p:nvSpPr>
          <p:cNvPr id="24" name="11-shape-21">
            <a:extLst xmlns:a="http://schemas.openxmlformats.org/drawingml/2006/main">
              <a:ext uri="{FF2B5EF4-FFF2-40B4-BE49-F238E27FC236}">
                <a16:creationId xmlns:a16="http://schemas.microsoft.com/office/drawing/2014/main" id="{F752C570-6C7E-4969-9075-73AAC42CEEE1}"/>
              </a:ext>
            </a:extLst>
          </p:cNvPr>
          <p:cNvSpPr>
            <a:spLocks xmlns:a="http://schemas.openxmlformats.org/drawingml/2006/main"/>
          </p:cNvSpPr>
          <p:nvPr/>
        </p:nvSpPr>
        <p:spPr>
          <a:xfrm xmlns:a="http://schemas.openxmlformats.org/drawingml/2006/main">
            <a:off x="5232400" y="4191000"/>
            <a:ext cx="2527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5" name="11-text-22">
            <a:extLst xmlns:a="http://schemas.openxmlformats.org/drawingml/2006/main">
              <a:ext uri="{FF2B5EF4-FFF2-40B4-BE49-F238E27FC236}">
                <a16:creationId xmlns:a16="http://schemas.microsoft.com/office/drawing/2014/main" id="{7EAF9024-5E06-4F58-86CA-03ACA143630E}"/>
              </a:ext>
            </a:extLst>
          </p:cNvPr>
          <p:cNvSpPr>
            <a:spLocks xmlns:a="http://schemas.openxmlformats.org/drawingml/2006/main"/>
          </p:cNvSpPr>
          <p:nvPr/>
        </p:nvSpPr>
        <p:spPr>
          <a:xfrm xmlns:a="http://schemas.openxmlformats.org/drawingml/2006/main">
            <a:off x="5384800" y="4229100"/>
            <a:ext cx="222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convention</a:t>
            </a:r>
          </a:p>
        </p:txBody>
      </p:sp>
      <p:sp>
        <p:nvSpPr>
          <p:cNvPr id="26" name="11-shape-23">
            <a:extLst xmlns:a="http://schemas.openxmlformats.org/drawingml/2006/main">
              <a:ext uri="{FF2B5EF4-FFF2-40B4-BE49-F238E27FC236}">
                <a16:creationId xmlns:a16="http://schemas.microsoft.com/office/drawing/2014/main" id="{B19798AC-2C5F-41A9-838C-576F58313D29}"/>
              </a:ext>
            </a:extLst>
          </p:cNvPr>
          <p:cNvSpPr>
            <a:spLocks xmlns:a="http://schemas.openxmlformats.org/drawingml/2006/main"/>
          </p:cNvSpPr>
          <p:nvPr/>
        </p:nvSpPr>
        <p:spPr>
          <a:xfrm xmlns:a="http://schemas.openxmlformats.org/drawingml/2006/main">
            <a:off x="7861300" y="4191000"/>
            <a:ext cx="2286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7" name="11-text-24">
            <a:extLst xmlns:a="http://schemas.openxmlformats.org/drawingml/2006/main">
              <a:ext uri="{FF2B5EF4-FFF2-40B4-BE49-F238E27FC236}">
                <a16:creationId xmlns:a16="http://schemas.microsoft.com/office/drawing/2014/main" id="{AF555677-6F5E-451D-A76E-FC7BEFA1E27A}"/>
              </a:ext>
            </a:extLst>
          </p:cNvPr>
          <p:cNvSpPr>
            <a:spLocks xmlns:a="http://schemas.openxmlformats.org/drawingml/2006/main"/>
          </p:cNvSpPr>
          <p:nvPr/>
        </p:nvSpPr>
        <p:spPr>
          <a:xfrm xmlns:a="http://schemas.openxmlformats.org/drawingml/2006/main">
            <a:off x="8013700" y="4229100"/>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strategy</a:t>
            </a:r>
          </a:p>
        </p:txBody>
      </p:sp>
      <p:sp>
        <p:nvSpPr>
          <p:cNvPr id="28" name="11-text-25">
            <a:extLst xmlns:a="http://schemas.openxmlformats.org/drawingml/2006/main">
              <a:ext uri="{FF2B5EF4-FFF2-40B4-BE49-F238E27FC236}">
                <a16:creationId xmlns:a16="http://schemas.microsoft.com/office/drawing/2014/main" id="{202573B5-4F9F-4088-8061-BF9CB276AC83}"/>
              </a:ext>
            </a:extLst>
          </p:cNvPr>
          <p:cNvSpPr>
            <a:spLocks xmlns:a="http://schemas.openxmlformats.org/drawingml/2006/main"/>
          </p:cNvSpPr>
          <p:nvPr/>
        </p:nvSpPr>
        <p:spPr>
          <a:xfrm xmlns:a="http://schemas.openxmlformats.org/drawingml/2006/main">
            <a:off x="609600" y="48895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compaction that drops a constraint can produce a wrong answer.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Memory exposed to the wrong user or tenant is a breach.</a:t>
            </a:r>
          </a:p>
        </p:txBody>
      </p:sp>
      <p:sp>
        <p:nvSpPr>
          <p:cNvPr id="29" name="11-shape-26">
            <a:extLst xmlns:a="http://schemas.openxmlformats.org/drawingml/2006/main">
              <a:ext uri="{FF2B5EF4-FFF2-40B4-BE49-F238E27FC236}">
                <a16:creationId xmlns:a16="http://schemas.microsoft.com/office/drawing/2014/main" id="{534E736F-FEAD-4E20-9637-F8BAC78306E0}"/>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0" name="11-shape-27">
            <a:extLst xmlns:a="http://schemas.openxmlformats.org/drawingml/2006/main">
              <a:ext uri="{FF2B5EF4-FFF2-40B4-BE49-F238E27FC236}">
                <a16:creationId xmlns:a16="http://schemas.microsoft.com/office/drawing/2014/main" id="{4D21ED95-9959-410A-8EEB-2486113048BE}"/>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1" name="11-text-28">
            <a:extLst xmlns:a="http://schemas.openxmlformats.org/drawingml/2006/main">
              <a:ext uri="{FF2B5EF4-FFF2-40B4-BE49-F238E27FC236}">
                <a16:creationId xmlns:a16="http://schemas.microsoft.com/office/drawing/2014/main" id="{EF72ABCC-B40F-42FB-9A16-B8A84B4BC89A}"/>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2" name="11-text-29">
            <a:extLst xmlns:a="http://schemas.openxmlformats.org/drawingml/2006/main">
              <a:ext uri="{FF2B5EF4-FFF2-40B4-BE49-F238E27FC236}">
                <a16:creationId xmlns:a16="http://schemas.microsoft.com/office/drawing/2014/main" id="{CE40E4C7-C9A5-491E-8CA2-14EFAFAD8B66}"/>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Tree>
    <p:extLst>
      <p:ext uri="{BB962C8B-B14F-4D97-AF65-F5344CB8AC3E}">
        <p14:creationId xmlns:p14="http://schemas.microsoft.com/office/powerpoint/2010/main" val="142958201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fill="hold"/>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fill="hold"/>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fill="hold"/>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 fill="hold"/>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 fill="hold"/>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00" fill="hold"/>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200" fill="hold"/>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200" fill="hold"/>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00" fill="hold"/>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200" fill="hold"/>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200" fill="hold"/>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200" fill="hold"/>
                                        <p:tgtEl>
                                          <p:spTgt spid="18"/>
                                        </p:tgtEl>
                                      </p:cBhvr>
                                    </p:animEffec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200" fill="hold"/>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200" fill="hold"/>
                                        <p:tgtEl>
                                          <p:spTgt spid="21"/>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200" fill="hold"/>
                                        <p:tgtEl>
                                          <p:spTgt spid="22"/>
                                        </p:tgtEl>
                                      </p:cBhvr>
                                    </p:animEffect>
                                  </p:childTnLst>
                                </p:cTn>
                              </p:par>
                              <p:par>
                                <p:cTn id="60" presetID="10" presetClass="entr" presetSubtype="0"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200" fill="hold"/>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200" fill="hold"/>
                                        <p:tgtEl>
                                          <p:spTgt spid="24"/>
                                        </p:tgtEl>
                                      </p:cBhvr>
                                    </p:animEffect>
                                  </p:childTnLst>
                                </p:cTn>
                              </p:par>
                              <p:par>
                                <p:cTn id="66" presetID="10" presetClass="entr" presetSubtype="0" fill="hold"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200" fill="hold"/>
                                        <p:tgtEl>
                                          <p:spTgt spid="25"/>
                                        </p:tgtEl>
                                      </p:cBhvr>
                                    </p:animEffect>
                                  </p:childTnLst>
                                </p:cTn>
                              </p:par>
                              <p:par>
                                <p:cTn id="69" presetID="10"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200" fill="hold"/>
                                        <p:tgtEl>
                                          <p:spTgt spid="26"/>
                                        </p:tgtEl>
                                      </p:cBhvr>
                                    </p:animEffect>
                                  </p:childTnLst>
                                </p:cTn>
                              </p:par>
                              <p:par>
                                <p:cTn id="72" presetID="10" presetClass="entr" presetSubtype="0"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200" fill="hold"/>
                                        <p:tgtEl>
                                          <p:spTgt spid="27"/>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00" fill="hold"/>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00" fill="hold"/>
                                        <p:tgtEl>
                                          <p:spTgt spid="30"/>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00" fill="hold"/>
                                        <p:tgtEl>
                                          <p:spTgt spid="31"/>
                                        </p:tgtEl>
                                      </p:cBhvr>
                                    </p:animEffect>
                                  </p:childTnLst>
                                </p:cTn>
                              </p:par>
                              <p:par>
                                <p:cTn id="90" presetID="10" presetClass="entr" presetSubtype="0"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300" fill="hold"/>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header">
            <a:extLst xmlns:a="http://schemas.openxmlformats.org/drawingml/2006/main">
              <a:ext uri="{FF2B5EF4-FFF2-40B4-BE49-F238E27FC236}">
                <a16:creationId xmlns:a16="http://schemas.microsoft.com/office/drawing/2014/main" id="{F8370C22-A3CA-4FDB-94C7-6BD3EC71063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5AC14BF8-97D3-44BA-8114-48281793088F}"/>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3" name="!!area-beat">
            <a:extLst xmlns:a="http://schemas.openxmlformats.org/drawingml/2006/main">
              <a:ext uri="{FF2B5EF4-FFF2-40B4-BE49-F238E27FC236}">
                <a16:creationId xmlns:a16="http://schemas.microsoft.com/office/drawing/2014/main" id="{445E5FAE-712B-45F2-BAB6-07BCCC16886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screenshot-MCP configuration">
            <a:extLst xmlns:a="http://schemas.openxmlformats.org/drawingml/2006/main">
              <a:ext uri="{FF2B5EF4-FFF2-40B4-BE49-F238E27FC236}">
                <a16:creationId xmlns:a16="http://schemas.microsoft.com/office/drawing/2014/main" id="{17190C5F-5CE1-4D5D-B9C8-163D68C35A08}"/>
              </a:ext>
            </a:extLst>
          </p:cNvPr>
          <p:cNvSpPr>
            <a:spLocks xmlns:a="http://schemas.openxmlformats.org/drawingml/2006/main"/>
          </p:cNvSpPr>
          <p:nvPr/>
        </p:nvSpPr>
        <p:spPr>
          <a:xfrm xmlns:a="http://schemas.openxmlformats.org/drawingml/2006/main">
            <a:off x="609600" y="19812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5" name="12-text-1">
            <a:extLst xmlns:a="http://schemas.openxmlformats.org/drawingml/2006/main">
              <a:ext uri="{FF2B5EF4-FFF2-40B4-BE49-F238E27FC236}">
                <a16:creationId xmlns:a16="http://schemas.microsoft.com/office/drawing/2014/main" id="{4BFF816C-367D-4B21-8C07-0E29A8B5627F}"/>
              </a:ext>
            </a:extLst>
          </p:cNvPr>
          <p:cNvSpPr>
            <a:spLocks xmlns:a="http://schemas.openxmlformats.org/drawingml/2006/main"/>
          </p:cNvSpPr>
          <p:nvPr/>
        </p:nvSpPr>
        <p:spPr>
          <a:xfrm xmlns:a="http://schemas.openxmlformats.org/drawingml/2006/main">
            <a:off x="812800" y="26797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 name="12-text-2">
            <a:extLst xmlns:a="http://schemas.openxmlformats.org/drawingml/2006/main">
              <a:ext uri="{FF2B5EF4-FFF2-40B4-BE49-F238E27FC236}">
                <a16:creationId xmlns:a16="http://schemas.microsoft.com/office/drawing/2014/main" id="{C9070C28-1DCC-4B3D-8D38-5667E4A05430}"/>
              </a:ext>
            </a:extLst>
          </p:cNvPr>
          <p:cNvSpPr>
            <a:spLocks xmlns:a="http://schemas.openxmlformats.org/drawingml/2006/main"/>
          </p:cNvSpPr>
          <p:nvPr/>
        </p:nvSpPr>
        <p:spPr>
          <a:xfrm xmlns:a="http://schemas.openxmlformats.org/drawingml/2006/main">
            <a:off x="812800" y="32004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7" name="!!screenshot-The permission prompt">
            <a:extLst xmlns:a="http://schemas.openxmlformats.org/drawingml/2006/main">
              <a:ext uri="{FF2B5EF4-FFF2-40B4-BE49-F238E27FC236}">
                <a16:creationId xmlns:a16="http://schemas.microsoft.com/office/drawing/2014/main" id="{6F7A80D1-1572-4087-BF56-574626C17831}"/>
              </a:ext>
            </a:extLst>
          </p:cNvPr>
          <p:cNvSpPr>
            <a:spLocks xmlns:a="http://schemas.openxmlformats.org/drawingml/2006/main"/>
          </p:cNvSpPr>
          <p:nvPr/>
        </p:nvSpPr>
        <p:spPr>
          <a:xfrm xmlns:a="http://schemas.openxmlformats.org/drawingml/2006/main">
            <a:off x="6248400" y="19812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8" name="12-text-3">
            <a:extLst xmlns:a="http://schemas.openxmlformats.org/drawingml/2006/main">
              <a:ext uri="{FF2B5EF4-FFF2-40B4-BE49-F238E27FC236}">
                <a16:creationId xmlns:a16="http://schemas.microsoft.com/office/drawing/2014/main" id="{3E5856EB-E222-4918-BD33-5E4744BA0A0B}"/>
              </a:ext>
            </a:extLst>
          </p:cNvPr>
          <p:cNvSpPr>
            <a:spLocks xmlns:a="http://schemas.openxmlformats.org/drawingml/2006/main"/>
          </p:cNvSpPr>
          <p:nvPr/>
        </p:nvSpPr>
        <p:spPr>
          <a:xfrm xmlns:a="http://schemas.openxmlformats.org/drawingml/2006/main">
            <a:off x="6451600" y="26797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9" name="12-text-4">
            <a:extLst xmlns:a="http://schemas.openxmlformats.org/drawingml/2006/main">
              <a:ext uri="{FF2B5EF4-FFF2-40B4-BE49-F238E27FC236}">
                <a16:creationId xmlns:a16="http://schemas.microsoft.com/office/drawing/2014/main" id="{CC71F854-BF41-46BB-A865-34C8DF8FB412}"/>
              </a:ext>
            </a:extLst>
          </p:cNvPr>
          <p:cNvSpPr>
            <a:spLocks xmlns:a="http://schemas.openxmlformats.org/drawingml/2006/main"/>
          </p:cNvSpPr>
          <p:nvPr/>
        </p:nvSpPr>
        <p:spPr>
          <a:xfrm xmlns:a="http://schemas.openxmlformats.org/drawingml/2006/main">
            <a:off x="6451600" y="32004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10" name="12-text-5">
            <a:extLst xmlns:a="http://schemas.openxmlformats.org/drawingml/2006/main">
              <a:ext uri="{FF2B5EF4-FFF2-40B4-BE49-F238E27FC236}">
                <a16:creationId xmlns:a16="http://schemas.microsoft.com/office/drawing/2014/main" id="{9AD3CA0A-FFDD-4080-8393-64DDD4B85C87}"/>
              </a:ext>
            </a:extLst>
          </p:cNvPr>
          <p:cNvSpPr>
            <a:spLocks xmlns:a="http://schemas.openxmlformats.org/drawingml/2006/main"/>
          </p:cNvSpPr>
          <p:nvPr/>
        </p:nvSpPr>
        <p:spPr>
          <a:xfrm xmlns:a="http://schemas.openxmlformats.org/drawingml/2006/main">
            <a:off x="6096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11" name="12-text-6">
            <a:extLst xmlns:a="http://schemas.openxmlformats.org/drawingml/2006/main">
              <a:ext uri="{FF2B5EF4-FFF2-40B4-BE49-F238E27FC236}">
                <a16:creationId xmlns:a16="http://schemas.microsoft.com/office/drawing/2014/main" id="{19DE6FCE-2118-4769-A8C9-E1399185D528}"/>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Shell command approval</a:t>
            </a:r>
          </a:p>
        </p:txBody>
      </p:sp>
      <p:sp>
        <p:nvSpPr>
          <p:cNvPr id="12" name="12-text-7">
            <a:extLst xmlns:a="http://schemas.openxmlformats.org/drawingml/2006/main">
              <a:ext uri="{FF2B5EF4-FFF2-40B4-BE49-F238E27FC236}">
                <a16:creationId xmlns:a16="http://schemas.microsoft.com/office/drawing/2014/main" id="{E5D6780F-537A-47F8-9B50-25E385E5A67F}"/>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Codex sandbox: read-only · workspace-write · full access</a:t>
            </a:r>
          </a:p>
        </p:txBody>
      </p:sp>
      <p:sp>
        <p:nvSpPr>
          <p:cNvPr id="13" name="12-text-8">
            <a:extLst xmlns:a="http://schemas.openxmlformats.org/drawingml/2006/main">
              <a:ext uri="{FF2B5EF4-FFF2-40B4-BE49-F238E27FC236}">
                <a16:creationId xmlns:a16="http://schemas.microsoft.com/office/drawing/2014/main" id="{F717A08D-AF89-4B81-93D4-A06C0C3570E1}"/>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Devin CLI modes: Normal · Accept Edits · Smart · Bypass · Autonomous</a:t>
            </a:r>
          </a:p>
        </p:txBody>
      </p:sp>
    </p:spTree>
    <p:extLst>
      <p:ext uri="{BB962C8B-B14F-4D97-AF65-F5344CB8AC3E}">
        <p14:creationId xmlns:p14="http://schemas.microsoft.com/office/powerpoint/2010/main" val="547084088"/>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 name="!!area-name">
            <a:extLst xmlns:a="http://schemas.openxmlformats.org/drawingml/2006/main">
              <a:ext uri="{FF2B5EF4-FFF2-40B4-BE49-F238E27FC236}">
                <a16:creationId xmlns:a16="http://schemas.microsoft.com/office/drawing/2014/main" id="{558D7D1F-D946-4622-9D4C-412A9BABB5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18" name="mini-map"/>
          <p:cNvPicPr>
            <a:picLocks xmlns:a="http://schemas.openxmlformats.org/drawingml/2006/main" noChangeAspect="1"/>
          </p:cNvPicPr>
          <p:nvPr/>
        </p:nvPicPr>
        <p:blipFill>
          <a:blip xmlns:r="http://schemas.openxmlformats.org/officeDocument/2006/relationships" xmlns:a="http://schemas.openxmlformats.org/drawingml/2006/main" r:embed="R12d7b6ba146b4a5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creenshot-MCP configuration">
            <a:extLst xmlns:a="http://schemas.openxmlformats.org/drawingml/2006/main">
              <a:ext uri="{FF2B5EF4-FFF2-40B4-BE49-F238E27FC236}">
                <a16:creationId xmlns:a16="http://schemas.microsoft.com/office/drawing/2014/main" id="{B13D6EFF-B6D5-41BF-9230-224EEF36454C}"/>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4" name="12b-text-1">
            <a:extLst xmlns:a="http://schemas.openxmlformats.org/drawingml/2006/main">
              <a:ext uri="{FF2B5EF4-FFF2-40B4-BE49-F238E27FC236}">
                <a16:creationId xmlns:a16="http://schemas.microsoft.com/office/drawing/2014/main" id="{FB3EED2E-7D39-423F-8474-80E69612BB98}"/>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5" name="12b-text-2">
            <a:extLst xmlns:a="http://schemas.openxmlformats.org/drawingml/2006/main">
              <a:ext uri="{FF2B5EF4-FFF2-40B4-BE49-F238E27FC236}">
                <a16:creationId xmlns:a16="http://schemas.microsoft.com/office/drawing/2014/main" id="{73EAF1EA-6F0B-489C-9E15-E93E4EA6A77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6" name="!!screenshot-The permission prompt">
            <a:extLst xmlns:a="http://schemas.openxmlformats.org/drawingml/2006/main">
              <a:ext uri="{FF2B5EF4-FFF2-40B4-BE49-F238E27FC236}">
                <a16:creationId xmlns:a16="http://schemas.microsoft.com/office/drawing/2014/main" id="{CCD46666-7B9D-4044-9250-112C13F9042D}"/>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7" name="12b-text-3">
            <a:extLst xmlns:a="http://schemas.openxmlformats.org/drawingml/2006/main">
              <a:ext uri="{FF2B5EF4-FFF2-40B4-BE49-F238E27FC236}">
                <a16:creationId xmlns:a16="http://schemas.microsoft.com/office/drawing/2014/main" id="{5309D668-3974-4E6D-B53B-816D9D649348}"/>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 name="12b-text-4">
            <a:extLst xmlns:a="http://schemas.openxmlformats.org/drawingml/2006/main">
              <a:ext uri="{FF2B5EF4-FFF2-40B4-BE49-F238E27FC236}">
                <a16:creationId xmlns:a16="http://schemas.microsoft.com/office/drawing/2014/main" id="{763330B9-4D26-4871-9D98-8AB2413692CB}"/>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9" name="12b-text-5">
            <a:extLst xmlns:a="http://schemas.openxmlformats.org/drawingml/2006/main">
              <a:ext uri="{FF2B5EF4-FFF2-40B4-BE49-F238E27FC236}">
                <a16:creationId xmlns:a16="http://schemas.microsoft.com/office/drawing/2014/main" id="{09698BE6-A728-4EBB-B531-CD8DC36FF317}"/>
              </a:ext>
            </a:extLst>
          </p:cNvPr>
          <p:cNvSpPr>
            <a:spLocks xmlns:a="http://schemas.openxmlformats.org/drawingml/2006/main"/>
          </p:cNvSpPr>
          <p:nvPr/>
        </p:nvSpPr>
        <p:spPr>
          <a:xfrm xmlns:a="http://schemas.openxmlformats.org/drawingml/2006/main">
            <a:off x="609600" y="2082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10" name="12b-text-6">
            <a:extLst xmlns:a="http://schemas.openxmlformats.org/drawingml/2006/main">
              <a:ext uri="{FF2B5EF4-FFF2-40B4-BE49-F238E27FC236}">
                <a16:creationId xmlns:a16="http://schemas.microsoft.com/office/drawing/2014/main" id="{21B0CF71-A5F3-43AE-A976-9017D6267EFC}"/>
              </a:ext>
            </a:extLst>
          </p:cNvPr>
          <p:cNvSpPr>
            <a:spLocks xmlns:a="http://schemas.openxmlformats.org/drawingml/2006/main"/>
          </p:cNvSpPr>
          <p:nvPr/>
        </p:nvSpPr>
        <p:spPr>
          <a:xfrm xmlns:a="http://schemas.openxmlformats.org/drawingml/2006/main">
            <a:off x="609600" y="26416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11" name="12b-text-7">
            <a:extLst xmlns:a="http://schemas.openxmlformats.org/drawingml/2006/main">
              <a:ext uri="{FF2B5EF4-FFF2-40B4-BE49-F238E27FC236}">
                <a16:creationId xmlns:a16="http://schemas.microsoft.com/office/drawing/2014/main" id="{FAEC5D8E-2C6C-4A44-891A-8B6222CE3DE0}"/>
              </a:ext>
            </a:extLst>
          </p:cNvPr>
          <p:cNvSpPr>
            <a:spLocks xmlns:a="http://schemas.openxmlformats.org/drawingml/2006/main"/>
          </p:cNvSpPr>
          <p:nvPr/>
        </p:nvSpPr>
        <p:spPr>
          <a:xfrm xmlns:a="http://schemas.openxmlformats.org/drawingml/2006/main">
            <a:off x="609600" y="3632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12" name="12b-text-8">
            <a:extLst xmlns:a="http://schemas.openxmlformats.org/drawingml/2006/main">
              <a:ext uri="{FF2B5EF4-FFF2-40B4-BE49-F238E27FC236}">
                <a16:creationId xmlns:a16="http://schemas.microsoft.com/office/drawing/2014/main" id="{702CF14A-EA14-493A-A789-A67485E1DD72}"/>
              </a:ext>
            </a:extLst>
          </p:cNvPr>
          <p:cNvSpPr>
            <a:spLocks xmlns:a="http://schemas.openxmlformats.org/drawingml/2006/main"/>
          </p:cNvSpPr>
          <p:nvPr/>
        </p:nvSpPr>
        <p:spPr>
          <a:xfrm xmlns:a="http://schemas.openxmlformats.org/drawingml/2006/main">
            <a:off x="609600" y="42164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13" name="12b-text-9">
            <a:extLst xmlns:a="http://schemas.openxmlformats.org/drawingml/2006/main">
              <a:ext uri="{FF2B5EF4-FFF2-40B4-BE49-F238E27FC236}">
                <a16:creationId xmlns:a16="http://schemas.microsoft.com/office/drawing/2014/main" id="{EB810F67-0E27-464C-8F6F-BEEEFFBE26B6}"/>
              </a:ext>
            </a:extLst>
          </p:cNvPr>
          <p:cNvSpPr>
            <a:spLocks xmlns:a="http://schemas.openxmlformats.org/drawingml/2006/main"/>
          </p:cNvSpPr>
          <p:nvPr/>
        </p:nvSpPr>
        <p:spPr>
          <a:xfrm xmlns:a="http://schemas.openxmlformats.org/drawingml/2006/main">
            <a:off x="609600" y="4800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14" name="12b-text-10">
            <a:extLst xmlns:a="http://schemas.openxmlformats.org/drawingml/2006/main">
              <a:ext uri="{FF2B5EF4-FFF2-40B4-BE49-F238E27FC236}">
                <a16:creationId xmlns:a16="http://schemas.microsoft.com/office/drawing/2014/main" id="{DDAF3751-B2DC-453F-A131-CE6A818BE143}"/>
              </a:ext>
            </a:extLst>
          </p:cNvPr>
          <p:cNvSpPr>
            <a:spLocks xmlns:a="http://schemas.openxmlformats.org/drawingml/2006/main"/>
          </p:cNvSpPr>
          <p:nvPr/>
        </p:nvSpPr>
        <p:spPr>
          <a:xfrm xmlns:a="http://schemas.openxmlformats.org/drawingml/2006/main">
            <a:off x="609600" y="24638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15" name="12b-text-11">
            <a:extLst xmlns:a="http://schemas.openxmlformats.org/drawingml/2006/main">
              <a:ext uri="{FF2B5EF4-FFF2-40B4-BE49-F238E27FC236}">
                <a16:creationId xmlns:a16="http://schemas.microsoft.com/office/drawing/2014/main" id="{D428C98D-BD50-410B-BE76-DC5E43B3F97B}"/>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16" name="12b-text-12">
            <a:extLst xmlns:a="http://schemas.openxmlformats.org/drawingml/2006/main">
              <a:ext uri="{FF2B5EF4-FFF2-40B4-BE49-F238E27FC236}">
                <a16:creationId xmlns:a16="http://schemas.microsoft.com/office/drawing/2014/main" id="{40A743DF-B9B6-4CD6-BC11-C43CE98E184D}"/>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Tree>
    <p:extLst>
      <p:ext uri="{BB962C8B-B14F-4D97-AF65-F5344CB8AC3E}">
        <p14:creationId xmlns:p14="http://schemas.microsoft.com/office/powerpoint/2010/main" val="65117379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3"/>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 name="!!area-name">
            <a:extLst xmlns:a="http://schemas.openxmlformats.org/drawingml/2006/main">
              <a:ext uri="{FF2B5EF4-FFF2-40B4-BE49-F238E27FC236}">
                <a16:creationId xmlns:a16="http://schemas.microsoft.com/office/drawing/2014/main" id="{BE474EB4-E5C2-463E-A18F-72EDD13E1D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34" name="mini-map"/>
          <p:cNvPicPr>
            <a:picLocks xmlns:a="http://schemas.openxmlformats.org/drawingml/2006/main" noChangeAspect="1"/>
          </p:cNvPicPr>
          <p:nvPr/>
        </p:nvPicPr>
        <p:blipFill>
          <a:blip xmlns:r="http://schemas.openxmlformats.org/officeDocument/2006/relationships" xmlns:a="http://schemas.openxmlformats.org/drawingml/2006/main" r:embed="R1acb48aefb43427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744E8847-44FC-4872-A4AE-F368E13651B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4" name="13-shape-1">
            <a:extLst xmlns:a="http://schemas.openxmlformats.org/drawingml/2006/main">
              <a:ext uri="{FF2B5EF4-FFF2-40B4-BE49-F238E27FC236}">
                <a16:creationId xmlns:a16="http://schemas.microsoft.com/office/drawing/2014/main" id="{A561F332-0092-4D1D-A1CE-85DB591AE1F7}"/>
              </a:ext>
            </a:extLst>
          </p:cNvPr>
          <p:cNvSpPr>
            <a:spLocks xmlns:a="http://schemas.openxmlformats.org/drawingml/2006/main"/>
          </p:cNvSpPr>
          <p:nvPr/>
        </p:nvSpPr>
        <p:spPr>
          <a:xfrm xmlns:a="http://schemas.openxmlformats.org/drawingml/2006/main">
            <a:off x="609600" y="1981200"/>
            <a:ext cx="3962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5" name="13-text-2">
            <a:extLst xmlns:a="http://schemas.openxmlformats.org/drawingml/2006/main">
              <a:ext uri="{FF2B5EF4-FFF2-40B4-BE49-F238E27FC236}">
                <a16:creationId xmlns:a16="http://schemas.microsoft.com/office/drawing/2014/main" id="{AA498DE7-C3AF-4E77-9525-298926CC4BFC}"/>
              </a:ext>
            </a:extLst>
          </p:cNvPr>
          <p:cNvSpPr>
            <a:spLocks xmlns:a="http://schemas.openxmlformats.org/drawingml/2006/main"/>
          </p:cNvSpPr>
          <p:nvPr/>
        </p:nvSpPr>
        <p:spPr>
          <a:xfrm xmlns:a="http://schemas.openxmlformats.org/drawingml/2006/main">
            <a:off x="762000" y="20193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descriptions, and their evals</a:t>
            </a:r>
          </a:p>
        </p:txBody>
      </p:sp>
      <p:sp>
        <p:nvSpPr>
          <p:cNvPr id="6" name="13-shape-3">
            <a:extLst xmlns:a="http://schemas.openxmlformats.org/drawingml/2006/main">
              <a:ext uri="{FF2B5EF4-FFF2-40B4-BE49-F238E27FC236}">
                <a16:creationId xmlns:a16="http://schemas.microsoft.com/office/drawing/2014/main" id="{A6C2A78E-8482-41D2-BC84-552F0E47400C}"/>
              </a:ext>
            </a:extLst>
          </p:cNvPr>
          <p:cNvSpPr>
            <a:spLocks xmlns:a="http://schemas.openxmlformats.org/drawingml/2006/main"/>
          </p:cNvSpPr>
          <p:nvPr/>
        </p:nvSpPr>
        <p:spPr>
          <a:xfrm xmlns:a="http://schemas.openxmlformats.org/drawingml/2006/main">
            <a:off x="4673600" y="1981200"/>
            <a:ext cx="1841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3-text-4">
            <a:extLst xmlns:a="http://schemas.openxmlformats.org/drawingml/2006/main">
              <a:ext uri="{FF2B5EF4-FFF2-40B4-BE49-F238E27FC236}">
                <a16:creationId xmlns:a16="http://schemas.microsoft.com/office/drawing/2014/main" id="{B96DE436-A989-40FA-83F2-3AF02CCBB6D6}"/>
              </a:ext>
            </a:extLst>
          </p:cNvPr>
          <p:cNvSpPr>
            <a:spLocks xmlns:a="http://schemas.openxmlformats.org/drawingml/2006/main"/>
          </p:cNvSpPr>
          <p:nvPr/>
        </p:nvSpPr>
        <p:spPr>
          <a:xfrm xmlns:a="http://schemas.openxmlformats.org/drawingml/2006/main">
            <a:off x="4826000" y="2019300"/>
            <a:ext cx="153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verbosity</a:t>
            </a:r>
          </a:p>
        </p:txBody>
      </p:sp>
      <p:sp>
        <p:nvSpPr>
          <p:cNvPr id="8" name="13-shape-5">
            <a:extLst xmlns:a="http://schemas.openxmlformats.org/drawingml/2006/main">
              <a:ext uri="{FF2B5EF4-FFF2-40B4-BE49-F238E27FC236}">
                <a16:creationId xmlns:a16="http://schemas.microsoft.com/office/drawing/2014/main" id="{DBC5DE79-69E5-4E66-8D82-9C6E7944F43B}"/>
              </a:ext>
            </a:extLst>
          </p:cNvPr>
          <p:cNvSpPr>
            <a:spLocks xmlns:a="http://schemas.openxmlformats.org/drawingml/2006/main"/>
          </p:cNvSpPr>
          <p:nvPr/>
        </p:nvSpPr>
        <p:spPr>
          <a:xfrm xmlns:a="http://schemas.openxmlformats.org/drawingml/2006/main">
            <a:off x="6616700" y="1981200"/>
            <a:ext cx="2743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3-text-6">
            <a:extLst xmlns:a="http://schemas.openxmlformats.org/drawingml/2006/main">
              <a:ext uri="{FF2B5EF4-FFF2-40B4-BE49-F238E27FC236}">
                <a16:creationId xmlns:a16="http://schemas.microsoft.com/office/drawing/2014/main" id="{08630ED1-6DE7-448F-819A-D46A8802C0BD}"/>
              </a:ext>
            </a:extLst>
          </p:cNvPr>
          <p:cNvSpPr>
            <a:spLocks xmlns:a="http://schemas.openxmlformats.org/drawingml/2006/main"/>
          </p:cNvSpPr>
          <p:nvPr/>
        </p:nvSpPr>
        <p:spPr>
          <a:xfrm xmlns:a="http://schemas.openxmlformats.org/drawingml/2006/main">
            <a:off x="6769100" y="201930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action categories</a:t>
            </a:r>
          </a:p>
        </p:txBody>
      </p:sp>
      <p:sp>
        <p:nvSpPr>
          <p:cNvPr id="10" name="13-shape-7">
            <a:extLst xmlns:a="http://schemas.openxmlformats.org/drawingml/2006/main">
              <a:ext uri="{FF2B5EF4-FFF2-40B4-BE49-F238E27FC236}">
                <a16:creationId xmlns:a16="http://schemas.microsoft.com/office/drawing/2014/main" id="{C2CB6216-B3FF-417B-8D4C-F9CDBA1D59F4}"/>
              </a:ext>
            </a:extLst>
          </p:cNvPr>
          <p:cNvSpPr>
            <a:spLocks xmlns:a="http://schemas.openxmlformats.org/drawingml/2006/main"/>
          </p:cNvSpPr>
          <p:nvPr/>
        </p:nvSpPr>
        <p:spPr>
          <a:xfrm xmlns:a="http://schemas.openxmlformats.org/drawingml/2006/main">
            <a:off x="9461500" y="19812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13-text-8">
            <a:extLst xmlns:a="http://schemas.openxmlformats.org/drawingml/2006/main">
              <a:ext uri="{FF2B5EF4-FFF2-40B4-BE49-F238E27FC236}">
                <a16:creationId xmlns:a16="http://schemas.microsoft.com/office/drawing/2014/main" id="{47F48259-35DB-44AD-9108-0CD83DFEAE98}"/>
              </a:ext>
            </a:extLst>
          </p:cNvPr>
          <p:cNvSpPr>
            <a:spLocks xmlns:a="http://schemas.openxmlformats.org/drawingml/2006/main"/>
          </p:cNvSpPr>
          <p:nvPr/>
        </p:nvSpPr>
        <p:spPr>
          <a:xfrm xmlns:a="http://schemas.openxmlformats.org/drawingml/2006/main">
            <a:off x="9613900" y="20193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gate</a:t>
            </a:r>
          </a:p>
        </p:txBody>
      </p:sp>
      <p:sp>
        <p:nvSpPr>
          <p:cNvPr id="12" name="13-shape-9">
            <a:extLst xmlns:a="http://schemas.openxmlformats.org/drawingml/2006/main">
              <a:ext uri="{FF2B5EF4-FFF2-40B4-BE49-F238E27FC236}">
                <a16:creationId xmlns:a16="http://schemas.microsoft.com/office/drawing/2014/main" id="{6DFE9F83-CBE5-42F1-B39B-90D1DDC4EFDF}"/>
              </a:ext>
            </a:extLst>
          </p:cNvPr>
          <p:cNvSpPr>
            <a:spLocks xmlns:a="http://schemas.openxmlformats.org/drawingml/2006/main"/>
          </p:cNvSpPr>
          <p:nvPr/>
        </p:nvSpPr>
        <p:spPr>
          <a:xfrm xmlns:a="http://schemas.openxmlformats.org/drawingml/2006/main">
            <a:off x="609600" y="26797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3" name="13-text-10">
            <a:extLst xmlns:a="http://schemas.openxmlformats.org/drawingml/2006/main">
              <a:ext uri="{FF2B5EF4-FFF2-40B4-BE49-F238E27FC236}">
                <a16:creationId xmlns:a16="http://schemas.microsoft.com/office/drawing/2014/main" id="{5B280E10-2D1A-4BEE-BE64-423A4B7FCB05}"/>
              </a:ext>
            </a:extLst>
          </p:cNvPr>
          <p:cNvSpPr>
            <a:spLocks xmlns:a="http://schemas.openxmlformats.org/drawingml/2006/main"/>
          </p:cNvSpPr>
          <p:nvPr/>
        </p:nvSpPr>
        <p:spPr>
          <a:xfrm xmlns:a="http://schemas.openxmlformats.org/drawingml/2006/main">
            <a:off x="812800" y="28321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Scoped reads</a:t>
            </a:r>
          </a:p>
        </p:txBody>
      </p:sp>
      <p:sp>
        <p:nvSpPr>
          <p:cNvPr id="14" name="13-text-11">
            <a:extLst xmlns:a="http://schemas.openxmlformats.org/drawingml/2006/main">
              <a:ext uri="{FF2B5EF4-FFF2-40B4-BE49-F238E27FC236}">
                <a16:creationId xmlns:a16="http://schemas.microsoft.com/office/drawing/2014/main" id="{4B963F61-0C8E-432F-A6FE-A1258406027F}"/>
              </a:ext>
            </a:extLst>
          </p:cNvPr>
          <p:cNvSpPr>
            <a:spLocks xmlns:a="http://schemas.openxmlformats.org/drawingml/2006/main"/>
          </p:cNvSpPr>
          <p:nvPr/>
        </p:nvSpPr>
        <p:spPr>
          <a:xfrm xmlns:a="http://schemas.openxmlformats.org/drawingml/2006/main">
            <a:off x="812800" y="35179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policy</a:t>
            </a:r>
          </a:p>
        </p:txBody>
      </p:sp>
      <p:sp>
        <p:nvSpPr>
          <p:cNvPr id="15" name="13-shape-12">
            <a:extLst xmlns:a="http://schemas.openxmlformats.org/drawingml/2006/main">
              <a:ext uri="{FF2B5EF4-FFF2-40B4-BE49-F238E27FC236}">
                <a16:creationId xmlns:a16="http://schemas.microsoft.com/office/drawing/2014/main" id="{7AACC92D-EB93-4412-A0C3-BFB8F7EB5B83}"/>
              </a:ext>
            </a:extLst>
          </p:cNvPr>
          <p:cNvSpPr>
            <a:spLocks xmlns:a="http://schemas.openxmlformats.org/drawingml/2006/main"/>
          </p:cNvSpPr>
          <p:nvPr/>
        </p:nvSpPr>
        <p:spPr>
          <a:xfrm xmlns:a="http://schemas.openxmlformats.org/drawingml/2006/main">
            <a:off x="4368800" y="26797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6" name="13-text-13">
            <a:extLst xmlns:a="http://schemas.openxmlformats.org/drawingml/2006/main">
              <a:ext uri="{FF2B5EF4-FFF2-40B4-BE49-F238E27FC236}">
                <a16:creationId xmlns:a16="http://schemas.microsoft.com/office/drawing/2014/main" id="{D648C0A5-699B-430A-8B06-0C8551F70CB0}"/>
              </a:ext>
            </a:extLst>
          </p:cNvPr>
          <p:cNvSpPr>
            <a:spLocks xmlns:a="http://schemas.openxmlformats.org/drawingml/2006/main"/>
          </p:cNvSpPr>
          <p:nvPr/>
        </p:nvSpPr>
        <p:spPr>
          <a:xfrm xmlns:a="http://schemas.openxmlformats.org/drawingml/2006/main">
            <a:off x="4572000" y="28321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Reversible changes</a:t>
            </a:r>
          </a:p>
        </p:txBody>
      </p:sp>
      <p:sp>
        <p:nvSpPr>
          <p:cNvPr id="17" name="13-text-14">
            <a:extLst xmlns:a="http://schemas.openxmlformats.org/drawingml/2006/main">
              <a:ext uri="{FF2B5EF4-FFF2-40B4-BE49-F238E27FC236}">
                <a16:creationId xmlns:a16="http://schemas.microsoft.com/office/drawing/2014/main" id="{FBD39426-D62A-46E1-87F4-9D2A0D76B527}"/>
              </a:ext>
            </a:extLst>
          </p:cNvPr>
          <p:cNvSpPr>
            <a:spLocks xmlns:a="http://schemas.openxmlformats.org/drawingml/2006/main"/>
          </p:cNvSpPr>
          <p:nvPr/>
        </p:nvSpPr>
        <p:spPr>
          <a:xfrm xmlns:a="http://schemas.openxmlformats.org/drawingml/2006/main">
            <a:off x="4572000" y="35179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support recovery</a:t>
            </a:r>
          </a:p>
        </p:txBody>
      </p:sp>
      <p:sp>
        <p:nvSpPr>
          <p:cNvPr id="18" name="13-shape-15">
            <a:extLst xmlns:a="http://schemas.openxmlformats.org/drawingml/2006/main">
              <a:ext uri="{FF2B5EF4-FFF2-40B4-BE49-F238E27FC236}">
                <a16:creationId xmlns:a16="http://schemas.microsoft.com/office/drawing/2014/main" id="{19BC1EB3-6363-4CEA-8108-6F037057DC57}"/>
              </a:ext>
            </a:extLst>
          </p:cNvPr>
          <p:cNvSpPr>
            <a:spLocks xmlns:a="http://schemas.openxmlformats.org/drawingml/2006/main"/>
          </p:cNvSpPr>
          <p:nvPr/>
        </p:nvSpPr>
        <p:spPr>
          <a:xfrm xmlns:a="http://schemas.openxmlformats.org/drawingml/2006/main">
            <a:off x="8128000" y="26797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9" name="13-text-16">
            <a:extLst xmlns:a="http://schemas.openxmlformats.org/drawingml/2006/main">
              <a:ext uri="{FF2B5EF4-FFF2-40B4-BE49-F238E27FC236}">
                <a16:creationId xmlns:a16="http://schemas.microsoft.com/office/drawing/2014/main" id="{5D5E1469-8148-431F-8CCD-4B5080CD60DF}"/>
              </a:ext>
            </a:extLst>
          </p:cNvPr>
          <p:cNvSpPr>
            <a:spLocks xmlns:a="http://schemas.openxmlformats.org/drawingml/2006/main"/>
          </p:cNvSpPr>
          <p:nvPr/>
        </p:nvSpPr>
        <p:spPr>
          <a:xfrm xmlns:a="http://schemas.openxmlformats.org/drawingml/2006/main">
            <a:off x="8331200" y="28321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Consequential actions</a:t>
            </a:r>
          </a:p>
        </p:txBody>
      </p:sp>
      <p:sp>
        <p:nvSpPr>
          <p:cNvPr id="20" name="13-text-17">
            <a:extLst xmlns:a="http://schemas.openxmlformats.org/drawingml/2006/main">
              <a:ext uri="{FF2B5EF4-FFF2-40B4-BE49-F238E27FC236}">
                <a16:creationId xmlns:a16="http://schemas.microsoft.com/office/drawing/2014/main" id="{C7B0BEE1-A270-4DC9-9328-CB089A71EF27}"/>
              </a:ext>
            </a:extLst>
          </p:cNvPr>
          <p:cNvSpPr>
            <a:spLocks xmlns:a="http://schemas.openxmlformats.org/drawingml/2006/main"/>
          </p:cNvSpPr>
          <p:nvPr/>
        </p:nvSpPr>
        <p:spPr>
          <a:xfrm xmlns:a="http://schemas.openxmlformats.org/drawingml/2006/main">
            <a:off x="8331200" y="35179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policy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or approval</a:t>
            </a:r>
          </a:p>
        </p:txBody>
      </p:sp>
      <p:sp>
        <p:nvSpPr>
          <p:cNvPr id="21" name="13-text-18">
            <a:extLst xmlns:a="http://schemas.openxmlformats.org/drawingml/2006/main">
              <a:ext uri="{FF2B5EF4-FFF2-40B4-BE49-F238E27FC236}">
                <a16:creationId xmlns:a16="http://schemas.microsoft.com/office/drawing/2014/main" id="{517E459E-3514-46C2-8E0A-25114D28D3C3}"/>
              </a:ext>
            </a:extLst>
          </p:cNvPr>
          <p:cNvSpPr>
            <a:spLocks xmlns:a="http://schemas.openxmlformats.org/drawingml/2006/main"/>
          </p:cNvSpPr>
          <p:nvPr/>
        </p:nvSpPr>
        <p:spPr>
          <a:xfrm xmlns:a="http://schemas.openxmlformats.org/drawingml/2006/main">
            <a:off x="609600" y="4749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applies to every category. Enforce it outside the model.</a:t>
            </a:r>
          </a:p>
        </p:txBody>
      </p:sp>
      <p:sp>
        <p:nvSpPr>
          <p:cNvPr id="22" name="13-text-19">
            <a:extLst xmlns:a="http://schemas.openxmlformats.org/drawingml/2006/main">
              <a:ext uri="{FF2B5EF4-FFF2-40B4-BE49-F238E27FC236}">
                <a16:creationId xmlns:a16="http://schemas.microsoft.com/office/drawing/2014/main" id="{EF7B1708-27B2-41E0-BD40-27411D445107}"/>
              </a:ext>
            </a:extLst>
          </p:cNvPr>
          <p:cNvSpPr>
            <a:spLocks xmlns:a="http://schemas.openxmlformats.org/drawingml/2006/main"/>
          </p:cNvSpPr>
          <p:nvPr/>
        </p:nvSpPr>
        <p:spPr>
          <a:xfrm xmlns:a="http://schemas.openxmlformats.org/drawingml/2006/main">
            <a:off x="609600" y="5232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model's approval recommendation does not establish permission.</a:t>
            </a:r>
          </a:p>
        </p:txBody>
      </p:sp>
      <p:sp>
        <p:nvSpPr>
          <p:cNvPr id="23" name="13-shape-20">
            <a:extLst xmlns:a="http://schemas.openxmlformats.org/drawingml/2006/main">
              <a:ext uri="{FF2B5EF4-FFF2-40B4-BE49-F238E27FC236}">
                <a16:creationId xmlns:a16="http://schemas.microsoft.com/office/drawing/2014/main" id="{FDE78055-FCAA-4B1C-894C-59BA71B129DB}"/>
              </a:ext>
            </a:extLst>
          </p:cNvPr>
          <p:cNvSpPr>
            <a:spLocks xmlns:a="http://schemas.openxmlformats.org/drawingml/2006/main"/>
          </p:cNvSpPr>
          <p:nvPr/>
        </p:nvSpPr>
        <p:spPr>
          <a:xfrm xmlns:a="http://schemas.openxmlformats.org/drawingml/2006/main">
            <a:off x="609600" y="2336800"/>
            <a:ext cx="10972800" cy="1778000"/>
          </a:xfrm>
          <a:prstGeom xmlns:a="http://schemas.openxmlformats.org/drawingml/2006/main" prst="roundRect">
            <a:avLst>
              <a:gd name="adj" fmla="val 5714"/>
            </a:avLst>
          </a:prstGeom>
          <a:solidFill xmlns:a="http://schemas.openxmlformats.org/drawingml/2006/main">
            <a:srgbClr val="303236"/>
          </a:solidFill>
          <a:ln xmlns:a="http://schemas.openxmlformats.org/drawingml/2006/main" w="0">
            <a:noFill/>
          </a:ln>
        </p:spPr>
      </p:sp>
      <p:sp>
        <p:nvSpPr>
          <p:cNvPr id="24" name="13-text-21">
            <a:extLst xmlns:a="http://schemas.openxmlformats.org/drawingml/2006/main">
              <a:ext uri="{FF2B5EF4-FFF2-40B4-BE49-F238E27FC236}">
                <a16:creationId xmlns:a16="http://schemas.microsoft.com/office/drawing/2014/main" id="{3AA4C6D5-798D-4B02-A3A8-11E64DEC305E}"/>
              </a:ext>
            </a:extLst>
          </p:cNvPr>
          <p:cNvSpPr>
            <a:spLocks xmlns:a="http://schemas.openxmlformats.org/drawingml/2006/main"/>
          </p:cNvSpPr>
          <p:nvPr/>
        </p:nvSpPr>
        <p:spPr>
          <a:xfrm xmlns:a="http://schemas.openxmlformats.org/drawingml/2006/main">
            <a:off x="812800" y="24892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CamoLeak, October 2025.</a:t>
            </a:r>
          </a:p>
        </p:txBody>
      </p:sp>
      <p:sp>
        <p:nvSpPr>
          <p:cNvPr id="25" name="13-text-22">
            <a:extLst xmlns:a="http://schemas.openxmlformats.org/drawingml/2006/main">
              <a:ext uri="{FF2B5EF4-FFF2-40B4-BE49-F238E27FC236}">
                <a16:creationId xmlns:a16="http://schemas.microsoft.com/office/drawing/2014/main" id="{0CA99EAE-A906-4E30-BB5A-A6FE03E85175}"/>
              </a:ext>
            </a:extLst>
          </p:cNvPr>
          <p:cNvSpPr>
            <a:spLocks xmlns:a="http://schemas.openxmlformats.org/drawingml/2006/main"/>
          </p:cNvSpPr>
          <p:nvPr/>
        </p:nvSpPr>
        <p:spPr>
          <a:xfrm xmlns:a="http://schemas.openxmlformats.org/drawingml/2006/main">
            <a:off x="812800" y="2870200"/>
            <a:ext cx="105664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Researcher-demonstrated vulnerability: hidden pull-request instructions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exfiltrated private repository data through image URLs. CVSS 9.6.</a:t>
            </a:r>
          </a:p>
        </p:txBody>
      </p:sp>
      <p:sp>
        <p:nvSpPr>
          <p:cNvPr id="26" name="13-shape-23">
            <a:extLst xmlns:a="http://schemas.openxmlformats.org/drawingml/2006/main">
              <a:ext uri="{FF2B5EF4-FFF2-40B4-BE49-F238E27FC236}">
                <a16:creationId xmlns:a16="http://schemas.microsoft.com/office/drawing/2014/main" id="{C8177990-E4AF-4652-8F82-1E209A2EAB51}"/>
              </a:ext>
            </a:extLst>
          </p:cNvPr>
          <p:cNvSpPr>
            <a:spLocks xmlns:a="http://schemas.openxmlformats.org/drawingml/2006/main"/>
          </p:cNvSpPr>
          <p:nvPr/>
        </p:nvSpPr>
        <p:spPr>
          <a:xfrm xmlns:a="http://schemas.openxmlformats.org/drawingml/2006/main">
            <a:off x="609600" y="4318000"/>
            <a:ext cx="10972800" cy="1371600"/>
          </a:xfrm>
          <a:prstGeom xmlns:a="http://schemas.openxmlformats.org/drawingml/2006/main" prst="roundRect">
            <a:avLst>
              <a:gd name="adj" fmla="val 7407"/>
            </a:avLst>
          </a:prstGeom>
          <a:solidFill xmlns:a="http://schemas.openxmlformats.org/drawingml/2006/main">
            <a:srgbClr val="303236"/>
          </a:solidFill>
          <a:ln xmlns:a="http://schemas.openxmlformats.org/drawingml/2006/main" w="0">
            <a:noFill/>
          </a:ln>
        </p:spPr>
      </p:sp>
      <p:sp>
        <p:nvSpPr>
          <p:cNvPr id="27" name="13-text-24">
            <a:extLst xmlns:a="http://schemas.openxmlformats.org/drawingml/2006/main">
              <a:ext uri="{FF2B5EF4-FFF2-40B4-BE49-F238E27FC236}">
                <a16:creationId xmlns:a16="http://schemas.microsoft.com/office/drawing/2014/main" id="{9F664592-8736-4423-8084-3EEE6117CB83}"/>
              </a:ext>
            </a:extLst>
          </p:cNvPr>
          <p:cNvSpPr>
            <a:spLocks xmlns:a="http://schemas.openxmlformats.org/drawingml/2006/main"/>
          </p:cNvSpPr>
          <p:nvPr/>
        </p:nvSpPr>
        <p:spPr>
          <a:xfrm xmlns:a="http://schemas.openxmlformats.org/drawingml/2006/main">
            <a:off x="812800" y="44704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ClawHub, February 2026.</a:t>
            </a:r>
          </a:p>
        </p:txBody>
      </p:sp>
      <p:sp>
        <p:nvSpPr>
          <p:cNvPr id="28" name="13-text-25">
            <a:extLst xmlns:a="http://schemas.openxmlformats.org/drawingml/2006/main">
              <a:ext uri="{FF2B5EF4-FFF2-40B4-BE49-F238E27FC236}">
                <a16:creationId xmlns:a16="http://schemas.microsoft.com/office/drawing/2014/main" id="{68CAC942-3E0B-423A-9135-D7E8F66AC5EC}"/>
              </a:ext>
            </a:extLst>
          </p:cNvPr>
          <p:cNvSpPr>
            <a:spLocks xmlns:a="http://schemas.openxmlformats.org/drawingml/2006/main"/>
          </p:cNvSpPr>
          <p:nvPr/>
        </p:nvSpPr>
        <p:spPr>
          <a:xfrm xmlns:a="http://schemas.openxmlformats.org/drawingml/2006/main">
            <a:off x="812800" y="4851400"/>
            <a:ext cx="10566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Koi audit via The Hacker News: 341 of 2,857 skills were malicious.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Secondary report.</a:t>
            </a:r>
          </a:p>
        </p:txBody>
      </p:sp>
      <p:sp>
        <p:nvSpPr>
          <p:cNvPr id="29" name="13-shape-26">
            <a:extLst xmlns:a="http://schemas.openxmlformats.org/drawingml/2006/main">
              <a:ext uri="{FF2B5EF4-FFF2-40B4-BE49-F238E27FC236}">
                <a16:creationId xmlns:a16="http://schemas.microsoft.com/office/drawing/2014/main" id="{F203B00C-AF29-4AE7-AB87-05908FFE0934}"/>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0" name="13-shape-27">
            <a:extLst xmlns:a="http://schemas.openxmlformats.org/drawingml/2006/main">
              <a:ext uri="{FF2B5EF4-FFF2-40B4-BE49-F238E27FC236}">
                <a16:creationId xmlns:a16="http://schemas.microsoft.com/office/drawing/2014/main" id="{A362DEA7-5529-43BD-91CB-6897BE123AF8}"/>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1" name="13-text-28">
            <a:extLst xmlns:a="http://schemas.openxmlformats.org/drawingml/2006/main">
              <a:ext uri="{FF2B5EF4-FFF2-40B4-BE49-F238E27FC236}">
                <a16:creationId xmlns:a16="http://schemas.microsoft.com/office/drawing/2014/main" id="{F6BBFD21-9E51-4089-BF61-BB20950EE00F}"/>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2" name="13-text-29">
            <a:extLst xmlns:a="http://schemas.openxmlformats.org/drawingml/2006/main">
              <a:ext uri="{FF2B5EF4-FFF2-40B4-BE49-F238E27FC236}">
                <a16:creationId xmlns:a16="http://schemas.microsoft.com/office/drawing/2014/main" id="{240FD475-2A4B-4743-9A49-5D1A19017465}"/>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Tree>
    <p:extLst>
      <p:ext uri="{BB962C8B-B14F-4D97-AF65-F5344CB8AC3E}">
        <p14:creationId xmlns:p14="http://schemas.microsoft.com/office/powerpoint/2010/main" val="59297766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fill="hold"/>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fill="hold"/>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fill="hold"/>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fill="hold"/>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00" fill="hold"/>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00" fill="hold"/>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00" fill="hold"/>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200" fill="hold"/>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00" fill="hold"/>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200" fill="hold"/>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200" fill="hold"/>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00" fill="hold"/>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200" fill="hold"/>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200" fill="hold"/>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200" fill="hold"/>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200" fill="hold"/>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200" fill="hold"/>
                                        <p:tgtEl>
                                          <p:spTgt spid="20"/>
                                        </p:tgtEl>
                                      </p:cBhvr>
                                    </p:animEffect>
                                  </p:childTnLst>
                                </p:cTn>
                              </p:par>
                              <p:par>
                                <p:cTn id="58" presetID="1"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4"/>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5"/>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6"/>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7"/>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8"/>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9"/>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0"/>
                                          </p:stCondLst>
                                        </p:cTn>
                                        <p:tgtEl>
                                          <p:spTgt spid="10"/>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11"/>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12"/>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13"/>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14"/>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15"/>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16"/>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17"/>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18"/>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19"/>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20"/>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21"/>
                                        </p:tgtEl>
                                        <p:attrNameLst>
                                          <p:attrName>style.visibility</p:attrName>
                                        </p:attrNameLst>
                                      </p:cBhvr>
                                      <p:to>
                                        <p:strVal val="hidden"/>
                                      </p:to>
                                    </p:set>
                                  </p:childTnLst>
                                </p:cTn>
                              </p:par>
                              <p:par>
                                <p:cTn id="100" presetID="1" presetClass="exit" presetSubtype="0" fill="hold" nodeType="withEffect">
                                  <p:stCondLst>
                                    <p:cond delay="0"/>
                                  </p:stCondLst>
                                  <p:childTnLst>
                                    <p:set>
                                      <p:cBhvr>
                                        <p:cTn id="101" dur="1" fill="hold">
                                          <p:stCondLst>
                                            <p:cond delay="0"/>
                                          </p:stCondLst>
                                        </p:cTn>
                                        <p:tgtEl>
                                          <p:spTgt spid="22"/>
                                        </p:tgtEl>
                                        <p:attrNameLst>
                                          <p:attrName>style.visibility</p:attrName>
                                        </p:attrNameLst>
                                      </p:cBhvr>
                                      <p:to>
                                        <p:strVal val="hidden"/>
                                      </p:to>
                                    </p:set>
                                  </p:childTnLst>
                                </p:cTn>
                              </p:par>
                              <p:par>
                                <p:cTn id="102" presetID="10" presetClass="entr" presetSubtype="0" fill="hold"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200" fill="hold"/>
                                        <p:tgtEl>
                                          <p:spTgt spid="23"/>
                                        </p:tgtEl>
                                      </p:cBhvr>
                                    </p:animEffect>
                                  </p:childTnLst>
                                </p:cTn>
                              </p:par>
                              <p:par>
                                <p:cTn id="105" presetID="10"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200" fill="hold"/>
                                        <p:tgtEl>
                                          <p:spTgt spid="24"/>
                                        </p:tgtEl>
                                      </p:cBhvr>
                                    </p:animEffect>
                                  </p:childTnLst>
                                </p:cTn>
                              </p:par>
                              <p:par>
                                <p:cTn id="108" presetID="10" presetClass="entr" presetSubtype="0" fill="hold" nodeType="with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200" fill="hold"/>
                                        <p:tgtEl>
                                          <p:spTgt spid="25"/>
                                        </p:tgtEl>
                                      </p:cBhvr>
                                    </p:animEffect>
                                  </p:childTnLst>
                                </p:cTn>
                              </p:par>
                              <p:par>
                                <p:cTn id="111" presetID="10" presetClass="entr" presetSubtype="0" fill="hold" nodeType="withEffect">
                                  <p:stCondLst>
                                    <p:cond delay="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200" fill="hold"/>
                                        <p:tgtEl>
                                          <p:spTgt spid="26"/>
                                        </p:tgtEl>
                                      </p:cBhvr>
                                    </p:animEffect>
                                  </p:childTnLst>
                                </p:cTn>
                              </p:par>
                              <p:par>
                                <p:cTn id="114" presetID="10" presetClass="entr" presetSubtype="0" fill="hold" nodeType="withEffect">
                                  <p:stCondLst>
                                    <p:cond delay="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200" fill="hold"/>
                                        <p:tgtEl>
                                          <p:spTgt spid="27"/>
                                        </p:tgtEl>
                                      </p:cBhvr>
                                    </p:animEffect>
                                  </p:childTnLst>
                                </p:cTn>
                              </p:par>
                              <p:par>
                                <p:cTn id="117" presetID="10" presetClass="entr" presetSubtype="0" fill="hold" nodeType="withEffect">
                                  <p:stCondLst>
                                    <p:cond delay="0"/>
                                  </p:stCondLst>
                                  <p:childTnLst>
                                    <p:set>
                                      <p:cBhvr>
                                        <p:cTn id="118" dur="1" fill="hold">
                                          <p:stCondLst>
                                            <p:cond delay="0"/>
                                          </p:stCondLst>
                                        </p:cTn>
                                        <p:tgtEl>
                                          <p:spTgt spid="28"/>
                                        </p:tgtEl>
                                        <p:attrNameLst>
                                          <p:attrName>style.visibility</p:attrName>
                                        </p:attrNameLst>
                                      </p:cBhvr>
                                      <p:to>
                                        <p:strVal val="visible"/>
                                      </p:to>
                                    </p:set>
                                    <p:animEffect transition="in" filter="fade">
                                      <p:cBhvr>
                                        <p:cTn id="119" dur="200" fill="hold"/>
                                        <p:tgtEl>
                                          <p:spTgt spid="28"/>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300" fill="hold"/>
                                        <p:tgtEl>
                                          <p:spTgt spid="29"/>
                                        </p:tgtEl>
                                      </p:cBhvr>
                                    </p:animEffect>
                                  </p:childTnLst>
                                </p:cTn>
                              </p:par>
                              <p:par>
                                <p:cTn id="125" presetID="10" presetClass="entr" presetSubtype="0" fill="hold" nodeType="withEffect">
                                  <p:stCondLst>
                                    <p:cond delay="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300" fill="hold"/>
                                        <p:tgtEl>
                                          <p:spTgt spid="30"/>
                                        </p:tgtEl>
                                      </p:cBhvr>
                                    </p:animEffect>
                                  </p:childTnLst>
                                </p:cTn>
                              </p:par>
                              <p:par>
                                <p:cTn id="128" presetID="10" presetClass="entr" presetSubtype="0" fill="hold" nodeType="withEffect">
                                  <p:stCondLst>
                                    <p:cond delay="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300" fill="hold"/>
                                        <p:tgtEl>
                                          <p:spTgt spid="31"/>
                                        </p:tgtEl>
                                      </p:cBhvr>
                                    </p:animEffect>
                                  </p:childTnLst>
                                </p:cTn>
                              </p:par>
                              <p:par>
                                <p:cTn id="131" presetID="10" presetClass="entr" presetSubtype="0" fill="hold" nodeType="with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fade">
                                      <p:cBhvr>
                                        <p:cTn id="133" dur="300" fill="hold"/>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 name="!!area-header">
            <a:extLst xmlns:a="http://schemas.openxmlformats.org/drawingml/2006/main">
              <a:ext uri="{FF2B5EF4-FFF2-40B4-BE49-F238E27FC236}">
                <a16:creationId xmlns:a16="http://schemas.microsoft.com/office/drawing/2014/main" id="{DF88058D-B391-4E23-AD54-6820A1BED57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7E76345D-2C97-4F74-B86F-E1D1BE58482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3" name="!!area-beat">
            <a:extLst xmlns:a="http://schemas.openxmlformats.org/drawingml/2006/main">
              <a:ext uri="{FF2B5EF4-FFF2-40B4-BE49-F238E27FC236}">
                <a16:creationId xmlns:a16="http://schemas.microsoft.com/office/drawing/2014/main" id="{AA6CF383-908F-495A-B627-505C7BFE8322}"/>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14-shape-1">
            <a:extLst xmlns:a="http://schemas.openxmlformats.org/drawingml/2006/main">
              <a:ext uri="{FF2B5EF4-FFF2-40B4-BE49-F238E27FC236}">
                <a16:creationId xmlns:a16="http://schemas.microsoft.com/office/drawing/2014/main" id="{594B84A7-AF17-4E85-BA7C-D4A97CB73E1E}"/>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5" name="14-text-2">
            <a:extLst xmlns:a="http://schemas.openxmlformats.org/drawingml/2006/main">
              <a:ext uri="{FF2B5EF4-FFF2-40B4-BE49-F238E27FC236}">
                <a16:creationId xmlns:a16="http://schemas.microsoft.com/office/drawing/2014/main" id="{4FB57389-6A13-4ABA-A160-4AF24CBF05AA}"/>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6" name="14-shape-3">
            <a:extLst xmlns:a="http://schemas.openxmlformats.org/drawingml/2006/main">
              <a:ext uri="{FF2B5EF4-FFF2-40B4-BE49-F238E27FC236}">
                <a16:creationId xmlns:a16="http://schemas.microsoft.com/office/drawing/2014/main" id="{43ABB587-B7BD-47EF-A057-77AC862B1604}"/>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4-text-4">
            <a:extLst xmlns:a="http://schemas.openxmlformats.org/drawingml/2006/main">
              <a:ext uri="{FF2B5EF4-FFF2-40B4-BE49-F238E27FC236}">
                <a16:creationId xmlns:a16="http://schemas.microsoft.com/office/drawing/2014/main" id="{FDAD52D0-3B58-4365-8ADB-AD27CF05BBB2}"/>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8" name="14-shape-5">
            <a:extLst xmlns:a="http://schemas.openxmlformats.org/drawingml/2006/main">
              <a:ext uri="{FF2B5EF4-FFF2-40B4-BE49-F238E27FC236}">
                <a16:creationId xmlns:a16="http://schemas.microsoft.com/office/drawing/2014/main" id="{3BC3A086-582A-409E-BCC6-8BC323FDE853}"/>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4-text-6">
            <a:extLst xmlns:a="http://schemas.openxmlformats.org/drawingml/2006/main">
              <a:ext uri="{FF2B5EF4-FFF2-40B4-BE49-F238E27FC236}">
                <a16:creationId xmlns:a16="http://schemas.microsoft.com/office/drawing/2014/main" id="{8897D9CA-899E-4984-9F4A-253F2BFE29AC}"/>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10" name="14-shape-7">
            <a:extLst xmlns:a="http://schemas.openxmlformats.org/drawingml/2006/main">
              <a:ext uri="{FF2B5EF4-FFF2-40B4-BE49-F238E27FC236}">
                <a16:creationId xmlns:a16="http://schemas.microsoft.com/office/drawing/2014/main" id="{10DA2B85-2BB2-4D8B-8445-43378B30E960}"/>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1" name="14-text-8">
            <a:extLst xmlns:a="http://schemas.openxmlformats.org/drawingml/2006/main">
              <a:ext uri="{FF2B5EF4-FFF2-40B4-BE49-F238E27FC236}">
                <a16:creationId xmlns:a16="http://schemas.microsoft.com/office/drawing/2014/main" id="{A4B5F9B8-ADBC-4180-B374-631CF9112B2B}"/>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12" name="14-shape-9">
            <a:extLst xmlns:a="http://schemas.openxmlformats.org/drawingml/2006/main">
              <a:ext uri="{FF2B5EF4-FFF2-40B4-BE49-F238E27FC236}">
                <a16:creationId xmlns:a16="http://schemas.microsoft.com/office/drawing/2014/main" id="{80F63336-C3F8-4743-87A4-8D6042B52BA8}"/>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3" name="14-text-10">
            <a:extLst xmlns:a="http://schemas.openxmlformats.org/drawingml/2006/main">
              <a:ext uri="{FF2B5EF4-FFF2-40B4-BE49-F238E27FC236}">
                <a16:creationId xmlns:a16="http://schemas.microsoft.com/office/drawing/2014/main" id="{E4E31A86-5FE3-44CA-9BE3-049082D90F7D}"/>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14" name="14-shape-11">
            <a:extLst xmlns:a="http://schemas.openxmlformats.org/drawingml/2006/main">
              <a:ext uri="{FF2B5EF4-FFF2-40B4-BE49-F238E27FC236}">
                <a16:creationId xmlns:a16="http://schemas.microsoft.com/office/drawing/2014/main" id="{473FCAF6-1808-44F5-9440-0F245A6ABDEC}"/>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5" name="14-text-12">
            <a:extLst xmlns:a="http://schemas.openxmlformats.org/drawingml/2006/main">
              <a:ext uri="{FF2B5EF4-FFF2-40B4-BE49-F238E27FC236}">
                <a16:creationId xmlns:a16="http://schemas.microsoft.com/office/drawing/2014/main" id="{312F6FA6-8EE8-4F4C-AE8E-66C995DB37FC}"/>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16" name="14-text-13">
            <a:extLst xmlns:a="http://schemas.openxmlformats.org/drawingml/2006/main">
              <a:ext uri="{FF2B5EF4-FFF2-40B4-BE49-F238E27FC236}">
                <a16:creationId xmlns:a16="http://schemas.microsoft.com/office/drawing/2014/main" id="{11E8C7BB-1C0A-4B29-B763-EBBF2BD947E3}"/>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17" name="14-text-14">
            <a:extLst xmlns:a="http://schemas.openxmlformats.org/drawingml/2006/main">
              <a:ext uri="{FF2B5EF4-FFF2-40B4-BE49-F238E27FC236}">
                <a16:creationId xmlns:a16="http://schemas.microsoft.com/office/drawing/2014/main" id="{A8B3E0CC-ACAD-480B-8014-39ED73DE373E}"/>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18" name="14-text-15">
            <a:extLst xmlns:a="http://schemas.openxmlformats.org/drawingml/2006/main">
              <a:ext uri="{FF2B5EF4-FFF2-40B4-BE49-F238E27FC236}">
                <a16:creationId xmlns:a16="http://schemas.microsoft.com/office/drawing/2014/main" id="{237F6833-989E-4A11-8E37-228C8E9E4A5A}"/>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19" name="14-line-17">
            <a:extLst xmlns:a="http://schemas.openxmlformats.org/drawingml/2006/main">
              <a:ext uri="{FF2B5EF4-FFF2-40B4-BE49-F238E27FC236}">
                <a16:creationId xmlns:a16="http://schemas.microsoft.com/office/drawing/2014/main" id="{DCDA6165-C447-4D00-B211-7C213D4676E1}"/>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0" name="14-line-19">
            <a:extLst xmlns:a="http://schemas.openxmlformats.org/drawingml/2006/main">
              <a:ext uri="{FF2B5EF4-FFF2-40B4-BE49-F238E27FC236}">
                <a16:creationId xmlns:a16="http://schemas.microsoft.com/office/drawing/2014/main" id="{ABFC4308-A3BA-4B38-8DBE-D2AD3426D46E}"/>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1" name="14-line-21">
            <a:extLst xmlns:a="http://schemas.openxmlformats.org/drawingml/2006/main">
              <a:ext uri="{FF2B5EF4-FFF2-40B4-BE49-F238E27FC236}">
                <a16:creationId xmlns:a16="http://schemas.microsoft.com/office/drawing/2014/main" id="{C0E323B6-370C-4895-895D-C7515A6E4D24}"/>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Tree>
    <p:extLst>
      <p:ext uri="{BB962C8B-B14F-4D97-AF65-F5344CB8AC3E}">
        <p14:creationId xmlns:p14="http://schemas.microsoft.com/office/powerpoint/2010/main" val="978536054"/>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area-name">
            <a:extLst xmlns:a="http://schemas.openxmlformats.org/drawingml/2006/main">
              <a:ext uri="{FF2B5EF4-FFF2-40B4-BE49-F238E27FC236}">
                <a16:creationId xmlns:a16="http://schemas.microsoft.com/office/drawing/2014/main" id="{89A32BBB-FF17-4971-9792-4286579B19C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0" name="mini-map"/>
          <p:cNvPicPr>
            <a:picLocks xmlns:a="http://schemas.openxmlformats.org/drawingml/2006/main" noChangeAspect="1"/>
          </p:cNvPicPr>
          <p:nvPr/>
        </p:nvPicPr>
        <p:blipFill>
          <a:blip xmlns:r="http://schemas.openxmlformats.org/officeDocument/2006/relationships" xmlns:a="http://schemas.openxmlformats.org/drawingml/2006/main" r:embed="R342182d0334a4d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14b-text-1">
            <a:extLst xmlns:a="http://schemas.openxmlformats.org/drawingml/2006/main">
              <a:ext uri="{FF2B5EF4-FFF2-40B4-BE49-F238E27FC236}">
                <a16:creationId xmlns:a16="http://schemas.microsoft.com/office/drawing/2014/main" id="{DEE5ADBD-64B2-47D0-8E6E-B49BB8888DC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4" name="14b-text-2">
            <a:extLst xmlns:a="http://schemas.openxmlformats.org/drawingml/2006/main">
              <a:ext uri="{FF2B5EF4-FFF2-40B4-BE49-F238E27FC236}">
                <a16:creationId xmlns:a16="http://schemas.microsoft.com/office/drawing/2014/main" id="{C0F007F1-719A-4B91-A2B2-90BCD9A82F32}"/>
              </a:ext>
            </a:extLst>
          </p:cNvPr>
          <p:cNvSpPr>
            <a:spLocks xmlns:a="http://schemas.openxmlformats.org/drawingml/2006/main"/>
          </p:cNvSpPr>
          <p:nvPr/>
        </p:nvSpPr>
        <p:spPr>
          <a:xfrm xmlns:a="http://schemas.openxmlformats.org/drawingml/2006/main">
            <a:off x="609600" y="1422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5" name="14b-text-3">
            <a:extLst xmlns:a="http://schemas.openxmlformats.org/drawingml/2006/main">
              <a:ext uri="{FF2B5EF4-FFF2-40B4-BE49-F238E27FC236}">
                <a16:creationId xmlns:a16="http://schemas.microsoft.com/office/drawing/2014/main" id="{B7C37A01-5150-425E-AC30-DA608060EE57}"/>
              </a:ext>
            </a:extLst>
          </p:cNvPr>
          <p:cNvSpPr>
            <a:spLocks xmlns:a="http://schemas.openxmlformats.org/drawingml/2006/main"/>
          </p:cNvSpPr>
          <p:nvPr/>
        </p:nvSpPr>
        <p:spPr>
          <a:xfrm xmlns:a="http://schemas.openxmlformats.org/drawingml/2006/main">
            <a:off x="609600" y="2057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6" name="14b-text-4">
            <a:extLst xmlns:a="http://schemas.openxmlformats.org/drawingml/2006/main">
              <a:ext uri="{FF2B5EF4-FFF2-40B4-BE49-F238E27FC236}">
                <a16:creationId xmlns:a16="http://schemas.microsoft.com/office/drawing/2014/main" id="{7F011081-8600-435E-B0C0-E7FC5B23C1E9}"/>
              </a:ext>
            </a:extLst>
          </p:cNvPr>
          <p:cNvSpPr>
            <a:spLocks xmlns:a="http://schemas.openxmlformats.org/drawingml/2006/main"/>
          </p:cNvSpPr>
          <p:nvPr/>
        </p:nvSpPr>
        <p:spPr>
          <a:xfrm xmlns:a="http://schemas.openxmlformats.org/drawingml/2006/main">
            <a:off x="609600" y="2692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7" name="14b-text-5">
            <a:extLst xmlns:a="http://schemas.openxmlformats.org/drawingml/2006/main">
              <a:ext uri="{FF2B5EF4-FFF2-40B4-BE49-F238E27FC236}">
                <a16:creationId xmlns:a16="http://schemas.microsoft.com/office/drawing/2014/main" id="{1E4E5983-C96B-43CE-9607-E8345DAE8AF8}"/>
              </a:ext>
            </a:extLst>
          </p:cNvPr>
          <p:cNvSpPr>
            <a:spLocks xmlns:a="http://schemas.openxmlformats.org/drawingml/2006/main"/>
          </p:cNvSpPr>
          <p:nvPr/>
        </p:nvSpPr>
        <p:spPr>
          <a:xfrm xmlns:a="http://schemas.openxmlformats.org/drawingml/2006/main">
            <a:off x="609600" y="3327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8" name="14b-text-6">
            <a:extLst xmlns:a="http://schemas.openxmlformats.org/drawingml/2006/main">
              <a:ext uri="{FF2B5EF4-FFF2-40B4-BE49-F238E27FC236}">
                <a16:creationId xmlns:a16="http://schemas.microsoft.com/office/drawing/2014/main" id="{68625951-315E-4E8A-836D-61FECC8D7458}"/>
              </a:ext>
            </a:extLst>
          </p:cNvPr>
          <p:cNvSpPr>
            <a:spLocks xmlns:a="http://schemas.openxmlformats.org/drawingml/2006/main"/>
          </p:cNvSpPr>
          <p:nvPr/>
        </p:nvSpPr>
        <p:spPr>
          <a:xfrm xmlns:a="http://schemas.openxmlformats.org/drawingml/2006/main">
            <a:off x="609600" y="3962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9" name="14b-text-7">
            <a:extLst xmlns:a="http://schemas.openxmlformats.org/drawingml/2006/main">
              <a:ext uri="{FF2B5EF4-FFF2-40B4-BE49-F238E27FC236}">
                <a16:creationId xmlns:a16="http://schemas.microsoft.com/office/drawing/2014/main" id="{35659675-CAE0-4358-BA01-DDBCBE507D14}"/>
              </a:ext>
            </a:extLst>
          </p:cNvPr>
          <p:cNvSpPr>
            <a:spLocks xmlns:a="http://schemas.openxmlformats.org/drawingml/2006/main"/>
          </p:cNvSpPr>
          <p:nvPr/>
        </p:nvSpPr>
        <p:spPr>
          <a:xfrm xmlns:a="http://schemas.openxmlformats.org/drawingml/2006/main">
            <a:off x="609600" y="4597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10" name="14b-text-8">
            <a:extLst xmlns:a="http://schemas.openxmlformats.org/drawingml/2006/main">
              <a:ext uri="{FF2B5EF4-FFF2-40B4-BE49-F238E27FC236}">
                <a16:creationId xmlns:a16="http://schemas.microsoft.com/office/drawing/2014/main" id="{64C9FA26-8EAF-4401-8109-F7EE5750E069}"/>
              </a:ext>
            </a:extLst>
          </p:cNvPr>
          <p:cNvSpPr>
            <a:spLocks xmlns:a="http://schemas.openxmlformats.org/drawingml/2006/main"/>
          </p:cNvSpPr>
          <p:nvPr/>
        </p:nvSpPr>
        <p:spPr>
          <a:xfrm xmlns:a="http://schemas.openxmlformats.org/drawingml/2006/main">
            <a:off x="609600" y="18542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11" name="14b-text-9">
            <a:extLst xmlns:a="http://schemas.openxmlformats.org/drawingml/2006/main">
              <a:ext uri="{FF2B5EF4-FFF2-40B4-BE49-F238E27FC236}">
                <a16:creationId xmlns:a16="http://schemas.microsoft.com/office/drawing/2014/main" id="{DA171549-6670-4207-841F-CB32F660F7FF}"/>
              </a:ext>
            </a:extLst>
          </p:cNvPr>
          <p:cNvSpPr>
            <a:spLocks xmlns:a="http://schemas.openxmlformats.org/drawingml/2006/main"/>
          </p:cNvSpPr>
          <p:nvPr/>
        </p:nvSpPr>
        <p:spPr>
          <a:xfrm xmlns:a="http://schemas.openxmlformats.org/drawingml/2006/main">
            <a:off x="609600" y="4114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Addy Osmani, April 2026</a:t>
            </a:r>
          </a:p>
        </p:txBody>
      </p:sp>
      <p:sp>
        <p:nvSpPr>
          <p:cNvPr id="12" name="14b-text-10">
            <a:extLst xmlns:a="http://schemas.openxmlformats.org/drawingml/2006/main">
              <a:ext uri="{FF2B5EF4-FFF2-40B4-BE49-F238E27FC236}">
                <a16:creationId xmlns:a16="http://schemas.microsoft.com/office/drawing/2014/main" id="{D618B64B-0D76-42C8-B39B-2F08F3D9DC76}"/>
              </a:ext>
            </a:extLst>
          </p:cNvPr>
          <p:cNvSpPr>
            <a:spLocks xmlns:a="http://schemas.openxmlformats.org/drawingml/2006/main"/>
          </p:cNvSpPr>
          <p:nvPr/>
        </p:nvSpPr>
        <p:spPr>
          <a:xfrm xmlns:a="http://schemas.openxmlformats.org/drawingml/2006/main">
            <a:off x="609600" y="4851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13" name="14b-text-11">
            <a:extLst xmlns:a="http://schemas.openxmlformats.org/drawingml/2006/main">
              <a:ext uri="{FF2B5EF4-FFF2-40B4-BE49-F238E27FC236}">
                <a16:creationId xmlns:a16="http://schemas.microsoft.com/office/drawing/2014/main" id="{E9877058-2DB9-49A5-BA16-56F8D573DD8D}"/>
              </a:ext>
            </a:extLst>
          </p:cNvPr>
          <p:cNvSpPr>
            <a:spLocks xmlns:a="http://schemas.openxmlformats.org/drawingml/2006/main"/>
          </p:cNvSpPr>
          <p:nvPr/>
        </p:nvSpPr>
        <p:spPr>
          <a:xfrm xmlns:a="http://schemas.openxmlformats.org/drawingml/2006/main">
            <a:off x="609600" y="1803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14" name="14b-text-12">
            <a:extLst xmlns:a="http://schemas.openxmlformats.org/drawingml/2006/main">
              <a:ext uri="{FF2B5EF4-FFF2-40B4-BE49-F238E27FC236}">
                <a16:creationId xmlns:a16="http://schemas.microsoft.com/office/drawing/2014/main" id="{8FE89162-8605-4A9E-8026-C10614161A4B}"/>
              </a:ext>
            </a:extLst>
          </p:cNvPr>
          <p:cNvSpPr>
            <a:spLocks xmlns:a="http://schemas.openxmlformats.org/drawingml/2006/main"/>
          </p:cNvSpPr>
          <p:nvPr/>
        </p:nvSpPr>
        <p:spPr>
          <a:xfrm xmlns:a="http://schemas.openxmlformats.org/drawingml/2006/main">
            <a:off x="609600" y="4064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15" name="14b-text-13">
            <a:extLst xmlns:a="http://schemas.openxmlformats.org/drawingml/2006/main">
              <a:ext uri="{FF2B5EF4-FFF2-40B4-BE49-F238E27FC236}">
                <a16:creationId xmlns:a16="http://schemas.microsoft.com/office/drawing/2014/main" id="{38DF4A9A-1260-4619-8993-9FD606DE9496}"/>
              </a:ext>
            </a:extLst>
          </p:cNvPr>
          <p:cNvSpPr>
            <a:spLocks xmlns:a="http://schemas.openxmlformats.org/drawingml/2006/main"/>
          </p:cNvSpPr>
          <p:nvPr/>
        </p:nvSpPr>
        <p:spPr>
          <a:xfrm xmlns:a="http://schemas.openxmlformats.org/drawingml/2006/main">
            <a:off x="609600" y="1879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16" name="14b-text-14">
            <a:extLst xmlns:a="http://schemas.openxmlformats.org/drawingml/2006/main">
              <a:ext uri="{FF2B5EF4-FFF2-40B4-BE49-F238E27FC236}">
                <a16:creationId xmlns:a16="http://schemas.microsoft.com/office/drawing/2014/main" id="{B523EE4E-1D27-40AA-83EC-420FEFE99CF4}"/>
              </a:ext>
            </a:extLst>
          </p:cNvPr>
          <p:cNvSpPr>
            <a:spLocks xmlns:a="http://schemas.openxmlformats.org/drawingml/2006/main"/>
          </p:cNvSpPr>
          <p:nvPr/>
        </p:nvSpPr>
        <p:spPr>
          <a:xfrm xmlns:a="http://schemas.openxmlformats.org/drawingml/2006/main">
            <a:off x="609600" y="3429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17" name="14b-text-15">
            <a:extLst xmlns:a="http://schemas.openxmlformats.org/drawingml/2006/main">
              <a:ext uri="{FF2B5EF4-FFF2-40B4-BE49-F238E27FC236}">
                <a16:creationId xmlns:a16="http://schemas.microsoft.com/office/drawing/2014/main" id="{B44B8914-BEDF-4FA2-A277-24EB8AF52CB3}"/>
              </a:ext>
            </a:extLst>
          </p:cNvPr>
          <p:cNvSpPr>
            <a:spLocks xmlns:a="http://schemas.openxmlformats.org/drawingml/2006/main"/>
          </p:cNvSpPr>
          <p:nvPr/>
        </p:nvSpPr>
        <p:spPr>
          <a:xfrm xmlns:a="http://schemas.openxmlformats.org/drawingml/2006/main">
            <a:off x="609600" y="4724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18" name="14b-text-16">
            <a:extLst xmlns:a="http://schemas.openxmlformats.org/drawingml/2006/main">
              <a:ext uri="{FF2B5EF4-FFF2-40B4-BE49-F238E27FC236}">
                <a16:creationId xmlns:a16="http://schemas.microsoft.com/office/drawing/2014/main" id="{7D34A46F-B2E7-4247-9DDF-720E4753945C}"/>
              </a:ext>
            </a:extLst>
          </p:cNvPr>
          <p:cNvSpPr>
            <a:spLocks xmlns:a="http://schemas.openxmlformats.org/drawingml/2006/main"/>
          </p:cNvSpPr>
          <p:nvPr/>
        </p:nvSpPr>
        <p:spPr>
          <a:xfrm xmlns:a="http://schemas.openxmlformats.org/drawingml/2006/main">
            <a:off x="609600" y="5334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Anthropic, June 13, 2025</a:t>
            </a:r>
          </a:p>
        </p:txBody>
      </p:sp>
    </p:spTree>
    <p:extLst>
      <p:ext uri="{BB962C8B-B14F-4D97-AF65-F5344CB8AC3E}">
        <p14:creationId xmlns:p14="http://schemas.microsoft.com/office/powerpoint/2010/main" val="179974678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2"/>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3"/>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 name="!!area-name">
            <a:extLst xmlns:a="http://schemas.openxmlformats.org/drawingml/2006/main">
              <a:ext uri="{FF2B5EF4-FFF2-40B4-BE49-F238E27FC236}">
                <a16:creationId xmlns:a16="http://schemas.microsoft.com/office/drawing/2014/main" id="{D006C9DC-1BF9-4224-A50C-1443DEDAAF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5" name="mini-map"/>
          <p:cNvPicPr>
            <a:picLocks xmlns:a="http://schemas.openxmlformats.org/drawingml/2006/main" noChangeAspect="1"/>
          </p:cNvPicPr>
          <p:nvPr/>
        </p:nvPicPr>
        <p:blipFill>
          <a:blip xmlns:r="http://schemas.openxmlformats.org/officeDocument/2006/relationships" xmlns:a="http://schemas.openxmlformats.org/drawingml/2006/main" r:embed="R6e79a39838dd49f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65433A12-54DD-4FB1-8FEB-9CE23957E7F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graphicFrame>
        <p:nvGraphicFramePr>
          <p:cNvPr id="27" name="15-table-1"/>
          <p:cNvGraphicFramePr/>
          <p:nvPr/>
        </p:nvGraphicFramePr>
        <p:xfrm>
          <a:off xmlns:a="http://schemas.openxmlformats.org/drawingml/2006/main" x="609600" y="1828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5334000"/>
                <a:gridCol w="304800"/>
                <a:gridCol w="5334000"/>
              </a:tblGrid>
              <a:tr h="508000">
                <a:tc>
                  <a:txBody>
                    <a:bodyPr>
                      <a:noAutofit/>
                    </a:bodyPr>
                    <a:lstStyle/>
                    <a:p>
                      <a:pPr>
                        <a:lnSpc>
                          <a:spcPct val="125000"/>
                        </a:lnSpc>
                        <a:buNone/>
                      </a:pPr>
                      <a:r>
                        <a:rPr sz="2400" b="1">
                          <a:solidFill>
                            <a:srgbClr val="F948BE"/>
                          </a:solidFill>
                          <a:latin typeface="Helvetica"/>
                          <a:ea typeface="Helvetica"/>
                          <a:cs typeface="Helvetica"/>
                        </a:rPr>
                        <a:t>Workflows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Agents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LLMs and tools on predefined code paths.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LLMs that direct their own process.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 name="15-shape-2">
            <a:extLst xmlns:a="http://schemas.openxmlformats.org/drawingml/2006/main">
              <a:ext uri="{FF2B5EF4-FFF2-40B4-BE49-F238E27FC236}">
                <a16:creationId xmlns:a16="http://schemas.microsoft.com/office/drawing/2014/main" id="{F8B15096-66FB-4391-89ED-299EBEE74026}"/>
              </a:ext>
            </a:extLst>
          </p:cNvPr>
          <p:cNvSpPr>
            <a:spLocks xmlns:a="http://schemas.openxmlformats.org/drawingml/2006/main"/>
          </p:cNvSpPr>
          <p:nvPr/>
        </p:nvSpPr>
        <p:spPr>
          <a:xfrm xmlns:a="http://schemas.openxmlformats.org/drawingml/2006/main">
            <a:off x="609600" y="35306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6" name="15-text-3">
            <a:extLst xmlns:a="http://schemas.openxmlformats.org/drawingml/2006/main">
              <a:ext uri="{FF2B5EF4-FFF2-40B4-BE49-F238E27FC236}">
                <a16:creationId xmlns:a16="http://schemas.microsoft.com/office/drawing/2014/main" id="{E3591B4E-CF8D-4AE9-BC36-1317CF4AEA6F}"/>
              </a:ext>
            </a:extLst>
          </p:cNvPr>
          <p:cNvSpPr>
            <a:spLocks xmlns:a="http://schemas.openxmlformats.org/drawingml/2006/main"/>
          </p:cNvSpPr>
          <p:nvPr/>
        </p:nvSpPr>
        <p:spPr>
          <a:xfrm xmlns:a="http://schemas.openxmlformats.org/drawingml/2006/main">
            <a:off x="762000" y="35687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Chaining</a:t>
            </a:r>
          </a:p>
        </p:txBody>
      </p:sp>
      <p:sp>
        <p:nvSpPr>
          <p:cNvPr id="7" name="15-shape-4">
            <a:extLst xmlns:a="http://schemas.openxmlformats.org/drawingml/2006/main">
              <a:ext uri="{FF2B5EF4-FFF2-40B4-BE49-F238E27FC236}">
                <a16:creationId xmlns:a16="http://schemas.microsoft.com/office/drawing/2014/main" id="{5DEFB753-F50A-47C4-B35B-0B0B17AC6EFB}"/>
              </a:ext>
            </a:extLst>
          </p:cNvPr>
          <p:cNvSpPr>
            <a:spLocks xmlns:a="http://schemas.openxmlformats.org/drawingml/2006/main"/>
          </p:cNvSpPr>
          <p:nvPr/>
        </p:nvSpPr>
        <p:spPr>
          <a:xfrm xmlns:a="http://schemas.openxmlformats.org/drawingml/2006/main">
            <a:off x="2019300" y="3530600"/>
            <a:ext cx="1181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5-text-5">
            <a:extLst xmlns:a="http://schemas.openxmlformats.org/drawingml/2006/main">
              <a:ext uri="{FF2B5EF4-FFF2-40B4-BE49-F238E27FC236}">
                <a16:creationId xmlns:a16="http://schemas.microsoft.com/office/drawing/2014/main" id="{200005A5-14F4-4B49-A9F3-9ECA37FAC2BE}"/>
              </a:ext>
            </a:extLst>
          </p:cNvPr>
          <p:cNvSpPr>
            <a:spLocks xmlns:a="http://schemas.openxmlformats.org/drawingml/2006/main"/>
          </p:cNvSpPr>
          <p:nvPr/>
        </p:nvSpPr>
        <p:spPr>
          <a:xfrm xmlns:a="http://schemas.openxmlformats.org/drawingml/2006/main">
            <a:off x="2171700" y="3568700"/>
            <a:ext cx="87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a:t>
            </a:r>
          </a:p>
        </p:txBody>
      </p:sp>
      <p:sp>
        <p:nvSpPr>
          <p:cNvPr id="9" name="15-shape-6">
            <a:extLst xmlns:a="http://schemas.openxmlformats.org/drawingml/2006/main">
              <a:ext uri="{FF2B5EF4-FFF2-40B4-BE49-F238E27FC236}">
                <a16:creationId xmlns:a16="http://schemas.microsoft.com/office/drawing/2014/main" id="{02C018CD-8675-49E0-80BD-6D7B02C74095}"/>
              </a:ext>
            </a:extLst>
          </p:cNvPr>
          <p:cNvSpPr>
            <a:spLocks xmlns:a="http://schemas.openxmlformats.org/drawingml/2006/main"/>
          </p:cNvSpPr>
          <p:nvPr/>
        </p:nvSpPr>
        <p:spPr>
          <a:xfrm xmlns:a="http://schemas.openxmlformats.org/drawingml/2006/main">
            <a:off x="3302000" y="3530600"/>
            <a:ext cx="1892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5-text-7">
            <a:extLst xmlns:a="http://schemas.openxmlformats.org/drawingml/2006/main">
              <a:ext uri="{FF2B5EF4-FFF2-40B4-BE49-F238E27FC236}">
                <a16:creationId xmlns:a16="http://schemas.microsoft.com/office/drawing/2014/main" id="{A16EC4E9-534E-48A9-964B-C530EC28009B}"/>
              </a:ext>
            </a:extLst>
          </p:cNvPr>
          <p:cNvSpPr>
            <a:spLocks xmlns:a="http://schemas.openxmlformats.org/drawingml/2006/main"/>
          </p:cNvSpPr>
          <p:nvPr/>
        </p:nvSpPr>
        <p:spPr>
          <a:xfrm xmlns:a="http://schemas.openxmlformats.org/drawingml/2006/main">
            <a:off x="3454400" y="35687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Parallelization</a:t>
            </a:r>
          </a:p>
        </p:txBody>
      </p:sp>
      <p:sp>
        <p:nvSpPr>
          <p:cNvPr id="11" name="15-shape-8">
            <a:extLst xmlns:a="http://schemas.openxmlformats.org/drawingml/2006/main">
              <a:ext uri="{FF2B5EF4-FFF2-40B4-BE49-F238E27FC236}">
                <a16:creationId xmlns:a16="http://schemas.microsoft.com/office/drawing/2014/main" id="{72EC5DA5-4133-488E-8430-F6C39769F4EF}"/>
              </a:ext>
            </a:extLst>
          </p:cNvPr>
          <p:cNvSpPr>
            <a:spLocks xmlns:a="http://schemas.openxmlformats.org/drawingml/2006/main"/>
          </p:cNvSpPr>
          <p:nvPr/>
        </p:nvSpPr>
        <p:spPr>
          <a:xfrm xmlns:a="http://schemas.openxmlformats.org/drawingml/2006/main">
            <a:off x="5295900" y="3530600"/>
            <a:ext cx="3175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15-text-9">
            <a:extLst xmlns:a="http://schemas.openxmlformats.org/drawingml/2006/main">
              <a:ext uri="{FF2B5EF4-FFF2-40B4-BE49-F238E27FC236}">
                <a16:creationId xmlns:a16="http://schemas.microsoft.com/office/drawing/2014/main" id="{0B30518F-328D-405D-9A82-29FA4365625F}"/>
              </a:ext>
            </a:extLst>
          </p:cNvPr>
          <p:cNvSpPr>
            <a:spLocks xmlns:a="http://schemas.openxmlformats.org/drawingml/2006/main"/>
          </p:cNvSpPr>
          <p:nvPr/>
        </p:nvSpPr>
        <p:spPr>
          <a:xfrm xmlns:a="http://schemas.openxmlformats.org/drawingml/2006/main">
            <a:off x="5448300" y="3568700"/>
            <a:ext cx="287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Orchestrator and workers</a:t>
            </a:r>
          </a:p>
        </p:txBody>
      </p:sp>
      <p:sp>
        <p:nvSpPr>
          <p:cNvPr id="13" name="15-shape-10">
            <a:extLst xmlns:a="http://schemas.openxmlformats.org/drawingml/2006/main">
              <a:ext uri="{FF2B5EF4-FFF2-40B4-BE49-F238E27FC236}">
                <a16:creationId xmlns:a16="http://schemas.microsoft.com/office/drawing/2014/main" id="{59FFDD98-E75C-4E0E-9813-3A0C12E8C9E9}"/>
              </a:ext>
            </a:extLst>
          </p:cNvPr>
          <p:cNvSpPr>
            <a:spLocks xmlns:a="http://schemas.openxmlformats.org/drawingml/2006/main"/>
          </p:cNvSpPr>
          <p:nvPr/>
        </p:nvSpPr>
        <p:spPr>
          <a:xfrm xmlns:a="http://schemas.openxmlformats.org/drawingml/2006/main">
            <a:off x="8572500" y="3530600"/>
            <a:ext cx="2984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4" name="15-text-11">
            <a:extLst xmlns:a="http://schemas.openxmlformats.org/drawingml/2006/main">
              <a:ext uri="{FF2B5EF4-FFF2-40B4-BE49-F238E27FC236}">
                <a16:creationId xmlns:a16="http://schemas.microsoft.com/office/drawing/2014/main" id="{F72E3B66-DE61-435C-BB4E-37EB49DC4465}"/>
              </a:ext>
            </a:extLst>
          </p:cNvPr>
          <p:cNvSpPr>
            <a:spLocks xmlns:a="http://schemas.openxmlformats.org/drawingml/2006/main"/>
          </p:cNvSpPr>
          <p:nvPr/>
        </p:nvSpPr>
        <p:spPr>
          <a:xfrm xmlns:a="http://schemas.openxmlformats.org/drawingml/2006/main">
            <a:off x="8724900" y="3568700"/>
            <a:ext cx="267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Evaluator and optimizer</a:t>
            </a:r>
          </a:p>
        </p:txBody>
      </p:sp>
      <p:sp>
        <p:nvSpPr>
          <p:cNvPr id="15" name="15-text-12">
            <a:extLst xmlns:a="http://schemas.openxmlformats.org/drawingml/2006/main">
              <a:ext uri="{FF2B5EF4-FFF2-40B4-BE49-F238E27FC236}">
                <a16:creationId xmlns:a16="http://schemas.microsoft.com/office/drawing/2014/main" id="{FA5F2446-395D-4907-8EDB-55F622245968}"/>
              </a:ext>
            </a:extLst>
          </p:cNvPr>
          <p:cNvSpPr>
            <a:spLocks xmlns:a="http://schemas.openxmlformats.org/drawingml/2006/main"/>
          </p:cNvSpPr>
          <p:nvPr/>
        </p:nvSpPr>
        <p:spPr>
          <a:xfrm xmlns:a="http://schemas.openxmlformats.org/drawingml/2006/main">
            <a:off x="609600" y="1841500"/>
            <a:ext cx="109728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loop · Stopping conditions · State and resume · Retries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Escalation as a tool call · Planner-to-worker routing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compaction trigger · Budgets: tokens, actions, latency</a:t>
            </a:r>
          </a:p>
        </p:txBody>
      </p:sp>
      <p:sp>
        <p:nvSpPr>
          <p:cNvPr id="16" name="15-text-13">
            <a:extLst xmlns:a="http://schemas.openxmlformats.org/drawingml/2006/main">
              <a:ext uri="{FF2B5EF4-FFF2-40B4-BE49-F238E27FC236}">
                <a16:creationId xmlns:a16="http://schemas.microsoft.com/office/drawing/2014/main" id="{DA79CAFC-6D91-473B-9887-BF0F8B5774CC}"/>
              </a:ext>
            </a:extLst>
          </p:cNvPr>
          <p:cNvSpPr>
            <a:spLocks xmlns:a="http://schemas.openxmlformats.org/drawingml/2006/main"/>
          </p:cNvSpPr>
          <p:nvPr/>
        </p:nvSpPr>
        <p:spPr>
          <a:xfrm xmlns:a="http://schemas.openxmlformats.org/drawingml/2006/main">
            <a:off x="609600" y="33274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prompts. Own your context window.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control flow. Contact humans with tool calls.</a:t>
            </a:r>
          </a:p>
        </p:txBody>
      </p:sp>
      <p:sp>
        <p:nvSpPr>
          <p:cNvPr id="17" name="15-text-14">
            <a:extLst xmlns:a="http://schemas.openxmlformats.org/drawingml/2006/main">
              <a:ext uri="{FF2B5EF4-FFF2-40B4-BE49-F238E27FC236}">
                <a16:creationId xmlns:a16="http://schemas.microsoft.com/office/drawing/2014/main" id="{7731A5B3-D9C1-4C77-8119-8C6D76C0AB3E}"/>
              </a:ext>
            </a:extLst>
          </p:cNvPr>
          <p:cNvSpPr>
            <a:spLocks xmlns:a="http://schemas.openxmlformats.org/drawingml/2006/main"/>
          </p:cNvSpPr>
          <p:nvPr/>
        </p:nvSpPr>
        <p:spPr>
          <a:xfrm xmlns:a="http://schemas.openxmlformats.org/drawingml/2006/main">
            <a:off x="609600" y="4191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12-Factor Agents, Dex Horthy</a:t>
            </a:r>
          </a:p>
        </p:txBody>
      </p:sp>
      <p:sp>
        <p:nvSpPr>
          <p:cNvPr id="18" name="15-text-15">
            <a:extLst xmlns:a="http://schemas.openxmlformats.org/drawingml/2006/main">
              <a:ext uri="{FF2B5EF4-FFF2-40B4-BE49-F238E27FC236}">
                <a16:creationId xmlns:a16="http://schemas.microsoft.com/office/drawing/2014/main" id="{75468F18-5F10-462D-B235-F595DF52DAD5}"/>
              </a:ext>
            </a:extLst>
          </p:cNvPr>
          <p:cNvSpPr>
            <a:spLocks xmlns:a="http://schemas.openxmlformats.org/drawingml/2006/main"/>
          </p:cNvSpPr>
          <p:nvPr/>
        </p:nvSpPr>
        <p:spPr>
          <a:xfrm xmlns:a="http://schemas.openxmlformats.org/drawingml/2006/main">
            <a:off x="609600" y="45974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human is waiting. Latency is a product requirement.</a:t>
            </a: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An unbounded loop is an outage.</a:t>
            </a:r>
          </a:p>
        </p:txBody>
      </p:sp>
      <p:sp>
        <p:nvSpPr>
          <p:cNvPr id="19" name="15-shape-16">
            <a:extLst xmlns:a="http://schemas.openxmlformats.org/drawingml/2006/main">
              <a:ext uri="{FF2B5EF4-FFF2-40B4-BE49-F238E27FC236}">
                <a16:creationId xmlns:a16="http://schemas.microsoft.com/office/drawing/2014/main" id="{BD52815B-D41A-4AB7-B141-4F83CC4DC909}"/>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0" name="15-shape-17">
            <a:extLst xmlns:a="http://schemas.openxmlformats.org/drawingml/2006/main">
              <a:ext uri="{FF2B5EF4-FFF2-40B4-BE49-F238E27FC236}">
                <a16:creationId xmlns:a16="http://schemas.microsoft.com/office/drawing/2014/main" id="{27ECFBEC-83BB-4932-B93A-9020647C8926}"/>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1" name="15-text-18">
            <a:extLst xmlns:a="http://schemas.openxmlformats.org/drawingml/2006/main">
              <a:ext uri="{FF2B5EF4-FFF2-40B4-BE49-F238E27FC236}">
                <a16:creationId xmlns:a16="http://schemas.microsoft.com/office/drawing/2014/main" id="{466D159F-1EA7-4303-93DF-62602BD94015}"/>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2" name="15-text-19">
            <a:extLst xmlns:a="http://schemas.openxmlformats.org/drawingml/2006/main">
              <a:ext uri="{FF2B5EF4-FFF2-40B4-BE49-F238E27FC236}">
                <a16:creationId xmlns:a16="http://schemas.microsoft.com/office/drawing/2014/main" id="{B7977645-81F0-451F-AA6B-42C011489B4F}"/>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23" name="15-text-20">
            <a:extLst xmlns:a="http://schemas.openxmlformats.org/drawingml/2006/main">
              <a:ext uri="{FF2B5EF4-FFF2-40B4-BE49-F238E27FC236}">
                <a16:creationId xmlns:a16="http://schemas.microsoft.com/office/drawing/2014/main" id="{E95C09D7-5337-4062-90DE-9D6E90164E78}"/>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Gartner forecast, June 2025: over 40% canceled by end of 2027.</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Cited risks: cost, unclear value, inadequate controls.</a:t>
            </a:r>
          </a:p>
        </p:txBody>
      </p:sp>
    </p:spTree>
    <p:extLst>
      <p:ext uri="{BB962C8B-B14F-4D97-AF65-F5344CB8AC3E}">
        <p14:creationId xmlns:p14="http://schemas.microsoft.com/office/powerpoint/2010/main" val="153547086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200" fill="hold"/>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fill="hold"/>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fill="hold"/>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fill="hold"/>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fill="hold"/>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fill="hold"/>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fill="hold"/>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fill="hold"/>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fill="hold"/>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fill="hold"/>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27"/>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5"/>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8"/>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9"/>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0"/>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1"/>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2"/>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3"/>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4"/>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300" fill="hold"/>
                                        <p:tgtEl>
                                          <p:spTgt spid="19"/>
                                        </p:tgtEl>
                                      </p:cBhvr>
                                    </p:animEffect>
                                  </p:childTnLst>
                                </p:cTn>
                              </p:par>
                              <p:par>
                                <p:cTn id="76" presetID="10" presetClass="entr" presetSubtype="0"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300" fill="hold"/>
                                        <p:tgtEl>
                                          <p:spTgt spid="20"/>
                                        </p:tgtEl>
                                      </p:cBhvr>
                                    </p:animEffect>
                                  </p:childTnLst>
                                </p:cTn>
                              </p:par>
                              <p:par>
                                <p:cTn id="79" presetID="10" presetClass="entr" presetSubtype="0" fill="hold"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300" fill="hold"/>
                                        <p:tgtEl>
                                          <p:spTgt spid="21"/>
                                        </p:tgtEl>
                                      </p:cBhvr>
                                    </p:animEffect>
                                  </p:childTnLst>
                                </p:cTn>
                              </p:par>
                              <p:par>
                                <p:cTn id="82" presetID="10" presetClass="entr" presetSubtype="0" fill="hold" nodeType="with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300" fill="hold"/>
                                        <p:tgtEl>
                                          <p:spTgt spid="22"/>
                                        </p:tgtEl>
                                      </p:cBhvr>
                                    </p:animEffect>
                                  </p:childTnLst>
                                </p:cTn>
                              </p:par>
                              <p:par>
                                <p:cTn id="85" presetID="1" presetClass="entr" presetSubtype="0" fill="hold" nodeType="with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89AD02DC-78BD-477C-9684-2E72194B7887}"/>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36417953-989A-4E1E-A1A6-1F1E979E7BFB}"/>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 name="!!area-beat">
            <a:extLst xmlns:a="http://schemas.openxmlformats.org/drawingml/2006/main">
              <a:ext uri="{FF2B5EF4-FFF2-40B4-BE49-F238E27FC236}">
                <a16:creationId xmlns:a16="http://schemas.microsoft.com/office/drawing/2014/main" id="{E44398E5-C096-4720-8F3A-3063C4B7C1D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16-text-1">
            <a:extLst xmlns:a="http://schemas.openxmlformats.org/drawingml/2006/main">
              <a:ext uri="{FF2B5EF4-FFF2-40B4-BE49-F238E27FC236}">
                <a16:creationId xmlns:a16="http://schemas.microsoft.com/office/drawing/2014/main" id="{F2AEA50D-12CF-47DA-AFFE-692F7654EC0B}"/>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5" name="16-text-2">
            <a:extLst xmlns:a="http://schemas.openxmlformats.org/drawingml/2006/main">
              <a:ext uri="{FF2B5EF4-FFF2-40B4-BE49-F238E27FC236}">
                <a16:creationId xmlns:a16="http://schemas.microsoft.com/office/drawing/2014/main" id="{9E5967E1-FDB4-442D-8292-9A593F983A97}"/>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6" name="16-text-3">
            <a:extLst xmlns:a="http://schemas.openxmlformats.org/drawingml/2006/main">
              <a:ext uri="{FF2B5EF4-FFF2-40B4-BE49-F238E27FC236}">
                <a16:creationId xmlns:a16="http://schemas.microsoft.com/office/drawing/2014/main" id="{67D4FA34-205D-4055-B288-108F33C5055B}"/>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7" name="16-text-4">
            <a:extLst xmlns:a="http://schemas.openxmlformats.org/drawingml/2006/main">
              <a:ext uri="{FF2B5EF4-FFF2-40B4-BE49-F238E27FC236}">
                <a16:creationId xmlns:a16="http://schemas.microsoft.com/office/drawing/2014/main" id="{89671A7D-805A-4782-98DB-0373135EB981}"/>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8" name="16-line-6">
            <a:extLst xmlns:a="http://schemas.openxmlformats.org/drawingml/2006/main">
              <a:ext uri="{FF2B5EF4-FFF2-40B4-BE49-F238E27FC236}">
                <a16:creationId xmlns:a16="http://schemas.microsoft.com/office/drawing/2014/main" id="{AB5E6F65-670C-48E0-929B-EED62A78A4D5}"/>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 name="16-line-8">
            <a:extLst xmlns:a="http://schemas.openxmlformats.org/drawingml/2006/main">
              <a:ext uri="{FF2B5EF4-FFF2-40B4-BE49-F238E27FC236}">
                <a16:creationId xmlns:a16="http://schemas.microsoft.com/office/drawing/2014/main" id="{3A2F1611-940A-485B-9397-C265BE70AFF0}"/>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0" name="16-line-10">
            <a:extLst xmlns:a="http://schemas.openxmlformats.org/drawingml/2006/main">
              <a:ext uri="{FF2B5EF4-FFF2-40B4-BE49-F238E27FC236}">
                <a16:creationId xmlns:a16="http://schemas.microsoft.com/office/drawing/2014/main" id="{E33DF167-10D5-4667-838C-212F1F55E7E2}"/>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 name="16-text-11">
            <a:extLst xmlns:a="http://schemas.openxmlformats.org/drawingml/2006/main">
              <a:ext uri="{FF2B5EF4-FFF2-40B4-BE49-F238E27FC236}">
                <a16:creationId xmlns:a16="http://schemas.microsoft.com/office/drawing/2014/main" id="{97B6DEC2-0FDD-4955-9DB9-5122D69A6C80}"/>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12" name="16-text-12">
            <a:extLst xmlns:a="http://schemas.openxmlformats.org/drawingml/2006/main">
              <a:ext uri="{FF2B5EF4-FFF2-40B4-BE49-F238E27FC236}">
                <a16:creationId xmlns:a16="http://schemas.microsoft.com/office/drawing/2014/main" id="{303F868D-1BDF-443F-A779-4145F29C949C}"/>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Martin Fowler, August 2025</a:t>
            </a:r>
          </a:p>
        </p:txBody>
      </p:sp>
    </p:spTree>
    <p:extLst>
      <p:ext uri="{BB962C8B-B14F-4D97-AF65-F5344CB8AC3E}">
        <p14:creationId xmlns:p14="http://schemas.microsoft.com/office/powerpoint/2010/main" val="94027624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 name="!!area-name">
            <a:extLst xmlns:a="http://schemas.openxmlformats.org/drawingml/2006/main">
              <a:ext uri="{FF2B5EF4-FFF2-40B4-BE49-F238E27FC236}">
                <a16:creationId xmlns:a16="http://schemas.microsoft.com/office/drawing/2014/main" id="{0B0CE30F-548A-469C-B2B1-59C82E582D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22" name="mini-map"/>
          <p:cNvPicPr>
            <a:picLocks xmlns:a="http://schemas.openxmlformats.org/drawingml/2006/main" noChangeAspect="1"/>
          </p:cNvPicPr>
          <p:nvPr/>
        </p:nvPicPr>
        <p:blipFill>
          <a:blip xmlns:r="http://schemas.openxmlformats.org/officeDocument/2006/relationships" xmlns:a="http://schemas.openxmlformats.org/drawingml/2006/main" r:embed="R507159620ab64f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16b-text-1">
            <a:extLst xmlns:a="http://schemas.openxmlformats.org/drawingml/2006/main">
              <a:ext uri="{FF2B5EF4-FFF2-40B4-BE49-F238E27FC236}">
                <a16:creationId xmlns:a16="http://schemas.microsoft.com/office/drawing/2014/main" id="{99112DCD-DE6C-43E2-B73A-2031216D72D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 name="16b-text-2">
            <a:extLst xmlns:a="http://schemas.openxmlformats.org/drawingml/2006/main">
              <a:ext uri="{FF2B5EF4-FFF2-40B4-BE49-F238E27FC236}">
                <a16:creationId xmlns:a16="http://schemas.microsoft.com/office/drawing/2014/main" id="{E8298439-D1E9-4F4C-8E52-63C398C50245}"/>
              </a:ext>
            </a:extLst>
          </p:cNvPr>
          <p:cNvSpPr>
            <a:spLocks xmlns:a="http://schemas.openxmlformats.org/drawingml/2006/main"/>
          </p:cNvSpPr>
          <p:nvPr/>
        </p:nvSpPr>
        <p:spPr>
          <a:xfrm xmlns:a="http://schemas.openxmlformats.org/drawingml/2006/main">
            <a:off x="609600" y="130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25" name="16b-table-3"/>
          <p:cNvGraphicFramePr/>
          <p:nvPr/>
        </p:nvGraphicFramePr>
        <p:xfrm>
          <a:off xmlns:a="http://schemas.openxmlformats.org/drawingml/2006/main" x="609600" y="1803400"/>
          <a:ext xmlns:a="http://schemas.openxmlformats.org/drawingml/2006/main" cx="10972800" cy="29464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731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16b-text-4">
            <a:extLst xmlns:a="http://schemas.openxmlformats.org/drawingml/2006/main">
              <a:ext uri="{FF2B5EF4-FFF2-40B4-BE49-F238E27FC236}">
                <a16:creationId xmlns:a16="http://schemas.microsoft.com/office/drawing/2014/main" id="{6CF1BD32-0FAA-48FF-A53A-EC981E2D147A}"/>
              </a:ext>
            </a:extLst>
          </p:cNvPr>
          <p:cNvSpPr>
            <a:spLocks xmlns:a="http://schemas.openxmlformats.org/drawingml/2006/main"/>
          </p:cNvSpPr>
          <p:nvPr/>
        </p:nvSpPr>
        <p:spPr>
          <a:xfrm xmlns:a="http://schemas.openxmlformats.org/drawingml/2006/main">
            <a:off x="609600" y="5207000"/>
            <a:ext cx="10972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7" name="16b-text-5">
            <a:extLst xmlns:a="http://schemas.openxmlformats.org/drawingml/2006/main">
              <a:ext uri="{FF2B5EF4-FFF2-40B4-BE49-F238E27FC236}">
                <a16:creationId xmlns:a16="http://schemas.microsoft.com/office/drawing/2014/main" id="{9AB1090B-5F83-4D53-BC19-E3F425CE03DF}"/>
              </a:ext>
            </a:extLst>
          </p:cNvPr>
          <p:cNvSpPr>
            <a:spLocks xmlns:a="http://schemas.openxmlformats.org/drawingml/2006/main"/>
          </p:cNvSpPr>
          <p:nvPr/>
        </p:nvSpPr>
        <p:spPr>
          <a:xfrm xmlns:a="http://schemas.openxmlformats.org/drawingml/2006/main">
            <a:off x="609600" y="18542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8" name="16b-text-6">
            <a:extLst xmlns:a="http://schemas.openxmlformats.org/drawingml/2006/main">
              <a:ext uri="{FF2B5EF4-FFF2-40B4-BE49-F238E27FC236}">
                <a16:creationId xmlns:a16="http://schemas.microsoft.com/office/drawing/2014/main" id="{48C80174-92A6-4B47-8910-C005E5A1FC88}"/>
              </a:ext>
            </a:extLst>
          </p:cNvPr>
          <p:cNvSpPr>
            <a:spLocks xmlns:a="http://schemas.openxmlformats.org/drawingml/2006/main"/>
          </p:cNvSpPr>
          <p:nvPr/>
        </p:nvSpPr>
        <p:spPr>
          <a:xfrm xmlns:a="http://schemas.openxmlformats.org/drawingml/2006/main">
            <a:off x="609600" y="29210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flight-booking grader</a:t>
            </a:r>
          </a:p>
        </p:txBody>
      </p:sp>
      <p:sp>
        <p:nvSpPr>
          <p:cNvPr id="9" name="16b-text-7">
            <a:extLst xmlns:a="http://schemas.openxmlformats.org/drawingml/2006/main">
              <a:ext uri="{FF2B5EF4-FFF2-40B4-BE49-F238E27FC236}">
                <a16:creationId xmlns:a16="http://schemas.microsoft.com/office/drawing/2014/main" id="{FD5A41FF-9563-4929-BAEE-93F12BBA6103}"/>
              </a:ext>
            </a:extLst>
          </p:cNvPr>
          <p:cNvSpPr>
            <a:spLocks xmlns:a="http://schemas.openxmlformats.org/drawingml/2006/main"/>
          </p:cNvSpPr>
          <p:nvPr/>
        </p:nvSpPr>
        <p:spPr>
          <a:xfrm xmlns:a="http://schemas.openxmlformats.org/drawingml/2006/main">
            <a:off x="609600" y="3302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Claim: "Your flight has been booked."</a:t>
            </a:r>
          </a:p>
        </p:txBody>
      </p:sp>
      <p:sp>
        <p:nvSpPr>
          <p:cNvPr id="10" name="16b-text-8">
            <a:extLst xmlns:a="http://schemas.openxmlformats.org/drawingml/2006/main">
              <a:ext uri="{FF2B5EF4-FFF2-40B4-BE49-F238E27FC236}">
                <a16:creationId xmlns:a16="http://schemas.microsoft.com/office/drawing/2014/main" id="{EB638AE4-7D03-4F80-AC46-C7A987E41D2B}"/>
              </a:ext>
            </a:extLst>
          </p:cNvPr>
          <p:cNvSpPr>
            <a:spLocks xmlns:a="http://schemas.openxmlformats.org/drawingml/2006/main"/>
          </p:cNvSpPr>
          <p:nvPr/>
        </p:nvSpPr>
        <p:spPr>
          <a:xfrm xmlns:a="http://schemas.openxmlformats.org/drawingml/2006/main">
            <a:off x="609600" y="38862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 check: matching reservation for the requested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traveler and itinerary?</a:t>
            </a:r>
          </a:p>
        </p:txBody>
      </p:sp>
      <p:sp>
        <p:nvSpPr>
          <p:cNvPr id="11" name="16b-text-9">
            <a:extLst xmlns:a="http://schemas.openxmlformats.org/drawingml/2006/main">
              <a:ext uri="{FF2B5EF4-FFF2-40B4-BE49-F238E27FC236}">
                <a16:creationId xmlns:a16="http://schemas.microsoft.com/office/drawing/2014/main" id="{14AE1AB5-B188-4A5B-82A0-1BBA3C01B10B}"/>
              </a:ext>
            </a:extLst>
          </p:cNvPr>
          <p:cNvSpPr>
            <a:spLocks xmlns:a="http://schemas.openxmlformats.org/drawingml/2006/main"/>
          </p:cNvSpPr>
          <p:nvPr/>
        </p:nvSpPr>
        <p:spPr>
          <a:xfrm xmlns:a="http://schemas.openxmlformats.org/drawingml/2006/main">
            <a:off x="609600" y="46609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No matching reservation: FAIL</a:t>
            </a:r>
          </a:p>
        </p:txBody>
      </p:sp>
      <p:sp>
        <p:nvSpPr>
          <p:cNvPr id="12" name="16b-text-10">
            <a:extLst xmlns:a="http://schemas.openxmlformats.org/drawingml/2006/main">
              <a:ext uri="{FF2B5EF4-FFF2-40B4-BE49-F238E27FC236}">
                <a16:creationId xmlns:a16="http://schemas.microsoft.com/office/drawing/2014/main" id="{EC614315-1ED8-435C-871B-C88BEC8E357F}"/>
              </a:ext>
            </a:extLst>
          </p:cNvPr>
          <p:cNvSpPr>
            <a:spLocks xmlns:a="http://schemas.openxmlformats.org/drawingml/2006/main"/>
          </p:cNvSpPr>
          <p:nvPr/>
        </p:nvSpPr>
        <p:spPr>
          <a:xfrm xmlns:a="http://schemas.openxmlformats.org/drawingml/2006/main">
            <a:off x="609600" y="5207000"/>
            <a:ext cx="10972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check: required approvals and access constraints satisfied?</a:t>
            </a:r>
          </a:p>
        </p:txBody>
      </p:sp>
      <p:sp>
        <p:nvSpPr>
          <p:cNvPr id="13" name="16b-text-11">
            <a:extLst xmlns:a="http://schemas.openxmlformats.org/drawingml/2006/main">
              <a:ext uri="{FF2B5EF4-FFF2-40B4-BE49-F238E27FC236}">
                <a16:creationId xmlns:a16="http://schemas.microsoft.com/office/drawing/2014/main" id="{31B15BA0-BBD7-4CE5-B353-559447AAF993}"/>
              </a:ext>
            </a:extLst>
          </p:cNvPr>
          <p:cNvSpPr>
            <a:spLocks xmlns:a="http://schemas.openxmlformats.org/drawingml/2006/main"/>
          </p:cNvSpPr>
          <p:nvPr/>
        </p:nvSpPr>
        <p:spPr>
          <a:xfrm xmlns:a="http://schemas.openxmlformats.org/drawingml/2006/main">
            <a:off x="609600" y="22733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4" name="16b-text-12">
            <a:extLst xmlns:a="http://schemas.openxmlformats.org/drawingml/2006/main">
              <a:ext uri="{FF2B5EF4-FFF2-40B4-BE49-F238E27FC236}">
                <a16:creationId xmlns:a16="http://schemas.microsoft.com/office/drawing/2014/main" id="{967EB42F-1692-4123-B685-AB5F1F79055E}"/>
              </a:ext>
            </a:extLst>
          </p:cNvPr>
          <p:cNvSpPr>
            <a:spLocks xmlns:a="http://schemas.openxmlformats.org/drawingml/2006/main"/>
          </p:cNvSpPr>
          <p:nvPr/>
        </p:nvSpPr>
        <p:spPr>
          <a:xfrm xmlns:a="http://schemas.openxmlformats.org/drawingml/2006/main">
            <a:off x="4064000" y="24003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15" name="16b-text-13">
            <a:extLst xmlns:a="http://schemas.openxmlformats.org/drawingml/2006/main">
              <a:ext uri="{FF2B5EF4-FFF2-40B4-BE49-F238E27FC236}">
                <a16:creationId xmlns:a16="http://schemas.microsoft.com/office/drawing/2014/main" id="{F6C64E71-285E-4E2E-B607-4D247DF22F58}"/>
              </a:ext>
            </a:extLst>
          </p:cNvPr>
          <p:cNvSpPr>
            <a:spLocks xmlns:a="http://schemas.openxmlformats.org/drawingml/2006/main"/>
          </p:cNvSpPr>
          <p:nvPr/>
        </p:nvSpPr>
        <p:spPr>
          <a:xfrm xmlns:a="http://schemas.openxmlformats.org/drawingml/2006/main">
            <a:off x="609600" y="35687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6" name="16b-text-14">
            <a:extLst xmlns:a="http://schemas.openxmlformats.org/drawingml/2006/main">
              <a:ext uri="{FF2B5EF4-FFF2-40B4-BE49-F238E27FC236}">
                <a16:creationId xmlns:a16="http://schemas.microsoft.com/office/drawing/2014/main" id="{6C36893A-0BEA-497E-9575-1FE0A41C359C}"/>
              </a:ext>
            </a:extLst>
          </p:cNvPr>
          <p:cNvSpPr>
            <a:spLocks xmlns:a="http://schemas.openxmlformats.org/drawingml/2006/main"/>
          </p:cNvSpPr>
          <p:nvPr/>
        </p:nvSpPr>
        <p:spPr>
          <a:xfrm xmlns:a="http://schemas.openxmlformats.org/drawingml/2006/main">
            <a:off x="4064000" y="36957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17" name="16b-text-15">
            <a:extLst xmlns:a="http://schemas.openxmlformats.org/drawingml/2006/main">
              <a:ext uri="{FF2B5EF4-FFF2-40B4-BE49-F238E27FC236}">
                <a16:creationId xmlns:a16="http://schemas.microsoft.com/office/drawing/2014/main" id="{3A82E758-F529-41DC-B60F-F633E7EE298A}"/>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18" name="16b-text-16">
            <a:extLst xmlns:a="http://schemas.openxmlformats.org/drawingml/2006/main">
              <a:ext uri="{FF2B5EF4-FFF2-40B4-BE49-F238E27FC236}">
                <a16:creationId xmlns:a16="http://schemas.microsoft.com/office/drawing/2014/main" id="{05FBB579-221A-4792-94F1-453199978063}"/>
              </a:ext>
            </a:extLst>
          </p:cNvPr>
          <p:cNvSpPr>
            <a:spLocks xmlns:a="http://schemas.openxmlformats.org/drawingml/2006/main"/>
          </p:cNvSpPr>
          <p:nvPr/>
        </p:nvSpPr>
        <p:spPr>
          <a:xfrm xmlns:a="http://schemas.openxmlformats.org/drawingml/2006/main">
            <a:off x="609600" y="2006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19" name="16b-text-17">
            <a:extLst xmlns:a="http://schemas.openxmlformats.org/drawingml/2006/main">
              <a:ext uri="{FF2B5EF4-FFF2-40B4-BE49-F238E27FC236}">
                <a16:creationId xmlns:a16="http://schemas.microsoft.com/office/drawing/2014/main" id="{4C7750C0-5DA7-47FF-95C3-C517A31F6769}"/>
              </a:ext>
            </a:extLst>
          </p:cNvPr>
          <p:cNvSpPr>
            <a:spLocks xmlns:a="http://schemas.openxmlformats.org/drawingml/2006/main"/>
          </p:cNvSpPr>
          <p:nvPr/>
        </p:nvSpPr>
        <p:spPr>
          <a:xfrm xmlns:a="http://schemas.openxmlformats.org/drawingml/2006/main">
            <a:off x="609600" y="3276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20" name="16b-text-18">
            <a:extLst xmlns:a="http://schemas.openxmlformats.org/drawingml/2006/main">
              <a:ext uri="{FF2B5EF4-FFF2-40B4-BE49-F238E27FC236}">
                <a16:creationId xmlns:a16="http://schemas.microsoft.com/office/drawing/2014/main" id="{054C5FE5-6C52-4CF8-8E63-990CB955C0DE}"/>
              </a:ext>
            </a:extLst>
          </p:cNvPr>
          <p:cNvSpPr>
            <a:spLocks xmlns:a="http://schemas.openxmlformats.org/drawingml/2006/main"/>
          </p:cNvSpPr>
          <p:nvPr/>
        </p:nvSpPr>
        <p:spPr>
          <a:xfrm xmlns:a="http://schemas.openxmlformats.org/drawingml/2006/main">
            <a:off x="609600" y="4546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Tree>
    <p:extLst>
      <p:ext uri="{BB962C8B-B14F-4D97-AF65-F5344CB8AC3E}">
        <p14:creationId xmlns:p14="http://schemas.microsoft.com/office/powerpoint/2010/main" val="134806487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2"/>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3"/>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4"/>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5"/>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6"/>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7"/>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 name="!!area-name">
            <a:extLst xmlns:a="http://schemas.openxmlformats.org/drawingml/2006/main">
              <a:ext uri="{FF2B5EF4-FFF2-40B4-BE49-F238E27FC236}">
                <a16:creationId xmlns:a16="http://schemas.microsoft.com/office/drawing/2014/main" id="{03268E99-8F5D-4A09-ADCB-62F56B1B36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24" name="mini-map"/>
          <p:cNvPicPr>
            <a:picLocks xmlns:a="http://schemas.openxmlformats.org/drawingml/2006/main" noChangeAspect="1"/>
          </p:cNvPicPr>
          <p:nvPr/>
        </p:nvPicPr>
        <p:blipFill>
          <a:blip xmlns:r="http://schemas.openxmlformats.org/officeDocument/2006/relationships" xmlns:a="http://schemas.openxmlformats.org/drawingml/2006/main" r:embed="Rcd8e2f61c3f14d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421A6899-F1C8-4F2A-9C9F-F4FD471A4B3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 name="17-text-1">
            <a:extLst xmlns:a="http://schemas.openxmlformats.org/drawingml/2006/main">
              <a:ext uri="{FF2B5EF4-FFF2-40B4-BE49-F238E27FC236}">
                <a16:creationId xmlns:a16="http://schemas.microsoft.com/office/drawing/2014/main" id="{DF0DD33A-38C1-4D04-87F4-97E9CAD4E6B0}"/>
              </a:ext>
            </a:extLst>
          </p:cNvPr>
          <p:cNvSpPr>
            <a:spLocks xmlns:a="http://schemas.openxmlformats.org/drawingml/2006/main"/>
          </p:cNvSpPr>
          <p:nvPr/>
        </p:nvSpPr>
        <p:spPr>
          <a:xfrm xmlns:a="http://schemas.openxmlformats.org/drawingml/2006/main">
            <a:off x="609600" y="23368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must define the checks your domain needs.</a:t>
            </a:r>
          </a:p>
        </p:txBody>
      </p:sp>
      <p:sp>
        <p:nvSpPr>
          <p:cNvPr id="5" name="17-text-2">
            <a:extLst xmlns:a="http://schemas.openxmlformats.org/drawingml/2006/main">
              <a:ext uri="{FF2B5EF4-FFF2-40B4-BE49-F238E27FC236}">
                <a16:creationId xmlns:a16="http://schemas.microsoft.com/office/drawing/2014/main" id="{FFCC6033-E0B8-484D-9F14-35C662B41555}"/>
              </a:ext>
            </a:extLst>
          </p:cNvPr>
          <p:cNvSpPr>
            <a:spLocks xmlns:a="http://schemas.openxmlformats.org/drawingml/2006/main"/>
          </p:cNvSpPr>
          <p:nvPr/>
        </p:nvSpPr>
        <p:spPr>
          <a:xfrm xmlns:a="http://schemas.openxmlformats.org/drawingml/2006/main">
            <a:off x="609600" y="37465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Refund limits · Account ownership · Ledger state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Faithfulness may need expert judgment.</a:t>
            </a:r>
          </a:p>
        </p:txBody>
      </p:sp>
      <p:sp>
        <p:nvSpPr>
          <p:cNvPr id="6" name="17-shape-3">
            <a:extLst xmlns:a="http://schemas.openxmlformats.org/drawingml/2006/main">
              <a:ext uri="{FF2B5EF4-FFF2-40B4-BE49-F238E27FC236}">
                <a16:creationId xmlns:a16="http://schemas.microsoft.com/office/drawing/2014/main" id="{21057222-1D86-4028-AB47-D6C9255F2792}"/>
              </a:ext>
            </a:extLst>
          </p:cNvPr>
          <p:cNvSpPr>
            <a:spLocks xmlns:a="http://schemas.openxmlformats.org/drawingml/2006/main"/>
          </p:cNvSpPr>
          <p:nvPr/>
        </p:nvSpPr>
        <p:spPr>
          <a:xfrm xmlns:a="http://schemas.openxmlformats.org/drawingml/2006/main">
            <a:off x="609600" y="21463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7" name="17-text-4">
            <a:extLst xmlns:a="http://schemas.openxmlformats.org/drawingml/2006/main">
              <a:ext uri="{FF2B5EF4-FFF2-40B4-BE49-F238E27FC236}">
                <a16:creationId xmlns:a16="http://schemas.microsoft.com/office/drawing/2014/main" id="{A74E6F6C-8961-436F-893B-17A6A11E9C71}"/>
              </a:ext>
            </a:extLst>
          </p:cNvPr>
          <p:cNvSpPr>
            <a:spLocks xmlns:a="http://schemas.openxmlformats.org/drawingml/2006/main"/>
          </p:cNvSpPr>
          <p:nvPr/>
        </p:nvSpPr>
        <p:spPr>
          <a:xfrm xmlns:a="http://schemas.openxmlformats.org/drawingml/2006/main">
            <a:off x="812800" y="22987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8" name="17-text-5">
            <a:extLst xmlns:a="http://schemas.openxmlformats.org/drawingml/2006/main">
              <a:ext uri="{FF2B5EF4-FFF2-40B4-BE49-F238E27FC236}">
                <a16:creationId xmlns:a16="http://schemas.microsoft.com/office/drawing/2014/main" id="{73FF1AB5-7DB9-46CA-95A0-8FF8560ED553}"/>
              </a:ext>
            </a:extLst>
          </p:cNvPr>
          <p:cNvSpPr>
            <a:spLocks xmlns:a="http://schemas.openxmlformats.org/drawingml/2006/main"/>
          </p:cNvSpPr>
          <p:nvPr/>
        </p:nvSpPr>
        <p:spPr>
          <a:xfrm xmlns:a="http://schemas.openxmlformats.org/drawingml/2006/main">
            <a:off x="812800" y="31115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verifier.</a:t>
            </a:r>
          </a:p>
        </p:txBody>
      </p:sp>
      <p:sp>
        <p:nvSpPr>
          <p:cNvPr id="9" name="17-text-6">
            <a:extLst xmlns:a="http://schemas.openxmlformats.org/drawingml/2006/main">
              <a:ext uri="{FF2B5EF4-FFF2-40B4-BE49-F238E27FC236}">
                <a16:creationId xmlns:a16="http://schemas.microsoft.com/office/drawing/2014/main" id="{C64A29C6-39AC-4B36-B98D-D84CC7B491E7}"/>
              </a:ext>
            </a:extLst>
          </p:cNvPr>
          <p:cNvSpPr>
            <a:spLocks xmlns:a="http://schemas.openxmlformats.org/drawingml/2006/main"/>
          </p:cNvSpPr>
          <p:nvPr/>
        </p:nvSpPr>
        <p:spPr>
          <a:xfrm xmlns:a="http://schemas.openxmlformats.org/drawingml/2006/main">
            <a:off x="812800" y="38989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Schema check · business rule · database state · calibrated rubric · human</a:t>
            </a:r>
          </a:p>
        </p:txBody>
      </p:sp>
      <p:sp>
        <p:nvSpPr>
          <p:cNvPr id="10" name="17-shape-7">
            <a:extLst xmlns:a="http://schemas.openxmlformats.org/drawingml/2006/main">
              <a:ext uri="{FF2B5EF4-FFF2-40B4-BE49-F238E27FC236}">
                <a16:creationId xmlns:a16="http://schemas.microsoft.com/office/drawing/2014/main" id="{7A44C0F9-C725-47BA-AF24-03B3352C4B63}"/>
              </a:ext>
            </a:extLst>
          </p:cNvPr>
          <p:cNvSpPr>
            <a:spLocks xmlns:a="http://schemas.openxmlformats.org/drawingml/2006/main"/>
          </p:cNvSpPr>
          <p:nvPr/>
        </p:nvSpPr>
        <p:spPr>
          <a:xfrm xmlns:a="http://schemas.openxmlformats.org/drawingml/2006/main">
            <a:off x="4368800" y="21463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1" name="17-text-8">
            <a:extLst xmlns:a="http://schemas.openxmlformats.org/drawingml/2006/main">
              <a:ext uri="{FF2B5EF4-FFF2-40B4-BE49-F238E27FC236}">
                <a16:creationId xmlns:a16="http://schemas.microsoft.com/office/drawing/2014/main" id="{0C1C509A-39D8-4E78-8B72-ABEBBDF99B20}"/>
              </a:ext>
            </a:extLst>
          </p:cNvPr>
          <p:cNvSpPr>
            <a:spLocks xmlns:a="http://schemas.openxmlformats.org/drawingml/2006/main"/>
          </p:cNvSpPr>
          <p:nvPr/>
        </p:nvSpPr>
        <p:spPr>
          <a:xfrm xmlns:a="http://schemas.openxmlformats.org/drawingml/2006/main">
            <a:off x="4572000" y="22987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12" name="17-text-9">
            <a:extLst xmlns:a="http://schemas.openxmlformats.org/drawingml/2006/main">
              <a:ext uri="{FF2B5EF4-FFF2-40B4-BE49-F238E27FC236}">
                <a16:creationId xmlns:a16="http://schemas.microsoft.com/office/drawing/2014/main" id="{37FC38A2-8CC4-4AC3-B079-D002FCC69D5E}"/>
              </a:ext>
            </a:extLst>
          </p:cNvPr>
          <p:cNvSpPr>
            <a:spLocks xmlns:a="http://schemas.openxmlformats.org/drawingml/2006/main"/>
          </p:cNvSpPr>
          <p:nvPr/>
        </p:nvSpPr>
        <p:spPr>
          <a:xfrm xmlns:a="http://schemas.openxmlformats.org/drawingml/2006/main">
            <a:off x="4572000" y="31115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eval suite.</a:t>
            </a:r>
          </a:p>
        </p:txBody>
      </p:sp>
      <p:sp>
        <p:nvSpPr>
          <p:cNvPr id="13" name="17-text-10">
            <a:extLst xmlns:a="http://schemas.openxmlformats.org/drawingml/2006/main">
              <a:ext uri="{FF2B5EF4-FFF2-40B4-BE49-F238E27FC236}">
                <a16:creationId xmlns:a16="http://schemas.microsoft.com/office/drawing/2014/main" id="{D3A02F30-6DC2-4D01-82C7-C8B73B45E00E}"/>
              </a:ext>
            </a:extLst>
          </p:cNvPr>
          <p:cNvSpPr>
            <a:spLocks xmlns:a="http://schemas.openxmlformats.org/drawingml/2006/main"/>
          </p:cNvSpPr>
          <p:nvPr/>
        </p:nvSpPr>
        <p:spPr>
          <a:xfrm xmlns:a="http://schemas.openxmlformats.org/drawingml/2006/main">
            <a:off x="4572000" y="38989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Representative cases and repeated trials.</a:t>
            </a:r>
          </a:p>
        </p:txBody>
      </p:sp>
      <p:sp>
        <p:nvSpPr>
          <p:cNvPr id="14" name="17-shape-11">
            <a:extLst xmlns:a="http://schemas.openxmlformats.org/drawingml/2006/main">
              <a:ext uri="{FF2B5EF4-FFF2-40B4-BE49-F238E27FC236}">
                <a16:creationId xmlns:a16="http://schemas.microsoft.com/office/drawing/2014/main" id="{05EAA774-3645-4AAC-89B5-5E69F5644558}"/>
              </a:ext>
            </a:extLst>
          </p:cNvPr>
          <p:cNvSpPr>
            <a:spLocks xmlns:a="http://schemas.openxmlformats.org/drawingml/2006/main"/>
          </p:cNvSpPr>
          <p:nvPr/>
        </p:nvSpPr>
        <p:spPr>
          <a:xfrm xmlns:a="http://schemas.openxmlformats.org/drawingml/2006/main">
            <a:off x="8128000" y="21463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5" name="17-text-12">
            <a:extLst xmlns:a="http://schemas.openxmlformats.org/drawingml/2006/main">
              <a:ext uri="{FF2B5EF4-FFF2-40B4-BE49-F238E27FC236}">
                <a16:creationId xmlns:a16="http://schemas.microsoft.com/office/drawing/2014/main" id="{B183DF2F-99C1-4EF8-A49A-8C0B3A96861E}"/>
              </a:ext>
            </a:extLst>
          </p:cNvPr>
          <p:cNvSpPr>
            <a:spLocks xmlns:a="http://schemas.openxmlformats.org/drawingml/2006/main"/>
          </p:cNvSpPr>
          <p:nvPr/>
        </p:nvSpPr>
        <p:spPr>
          <a:xfrm xmlns:a="http://schemas.openxmlformats.org/drawingml/2006/main">
            <a:off x="8331200" y="22987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16" name="17-text-13">
            <a:extLst xmlns:a="http://schemas.openxmlformats.org/drawingml/2006/main">
              <a:ext uri="{FF2B5EF4-FFF2-40B4-BE49-F238E27FC236}">
                <a16:creationId xmlns:a16="http://schemas.microsoft.com/office/drawing/2014/main" id="{8D63412F-8958-4E77-9BB6-5BC1D0FCA4A5}"/>
              </a:ext>
            </a:extLst>
          </p:cNvPr>
          <p:cNvSpPr>
            <a:spLocks xmlns:a="http://schemas.openxmlformats.org/drawingml/2006/main"/>
          </p:cNvSpPr>
          <p:nvPr/>
        </p:nvSpPr>
        <p:spPr>
          <a:xfrm xmlns:a="http://schemas.openxmlformats.org/drawingml/2006/main">
            <a:off x="8331200" y="31115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Keep running it.</a:t>
            </a:r>
          </a:p>
        </p:txBody>
      </p:sp>
      <p:sp>
        <p:nvSpPr>
          <p:cNvPr id="17" name="17-text-14">
            <a:extLst xmlns:a="http://schemas.openxmlformats.org/drawingml/2006/main">
              <a:ext uri="{FF2B5EF4-FFF2-40B4-BE49-F238E27FC236}">
                <a16:creationId xmlns:a16="http://schemas.microsoft.com/office/drawing/2014/main" id="{8653918F-FE9F-4490-A23E-928EE6ED5AE9}"/>
              </a:ext>
            </a:extLst>
          </p:cNvPr>
          <p:cNvSpPr>
            <a:spLocks xmlns:a="http://schemas.openxmlformats.org/drawingml/2006/main"/>
          </p:cNvSpPr>
          <p:nvPr/>
        </p:nvSpPr>
        <p:spPr>
          <a:xfrm xmlns:a="http://schemas.openxmlformats.org/drawingml/2006/main">
            <a:off x="8331200" y="38989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Regression checks and sampled production traffic.</a:t>
            </a:r>
          </a:p>
        </p:txBody>
      </p:sp>
      <p:sp>
        <p:nvSpPr>
          <p:cNvPr id="18" name="17-text-15">
            <a:extLst xmlns:a="http://schemas.openxmlformats.org/drawingml/2006/main">
              <a:ext uri="{FF2B5EF4-FFF2-40B4-BE49-F238E27FC236}">
                <a16:creationId xmlns:a16="http://schemas.microsoft.com/office/drawing/2014/main" id="{7216635E-19DA-4E5A-99CC-B967C1D48B91}"/>
              </a:ext>
            </a:extLst>
          </p:cNvPr>
          <p:cNvSpPr>
            <a:spLocks xmlns:a="http://schemas.openxmlformats.org/drawingml/2006/main"/>
          </p:cNvSpPr>
          <p:nvPr/>
        </p:nvSpPr>
        <p:spPr>
          <a:xfrm xmlns:a="http://schemas.openxmlformats.org/drawingml/2006/main">
            <a:off x="609600" y="51435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19" name="17-shape-16">
            <a:extLst xmlns:a="http://schemas.openxmlformats.org/drawingml/2006/main">
              <a:ext uri="{FF2B5EF4-FFF2-40B4-BE49-F238E27FC236}">
                <a16:creationId xmlns:a16="http://schemas.microsoft.com/office/drawing/2014/main" id="{7AB40E10-868F-471C-9A35-1A8158DBBC48}"/>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0" name="17-shape-17">
            <a:extLst xmlns:a="http://schemas.openxmlformats.org/drawingml/2006/main">
              <a:ext uri="{FF2B5EF4-FFF2-40B4-BE49-F238E27FC236}">
                <a16:creationId xmlns:a16="http://schemas.microsoft.com/office/drawing/2014/main" id="{23BC8B22-0AC4-4E61-89E3-666E82DF7D20}"/>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1" name="17-text-18">
            <a:extLst xmlns:a="http://schemas.openxmlformats.org/drawingml/2006/main">
              <a:ext uri="{FF2B5EF4-FFF2-40B4-BE49-F238E27FC236}">
                <a16:creationId xmlns:a16="http://schemas.microsoft.com/office/drawing/2014/main" id="{C6FA296A-04AA-432C-8ADC-C3CF7358A96E}"/>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2" name="17-text-19">
            <a:extLst xmlns:a="http://schemas.openxmlformats.org/drawingml/2006/main">
              <a:ext uri="{FF2B5EF4-FFF2-40B4-BE49-F238E27FC236}">
                <a16:creationId xmlns:a16="http://schemas.microsoft.com/office/drawing/2014/main" id="{460E661F-E486-4DE4-92AB-64CADA7BA2F8}"/>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Tree>
    <p:extLst>
      <p:ext uri="{BB962C8B-B14F-4D97-AF65-F5344CB8AC3E}">
        <p14:creationId xmlns:p14="http://schemas.microsoft.com/office/powerpoint/2010/main" val="150266557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 fill="hold"/>
                                        <p:tgtEl>
                                          <p:spTgt spid="6"/>
                                        </p:tgtEl>
                                      </p:cBhvr>
                                    </p:animEffect>
                                  </p:childTnLst>
                                </p:cTn>
                              </p:par>
                              <p:par>
                                <p:cTn id="18" presetID="1"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00" fill="hold"/>
                                        <p:tgtEl>
                                          <p:spTgt spid="10"/>
                                        </p:tgtEl>
                                      </p:cBhvr>
                                    </p:animEffec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200" fill="hold"/>
                                        <p:tgtEl>
                                          <p:spTgt spid="14"/>
                                        </p:tgtEl>
                                      </p:cBhvr>
                                    </p:animEffect>
                                  </p:childTnLst>
                                </p:cTn>
                              </p:par>
                              <p:par>
                                <p:cTn id="36" presetID="1"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00" fill="hold"/>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00" fill="hold"/>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00" fill="hold"/>
                                        <p:tgtEl>
                                          <p:spTgt spid="21"/>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0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4130434B-BEB5-4520-882E-D7A485C3F42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0FB7B123-8390-4F21-B34D-0508E54653AB}"/>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3" name="!!area-beat">
            <a:extLst xmlns:a="http://schemas.openxmlformats.org/drawingml/2006/main">
              <a:ext uri="{FF2B5EF4-FFF2-40B4-BE49-F238E27FC236}">
                <a16:creationId xmlns:a16="http://schemas.microsoft.com/office/drawing/2014/main" id="{5B6361FE-9EFF-4CD3-A1FC-F0BE7ECD88EA}"/>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18-shape-1">
            <a:extLst xmlns:a="http://schemas.openxmlformats.org/drawingml/2006/main">
              <a:ext uri="{FF2B5EF4-FFF2-40B4-BE49-F238E27FC236}">
                <a16:creationId xmlns:a16="http://schemas.microsoft.com/office/drawing/2014/main" id="{7BC4E7D0-4FEB-4561-AD4D-0D1B6612C7CD}"/>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5" name="18-text-2">
            <a:extLst xmlns:a="http://schemas.openxmlformats.org/drawingml/2006/main">
              <a:ext uri="{FF2B5EF4-FFF2-40B4-BE49-F238E27FC236}">
                <a16:creationId xmlns:a16="http://schemas.microsoft.com/office/drawing/2014/main" id="{81944BB2-26A9-4A46-BC0C-141FA8686793}"/>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6" name="18-shape-3">
            <a:extLst xmlns:a="http://schemas.openxmlformats.org/drawingml/2006/main">
              <a:ext uri="{FF2B5EF4-FFF2-40B4-BE49-F238E27FC236}">
                <a16:creationId xmlns:a16="http://schemas.microsoft.com/office/drawing/2014/main" id="{051C6F65-4760-44C1-8EAA-3B6F32EC9203}"/>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8-text-4">
            <a:extLst xmlns:a="http://schemas.openxmlformats.org/drawingml/2006/main">
              <a:ext uri="{FF2B5EF4-FFF2-40B4-BE49-F238E27FC236}">
                <a16:creationId xmlns:a16="http://schemas.microsoft.com/office/drawing/2014/main" id="{E88C74AF-E0F4-4828-B2B8-9AAF2627D86B}"/>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8" name="18-shape-5">
            <a:extLst xmlns:a="http://schemas.openxmlformats.org/drawingml/2006/main">
              <a:ext uri="{FF2B5EF4-FFF2-40B4-BE49-F238E27FC236}">
                <a16:creationId xmlns:a16="http://schemas.microsoft.com/office/drawing/2014/main" id="{92BE8020-2F9F-44B6-ADF3-7DC7F107EBD9}"/>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8-text-6">
            <a:extLst xmlns:a="http://schemas.openxmlformats.org/drawingml/2006/main">
              <a:ext uri="{FF2B5EF4-FFF2-40B4-BE49-F238E27FC236}">
                <a16:creationId xmlns:a16="http://schemas.microsoft.com/office/drawing/2014/main" id="{67845AA9-B86F-4563-BD82-95B1445692F0}"/>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10" name="18-shape-7">
            <a:extLst xmlns:a="http://schemas.openxmlformats.org/drawingml/2006/main">
              <a:ext uri="{FF2B5EF4-FFF2-40B4-BE49-F238E27FC236}">
                <a16:creationId xmlns:a16="http://schemas.microsoft.com/office/drawing/2014/main" id="{1D2441D6-49BE-4DD6-838B-4A0A4FA04030}"/>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18-text-8">
            <a:extLst xmlns:a="http://schemas.openxmlformats.org/drawingml/2006/main">
              <a:ext uri="{FF2B5EF4-FFF2-40B4-BE49-F238E27FC236}">
                <a16:creationId xmlns:a16="http://schemas.microsoft.com/office/drawing/2014/main" id="{B14E3FFE-7FCE-4DA0-A731-400869561D94}"/>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12" name="18-text-9">
            <a:extLst xmlns:a="http://schemas.openxmlformats.org/drawingml/2006/main">
              <a:ext uri="{FF2B5EF4-FFF2-40B4-BE49-F238E27FC236}">
                <a16:creationId xmlns:a16="http://schemas.microsoft.com/office/drawing/2014/main" id="{0DA3FEBC-0B1D-49F3-843F-F3033A251F54}"/>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Tree>
    <p:extLst>
      <p:ext uri="{BB962C8B-B14F-4D97-AF65-F5344CB8AC3E}">
        <p14:creationId xmlns:p14="http://schemas.microsoft.com/office/powerpoint/2010/main" val="155330884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 name="!!area-name">
            <a:extLst xmlns:a="http://schemas.openxmlformats.org/drawingml/2006/main">
              <a:ext uri="{FF2B5EF4-FFF2-40B4-BE49-F238E27FC236}">
                <a16:creationId xmlns:a16="http://schemas.microsoft.com/office/drawing/2014/main" id="{84BAE9C0-90D7-4361-922B-25501AB474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25" name="mini-map"/>
          <p:cNvPicPr>
            <a:picLocks xmlns:a="http://schemas.openxmlformats.org/drawingml/2006/main" noChangeAspect="1"/>
          </p:cNvPicPr>
          <p:nvPr/>
        </p:nvPicPr>
        <p:blipFill>
          <a:blip xmlns:r="http://schemas.openxmlformats.org/officeDocument/2006/relationships" xmlns:a="http://schemas.openxmlformats.org/drawingml/2006/main" r:embed="R5f999c7785c646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18b-text-1">
            <a:extLst xmlns:a="http://schemas.openxmlformats.org/drawingml/2006/main">
              <a:ext uri="{FF2B5EF4-FFF2-40B4-BE49-F238E27FC236}">
                <a16:creationId xmlns:a16="http://schemas.microsoft.com/office/drawing/2014/main" id="{1338D27F-086F-4449-B4C3-B805B225A90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 name="18b-text-2">
            <a:extLst xmlns:a="http://schemas.openxmlformats.org/drawingml/2006/main">
              <a:ext uri="{FF2B5EF4-FFF2-40B4-BE49-F238E27FC236}">
                <a16:creationId xmlns:a16="http://schemas.microsoft.com/office/drawing/2014/main" id="{5CF89BE7-2DBD-447A-BE1E-A71E2FCC65D2}"/>
              </a:ext>
            </a:extLst>
          </p:cNvPr>
          <p:cNvSpPr>
            <a:spLocks xmlns:a="http://schemas.openxmlformats.org/drawingml/2006/main"/>
          </p:cNvSpPr>
          <p:nvPr/>
        </p:nvSpPr>
        <p:spPr>
          <a:xfrm xmlns:a="http://schemas.openxmlformats.org/drawingml/2006/main">
            <a:off x="609600" y="132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5" name="18b-text-3">
            <a:extLst xmlns:a="http://schemas.openxmlformats.org/drawingml/2006/main">
              <a:ext uri="{FF2B5EF4-FFF2-40B4-BE49-F238E27FC236}">
                <a16:creationId xmlns:a16="http://schemas.microsoft.com/office/drawing/2014/main" id="{D0E82314-5E1B-4ED8-84C5-F1C0C62001F9}"/>
              </a:ext>
            </a:extLst>
          </p:cNvPr>
          <p:cNvSpPr>
            <a:spLocks xmlns:a="http://schemas.openxmlformats.org/drawingml/2006/main"/>
          </p:cNvSpPr>
          <p:nvPr/>
        </p:nvSpPr>
        <p:spPr>
          <a:xfrm xmlns:a="http://schemas.openxmlformats.org/drawingml/2006/main">
            <a:off x="2489200" y="127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6" name="18b-text-4">
            <a:extLst xmlns:a="http://schemas.openxmlformats.org/drawingml/2006/main">
              <a:ext uri="{FF2B5EF4-FFF2-40B4-BE49-F238E27FC236}">
                <a16:creationId xmlns:a16="http://schemas.microsoft.com/office/drawing/2014/main" id="{7F0959DD-4191-43A6-88E3-55F104DA3C90}"/>
              </a:ext>
            </a:extLst>
          </p:cNvPr>
          <p:cNvSpPr>
            <a:spLocks xmlns:a="http://schemas.openxmlformats.org/drawingml/2006/main"/>
          </p:cNvSpPr>
          <p:nvPr/>
        </p:nvSpPr>
        <p:spPr>
          <a:xfrm xmlns:a="http://schemas.openxmlformats.org/drawingml/2006/main">
            <a:off x="609600" y="21336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7" name="18b-text-5">
            <a:extLst xmlns:a="http://schemas.openxmlformats.org/drawingml/2006/main">
              <a:ext uri="{FF2B5EF4-FFF2-40B4-BE49-F238E27FC236}">
                <a16:creationId xmlns:a16="http://schemas.microsoft.com/office/drawing/2014/main" id="{30A2FFF3-2BBD-4878-817B-BF78D5FB9994}"/>
              </a:ext>
            </a:extLst>
          </p:cNvPr>
          <p:cNvSpPr>
            <a:spLocks xmlns:a="http://schemas.openxmlformats.org/drawingml/2006/main"/>
          </p:cNvSpPr>
          <p:nvPr/>
        </p:nvSpPr>
        <p:spPr>
          <a:xfrm xmlns:a="http://schemas.openxmlformats.org/drawingml/2006/main">
            <a:off x="2489200" y="20828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8" name="18b-text-6">
            <a:extLst xmlns:a="http://schemas.openxmlformats.org/drawingml/2006/main">
              <a:ext uri="{FF2B5EF4-FFF2-40B4-BE49-F238E27FC236}">
                <a16:creationId xmlns:a16="http://schemas.microsoft.com/office/drawing/2014/main" id="{BA796029-FD09-44B2-8D7A-EBA7DF228FBD}"/>
              </a:ext>
            </a:extLst>
          </p:cNvPr>
          <p:cNvSpPr>
            <a:spLocks xmlns:a="http://schemas.openxmlformats.org/drawingml/2006/main"/>
          </p:cNvSpPr>
          <p:nvPr/>
        </p:nvSpPr>
        <p:spPr>
          <a:xfrm xmlns:a="http://schemas.openxmlformats.org/drawingml/2006/main">
            <a:off x="609600" y="2946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9" name="18b-text-7">
            <a:extLst xmlns:a="http://schemas.openxmlformats.org/drawingml/2006/main">
              <a:ext uri="{FF2B5EF4-FFF2-40B4-BE49-F238E27FC236}">
                <a16:creationId xmlns:a16="http://schemas.microsoft.com/office/drawing/2014/main" id="{9B73AA8C-B74A-4135-909B-E4D4F0F12393}"/>
              </a:ext>
            </a:extLst>
          </p:cNvPr>
          <p:cNvSpPr>
            <a:spLocks xmlns:a="http://schemas.openxmlformats.org/drawingml/2006/main"/>
          </p:cNvSpPr>
          <p:nvPr/>
        </p:nvSpPr>
        <p:spPr>
          <a:xfrm xmlns:a="http://schemas.openxmlformats.org/drawingml/2006/main">
            <a:off x="2489200" y="28956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10" name="18b-text-8">
            <a:extLst xmlns:a="http://schemas.openxmlformats.org/drawingml/2006/main">
              <a:ext uri="{FF2B5EF4-FFF2-40B4-BE49-F238E27FC236}">
                <a16:creationId xmlns:a16="http://schemas.microsoft.com/office/drawing/2014/main" id="{512F7FD0-9E4C-41A4-80CF-DCCCE96BE210}"/>
              </a:ext>
            </a:extLst>
          </p:cNvPr>
          <p:cNvSpPr>
            <a:spLocks xmlns:a="http://schemas.openxmlformats.org/drawingml/2006/main"/>
          </p:cNvSpPr>
          <p:nvPr/>
        </p:nvSpPr>
        <p:spPr>
          <a:xfrm xmlns:a="http://schemas.openxmlformats.org/drawingml/2006/main">
            <a:off x="609600" y="375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11" name="18b-text-9">
            <a:extLst xmlns:a="http://schemas.openxmlformats.org/drawingml/2006/main">
              <a:ext uri="{FF2B5EF4-FFF2-40B4-BE49-F238E27FC236}">
                <a16:creationId xmlns:a16="http://schemas.microsoft.com/office/drawing/2014/main" id="{BFB963E4-6C0A-468A-A196-5B1CA064F4F6}"/>
              </a:ext>
            </a:extLst>
          </p:cNvPr>
          <p:cNvSpPr>
            <a:spLocks xmlns:a="http://schemas.openxmlformats.org/drawingml/2006/main"/>
          </p:cNvSpPr>
          <p:nvPr/>
        </p:nvSpPr>
        <p:spPr>
          <a:xfrm xmlns:a="http://schemas.openxmlformats.org/drawingml/2006/main">
            <a:off x="2489200" y="370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12" name="18b-text-10">
            <a:extLst xmlns:a="http://schemas.openxmlformats.org/drawingml/2006/main">
              <a:ext uri="{FF2B5EF4-FFF2-40B4-BE49-F238E27FC236}">
                <a16:creationId xmlns:a16="http://schemas.microsoft.com/office/drawing/2014/main" id="{815500D6-B2D8-4750-A2C7-534212BDC76E}"/>
              </a:ext>
            </a:extLst>
          </p:cNvPr>
          <p:cNvSpPr>
            <a:spLocks xmlns:a="http://schemas.openxmlformats.org/drawingml/2006/main"/>
          </p:cNvSpPr>
          <p:nvPr/>
        </p:nvSpPr>
        <p:spPr>
          <a:xfrm xmlns:a="http://schemas.openxmlformats.org/drawingml/2006/main">
            <a:off x="609600" y="45720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13" name="18b-line-12">
            <a:extLst xmlns:a="http://schemas.openxmlformats.org/drawingml/2006/main">
              <a:ext uri="{FF2B5EF4-FFF2-40B4-BE49-F238E27FC236}">
                <a16:creationId xmlns:a16="http://schemas.microsoft.com/office/drawing/2014/main" id="{7BCDB749-B78A-4657-BC9A-04E3FB039A90}"/>
              </a:ext>
            </a:extLst>
          </p:cNvPr>
          <p:cNvSpPr>
            <a:spLocks xmlns:a="http://schemas.openxmlformats.org/drawingml/2006/main"/>
          </p:cNvSpPr>
          <p:nvPr/>
        </p:nvSpPr>
        <p:spPr>
          <a:xfrm xmlns:a="http://schemas.openxmlformats.org/drawingml/2006/main" flipH="0" flipV="0">
            <a:off x="3378200" y="4851400"/>
            <a:ext cx="1295400" cy="8636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4" name="18b-line-14">
            <a:extLst xmlns:a="http://schemas.openxmlformats.org/drawingml/2006/main">
              <a:ext uri="{FF2B5EF4-FFF2-40B4-BE49-F238E27FC236}">
                <a16:creationId xmlns:a16="http://schemas.microsoft.com/office/drawing/2014/main" id="{65505CE2-7136-4580-B5A3-6609BA81FEC2}"/>
              </a:ext>
            </a:extLst>
          </p:cNvPr>
          <p:cNvSpPr>
            <a:spLocks xmlns:a="http://schemas.openxmlformats.org/drawingml/2006/main"/>
          </p:cNvSpPr>
          <p:nvPr/>
        </p:nvSpPr>
        <p:spPr>
          <a:xfrm xmlns:a="http://schemas.openxmlformats.org/drawingml/2006/main" flipH="1" flipV="0">
            <a:off x="2095500" y="5715000"/>
            <a:ext cx="2578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5" name="18b-line-16">
            <a:extLst xmlns:a="http://schemas.openxmlformats.org/drawingml/2006/main">
              <a:ext uri="{FF2B5EF4-FFF2-40B4-BE49-F238E27FC236}">
                <a16:creationId xmlns:a16="http://schemas.microsoft.com/office/drawing/2014/main" id="{23678FD7-6599-4FA3-9CC8-E48C72190D44}"/>
              </a:ext>
            </a:extLst>
          </p:cNvPr>
          <p:cNvSpPr>
            <a:spLocks xmlns:a="http://schemas.openxmlformats.org/drawingml/2006/main"/>
          </p:cNvSpPr>
          <p:nvPr/>
        </p:nvSpPr>
        <p:spPr>
          <a:xfrm xmlns:a="http://schemas.openxmlformats.org/drawingml/2006/main" flipH="0" flipV="1">
            <a:off x="2095500" y="4851400"/>
            <a:ext cx="1282700" cy="8636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6" name="18b-text-17">
            <a:extLst xmlns:a="http://schemas.openxmlformats.org/drawingml/2006/main">
              <a:ext uri="{FF2B5EF4-FFF2-40B4-BE49-F238E27FC236}">
                <a16:creationId xmlns:a16="http://schemas.microsoft.com/office/drawing/2014/main" id="{89B7E260-F8E3-4F4D-81E2-9C7BE2E4DA2D}"/>
              </a:ext>
            </a:extLst>
          </p:cNvPr>
          <p:cNvSpPr>
            <a:spLocks xmlns:a="http://schemas.openxmlformats.org/drawingml/2006/main"/>
          </p:cNvSpPr>
          <p:nvPr/>
        </p:nvSpPr>
        <p:spPr>
          <a:xfrm xmlns:a="http://schemas.openxmlformats.org/drawingml/2006/main">
            <a:off x="2667000" y="45085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7" name="18b-text-18">
            <a:extLst xmlns:a="http://schemas.openxmlformats.org/drawingml/2006/main">
              <a:ext uri="{FF2B5EF4-FFF2-40B4-BE49-F238E27FC236}">
                <a16:creationId xmlns:a16="http://schemas.microsoft.com/office/drawing/2014/main" id="{13EEDCD6-9DA2-4C6C-92DE-5C55D123F8DD}"/>
              </a:ext>
            </a:extLst>
          </p:cNvPr>
          <p:cNvSpPr>
            <a:spLocks xmlns:a="http://schemas.openxmlformats.org/drawingml/2006/main"/>
          </p:cNvSpPr>
          <p:nvPr/>
        </p:nvSpPr>
        <p:spPr>
          <a:xfrm xmlns:a="http://schemas.openxmlformats.org/drawingml/2006/main">
            <a:off x="609600" y="58674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8" name="18b-text-19">
            <a:extLst xmlns:a="http://schemas.openxmlformats.org/drawingml/2006/main">
              <a:ext uri="{FF2B5EF4-FFF2-40B4-BE49-F238E27FC236}">
                <a16:creationId xmlns:a16="http://schemas.microsoft.com/office/drawing/2014/main" id="{45D91138-0C0B-47A8-AB11-C79A2E5FA883}"/>
              </a:ext>
            </a:extLst>
          </p:cNvPr>
          <p:cNvSpPr>
            <a:spLocks xmlns:a="http://schemas.openxmlformats.org/drawingml/2006/main"/>
          </p:cNvSpPr>
          <p:nvPr/>
        </p:nvSpPr>
        <p:spPr>
          <a:xfrm xmlns:a="http://schemas.openxmlformats.org/drawingml/2006/main">
            <a:off x="3657600" y="58674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19" name="18b-text-20">
            <a:extLst xmlns:a="http://schemas.openxmlformats.org/drawingml/2006/main">
              <a:ext uri="{FF2B5EF4-FFF2-40B4-BE49-F238E27FC236}">
                <a16:creationId xmlns:a16="http://schemas.microsoft.com/office/drawing/2014/main" id="{67AA1851-4CC4-4DE8-BDB9-D8C469C6B279}"/>
              </a:ext>
            </a:extLst>
          </p:cNvPr>
          <p:cNvSpPr>
            <a:spLocks xmlns:a="http://schemas.openxmlformats.org/drawingml/2006/main"/>
          </p:cNvSpPr>
          <p:nvPr/>
        </p:nvSpPr>
        <p:spPr>
          <a:xfrm xmlns:a="http://schemas.openxmlformats.org/drawingml/2006/main">
            <a:off x="6248400" y="4775200"/>
            <a:ext cx="53340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20" name="18b-text-21">
            <a:extLst xmlns:a="http://schemas.openxmlformats.org/drawingml/2006/main">
              <a:ext uri="{FF2B5EF4-FFF2-40B4-BE49-F238E27FC236}">
                <a16:creationId xmlns:a16="http://schemas.microsoft.com/office/drawing/2014/main" id="{14ABA783-C36A-4414-A317-A569901A2C98}"/>
              </a:ext>
            </a:extLst>
          </p:cNvPr>
          <p:cNvSpPr>
            <a:spLocks xmlns:a="http://schemas.openxmlformats.org/drawingml/2006/main"/>
          </p:cNvSpPr>
          <p:nvPr/>
        </p:nvSpPr>
        <p:spPr>
          <a:xfrm xmlns:a="http://schemas.openxmlformats.org/drawingml/2006/main">
            <a:off x="6248400" y="5638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Simon Willison, June 2025</a:t>
            </a:r>
          </a:p>
        </p:txBody>
      </p:sp>
      <p:sp>
        <p:nvSpPr>
          <p:cNvPr id="21" name="18b-text-22">
            <a:extLst xmlns:a="http://schemas.openxmlformats.org/drawingml/2006/main">
              <a:ext uri="{FF2B5EF4-FFF2-40B4-BE49-F238E27FC236}">
                <a16:creationId xmlns:a16="http://schemas.microsoft.com/office/drawing/2014/main" id="{8391B7C5-0012-4E0A-B041-17B12A62CA2B}"/>
              </a:ext>
            </a:extLst>
          </p:cNvPr>
          <p:cNvSpPr>
            <a:spLocks xmlns:a="http://schemas.openxmlformats.org/drawingml/2006/main"/>
          </p:cNvSpPr>
          <p:nvPr/>
        </p:nvSpPr>
        <p:spPr>
          <a:xfrm xmlns:a="http://schemas.openxmlformats.org/drawingml/2006/main">
            <a:off x="609600" y="1638300"/>
            <a:ext cx="109728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22" name="18b-text-23">
            <a:extLst xmlns:a="http://schemas.openxmlformats.org/drawingml/2006/main">
              <a:ext uri="{FF2B5EF4-FFF2-40B4-BE49-F238E27FC236}">
                <a16:creationId xmlns:a16="http://schemas.microsoft.com/office/drawing/2014/main" id="{D4CBF1E8-9F6E-44B4-94E7-BC32B7D95091}"/>
              </a:ext>
            </a:extLst>
          </p:cNvPr>
          <p:cNvSpPr>
            <a:spLocks xmlns:a="http://schemas.openxmlformats.org/drawingml/2006/main"/>
          </p:cNvSpPr>
          <p:nvPr/>
        </p:nvSpPr>
        <p:spPr>
          <a:xfrm xmlns:a="http://schemas.openxmlformats.org/drawingml/2006/main">
            <a:off x="609600" y="3124200"/>
            <a:ext cx="109728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23" name="18b-text-24">
            <a:extLst xmlns:a="http://schemas.openxmlformats.org/drawingml/2006/main">
              <a:ext uri="{FF2B5EF4-FFF2-40B4-BE49-F238E27FC236}">
                <a16:creationId xmlns:a16="http://schemas.microsoft.com/office/drawing/2014/main" id="{1DDA1E11-0349-4E76-9BF0-001F4543B2DC}"/>
              </a:ext>
            </a:extLst>
          </p:cNvPr>
          <p:cNvSpPr>
            <a:spLocks xmlns:a="http://schemas.openxmlformats.org/drawingml/2006/main"/>
          </p:cNvSpPr>
          <p:nvPr/>
        </p:nvSpPr>
        <p:spPr>
          <a:xfrm xmlns:a="http://schemas.openxmlformats.org/drawingml/2006/main">
            <a:off x="609600" y="4610100"/>
            <a:ext cx="109728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Tree>
    <p:extLst>
      <p:ext uri="{BB962C8B-B14F-4D97-AF65-F5344CB8AC3E}">
        <p14:creationId xmlns:p14="http://schemas.microsoft.com/office/powerpoint/2010/main" val="129115534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4"/>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5"/>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6"/>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7"/>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9"/>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0"/>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1"/>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2"/>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3"/>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5"/>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6"/>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17"/>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8"/>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9"/>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20"/>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area-name">
            <a:extLst xmlns:a="http://schemas.openxmlformats.org/drawingml/2006/main">
              <a:ext uri="{FF2B5EF4-FFF2-40B4-BE49-F238E27FC236}">
                <a16:creationId xmlns:a16="http://schemas.microsoft.com/office/drawing/2014/main" id="{8967F2DA-D2F9-42EF-8755-9675782BDB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16" name="mini-map"/>
          <p:cNvPicPr>
            <a:picLocks xmlns:a="http://schemas.openxmlformats.org/drawingml/2006/main" noChangeAspect="1"/>
          </p:cNvPicPr>
          <p:nvPr/>
        </p:nvPicPr>
        <p:blipFill>
          <a:blip xmlns:r="http://schemas.openxmlformats.org/officeDocument/2006/relationships" xmlns:a="http://schemas.openxmlformats.org/drawingml/2006/main" r:embed="R0033906760be484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27029004-3E3E-4248-BFBC-707E382893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graphicFrame>
        <p:nvGraphicFramePr>
          <p:cNvPr id="18" name="19-table-1"/>
          <p:cNvGraphicFramePr/>
          <p:nvPr/>
        </p:nvGraphicFramePr>
        <p:xfrm>
          <a:off xmlns:a="http://schemas.openxmlformats.org/drawingml/2006/main" x="609600" y="1727200"/>
          <a:ext xmlns:a="http://schemas.openxmlformats.org/drawingml/2006/main" cx="10972800" cy="3492500"/>
        </p:xfrm>
        <a:graphic xmlns:a="http://schemas.openxmlformats.org/drawingml/2006/main">
          <a:graphicData uri="http://schemas.openxmlformats.org/drawingml/2006/table">
            <a:tbl>
              <a:tblPr firstRow="0" firstCol="0" lastCol="0" bandRow="0" bandCol="0"/>
              <a:tblGrid>
                <a:gridCol w="5334000"/>
                <a:gridCol w="304800"/>
                <a:gridCol w="5334000"/>
              </a:tblGrid>
              <a:tr h="558800">
                <a:tc>
                  <a:txBody>
                    <a:bodyPr>
                      <a:noAutofit/>
                    </a:bodyPr>
                    <a:lstStyle/>
                    <a:p>
                      <a:pPr>
                        <a:lnSpc>
                          <a:spcPct val="125000"/>
                        </a:lnSpc>
                        <a:buNone/>
                      </a:pPr>
                      <a:r>
                        <a:rPr sz="2400" b="1">
                          <a:solidFill>
                            <a:srgbClr val="FDAD00"/>
                          </a:solidFill>
                          <a:latin typeface="Helvetica"/>
                          <a:ea typeface="Helvetica"/>
                          <a:cs typeface="Helvetica"/>
                        </a:rPr>
                        <a:t>In the coding agent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In your deployment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The 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Human approval, async workflow,</a:t>
                      </a:r>
                    </a:p>
                    <a:p>
                      <a:pPr>
                        <a:lnSpc>
                          <a:spcPct val="125000"/>
                        </a:lnSpc>
                        <a:buNone/>
                      </a:pPr>
                      <a:r>
                        <a:rPr sz="2000" b="0">
                          <a:solidFill>
                            <a:srgbClr val="FFFCF5"/>
                          </a:solidFill>
                          <a:latin typeface="Helvetica"/>
                          <a:ea typeface="Helvetica"/>
                          <a:cs typeface="Helvetica"/>
                        </a:rPr>
                        <a:t>or enforced policy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The sandbox</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infrastructure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The 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accountability record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90600">
                <a:tc>
                  <a:txBody>
                    <a:bodyPr>
                      <a:noAutofit/>
                    </a:bodyPr>
                    <a:lstStyle/>
                    <a:p>
                      <a:pPr>
                        <a:lnSpc>
                          <a:spcPct val="125000"/>
                        </a:lnSpc>
                        <a:buNone/>
                      </a:pPr>
                      <a:r>
                        <a:rPr sz="2000" b="0">
                          <a:solidFill>
                            <a:srgbClr val="FFFCF5"/>
                          </a:solidFill>
                          <a:latin typeface="Helvetica"/>
                          <a:ea typeface="Helvetica"/>
                          <a:cs typeface="Helvetica"/>
                        </a:rPr>
                        <a:t>A vendor's disclosure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EU AI Act Article 50: disclosure duties</a:t>
                      </a:r>
                    </a:p>
                    <a:p>
                      <a:pPr>
                        <a:lnSpc>
                          <a:spcPct val="125000"/>
                        </a:lnSpc>
                        <a:buNone/>
                      </a:pPr>
                      <a:r>
                        <a:rPr sz="2000" b="0">
                          <a:solidFill>
                            <a:srgbClr val="FFFCF5"/>
                          </a:solidFill>
                          <a:latin typeface="Helvetica"/>
                          <a:ea typeface="Helvetica"/>
                          <a:cs typeface="Helvetica"/>
                        </a:rPr>
                        <a:t>for covered direct AI interactions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 name="19-shape-2">
            <a:extLst xmlns:a="http://schemas.openxmlformats.org/drawingml/2006/main">
              <a:ext uri="{FF2B5EF4-FFF2-40B4-BE49-F238E27FC236}">
                <a16:creationId xmlns:a16="http://schemas.microsoft.com/office/drawing/2014/main" id="{E099B09F-5529-4FF8-87C4-FE7176AD3E79}"/>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 name="19-shape-3">
            <a:extLst xmlns:a="http://schemas.openxmlformats.org/drawingml/2006/main">
              <a:ext uri="{FF2B5EF4-FFF2-40B4-BE49-F238E27FC236}">
                <a16:creationId xmlns:a16="http://schemas.microsoft.com/office/drawing/2014/main" id="{0F2D0D1C-3CBB-4C1F-8996-798693B73098}"/>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7" name="19-text-4">
            <a:extLst xmlns:a="http://schemas.openxmlformats.org/drawingml/2006/main">
              <a:ext uri="{FF2B5EF4-FFF2-40B4-BE49-F238E27FC236}">
                <a16:creationId xmlns:a16="http://schemas.microsoft.com/office/drawing/2014/main" id="{903F7F0A-74FC-478C-84CE-D2D39A661DB1}"/>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8" name="19-text-5">
            <a:extLst xmlns:a="http://schemas.openxmlformats.org/drawingml/2006/main">
              <a:ext uri="{FF2B5EF4-FFF2-40B4-BE49-F238E27FC236}">
                <a16:creationId xmlns:a16="http://schemas.microsoft.com/office/drawing/2014/main" id="{AA3E7DAC-5132-4A8A-9344-075A84E84DCC}"/>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9" name="19-line-7">
            <a:extLst xmlns:a="http://schemas.openxmlformats.org/drawingml/2006/main">
              <a:ext uri="{FF2B5EF4-FFF2-40B4-BE49-F238E27FC236}">
                <a16:creationId xmlns:a16="http://schemas.microsoft.com/office/drawing/2014/main" id="{26B735AF-8B41-4247-8FC5-230922852FB9}"/>
              </a:ext>
            </a:extLst>
          </p:cNvPr>
          <p:cNvSpPr>
            <a:spLocks xmlns:a="http://schemas.openxmlformats.org/drawingml/2006/main"/>
          </p:cNvSpPr>
          <p:nvPr/>
        </p:nvSpPr>
        <p:spPr>
          <a:xfrm xmlns:a="http://schemas.openxmlformats.org/drawingml/2006/main" flipH="0" flipV="0">
            <a:off x="94488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0" name="19-line-9">
            <a:extLst xmlns:a="http://schemas.openxmlformats.org/drawingml/2006/main">
              <a:ext uri="{FF2B5EF4-FFF2-40B4-BE49-F238E27FC236}">
                <a16:creationId xmlns:a16="http://schemas.microsoft.com/office/drawing/2014/main" id="{D256B7C2-4F54-4DE5-915A-ADA1CDA16EA4}"/>
              </a:ext>
            </a:extLst>
          </p:cNvPr>
          <p:cNvSpPr>
            <a:spLocks xmlns:a="http://schemas.openxmlformats.org/drawingml/2006/main"/>
          </p:cNvSpPr>
          <p:nvPr/>
        </p:nvSpPr>
        <p:spPr>
          <a:xfrm xmlns:a="http://schemas.openxmlformats.org/drawingml/2006/main" flipH="1" flipV="0">
            <a:off x="84836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1" name="19-line-11">
            <a:extLst xmlns:a="http://schemas.openxmlformats.org/drawingml/2006/main">
              <a:ext uri="{FF2B5EF4-FFF2-40B4-BE49-F238E27FC236}">
                <a16:creationId xmlns:a16="http://schemas.microsoft.com/office/drawing/2014/main" id="{4F428768-8F39-44EC-8B29-C57C951A08CD}"/>
              </a:ext>
            </a:extLst>
          </p:cNvPr>
          <p:cNvSpPr>
            <a:spLocks xmlns:a="http://schemas.openxmlformats.org/drawingml/2006/main"/>
          </p:cNvSpPr>
          <p:nvPr/>
        </p:nvSpPr>
        <p:spPr>
          <a:xfrm xmlns:a="http://schemas.openxmlformats.org/drawingml/2006/main" flipH="0" flipV="1">
            <a:off x="84836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2" name="19-text-12">
            <a:extLst xmlns:a="http://schemas.openxmlformats.org/drawingml/2006/main">
              <a:ext uri="{FF2B5EF4-FFF2-40B4-BE49-F238E27FC236}">
                <a16:creationId xmlns:a16="http://schemas.microsoft.com/office/drawing/2014/main" id="{99D0DFC1-87DA-4D5D-A1D7-3F52B1611A8C}"/>
              </a:ext>
            </a:extLst>
          </p:cNvPr>
          <p:cNvSpPr>
            <a:spLocks xmlns:a="http://schemas.openxmlformats.org/drawingml/2006/main"/>
          </p:cNvSpPr>
          <p:nvPr/>
        </p:nvSpPr>
        <p:spPr>
          <a:xfrm xmlns:a="http://schemas.openxmlformats.org/drawingml/2006/main">
            <a:off x="88392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3" name="19-text-13">
            <a:extLst xmlns:a="http://schemas.openxmlformats.org/drawingml/2006/main">
              <a:ext uri="{FF2B5EF4-FFF2-40B4-BE49-F238E27FC236}">
                <a16:creationId xmlns:a16="http://schemas.microsoft.com/office/drawing/2014/main" id="{9C396E80-513D-45F2-88DD-168C747EF37D}"/>
              </a:ext>
            </a:extLst>
          </p:cNvPr>
          <p:cNvSpPr>
            <a:spLocks xmlns:a="http://schemas.openxmlformats.org/drawingml/2006/main"/>
          </p:cNvSpPr>
          <p:nvPr/>
        </p:nvSpPr>
        <p:spPr>
          <a:xfrm xmlns:a="http://schemas.openxmlformats.org/drawingml/2006/main">
            <a:off x="74676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4" name="19-text-14">
            <a:extLst xmlns:a="http://schemas.openxmlformats.org/drawingml/2006/main">
              <a:ext uri="{FF2B5EF4-FFF2-40B4-BE49-F238E27FC236}">
                <a16:creationId xmlns:a16="http://schemas.microsoft.com/office/drawing/2014/main" id="{C8B9CA6C-E457-45BF-B79F-155812D2BB32}"/>
              </a:ext>
            </a:extLst>
          </p:cNvPr>
          <p:cNvSpPr>
            <a:spLocks xmlns:a="http://schemas.openxmlformats.org/drawingml/2006/main"/>
          </p:cNvSpPr>
          <p:nvPr/>
        </p:nvSpPr>
        <p:spPr>
          <a:xfrm xmlns:a="http://schemas.openxmlformats.org/drawingml/2006/main">
            <a:off x="94996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Tree>
    <p:extLst>
      <p:ext uri="{BB962C8B-B14F-4D97-AF65-F5344CB8AC3E}">
        <p14:creationId xmlns:p14="http://schemas.microsoft.com/office/powerpoint/2010/main" val="186984370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fill="hold"/>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fill="hold"/>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00" fill="hold"/>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300" fill="hold"/>
                                        <p:tgtEl>
                                          <p:spTgt spid="8"/>
                                        </p:tgtEl>
                                      </p:cBhvr>
                                    </p:animEffec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2" name="19b-image-1"/>
          <p:cNvPicPr>
            <a:picLocks xmlns:a="http://schemas.openxmlformats.org/drawingml/2006/main" noChangeAspect="1"/>
          </p:cNvPicPr>
          <p:nvPr/>
        </p:nvPicPr>
        <p:blipFill>
          <a:blip xmlns:r="http://schemas.openxmlformats.org/officeDocument/2006/relationships" xmlns:a="http://schemas.openxmlformats.org/drawingml/2006/main" r:embed="Re3bbf85e715d4c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43780441"/>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 name="!!area-name">
            <a:extLst xmlns:a="http://schemas.openxmlformats.org/drawingml/2006/main">
              <a:ext uri="{FF2B5EF4-FFF2-40B4-BE49-F238E27FC236}">
                <a16:creationId xmlns:a16="http://schemas.microsoft.com/office/drawing/2014/main" id="{48551A63-D4D3-4795-9806-1D35ABE46C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9" name="mini-map"/>
          <p:cNvPicPr>
            <a:picLocks xmlns:a="http://schemas.openxmlformats.org/drawingml/2006/main" noChangeAspect="1"/>
          </p:cNvPicPr>
          <p:nvPr/>
        </p:nvPicPr>
        <p:blipFill>
          <a:blip xmlns:r="http://schemas.openxmlformats.org/officeDocument/2006/relationships" xmlns:a="http://schemas.openxmlformats.org/drawingml/2006/main" r:embed="R658d3fd949c64e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BEA7A404-CDF6-4ECC-894F-911F66380B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graphicFrame>
        <p:nvGraphicFramePr>
          <p:cNvPr id="11" name="20-table-1"/>
          <p:cNvGraphicFramePr/>
          <p:nvPr/>
        </p:nvGraphicFramePr>
        <p:xfrm>
          <a:off xmlns:a="http://schemas.openxmlformats.org/drawingml/2006/main" x="609600" y="1638300"/>
          <a:ext xmlns:a="http://schemas.openxmlformats.org/drawingml/2006/main" cx="10972800" cy="36703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239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 name="20-text-2">
            <a:extLst xmlns:a="http://schemas.openxmlformats.org/drawingml/2006/main">
              <a:ext uri="{FF2B5EF4-FFF2-40B4-BE49-F238E27FC236}">
                <a16:creationId xmlns:a16="http://schemas.microsoft.com/office/drawing/2014/main" id="{ADC73DF1-148C-4B36-89AF-140D5293F927}"/>
              </a:ext>
            </a:extLst>
          </p:cNvPr>
          <p:cNvSpPr>
            <a:spLocks xmlns:a="http://schemas.openxmlformats.org/drawingml/2006/main"/>
          </p:cNvSpPr>
          <p:nvPr/>
        </p:nvSpPr>
        <p:spPr>
          <a:xfrm xmlns:a="http://schemas.openxmlformats.org/drawingml/2006/main">
            <a:off x="609600" y="22225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6" name="20-text-3">
            <a:extLst xmlns:a="http://schemas.openxmlformats.org/drawingml/2006/main">
              <a:ext uri="{FF2B5EF4-FFF2-40B4-BE49-F238E27FC236}">
                <a16:creationId xmlns:a16="http://schemas.microsoft.com/office/drawing/2014/main" id="{393D045D-8D85-47B2-8C64-BADE8D463333}"/>
              </a:ext>
            </a:extLst>
          </p:cNvPr>
          <p:cNvSpPr>
            <a:spLocks xmlns:a="http://schemas.openxmlformats.org/drawingml/2006/main"/>
          </p:cNvSpPr>
          <p:nvPr/>
        </p:nvSpPr>
        <p:spPr>
          <a:xfrm xmlns:a="http://schemas.openxmlformats.org/drawingml/2006/main">
            <a:off x="609600" y="39751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7" name="20-text-4">
            <a:extLst xmlns:a="http://schemas.openxmlformats.org/drawingml/2006/main">
              <a:ext uri="{FF2B5EF4-FFF2-40B4-BE49-F238E27FC236}">
                <a16:creationId xmlns:a16="http://schemas.microsoft.com/office/drawing/2014/main" id="{62462200-96B0-41D2-A0B1-0B5DAD5147DC}"/>
              </a:ext>
            </a:extLst>
          </p:cNvPr>
          <p:cNvSpPr>
            <a:spLocks xmlns:a="http://schemas.openxmlformats.org/drawingml/2006/main"/>
          </p:cNvSpPr>
          <p:nvPr/>
        </p:nvSpPr>
        <p:spPr>
          <a:xfrm xmlns:a="http://schemas.openxmlformats.org/drawingml/2006/main">
            <a:off x="609600" y="5410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Matt Morgis, Elsevier, via The Pragmatic Engineer, March 2025</a:t>
            </a:r>
          </a:p>
        </p:txBody>
      </p:sp>
    </p:spTree>
    <p:extLst>
      <p:ext uri="{BB962C8B-B14F-4D97-AF65-F5344CB8AC3E}">
        <p14:creationId xmlns:p14="http://schemas.microsoft.com/office/powerpoint/2010/main" val="122448878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name">
            <a:extLst xmlns:a="http://schemas.openxmlformats.org/drawingml/2006/main">
              <a:ext uri="{FF2B5EF4-FFF2-40B4-BE49-F238E27FC236}">
                <a16:creationId xmlns:a16="http://schemas.microsoft.com/office/drawing/2014/main" id="{5959A485-B5E4-4484-9AE3-0A3B7D3B5D5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5" name="mini-map"/>
          <p:cNvPicPr>
            <a:picLocks xmlns:a="http://schemas.openxmlformats.org/drawingml/2006/main" noChangeAspect="1"/>
          </p:cNvPicPr>
          <p:nvPr/>
        </p:nvPicPr>
        <p:blipFill>
          <a:blip xmlns:r="http://schemas.openxmlformats.org/officeDocument/2006/relationships" xmlns:a="http://schemas.openxmlformats.org/drawingml/2006/main" r:embed="R322acd89f0c947b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3F6ADCC3-4C88-48BD-959A-6FCF509C37E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 name="21-text-1">
            <a:extLst xmlns:a="http://schemas.openxmlformats.org/drawingml/2006/main">
              <a:ext uri="{FF2B5EF4-FFF2-40B4-BE49-F238E27FC236}">
                <a16:creationId xmlns:a16="http://schemas.microsoft.com/office/drawing/2014/main" id="{B9DF2687-625C-41F4-91E8-D92DF9BE7041}"/>
              </a:ext>
            </a:extLst>
          </p:cNvPr>
          <p:cNvSpPr>
            <a:spLocks xmlns:a="http://schemas.openxmlformats.org/drawingml/2006/main"/>
          </p:cNvSpPr>
          <p:nvPr/>
        </p:nvSpPr>
        <p:spPr>
          <a:xfrm xmlns:a="http://schemas.openxmlformats.org/drawingml/2006/main">
            <a:off x="609600" y="3962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 name="21-line-3">
            <a:extLst xmlns:a="http://schemas.openxmlformats.org/drawingml/2006/main">
              <a:ext uri="{FF2B5EF4-FFF2-40B4-BE49-F238E27FC236}">
                <a16:creationId xmlns:a16="http://schemas.microsoft.com/office/drawing/2014/main" id="{9F3D9445-9D14-4713-9B51-103E649E4781}"/>
              </a:ext>
            </a:extLst>
          </p:cNvPr>
          <p:cNvSpPr>
            <a:spLocks xmlns:a="http://schemas.openxmlformats.org/drawingml/2006/main"/>
          </p:cNvSpPr>
          <p:nvPr/>
        </p:nvSpPr>
        <p:spPr>
          <a:xfrm xmlns:a="http://schemas.openxmlformats.org/drawingml/2006/main" flipH="0" flipV="0">
            <a:off x="609600" y="4445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6" name="21-text-4">
            <a:extLst xmlns:a="http://schemas.openxmlformats.org/drawingml/2006/main">
              <a:ext uri="{FF2B5EF4-FFF2-40B4-BE49-F238E27FC236}">
                <a16:creationId xmlns:a16="http://schemas.microsoft.com/office/drawing/2014/main" id="{6FD3CF47-8650-4C55-86C9-75D1F77FA890}"/>
              </a:ext>
            </a:extLst>
          </p:cNvPr>
          <p:cNvSpPr>
            <a:spLocks xmlns:a="http://schemas.openxmlformats.org/drawingml/2006/main"/>
          </p:cNvSpPr>
          <p:nvPr/>
        </p:nvSpPr>
        <p:spPr>
          <a:xfrm xmlns:a="http://schemas.openxmlformats.org/drawingml/2006/main">
            <a:off x="609600" y="4597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7" name="21-text-5">
            <a:extLst xmlns:a="http://schemas.openxmlformats.org/drawingml/2006/main">
              <a:ext uri="{FF2B5EF4-FFF2-40B4-BE49-F238E27FC236}">
                <a16:creationId xmlns:a16="http://schemas.microsoft.com/office/drawing/2014/main" id="{4BA45BE0-C784-404D-B75B-29072019DFA9}"/>
              </a:ext>
            </a:extLst>
          </p:cNvPr>
          <p:cNvSpPr>
            <a:spLocks xmlns:a="http://schemas.openxmlformats.org/drawingml/2006/main"/>
          </p:cNvSpPr>
          <p:nvPr/>
        </p:nvSpPr>
        <p:spPr>
          <a:xfrm xmlns:a="http://schemas.openxmlformats.org/drawingml/2006/main">
            <a:off x="4368800" y="3073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8" name="21-line-7">
            <a:extLst xmlns:a="http://schemas.openxmlformats.org/drawingml/2006/main">
              <a:ext uri="{FF2B5EF4-FFF2-40B4-BE49-F238E27FC236}">
                <a16:creationId xmlns:a16="http://schemas.microsoft.com/office/drawing/2014/main" id="{8A4A4016-E85F-4A6F-96D9-EB0718913720}"/>
              </a:ext>
            </a:extLst>
          </p:cNvPr>
          <p:cNvSpPr>
            <a:spLocks xmlns:a="http://schemas.openxmlformats.org/drawingml/2006/main"/>
          </p:cNvSpPr>
          <p:nvPr/>
        </p:nvSpPr>
        <p:spPr>
          <a:xfrm xmlns:a="http://schemas.openxmlformats.org/drawingml/2006/main" flipH="0" flipV="0">
            <a:off x="4368800" y="3556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9" name="21-text-8">
            <a:extLst xmlns:a="http://schemas.openxmlformats.org/drawingml/2006/main">
              <a:ext uri="{FF2B5EF4-FFF2-40B4-BE49-F238E27FC236}">
                <a16:creationId xmlns:a16="http://schemas.microsoft.com/office/drawing/2014/main" id="{15D4EE42-94F3-4FA5-8431-C7AB1ED386C1}"/>
              </a:ext>
            </a:extLst>
          </p:cNvPr>
          <p:cNvSpPr>
            <a:spLocks xmlns:a="http://schemas.openxmlformats.org/drawingml/2006/main"/>
          </p:cNvSpPr>
          <p:nvPr/>
        </p:nvSpPr>
        <p:spPr>
          <a:xfrm xmlns:a="http://schemas.openxmlformats.org/drawingml/2006/main">
            <a:off x="4368800" y="3708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10" name="21-text-9">
            <a:extLst xmlns:a="http://schemas.openxmlformats.org/drawingml/2006/main">
              <a:ext uri="{FF2B5EF4-FFF2-40B4-BE49-F238E27FC236}">
                <a16:creationId xmlns:a16="http://schemas.microsoft.com/office/drawing/2014/main" id="{AEF7F9E1-47B6-4315-BCB6-F7476D4ED636}"/>
              </a:ext>
            </a:extLst>
          </p:cNvPr>
          <p:cNvSpPr>
            <a:spLocks xmlns:a="http://schemas.openxmlformats.org/drawingml/2006/main"/>
          </p:cNvSpPr>
          <p:nvPr/>
        </p:nvSpPr>
        <p:spPr>
          <a:xfrm xmlns:a="http://schemas.openxmlformats.org/drawingml/2006/main">
            <a:off x="8128000" y="2184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11" name="21-line-11">
            <a:extLst xmlns:a="http://schemas.openxmlformats.org/drawingml/2006/main">
              <a:ext uri="{FF2B5EF4-FFF2-40B4-BE49-F238E27FC236}">
                <a16:creationId xmlns:a16="http://schemas.microsoft.com/office/drawing/2014/main" id="{D27BC1C0-8144-4E3A-8EF1-76368825D902}"/>
              </a:ext>
            </a:extLst>
          </p:cNvPr>
          <p:cNvSpPr>
            <a:spLocks xmlns:a="http://schemas.openxmlformats.org/drawingml/2006/main"/>
          </p:cNvSpPr>
          <p:nvPr/>
        </p:nvSpPr>
        <p:spPr>
          <a:xfrm xmlns:a="http://schemas.openxmlformats.org/drawingml/2006/main" flipH="0" flipV="0">
            <a:off x="8128000" y="2667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2" name="21-text-12">
            <a:extLst xmlns:a="http://schemas.openxmlformats.org/drawingml/2006/main">
              <a:ext uri="{FF2B5EF4-FFF2-40B4-BE49-F238E27FC236}">
                <a16:creationId xmlns:a16="http://schemas.microsoft.com/office/drawing/2014/main" id="{E19A0CFD-0758-486B-A3FE-7B33CBFECAE1}"/>
              </a:ext>
            </a:extLst>
          </p:cNvPr>
          <p:cNvSpPr>
            <a:spLocks xmlns:a="http://schemas.openxmlformats.org/drawingml/2006/main"/>
          </p:cNvSpPr>
          <p:nvPr/>
        </p:nvSpPr>
        <p:spPr>
          <a:xfrm xmlns:a="http://schemas.openxmlformats.org/drawingml/2006/main">
            <a:off x="8128000" y="2819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13" name="21-text-13">
            <a:extLst xmlns:a="http://schemas.openxmlformats.org/drawingml/2006/main">
              <a:ext uri="{FF2B5EF4-FFF2-40B4-BE49-F238E27FC236}">
                <a16:creationId xmlns:a16="http://schemas.microsoft.com/office/drawing/2014/main" id="{D7E58A57-486D-4DA4-8998-41E3E2A94D57}"/>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Tree>
    <p:extLst>
      <p:ext uri="{BB962C8B-B14F-4D97-AF65-F5344CB8AC3E}">
        <p14:creationId xmlns:p14="http://schemas.microsoft.com/office/powerpoint/2010/main" val="680645085"/>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name">
            <a:extLst xmlns:a="http://schemas.openxmlformats.org/drawingml/2006/main">
              <a:ext uri="{FF2B5EF4-FFF2-40B4-BE49-F238E27FC236}">
                <a16:creationId xmlns:a16="http://schemas.microsoft.com/office/drawing/2014/main" id="{0DAA3AFC-FFC2-4F3C-85C4-CDA96D5CF0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4" name="mini-map"/>
          <p:cNvPicPr>
            <a:picLocks xmlns:a="http://schemas.openxmlformats.org/drawingml/2006/main" noChangeAspect="1"/>
          </p:cNvPicPr>
          <p:nvPr/>
        </p:nvPicPr>
        <p:blipFill>
          <a:blip xmlns:r="http://schemas.openxmlformats.org/officeDocument/2006/relationships" xmlns:a="http://schemas.openxmlformats.org/drawingml/2006/main" r:embed="R8058be7cda4146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21b-text-1">
            <a:extLst xmlns:a="http://schemas.openxmlformats.org/drawingml/2006/main">
              <a:ext uri="{FF2B5EF4-FFF2-40B4-BE49-F238E27FC236}">
                <a16:creationId xmlns:a16="http://schemas.microsoft.com/office/drawing/2014/main" id="{FF853BED-A640-4D59-84C4-04C09CE34A0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 name="21b-text-2">
            <a:extLst xmlns:a="http://schemas.openxmlformats.org/drawingml/2006/main">
              <a:ext uri="{FF2B5EF4-FFF2-40B4-BE49-F238E27FC236}">
                <a16:creationId xmlns:a16="http://schemas.microsoft.com/office/drawing/2014/main" id="{8CCB2D5D-0128-4879-BBD8-71496E200E74}"/>
              </a:ext>
            </a:extLst>
          </p:cNvPr>
          <p:cNvSpPr>
            <a:spLocks xmlns:a="http://schemas.openxmlformats.org/drawingml/2006/main"/>
          </p:cNvSpPr>
          <p:nvPr/>
        </p:nvSpPr>
        <p:spPr>
          <a:xfrm xmlns:a="http://schemas.openxmlformats.org/drawingml/2006/main">
            <a:off x="609600" y="1422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 name="21b-text-3">
            <a:extLst xmlns:a="http://schemas.openxmlformats.org/drawingml/2006/main">
              <a:ext uri="{FF2B5EF4-FFF2-40B4-BE49-F238E27FC236}">
                <a16:creationId xmlns:a16="http://schemas.microsoft.com/office/drawing/2014/main" id="{4E382E82-994D-4333-98AD-6B89BD8C20D0}"/>
              </a:ext>
            </a:extLst>
          </p:cNvPr>
          <p:cNvSpPr>
            <a:spLocks xmlns:a="http://schemas.openxmlformats.org/drawingml/2006/main"/>
          </p:cNvSpPr>
          <p:nvPr/>
        </p:nvSpPr>
        <p:spPr>
          <a:xfrm xmlns:a="http://schemas.openxmlformats.org/drawingml/2006/main">
            <a:off x="609600" y="20828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6" name="21b-text-4">
            <a:extLst xmlns:a="http://schemas.openxmlformats.org/drawingml/2006/main">
              <a:ext uri="{FF2B5EF4-FFF2-40B4-BE49-F238E27FC236}">
                <a16:creationId xmlns:a16="http://schemas.microsoft.com/office/drawing/2014/main" id="{E2AB3353-2C1F-4B50-BE76-4B7DB15D457B}"/>
              </a:ext>
            </a:extLst>
          </p:cNvPr>
          <p:cNvSpPr>
            <a:spLocks xmlns:a="http://schemas.openxmlformats.org/drawingml/2006/main"/>
          </p:cNvSpPr>
          <p:nvPr/>
        </p:nvSpPr>
        <p:spPr>
          <a:xfrm xmlns:a="http://schemas.openxmlformats.org/drawingml/2006/main">
            <a:off x="609600" y="2743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7" name="21b-text-5">
            <a:extLst xmlns:a="http://schemas.openxmlformats.org/drawingml/2006/main">
              <a:ext uri="{FF2B5EF4-FFF2-40B4-BE49-F238E27FC236}">
                <a16:creationId xmlns:a16="http://schemas.microsoft.com/office/drawing/2014/main" id="{3D61D8B4-3D16-4752-867A-5C5AAE0649DF}"/>
              </a:ext>
            </a:extLst>
          </p:cNvPr>
          <p:cNvSpPr>
            <a:spLocks xmlns:a="http://schemas.openxmlformats.org/drawingml/2006/main"/>
          </p:cNvSpPr>
          <p:nvPr/>
        </p:nvSpPr>
        <p:spPr>
          <a:xfrm xmlns:a="http://schemas.openxmlformats.org/drawingml/2006/main">
            <a:off x="609600" y="34036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8" name="21b-text-6">
            <a:extLst xmlns:a="http://schemas.openxmlformats.org/drawingml/2006/main">
              <a:ext uri="{FF2B5EF4-FFF2-40B4-BE49-F238E27FC236}">
                <a16:creationId xmlns:a16="http://schemas.microsoft.com/office/drawing/2014/main" id="{C88934AD-14E8-4057-9C52-563CA21C706F}"/>
              </a:ext>
            </a:extLst>
          </p:cNvPr>
          <p:cNvSpPr>
            <a:spLocks xmlns:a="http://schemas.openxmlformats.org/drawingml/2006/main"/>
          </p:cNvSpPr>
          <p:nvPr/>
        </p:nvSpPr>
        <p:spPr>
          <a:xfrm xmlns:a="http://schemas.openxmlformats.org/drawingml/2006/main">
            <a:off x="609600" y="406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9" name="21b-text-7">
            <a:extLst xmlns:a="http://schemas.openxmlformats.org/drawingml/2006/main">
              <a:ext uri="{FF2B5EF4-FFF2-40B4-BE49-F238E27FC236}">
                <a16:creationId xmlns:a16="http://schemas.microsoft.com/office/drawing/2014/main" id="{EC980C30-5C48-45C5-86A7-6E06A9347FAB}"/>
              </a:ext>
            </a:extLst>
          </p:cNvPr>
          <p:cNvSpPr>
            <a:spLocks xmlns:a="http://schemas.openxmlformats.org/drawingml/2006/main"/>
          </p:cNvSpPr>
          <p:nvPr/>
        </p:nvSpPr>
        <p:spPr>
          <a:xfrm xmlns:a="http://schemas.openxmlformats.org/drawingml/2006/main">
            <a:off x="609600" y="4724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10" name="21b-text-8">
            <a:extLst xmlns:a="http://schemas.openxmlformats.org/drawingml/2006/main">
              <a:ext uri="{FF2B5EF4-FFF2-40B4-BE49-F238E27FC236}">
                <a16:creationId xmlns:a16="http://schemas.microsoft.com/office/drawing/2014/main" id="{3F0D9C95-A246-4CC4-B8D7-F8CD3D922A2A}"/>
              </a:ext>
            </a:extLst>
          </p:cNvPr>
          <p:cNvSpPr>
            <a:spLocks xmlns:a="http://schemas.openxmlformats.org/drawingml/2006/main"/>
          </p:cNvSpPr>
          <p:nvPr/>
        </p:nvSpPr>
        <p:spPr>
          <a:xfrm xmlns:a="http://schemas.openxmlformats.org/drawingml/2006/main">
            <a:off x="609600" y="53848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11" name="21b-text-9">
            <a:extLst xmlns:a="http://schemas.openxmlformats.org/drawingml/2006/main">
              <a:ext uri="{FF2B5EF4-FFF2-40B4-BE49-F238E27FC236}">
                <a16:creationId xmlns:a16="http://schemas.microsoft.com/office/drawing/2014/main" id="{3E911933-C0EB-4AAD-9A63-188C344D3904}"/>
              </a:ext>
            </a:extLst>
          </p:cNvPr>
          <p:cNvSpPr>
            <a:spLocks xmlns:a="http://schemas.openxmlformats.org/drawingml/2006/main"/>
          </p:cNvSpPr>
          <p:nvPr/>
        </p:nvSpPr>
        <p:spPr>
          <a:xfrm xmlns:a="http://schemas.openxmlformats.org/drawingml/2006/main">
            <a:off x="609600" y="18669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12" name="21b-text-10">
            <a:extLst xmlns:a="http://schemas.openxmlformats.org/drawingml/2006/main">
              <a:ext uri="{FF2B5EF4-FFF2-40B4-BE49-F238E27FC236}">
                <a16:creationId xmlns:a16="http://schemas.microsoft.com/office/drawing/2014/main" id="{A5F28241-16A7-4716-BDA1-0A0E811D9CF0}"/>
              </a:ext>
            </a:extLst>
          </p:cNvPr>
          <p:cNvSpPr>
            <a:spLocks xmlns:a="http://schemas.openxmlformats.org/drawingml/2006/main"/>
          </p:cNvSpPr>
          <p:nvPr/>
        </p:nvSpPr>
        <p:spPr>
          <a:xfrm xmlns:a="http://schemas.openxmlformats.org/drawingml/2006/main">
            <a:off x="609600" y="48133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Ross McNairn, Wordsmith, via The Pragmatic Engineer, March 2025</a:t>
            </a:r>
          </a:p>
        </p:txBody>
      </p:sp>
    </p:spTree>
    <p:extLst>
      <p:ext uri="{BB962C8B-B14F-4D97-AF65-F5344CB8AC3E}">
        <p14:creationId xmlns:p14="http://schemas.microsoft.com/office/powerpoint/2010/main" val="106740499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 name="!!area-name">
            <a:extLst xmlns:a="http://schemas.openxmlformats.org/drawingml/2006/main">
              <a:ext uri="{FF2B5EF4-FFF2-40B4-BE49-F238E27FC236}">
                <a16:creationId xmlns:a16="http://schemas.microsoft.com/office/drawing/2014/main" id="{3420B954-B62B-4097-BE2A-BFED136BBFE3}"/>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2" name="22-shape-1">
            <a:extLst xmlns:a="http://schemas.openxmlformats.org/drawingml/2006/main">
              <a:ext uri="{FF2B5EF4-FFF2-40B4-BE49-F238E27FC236}">
                <a16:creationId xmlns:a16="http://schemas.microsoft.com/office/drawing/2014/main" id="{1342ABEE-1AC4-4477-8924-9DBE6B671910}"/>
              </a:ext>
            </a:extLst>
          </p:cNvPr>
          <p:cNvSpPr>
            <a:spLocks xmlns:a="http://schemas.openxmlformats.org/drawingml/2006/main"/>
          </p:cNvSpPr>
          <p:nvPr/>
        </p:nvSpPr>
        <p:spPr>
          <a:xfrm xmlns:a="http://schemas.openxmlformats.org/drawingml/2006/main">
            <a:off x="0" y="1219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 name="22-shape-2">
            <a:extLst xmlns:a="http://schemas.openxmlformats.org/drawingml/2006/main">
              <a:ext uri="{FF2B5EF4-FFF2-40B4-BE49-F238E27FC236}">
                <a16:creationId xmlns:a16="http://schemas.microsoft.com/office/drawing/2014/main" id="{34BB8812-08C4-4EF2-A45C-3D700CAD4684}"/>
              </a:ext>
            </a:extLst>
          </p:cNvPr>
          <p:cNvSpPr>
            <a:spLocks xmlns:a="http://schemas.openxmlformats.org/drawingml/2006/main"/>
          </p:cNvSpPr>
          <p:nvPr/>
        </p:nvSpPr>
        <p:spPr>
          <a:xfrm xmlns:a="http://schemas.openxmlformats.org/drawingml/2006/main">
            <a:off x="0" y="12192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 name="22-text-3">
            <a:extLst xmlns:a="http://schemas.openxmlformats.org/drawingml/2006/main">
              <a:ext uri="{FF2B5EF4-FFF2-40B4-BE49-F238E27FC236}">
                <a16:creationId xmlns:a16="http://schemas.microsoft.com/office/drawing/2014/main" id="{409B49D2-AE0B-47EC-8CEB-D53C2A4BC833}"/>
              </a:ext>
            </a:extLst>
          </p:cNvPr>
          <p:cNvSpPr>
            <a:spLocks xmlns:a="http://schemas.openxmlformats.org/drawingml/2006/main"/>
          </p:cNvSpPr>
          <p:nvPr/>
        </p:nvSpPr>
        <p:spPr>
          <a:xfrm xmlns:a="http://schemas.openxmlformats.org/drawingml/2006/main">
            <a:off x="609600" y="1371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 name="22-text-4">
            <a:extLst xmlns:a="http://schemas.openxmlformats.org/drawingml/2006/main">
              <a:ext uri="{FF2B5EF4-FFF2-40B4-BE49-F238E27FC236}">
                <a16:creationId xmlns:a16="http://schemas.microsoft.com/office/drawing/2014/main" id="{929192E8-66B5-4A07-81C5-244AED4EB7A0}"/>
              </a:ext>
            </a:extLst>
          </p:cNvPr>
          <p:cNvSpPr>
            <a:spLocks xmlns:a="http://schemas.openxmlformats.org/drawingml/2006/main"/>
          </p:cNvSpPr>
          <p:nvPr/>
        </p:nvSpPr>
        <p:spPr>
          <a:xfrm xmlns:a="http://schemas.openxmlformats.org/drawingml/2006/main">
            <a:off x="3759200" y="1257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6" name="22-shape-5">
            <a:extLst xmlns:a="http://schemas.openxmlformats.org/drawingml/2006/main">
              <a:ext uri="{FF2B5EF4-FFF2-40B4-BE49-F238E27FC236}">
                <a16:creationId xmlns:a16="http://schemas.microsoft.com/office/drawing/2014/main" id="{98BB4035-0E48-47DD-95D9-DAEB266C08CD}"/>
              </a:ext>
            </a:extLst>
          </p:cNvPr>
          <p:cNvSpPr>
            <a:spLocks xmlns:a="http://schemas.openxmlformats.org/drawingml/2006/main"/>
          </p:cNvSpPr>
          <p:nvPr/>
        </p:nvSpPr>
        <p:spPr>
          <a:xfrm xmlns:a="http://schemas.openxmlformats.org/drawingml/2006/main">
            <a:off x="0" y="2032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7" name="22-shape-6">
            <a:extLst xmlns:a="http://schemas.openxmlformats.org/drawingml/2006/main">
              <a:ext uri="{FF2B5EF4-FFF2-40B4-BE49-F238E27FC236}">
                <a16:creationId xmlns:a16="http://schemas.microsoft.com/office/drawing/2014/main" id="{12694D5E-E450-4923-A615-091DFD4C3C96}"/>
              </a:ext>
            </a:extLst>
          </p:cNvPr>
          <p:cNvSpPr>
            <a:spLocks xmlns:a="http://schemas.openxmlformats.org/drawingml/2006/main"/>
          </p:cNvSpPr>
          <p:nvPr/>
        </p:nvSpPr>
        <p:spPr>
          <a:xfrm xmlns:a="http://schemas.openxmlformats.org/drawingml/2006/main">
            <a:off x="0" y="20320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8" name="22-text-7">
            <a:extLst xmlns:a="http://schemas.openxmlformats.org/drawingml/2006/main">
              <a:ext uri="{FF2B5EF4-FFF2-40B4-BE49-F238E27FC236}">
                <a16:creationId xmlns:a16="http://schemas.microsoft.com/office/drawing/2014/main" id="{E43868D4-A48D-41FB-A742-1ECE689F51D6}"/>
              </a:ext>
            </a:extLst>
          </p:cNvPr>
          <p:cNvSpPr>
            <a:spLocks xmlns:a="http://schemas.openxmlformats.org/drawingml/2006/main"/>
          </p:cNvSpPr>
          <p:nvPr/>
        </p:nvSpPr>
        <p:spPr>
          <a:xfrm xmlns:a="http://schemas.openxmlformats.org/drawingml/2006/main">
            <a:off x="609600" y="2184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9" name="22-text-8">
            <a:extLst xmlns:a="http://schemas.openxmlformats.org/drawingml/2006/main">
              <a:ext uri="{FF2B5EF4-FFF2-40B4-BE49-F238E27FC236}">
                <a16:creationId xmlns:a16="http://schemas.microsoft.com/office/drawing/2014/main" id="{E1B784C2-37D9-4CA0-B439-BC930D2AF028}"/>
              </a:ext>
            </a:extLst>
          </p:cNvPr>
          <p:cNvSpPr>
            <a:spLocks xmlns:a="http://schemas.openxmlformats.org/drawingml/2006/main"/>
          </p:cNvSpPr>
          <p:nvPr/>
        </p:nvSpPr>
        <p:spPr>
          <a:xfrm xmlns:a="http://schemas.openxmlformats.org/drawingml/2006/main">
            <a:off x="3759200" y="2070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10" name="22-shape-9">
            <a:extLst xmlns:a="http://schemas.openxmlformats.org/drawingml/2006/main">
              <a:ext uri="{FF2B5EF4-FFF2-40B4-BE49-F238E27FC236}">
                <a16:creationId xmlns:a16="http://schemas.microsoft.com/office/drawing/2014/main" id="{096E9A56-136D-4A03-9A74-E0704A214402}"/>
              </a:ext>
            </a:extLst>
          </p:cNvPr>
          <p:cNvSpPr>
            <a:spLocks xmlns:a="http://schemas.openxmlformats.org/drawingml/2006/main"/>
          </p:cNvSpPr>
          <p:nvPr/>
        </p:nvSpPr>
        <p:spPr>
          <a:xfrm xmlns:a="http://schemas.openxmlformats.org/drawingml/2006/main">
            <a:off x="0" y="28448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1" name="22-shape-10">
            <a:extLst xmlns:a="http://schemas.openxmlformats.org/drawingml/2006/main">
              <a:ext uri="{FF2B5EF4-FFF2-40B4-BE49-F238E27FC236}">
                <a16:creationId xmlns:a16="http://schemas.microsoft.com/office/drawing/2014/main" id="{09CD101B-11C4-404F-969F-91B6EA5C87D7}"/>
              </a:ext>
            </a:extLst>
          </p:cNvPr>
          <p:cNvSpPr>
            <a:spLocks xmlns:a="http://schemas.openxmlformats.org/drawingml/2006/main"/>
          </p:cNvSpPr>
          <p:nvPr/>
        </p:nvSpPr>
        <p:spPr>
          <a:xfrm xmlns:a="http://schemas.openxmlformats.org/drawingml/2006/main">
            <a:off x="0" y="28448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2" name="22-text-11">
            <a:extLst xmlns:a="http://schemas.openxmlformats.org/drawingml/2006/main">
              <a:ext uri="{FF2B5EF4-FFF2-40B4-BE49-F238E27FC236}">
                <a16:creationId xmlns:a16="http://schemas.microsoft.com/office/drawing/2014/main" id="{86E6FA55-A4B4-4EBD-8898-83F74CFF8605}"/>
              </a:ext>
            </a:extLst>
          </p:cNvPr>
          <p:cNvSpPr>
            <a:spLocks xmlns:a="http://schemas.openxmlformats.org/drawingml/2006/main"/>
          </p:cNvSpPr>
          <p:nvPr/>
        </p:nvSpPr>
        <p:spPr>
          <a:xfrm xmlns:a="http://schemas.openxmlformats.org/drawingml/2006/main">
            <a:off x="609600" y="29972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13" name="22-text-12">
            <a:extLst xmlns:a="http://schemas.openxmlformats.org/drawingml/2006/main">
              <a:ext uri="{FF2B5EF4-FFF2-40B4-BE49-F238E27FC236}">
                <a16:creationId xmlns:a16="http://schemas.microsoft.com/office/drawing/2014/main" id="{174D8BC0-F829-440D-B10C-C99678E40C32}"/>
              </a:ext>
            </a:extLst>
          </p:cNvPr>
          <p:cNvSpPr>
            <a:spLocks xmlns:a="http://schemas.openxmlformats.org/drawingml/2006/main"/>
          </p:cNvSpPr>
          <p:nvPr/>
        </p:nvSpPr>
        <p:spPr>
          <a:xfrm xmlns:a="http://schemas.openxmlformats.org/drawingml/2006/main">
            <a:off x="3759200" y="28829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14" name="22-shape-13">
            <a:extLst xmlns:a="http://schemas.openxmlformats.org/drawingml/2006/main">
              <a:ext uri="{FF2B5EF4-FFF2-40B4-BE49-F238E27FC236}">
                <a16:creationId xmlns:a16="http://schemas.microsoft.com/office/drawing/2014/main" id="{5040B5E3-D229-472C-92AB-EE65FCBD4244}"/>
              </a:ext>
            </a:extLst>
          </p:cNvPr>
          <p:cNvSpPr>
            <a:spLocks xmlns:a="http://schemas.openxmlformats.org/drawingml/2006/main"/>
          </p:cNvSpPr>
          <p:nvPr/>
        </p:nvSpPr>
        <p:spPr>
          <a:xfrm xmlns:a="http://schemas.openxmlformats.org/drawingml/2006/main">
            <a:off x="0" y="36576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5" name="22-shape-14">
            <a:extLst xmlns:a="http://schemas.openxmlformats.org/drawingml/2006/main">
              <a:ext uri="{FF2B5EF4-FFF2-40B4-BE49-F238E27FC236}">
                <a16:creationId xmlns:a16="http://schemas.microsoft.com/office/drawing/2014/main" id="{79CAB2AC-F626-4AD9-BF2C-2E58F590AC16}"/>
              </a:ext>
            </a:extLst>
          </p:cNvPr>
          <p:cNvSpPr>
            <a:spLocks xmlns:a="http://schemas.openxmlformats.org/drawingml/2006/main"/>
          </p:cNvSpPr>
          <p:nvPr/>
        </p:nvSpPr>
        <p:spPr>
          <a:xfrm xmlns:a="http://schemas.openxmlformats.org/drawingml/2006/main">
            <a:off x="0" y="36576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6" name="22-text-15">
            <a:extLst xmlns:a="http://schemas.openxmlformats.org/drawingml/2006/main">
              <a:ext uri="{FF2B5EF4-FFF2-40B4-BE49-F238E27FC236}">
                <a16:creationId xmlns:a16="http://schemas.microsoft.com/office/drawing/2014/main" id="{7A143FEB-EA42-43FB-9BF9-B29E6B75DA66}"/>
              </a:ext>
            </a:extLst>
          </p:cNvPr>
          <p:cNvSpPr>
            <a:spLocks xmlns:a="http://schemas.openxmlformats.org/drawingml/2006/main"/>
          </p:cNvSpPr>
          <p:nvPr/>
        </p:nvSpPr>
        <p:spPr>
          <a:xfrm xmlns:a="http://schemas.openxmlformats.org/drawingml/2006/main">
            <a:off x="609600" y="38100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17" name="22-text-16">
            <a:extLst xmlns:a="http://schemas.openxmlformats.org/drawingml/2006/main">
              <a:ext uri="{FF2B5EF4-FFF2-40B4-BE49-F238E27FC236}">
                <a16:creationId xmlns:a16="http://schemas.microsoft.com/office/drawing/2014/main" id="{48AF67F3-43A1-460A-8C67-648636864040}"/>
              </a:ext>
            </a:extLst>
          </p:cNvPr>
          <p:cNvSpPr>
            <a:spLocks xmlns:a="http://schemas.openxmlformats.org/drawingml/2006/main"/>
          </p:cNvSpPr>
          <p:nvPr/>
        </p:nvSpPr>
        <p:spPr>
          <a:xfrm xmlns:a="http://schemas.openxmlformats.org/drawingml/2006/main">
            <a:off x="3759200" y="36957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18" name="22-shape-17">
            <a:extLst xmlns:a="http://schemas.openxmlformats.org/drawingml/2006/main">
              <a:ext uri="{FF2B5EF4-FFF2-40B4-BE49-F238E27FC236}">
                <a16:creationId xmlns:a16="http://schemas.microsoft.com/office/drawing/2014/main" id="{17F631B3-E11B-4640-B86A-A11F49A0B208}"/>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9" name="22-shape-18">
            <a:extLst xmlns:a="http://schemas.openxmlformats.org/drawingml/2006/main">
              <a:ext uri="{FF2B5EF4-FFF2-40B4-BE49-F238E27FC236}">
                <a16:creationId xmlns:a16="http://schemas.microsoft.com/office/drawing/2014/main" id="{50E2DB06-093A-4F20-A0B5-8DA83572FD9D}"/>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0" name="22-text-19">
            <a:extLst xmlns:a="http://schemas.openxmlformats.org/drawingml/2006/main">
              <a:ext uri="{FF2B5EF4-FFF2-40B4-BE49-F238E27FC236}">
                <a16:creationId xmlns:a16="http://schemas.microsoft.com/office/drawing/2014/main" id="{5553FDA6-8091-4804-801F-277FD5C2ABCD}"/>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21" name="22-text-20">
            <a:extLst xmlns:a="http://schemas.openxmlformats.org/drawingml/2006/main">
              <a:ext uri="{FF2B5EF4-FFF2-40B4-BE49-F238E27FC236}">
                <a16:creationId xmlns:a16="http://schemas.microsoft.com/office/drawing/2014/main" id="{84A0BAF1-6245-418F-8B0F-B5EEBCDF2584}"/>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22" name="22-shape-21">
            <a:extLst xmlns:a="http://schemas.openxmlformats.org/drawingml/2006/main">
              <a:ext uri="{FF2B5EF4-FFF2-40B4-BE49-F238E27FC236}">
                <a16:creationId xmlns:a16="http://schemas.microsoft.com/office/drawing/2014/main" id="{BE5A9E49-A4B4-4D91-8326-CD7E8FCBC1D3}"/>
              </a:ext>
            </a:extLst>
          </p:cNvPr>
          <p:cNvSpPr>
            <a:spLocks xmlns:a="http://schemas.openxmlformats.org/drawingml/2006/main"/>
          </p:cNvSpPr>
          <p:nvPr/>
        </p:nvSpPr>
        <p:spPr>
          <a:xfrm xmlns:a="http://schemas.openxmlformats.org/drawingml/2006/main">
            <a:off x="0" y="5537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3" name="22-shape-22">
            <a:extLst xmlns:a="http://schemas.openxmlformats.org/drawingml/2006/main">
              <a:ext uri="{FF2B5EF4-FFF2-40B4-BE49-F238E27FC236}">
                <a16:creationId xmlns:a16="http://schemas.microsoft.com/office/drawing/2014/main" id="{85C95191-EDFE-42D0-B20A-D7074BC14F52}"/>
              </a:ext>
            </a:extLst>
          </p:cNvPr>
          <p:cNvSpPr>
            <a:spLocks xmlns:a="http://schemas.openxmlformats.org/drawingml/2006/main"/>
          </p:cNvSpPr>
          <p:nvPr/>
        </p:nvSpPr>
        <p:spPr>
          <a:xfrm xmlns:a="http://schemas.openxmlformats.org/drawingml/2006/main">
            <a:off x="0" y="55372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4" name="22-text-23">
            <a:extLst xmlns:a="http://schemas.openxmlformats.org/drawingml/2006/main">
              <a:ext uri="{FF2B5EF4-FFF2-40B4-BE49-F238E27FC236}">
                <a16:creationId xmlns:a16="http://schemas.microsoft.com/office/drawing/2014/main" id="{AEB1C660-9CAF-4249-B165-0A61EF5F3C63}"/>
              </a:ext>
            </a:extLst>
          </p:cNvPr>
          <p:cNvSpPr>
            <a:spLocks xmlns:a="http://schemas.openxmlformats.org/drawingml/2006/main"/>
          </p:cNvSpPr>
          <p:nvPr/>
        </p:nvSpPr>
        <p:spPr>
          <a:xfrm xmlns:a="http://schemas.openxmlformats.org/drawingml/2006/main">
            <a:off x="609600" y="5689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25" name="22-text-24">
            <a:extLst xmlns:a="http://schemas.openxmlformats.org/drawingml/2006/main">
              <a:ext uri="{FF2B5EF4-FFF2-40B4-BE49-F238E27FC236}">
                <a16:creationId xmlns:a16="http://schemas.microsoft.com/office/drawing/2014/main" id="{C8353E04-8C49-4159-A357-E727F11152F3}"/>
              </a:ext>
            </a:extLst>
          </p:cNvPr>
          <p:cNvSpPr>
            <a:spLocks xmlns:a="http://schemas.openxmlformats.org/drawingml/2006/main"/>
          </p:cNvSpPr>
          <p:nvPr/>
        </p:nvSpPr>
        <p:spPr>
          <a:xfrm xmlns:a="http://schemas.openxmlformats.org/drawingml/2006/main">
            <a:off x="3759200" y="5575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Tree>
    <p:extLst>
      <p:ext uri="{BB962C8B-B14F-4D97-AF65-F5344CB8AC3E}">
        <p14:creationId xmlns:p14="http://schemas.microsoft.com/office/powerpoint/2010/main" val="559124844"/>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 name="!!area-name">
            <a:extLst xmlns:a="http://schemas.openxmlformats.org/drawingml/2006/main">
              <a:ext uri="{FF2B5EF4-FFF2-40B4-BE49-F238E27FC236}">
                <a16:creationId xmlns:a16="http://schemas.microsoft.com/office/drawing/2014/main" id="{50D8DC14-423C-45E8-AFB4-6CD62635433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19" name="mini-map"/>
          <p:cNvPicPr>
            <a:picLocks xmlns:a="http://schemas.openxmlformats.org/drawingml/2006/main" noChangeAspect="1"/>
          </p:cNvPicPr>
          <p:nvPr/>
        </p:nvPicPr>
        <p:blipFill>
          <a:blip xmlns:r="http://schemas.openxmlformats.org/officeDocument/2006/relationships" xmlns:a="http://schemas.openxmlformats.org/drawingml/2006/main" r:embed="R157f87b4ab1a44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569E9D5E-FAD3-4527-944C-F9C353CB799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 name="23-shape-1">
            <a:extLst xmlns:a="http://schemas.openxmlformats.org/drawingml/2006/main">
              <a:ext uri="{FF2B5EF4-FFF2-40B4-BE49-F238E27FC236}">
                <a16:creationId xmlns:a16="http://schemas.microsoft.com/office/drawing/2014/main" id="{9ED498FB-37FD-48A0-94B2-38FBAE579DB8}"/>
              </a:ext>
            </a:extLst>
          </p:cNvPr>
          <p:cNvSpPr>
            <a:spLocks xmlns:a="http://schemas.openxmlformats.org/drawingml/2006/main"/>
          </p:cNvSpPr>
          <p:nvPr/>
        </p:nvSpPr>
        <p:spPr>
          <a:xfrm xmlns:a="http://schemas.openxmlformats.org/drawingml/2006/main">
            <a:off x="609600" y="17018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 name="23-text-2">
            <a:extLst xmlns:a="http://schemas.openxmlformats.org/drawingml/2006/main">
              <a:ext uri="{FF2B5EF4-FFF2-40B4-BE49-F238E27FC236}">
                <a16:creationId xmlns:a16="http://schemas.microsoft.com/office/drawing/2014/main" id="{825BF1D1-703C-46C1-943C-1E4A5C421D38}"/>
              </a:ext>
            </a:extLst>
          </p:cNvPr>
          <p:cNvSpPr>
            <a:spLocks xmlns:a="http://schemas.openxmlformats.org/drawingml/2006/main"/>
          </p:cNvSpPr>
          <p:nvPr/>
        </p:nvSpPr>
        <p:spPr>
          <a:xfrm xmlns:a="http://schemas.openxmlformats.org/drawingml/2006/main">
            <a:off x="812800" y="17399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6" name="23-text-3">
            <a:extLst xmlns:a="http://schemas.openxmlformats.org/drawingml/2006/main">
              <a:ext uri="{FF2B5EF4-FFF2-40B4-BE49-F238E27FC236}">
                <a16:creationId xmlns:a16="http://schemas.microsoft.com/office/drawing/2014/main" id="{B68AEC8B-3101-4951-B682-10878BBADF8E}"/>
              </a:ext>
            </a:extLst>
          </p:cNvPr>
          <p:cNvSpPr>
            <a:spLocks xmlns:a="http://schemas.openxmlformats.org/drawingml/2006/main"/>
          </p:cNvSpPr>
          <p:nvPr/>
        </p:nvSpPr>
        <p:spPr>
          <a:xfrm xmlns:a="http://schemas.openxmlformats.org/drawingml/2006/main">
            <a:off x="1727200" y="18288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7" name="23-shape-4">
            <a:extLst xmlns:a="http://schemas.openxmlformats.org/drawingml/2006/main">
              <a:ext uri="{FF2B5EF4-FFF2-40B4-BE49-F238E27FC236}">
                <a16:creationId xmlns:a16="http://schemas.microsoft.com/office/drawing/2014/main" id="{689F7E6D-0C16-4C2C-B358-970BD16DEA62}"/>
              </a:ext>
            </a:extLst>
          </p:cNvPr>
          <p:cNvSpPr>
            <a:spLocks xmlns:a="http://schemas.openxmlformats.org/drawingml/2006/main"/>
          </p:cNvSpPr>
          <p:nvPr/>
        </p:nvSpPr>
        <p:spPr>
          <a:xfrm xmlns:a="http://schemas.openxmlformats.org/drawingml/2006/main">
            <a:off x="609600" y="25527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8" name="23-text-5">
            <a:extLst xmlns:a="http://schemas.openxmlformats.org/drawingml/2006/main">
              <a:ext uri="{FF2B5EF4-FFF2-40B4-BE49-F238E27FC236}">
                <a16:creationId xmlns:a16="http://schemas.microsoft.com/office/drawing/2014/main" id="{CBA0460B-4340-4FD1-A541-1DB7C39CD4F0}"/>
              </a:ext>
            </a:extLst>
          </p:cNvPr>
          <p:cNvSpPr>
            <a:spLocks xmlns:a="http://schemas.openxmlformats.org/drawingml/2006/main"/>
          </p:cNvSpPr>
          <p:nvPr/>
        </p:nvSpPr>
        <p:spPr>
          <a:xfrm xmlns:a="http://schemas.openxmlformats.org/drawingml/2006/main">
            <a:off x="812800" y="25908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9" name="23-text-6">
            <a:extLst xmlns:a="http://schemas.openxmlformats.org/drawingml/2006/main">
              <a:ext uri="{FF2B5EF4-FFF2-40B4-BE49-F238E27FC236}">
                <a16:creationId xmlns:a16="http://schemas.microsoft.com/office/drawing/2014/main" id="{37835628-D1E2-4048-AF9B-66C8FBE01598}"/>
              </a:ext>
            </a:extLst>
          </p:cNvPr>
          <p:cNvSpPr>
            <a:spLocks xmlns:a="http://schemas.openxmlformats.org/drawingml/2006/main"/>
          </p:cNvSpPr>
          <p:nvPr/>
        </p:nvSpPr>
        <p:spPr>
          <a:xfrm xmlns:a="http://schemas.openxmlformats.org/drawingml/2006/main">
            <a:off x="1727200" y="26797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10" name="23-shape-7">
            <a:extLst xmlns:a="http://schemas.openxmlformats.org/drawingml/2006/main">
              <a:ext uri="{FF2B5EF4-FFF2-40B4-BE49-F238E27FC236}">
                <a16:creationId xmlns:a16="http://schemas.microsoft.com/office/drawing/2014/main" id="{642BDC9B-CF85-45DA-B20D-D13F1A4E266B}"/>
              </a:ext>
            </a:extLst>
          </p:cNvPr>
          <p:cNvSpPr>
            <a:spLocks xmlns:a="http://schemas.openxmlformats.org/drawingml/2006/main"/>
          </p:cNvSpPr>
          <p:nvPr/>
        </p:nvSpPr>
        <p:spPr>
          <a:xfrm xmlns:a="http://schemas.openxmlformats.org/drawingml/2006/main">
            <a:off x="609600" y="34036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1" name="23-text-8">
            <a:extLst xmlns:a="http://schemas.openxmlformats.org/drawingml/2006/main">
              <a:ext uri="{FF2B5EF4-FFF2-40B4-BE49-F238E27FC236}">
                <a16:creationId xmlns:a16="http://schemas.microsoft.com/office/drawing/2014/main" id="{9C36BAE1-3811-4527-A631-E71AFE7ECDF7}"/>
              </a:ext>
            </a:extLst>
          </p:cNvPr>
          <p:cNvSpPr>
            <a:spLocks xmlns:a="http://schemas.openxmlformats.org/drawingml/2006/main"/>
          </p:cNvSpPr>
          <p:nvPr/>
        </p:nvSpPr>
        <p:spPr>
          <a:xfrm xmlns:a="http://schemas.openxmlformats.org/drawingml/2006/main">
            <a:off x="812800" y="34417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12" name="23-text-9">
            <a:extLst xmlns:a="http://schemas.openxmlformats.org/drawingml/2006/main">
              <a:ext uri="{FF2B5EF4-FFF2-40B4-BE49-F238E27FC236}">
                <a16:creationId xmlns:a16="http://schemas.microsoft.com/office/drawing/2014/main" id="{D605F1E3-91E7-41D5-9FE9-D671D25B56AC}"/>
              </a:ext>
            </a:extLst>
          </p:cNvPr>
          <p:cNvSpPr>
            <a:spLocks xmlns:a="http://schemas.openxmlformats.org/drawingml/2006/main"/>
          </p:cNvSpPr>
          <p:nvPr/>
        </p:nvSpPr>
        <p:spPr>
          <a:xfrm xmlns:a="http://schemas.openxmlformats.org/drawingml/2006/main">
            <a:off x="1727200" y="35306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13" name="23-shape-10">
            <a:extLst xmlns:a="http://schemas.openxmlformats.org/drawingml/2006/main">
              <a:ext uri="{FF2B5EF4-FFF2-40B4-BE49-F238E27FC236}">
                <a16:creationId xmlns:a16="http://schemas.microsoft.com/office/drawing/2014/main" id="{D6A23426-4753-474D-9404-151BA7924248}"/>
              </a:ext>
            </a:extLst>
          </p:cNvPr>
          <p:cNvSpPr>
            <a:spLocks xmlns:a="http://schemas.openxmlformats.org/drawingml/2006/main"/>
          </p:cNvSpPr>
          <p:nvPr/>
        </p:nvSpPr>
        <p:spPr>
          <a:xfrm xmlns:a="http://schemas.openxmlformats.org/drawingml/2006/main">
            <a:off x="609600" y="42545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4" name="23-text-11">
            <a:extLst xmlns:a="http://schemas.openxmlformats.org/drawingml/2006/main">
              <a:ext uri="{FF2B5EF4-FFF2-40B4-BE49-F238E27FC236}">
                <a16:creationId xmlns:a16="http://schemas.microsoft.com/office/drawing/2014/main" id="{92C66146-1CFC-45E8-955B-5BC739AAEEC8}"/>
              </a:ext>
            </a:extLst>
          </p:cNvPr>
          <p:cNvSpPr>
            <a:spLocks xmlns:a="http://schemas.openxmlformats.org/drawingml/2006/main"/>
          </p:cNvSpPr>
          <p:nvPr/>
        </p:nvSpPr>
        <p:spPr>
          <a:xfrm xmlns:a="http://schemas.openxmlformats.org/drawingml/2006/main">
            <a:off x="812800" y="42926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4</a:t>
            </a:r>
          </a:p>
        </p:txBody>
      </p:sp>
      <p:sp>
        <p:nvSpPr>
          <p:cNvPr id="15" name="23-text-12">
            <a:extLst xmlns:a="http://schemas.openxmlformats.org/drawingml/2006/main">
              <a:ext uri="{FF2B5EF4-FFF2-40B4-BE49-F238E27FC236}">
                <a16:creationId xmlns:a16="http://schemas.microsoft.com/office/drawing/2014/main" id="{B8DCDC1D-8268-4453-AC82-EB751D2BE28B}"/>
              </a:ext>
            </a:extLst>
          </p:cNvPr>
          <p:cNvSpPr>
            <a:spLocks xmlns:a="http://schemas.openxmlformats.org/drawingml/2006/main"/>
          </p:cNvSpPr>
          <p:nvPr/>
        </p:nvSpPr>
        <p:spPr>
          <a:xfrm xmlns:a="http://schemas.openxmlformats.org/drawingml/2006/main">
            <a:off x="1727200" y="43815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16" name="23-text-13">
            <a:extLst xmlns:a="http://schemas.openxmlformats.org/drawingml/2006/main">
              <a:ext uri="{FF2B5EF4-FFF2-40B4-BE49-F238E27FC236}">
                <a16:creationId xmlns:a16="http://schemas.microsoft.com/office/drawing/2014/main" id="{27F8E964-B9C6-4033-BA20-F4FAEF929D6B}"/>
              </a:ext>
            </a:extLst>
          </p:cNvPr>
          <p:cNvSpPr>
            <a:spLocks xmlns:a="http://schemas.openxmlformats.org/drawingml/2006/main"/>
          </p:cNvSpPr>
          <p:nvPr/>
        </p:nvSpPr>
        <p:spPr>
          <a:xfrm xmlns:a="http://schemas.openxmlformats.org/drawingml/2006/main">
            <a:off x="609600" y="5168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chat · reproduce manual work · background agents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delegate what you trust · build verification tools · continuous operation</a:t>
            </a:r>
          </a:p>
        </p:txBody>
      </p:sp>
      <p:sp>
        <p:nvSpPr>
          <p:cNvPr id="17" name="23-text-14">
            <a:extLst xmlns:a="http://schemas.openxmlformats.org/drawingml/2006/main">
              <a:ext uri="{FF2B5EF4-FFF2-40B4-BE49-F238E27FC236}">
                <a16:creationId xmlns:a16="http://schemas.microsoft.com/office/drawing/2014/main" id="{1C771D11-1913-49B5-9070-336151630F14}"/>
              </a:ext>
            </a:extLst>
          </p:cNvPr>
          <p:cNvSpPr>
            <a:spLocks xmlns:a="http://schemas.openxmlformats.org/drawingml/2006/main"/>
          </p:cNvSpPr>
          <p:nvPr/>
        </p:nvSpPr>
        <p:spPr>
          <a:xfrm xmlns:a="http://schemas.openxmlformats.org/drawingml/2006/main">
            <a:off x="609600" y="6146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Mitchell Hashimoto, "My AI Adoption Journey," February 2026</a:t>
            </a:r>
          </a:p>
        </p:txBody>
      </p:sp>
    </p:spTree>
    <p:extLst>
      <p:ext uri="{BB962C8B-B14F-4D97-AF65-F5344CB8AC3E}">
        <p14:creationId xmlns:p14="http://schemas.microsoft.com/office/powerpoint/2010/main" val="106761837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24-text-1">
            <a:extLst xmlns:a="http://schemas.openxmlformats.org/drawingml/2006/main">
              <a:ext uri="{FF2B5EF4-FFF2-40B4-BE49-F238E27FC236}">
                <a16:creationId xmlns:a16="http://schemas.microsoft.com/office/drawing/2014/main" id="{F881546B-4D86-4D1F-8250-3D09EEF7CC93}"/>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2" name="24-text-2">
            <a:extLst xmlns:a="http://schemas.openxmlformats.org/drawingml/2006/main">
              <a:ext uri="{FF2B5EF4-FFF2-40B4-BE49-F238E27FC236}">
                <a16:creationId xmlns:a16="http://schemas.microsoft.com/office/drawing/2014/main" id="{9F5AD51A-359A-420B-AA37-77C28F1CEDD5}"/>
              </a:ext>
            </a:extLst>
          </p:cNvPr>
          <p:cNvSpPr>
            <a:spLocks xmlns:a="http://schemas.openxmlformats.org/drawingml/2006/main"/>
          </p:cNvSpPr>
          <p:nvPr/>
        </p:nvSpPr>
        <p:spPr>
          <a:xfrm xmlns:a="http://schemas.openxmlformats.org/drawingml/2006/main">
            <a:off x="609600" y="1676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3" name="24-text-3">
            <a:extLst xmlns:a="http://schemas.openxmlformats.org/drawingml/2006/main">
              <a:ext uri="{FF2B5EF4-FFF2-40B4-BE49-F238E27FC236}">
                <a16:creationId xmlns:a16="http://schemas.microsoft.com/office/drawing/2014/main" id="{671E0E79-4960-4E36-9AAB-DB25AECA416E}"/>
              </a:ext>
            </a:extLst>
          </p:cNvPr>
          <p:cNvSpPr>
            <a:spLocks xmlns:a="http://schemas.openxmlformats.org/drawingml/2006/main"/>
          </p:cNvSpPr>
          <p:nvPr/>
        </p:nvSpPr>
        <p:spPr>
          <a:xfrm xmlns:a="http://schemas.openxmlformats.org/drawingml/2006/main">
            <a:off x="609600" y="1993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 name="24-text-4">
            <a:extLst xmlns:a="http://schemas.openxmlformats.org/drawingml/2006/main">
              <a:ext uri="{FF2B5EF4-FFF2-40B4-BE49-F238E27FC236}">
                <a16:creationId xmlns:a16="http://schemas.microsoft.com/office/drawing/2014/main" id="{E0768A75-E1EC-4939-B3FD-29DD957C9DE5}"/>
              </a:ext>
            </a:extLst>
          </p:cNvPr>
          <p:cNvSpPr>
            <a:spLocks xmlns:a="http://schemas.openxmlformats.org/drawingml/2006/main"/>
          </p:cNvSpPr>
          <p:nvPr/>
        </p:nvSpPr>
        <p:spPr>
          <a:xfrm xmlns:a="http://schemas.openxmlformats.org/drawingml/2006/main">
            <a:off x="609600" y="2463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 name="24-text-5">
            <a:extLst xmlns:a="http://schemas.openxmlformats.org/drawingml/2006/main">
              <a:ext uri="{FF2B5EF4-FFF2-40B4-BE49-F238E27FC236}">
                <a16:creationId xmlns:a16="http://schemas.microsoft.com/office/drawing/2014/main" id="{C4100216-828A-485E-9805-F2177EA96363}"/>
              </a:ext>
            </a:extLst>
          </p:cNvPr>
          <p:cNvSpPr>
            <a:spLocks xmlns:a="http://schemas.openxmlformats.org/drawingml/2006/main"/>
          </p:cNvSpPr>
          <p:nvPr/>
        </p:nvSpPr>
        <p:spPr>
          <a:xfrm xmlns:a="http://schemas.openxmlformats.org/drawingml/2006/main">
            <a:off x="609600" y="2781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 name="24-text-6">
            <a:extLst xmlns:a="http://schemas.openxmlformats.org/drawingml/2006/main">
              <a:ext uri="{FF2B5EF4-FFF2-40B4-BE49-F238E27FC236}">
                <a16:creationId xmlns:a16="http://schemas.microsoft.com/office/drawing/2014/main" id="{E1112919-9AA4-48E5-A5CB-AD623CF3CDE6}"/>
              </a:ext>
            </a:extLst>
          </p:cNvPr>
          <p:cNvSpPr>
            <a:spLocks xmlns:a="http://schemas.openxmlformats.org/drawingml/2006/main"/>
          </p:cNvSpPr>
          <p:nvPr/>
        </p:nvSpPr>
        <p:spPr>
          <a:xfrm xmlns:a="http://schemas.openxmlformats.org/drawingml/2006/main">
            <a:off x="609600" y="3098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7" name="24-text-7">
            <a:extLst xmlns:a="http://schemas.openxmlformats.org/drawingml/2006/main">
              <a:ext uri="{FF2B5EF4-FFF2-40B4-BE49-F238E27FC236}">
                <a16:creationId xmlns:a16="http://schemas.microsoft.com/office/drawing/2014/main" id="{9F8FC254-44A0-403C-9707-7980C0AA11D1}"/>
              </a:ext>
            </a:extLst>
          </p:cNvPr>
          <p:cNvSpPr>
            <a:spLocks xmlns:a="http://schemas.openxmlformats.org/drawingml/2006/main"/>
          </p:cNvSpPr>
          <p:nvPr/>
        </p:nvSpPr>
        <p:spPr>
          <a:xfrm xmlns:a="http://schemas.openxmlformats.org/drawingml/2006/main">
            <a:off x="609600" y="3568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8" name="24-text-8">
            <a:extLst xmlns:a="http://schemas.openxmlformats.org/drawingml/2006/main">
              <a:ext uri="{FF2B5EF4-FFF2-40B4-BE49-F238E27FC236}">
                <a16:creationId xmlns:a16="http://schemas.microsoft.com/office/drawing/2014/main" id="{1CB3BC7F-2558-4676-AAA7-CAC2725AB3A0}"/>
              </a:ext>
            </a:extLst>
          </p:cNvPr>
          <p:cNvSpPr>
            <a:spLocks xmlns:a="http://schemas.openxmlformats.org/drawingml/2006/main"/>
          </p:cNvSpPr>
          <p:nvPr/>
        </p:nvSpPr>
        <p:spPr>
          <a:xfrm xmlns:a="http://schemas.openxmlformats.org/drawingml/2006/main">
            <a:off x="609600" y="4038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9" name="24-text-9">
            <a:extLst xmlns:a="http://schemas.openxmlformats.org/drawingml/2006/main">
              <a:ext uri="{FF2B5EF4-FFF2-40B4-BE49-F238E27FC236}">
                <a16:creationId xmlns:a16="http://schemas.microsoft.com/office/drawing/2014/main" id="{E83E4B7E-FBBB-41DA-A277-CB9200D4EB36}"/>
              </a:ext>
            </a:extLst>
          </p:cNvPr>
          <p:cNvSpPr>
            <a:spLocks xmlns:a="http://schemas.openxmlformats.org/drawingml/2006/main"/>
          </p:cNvSpPr>
          <p:nvPr/>
        </p:nvSpPr>
        <p:spPr>
          <a:xfrm xmlns:a="http://schemas.openxmlformats.org/drawingml/2006/main">
            <a:off x="609600" y="4356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10" name="24-text-10">
            <a:extLst xmlns:a="http://schemas.openxmlformats.org/drawingml/2006/main">
              <a:ext uri="{FF2B5EF4-FFF2-40B4-BE49-F238E27FC236}">
                <a16:creationId xmlns:a16="http://schemas.microsoft.com/office/drawing/2014/main" id="{333AE4CA-F26F-4778-8AA2-14A56CADE1E7}"/>
              </a:ext>
            </a:extLst>
          </p:cNvPr>
          <p:cNvSpPr>
            <a:spLocks xmlns:a="http://schemas.openxmlformats.org/drawingml/2006/main"/>
          </p:cNvSpPr>
          <p:nvPr/>
        </p:nvSpPr>
        <p:spPr>
          <a:xfrm xmlns:a="http://schemas.openxmlformats.org/drawingml/2006/main">
            <a:off x="609600" y="467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11" name="24-text-11">
            <a:extLst xmlns:a="http://schemas.openxmlformats.org/drawingml/2006/main">
              <a:ext uri="{FF2B5EF4-FFF2-40B4-BE49-F238E27FC236}">
                <a16:creationId xmlns:a16="http://schemas.microsoft.com/office/drawing/2014/main" id="{CF3677DA-8E94-43A4-9125-DCDABF5FB5A1}"/>
              </a:ext>
            </a:extLst>
          </p:cNvPr>
          <p:cNvSpPr>
            <a:spLocks xmlns:a="http://schemas.openxmlformats.org/drawingml/2006/main"/>
          </p:cNvSpPr>
          <p:nvPr/>
        </p:nvSpPr>
        <p:spPr>
          <a:xfrm xmlns:a="http://schemas.openxmlformats.org/drawingml/2006/main">
            <a:off x="609600" y="5143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12" name="24-text-12">
            <a:extLst xmlns:a="http://schemas.openxmlformats.org/drawingml/2006/main">
              <a:ext uri="{FF2B5EF4-FFF2-40B4-BE49-F238E27FC236}">
                <a16:creationId xmlns:a16="http://schemas.microsoft.com/office/drawing/2014/main" id="{7E7B4F68-C96C-42CB-B28F-C3DED19D066A}"/>
              </a:ext>
            </a:extLst>
          </p:cNvPr>
          <p:cNvSpPr>
            <a:spLocks xmlns:a="http://schemas.openxmlformats.org/drawingml/2006/main"/>
          </p:cNvSpPr>
          <p:nvPr/>
        </p:nvSpPr>
        <p:spPr>
          <a:xfrm xmlns:a="http://schemas.openxmlformats.org/drawingml/2006/main">
            <a:off x="609600" y="5461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13" name="24-text-13">
            <a:extLst xmlns:a="http://schemas.openxmlformats.org/drawingml/2006/main">
              <a:ext uri="{FF2B5EF4-FFF2-40B4-BE49-F238E27FC236}">
                <a16:creationId xmlns:a16="http://schemas.microsoft.com/office/drawing/2014/main" id="{E757FE7F-57BC-48DF-9F41-80982629857B}"/>
              </a:ext>
            </a:extLst>
          </p:cNvPr>
          <p:cNvSpPr>
            <a:spLocks xmlns:a="http://schemas.openxmlformats.org/drawingml/2006/main"/>
          </p:cNvSpPr>
          <p:nvPr/>
        </p:nvSpPr>
        <p:spPr>
          <a:xfrm xmlns:a="http://schemas.openxmlformats.org/drawingml/2006/main">
            <a:off x="609600" y="5930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Tree>
    <p:extLst>
      <p:ext uri="{BB962C8B-B14F-4D97-AF65-F5344CB8AC3E}">
        <p14:creationId xmlns:p14="http://schemas.microsoft.com/office/powerpoint/2010/main" val="733269866"/>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25-text-1">
            <a:extLst xmlns:a="http://schemas.openxmlformats.org/drawingml/2006/main">
              <a:ext uri="{FF2B5EF4-FFF2-40B4-BE49-F238E27FC236}">
                <a16:creationId xmlns:a16="http://schemas.microsoft.com/office/drawing/2014/main" id="{534DD1B3-C469-44D6-AE8F-D734F5E6819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25-text-2">
            <a:extLst xmlns:a="http://schemas.openxmlformats.org/drawingml/2006/main">
              <a:ext uri="{FF2B5EF4-FFF2-40B4-BE49-F238E27FC236}">
                <a16:creationId xmlns:a16="http://schemas.microsoft.com/office/drawing/2014/main" id="{7D3552FD-5CF9-43EF-9A0C-6234C1B3A9FB}"/>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3" name="25-text-3">
            <a:extLst xmlns:a="http://schemas.openxmlformats.org/drawingml/2006/main">
              <a:ext uri="{FF2B5EF4-FFF2-40B4-BE49-F238E27FC236}">
                <a16:creationId xmlns:a16="http://schemas.microsoft.com/office/drawing/2014/main" id="{9CE8E92E-2E20-4E00-97F2-6DB5C89638B3}"/>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Tree>
    <p:extLst>
      <p:ext uri="{BB962C8B-B14F-4D97-AF65-F5344CB8AC3E}">
        <p14:creationId xmlns:p14="http://schemas.microsoft.com/office/powerpoint/2010/main" val="57861105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2026-09-15T17:54:39.6220000Z</dcterms:created>
  <dcterms:modified xsi:type="dcterms:W3CDTF">2026-09-15T17:54:39.6220000Z</dcterms:modified>
</coreProperties>
</file>