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44b50aaf85a44bf" /><Relationship Type="http://schemas.openxmlformats.org/officeDocument/2006/relationships/extended-properties" Target="/docProps/app.xml" Id="R71abf84e0a9a478c" /><Relationship Type="http://schemas.openxmlformats.org/officeDocument/2006/relationships/officeDocument" Target="/ppt/presentation.xml" Id="R761090d631e54d9b"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7556cb6d80bc4131"/>
    <p:sldMasterId xmlns:r="http://schemas.openxmlformats.org/officeDocument/2006/relationships" id="2147483650" r:id="R797dcefaa7b04457"/>
  </p:sldMasterIdLst>
  <p:notesMasterIdLst>
    <p:notesMasterId xmlns:r="http://schemas.openxmlformats.org/officeDocument/2006/relationships" r:id="R2f465f9cf4a44cd4"/>
  </p:notesMasterIdLst>
  <p:sldIdLst>
    <p:sldId xmlns:r="http://schemas.openxmlformats.org/officeDocument/2006/relationships" id="256" r:id="R891918d75c914249"/>
    <p:sldId xmlns:r="http://schemas.openxmlformats.org/officeDocument/2006/relationships" id="257" r:id="R76cc1940454f424b"/>
    <p:sldId xmlns:r="http://schemas.openxmlformats.org/officeDocument/2006/relationships" id="258" r:id="Rb429e9f5aa104877"/>
    <p:sldId xmlns:r="http://schemas.openxmlformats.org/officeDocument/2006/relationships" id="259" r:id="Rb402d7fc71c845cd"/>
    <p:sldId xmlns:r="http://schemas.openxmlformats.org/officeDocument/2006/relationships" id="260" r:id="R6f8e1cd2adb74cfd"/>
    <p:sldId xmlns:r="http://schemas.openxmlformats.org/officeDocument/2006/relationships" id="261" r:id="R64f9272c70e74476"/>
    <p:sldId xmlns:r="http://schemas.openxmlformats.org/officeDocument/2006/relationships" id="262" r:id="R793649bb8dea4cc2"/>
    <p:sldId xmlns:r="http://schemas.openxmlformats.org/officeDocument/2006/relationships" id="263" r:id="R0182ad7a48944ee6"/>
    <p:sldId xmlns:r="http://schemas.openxmlformats.org/officeDocument/2006/relationships" id="264" r:id="R34898878b4a74f65"/>
    <p:sldId xmlns:r="http://schemas.openxmlformats.org/officeDocument/2006/relationships" id="265" r:id="R5ea1f76b08c44f1d"/>
    <p:sldId xmlns:r="http://schemas.openxmlformats.org/officeDocument/2006/relationships" id="266" r:id="R3e07c189fabe4b5e"/>
    <p:sldId xmlns:r="http://schemas.openxmlformats.org/officeDocument/2006/relationships" id="267" r:id="R1ca2538a6a324dc1"/>
    <p:sldId xmlns:r="http://schemas.openxmlformats.org/officeDocument/2006/relationships" id="268" r:id="Re4d4a7183802409a"/>
    <p:sldId xmlns:r="http://schemas.openxmlformats.org/officeDocument/2006/relationships" id="269" r:id="Rf7a44b0468ec4ef2"/>
    <p:sldId xmlns:r="http://schemas.openxmlformats.org/officeDocument/2006/relationships" id="270" r:id="R2d22c13d13d74bdc"/>
    <p:sldId xmlns:r="http://schemas.openxmlformats.org/officeDocument/2006/relationships" id="271" r:id="R1791526deb364201"/>
    <p:sldId xmlns:r="http://schemas.openxmlformats.org/officeDocument/2006/relationships" id="272" r:id="R47e2939986c941d6"/>
    <p:sldId xmlns:r="http://schemas.openxmlformats.org/officeDocument/2006/relationships" id="273" r:id="R1af27fcdf46d415f"/>
    <p:sldId xmlns:r="http://schemas.openxmlformats.org/officeDocument/2006/relationships" id="274" r:id="R0d5abd4367954528"/>
    <p:sldId xmlns:r="http://schemas.openxmlformats.org/officeDocument/2006/relationships" id="275" r:id="Rdd2007a46cb84a3b"/>
    <p:sldId xmlns:r="http://schemas.openxmlformats.org/officeDocument/2006/relationships" id="276" r:id="Rd74baed6fc104b6b"/>
    <p:sldId xmlns:r="http://schemas.openxmlformats.org/officeDocument/2006/relationships" id="277" r:id="R37aeb5c8eaa94b98"/>
    <p:sldId xmlns:r="http://schemas.openxmlformats.org/officeDocument/2006/relationships" id="278" r:id="R075b7f3b108947e3"/>
    <p:sldId xmlns:r="http://schemas.openxmlformats.org/officeDocument/2006/relationships" id="279" r:id="Reb61d3e74e104018"/>
    <p:sldId xmlns:r="http://schemas.openxmlformats.org/officeDocument/2006/relationships" id="280" r:id="Re0119e07fbcd4d11"/>
    <p:sldId xmlns:r="http://schemas.openxmlformats.org/officeDocument/2006/relationships" id="281" r:id="Ra7872861fbe84d72"/>
    <p:sldId xmlns:r="http://schemas.openxmlformats.org/officeDocument/2006/relationships" id="282" r:id="R798413d1b48b4bd1"/>
    <p:sldId xmlns:r="http://schemas.openxmlformats.org/officeDocument/2006/relationships" id="283" r:id="R136eaf429f8c49e6"/>
    <p:sldId xmlns:r="http://schemas.openxmlformats.org/officeDocument/2006/relationships" id="284" r:id="R9241931bbb884487"/>
    <p:sldId xmlns:r="http://schemas.openxmlformats.org/officeDocument/2006/relationships" id="285" r:id="R20446ef945b9436b"/>
    <p:sldId xmlns:r="http://schemas.openxmlformats.org/officeDocument/2006/relationships" id="286" r:id="R92a1dd6d33ab4fd5"/>
    <p:sldId xmlns:r="http://schemas.openxmlformats.org/officeDocument/2006/relationships" id="287" r:id="R1307bf5c6f0943dc"/>
    <p:sldId xmlns:r="http://schemas.openxmlformats.org/officeDocument/2006/relationships" id="288" r:id="R4da3f670fc0c4b89"/>
    <p:sldId xmlns:r="http://schemas.openxmlformats.org/officeDocument/2006/relationships" id="289" r:id="R9ee5a447f8cf401a"/>
    <p:sldId xmlns:r="http://schemas.openxmlformats.org/officeDocument/2006/relationships" id="290" r:id="R427dfcf926b24d33"/>
    <p:sldId xmlns:r="http://schemas.openxmlformats.org/officeDocument/2006/relationships" id="291" r:id="Rdd9470b058d24081"/>
    <p:sldId xmlns:r="http://schemas.openxmlformats.org/officeDocument/2006/relationships" id="292" r:id="R2370f377fedd4d88"/>
    <p:sldId xmlns:r="http://schemas.openxmlformats.org/officeDocument/2006/relationships" id="293" r:id="Rd9b45312dd154d0a"/>
    <p:sldId xmlns:r="http://schemas.openxmlformats.org/officeDocument/2006/relationships" id="294" r:id="R818ff7f14cb04f62"/>
    <p:sldId xmlns:r="http://schemas.openxmlformats.org/officeDocument/2006/relationships" id="295" r:id="Rf3ef4e0c3c5e4986"/>
    <p:sldId xmlns:r="http://schemas.openxmlformats.org/officeDocument/2006/relationships" id="296" r:id="R56760ea4a3d44ea4"/>
    <p:sldId xmlns:r="http://schemas.openxmlformats.org/officeDocument/2006/relationships" id="297" r:id="R655146cbd64345f6"/>
    <p:sldId xmlns:r="http://schemas.openxmlformats.org/officeDocument/2006/relationships" id="298" r:id="Ra332b97bf6274651"/>
    <p:sldId xmlns:r="http://schemas.openxmlformats.org/officeDocument/2006/relationships" id="299" r:id="R1ecaedd9e2784c6d"/>
    <p:sldId xmlns:r="http://schemas.openxmlformats.org/officeDocument/2006/relationships" id="300" r:id="Rec5e19d9f064499e"/>
    <p:sldId xmlns:r="http://schemas.openxmlformats.org/officeDocument/2006/relationships" id="301" r:id="R40e35e4a0c154dc7"/>
    <p:sldId xmlns:r="http://schemas.openxmlformats.org/officeDocument/2006/relationships" id="302" r:id="R3f0e7cf5cc844c46"/>
    <p:sldId xmlns:r="http://schemas.openxmlformats.org/officeDocument/2006/relationships" id="303" r:id="R7b971a231f1e46f5"/>
    <p:sldId xmlns:r="http://schemas.openxmlformats.org/officeDocument/2006/relationships" id="304" r:id="R382070e8dbe2481a"/>
    <p:sldId xmlns:r="http://schemas.openxmlformats.org/officeDocument/2006/relationships" id="305" r:id="R237ab754cdc1418c"/>
    <p:sldId xmlns:r="http://schemas.openxmlformats.org/officeDocument/2006/relationships" id="306" r:id="R5d240844272141e0"/>
    <p:sldId xmlns:r="http://schemas.openxmlformats.org/officeDocument/2006/relationships" id="307" r:id="R81fcf0b506bc4297"/>
    <p:sldId xmlns:r="http://schemas.openxmlformats.org/officeDocument/2006/relationships" id="308" r:id="R4b91fea3385f43ea"/>
    <p:sldId xmlns:r="http://schemas.openxmlformats.org/officeDocument/2006/relationships" id="309" r:id="R3f0adacb1dd54520"/>
    <p:sldId xmlns:r="http://schemas.openxmlformats.org/officeDocument/2006/relationships" id="310" r:id="Rbb47de540d8148e5"/>
    <p:sldId xmlns:r="http://schemas.openxmlformats.org/officeDocument/2006/relationships" id="311" r:id="R4860b7d9bf7c409d"/>
    <p:sldId xmlns:r="http://schemas.openxmlformats.org/officeDocument/2006/relationships" id="312" r:id="R8eddb28fa239404f"/>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faefda3e7ab41a7" /><Relationship Type="http://schemas.openxmlformats.org/officeDocument/2006/relationships/slideMaster" Target="/ppt/slideMasters/slideMaster1.xml" Id="R7556cb6d80bc4131" /><Relationship Type="http://schemas.openxmlformats.org/officeDocument/2006/relationships/slideMaster" Target="/ppt/slideMasters/slideMaster2.xml" Id="R797dcefaa7b04457" /><Relationship Type="http://schemas.openxmlformats.org/officeDocument/2006/relationships/notesMaster" Target="/ppt/notesMasters/notesMaster1.xml" Id="R2f465f9cf4a44cd4" /><Relationship Type="http://schemas.openxmlformats.org/officeDocument/2006/relationships/presProps" Target="/ppt/presProps.xml" Id="R8df279e48e2e4e68" /><Relationship Type="http://schemas.openxmlformats.org/officeDocument/2006/relationships/tableStyles" Target="/ppt/tableStyles.xml" Id="R3b04641d54cc4f15" /><Relationship Type="http://schemas.openxmlformats.org/officeDocument/2006/relationships/slide" Target="/ppt/slides/slide1.xml" Id="R891918d75c914249" /><Relationship Type="http://schemas.openxmlformats.org/officeDocument/2006/relationships/slide" Target="/ppt/slides/slide2.xml" Id="R76cc1940454f424b" /><Relationship Type="http://schemas.openxmlformats.org/officeDocument/2006/relationships/slide" Target="/ppt/slides/slide3.xml" Id="Rb429e9f5aa104877" /><Relationship Type="http://schemas.openxmlformats.org/officeDocument/2006/relationships/slide" Target="/ppt/slides/slide4.xml" Id="Rb402d7fc71c845cd" /><Relationship Type="http://schemas.openxmlformats.org/officeDocument/2006/relationships/slide" Target="/ppt/slides/slide5.xml" Id="R6f8e1cd2adb74cfd" /><Relationship Type="http://schemas.openxmlformats.org/officeDocument/2006/relationships/slide" Target="/ppt/slides/slide6.xml" Id="R64f9272c70e74476" /><Relationship Type="http://schemas.openxmlformats.org/officeDocument/2006/relationships/slide" Target="/ppt/slides/slide7.xml" Id="R793649bb8dea4cc2" /><Relationship Type="http://schemas.openxmlformats.org/officeDocument/2006/relationships/slide" Target="/ppt/slides/slide8.xml" Id="R0182ad7a48944ee6" /><Relationship Type="http://schemas.openxmlformats.org/officeDocument/2006/relationships/slide" Target="/ppt/slides/slide9.xml" Id="R34898878b4a74f65" /><Relationship Type="http://schemas.openxmlformats.org/officeDocument/2006/relationships/slide" Target="/ppt/slides/slide10.xml" Id="R5ea1f76b08c44f1d" /><Relationship Type="http://schemas.openxmlformats.org/officeDocument/2006/relationships/slide" Target="/ppt/slides/slide11.xml" Id="R3e07c189fabe4b5e" /><Relationship Type="http://schemas.openxmlformats.org/officeDocument/2006/relationships/slide" Target="/ppt/slides/slide12.xml" Id="R1ca2538a6a324dc1" /><Relationship Type="http://schemas.openxmlformats.org/officeDocument/2006/relationships/slide" Target="/ppt/slides/slide13.xml" Id="Re4d4a7183802409a" /><Relationship Type="http://schemas.openxmlformats.org/officeDocument/2006/relationships/slide" Target="/ppt/slides/slide14.xml" Id="Rf7a44b0468ec4ef2" /><Relationship Type="http://schemas.openxmlformats.org/officeDocument/2006/relationships/slide" Target="/ppt/slides/slide15.xml" Id="R2d22c13d13d74bdc" /><Relationship Type="http://schemas.openxmlformats.org/officeDocument/2006/relationships/slide" Target="/ppt/slides/slide16.xml" Id="R1791526deb364201" /><Relationship Type="http://schemas.openxmlformats.org/officeDocument/2006/relationships/slide" Target="/ppt/slides/slide17.xml" Id="R47e2939986c941d6" /><Relationship Type="http://schemas.openxmlformats.org/officeDocument/2006/relationships/slide" Target="/ppt/slides/slide18.xml" Id="R1af27fcdf46d415f" /><Relationship Type="http://schemas.openxmlformats.org/officeDocument/2006/relationships/slide" Target="/ppt/slides/slide19.xml" Id="R0d5abd4367954528" /><Relationship Type="http://schemas.openxmlformats.org/officeDocument/2006/relationships/slide" Target="/ppt/slides/slide20.xml" Id="Rdd2007a46cb84a3b" /><Relationship Type="http://schemas.openxmlformats.org/officeDocument/2006/relationships/slide" Target="/ppt/slides/slide21.xml" Id="Rd74baed6fc104b6b" /><Relationship Type="http://schemas.openxmlformats.org/officeDocument/2006/relationships/slide" Target="/ppt/slides/slide22.xml" Id="R37aeb5c8eaa94b98" /><Relationship Type="http://schemas.openxmlformats.org/officeDocument/2006/relationships/slide" Target="/ppt/slides/slide23.xml" Id="R075b7f3b108947e3" /><Relationship Type="http://schemas.openxmlformats.org/officeDocument/2006/relationships/slide" Target="/ppt/slides/slide24.xml" Id="Reb61d3e74e104018" /><Relationship Type="http://schemas.openxmlformats.org/officeDocument/2006/relationships/slide" Target="/ppt/slides/slide25.xml" Id="Re0119e07fbcd4d11" /><Relationship Type="http://schemas.openxmlformats.org/officeDocument/2006/relationships/slide" Target="/ppt/slides/slide26.xml" Id="Ra7872861fbe84d72" /><Relationship Type="http://schemas.openxmlformats.org/officeDocument/2006/relationships/slide" Target="/ppt/slides/slide27.xml" Id="R798413d1b48b4bd1" /><Relationship Type="http://schemas.openxmlformats.org/officeDocument/2006/relationships/slide" Target="/ppt/slides/slide28.xml" Id="R136eaf429f8c49e6" /><Relationship Type="http://schemas.openxmlformats.org/officeDocument/2006/relationships/slide" Target="/ppt/slides/slide29.xml" Id="R9241931bbb884487" /><Relationship Type="http://schemas.openxmlformats.org/officeDocument/2006/relationships/slide" Target="/ppt/slides/slide30.xml" Id="R20446ef945b9436b" /><Relationship Type="http://schemas.openxmlformats.org/officeDocument/2006/relationships/slide" Target="/ppt/slides/slide31.xml" Id="R92a1dd6d33ab4fd5" /><Relationship Type="http://schemas.openxmlformats.org/officeDocument/2006/relationships/slide" Target="/ppt/slides/slide32.xml" Id="R1307bf5c6f0943dc" /><Relationship Type="http://schemas.openxmlformats.org/officeDocument/2006/relationships/slide" Target="/ppt/slides/slide33.xml" Id="R4da3f670fc0c4b89" /><Relationship Type="http://schemas.openxmlformats.org/officeDocument/2006/relationships/slide" Target="/ppt/slides/slide34.xml" Id="R9ee5a447f8cf401a" /><Relationship Type="http://schemas.openxmlformats.org/officeDocument/2006/relationships/slide" Target="/ppt/slides/slide35.xml" Id="R427dfcf926b24d33" /><Relationship Type="http://schemas.openxmlformats.org/officeDocument/2006/relationships/slide" Target="/ppt/slides/slide36.xml" Id="Rdd9470b058d24081" /><Relationship Type="http://schemas.openxmlformats.org/officeDocument/2006/relationships/slide" Target="/ppt/slides/slide37.xml" Id="R2370f377fedd4d88" /><Relationship Type="http://schemas.openxmlformats.org/officeDocument/2006/relationships/slide" Target="/ppt/slides/slide38.xml" Id="Rd9b45312dd154d0a" /><Relationship Type="http://schemas.openxmlformats.org/officeDocument/2006/relationships/slide" Target="/ppt/slides/slide39.xml" Id="R818ff7f14cb04f62" /><Relationship Type="http://schemas.openxmlformats.org/officeDocument/2006/relationships/slide" Target="/ppt/slides/slide40.xml" Id="Rf3ef4e0c3c5e4986" /><Relationship Type="http://schemas.openxmlformats.org/officeDocument/2006/relationships/slide" Target="/ppt/slides/slide41.xml" Id="R56760ea4a3d44ea4" /><Relationship Type="http://schemas.openxmlformats.org/officeDocument/2006/relationships/slide" Target="/ppt/slides/slide42.xml" Id="R655146cbd64345f6" /><Relationship Type="http://schemas.openxmlformats.org/officeDocument/2006/relationships/slide" Target="/ppt/slides/slide43.xml" Id="Ra332b97bf6274651" /><Relationship Type="http://schemas.openxmlformats.org/officeDocument/2006/relationships/slide" Target="/ppt/slides/slide44.xml" Id="R1ecaedd9e2784c6d" /><Relationship Type="http://schemas.openxmlformats.org/officeDocument/2006/relationships/slide" Target="/ppt/slides/slide45.xml" Id="Rec5e19d9f064499e" /><Relationship Type="http://schemas.openxmlformats.org/officeDocument/2006/relationships/slide" Target="/ppt/slides/slide46.xml" Id="R40e35e4a0c154dc7" /><Relationship Type="http://schemas.openxmlformats.org/officeDocument/2006/relationships/slide" Target="/ppt/slides/slide47.xml" Id="R3f0e7cf5cc844c46" /><Relationship Type="http://schemas.openxmlformats.org/officeDocument/2006/relationships/slide" Target="/ppt/slides/slide48.xml" Id="R7b971a231f1e46f5" /><Relationship Type="http://schemas.openxmlformats.org/officeDocument/2006/relationships/slide" Target="/ppt/slides/slide49.xml" Id="R382070e8dbe2481a" /><Relationship Type="http://schemas.openxmlformats.org/officeDocument/2006/relationships/slide" Target="/ppt/slides/slide50.xml" Id="R237ab754cdc1418c" /><Relationship Type="http://schemas.openxmlformats.org/officeDocument/2006/relationships/slide" Target="/ppt/slides/slide51.xml" Id="R5d240844272141e0" /><Relationship Type="http://schemas.openxmlformats.org/officeDocument/2006/relationships/slide" Target="/ppt/slides/slide52.xml" Id="R81fcf0b506bc4297" /><Relationship Type="http://schemas.openxmlformats.org/officeDocument/2006/relationships/slide" Target="/ppt/slides/slide53.xml" Id="R4b91fea3385f43ea" /><Relationship Type="http://schemas.openxmlformats.org/officeDocument/2006/relationships/slide" Target="/ppt/slides/slide54.xml" Id="R3f0adacb1dd54520" /><Relationship Type="http://schemas.openxmlformats.org/officeDocument/2006/relationships/slide" Target="/ppt/slides/slide55.xml" Id="Rbb47de540d8148e5" /><Relationship Type="http://schemas.openxmlformats.org/officeDocument/2006/relationships/slide" Target="/ppt/slides/slide56.xml" Id="R4860b7d9bf7c409d" /><Relationship Type="http://schemas.openxmlformats.org/officeDocument/2006/relationships/slide" Target="/ppt/slides/slide57.xml" Id="R8eddb28fa239404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507b3fce73e744e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d6e6f077edd4200" /><Relationship Type="http://schemas.openxmlformats.org/officeDocument/2006/relationships/notesMaster" Target="/ppt/notesMasters/notesMaster1.xml" Id="Rf69557925ed84652" /></Relationships>
</file>

<file path=ppt/notesSlides/_rels/notesSlide2.xml.rels>&#65279;<?xml version="1.0" encoding="utf-8"?><Relationships xmlns="http://schemas.openxmlformats.org/package/2006/relationships"><Relationship Type="http://schemas.openxmlformats.org/officeDocument/2006/relationships/slide" Target="/ppt/slides/slide2.xml" Id="Ref1a8e7902844481" /><Relationship Type="http://schemas.openxmlformats.org/officeDocument/2006/relationships/notesMaster" Target="/ppt/notesMasters/notesMaster1.xml" Id="Rc3f12f12de404deb" /></Relationships>
</file>

<file path=ppt/notesSlides/_rels/notesSlide3.xml.rels>&#65279;<?xml version="1.0" encoding="utf-8"?><Relationships xmlns="http://schemas.openxmlformats.org/package/2006/relationships"><Relationship Type="http://schemas.openxmlformats.org/officeDocument/2006/relationships/slide" Target="/ppt/slides/slide3.xml" Id="R4139a161922d427b" /><Relationship Type="http://schemas.openxmlformats.org/officeDocument/2006/relationships/notesMaster" Target="/ppt/notesMasters/notesMaster1.xml" Id="R3cd2a0fbd8a14eb2" /></Relationships>
</file>

<file path=ppt/notesSlides/_rels/notesSlide4.xml.rels>&#65279;<?xml version="1.0" encoding="utf-8"?><Relationships xmlns="http://schemas.openxmlformats.org/package/2006/relationships"><Relationship Type="http://schemas.openxmlformats.org/officeDocument/2006/relationships/slide" Target="/ppt/slides/slide4.xml" Id="R3f58b5afacdf4faf" /><Relationship Type="http://schemas.openxmlformats.org/officeDocument/2006/relationships/notesMaster" Target="/ppt/notesMasters/notesMaster1.xml" Id="R09059b0b1a164934" /></Relationships>
</file>

<file path=ppt/notesSlides/_rels/notesSlide5.xml.rels>&#65279;<?xml version="1.0" encoding="utf-8"?><Relationships xmlns="http://schemas.openxmlformats.org/package/2006/relationships"><Relationship Type="http://schemas.openxmlformats.org/officeDocument/2006/relationships/slide" Target="/ppt/slides/slide5.xml" Id="R8b044a7eae5c431f" /><Relationship Type="http://schemas.openxmlformats.org/officeDocument/2006/relationships/notesMaster" Target="/ppt/notesMasters/notesMaster1.xml" Id="R02d7e4bfe6cb4500" /></Relationships>
</file>

<file path=ppt/notesSlides/_rels/notesSlide6.xml.rels>&#65279;<?xml version="1.0" encoding="utf-8"?><Relationships xmlns="http://schemas.openxmlformats.org/package/2006/relationships"><Relationship Type="http://schemas.openxmlformats.org/officeDocument/2006/relationships/slide" Target="/ppt/slides/slide6.xml" Id="R7e408a1d3c964fbe" /><Relationship Type="http://schemas.openxmlformats.org/officeDocument/2006/relationships/notesMaster" Target="/ppt/notesMasters/notesMaster1.xml" Id="Rfd6076babaa649c5" /></Relationships>
</file>

<file path=ppt/notesSlides/_rels/notesSlide7.xml.rels>&#65279;<?xml version="1.0" encoding="utf-8"?><Relationships xmlns="http://schemas.openxmlformats.org/package/2006/relationships"><Relationship Type="http://schemas.openxmlformats.org/officeDocument/2006/relationships/slide" Target="/ppt/slides/slide7.xml" Id="R76c4d97bef8f4b2c" /><Relationship Type="http://schemas.openxmlformats.org/officeDocument/2006/relationships/notesMaster" Target="/ppt/notesMasters/notesMaster1.xml" Id="R331e1b9ed4a84346" /></Relationships>
</file>

<file path=ppt/notesSlides/_rels/notesSlide8.xml.rels>&#65279;<?xml version="1.0" encoding="utf-8"?><Relationships xmlns="http://schemas.openxmlformats.org/package/2006/relationships"><Relationship Type="http://schemas.openxmlformats.org/officeDocument/2006/relationships/slide" Target="/ppt/slides/slide8.xml" Id="R35cae7b0dc2d437b" /><Relationship Type="http://schemas.openxmlformats.org/officeDocument/2006/relationships/notesMaster" Target="/ppt/notesMasters/notesMaster1.xml" Id="Rfac2c69b68604c09" /></Relationships>
</file>

<file path=ppt/notesSlides/_rels/notesSlide9.xml.rels>&#65279;<?xml version="1.0" encoding="utf-8"?><Relationships xmlns="http://schemas.openxmlformats.org/package/2006/relationships"><Relationship Type="http://schemas.openxmlformats.org/officeDocument/2006/relationships/slide" Target="/ppt/slides/slide9.xml" Id="Rda19c841ca174c58" /><Relationship Type="http://schemas.openxmlformats.org/officeDocument/2006/relationships/notesMaster" Target="/ppt/notesMasters/notesMaster1.xml" Id="R8dab30d36025461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7a6b619641e4267" /><Relationship Type="http://schemas.openxmlformats.org/officeDocument/2006/relationships/notesMaster" Target="/ppt/notesMasters/notesMaster1.xml" Id="Rb6a5d82868664bf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2df819c3fd44eb4" /><Relationship Type="http://schemas.openxmlformats.org/officeDocument/2006/relationships/notesMaster" Target="/ppt/notesMasters/notesMaster1.xml" Id="R8a9108a8a9a54e4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05225c442484bc0" /><Relationship Type="http://schemas.openxmlformats.org/officeDocument/2006/relationships/notesMaster" Target="/ppt/notesMasters/notesMaster1.xml" Id="R9ccc0bbc52e34f1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e5316c5f1b04c8f" /><Relationship Type="http://schemas.openxmlformats.org/officeDocument/2006/relationships/notesMaster" Target="/ppt/notesMasters/notesMaster1.xml" Id="R98524383f27a40f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5c036a70d1347d3" /><Relationship Type="http://schemas.openxmlformats.org/officeDocument/2006/relationships/notesMaster" Target="/ppt/notesMasters/notesMaster1.xml" Id="Ra73e68f19301488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fac502211884aa4" /><Relationship Type="http://schemas.openxmlformats.org/officeDocument/2006/relationships/notesMaster" Target="/ppt/notesMasters/notesMaster1.xml" Id="Rc9d0fbe4ea744e6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cfcf137328843ba" /><Relationship Type="http://schemas.openxmlformats.org/officeDocument/2006/relationships/notesMaster" Target="/ppt/notesMasters/notesMaster1.xml" Id="Rd092f0c2880448b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f96783cb78b43b6" /><Relationship Type="http://schemas.openxmlformats.org/officeDocument/2006/relationships/notesMaster" Target="/ppt/notesMasters/notesMaster1.xml" Id="R704e4c591ba74df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bd1bc22474a494f" /><Relationship Type="http://schemas.openxmlformats.org/officeDocument/2006/relationships/notesMaster" Target="/ppt/notesMasters/notesMaster1.xml" Id="Rf9d0b9e58f9b434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046d84e01b444c3" /><Relationship Type="http://schemas.openxmlformats.org/officeDocument/2006/relationships/notesMaster" Target="/ppt/notesMasters/notesMaster1.xml" Id="Rb6537f7aec6240f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98097eec2dc49f2" /><Relationship Type="http://schemas.openxmlformats.org/officeDocument/2006/relationships/notesMaster" Target="/ppt/notesMasters/notesMaster1.xml" Id="R8976ffd7e361416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0d9148c6b414506" /><Relationship Type="http://schemas.openxmlformats.org/officeDocument/2006/relationships/notesMaster" Target="/ppt/notesMasters/notesMaster1.xml" Id="R4a342d15d14e481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4dad89204254bab" /><Relationship Type="http://schemas.openxmlformats.org/officeDocument/2006/relationships/notesMaster" Target="/ppt/notesMasters/notesMaster1.xml" Id="Rb177f4a548f4419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3e10a3f5d40420a" /><Relationship Type="http://schemas.openxmlformats.org/officeDocument/2006/relationships/notesMaster" Target="/ppt/notesMasters/notesMaster1.xml" Id="R86687ed8b00f43d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536b55ff28345ca" /><Relationship Type="http://schemas.openxmlformats.org/officeDocument/2006/relationships/notesMaster" Target="/ppt/notesMasters/notesMaster1.xml" Id="R04a8b1d3a2ee49a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ca67206838e4dcd" /><Relationship Type="http://schemas.openxmlformats.org/officeDocument/2006/relationships/notesMaster" Target="/ppt/notesMasters/notesMaster1.xml" Id="Re03efa3b4795461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7adbf5e5bd44f2f" /><Relationship Type="http://schemas.openxmlformats.org/officeDocument/2006/relationships/notesMaster" Target="/ppt/notesMasters/notesMaster1.xml" Id="Rf4c622010b2849d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772b340c89a480a" /><Relationship Type="http://schemas.openxmlformats.org/officeDocument/2006/relationships/notesMaster" Target="/ppt/notesMasters/notesMaster1.xml" Id="R25f94a7af20545a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836b655c75f4769" /><Relationship Type="http://schemas.openxmlformats.org/officeDocument/2006/relationships/notesMaster" Target="/ppt/notesMasters/notesMaster1.xml" Id="R240b350f1887458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d8800840ca74ff0" /><Relationship Type="http://schemas.openxmlformats.org/officeDocument/2006/relationships/notesMaster" Target="/ppt/notesMasters/notesMaster1.xml" Id="R5fbebc4580a74ca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d88fee872934632" /><Relationship Type="http://schemas.openxmlformats.org/officeDocument/2006/relationships/notesMaster" Target="/ppt/notesMasters/notesMaster1.xml" Id="R2e6bfce03fdc4fe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e8e1b4cb4e848d7" /><Relationship Type="http://schemas.openxmlformats.org/officeDocument/2006/relationships/notesMaster" Target="/ppt/notesMasters/notesMaster1.xml" Id="R7cc0ba4282224a1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aa32c96f7274684" /><Relationship Type="http://schemas.openxmlformats.org/officeDocument/2006/relationships/notesMaster" Target="/ppt/notesMasters/notesMaster1.xml" Id="R26c2894d0f34454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098fa006d934695" /><Relationship Type="http://schemas.openxmlformats.org/officeDocument/2006/relationships/notesMaster" Target="/ppt/notesMasters/notesMaster1.xml" Id="R48b9148ea91a450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4427ac4f2bb641f2" /><Relationship Type="http://schemas.openxmlformats.org/officeDocument/2006/relationships/notesMaster" Target="/ppt/notesMasters/notesMaster1.xml" Id="R63b4b7a9ab844ae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39c4d9e48e841c9" /><Relationship Type="http://schemas.openxmlformats.org/officeDocument/2006/relationships/notesMaster" Target="/ppt/notesMasters/notesMaster1.xml" Id="R082adb8c0c4641e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34bdca5039754810" /><Relationship Type="http://schemas.openxmlformats.org/officeDocument/2006/relationships/notesMaster" Target="/ppt/notesMasters/notesMaster1.xml" Id="R0256e9b89e4649a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35a4cb1379046c5" /><Relationship Type="http://schemas.openxmlformats.org/officeDocument/2006/relationships/notesMaster" Target="/ppt/notesMasters/notesMaster1.xml" Id="Rc0e6314596874f0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7b3d4a72d77b4e51" /><Relationship Type="http://schemas.openxmlformats.org/officeDocument/2006/relationships/notesMaster" Target="/ppt/notesMasters/notesMaster1.xml" Id="R2ac3b240df6b4fd3"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062956af00ff473d" /><Relationship Type="http://schemas.openxmlformats.org/officeDocument/2006/relationships/notesMaster" Target="/ppt/notesMasters/notesMaster1.xml" Id="Raebb775416394e4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0e93aae0b0e74dce" /><Relationship Type="http://schemas.openxmlformats.org/officeDocument/2006/relationships/notesMaster" Target="/ppt/notesMasters/notesMaster1.xml" Id="Rf6f5202a06884374"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4e9d7ef9bd3d4280" /><Relationship Type="http://schemas.openxmlformats.org/officeDocument/2006/relationships/notesMaster" Target="/ppt/notesMasters/notesMaster1.xml" Id="Rd043fe0679f843f3"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ad9ff77c13d5416e" /><Relationship Type="http://schemas.openxmlformats.org/officeDocument/2006/relationships/notesMaster" Target="/ppt/notesMasters/notesMaster1.xml" Id="Ra2dbba48d9004858"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6325c35469254ab2" /><Relationship Type="http://schemas.openxmlformats.org/officeDocument/2006/relationships/notesMaster" Target="/ppt/notesMasters/notesMaster1.xml" Id="Rc243df5a2c174365"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656ec5b6e8434ed5" /><Relationship Type="http://schemas.openxmlformats.org/officeDocument/2006/relationships/notesMaster" Target="/ppt/notesMasters/notesMaster1.xml" Id="Rf4631a19c60648e9"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2e1a970792cb46c1" /><Relationship Type="http://schemas.openxmlformats.org/officeDocument/2006/relationships/notesMaster" Target="/ppt/notesMasters/notesMaster1.xml" Id="R953313518bb1401a"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471b869dbfda4c20" /><Relationship Type="http://schemas.openxmlformats.org/officeDocument/2006/relationships/notesMaster" Target="/ppt/notesMasters/notesMaster1.xml" Id="Raacf1249b7bd43ef"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3405d48390554e36" /><Relationship Type="http://schemas.openxmlformats.org/officeDocument/2006/relationships/notesMaster" Target="/ppt/notesMasters/notesMaster1.xml" Id="R05119fc9b98c4044"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0081716d200849fb" /><Relationship Type="http://schemas.openxmlformats.org/officeDocument/2006/relationships/notesMaster" Target="/ppt/notesMasters/notesMaster1.xml" Id="R0eabc8200ecb404b"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9bcf1dcde9a341ff" /><Relationship Type="http://schemas.openxmlformats.org/officeDocument/2006/relationships/notesMaster" Target="/ppt/notesMasters/notesMaster1.xml" Id="R075431991f7f4739"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fd0fbf72a2144eed" /><Relationship Type="http://schemas.openxmlformats.org/officeDocument/2006/relationships/notesMaster" Target="/ppt/notesMasters/notesMaster1.xml" Id="Rca61cef6b1f14c3f"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f500643812f84159" /><Relationship Type="http://schemas.openxmlformats.org/officeDocument/2006/relationships/notesMaster" Target="/ppt/notesMasters/notesMaster1.xml" Id="R172238dac3364f4e"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59eb5ffc0acc4e3b" /><Relationship Type="http://schemas.openxmlformats.org/officeDocument/2006/relationships/notesMaster" Target="/ppt/notesMasters/notesMaster1.xml" Id="R2f009974e7884f32"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2c195a619f3e47bf" /><Relationship Type="http://schemas.openxmlformats.org/officeDocument/2006/relationships/notesMaster" Target="/ppt/notesMasters/notesMaster1.xml" Id="Rffd5e6b233f64f3d"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eddd49f963514846" /><Relationship Type="http://schemas.openxmlformats.org/officeDocument/2006/relationships/notesMaster" Target="/ppt/notesMasters/notesMaster1.xml" Id="Ra847eefb259842d8"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1b0e91560555466e" /><Relationship Type="http://schemas.openxmlformats.org/officeDocument/2006/relationships/notesMaster" Target="/ppt/notesMasters/notesMaster1.xml" Id="R15dc0181511b445e"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23bc14a88a784ec8" /><Relationship Type="http://schemas.openxmlformats.org/officeDocument/2006/relationships/notesMaster" Target="/ppt/notesMasters/notesMaster1.xml" Id="Rf308c75c306046a2"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b82839438b764f4e" /><Relationship Type="http://schemas.openxmlformats.org/officeDocument/2006/relationships/notesMaster" Target="/ppt/notesMasters/notesMaster1.xml" Id="R6c74c3dd514f442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Title state. A greeting, nothing more.</a:t>
            </a:r>
          </a:p>
          <a:p xmlns:a="http://schemas.openxmlformats.org/drawingml/2006/main">
            <a:r>
              <a:t/>
            </a:r>
          </a:p>
          <a:p xmlns:a="http://schemas.openxmlformats.org/drawingml/2006/main">
            <a:r>
              <a:rPr b="0"/>
              <a:t>In June 2025, Andrej Karpathy put the whole problem in one line.</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1"/>
              <a:t>"Demo is works.any(), product is works.all()."</a:t>
            </a:r>
          </a:p>
          <a:p xmlns:a="http://schemas.openxmlformats.org/drawingml/2006/main">
            <a:r>
              <a:t/>
            </a:r>
          </a:p>
          <a:p xmlns:a="http://schemas.openxmlformats.org/drawingml/2006/main">
            <a:r>
              <a:rPr b="1"/>
              <a:t>A demo proves that a useful path exists. A product needs reliable behavior across its intended use, with a safe response when it cannot complete the task.</a:t>
            </a:r>
          </a:p>
          <a:p xmlns:a="http://schemas.openxmlformats.org/drawingml/2006/main">
            <a:r>
              <a:t/>
            </a:r>
          </a:p>
          <a:p xmlns:a="http://schemas.openxmlformats.org/drawingml/2006/main">
            <a:r>
              <a:rPr b="1"/>
              <a:t>You have probably seen your coding agent do something impressive this week.</a:t>
            </a:r>
            <a:r>
              <a:rPr b="0"/>
              <a:t> That experience is the starting point for this talk.</a:t>
            </a:r>
          </a:p>
          <a:p xmlns:a="http://schemas.openxmlformats.org/drawingml/2006/main">
            <a:r>
              <a:t/>
            </a:r>
          </a:p>
          <a:p xmlns:a="http://schemas.openxmlformats.org/drawingml/2006/main">
            <a:r>
              <a:rPr b="1"/>
              <a:t>The distance between those two calls is what this talk is about.</a:t>
            </a:r>
            <a:r>
              <a:rPr b="0"/>
              <a:t> It is the distance between using AI and engineering it.</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Title state. A greeting, nothing more.</a:t>
            </a:r>
          </a:p>
          <a:p xmlns:a="http://schemas.openxmlformats.org/drawingml/2006/main">
            <a:r>
              <a:t/>
            </a:r>
          </a:p>
          <a:p xmlns:a="http://schemas.openxmlformats.org/drawingml/2006/main">
            <a:r>
              <a:rPr b="0"/>
              <a:t>In June 2025, Andrej Karpathy put the whole problem in one line.</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1"/>
              <a:t>"Demo is works.any(), product is works.all()."</a:t>
            </a:r>
          </a:p>
          <a:p xmlns:a="http://schemas.openxmlformats.org/drawingml/2006/main">
            <a:r>
              <a:t/>
            </a:r>
          </a:p>
          <a:p xmlns:a="http://schemas.openxmlformats.org/drawingml/2006/main">
            <a:r>
              <a:rPr b="1"/>
              <a:t>A demo proves that a useful path exists. A product needs reliable behavior across its intended use, with a safe response when it cannot complete the task.</a:t>
            </a:r>
          </a:p>
          <a:p xmlns:a="http://schemas.openxmlformats.org/drawingml/2006/main">
            <a:r>
              <a:t/>
            </a:r>
          </a:p>
          <a:p xmlns:a="http://schemas.openxmlformats.org/drawingml/2006/main">
            <a:r>
              <a:rPr b="1"/>
              <a:t>You have probably seen your coding agent do something impressive this week.</a:t>
            </a:r>
            <a:r>
              <a:rPr b="0"/>
              <a:t> That experience is the starting point for this talk.</a:t>
            </a:r>
          </a:p>
          <a:p xmlns:a="http://schemas.openxmlformats.org/drawingml/2006/main">
            <a:r>
              <a:t/>
            </a:r>
          </a:p>
          <a:p xmlns:a="http://schemas.openxmlformats.org/drawingml/2006/main">
            <a:r>
              <a:rPr b="1"/>
              <a:t>The distance between those two calls is what this talk is about.</a:t>
            </a:r>
            <a:r>
              <a:rPr b="0"/>
              <a:t> It is the distance between using AI and engineering it.</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Using AI makes you an AI-enabled software engineer. Engineering systems that depend on AI makes you an AI engineer.</a:t>
            </a:r>
          </a:p>
          <a:p xmlns:a="http://schemas.openxmlformats.org/drawingml/2006/main">
            <a:r>
              <a:t/>
            </a:r>
          </a:p>
          <a:p xmlns:a="http://schemas.openxmlformats.org/drawingml/2006/main">
            <a:r>
              <a:rPr b="1"/>
              <a:t>This talk focuses on building products around foundation models.</a:t>
            </a:r>
            <a:r>
              <a:rPr b="0"/>
              <a:t> Your software engineering skills are the foundation. The additional responsibility is measuring and controlling model-dependent behavior.</a:t>
            </a:r>
          </a:p>
          <a:p xmlns:a="http://schemas.openxmlformats.org/drawingml/2006/main">
            <a:r>
              <a:t/>
            </a:r>
          </a:p>
          <a:p xmlns:a="http://schemas.openxmlformats.org/drawingml/2006/main">
            <a:r>
              <a:rPr b="0"/>
              <a:t>ML engineers typically focus on models and the pipelines that produce them. AI engineers typically focus on products around models. The roles overlap, including adaptation and fine-tuning.</a:t>
            </a:r>
          </a:p>
          <a:p xmlns:a="http://schemas.openxmlformats.org/drawingml/2006/main">
            <a:r>
              <a:t/>
            </a:r>
          </a:p>
          <a:p xmlns:a="http://schemas.openxmlformats.org/drawingml/2006/main">
            <a:r>
              <a:rPr b="1"/>
              <a:t>Owner means the engineer or team accountable for the delivered product's behavior and operating limits.</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comparison is about where the model-dependent behavior lives.</a:t>
            </a:r>
            <a:r>
              <a:rPr b="0"/>
              <a:t> In development, you use output to build an artifact and decide what to accept and ship. In the product, users depend on model output or decisions during operation.</a:t>
            </a:r>
          </a:p>
          <a:p xmlns:a="http://schemas.openxmlformats.org/drawingml/2006/main">
            <a:r>
              <a:t/>
            </a:r>
          </a:p>
          <a:p xmlns:a="http://schemas.openxmlformats.org/drawingml/2006/main">
            <a:r>
              <a:rPr b="1"/>
              <a:t>You design the checks, approval steps, and failure handling.</a:t>
            </a:r>
            <a:r>
              <a:rPr b="0"/>
              <a:t> Human review can be part of either system. Your team owns the product's behavior and operating limits.</a:t>
            </a:r>
          </a:p>
          <a:p xmlns:a="http://schemas.openxmlformats.org/drawingml/2006/main">
            <a:r>
              <a:t/>
            </a:r>
          </a:p>
          <a:p xmlns:a="http://schemas.openxmlformats.org/drawingml/2006/main">
            <a:r>
              <a:rPr b="0"/>
              <a:t>Separately, Anthropic distinguishes workflows on predefined code paths from agents with model-selected actions. </a:t>
            </a:r>
            <a:r>
              <a:rPr b="1"/>
              <a:t>An agent adds model-selected actions to control flow. Ordinary code can still enforce permissions, limits, and other guarantees.</a:t>
            </a:r>
            <a:r>
              <a:rPr b="0"/>
              <a:t> That is why we will examine the system around the model.</a:t>
            </a:r>
          </a:p>
          <a:p xmlns:a="http://schemas.openxmlformats.org/drawingml/2006/main">
            <a:r>
              <a:t/>
            </a:r>
          </a:p>
          <a:p xmlns:a="http://schemas.openxmlformats.org/drawingml/2006/main">
            <a:r>
              <a:rPr b="0"/>
              <a:t>Fowler compares this to other engineering disciplines that build tolerances for variability. Reliable behavior across intended use includes a safe response when the system cannot complete a task.</a:t>
            </a:r>
          </a:p>
          <a:p xmlns:a="http://schemas.openxmlformats.org/drawingml/2006/main">
            <a:r>
              <a:t/>
            </a:r>
          </a:p>
          <a:p xmlns:a="http://schemas.openxmlformats.org/drawingml/2006/main">
            <a:r>
              <a:rPr b="0"/>
              <a:t>Shankar and colleagues studied how grading outputs helps people refine evaluation criteria. </a:t>
            </a:r>
            <a:r>
              <a:rPr b="1"/>
              <a:t>Watching failures can expose missing requirements.</a:t>
            </a:r>
            <a:r>
              <a:rPr b="0"/>
              <a:t> Some checks are known from the start; others improve as we learn.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1"/>
              <a:t>Using AI changes how you build. Engineering AI changes what you are responsible for.</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comparison is about where the model-dependent behavior lives.</a:t>
            </a:r>
            <a:r>
              <a:rPr b="0"/>
              <a:t> In development, you use output to build an artifact and decide what to accept and ship. In the product, users depend on model output or decisions during operation.</a:t>
            </a:r>
          </a:p>
          <a:p xmlns:a="http://schemas.openxmlformats.org/drawingml/2006/main">
            <a:r>
              <a:t/>
            </a:r>
          </a:p>
          <a:p xmlns:a="http://schemas.openxmlformats.org/drawingml/2006/main">
            <a:r>
              <a:rPr b="1"/>
              <a:t>You design the checks, approval steps, and failure handling.</a:t>
            </a:r>
            <a:r>
              <a:rPr b="0"/>
              <a:t> Human review can be part of either system. Your team owns the product's behavior and operating limits.</a:t>
            </a:r>
          </a:p>
          <a:p xmlns:a="http://schemas.openxmlformats.org/drawingml/2006/main">
            <a:r>
              <a:t/>
            </a:r>
          </a:p>
          <a:p xmlns:a="http://schemas.openxmlformats.org/drawingml/2006/main">
            <a:r>
              <a:rPr b="0"/>
              <a:t>Separately, Anthropic distinguishes workflows on predefined code paths from agents with model-selected actions. </a:t>
            </a:r>
            <a:r>
              <a:rPr b="1"/>
              <a:t>An agent adds model-selected actions to control flow. Ordinary code can still enforce permissions, limits, and other guarantees.</a:t>
            </a:r>
            <a:r>
              <a:rPr b="0"/>
              <a:t> That is why we will examine the system around the model.</a:t>
            </a:r>
          </a:p>
          <a:p xmlns:a="http://schemas.openxmlformats.org/drawingml/2006/main">
            <a:r>
              <a:t/>
            </a:r>
          </a:p>
          <a:p xmlns:a="http://schemas.openxmlformats.org/drawingml/2006/main">
            <a:r>
              <a:rPr b="0"/>
              <a:t>Fowler compares this to other engineering disciplines that build tolerances for variability. Reliable behavior across intended use includes a safe response when the system cannot complete a task.</a:t>
            </a:r>
          </a:p>
          <a:p xmlns:a="http://schemas.openxmlformats.org/drawingml/2006/main">
            <a:r>
              <a:t/>
            </a:r>
          </a:p>
          <a:p xmlns:a="http://schemas.openxmlformats.org/drawingml/2006/main">
            <a:r>
              <a:rPr b="0"/>
              <a:t>Shankar and colleagues studied how grading outputs helps people refine evaluation criteria. </a:t>
            </a:r>
            <a:r>
              <a:rPr b="1"/>
              <a:t>Watching failures can expose missing requirements.</a:t>
            </a:r>
            <a:r>
              <a:rPr b="0"/>
              <a:t> Some checks are known from the start; others improve as we learn.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1"/>
              <a:t>Using AI changes how you build. Engineering AI changes what you are responsible for.</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things to leave with. </a:t>
            </a:r>
            <a:r>
              <a:rPr b="1"/>
              <a:t>A conceptual map of the discipline. An honest sense of how much there is. And a roadmap for making the transition.</a:t>
            </a:r>
          </a:p>
          <a:p xmlns:a="http://schemas.openxmlformats.org/drawingml/2006/main">
            <a:r>
              <a:t/>
            </a:r>
          </a:p>
          <a:p xmlns:a="http://schemas.openxmlformats.org/drawingml/2006/main">
            <a:r>
              <a:rPr b="0"/>
              <a:t>The agenda. The map, two minutes. Six areas, twenty-three minutes: models, context and knowledge, tools, orchestration, verification and evals, and operating it. The transition, five minutes. Then fifteen minutes for your questions.</a:t>
            </a:r>
          </a:p>
          <a:p xmlns:a="http://schemas.openxmlformats.org/drawingml/2006/main">
            <a:r>
              <a:t/>
            </a:r>
          </a:p>
          <a:p xmlns:a="http://schemas.openxmlformats.org/drawingml/2006/main">
            <a:r>
              <a:rPr b="1"/>
              <a:t>For each area: When you are the user, including what someone engineered, then When you are the owner.</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for a moment.</a:t>
            </a:r>
          </a:p>
          <a:p xmlns:a="http://schemas.openxmlformats.org/drawingml/2006/main">
            <a:r>
              <a:t/>
            </a:r>
          </a:p>
          <a:p xmlns:a="http://schemas.openxmlformats.org/drawingml/2006/main">
            <a:r>
              <a:rPr b="1"/>
              <a:t>Let's open up the tool you used this morning.</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This is the model picker in Devin Desktop. The first choice is which model handles your coding task.</a:t>
            </a:r>
          </a:p>
          <a:p xmlns:a="http://schemas.openxmlformats.org/drawingml/2006/main">
            <a:r>
              <a:t/>
            </a:r>
          </a:p>
          <a:p xmlns:a="http://schemas.openxmlformats.org/drawingml/2006/main">
            <a:r>
              <a:rPr b="0"/>
              <a:t>The reasoning-effort slider adjusts the effort used to work through that task. </a:t>
            </a:r>
            <a:r>
              <a:rPr b="1"/>
              <a:t>One picker exposes both the model and its reasoning setting.</a:t>
            </a:r>
            <a:r>
              <a:rPr b="0"/>
              <a:t> Those familiar controls are our starting point.</a:t>
            </a:r>
          </a:p>
          <a:p xmlns:a="http://schemas.openxmlformats.org/drawingml/2006/main">
            <a:r>
              <a:t/>
            </a:r>
          </a:p>
          <a:p xmlns:a="http://schemas.openxmlformats.org/drawingml/2006/main">
            <a:r>
              <a:rPr b="0"/>
              <a:t>Advance to the Models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“A decent model with a great harness beats a great model with a bad harness.”</a:t>
            </a:r>
            <a:r>
              <a:rPr b="0"/>
              <a:t> Addy Osmani is describing his experience. </a:t>
            </a:r>
            <a:r>
              <a:rPr b="1"/>
              <a:t>Evaluate the model inside the system you are building.</a:t>
            </a:r>
            <a:r>
              <a:rPr b="0"/>
              <a:t> Context, tools, and control flow shape the result too.</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Three decisions. First, which model and reasoning settings fit the task? </a:t>
            </a:r>
            <a:r>
              <a:rPr b="1"/>
              <a:t>Compare candidates on representative tasks.</a:t>
            </a:r>
            <a:r>
              <a:rPr b="0"/>
              <a:t> Read quality, cost, and latency together. Deployment constraints include context limits, tool reliability, and data residency.</a:t>
            </a:r>
          </a:p>
          <a:p xmlns:a="http://schemas.openxmlformats.org/drawingml/2006/main">
            <a:r>
              <a:t/>
            </a:r>
          </a:p>
          <a:p xmlns:a="http://schemas.openxmlformats.org/drawingml/2006/main">
            <a:r>
              <a:rPr b="0"/>
              <a:t>Second, one model or different models for different work? </a:t>
            </a:r>
            <a:r>
              <a:rPr b="1"/>
              <a:t>Start with one configuration unless measurements justify routing.</a:t>
            </a:r>
            <a:r>
              <a:rPr b="0"/>
              <a:t> Routing gives you more choices, but also more configurations to evaluate and maintain. Orchestration, later, determines how the work is divided and coordinated.</a:t>
            </a:r>
          </a:p>
          <a:p xmlns:a="http://schemas.openxmlformats.org/drawingml/2006/main">
            <a:r>
              <a:t/>
            </a:r>
          </a:p>
          <a:p xmlns:a="http://schemas.openxmlformats.org/drawingml/2006/main">
            <a:r>
              <a:rPr b="0"/>
              <a:t>Third, how will changes be controlled? </a:t>
            </a:r>
            <a:r>
              <a:rPr b="1"/>
              <a:t>Pinned versions need planned migration. Moving aliases need regression monitoring.</a:t>
            </a:r>
            <a:r>
              <a:rPr b="0"/>
              <a:t> Define how you will evaluate and replace a model before the choice becomes a dependency.</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Tasks change. Refresh your evaluation cases as intended use changes. Routes change. Cover each route and measure the whole workflow, including retries and verification. Model versions retire and aliases update. Monitor those changes and prepare a replacement.</a:t>
            </a:r>
          </a:p>
          <a:p xmlns:a="http://schemas.openxmlformats.org/drawingml/2006/main">
            <a:r>
              <a:t/>
            </a:r>
          </a:p>
          <a:p xmlns:a="http://schemas.openxmlformats.org/drawingml/2006/main">
            <a:r>
              <a:rPr b="1"/>
              <a:t>A snapshot does not freeze the whole system.</a:t>
            </a:r>
            <a:r>
              <a:rPr b="0"/>
              <a:t> Prompts, retrieval, tools, and the environment can still change. </a:t>
            </a:r>
            <a:r>
              <a:rPr b="1"/>
              <a:t>Choosing and changing models without testing them on your task</a:t>
            </a:r>
            <a:r>
              <a:rPr b="0"/>
              <a:t> is the recurring pitfall. Skipping that evidence leaves a gap in every one of these decisions.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Now apply those choices to the FRB brief. This is a proposed starting design, with no measured model results. Compare candidates on faithful summaries and supported findings. </a:t>
            </a:r>
            <a:r>
              <a:rPr b="1"/>
              <a:t>A possible cause must remain a possible cause.</a:t>
            </a:r>
            <a:r>
              <a:rPr b="0"/>
              <a:t> The later minutes still leave FRB-042's cause unresolved.</a:t>
            </a:r>
          </a:p>
          <a:p xmlns:a="http://schemas.openxmlformats.org/drawingml/2006/main">
            <a:r>
              <a:t/>
            </a:r>
          </a:p>
          <a:p xmlns:a="http://schemas.openxmlformats.org/drawingml/2006/main">
            <a:r>
              <a:rPr b="0"/>
              <a:t>Begin with one model configuration. Use a pinned version where available, with a migration plan. </a:t>
            </a:r>
            <a:r>
              <a:rPr b="1"/>
              <a:t>Revisit the design when measured quality, cost, latency, or lifecycle requirements justify a change.</a:t>
            </a:r>
            <a:r>
              <a:rPr b="0"/>
              <a:t> The example shows the reasoning behind a starting point, not a winning model.</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“A decent model with a great harness beats a great model with a bad harness.”</a:t>
            </a:r>
            <a:r>
              <a:rPr b="0"/>
              <a:t> Addy Osmani is describing his experience. </a:t>
            </a:r>
            <a:r>
              <a:rPr b="1"/>
              <a:t>Evaluate the model inside the system you are building.</a:t>
            </a:r>
            <a:r>
              <a:rPr b="0"/>
              <a:t> Context, tools, and control flow shape the result too.</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Three decisions. First, which model and reasoning settings fit the task? </a:t>
            </a:r>
            <a:r>
              <a:rPr b="1"/>
              <a:t>Compare candidates on representative tasks.</a:t>
            </a:r>
            <a:r>
              <a:rPr b="0"/>
              <a:t> Read quality, cost, and latency together. Deployment constraints include context limits, tool reliability, and data residency.</a:t>
            </a:r>
          </a:p>
          <a:p xmlns:a="http://schemas.openxmlformats.org/drawingml/2006/main">
            <a:r>
              <a:t/>
            </a:r>
          </a:p>
          <a:p xmlns:a="http://schemas.openxmlformats.org/drawingml/2006/main">
            <a:r>
              <a:rPr b="0"/>
              <a:t>Second, one model or different models for different work? </a:t>
            </a:r>
            <a:r>
              <a:rPr b="1"/>
              <a:t>Start with one configuration unless measurements justify routing.</a:t>
            </a:r>
            <a:r>
              <a:rPr b="0"/>
              <a:t> Routing gives you more choices, but also more configurations to evaluate and maintain. Orchestration, later, determines how the work is divided and coordinated.</a:t>
            </a:r>
          </a:p>
          <a:p xmlns:a="http://schemas.openxmlformats.org/drawingml/2006/main">
            <a:r>
              <a:t/>
            </a:r>
          </a:p>
          <a:p xmlns:a="http://schemas.openxmlformats.org/drawingml/2006/main">
            <a:r>
              <a:rPr b="0"/>
              <a:t>Third, how will changes be controlled? </a:t>
            </a:r>
            <a:r>
              <a:rPr b="1"/>
              <a:t>Pinned versions need planned migration. Moving aliases need regression monitoring.</a:t>
            </a:r>
            <a:r>
              <a:rPr b="0"/>
              <a:t> Define how you will evaluate and replace a model before the choice becomes a dependency.</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Tasks change. Refresh your evaluation cases as intended use changes. Routes change. Cover each route and measure the whole workflow, including retries and verification. Model versions retire and aliases update. Monitor those changes and prepare a replacement.</a:t>
            </a:r>
          </a:p>
          <a:p xmlns:a="http://schemas.openxmlformats.org/drawingml/2006/main">
            <a:r>
              <a:t/>
            </a:r>
          </a:p>
          <a:p xmlns:a="http://schemas.openxmlformats.org/drawingml/2006/main">
            <a:r>
              <a:rPr b="1"/>
              <a:t>A snapshot does not freeze the whole system.</a:t>
            </a:r>
            <a:r>
              <a:rPr b="0"/>
              <a:t> Prompts, retrieval, tools, and the environment can still change. </a:t>
            </a:r>
            <a:r>
              <a:rPr b="1"/>
              <a:t>Choosing and changing models without testing them on your task</a:t>
            </a:r>
            <a:r>
              <a:rPr b="0"/>
              <a:t> is the recurring pitfall. Skipping that evidence leaves a gap in every one of these decisions.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Now apply those choices to the FRB brief. This is a proposed starting design, with no measured model results. Compare candidates on faithful summaries and supported findings. </a:t>
            </a:r>
            <a:r>
              <a:rPr b="1"/>
              <a:t>A possible cause must remain a possible cause.</a:t>
            </a:r>
            <a:r>
              <a:rPr b="0"/>
              <a:t> The later minutes still leave FRB-042's cause unresolved.</a:t>
            </a:r>
          </a:p>
          <a:p xmlns:a="http://schemas.openxmlformats.org/drawingml/2006/main">
            <a:r>
              <a:t/>
            </a:r>
          </a:p>
          <a:p xmlns:a="http://schemas.openxmlformats.org/drawingml/2006/main">
            <a:r>
              <a:rPr b="0"/>
              <a:t>Begin with one model configuration. Use a pinned version where available, with a migration plan. </a:t>
            </a:r>
            <a:r>
              <a:rPr b="1"/>
              <a:t>Revisit the design when measured quality, cost, latency, or lifecycle requirements justify a change.</a:t>
            </a:r>
            <a:r>
              <a:rPr b="0"/>
              <a:t> The example shows the reasoning behind a starting point, not a winning model.</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“A decent model with a great harness beats a great model with a bad harness.”</a:t>
            </a:r>
            <a:r>
              <a:rPr b="0"/>
              <a:t> Addy Osmani is describing his experience. </a:t>
            </a:r>
            <a:r>
              <a:rPr b="1"/>
              <a:t>Evaluate the model inside the system you are building.</a:t>
            </a:r>
            <a:r>
              <a:rPr b="0"/>
              <a:t> Context, tools, and control flow shape the result too.</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Three decisions. First, which model and reasoning settings fit the task? </a:t>
            </a:r>
            <a:r>
              <a:rPr b="1"/>
              <a:t>Compare candidates on representative tasks.</a:t>
            </a:r>
            <a:r>
              <a:rPr b="0"/>
              <a:t> Read quality, cost, and latency together. Deployment constraints include context limits, tool reliability, and data residency.</a:t>
            </a:r>
          </a:p>
          <a:p xmlns:a="http://schemas.openxmlformats.org/drawingml/2006/main">
            <a:r>
              <a:t/>
            </a:r>
          </a:p>
          <a:p xmlns:a="http://schemas.openxmlformats.org/drawingml/2006/main">
            <a:r>
              <a:rPr b="0"/>
              <a:t>Second, one model or different models for different work? </a:t>
            </a:r>
            <a:r>
              <a:rPr b="1"/>
              <a:t>Start with one configuration unless measurements justify routing.</a:t>
            </a:r>
            <a:r>
              <a:rPr b="0"/>
              <a:t> Routing gives you more choices, but also more configurations to evaluate and maintain. Orchestration, later, determines how the work is divided and coordinated.</a:t>
            </a:r>
          </a:p>
          <a:p xmlns:a="http://schemas.openxmlformats.org/drawingml/2006/main">
            <a:r>
              <a:t/>
            </a:r>
          </a:p>
          <a:p xmlns:a="http://schemas.openxmlformats.org/drawingml/2006/main">
            <a:r>
              <a:rPr b="0"/>
              <a:t>Third, how will changes be controlled? </a:t>
            </a:r>
            <a:r>
              <a:rPr b="1"/>
              <a:t>Pinned versions need planned migration. Moving aliases need regression monitoring.</a:t>
            </a:r>
            <a:r>
              <a:rPr b="0"/>
              <a:t> Define how you will evaluate and replace a model before the choice becomes a dependency.</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Tasks change. Refresh your evaluation cases as intended use changes. Routes change. Cover each route and measure the whole workflow, including retries and verification. Model versions retire and aliases update. Monitor those changes and prepare a replacement.</a:t>
            </a:r>
          </a:p>
          <a:p xmlns:a="http://schemas.openxmlformats.org/drawingml/2006/main">
            <a:r>
              <a:t/>
            </a:r>
          </a:p>
          <a:p xmlns:a="http://schemas.openxmlformats.org/drawingml/2006/main">
            <a:r>
              <a:rPr b="1"/>
              <a:t>A snapshot does not freeze the whole system.</a:t>
            </a:r>
            <a:r>
              <a:rPr b="0"/>
              <a:t> Prompts, retrieval, tools, and the environment can still change. </a:t>
            </a:r>
            <a:r>
              <a:rPr b="1"/>
              <a:t>Choosing and changing models without testing them on your task</a:t>
            </a:r>
            <a:r>
              <a:rPr b="0"/>
              <a:t> is the recurring pitfall. Skipping that evidence leaves a gap in every one of these decisions.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Now apply those choices to the FRB brief. This is a proposed starting design, with no measured model results. Compare candidates on faithful summaries and supported findings. </a:t>
            </a:r>
            <a:r>
              <a:rPr b="1"/>
              <a:t>A possible cause must remain a possible cause.</a:t>
            </a:r>
            <a:r>
              <a:rPr b="0"/>
              <a:t> The later minutes still leave FRB-042's cause unresolved.</a:t>
            </a:r>
          </a:p>
          <a:p xmlns:a="http://schemas.openxmlformats.org/drawingml/2006/main">
            <a:r>
              <a:t/>
            </a:r>
          </a:p>
          <a:p xmlns:a="http://schemas.openxmlformats.org/drawingml/2006/main">
            <a:r>
              <a:rPr b="0"/>
              <a:t>Begin with one model configuration. Use a pinned version where available, with a migration plan. </a:t>
            </a:r>
            <a:r>
              <a:rPr b="1"/>
              <a:t>Revisit the design when measured quality, cost, latency, or lifecycle requirements justify a change.</a:t>
            </a:r>
            <a:r>
              <a:rPr b="0"/>
              <a:t> The example shows the reasoning behind a starting point, not a winning model.</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“A decent model with a great harness beats a great model with a bad harness.”</a:t>
            </a:r>
            <a:r>
              <a:rPr b="0"/>
              <a:t> Addy Osmani is describing his experience. </a:t>
            </a:r>
            <a:r>
              <a:rPr b="1"/>
              <a:t>Evaluate the model inside the system you are building.</a:t>
            </a:r>
            <a:r>
              <a:rPr b="0"/>
              <a:t> Context, tools, and control flow shape the result too.</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Three decisions. First, which model and reasoning settings fit the task? </a:t>
            </a:r>
            <a:r>
              <a:rPr b="1"/>
              <a:t>Compare candidates on representative tasks.</a:t>
            </a:r>
            <a:r>
              <a:rPr b="0"/>
              <a:t> Read quality, cost, and latency together. Deployment constraints include context limits, tool reliability, and data residency.</a:t>
            </a:r>
          </a:p>
          <a:p xmlns:a="http://schemas.openxmlformats.org/drawingml/2006/main">
            <a:r>
              <a:t/>
            </a:r>
          </a:p>
          <a:p xmlns:a="http://schemas.openxmlformats.org/drawingml/2006/main">
            <a:r>
              <a:rPr b="0"/>
              <a:t>Second, one model or different models for different work? </a:t>
            </a:r>
            <a:r>
              <a:rPr b="1"/>
              <a:t>Start with one configuration unless measurements justify routing.</a:t>
            </a:r>
            <a:r>
              <a:rPr b="0"/>
              <a:t> Routing gives you more choices, but also more configurations to evaluate and maintain. Orchestration, later, determines how the work is divided and coordinated.</a:t>
            </a:r>
          </a:p>
          <a:p xmlns:a="http://schemas.openxmlformats.org/drawingml/2006/main">
            <a:r>
              <a:t/>
            </a:r>
          </a:p>
          <a:p xmlns:a="http://schemas.openxmlformats.org/drawingml/2006/main">
            <a:r>
              <a:rPr b="0"/>
              <a:t>Third, how will changes be controlled? </a:t>
            </a:r>
            <a:r>
              <a:rPr b="1"/>
              <a:t>Pinned versions need planned migration. Moving aliases need regression monitoring.</a:t>
            </a:r>
            <a:r>
              <a:rPr b="0"/>
              <a:t> Define how you will evaluate and replace a model before the choice becomes a dependency.</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Tasks change. Refresh your evaluation cases as intended use changes. Routes change. Cover each route and measure the whole workflow, including retries and verification. Model versions retire and aliases update. Monitor those changes and prepare a replacement.</a:t>
            </a:r>
          </a:p>
          <a:p xmlns:a="http://schemas.openxmlformats.org/drawingml/2006/main">
            <a:r>
              <a:t/>
            </a:r>
          </a:p>
          <a:p xmlns:a="http://schemas.openxmlformats.org/drawingml/2006/main">
            <a:r>
              <a:rPr b="1"/>
              <a:t>A snapshot does not freeze the whole system.</a:t>
            </a:r>
            <a:r>
              <a:rPr b="0"/>
              <a:t> Prompts, retrieval, tools, and the environment can still change. </a:t>
            </a:r>
            <a:r>
              <a:rPr b="1"/>
              <a:t>Choosing and changing models without testing them on your task</a:t>
            </a:r>
            <a:r>
              <a:rPr b="0"/>
              <a:t> is the recurring pitfall. Skipping that evidence leaves a gap in every one of these decisions.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Now apply those choices to the FRB brief. This is a proposed starting design, with no measured model results. Compare candidates on faithful summaries and supported findings. </a:t>
            </a:r>
            <a:r>
              <a:rPr b="1"/>
              <a:t>A possible cause must remain a possible cause.</a:t>
            </a:r>
            <a:r>
              <a:rPr b="0"/>
              <a:t> The later minutes still leave FRB-042's cause unresolved.</a:t>
            </a:r>
          </a:p>
          <a:p xmlns:a="http://schemas.openxmlformats.org/drawingml/2006/main">
            <a:r>
              <a:t/>
            </a:r>
          </a:p>
          <a:p xmlns:a="http://schemas.openxmlformats.org/drawingml/2006/main">
            <a:r>
              <a:rPr b="0"/>
              <a:t>Begin with one model configuration. Use a pinned version where available, with a migration plan. </a:t>
            </a:r>
            <a:r>
              <a:rPr b="1"/>
              <a:t>Revisit the design when measured quality, cost, latency, or lifecycle requirements justify a change.</a:t>
            </a:r>
            <a:r>
              <a:rPr b="0"/>
              <a:t> The example shows the reasoning behind a starting point, not a winning model.</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This is AGENTS.md. You give a coding agent the repository's conventions and the checks it should use to validate its work.</a:t>
            </a:r>
          </a:p>
          <a:p xmlns:a="http://schemas.openxmlformats.org/drawingml/2006/main">
            <a:r>
              <a:t/>
            </a:r>
          </a:p>
          <a:p xmlns:a="http://schemas.openxmlformats.org/drawingml/2006/main">
            <a:r>
              <a:rPr b="1"/>
              <a:t>You are supplying context for the task.</a:t>
            </a:r>
            <a:r>
              <a:rPr b="0"/>
              <a:t> The file can explain how work fits this project and how to verify a change before handing it back. It is one familiar part of the information the agent uses.</a:t>
            </a:r>
          </a:p>
          <a:p xmlns:a="http://schemas.openxmlformats.org/drawingml/2006/main">
            <a:r>
              <a:t/>
            </a:r>
          </a:p>
          <a:p xmlns:a="http://schemas.openxmlformats.org/drawingml/2006/main">
            <a:r>
              <a:rPr b="0"/>
              <a:t>Advance to the Context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“Context, therefore, must be treated as a finite resource with diminishing marginal returns.”</a:t>
            </a:r>
            <a:r>
              <a:rPr b="0"/>
              <a:t> That is Anthropic's framing. </a:t>
            </a:r>
            <a:r>
              <a:rPr b="1"/>
              <a:t>The owner chooses what the model sees at each step.</a:t>
            </a:r>
            <a:r>
              <a:rPr b="0"/>
              <a:t> A larger window does not make every piece of information useful.</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what belongs in the next step? Instructions, task state, and relevant knowledge. </a:t>
            </a:r>
            <a:r>
              <a:rPr b="1"/>
              <a:t>RAG retrieves relevant external information and supplies it to the model.</a:t>
            </a:r>
            <a:r>
              <a:rPr b="0"/>
              <a:t> File reads, keyword search, embeddings, and hybrid retrieval are methods chosen for the data and task.</a:t>
            </a:r>
          </a:p>
          <a:p xmlns:a="http://schemas.openxmlformats.org/drawingml/2006/main">
            <a:r>
              <a:t/>
            </a:r>
          </a:p>
          <a:p xmlns:a="http://schemas.openxmlformats.org/drawingml/2006/main">
            <a:r>
              <a:rPr b="0"/>
              <a:t>Second, what should persist or be refreshed? Keep facts and constraints that still matter. Compaction summarizes a conversation. Persistent memory can carry information across sessions. Decide what to retain, what to discard, and when to refresh sources.</a:t>
            </a:r>
          </a:p>
          <a:p xmlns:a="http://schemas.openxmlformats.org/drawingml/2006/main">
            <a:r>
              <a:t/>
            </a:r>
          </a:p>
          <a:p xmlns:a="http://schemas.openxmlformats.org/drawingml/2006/main">
            <a:r>
              <a:rPr b="0"/>
              <a:t>Third, which sources and access scope? </a:t>
            </a:r>
            <a:r>
              <a:rPr b="1"/>
              <a:t>Keep source locations and revisions. Enforce the user's authorized scope outside the model.</a:t>
            </a:r>
            <a:r>
              <a:rPr b="0"/>
              <a:t> Retrieval should supply evidence that the system is allowed to use and that the engineer can trace back to its source.</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Records change, so retrieved passages can become stale. Sessions grow, and a summary can lose a constraint. Memory can expose information across an access boundary. Refresh retrieval, test what compaction preserves, and keep the provenance. Recheck representative cases when sources or policies change.</a:t>
            </a:r>
          </a:p>
          <a:p xmlns:a="http://schemas.openxmlformats.org/drawingml/2006/main">
            <a:r>
              <a:t/>
            </a:r>
          </a:p>
          <a:p xmlns:a="http://schemas.openxmlformats.org/drawingml/2006/main">
            <a:r>
              <a:rPr b="0"/>
              <a:t>Stable prompt prefixes can help caching. </a:t>
            </a:r>
            <a:r>
              <a:rPr b="1"/>
              <a:t>Correctness and access take priority over cache savings.</a:t>
            </a:r>
            <a:r>
              <a:rPr b="0"/>
              <a:t> The common pitfall is </a:t>
            </a:r>
            <a:r>
              <a:rPr b="1"/>
              <a:t>adding instead of curating</a:t>
            </a:r>
            <a:r>
              <a:rPr b="0"/>
              <a:t>: more instructions, more retrieved text, and more history without deciding what still belongs.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Here is a proposed starting context for the FRB brief. Retrieve both relevant passages with their identities and locations. </a:t>
            </a:r>
            <a:r>
              <a:rPr b="1"/>
              <a:t>The briefing names a possible cause. The later minutes leave it unresolved and require inspection.</a:t>
            </a:r>
          </a:p>
          <a:p xmlns:a="http://schemas.openxmlformats.org/drawingml/2006/main">
            <a:r>
              <a:t/>
            </a:r>
          </a:p>
          <a:p xmlns:a="http://schemas.openxmlformats.org/drawingml/2006/main">
            <a:r>
              <a:rPr b="0"/>
              <a:t>Retain that unresolved status and inspection requirement in the working context and any summary. Refresh source versions and recheck access before finalizing the brief. Access checks stay outside the model. Missing or inaccessible evidence remains an explicit limitation.</a:t>
            </a:r>
          </a:p>
          <a:p xmlns:a="http://schemas.openxmlformats.org/drawingml/2006/main">
            <a:r>
              <a:t/>
            </a:r>
          </a:p>
          <a:p xmlns:a="http://schemas.openxmlformats.org/drawingml/2006/main">
            <a:r>
              <a:rPr b="1"/>
              <a:t>Context is a budget, not a bucket.</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“Context, therefore, must be treated as a finite resource with diminishing marginal returns.”</a:t>
            </a:r>
            <a:r>
              <a:rPr b="0"/>
              <a:t> That is Anthropic's framing. </a:t>
            </a:r>
            <a:r>
              <a:rPr b="1"/>
              <a:t>The owner chooses what the model sees at each step.</a:t>
            </a:r>
            <a:r>
              <a:rPr b="0"/>
              <a:t> A larger window does not make every piece of information useful.</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what belongs in the next step? Instructions, task state, and relevant knowledge. </a:t>
            </a:r>
            <a:r>
              <a:rPr b="1"/>
              <a:t>RAG retrieves relevant external information and supplies it to the model.</a:t>
            </a:r>
            <a:r>
              <a:rPr b="0"/>
              <a:t> File reads, keyword search, embeddings, and hybrid retrieval are methods chosen for the data and task.</a:t>
            </a:r>
          </a:p>
          <a:p xmlns:a="http://schemas.openxmlformats.org/drawingml/2006/main">
            <a:r>
              <a:t/>
            </a:r>
          </a:p>
          <a:p xmlns:a="http://schemas.openxmlformats.org/drawingml/2006/main">
            <a:r>
              <a:rPr b="0"/>
              <a:t>Second, what should persist or be refreshed? Keep facts and constraints that still matter. Compaction summarizes a conversation. Persistent memory can carry information across sessions. Decide what to retain, what to discard, and when to refresh sources.</a:t>
            </a:r>
          </a:p>
          <a:p xmlns:a="http://schemas.openxmlformats.org/drawingml/2006/main">
            <a:r>
              <a:t/>
            </a:r>
          </a:p>
          <a:p xmlns:a="http://schemas.openxmlformats.org/drawingml/2006/main">
            <a:r>
              <a:rPr b="0"/>
              <a:t>Third, which sources and access scope? </a:t>
            </a:r>
            <a:r>
              <a:rPr b="1"/>
              <a:t>Keep source locations and revisions. Enforce the user's authorized scope outside the model.</a:t>
            </a:r>
            <a:r>
              <a:rPr b="0"/>
              <a:t> Retrieval should supply evidence that the system is allowed to use and that the engineer can trace back to its source.</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Records change, so retrieved passages can become stale. Sessions grow, and a summary can lose a constraint. Memory can expose information across an access boundary. Refresh retrieval, test what compaction preserves, and keep the provenance. Recheck representative cases when sources or policies change.</a:t>
            </a:r>
          </a:p>
          <a:p xmlns:a="http://schemas.openxmlformats.org/drawingml/2006/main">
            <a:r>
              <a:t/>
            </a:r>
          </a:p>
          <a:p xmlns:a="http://schemas.openxmlformats.org/drawingml/2006/main">
            <a:r>
              <a:rPr b="0"/>
              <a:t>Stable prompt prefixes can help caching. </a:t>
            </a:r>
            <a:r>
              <a:rPr b="1"/>
              <a:t>Correctness and access take priority over cache savings.</a:t>
            </a:r>
            <a:r>
              <a:rPr b="0"/>
              <a:t> The common pitfall is </a:t>
            </a:r>
            <a:r>
              <a:rPr b="1"/>
              <a:t>adding instead of curating</a:t>
            </a:r>
            <a:r>
              <a:rPr b="0"/>
              <a:t>: more instructions, more retrieved text, and more history without deciding what still belongs.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Here is a proposed starting context for the FRB brief. Retrieve both relevant passages with their identities and locations. </a:t>
            </a:r>
            <a:r>
              <a:rPr b="1"/>
              <a:t>The briefing names a possible cause. The later minutes leave it unresolved and require inspection.</a:t>
            </a:r>
          </a:p>
          <a:p xmlns:a="http://schemas.openxmlformats.org/drawingml/2006/main">
            <a:r>
              <a:t/>
            </a:r>
          </a:p>
          <a:p xmlns:a="http://schemas.openxmlformats.org/drawingml/2006/main">
            <a:r>
              <a:rPr b="0"/>
              <a:t>Retain that unresolved status and inspection requirement in the working context and any summary. Refresh source versions and recheck access before finalizing the brief. Access checks stay outside the model. Missing or inaccessible evidence remains an explicit limitation.</a:t>
            </a:r>
          </a:p>
          <a:p xmlns:a="http://schemas.openxmlformats.org/drawingml/2006/main">
            <a:r>
              <a:t/>
            </a:r>
          </a:p>
          <a:p xmlns:a="http://schemas.openxmlformats.org/drawingml/2006/main">
            <a:r>
              <a:rPr b="1"/>
              <a:t>Context is a budget, not a bucket.</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“Context, therefore, must be treated as a finite resource with diminishing marginal returns.”</a:t>
            </a:r>
            <a:r>
              <a:rPr b="0"/>
              <a:t> That is Anthropic's framing. </a:t>
            </a:r>
            <a:r>
              <a:rPr b="1"/>
              <a:t>The owner chooses what the model sees at each step.</a:t>
            </a:r>
            <a:r>
              <a:rPr b="0"/>
              <a:t> A larger window does not make every piece of information useful.</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what belongs in the next step? Instructions, task state, and relevant knowledge. </a:t>
            </a:r>
            <a:r>
              <a:rPr b="1"/>
              <a:t>RAG retrieves relevant external information and supplies it to the model.</a:t>
            </a:r>
            <a:r>
              <a:rPr b="0"/>
              <a:t> File reads, keyword search, embeddings, and hybrid retrieval are methods chosen for the data and task.</a:t>
            </a:r>
          </a:p>
          <a:p xmlns:a="http://schemas.openxmlformats.org/drawingml/2006/main">
            <a:r>
              <a:t/>
            </a:r>
          </a:p>
          <a:p xmlns:a="http://schemas.openxmlformats.org/drawingml/2006/main">
            <a:r>
              <a:rPr b="0"/>
              <a:t>Second, what should persist or be refreshed? Keep facts and constraints that still matter. Compaction summarizes a conversation. Persistent memory can carry information across sessions. Decide what to retain, what to discard, and when to refresh sources.</a:t>
            </a:r>
          </a:p>
          <a:p xmlns:a="http://schemas.openxmlformats.org/drawingml/2006/main">
            <a:r>
              <a:t/>
            </a:r>
          </a:p>
          <a:p xmlns:a="http://schemas.openxmlformats.org/drawingml/2006/main">
            <a:r>
              <a:rPr b="0"/>
              <a:t>Third, which sources and access scope? </a:t>
            </a:r>
            <a:r>
              <a:rPr b="1"/>
              <a:t>Keep source locations and revisions. Enforce the user's authorized scope outside the model.</a:t>
            </a:r>
            <a:r>
              <a:rPr b="0"/>
              <a:t> Retrieval should supply evidence that the system is allowed to use and that the engineer can trace back to its source.</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Records change, so retrieved passages can become stale. Sessions grow, and a summary can lose a constraint. Memory can expose information across an access boundary. Refresh retrieval, test what compaction preserves, and keep the provenance. Recheck representative cases when sources or policies change.</a:t>
            </a:r>
          </a:p>
          <a:p xmlns:a="http://schemas.openxmlformats.org/drawingml/2006/main">
            <a:r>
              <a:t/>
            </a:r>
          </a:p>
          <a:p xmlns:a="http://schemas.openxmlformats.org/drawingml/2006/main">
            <a:r>
              <a:rPr b="0"/>
              <a:t>Stable prompt prefixes can help caching. </a:t>
            </a:r>
            <a:r>
              <a:rPr b="1"/>
              <a:t>Correctness and access take priority over cache savings.</a:t>
            </a:r>
            <a:r>
              <a:rPr b="0"/>
              <a:t> The common pitfall is </a:t>
            </a:r>
            <a:r>
              <a:rPr b="1"/>
              <a:t>adding instead of curating</a:t>
            </a:r>
            <a:r>
              <a:rPr b="0"/>
              <a:t>: more instructions, more retrieved text, and more history without deciding what still belongs.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Here is a proposed starting context for the FRB brief. Retrieve both relevant passages with their identities and locations. </a:t>
            </a:r>
            <a:r>
              <a:rPr b="1"/>
              <a:t>The briefing names a possible cause. The later minutes leave it unresolved and require inspection.</a:t>
            </a:r>
          </a:p>
          <a:p xmlns:a="http://schemas.openxmlformats.org/drawingml/2006/main">
            <a:r>
              <a:t/>
            </a:r>
          </a:p>
          <a:p xmlns:a="http://schemas.openxmlformats.org/drawingml/2006/main">
            <a:r>
              <a:rPr b="0"/>
              <a:t>Retain that unresolved status and inspection requirement in the working context and any summary. Refresh source versions and recheck access before finalizing the brief. Access checks stay outside the model. Missing or inaccessible evidence remains an explicit limitation.</a:t>
            </a:r>
          </a:p>
          <a:p xmlns:a="http://schemas.openxmlformats.org/drawingml/2006/main">
            <a:r>
              <a:t/>
            </a:r>
          </a:p>
          <a:p xmlns:a="http://schemas.openxmlformats.org/drawingml/2006/main">
            <a:r>
              <a:rPr b="1"/>
              <a:t>Context is a budget, not a bucket.</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“Context, therefore, must be treated as a finite resource with diminishing marginal returns.”</a:t>
            </a:r>
            <a:r>
              <a:rPr b="0"/>
              <a:t> That is Anthropic's framing. </a:t>
            </a:r>
            <a:r>
              <a:rPr b="1"/>
              <a:t>The owner chooses what the model sees at each step.</a:t>
            </a:r>
            <a:r>
              <a:rPr b="0"/>
              <a:t> A larger window does not make every piece of information useful.</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what belongs in the next step? Instructions, task state, and relevant knowledge. </a:t>
            </a:r>
            <a:r>
              <a:rPr b="1"/>
              <a:t>RAG retrieves relevant external information and supplies it to the model.</a:t>
            </a:r>
            <a:r>
              <a:rPr b="0"/>
              <a:t> File reads, keyword search, embeddings, and hybrid retrieval are methods chosen for the data and task.</a:t>
            </a:r>
          </a:p>
          <a:p xmlns:a="http://schemas.openxmlformats.org/drawingml/2006/main">
            <a:r>
              <a:t/>
            </a:r>
          </a:p>
          <a:p xmlns:a="http://schemas.openxmlformats.org/drawingml/2006/main">
            <a:r>
              <a:rPr b="0"/>
              <a:t>Second, what should persist or be refreshed? Keep facts and constraints that still matter. Compaction summarizes a conversation. Persistent memory can carry information across sessions. Decide what to retain, what to discard, and when to refresh sources.</a:t>
            </a:r>
          </a:p>
          <a:p xmlns:a="http://schemas.openxmlformats.org/drawingml/2006/main">
            <a:r>
              <a:t/>
            </a:r>
          </a:p>
          <a:p xmlns:a="http://schemas.openxmlformats.org/drawingml/2006/main">
            <a:r>
              <a:rPr b="0"/>
              <a:t>Third, which sources and access scope? </a:t>
            </a:r>
            <a:r>
              <a:rPr b="1"/>
              <a:t>Keep source locations and revisions. Enforce the user's authorized scope outside the model.</a:t>
            </a:r>
            <a:r>
              <a:rPr b="0"/>
              <a:t> Retrieval should supply evidence that the system is allowed to use and that the engineer can trace back to its source.</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Records change, so retrieved passages can become stale. Sessions grow, and a summary can lose a constraint. Memory can expose information across an access boundary. Refresh retrieval, test what compaction preserves, and keep the provenance. Recheck representative cases when sources or policies change.</a:t>
            </a:r>
          </a:p>
          <a:p xmlns:a="http://schemas.openxmlformats.org/drawingml/2006/main">
            <a:r>
              <a:t/>
            </a:r>
          </a:p>
          <a:p xmlns:a="http://schemas.openxmlformats.org/drawingml/2006/main">
            <a:r>
              <a:rPr b="0"/>
              <a:t>Stable prompt prefixes can help caching. </a:t>
            </a:r>
            <a:r>
              <a:rPr b="1"/>
              <a:t>Correctness and access take priority over cache savings.</a:t>
            </a:r>
            <a:r>
              <a:rPr b="0"/>
              <a:t> The common pitfall is </a:t>
            </a:r>
            <a:r>
              <a:rPr b="1"/>
              <a:t>adding instead of curating</a:t>
            </a:r>
            <a:r>
              <a:rPr b="0"/>
              <a:t>: more instructions, more retrieved text, and more history without deciding what still belongs.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Here is a proposed starting context for the FRB brief. Retrieve both relevant passages with their identities and locations. </a:t>
            </a:r>
            <a:r>
              <a:rPr b="1"/>
              <a:t>The briefing names a possible cause. The later minutes leave it unresolved and require inspection.</a:t>
            </a:r>
          </a:p>
          <a:p xmlns:a="http://schemas.openxmlformats.org/drawingml/2006/main">
            <a:r>
              <a:t/>
            </a:r>
          </a:p>
          <a:p xmlns:a="http://schemas.openxmlformats.org/drawingml/2006/main">
            <a:r>
              <a:rPr b="0"/>
              <a:t>Retain that unresolved status and inspection requirement in the working context and any summary. Refresh source versions and recheck access before finalizing the brief. Access checks stay outside the model. Missing or inaccessible evidence remains an explicit limitation.</a:t>
            </a:r>
          </a:p>
          <a:p xmlns:a="http://schemas.openxmlformats.org/drawingml/2006/main">
            <a:r>
              <a:t/>
            </a:r>
          </a:p>
          <a:p xmlns:a="http://schemas.openxmlformats.org/drawingml/2006/main">
            <a:r>
              <a:rPr b="1"/>
              <a:t>Context is a budget, not a bucket.</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MCP is the Model Context Protocol. You connect a server to make another service's tools available to your coding agent.</a:t>
            </a:r>
          </a:p>
          <a:p xmlns:a="http://schemas.openxmlformats.org/drawingml/2006/main">
            <a:r>
              <a:t/>
            </a:r>
          </a:p>
          <a:p xmlns:a="http://schemas.openxmlformats.org/drawingml/2006/main">
            <a:r>
              <a:rPr b="1"/>
              <a:t>An MCP connection adds capabilities to the coding agent.</a:t>
            </a:r>
            <a:r>
              <a:rPr b="0"/>
              <a:t> The agent can call those tools as it works on your task. That familiar connection is our starting point.</a:t>
            </a:r>
          </a:p>
          <a:p xmlns:a="http://schemas.openxmlformats.org/drawingml/2006/main">
            <a:r>
              <a:t/>
            </a:r>
          </a:p>
          <a:p xmlns:a="http://schemas.openxmlformats.org/drawingml/2006/main">
            <a:r>
              <a:rPr b="0"/>
              <a:t>Advance to the Tools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“Agents are only as effective as the tools we give them.”</a:t>
            </a:r>
            <a:r>
              <a:rPr b="0"/>
              <a:t> That is Anthropic's framing. </a:t>
            </a:r>
            <a:r>
              <a:rPr b="1"/>
              <a:t>A tool is a contract between code and a model caller.</a:t>
            </a:r>
            <a:r>
              <a:rPr b="0"/>
              <a:t> Its description, inputs, and results affect whether the caller can use it well.</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which capabilities need tools? </a:t>
            </a:r>
            <a:r>
              <a:rPr b="1"/>
              <a:t>Choose operations that serve the task.</a:t>
            </a:r>
            <a:r>
              <a:rPr b="0"/>
              <a:t> Evaluate granularity and discovery. Begin with a small set whose tools have distinct purposes.</a:t>
            </a:r>
          </a:p>
          <a:p xmlns:a="http://schemas.openxmlformats.org/drawingml/2006/main">
            <a:r>
              <a:t/>
            </a:r>
          </a:p>
          <a:p xmlns:a="http://schemas.openxmlformats.org/drawingml/2006/main">
            <a:r>
              <a:rPr b="0"/>
              <a:t>Second, what is the contract? Names, inputs, results, and errors. Return useful context alongside stable IDs. Evaluate descriptions with real tasks. A clear name does not replace a precise input schema.</a:t>
            </a:r>
          </a:p>
          <a:p xmlns:a="http://schemas.openxmlformats.org/drawingml/2006/main">
            <a:r>
              <a:t/>
            </a:r>
          </a:p>
          <a:p xmlns:a="http://schemas.openxmlformats.org/drawingml/2006/main">
            <a:r>
              <a:rPr b="0"/>
              <a:t>Third, what may run? </a:t>
            </a:r>
            <a:r>
              <a:rPr b="1"/>
              <a:t>Enforce validation and authorization in code.</a:t>
            </a:r>
            <a:r>
              <a:rPr b="0"/>
              <a:t> Least privilege applies to reads and writes. Require approval where policy calls for it. A model recommendation does not establish permission.</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Descriptions, schemas, and behavior can drift. Update and evaluate them together. Prune overlapping tools and load definitions when needed. Return explicit results, errors, or unknown outcomes. Recheck permissions as capabilities change.</a:t>
            </a:r>
          </a:p>
          <a:p xmlns:a="http://schemas.openxmlformats.org/drawingml/2006/main">
            <a:r>
              <a:t/>
            </a:r>
          </a:p>
          <a:p xmlns:a="http://schemas.openxmlformats.org/drawingml/2006/main">
            <a:r>
              <a:rPr b="1"/>
              <a:t>A description guides the model. Code enforces the contract.</a:t>
            </a:r>
            <a:r>
              <a:rPr b="0"/>
              <a:t> The recurring pitfall is </a:t>
            </a:r>
            <a:r>
              <a:rPr b="1"/>
              <a:t>copying the API surface without evaluating task fit.</a:t>
            </a:r>
            <a:r>
              <a:rPr b="0"/>
              <a:t> A convenient endpoint wrapper still needs to earn its place in the task.</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Background services parse and index the FRB records. </a:t>
            </a:r>
            <a:r>
              <a:rPr b="1"/>
              <a:t>Export cited brief is the agent-facing operation.</a:t>
            </a:r>
            <a:r>
              <a:rPr b="0"/>
              <a:t> It accepts a checked draft, citations, and destination. Code enforces access and permitted destinations and requires source IDs, revisions, and locations.</a:t>
            </a:r>
          </a:p>
          <a:p xmlns:a="http://schemas.openxmlformats.org/drawingml/2006/main">
            <a:r>
              <a:t/>
            </a:r>
          </a:p>
          <a:p xmlns:a="http://schemas.openxmlformats.org/drawingml/2006/main">
            <a:r>
              <a:rPr b="0"/>
              <a:t>The export must match the checked draft, with citations and uncertainty intact. Return a receipt. Make failed, incomplete, or unconfirmed exports explicit. The full search and retrieval tool inventory remains in the authoring reference.</a:t>
            </a:r>
          </a:p>
          <a:p xmlns:a="http://schemas.openxmlformats.org/drawingml/2006/main">
            <a:r>
              <a:t/>
            </a:r>
          </a:p>
          <a:p xmlns:a="http://schemas.openxmlformats.org/drawingml/2006/main">
            <a:r>
              <a:rPr b="1"/>
              <a:t>Design tools for a caller that reads the description every time and can still get it wrong.</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“Agents are only as effective as the tools we give them.”</a:t>
            </a:r>
            <a:r>
              <a:rPr b="0"/>
              <a:t> That is Anthropic's framing. </a:t>
            </a:r>
            <a:r>
              <a:rPr b="1"/>
              <a:t>A tool is a contract between code and a model caller.</a:t>
            </a:r>
            <a:r>
              <a:rPr b="0"/>
              <a:t> Its description, inputs, and results affect whether the caller can use it well.</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which capabilities need tools? </a:t>
            </a:r>
            <a:r>
              <a:rPr b="1"/>
              <a:t>Choose operations that serve the task.</a:t>
            </a:r>
            <a:r>
              <a:rPr b="0"/>
              <a:t> Evaluate granularity and discovery. Begin with a small set whose tools have distinct purposes.</a:t>
            </a:r>
          </a:p>
          <a:p xmlns:a="http://schemas.openxmlformats.org/drawingml/2006/main">
            <a:r>
              <a:t/>
            </a:r>
          </a:p>
          <a:p xmlns:a="http://schemas.openxmlformats.org/drawingml/2006/main">
            <a:r>
              <a:rPr b="0"/>
              <a:t>Second, what is the contract? Names, inputs, results, and errors. Return useful context alongside stable IDs. Evaluate descriptions with real tasks. A clear name does not replace a precise input schema.</a:t>
            </a:r>
          </a:p>
          <a:p xmlns:a="http://schemas.openxmlformats.org/drawingml/2006/main">
            <a:r>
              <a:t/>
            </a:r>
          </a:p>
          <a:p xmlns:a="http://schemas.openxmlformats.org/drawingml/2006/main">
            <a:r>
              <a:rPr b="0"/>
              <a:t>Third, what may run? </a:t>
            </a:r>
            <a:r>
              <a:rPr b="1"/>
              <a:t>Enforce validation and authorization in code.</a:t>
            </a:r>
            <a:r>
              <a:rPr b="0"/>
              <a:t> Least privilege applies to reads and writes. Require approval where policy calls for it. A model recommendation does not establish permission.</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Descriptions, schemas, and behavior can drift. Update and evaluate them together. Prune overlapping tools and load definitions when needed. Return explicit results, errors, or unknown outcomes. Recheck permissions as capabilities change.</a:t>
            </a:r>
          </a:p>
          <a:p xmlns:a="http://schemas.openxmlformats.org/drawingml/2006/main">
            <a:r>
              <a:t/>
            </a:r>
          </a:p>
          <a:p xmlns:a="http://schemas.openxmlformats.org/drawingml/2006/main">
            <a:r>
              <a:rPr b="1"/>
              <a:t>A description guides the model. Code enforces the contract.</a:t>
            </a:r>
            <a:r>
              <a:rPr b="0"/>
              <a:t> The recurring pitfall is </a:t>
            </a:r>
            <a:r>
              <a:rPr b="1"/>
              <a:t>copying the API surface without evaluating task fit.</a:t>
            </a:r>
            <a:r>
              <a:rPr b="0"/>
              <a:t> A convenient endpoint wrapper still needs to earn its place in the task.</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Background services parse and index the FRB records. </a:t>
            </a:r>
            <a:r>
              <a:rPr b="1"/>
              <a:t>Export cited brief is the agent-facing operation.</a:t>
            </a:r>
            <a:r>
              <a:rPr b="0"/>
              <a:t> It accepts a checked draft, citations, and destination. Code enforces access and permitted destinations and requires source IDs, revisions, and locations.</a:t>
            </a:r>
          </a:p>
          <a:p xmlns:a="http://schemas.openxmlformats.org/drawingml/2006/main">
            <a:r>
              <a:t/>
            </a:r>
          </a:p>
          <a:p xmlns:a="http://schemas.openxmlformats.org/drawingml/2006/main">
            <a:r>
              <a:rPr b="0"/>
              <a:t>The export must match the checked draft, with citations and uncertainty intact. Return a receipt. Make failed, incomplete, or unconfirmed exports explicit. The full search and retrieval tool inventory remains in the authoring reference.</a:t>
            </a:r>
          </a:p>
          <a:p xmlns:a="http://schemas.openxmlformats.org/drawingml/2006/main">
            <a:r>
              <a:t/>
            </a:r>
          </a:p>
          <a:p xmlns:a="http://schemas.openxmlformats.org/drawingml/2006/main">
            <a:r>
              <a:rPr b="1"/>
              <a:t>Design tools for a caller that reads the description every time and can still get it wrong.</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“Agents are only as effective as the tools we give them.”</a:t>
            </a:r>
            <a:r>
              <a:rPr b="0"/>
              <a:t> That is Anthropic's framing. </a:t>
            </a:r>
            <a:r>
              <a:rPr b="1"/>
              <a:t>A tool is a contract between code and a model caller.</a:t>
            </a:r>
            <a:r>
              <a:rPr b="0"/>
              <a:t> Its description, inputs, and results affect whether the caller can use it well.</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which capabilities need tools? </a:t>
            </a:r>
            <a:r>
              <a:rPr b="1"/>
              <a:t>Choose operations that serve the task.</a:t>
            </a:r>
            <a:r>
              <a:rPr b="0"/>
              <a:t> Evaluate granularity and discovery. Begin with a small set whose tools have distinct purposes.</a:t>
            </a:r>
          </a:p>
          <a:p xmlns:a="http://schemas.openxmlformats.org/drawingml/2006/main">
            <a:r>
              <a:t/>
            </a:r>
          </a:p>
          <a:p xmlns:a="http://schemas.openxmlformats.org/drawingml/2006/main">
            <a:r>
              <a:rPr b="0"/>
              <a:t>Second, what is the contract? Names, inputs, results, and errors. Return useful context alongside stable IDs. Evaluate descriptions with real tasks. A clear name does not replace a precise input schema.</a:t>
            </a:r>
          </a:p>
          <a:p xmlns:a="http://schemas.openxmlformats.org/drawingml/2006/main">
            <a:r>
              <a:t/>
            </a:r>
          </a:p>
          <a:p xmlns:a="http://schemas.openxmlformats.org/drawingml/2006/main">
            <a:r>
              <a:rPr b="0"/>
              <a:t>Third, what may run? </a:t>
            </a:r>
            <a:r>
              <a:rPr b="1"/>
              <a:t>Enforce validation and authorization in code.</a:t>
            </a:r>
            <a:r>
              <a:rPr b="0"/>
              <a:t> Least privilege applies to reads and writes. Require approval where policy calls for it. A model recommendation does not establish permission.</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Descriptions, schemas, and behavior can drift. Update and evaluate them together. Prune overlapping tools and load definitions when needed. Return explicit results, errors, or unknown outcomes. Recheck permissions as capabilities change.</a:t>
            </a:r>
          </a:p>
          <a:p xmlns:a="http://schemas.openxmlformats.org/drawingml/2006/main">
            <a:r>
              <a:t/>
            </a:r>
          </a:p>
          <a:p xmlns:a="http://schemas.openxmlformats.org/drawingml/2006/main">
            <a:r>
              <a:rPr b="1"/>
              <a:t>A description guides the model. Code enforces the contract.</a:t>
            </a:r>
            <a:r>
              <a:rPr b="0"/>
              <a:t> The recurring pitfall is </a:t>
            </a:r>
            <a:r>
              <a:rPr b="1"/>
              <a:t>copying the API surface without evaluating task fit.</a:t>
            </a:r>
            <a:r>
              <a:rPr b="0"/>
              <a:t> A convenient endpoint wrapper still needs to earn its place in the task.</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Background services parse and index the FRB records. </a:t>
            </a:r>
            <a:r>
              <a:rPr b="1"/>
              <a:t>Export cited brief is the agent-facing operation.</a:t>
            </a:r>
            <a:r>
              <a:rPr b="0"/>
              <a:t> It accepts a checked draft, citations, and destination. Code enforces access and permitted destinations and requires source IDs, revisions, and locations.</a:t>
            </a:r>
          </a:p>
          <a:p xmlns:a="http://schemas.openxmlformats.org/drawingml/2006/main">
            <a:r>
              <a:t/>
            </a:r>
          </a:p>
          <a:p xmlns:a="http://schemas.openxmlformats.org/drawingml/2006/main">
            <a:r>
              <a:rPr b="0"/>
              <a:t>The export must match the checked draft, with citations and uncertainty intact. Return a receipt. Make failed, incomplete, or unconfirmed exports explicit. The full search and retrieval tool inventory remains in the authoring reference.</a:t>
            </a:r>
          </a:p>
          <a:p xmlns:a="http://schemas.openxmlformats.org/drawingml/2006/main">
            <a:r>
              <a:t/>
            </a:r>
          </a:p>
          <a:p xmlns:a="http://schemas.openxmlformats.org/drawingml/2006/main">
            <a:r>
              <a:rPr b="1"/>
              <a:t>Design tools for a caller that reads the description every time and can still get it wrong.</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“Agents are only as effective as the tools we give them.”</a:t>
            </a:r>
            <a:r>
              <a:rPr b="0"/>
              <a:t> That is Anthropic's framing. </a:t>
            </a:r>
            <a:r>
              <a:rPr b="1"/>
              <a:t>A tool is a contract between code and a model caller.</a:t>
            </a:r>
            <a:r>
              <a:rPr b="0"/>
              <a:t> Its description, inputs, and results affect whether the caller can use it well.</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which capabilities need tools? </a:t>
            </a:r>
            <a:r>
              <a:rPr b="1"/>
              <a:t>Choose operations that serve the task.</a:t>
            </a:r>
            <a:r>
              <a:rPr b="0"/>
              <a:t> Evaluate granularity and discovery. Begin with a small set whose tools have distinct purposes.</a:t>
            </a:r>
          </a:p>
          <a:p xmlns:a="http://schemas.openxmlformats.org/drawingml/2006/main">
            <a:r>
              <a:t/>
            </a:r>
          </a:p>
          <a:p xmlns:a="http://schemas.openxmlformats.org/drawingml/2006/main">
            <a:r>
              <a:rPr b="0"/>
              <a:t>Second, what is the contract? Names, inputs, results, and errors. Return useful context alongside stable IDs. Evaluate descriptions with real tasks. A clear name does not replace a precise input schema.</a:t>
            </a:r>
          </a:p>
          <a:p xmlns:a="http://schemas.openxmlformats.org/drawingml/2006/main">
            <a:r>
              <a:t/>
            </a:r>
          </a:p>
          <a:p xmlns:a="http://schemas.openxmlformats.org/drawingml/2006/main">
            <a:r>
              <a:rPr b="0"/>
              <a:t>Third, what may run? </a:t>
            </a:r>
            <a:r>
              <a:rPr b="1"/>
              <a:t>Enforce validation and authorization in code.</a:t>
            </a:r>
            <a:r>
              <a:rPr b="0"/>
              <a:t> Least privilege applies to reads and writes. Require approval where policy calls for it. A model recommendation does not establish permission.</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Descriptions, schemas, and behavior can drift. Update and evaluate them together. Prune overlapping tools and load definitions when needed. Return explicit results, errors, or unknown outcomes. Recheck permissions as capabilities change.</a:t>
            </a:r>
          </a:p>
          <a:p xmlns:a="http://schemas.openxmlformats.org/drawingml/2006/main">
            <a:r>
              <a:t/>
            </a:r>
          </a:p>
          <a:p xmlns:a="http://schemas.openxmlformats.org/drawingml/2006/main">
            <a:r>
              <a:rPr b="1"/>
              <a:t>A description guides the model. Code enforces the contract.</a:t>
            </a:r>
            <a:r>
              <a:rPr b="0"/>
              <a:t> The recurring pitfall is </a:t>
            </a:r>
            <a:r>
              <a:rPr b="1"/>
              <a:t>copying the API surface without evaluating task fit.</a:t>
            </a:r>
            <a:r>
              <a:rPr b="0"/>
              <a:t> A convenient endpoint wrapper still needs to earn its place in the task.</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Background services parse and index the FRB records. </a:t>
            </a:r>
            <a:r>
              <a:rPr b="1"/>
              <a:t>Export cited brief is the agent-facing operation.</a:t>
            </a:r>
            <a:r>
              <a:rPr b="0"/>
              <a:t> It accepts a checked draft, citations, and destination. Code enforces access and permitted destinations and requires source IDs, revisions, and locations.</a:t>
            </a:r>
          </a:p>
          <a:p xmlns:a="http://schemas.openxmlformats.org/drawingml/2006/main">
            <a:r>
              <a:t/>
            </a:r>
          </a:p>
          <a:p xmlns:a="http://schemas.openxmlformats.org/drawingml/2006/main">
            <a:r>
              <a:rPr b="0"/>
              <a:t>The export must match the checked draft, with citations and uncertainty intact. Return a receipt. Make failed, incomplete, or unconfirmed exports explicit. The full search and retrieval tool inventory remains in the authoring reference.</a:t>
            </a:r>
          </a:p>
          <a:p xmlns:a="http://schemas.openxmlformats.org/drawingml/2006/main">
            <a:r>
              <a:t/>
            </a:r>
          </a:p>
          <a:p xmlns:a="http://schemas.openxmlformats.org/drawingml/2006/main">
            <a:r>
              <a:rPr b="1"/>
              <a:t>Design tools for a caller that reads the description every time and can still get it wrong.</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You ask the coding agent for a plan. It breaks the task into proposed implementation steps.</a:t>
            </a:r>
          </a:p>
          <a:p xmlns:a="http://schemas.openxmlformats.org/drawingml/2006/main">
            <a:r>
              <a:t/>
            </a:r>
          </a:p>
          <a:p xmlns:a="http://schemas.openxmlformats.org/drawingml/2006/main">
            <a:r>
              <a:rPr b="1"/>
              <a:t>A plan makes the proposed steps visible.</a:t>
            </a:r>
            <a:r>
              <a:rPr b="0"/>
              <a:t> You review and refine the approach before implementation. This familiar action is our starting point for orchestration: how work is broken down and carried out.</a:t>
            </a:r>
          </a:p>
          <a:p xmlns:a="http://schemas.openxmlformats.org/drawingml/2006/main">
            <a:r>
              <a:t/>
            </a:r>
          </a:p>
          <a:p xmlns:a="http://schemas.openxmlformats.org/drawingml/2006/main">
            <a:r>
              <a:rPr b="0"/>
              <a:t>Advance to the Orchestration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“we recommend finding the simplest solution possible, and only increasing complexity when needed.”</a:t>
            </a:r>
            <a:r>
              <a:rPr b="0"/>
              <a:t> That is Anthropic's recommendation. </a:t>
            </a:r>
            <a:r>
              <a:rPr b="1"/>
              <a:t>Begin with the simplest execution design that meets the task.</a:t>
            </a:r>
            <a:r>
              <a:rPr b="0"/>
              <a:t> More autonomy or more workers must earn their place through measured benefit.</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who chooses the next step? </a:t>
            </a:r>
            <a:r>
              <a:rPr b="1"/>
              <a:t>Use code for known paths and required checks.</a:t>
            </a:r>
            <a:r>
              <a:rPr b="0"/>
              <a:t> Let the model choose where judgment helps. A bounded workflow is a useful starting point. A model's proposed plan does not enforce the execution rules.</a:t>
            </a:r>
          </a:p>
          <a:p xmlns:a="http://schemas.openxmlformats.org/drawingml/2006/main">
            <a:r>
              <a:t/>
            </a:r>
          </a:p>
          <a:p xmlns:a="http://schemas.openxmlformats.org/drawingml/2006/main">
            <a:r>
              <a:rPr b="0"/>
              <a:t>Second, when should work be delegated? Separate tasks that can be done independently. Define handoff inputs and expected results. Add workers only when measured gains justify the coordination. Model selection was the earlier area; this is about dividing and coordinating the work.</a:t>
            </a:r>
          </a:p>
          <a:p xmlns:a="http://schemas.openxmlformats.org/drawingml/2006/main">
            <a:r>
              <a:t/>
            </a:r>
          </a:p>
          <a:p xmlns:a="http://schemas.openxmlformats.org/drawingml/2006/main">
            <a:r>
              <a:rPr b="0"/>
              <a:t>Third, how does execution stop or recover? </a:t>
            </a:r>
            <a:r>
              <a:rPr b="1"/>
              <a:t>Define completion checks, stopping limits, saved state, bounded retries, and human handoff.</a:t>
            </a:r>
            <a:r>
              <a:rPr b="0"/>
              <a:t> Gather context, take action, verify, and repeat only within those limits.</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New branches can bypass checks. Recheck paths and protect acceptance criteria. Handoffs can lose context or produce conflicting results. Keep evidence, uncertainty, and ownership explicit. A timed-out action might have succeeded, so inspect the result before repeating it.</a:t>
            </a:r>
          </a:p>
          <a:p xmlns:a="http://schemas.openxmlformats.org/drawingml/2006/main">
            <a:r>
              <a:t/>
            </a:r>
          </a:p>
          <a:p xmlns:a="http://schemas.openxmlformats.org/drawingml/2006/main">
            <a:r>
              <a:rPr b="1"/>
              <a:t>Set action, token, and end-to-end latency limits.</a:t>
            </a:r>
            <a:r>
              <a:rPr b="0"/>
              <a:t> Save progress needed for recovery. The pitfall is </a:t>
            </a:r>
            <a:r>
              <a:rPr b="1"/>
              <a:t>multi-agent before a workflow was tried.</a:t>
            </a:r>
            <a:r>
              <a:rPr b="0"/>
              <a:t> More coordination has to earn its cost and complexity.</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1"/>
              <a:t>Retrieve the packet, inspect evidence, compare cases, reconcile findings, verify the brief, export.</a:t>
            </a:r>
            <a:r>
              <a:rPr b="0"/>
              <a:t> Begin with these predefined steps for the illustrative FRB system.</a:t>
            </a:r>
          </a:p>
          <a:p xmlns:a="http://schemas.openxmlformats.org/drawingml/2006/main">
            <a:r>
              <a:t/>
            </a:r>
          </a:p>
          <a:p xmlns:a="http://schemas.openxmlformats.org/drawingml/2006/main">
            <a:r>
              <a:rPr b="0"/>
              <a:t>Export only after checks pass. At a limit, return an explicit limitation or hand off. Save steps and exact revisions. Before retrying an export, inspect the receipt and recheck freshness and access.</a:t>
            </a:r>
          </a:p>
          <a:p xmlns:a="http://schemas.openxmlformats.org/drawingml/2006/main">
            <a:r>
              <a:t/>
            </a:r>
          </a:p>
          <a:p xmlns:a="http://schemas.openxmlformats.org/drawingml/2006/main">
            <a:r>
              <a:rPr b="0"/>
              <a:t>Add comparison workers only after measured benefit. They use authorized internal records and return evidence and uncertainty.</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“we recommend finding the simplest solution possible, and only increasing complexity when needed.”</a:t>
            </a:r>
            <a:r>
              <a:rPr b="0"/>
              <a:t> That is Anthropic's recommendation. </a:t>
            </a:r>
            <a:r>
              <a:rPr b="1"/>
              <a:t>Begin with the simplest execution design that meets the task.</a:t>
            </a:r>
            <a:r>
              <a:rPr b="0"/>
              <a:t> More autonomy or more workers must earn their place through measured benefit.</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who chooses the next step? </a:t>
            </a:r>
            <a:r>
              <a:rPr b="1"/>
              <a:t>Use code for known paths and required checks.</a:t>
            </a:r>
            <a:r>
              <a:rPr b="0"/>
              <a:t> Let the model choose where judgment helps. A bounded workflow is a useful starting point. A model's proposed plan does not enforce the execution rules.</a:t>
            </a:r>
          </a:p>
          <a:p xmlns:a="http://schemas.openxmlformats.org/drawingml/2006/main">
            <a:r>
              <a:t/>
            </a:r>
          </a:p>
          <a:p xmlns:a="http://schemas.openxmlformats.org/drawingml/2006/main">
            <a:r>
              <a:rPr b="0"/>
              <a:t>Second, when should work be delegated? Separate tasks that can be done independently. Define handoff inputs and expected results. Add workers only when measured gains justify the coordination. Model selection was the earlier area; this is about dividing and coordinating the work.</a:t>
            </a:r>
          </a:p>
          <a:p xmlns:a="http://schemas.openxmlformats.org/drawingml/2006/main">
            <a:r>
              <a:t/>
            </a:r>
          </a:p>
          <a:p xmlns:a="http://schemas.openxmlformats.org/drawingml/2006/main">
            <a:r>
              <a:rPr b="0"/>
              <a:t>Third, how does execution stop or recover? </a:t>
            </a:r>
            <a:r>
              <a:rPr b="1"/>
              <a:t>Define completion checks, stopping limits, saved state, bounded retries, and human handoff.</a:t>
            </a:r>
            <a:r>
              <a:rPr b="0"/>
              <a:t> Gather context, take action, verify, and repeat only within those limits.</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New branches can bypass checks. Recheck paths and protect acceptance criteria. Handoffs can lose context or produce conflicting results. Keep evidence, uncertainty, and ownership explicit. A timed-out action might have succeeded, so inspect the result before repeating it.</a:t>
            </a:r>
          </a:p>
          <a:p xmlns:a="http://schemas.openxmlformats.org/drawingml/2006/main">
            <a:r>
              <a:t/>
            </a:r>
          </a:p>
          <a:p xmlns:a="http://schemas.openxmlformats.org/drawingml/2006/main">
            <a:r>
              <a:rPr b="1"/>
              <a:t>Set action, token, and end-to-end latency limits.</a:t>
            </a:r>
            <a:r>
              <a:rPr b="0"/>
              <a:t> Save progress needed for recovery. The pitfall is </a:t>
            </a:r>
            <a:r>
              <a:rPr b="1"/>
              <a:t>multi-agent before a workflow was tried.</a:t>
            </a:r>
            <a:r>
              <a:rPr b="0"/>
              <a:t> More coordination has to earn its cost and complexity.</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1"/>
              <a:t>Retrieve the packet, inspect evidence, compare cases, reconcile findings, verify the brief, export.</a:t>
            </a:r>
            <a:r>
              <a:rPr b="0"/>
              <a:t> Begin with these predefined steps for the illustrative FRB system.</a:t>
            </a:r>
          </a:p>
          <a:p xmlns:a="http://schemas.openxmlformats.org/drawingml/2006/main">
            <a:r>
              <a:t/>
            </a:r>
          </a:p>
          <a:p xmlns:a="http://schemas.openxmlformats.org/drawingml/2006/main">
            <a:r>
              <a:rPr b="0"/>
              <a:t>Export only after checks pass. At a limit, return an explicit limitation or hand off. Save steps and exact revisions. Before retrying an export, inspect the receipt and recheck freshness and access.</a:t>
            </a:r>
          </a:p>
          <a:p xmlns:a="http://schemas.openxmlformats.org/drawingml/2006/main">
            <a:r>
              <a:t/>
            </a:r>
          </a:p>
          <a:p xmlns:a="http://schemas.openxmlformats.org/drawingml/2006/main">
            <a:r>
              <a:rPr b="0"/>
              <a:t>Add comparison workers only after measured benefit. They use authorized internal records and return evidence and uncertainty.</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“we recommend finding the simplest solution possible, and only increasing complexity when needed.”</a:t>
            </a:r>
            <a:r>
              <a:rPr b="0"/>
              <a:t> That is Anthropic's recommendation. </a:t>
            </a:r>
            <a:r>
              <a:rPr b="1"/>
              <a:t>Begin with the simplest execution design that meets the task.</a:t>
            </a:r>
            <a:r>
              <a:rPr b="0"/>
              <a:t> More autonomy or more workers must earn their place through measured benefit.</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who chooses the next step? </a:t>
            </a:r>
            <a:r>
              <a:rPr b="1"/>
              <a:t>Use code for known paths and required checks.</a:t>
            </a:r>
            <a:r>
              <a:rPr b="0"/>
              <a:t> Let the model choose where judgment helps. A bounded workflow is a useful starting point. A model's proposed plan does not enforce the execution rules.</a:t>
            </a:r>
          </a:p>
          <a:p xmlns:a="http://schemas.openxmlformats.org/drawingml/2006/main">
            <a:r>
              <a:t/>
            </a:r>
          </a:p>
          <a:p xmlns:a="http://schemas.openxmlformats.org/drawingml/2006/main">
            <a:r>
              <a:rPr b="0"/>
              <a:t>Second, when should work be delegated? Separate tasks that can be done independently. Define handoff inputs and expected results. Add workers only when measured gains justify the coordination. Model selection was the earlier area; this is about dividing and coordinating the work.</a:t>
            </a:r>
          </a:p>
          <a:p xmlns:a="http://schemas.openxmlformats.org/drawingml/2006/main">
            <a:r>
              <a:t/>
            </a:r>
          </a:p>
          <a:p xmlns:a="http://schemas.openxmlformats.org/drawingml/2006/main">
            <a:r>
              <a:rPr b="0"/>
              <a:t>Third, how does execution stop or recover? </a:t>
            </a:r>
            <a:r>
              <a:rPr b="1"/>
              <a:t>Define completion checks, stopping limits, saved state, bounded retries, and human handoff.</a:t>
            </a:r>
            <a:r>
              <a:rPr b="0"/>
              <a:t> Gather context, take action, verify, and repeat only within those limits.</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New branches can bypass checks. Recheck paths and protect acceptance criteria. Handoffs can lose context or produce conflicting results. Keep evidence, uncertainty, and ownership explicit. A timed-out action might have succeeded, so inspect the result before repeating it.</a:t>
            </a:r>
          </a:p>
          <a:p xmlns:a="http://schemas.openxmlformats.org/drawingml/2006/main">
            <a:r>
              <a:t/>
            </a:r>
          </a:p>
          <a:p xmlns:a="http://schemas.openxmlformats.org/drawingml/2006/main">
            <a:r>
              <a:rPr b="1"/>
              <a:t>Set action, token, and end-to-end latency limits.</a:t>
            </a:r>
            <a:r>
              <a:rPr b="0"/>
              <a:t> Save progress needed for recovery. The pitfall is </a:t>
            </a:r>
            <a:r>
              <a:rPr b="1"/>
              <a:t>multi-agent before a workflow was tried.</a:t>
            </a:r>
            <a:r>
              <a:rPr b="0"/>
              <a:t> More coordination has to earn its cost and complexity.</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1"/>
              <a:t>Retrieve the packet, inspect evidence, compare cases, reconcile findings, verify the brief, export.</a:t>
            </a:r>
            <a:r>
              <a:rPr b="0"/>
              <a:t> Begin with these predefined steps for the illustrative FRB system.</a:t>
            </a:r>
          </a:p>
          <a:p xmlns:a="http://schemas.openxmlformats.org/drawingml/2006/main">
            <a:r>
              <a:t/>
            </a:r>
          </a:p>
          <a:p xmlns:a="http://schemas.openxmlformats.org/drawingml/2006/main">
            <a:r>
              <a:rPr b="0"/>
              <a:t>Export only after checks pass. At a limit, return an explicit limitation or hand off. Save steps and exact revisions. Before retrying an export, inspect the receipt and recheck freshness and access.</a:t>
            </a:r>
          </a:p>
          <a:p xmlns:a="http://schemas.openxmlformats.org/drawingml/2006/main">
            <a:r>
              <a:t/>
            </a:r>
          </a:p>
          <a:p xmlns:a="http://schemas.openxmlformats.org/drawingml/2006/main">
            <a:r>
              <a:rPr b="0"/>
              <a:t>Add comparison workers only after measured benefit. They use authorized internal records and return evidence and uncertainty.</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“we recommend finding the simplest solution possible, and only increasing complexity when needed.”</a:t>
            </a:r>
            <a:r>
              <a:rPr b="0"/>
              <a:t> That is Anthropic's recommendation. </a:t>
            </a:r>
            <a:r>
              <a:rPr b="1"/>
              <a:t>Begin with the simplest execution design that meets the task.</a:t>
            </a:r>
            <a:r>
              <a:rPr b="0"/>
              <a:t> More autonomy or more workers must earn their place through measured benefit.</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who chooses the next step? </a:t>
            </a:r>
            <a:r>
              <a:rPr b="1"/>
              <a:t>Use code for known paths and required checks.</a:t>
            </a:r>
            <a:r>
              <a:rPr b="0"/>
              <a:t> Let the model choose where judgment helps. A bounded workflow is a useful starting point. A model's proposed plan does not enforce the execution rules.</a:t>
            </a:r>
          </a:p>
          <a:p xmlns:a="http://schemas.openxmlformats.org/drawingml/2006/main">
            <a:r>
              <a:t/>
            </a:r>
          </a:p>
          <a:p xmlns:a="http://schemas.openxmlformats.org/drawingml/2006/main">
            <a:r>
              <a:rPr b="0"/>
              <a:t>Second, when should work be delegated? Separate tasks that can be done independently. Define handoff inputs and expected results. Add workers only when measured gains justify the coordination. Model selection was the earlier area; this is about dividing and coordinating the work.</a:t>
            </a:r>
          </a:p>
          <a:p xmlns:a="http://schemas.openxmlformats.org/drawingml/2006/main">
            <a:r>
              <a:t/>
            </a:r>
          </a:p>
          <a:p xmlns:a="http://schemas.openxmlformats.org/drawingml/2006/main">
            <a:r>
              <a:rPr b="0"/>
              <a:t>Third, how does execution stop or recover? </a:t>
            </a:r>
            <a:r>
              <a:rPr b="1"/>
              <a:t>Define completion checks, stopping limits, saved state, bounded retries, and human handoff.</a:t>
            </a:r>
            <a:r>
              <a:rPr b="0"/>
              <a:t> Gather context, take action, verify, and repeat only within those limits.</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New branches can bypass checks. Recheck paths and protect acceptance criteria. Handoffs can lose context or produce conflicting results. Keep evidence, uncertainty, and ownership explicit. A timed-out action might have succeeded, so inspect the result before repeating it.</a:t>
            </a:r>
          </a:p>
          <a:p xmlns:a="http://schemas.openxmlformats.org/drawingml/2006/main">
            <a:r>
              <a:t/>
            </a:r>
          </a:p>
          <a:p xmlns:a="http://schemas.openxmlformats.org/drawingml/2006/main">
            <a:r>
              <a:rPr b="1"/>
              <a:t>Set action, token, and end-to-end latency limits.</a:t>
            </a:r>
            <a:r>
              <a:rPr b="0"/>
              <a:t> Save progress needed for recovery. The pitfall is </a:t>
            </a:r>
            <a:r>
              <a:rPr b="1"/>
              <a:t>multi-agent before a workflow was tried.</a:t>
            </a:r>
            <a:r>
              <a:rPr b="0"/>
              <a:t> More coordination has to earn its cost and complexity.</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1"/>
              <a:t>Retrieve the packet, inspect evidence, compare cases, reconcile findings, verify the brief, export.</a:t>
            </a:r>
            <a:r>
              <a:rPr b="0"/>
              <a:t> Begin with these predefined steps for the illustrative FRB system.</a:t>
            </a:r>
          </a:p>
          <a:p xmlns:a="http://schemas.openxmlformats.org/drawingml/2006/main">
            <a:r>
              <a:t/>
            </a:r>
          </a:p>
          <a:p xmlns:a="http://schemas.openxmlformats.org/drawingml/2006/main">
            <a:r>
              <a:rPr b="0"/>
              <a:t>Export only after checks pass. At a limit, return an explicit limitation or hand off. Save steps and exact revisions. Before retrying an export, inspect the receipt and recheck freshness and access.</a:t>
            </a:r>
          </a:p>
          <a:p xmlns:a="http://schemas.openxmlformats.org/drawingml/2006/main">
            <a:r>
              <a:t/>
            </a:r>
          </a:p>
          <a:p xmlns:a="http://schemas.openxmlformats.org/drawingml/2006/main">
            <a:r>
              <a:rPr b="0"/>
              <a:t>Add comparison workers only after measured benefit. They use authorized internal records and return evidence and uncertainty.</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Your coding agent runs the repository's tests. The command and its output are part of the work you inspect.</a:t>
            </a:r>
          </a:p>
          <a:p xmlns:a="http://schemas.openxmlformats.org/drawingml/2006/main">
            <a:r>
              <a:t/>
            </a:r>
          </a:p>
          <a:p xmlns:a="http://schemas.openxmlformats.org/drawingml/2006/main">
            <a:r>
              <a:rPr b="1"/>
              <a:t>The test run gives you a result to inspect.</a:t>
            </a:r>
            <a:r>
              <a:rPr b="0"/>
              <a:t> You read that result as part of deciding whether to accept the change. This familiar check is our entry point to verification and evaluation.</a:t>
            </a:r>
          </a:p>
          <a:p xmlns:a="http://schemas.openxmlformats.org/drawingml/2006/main">
            <a:r>
              <a:t/>
            </a:r>
          </a:p>
          <a:p xmlns:a="http://schemas.openxmlformats.org/drawingml/2006/main">
            <a:r>
              <a:rPr b="0"/>
              <a:t>Advance to the Evals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“Error analysis is the most important activity in evals.”</a:t>
            </a:r>
            <a:r>
              <a:rPr b="0"/>
              <a:t> Hamel Husain and Shreya Shankar. Verification checks a result before acceptance. Evaluation measures behavior across cases. </a:t>
            </a:r>
            <a:r>
              <a:rPr b="1"/>
              <a:t>These are complementary uses of checks. Evals are tests of an AI system.</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what counts as success? Define the outcome and required constraints, including serious failures and acceptable limits. Work with domain experts on criteria they can apply. Ordinary software tests remain part of this checking machinery.</a:t>
            </a:r>
          </a:p>
          <a:p xmlns:a="http://schemas.openxmlformats.org/drawingml/2006/main">
            <a:r>
              <a:t/>
            </a:r>
          </a:p>
          <a:p xmlns:a="http://schemas.openxmlformats.org/drawingml/2006/main">
            <a:r>
              <a:rPr b="0"/>
              <a:t>Second, which checks can establish it? </a:t>
            </a:r>
            <a:r>
              <a:rPr b="1"/>
              <a:t>Use direct checks where possible.</a:t>
            </a:r>
            <a:r>
              <a:rPr b="0"/>
              <a:t> Some questions, such as faithfulness or useful synthesis, need judgment. Use experts and calibrate model graders against their decisions. A grader's output also needs scrutiny.</a:t>
            </a:r>
          </a:p>
          <a:p xmlns:a="http://schemas.openxmlformats.org/drawingml/2006/main">
            <a:r>
              <a:t/>
            </a:r>
          </a:p>
          <a:p xmlns:a="http://schemas.openxmlformats.org/drawingml/2006/main">
            <a:r>
              <a:rPr b="0"/>
              <a:t>Third, which cases and how many trials? </a:t>
            </a:r>
            <a:r>
              <a:rPr b="1"/>
              <a:t>Start with 20 to 50 cases drawn from real failures.</a:t>
            </a:r>
            <a:r>
              <a:rPr b="0"/>
              <a:t> Cover common tasks and important edge cases. Repeat trials. At least one successful attempt and success across every attempt answer different questions. </a:t>
            </a:r>
            <a:r>
              <a:rPr b="1"/>
              <a:t>Consistency matters for repeated use.</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Outputs reveal missing requirements. Refine criteria with experts. Review grader disagreements and recalibrate. Models and harnesses change, so rerun representative cases and add production failures to the regression suite. Keep evaluating after deployment.</a:t>
            </a:r>
          </a:p>
          <a:p xmlns:a="http://schemas.openxmlformats.org/drawingml/2006/main">
            <a:r>
              <a:t/>
            </a:r>
          </a:p>
          <a:p xmlns:a="http://schemas.openxmlformats.org/drawingml/2006/main">
            <a:r>
              <a:rPr b="1"/>
              <a:t>Inspect the result and the trace before choosing a repair.</a:t>
            </a:r>
            <a:r>
              <a:rPr b="0"/>
              <a:t> The pitfall is </a:t>
            </a:r>
            <a:r>
              <a:rPr b="1"/>
              <a:t>a generic judge instead of error analysis. Trusting the success claim without checking the result.</a:t>
            </a:r>
            <a:r>
              <a:rPr b="0"/>
              <a:t> You need evidence about the actual behavior and where it went wrong.</a:t>
            </a:r>
          </a:p>
          <a:p xmlns:a="http://schemas.openxmlformats.org/drawingml/2006/main">
            <a:r>
              <a:t/>
            </a:r>
          </a:p>
          <a:p xmlns:a="http://schemas.openxmlformats.org/drawingml/2006/main">
            <a:r>
              <a:rPr b="0"/>
              <a:t>An evaluation suite also gives evidence for changes to models, prompts, retrieval, or tools. Keep the result checks and the across-case measurements running together.</a:t>
            </a:r>
          </a:p>
          <a:p xmlns:a="http://schemas.openxmlformats.org/drawingml/2006/main">
            <a:r>
              <a:t/>
            </a:r>
          </a:p>
          <a:p xmlns:a="http://schemas.openxmlformats.org/drawingml/2006/main">
            <a:r>
              <a:rPr b="1"/>
              <a:t>[your story #2]</a:t>
            </a:r>
            <a:r>
              <a:rPr b="0"/>
              <a:t> A failure your tests passed and evals or production caught. Show that the suite was green, the behavior was wrong, and a broader check or real user found it. Sixty seconds. This remains the presenter's personal story, separate from the illustrative FRB check. Hold the general maintenance screen throughout.</a:t>
            </a:r>
          </a:p>
          <a:p xmlns:a="http://schemas.openxmlformats.org/drawingml/2006/main">
            <a:r>
              <a:t/>
            </a:r>
          </a:p>
          <a:p xmlns:a="http://schemas.openxmlformats.org/drawingml/2006/main">
            <a:r>
              <a:rPr b="0"/>
              <a:t>Now apply that discipline to a brief we can check.</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This illustrative answer cites FRB-042-MIN r2, section three, paragraph two. </a:t>
            </a:r>
            <a:r>
              <a:rPr b="1"/>
              <a:t>The citation exists, but it does not support the claim.</a:t>
            </a:r>
            <a:r>
              <a:rPr b="0"/>
              <a:t> The minutes leave the cause unresolved and call for inspection. The answer says the board confirmed bearing wear. </a:t>
            </a:r>
            <a:r>
              <a:rPr b="1"/>
              <a:t>Fail.</a:t>
            </a:r>
          </a:p>
          <a:p xmlns:a="http://schemas.openxmlformats.org/drawingml/2006/main">
            <a:r>
              <a:t/>
            </a:r>
          </a:p>
          <a:p xmlns:a="http://schemas.openxmlformats.org/drawingml/2006/main">
            <a:r>
              <a:rPr b="0"/>
              <a:t>Expected: unresolved cause, inspection required. The reference check is direct. Source support needs judgment about the meaning of the passage. Use an expert, or a model grader calibrated against expert decisions. </a:t>
            </a:r>
            <a:r>
              <a:rPr b="1"/>
              <a:t>Citation existence and semantic support are different checks.</a:t>
            </a:r>
          </a:p>
          <a:p xmlns:a="http://schemas.openxmlformats.org/drawingml/2006/main">
            <a:r>
              <a:t/>
            </a:r>
          </a:p>
          <a:p xmlns:a="http://schemas.openxmlformats.org/drawingml/2006/main">
            <a:r>
              <a:rPr b="0"/>
              <a:t>Keep this failure as a regression case and rerun it after changes, alongside the broader suite and repeated trials. Inspect the trace before deciding whether retrieval, compaction, synthesis, or another component needs repair.</a:t>
            </a:r>
          </a:p>
          <a:p xmlns:a="http://schemas.openxmlformats.org/drawingml/2006/main">
            <a:r>
              <a:t/>
            </a:r>
          </a:p>
          <a:p xmlns:a="http://schemas.openxmlformats.org/drawingml/2006/main">
            <a:r>
              <a:rPr b="1"/>
              <a:t>Check the action before accepting it. Measure across representative cases. Keep both checks running as the system changes.</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“Error analysis is the most important activity in evals.”</a:t>
            </a:r>
            <a:r>
              <a:rPr b="0"/>
              <a:t> Hamel Husain and Shreya Shankar. Verification checks a result before acceptance. Evaluation measures behavior across cases. </a:t>
            </a:r>
            <a:r>
              <a:rPr b="1"/>
              <a:t>These are complementary uses of checks. Evals are tests of an AI system.</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what counts as success? Define the outcome and required constraints, including serious failures and acceptable limits. Work with domain experts on criteria they can apply. Ordinary software tests remain part of this checking machinery.</a:t>
            </a:r>
          </a:p>
          <a:p xmlns:a="http://schemas.openxmlformats.org/drawingml/2006/main">
            <a:r>
              <a:t/>
            </a:r>
          </a:p>
          <a:p xmlns:a="http://schemas.openxmlformats.org/drawingml/2006/main">
            <a:r>
              <a:rPr b="0"/>
              <a:t>Second, which checks can establish it? </a:t>
            </a:r>
            <a:r>
              <a:rPr b="1"/>
              <a:t>Use direct checks where possible.</a:t>
            </a:r>
            <a:r>
              <a:rPr b="0"/>
              <a:t> Some questions, such as faithfulness or useful synthesis, need judgment. Use experts and calibrate model graders against their decisions. A grader's output also needs scrutiny.</a:t>
            </a:r>
          </a:p>
          <a:p xmlns:a="http://schemas.openxmlformats.org/drawingml/2006/main">
            <a:r>
              <a:t/>
            </a:r>
          </a:p>
          <a:p xmlns:a="http://schemas.openxmlformats.org/drawingml/2006/main">
            <a:r>
              <a:rPr b="0"/>
              <a:t>Third, which cases and how many trials? </a:t>
            </a:r>
            <a:r>
              <a:rPr b="1"/>
              <a:t>Start with 20 to 50 cases drawn from real failures.</a:t>
            </a:r>
            <a:r>
              <a:rPr b="0"/>
              <a:t> Cover common tasks and important edge cases. Repeat trials. At least one successful attempt and success across every attempt answer different questions. </a:t>
            </a:r>
            <a:r>
              <a:rPr b="1"/>
              <a:t>Consistency matters for repeated use.</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Outputs reveal missing requirements. Refine criteria with experts. Review grader disagreements and recalibrate. Models and harnesses change, so rerun representative cases and add production failures to the regression suite. Keep evaluating after deployment.</a:t>
            </a:r>
          </a:p>
          <a:p xmlns:a="http://schemas.openxmlformats.org/drawingml/2006/main">
            <a:r>
              <a:t/>
            </a:r>
          </a:p>
          <a:p xmlns:a="http://schemas.openxmlformats.org/drawingml/2006/main">
            <a:r>
              <a:rPr b="1"/>
              <a:t>Inspect the result and the trace before choosing a repair.</a:t>
            </a:r>
            <a:r>
              <a:rPr b="0"/>
              <a:t> The pitfall is </a:t>
            </a:r>
            <a:r>
              <a:rPr b="1"/>
              <a:t>a generic judge instead of error analysis. Trusting the success claim without checking the result.</a:t>
            </a:r>
            <a:r>
              <a:rPr b="0"/>
              <a:t> You need evidence about the actual behavior and where it went wrong.</a:t>
            </a:r>
          </a:p>
          <a:p xmlns:a="http://schemas.openxmlformats.org/drawingml/2006/main">
            <a:r>
              <a:t/>
            </a:r>
          </a:p>
          <a:p xmlns:a="http://schemas.openxmlformats.org/drawingml/2006/main">
            <a:r>
              <a:rPr b="0"/>
              <a:t>An evaluation suite also gives evidence for changes to models, prompts, retrieval, or tools. Keep the result checks and the across-case measurements running together.</a:t>
            </a:r>
          </a:p>
          <a:p xmlns:a="http://schemas.openxmlformats.org/drawingml/2006/main">
            <a:r>
              <a:t/>
            </a:r>
          </a:p>
          <a:p xmlns:a="http://schemas.openxmlformats.org/drawingml/2006/main">
            <a:r>
              <a:rPr b="1"/>
              <a:t>[your story #2]</a:t>
            </a:r>
            <a:r>
              <a:rPr b="0"/>
              <a:t> A failure your tests passed and evals or production caught. Show that the suite was green, the behavior was wrong, and a broader check or real user found it. Sixty seconds. This remains the presenter's personal story, separate from the illustrative FRB check. Hold the general maintenance screen throughout.</a:t>
            </a:r>
          </a:p>
          <a:p xmlns:a="http://schemas.openxmlformats.org/drawingml/2006/main">
            <a:r>
              <a:t/>
            </a:r>
          </a:p>
          <a:p xmlns:a="http://schemas.openxmlformats.org/drawingml/2006/main">
            <a:r>
              <a:rPr b="0"/>
              <a:t>Now apply that discipline to a brief we can check.</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This illustrative answer cites FRB-042-MIN r2, section three, paragraph two. </a:t>
            </a:r>
            <a:r>
              <a:rPr b="1"/>
              <a:t>The citation exists, but it does not support the claim.</a:t>
            </a:r>
            <a:r>
              <a:rPr b="0"/>
              <a:t> The minutes leave the cause unresolved and call for inspection. The answer says the board confirmed bearing wear. </a:t>
            </a:r>
            <a:r>
              <a:rPr b="1"/>
              <a:t>Fail.</a:t>
            </a:r>
          </a:p>
          <a:p xmlns:a="http://schemas.openxmlformats.org/drawingml/2006/main">
            <a:r>
              <a:t/>
            </a:r>
          </a:p>
          <a:p xmlns:a="http://schemas.openxmlformats.org/drawingml/2006/main">
            <a:r>
              <a:rPr b="0"/>
              <a:t>Expected: unresolved cause, inspection required. The reference check is direct. Source support needs judgment about the meaning of the passage. Use an expert, or a model grader calibrated against expert decisions. </a:t>
            </a:r>
            <a:r>
              <a:rPr b="1"/>
              <a:t>Citation existence and semantic support are different checks.</a:t>
            </a:r>
          </a:p>
          <a:p xmlns:a="http://schemas.openxmlformats.org/drawingml/2006/main">
            <a:r>
              <a:t/>
            </a:r>
          </a:p>
          <a:p xmlns:a="http://schemas.openxmlformats.org/drawingml/2006/main">
            <a:r>
              <a:rPr b="0"/>
              <a:t>Keep this failure as a regression case and rerun it after changes, alongside the broader suite and repeated trials. Inspect the trace before deciding whether retrieval, compaction, synthesis, or another component needs repair.</a:t>
            </a:r>
          </a:p>
          <a:p xmlns:a="http://schemas.openxmlformats.org/drawingml/2006/main">
            <a:r>
              <a:t/>
            </a:r>
          </a:p>
          <a:p xmlns:a="http://schemas.openxmlformats.org/drawingml/2006/main">
            <a:r>
              <a:rPr b="1"/>
              <a:t>Check the action before accepting it. Measure across representative cases. Keep both checks running as the system changes.</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“Error analysis is the most important activity in evals.”</a:t>
            </a:r>
            <a:r>
              <a:rPr b="0"/>
              <a:t> Hamel Husain and Shreya Shankar. Verification checks a result before acceptance. Evaluation measures behavior across cases. </a:t>
            </a:r>
            <a:r>
              <a:rPr b="1"/>
              <a:t>These are complementary uses of checks. Evals are tests of an AI system.</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what counts as success? Define the outcome and required constraints, including serious failures and acceptable limits. Work with domain experts on criteria they can apply. Ordinary software tests remain part of this checking machinery.</a:t>
            </a:r>
          </a:p>
          <a:p xmlns:a="http://schemas.openxmlformats.org/drawingml/2006/main">
            <a:r>
              <a:t/>
            </a:r>
          </a:p>
          <a:p xmlns:a="http://schemas.openxmlformats.org/drawingml/2006/main">
            <a:r>
              <a:rPr b="0"/>
              <a:t>Second, which checks can establish it? </a:t>
            </a:r>
            <a:r>
              <a:rPr b="1"/>
              <a:t>Use direct checks where possible.</a:t>
            </a:r>
            <a:r>
              <a:rPr b="0"/>
              <a:t> Some questions, such as faithfulness or useful synthesis, need judgment. Use experts and calibrate model graders against their decisions. A grader's output also needs scrutiny.</a:t>
            </a:r>
          </a:p>
          <a:p xmlns:a="http://schemas.openxmlformats.org/drawingml/2006/main">
            <a:r>
              <a:t/>
            </a:r>
          </a:p>
          <a:p xmlns:a="http://schemas.openxmlformats.org/drawingml/2006/main">
            <a:r>
              <a:rPr b="0"/>
              <a:t>Third, which cases and how many trials? </a:t>
            </a:r>
            <a:r>
              <a:rPr b="1"/>
              <a:t>Start with 20 to 50 cases drawn from real failures.</a:t>
            </a:r>
            <a:r>
              <a:rPr b="0"/>
              <a:t> Cover common tasks and important edge cases. Repeat trials. At least one successful attempt and success across every attempt answer different questions. </a:t>
            </a:r>
            <a:r>
              <a:rPr b="1"/>
              <a:t>Consistency matters for repeated use.</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Outputs reveal missing requirements. Refine criteria with experts. Review grader disagreements and recalibrate. Models and harnesses change, so rerun representative cases and add production failures to the regression suite. Keep evaluating after deployment.</a:t>
            </a:r>
          </a:p>
          <a:p xmlns:a="http://schemas.openxmlformats.org/drawingml/2006/main">
            <a:r>
              <a:t/>
            </a:r>
          </a:p>
          <a:p xmlns:a="http://schemas.openxmlformats.org/drawingml/2006/main">
            <a:r>
              <a:rPr b="1"/>
              <a:t>Inspect the result and the trace before choosing a repair.</a:t>
            </a:r>
            <a:r>
              <a:rPr b="0"/>
              <a:t> The pitfall is </a:t>
            </a:r>
            <a:r>
              <a:rPr b="1"/>
              <a:t>a generic judge instead of error analysis. Trusting the success claim without checking the result.</a:t>
            </a:r>
            <a:r>
              <a:rPr b="0"/>
              <a:t> You need evidence about the actual behavior and where it went wrong.</a:t>
            </a:r>
          </a:p>
          <a:p xmlns:a="http://schemas.openxmlformats.org/drawingml/2006/main">
            <a:r>
              <a:t/>
            </a:r>
          </a:p>
          <a:p xmlns:a="http://schemas.openxmlformats.org/drawingml/2006/main">
            <a:r>
              <a:rPr b="0"/>
              <a:t>An evaluation suite also gives evidence for changes to models, prompts, retrieval, or tools. Keep the result checks and the across-case measurements running together.</a:t>
            </a:r>
          </a:p>
          <a:p xmlns:a="http://schemas.openxmlformats.org/drawingml/2006/main">
            <a:r>
              <a:t/>
            </a:r>
          </a:p>
          <a:p xmlns:a="http://schemas.openxmlformats.org/drawingml/2006/main">
            <a:r>
              <a:rPr b="1"/>
              <a:t>[your story #2]</a:t>
            </a:r>
            <a:r>
              <a:rPr b="0"/>
              <a:t> A failure your tests passed and evals or production caught. Show that the suite was green, the behavior was wrong, and a broader check or real user found it. Sixty seconds. This remains the presenter's personal story, separate from the illustrative FRB check. Hold the general maintenance screen throughout.</a:t>
            </a:r>
          </a:p>
          <a:p xmlns:a="http://schemas.openxmlformats.org/drawingml/2006/main">
            <a:r>
              <a:t/>
            </a:r>
          </a:p>
          <a:p xmlns:a="http://schemas.openxmlformats.org/drawingml/2006/main">
            <a:r>
              <a:rPr b="0"/>
              <a:t>Now apply that discipline to a brief we can check.</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This illustrative answer cites FRB-042-MIN r2, section three, paragraph two. </a:t>
            </a:r>
            <a:r>
              <a:rPr b="1"/>
              <a:t>The citation exists, but it does not support the claim.</a:t>
            </a:r>
            <a:r>
              <a:rPr b="0"/>
              <a:t> The minutes leave the cause unresolved and call for inspection. The answer says the board confirmed bearing wear. </a:t>
            </a:r>
            <a:r>
              <a:rPr b="1"/>
              <a:t>Fail.</a:t>
            </a:r>
          </a:p>
          <a:p xmlns:a="http://schemas.openxmlformats.org/drawingml/2006/main">
            <a:r>
              <a:t/>
            </a:r>
          </a:p>
          <a:p xmlns:a="http://schemas.openxmlformats.org/drawingml/2006/main">
            <a:r>
              <a:rPr b="0"/>
              <a:t>Expected: unresolved cause, inspection required. The reference check is direct. Source support needs judgment about the meaning of the passage. Use an expert, or a model grader calibrated against expert decisions. </a:t>
            </a:r>
            <a:r>
              <a:rPr b="1"/>
              <a:t>Citation existence and semantic support are different checks.</a:t>
            </a:r>
          </a:p>
          <a:p xmlns:a="http://schemas.openxmlformats.org/drawingml/2006/main">
            <a:r>
              <a:t/>
            </a:r>
          </a:p>
          <a:p xmlns:a="http://schemas.openxmlformats.org/drawingml/2006/main">
            <a:r>
              <a:rPr b="0"/>
              <a:t>Keep this failure as a regression case and rerun it after changes, alongside the broader suite and repeated trials. Inspect the trace before deciding whether retrieval, compaction, synthesis, or another component needs repair.</a:t>
            </a:r>
          </a:p>
          <a:p xmlns:a="http://schemas.openxmlformats.org/drawingml/2006/main">
            <a:r>
              <a:t/>
            </a:r>
          </a:p>
          <a:p xmlns:a="http://schemas.openxmlformats.org/drawingml/2006/main">
            <a:r>
              <a:rPr b="1"/>
              <a:t>Check the action before accepting it. Measure across representative cases. Keep both checks running as the system changes.</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“Error analysis is the most important activity in evals.”</a:t>
            </a:r>
            <a:r>
              <a:rPr b="0"/>
              <a:t> Hamel Husain and Shreya Shankar. Verification checks a result before acceptance. Evaluation measures behavior across cases. </a:t>
            </a:r>
            <a:r>
              <a:rPr b="1"/>
              <a:t>These are complementary uses of checks. Evals are tests of an AI system.</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what counts as success? Define the outcome and required constraints, including serious failures and acceptable limits. Work with domain experts on criteria they can apply. Ordinary software tests remain part of this checking machinery.</a:t>
            </a:r>
          </a:p>
          <a:p xmlns:a="http://schemas.openxmlformats.org/drawingml/2006/main">
            <a:r>
              <a:t/>
            </a:r>
          </a:p>
          <a:p xmlns:a="http://schemas.openxmlformats.org/drawingml/2006/main">
            <a:r>
              <a:rPr b="0"/>
              <a:t>Second, which checks can establish it? </a:t>
            </a:r>
            <a:r>
              <a:rPr b="1"/>
              <a:t>Use direct checks where possible.</a:t>
            </a:r>
            <a:r>
              <a:rPr b="0"/>
              <a:t> Some questions, such as faithfulness or useful synthesis, need judgment. Use experts and calibrate model graders against their decisions. A grader's output also needs scrutiny.</a:t>
            </a:r>
          </a:p>
          <a:p xmlns:a="http://schemas.openxmlformats.org/drawingml/2006/main">
            <a:r>
              <a:t/>
            </a:r>
          </a:p>
          <a:p xmlns:a="http://schemas.openxmlformats.org/drawingml/2006/main">
            <a:r>
              <a:rPr b="0"/>
              <a:t>Third, which cases and how many trials? </a:t>
            </a:r>
            <a:r>
              <a:rPr b="1"/>
              <a:t>Start with 20 to 50 cases drawn from real failures.</a:t>
            </a:r>
            <a:r>
              <a:rPr b="0"/>
              <a:t> Cover common tasks and important edge cases. Repeat trials. At least one successful attempt and success across every attempt answer different questions. </a:t>
            </a:r>
            <a:r>
              <a:rPr b="1"/>
              <a:t>Consistency matters for repeated use.</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Outputs reveal missing requirements. Refine criteria with experts. Review grader disagreements and recalibrate. Models and harnesses change, so rerun representative cases and add production failures to the regression suite. Keep evaluating after deployment.</a:t>
            </a:r>
          </a:p>
          <a:p xmlns:a="http://schemas.openxmlformats.org/drawingml/2006/main">
            <a:r>
              <a:t/>
            </a:r>
          </a:p>
          <a:p xmlns:a="http://schemas.openxmlformats.org/drawingml/2006/main">
            <a:r>
              <a:rPr b="1"/>
              <a:t>Inspect the result and the trace before choosing a repair.</a:t>
            </a:r>
            <a:r>
              <a:rPr b="0"/>
              <a:t> The pitfall is </a:t>
            </a:r>
            <a:r>
              <a:rPr b="1"/>
              <a:t>a generic judge instead of error analysis. Trusting the success claim without checking the result.</a:t>
            </a:r>
            <a:r>
              <a:rPr b="0"/>
              <a:t> You need evidence about the actual behavior and where it went wrong.</a:t>
            </a:r>
          </a:p>
          <a:p xmlns:a="http://schemas.openxmlformats.org/drawingml/2006/main">
            <a:r>
              <a:t/>
            </a:r>
          </a:p>
          <a:p xmlns:a="http://schemas.openxmlformats.org/drawingml/2006/main">
            <a:r>
              <a:rPr b="0"/>
              <a:t>An evaluation suite also gives evidence for changes to models, prompts, retrieval, or tools. Keep the result checks and the across-case measurements running together.</a:t>
            </a:r>
          </a:p>
          <a:p xmlns:a="http://schemas.openxmlformats.org/drawingml/2006/main">
            <a:r>
              <a:t/>
            </a:r>
          </a:p>
          <a:p xmlns:a="http://schemas.openxmlformats.org/drawingml/2006/main">
            <a:r>
              <a:rPr b="1"/>
              <a:t>[your story #2]</a:t>
            </a:r>
            <a:r>
              <a:rPr b="0"/>
              <a:t> A failure your tests passed and evals or production caught. Show that the suite was green, the behavior was wrong, and a broader check or real user found it. Sixty seconds. This remains the presenter's personal story, separate from the illustrative FRB check. Hold the general maintenance screen throughout.</a:t>
            </a:r>
          </a:p>
          <a:p xmlns:a="http://schemas.openxmlformats.org/drawingml/2006/main">
            <a:r>
              <a:t/>
            </a:r>
          </a:p>
          <a:p xmlns:a="http://schemas.openxmlformats.org/drawingml/2006/main">
            <a:r>
              <a:rPr b="0"/>
              <a:t>Now apply that discipline to a brief we can check.</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This illustrative answer cites FRB-042-MIN r2, section three, paragraph two. </a:t>
            </a:r>
            <a:r>
              <a:rPr b="1"/>
              <a:t>The citation exists, but it does not support the claim.</a:t>
            </a:r>
            <a:r>
              <a:rPr b="0"/>
              <a:t> The minutes leave the cause unresolved and call for inspection. The answer says the board confirmed bearing wear. </a:t>
            </a:r>
            <a:r>
              <a:rPr b="1"/>
              <a:t>Fail.</a:t>
            </a:r>
          </a:p>
          <a:p xmlns:a="http://schemas.openxmlformats.org/drawingml/2006/main">
            <a:r>
              <a:t/>
            </a:r>
          </a:p>
          <a:p xmlns:a="http://schemas.openxmlformats.org/drawingml/2006/main">
            <a:r>
              <a:rPr b="0"/>
              <a:t>Expected: unresolved cause, inspection required. The reference check is direct. Source support needs judgment about the meaning of the passage. Use an expert, or a model grader calibrated against expert decisions. </a:t>
            </a:r>
            <a:r>
              <a:rPr b="1"/>
              <a:t>Citation existence and semantic support are different checks.</a:t>
            </a:r>
          </a:p>
          <a:p xmlns:a="http://schemas.openxmlformats.org/drawingml/2006/main">
            <a:r>
              <a:t/>
            </a:r>
          </a:p>
          <a:p xmlns:a="http://schemas.openxmlformats.org/drawingml/2006/main">
            <a:r>
              <a:rPr b="0"/>
              <a:t>Keep this failure as a regression case and rerun it after changes, alongside the broader suite and repeated trials. Inspect the trace before deciding whether retrieval, compaction, synthesis, or another component needs repair.</a:t>
            </a:r>
          </a:p>
          <a:p xmlns:a="http://schemas.openxmlformats.org/drawingml/2006/main">
            <a:r>
              <a:t/>
            </a:r>
          </a:p>
          <a:p xmlns:a="http://schemas.openxmlformats.org/drawingml/2006/main">
            <a:r>
              <a:rPr b="1"/>
              <a:t>Check the action before accepting it. Measure across representative cases. Keep both checks running as the system changes.</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 own the approval process.</a:t>
            </a:r>
            <a:r>
              <a:rPr b="0"/>
              <a:t> Enforce FRB access and permitted export destinations outside the model. </a:t>
            </a:r>
            <a:r>
              <a:rPr b="1"/>
              <a:t>People own official causes, decisions, and board records.</a:t>
            </a:r>
          </a:p>
          <a:p xmlns:a="http://schemas.openxmlformats.org/drawingml/2006/main">
            <a:r>
              <a:t/>
            </a:r>
          </a:p>
          <a:p xmlns:a="http://schemas.openxmlformats.org/drawingml/2006/main">
            <a:r>
              <a:rPr b="0"/>
              <a:t>Trace the request through retrieved revisions, worker evidence, synthesis, verification, and export. Restrict trace access. Monitor freshness, parsing/tool failures, quality failures, cost per completed brief, and latency.</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The lethal trifecta, assembled one integration at a time.</a:t>
            </a:r>
            <a:r>
              <a:rPr b="0"/>
              <a:t> Internal attachments can contain untrusted instructions. An export provides communication. Count capabilities and constrain the path.</a:t>
            </a:r>
          </a:p>
          <a:p xmlns:a="http://schemas.openxmlformats.org/drawingml/2006/main">
            <a:r>
              <a:t/>
            </a:r>
          </a:p>
          <a:p xmlns:a="http://schemas.openxmlformats.org/drawingml/2006/main">
            <a:r>
              <a:rPr b="1"/>
              <a:t>When you are the owner, its answer is your answer.</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That is the map. Every box on it is something you can engineer, because most of it is engineering you already know how to do.</a:t>
            </a:r>
          </a:p>
          <a:p xmlns:a="http://schemas.openxmlformats.org/drawingml/2006/main">
            <a:r>
              <a:t/>
            </a:r>
          </a:p>
          <a:p xmlns:a="http://schemas.openxmlformats.org/drawingml/2006/main">
            <a:r>
              <a:rPr b="0"/>
              <a:t>Advance to slide 20, the Section 3 divider.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 own the approval process.</a:t>
            </a:r>
            <a:r>
              <a:rPr b="0"/>
              <a:t> Enforce FRB access and permitted export destinations outside the model. </a:t>
            </a:r>
            <a:r>
              <a:rPr b="1"/>
              <a:t>People own official causes, decisions, and board records.</a:t>
            </a:r>
          </a:p>
          <a:p xmlns:a="http://schemas.openxmlformats.org/drawingml/2006/main">
            <a:r>
              <a:t/>
            </a:r>
          </a:p>
          <a:p xmlns:a="http://schemas.openxmlformats.org/drawingml/2006/main">
            <a:r>
              <a:rPr b="0"/>
              <a:t>Trace the request through retrieved revisions, worker evidence, synthesis, verification, and export. Restrict trace access. Monitor freshness, parsing/tool failures, quality failures, cost per completed brief, and latency.</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The lethal trifecta, assembled one integration at a time.</a:t>
            </a:r>
            <a:r>
              <a:rPr b="0"/>
              <a:t> Internal attachments can contain untrusted instructions. An export provides communication. Count capabilities and constrain the path.</a:t>
            </a:r>
          </a:p>
          <a:p xmlns:a="http://schemas.openxmlformats.org/drawingml/2006/main">
            <a:r>
              <a:t/>
            </a:r>
          </a:p>
          <a:p xmlns:a="http://schemas.openxmlformats.org/drawingml/2006/main">
            <a:r>
              <a:rPr b="1"/>
              <a:t>When you are the owner, its answer is your answer.</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That is the map. Every box on it is something you can engineer, because most of it is engineering you already know how to do.</a:t>
            </a:r>
          </a:p>
          <a:p xmlns:a="http://schemas.openxmlformats.org/drawingml/2006/main">
            <a:r>
              <a:t/>
            </a:r>
          </a:p>
          <a:p xmlns:a="http://schemas.openxmlformats.org/drawingml/2006/main">
            <a:r>
              <a:rPr b="0"/>
              <a:t>Advance to slide 20, the Section 3 divider.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Everything in the last twenty-five minutes was engineering. </a:t>
            </a:r>
            <a:r>
              <a:rPr b="1"/>
              <a:t>Most of it is engineering you already do.</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The introductory bridge was spoken on slide 20.</a:t>
            </a:r>
          </a:p>
          <a:p xmlns:a="http://schemas.openxmlformats.org/drawingml/2006/main">
            <a:r>
              <a:t/>
            </a:r>
          </a:p>
          <a:p xmlns:a="http://schemas.openxmlformats.org/drawingml/2006/main">
            <a:r>
              <a:rPr b="1"/>
              <a:t>Decomposition and systems thinking transfer whole.</a:t>
            </a:r>
            <a:r>
              <a:rPr b="0"/>
              <a:t> Matt Morgis at Elsevier: "For experienced engineers who know how to break problems down, AI tools are an incredible force multiplier." The harness is a systems design problem. </a:t>
            </a:r>
            <a:r>
              <a:rPr b="1"/>
              <a:t>Interface design becomes tool design.</a:t>
            </a:r>
            <a:r>
              <a:rPr b="0"/>
              <a:t> The same instincts about contracts, naming, granularity, and error handling. The caller changed. </a:t>
            </a:r>
            <a:r>
              <a:rPr b="1"/>
              <a:t>Testing discipline extends to evals.</a:t>
            </a:r>
            <a:r>
              <a:rPr b="0"/>
              <a:t> The habit of checking before accepting a result transfers. Ordinary tests remain part of the machinery. Observability transfers with a new schema: traces, spans, p95s. Security transfers: least privilege now applies to tools. Operations transfer: cost, latency, incident response, rollback. The units changed to tokens.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Field evidence. Gergely Orosz profiled engineers at incident.io, Sentry, Elsevier, and others who crossed over in months, not years. One twenty-five-year veteran became his company's generative AI expert in about two months, by reading and prototyping.</a:t>
            </a:r>
          </a:p>
          <a:p xmlns:a="http://schemas.openxmlformats.org/drawingml/2006/main">
            <a:r>
              <a:t/>
            </a:r>
          </a:p>
          <a:p xmlns:a="http://schemas.openxmlformats.org/drawingml/2006/main">
            <a:r>
              <a:rPr b="1"/>
              <a:t>You are not starting over. You are adding a layer.</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The introductory bridge was spoken on slide 20.</a:t>
            </a:r>
          </a:p>
          <a:p xmlns:a="http://schemas.openxmlformats.org/drawingml/2006/main">
            <a:r>
              <a:t/>
            </a:r>
          </a:p>
          <a:p xmlns:a="http://schemas.openxmlformats.org/drawingml/2006/main">
            <a:r>
              <a:rPr b="1"/>
              <a:t>Decomposition and systems thinking transfer whole.</a:t>
            </a:r>
            <a:r>
              <a:rPr b="0"/>
              <a:t> Matt Morgis at Elsevier: "For experienced engineers who know how to break problems down, AI tools are an incredible force multiplier." The harness is a systems design problem. </a:t>
            </a:r>
            <a:r>
              <a:rPr b="1"/>
              <a:t>Interface design becomes tool design.</a:t>
            </a:r>
            <a:r>
              <a:rPr b="0"/>
              <a:t> The same instincts about contracts, naming, granularity, and error handling. The caller changed. </a:t>
            </a:r>
            <a:r>
              <a:rPr b="1"/>
              <a:t>Testing discipline extends to evals.</a:t>
            </a:r>
            <a:r>
              <a:rPr b="0"/>
              <a:t> The habit of checking before accepting a result transfers. Ordinary tests remain part of the machinery. Observability transfers with a new schema: traces, spans, p95s. Security transfers: least privilege now applies to tools. Operations transfer: cost, latency, incident response, rollback. The units changed to tokens.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Field evidence. Gergely Orosz profiled engineers at incident.io, Sentry, Elsevier, and others who crossed over in months, not years. One twenty-five-year veteran became his company's generative AI expert in about two months, by reading and prototyping.</a:t>
            </a:r>
          </a:p>
          <a:p xmlns:a="http://schemas.openxmlformats.org/drawingml/2006/main">
            <a:r>
              <a:t/>
            </a:r>
          </a:p>
          <a:p xmlns:a="http://schemas.openxmlformats.org/drawingml/2006/main">
            <a:r>
              <a:rPr b="1"/>
              <a:t>You are not starting over. You are adding a layer.</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 Let them read it.</a:t>
            </a:r>
          </a:p>
          <a:p xmlns:a="http://schemas.openxmlformats.org/drawingml/2006/main">
            <a:r>
              <a:t/>
            </a:r>
          </a:p>
          <a:p xmlns:a="http://schemas.openxmlformats.org/drawingml/2006/main">
            <a:r>
              <a:rPr b="0"/>
              <a:t>You have seen all six.</a:t>
            </a:r>
          </a:p>
          <a:p xmlns:a="http://schemas.openxmlformats.org/drawingml/2006/main">
            <a:r>
              <a:t/>
            </a:r>
          </a:p>
          <a:p xmlns:a="http://schemas.openxmlformats.org/drawingml/2006/main">
            <a:r>
              <a:rPr b="1"/>
              <a:t>Every one is a symptom of the same thing: treating the demo as the product.</a:t>
            </a:r>
            <a:r>
              <a:rPr b="0"/>
              <a:t> works.any() shipped as works.all().</a:t>
            </a:r>
          </a:p>
          <a:p xmlns:a="http://schemas.openxmlformats.org/drawingml/2006/main">
            <a:r>
              <a:t/>
            </a:r>
          </a:p>
          <a:p xmlns:a="http://schemas.openxmlformats.org/drawingml/2006/main">
            <a:r>
              <a:rPr b="0"/>
              <a:t>One more that is not on the map: reaching for a framework before understanding the loop. Anthropic's warning is that frameworks "create extra layers of abstraction that can obscure the underlying prompts and responses." Learn the loop first.</a:t>
            </a:r>
          </a:p>
          <a:p xmlns:a="http://schemas.openxmlformats.org/drawingml/2006/main">
            <a:r>
              <a:t/>
            </a:r>
          </a:p>
          <a:p xmlns:a="http://schemas.openxmlformats.org/drawingml/2006/main">
            <a:r>
              <a:rPr b="1"/>
              <a:t>Every pitfall on this list is a demo mistaken for a product.</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Four steps. </a:t>
            </a:r>
            <a:r>
              <a:rPr b="1"/>
              <a:t>Look before you build. Review twenty to fifty outputs by hand.</a:t>
            </a:r>
            <a:r>
              <a:rPr b="0"/>
              <a:t> Record the input, observed behavior, expected behavior, and check. That is your first eval material.</a:t>
            </a:r>
          </a:p>
          <a:p xmlns:a="http://schemas.openxmlformats.org/drawingml/2006/main">
            <a:r>
              <a:t/>
            </a:r>
          </a:p>
          <a:p xmlns:a="http://schemas.openxmlformats.org/drawingml/2006/main">
            <a:r>
              <a:rPr b="1"/>
              <a:t>Start constrained. One model call with retrieval and examples. Then a workflow. Add a loop only when it demonstrably improves outcomes.</a:t>
            </a:r>
          </a:p>
          <a:p xmlns:a="http://schemas.openxmlformats.org/drawingml/2006/main">
            <a:r>
              <a:t/>
            </a:r>
          </a:p>
          <a:p xmlns:a="http://schemas.openxmlformats.org/drawingml/2006/main">
            <a:r>
              <a:rPr b="0"/>
              <a:t>Own the harness: prompts, context, control flow. Understand the loop before choosing a framework.</a:t>
            </a:r>
          </a:p>
          <a:p xmlns:a="http://schemas.openxmlformats.org/drawingml/2006/main">
            <a:r>
              <a:t/>
            </a:r>
          </a:p>
          <a:p xmlns:a="http://schemas.openxmlformats.org/drawingml/2006/main">
            <a:r>
              <a:rPr b="1"/>
              <a:t>Add autonomy as your evals earn it.</a:t>
            </a:r>
            <a:r>
              <a:rPr b="0"/>
              <a:t> Each increase needs checks that catch what it breaks.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For our FRB summary, record the false confirmation, the unresolved cause, and the source-support check. </a:t>
            </a:r>
            <a:r>
              <a:rPr b="1"/>
              <a:t>Use this same record for your own system.</a:t>
            </a:r>
          </a:p>
          <a:p xmlns:a="http://schemas.openxmlformats.org/drawingml/2006/main">
            <a:r>
              <a:t/>
            </a:r>
          </a:p>
          <a:p xmlns:a="http://schemas.openxmlformats.org/drawingml/2006/main">
            <a:r>
              <a:rPr b="0"/>
              <a:t>Story #3.</a:t>
            </a:r>
          </a:p>
          <a:p xmlns:a="http://schemas.openxmlformats.org/drawingml/2006/main">
            <a:r>
              <a:t/>
            </a:r>
          </a:p>
          <a:p xmlns:a="http://schemas.openxmlformats.org/drawingml/2006/main">
            <a:r>
              <a:rPr b="1"/>
              <a:t>[your story #3]</a:t>
            </a:r>
            <a:r>
              <a:rPr b="0"/>
              <a:t> What you would tell yourself at the start of the transition. It must show one thing you would do earlier, and what it would have saved. Thirty seconds.</a:t>
            </a:r>
          </a:p>
          <a:p xmlns:a="http://schemas.openxmlformats.org/drawingml/2006/main">
            <a:r>
              <a:t/>
            </a:r>
          </a:p>
          <a:p xmlns:a="http://schemas.openxmlformats.org/drawingml/2006/main">
            <a:r>
              <a:rPr b="1"/>
              <a:t>Autonomy is earned by evals, one step at a time.</a:t>
            </a:r>
            <a:r>
              <a:rPr b="0"/>
              <a:t> Advance to slide 25 on the last word.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Four steps. </a:t>
            </a:r>
            <a:r>
              <a:rPr b="1"/>
              <a:t>Look before you build. Review twenty to fifty outputs by hand.</a:t>
            </a:r>
            <a:r>
              <a:rPr b="0"/>
              <a:t> Record the input, observed behavior, expected behavior, and check. That is your first eval material.</a:t>
            </a:r>
          </a:p>
          <a:p xmlns:a="http://schemas.openxmlformats.org/drawingml/2006/main">
            <a:r>
              <a:t/>
            </a:r>
          </a:p>
          <a:p xmlns:a="http://schemas.openxmlformats.org/drawingml/2006/main">
            <a:r>
              <a:rPr b="1"/>
              <a:t>Start constrained. One model call with retrieval and examples. Then a workflow. Add a loop only when it demonstrably improves outcomes.</a:t>
            </a:r>
          </a:p>
          <a:p xmlns:a="http://schemas.openxmlformats.org/drawingml/2006/main">
            <a:r>
              <a:t/>
            </a:r>
          </a:p>
          <a:p xmlns:a="http://schemas.openxmlformats.org/drawingml/2006/main">
            <a:r>
              <a:rPr b="0"/>
              <a:t>Own the harness: prompts, context, control flow. Understand the loop before choosing a framework.</a:t>
            </a:r>
          </a:p>
          <a:p xmlns:a="http://schemas.openxmlformats.org/drawingml/2006/main">
            <a:r>
              <a:t/>
            </a:r>
          </a:p>
          <a:p xmlns:a="http://schemas.openxmlformats.org/drawingml/2006/main">
            <a:r>
              <a:rPr b="1"/>
              <a:t>Add autonomy as your evals earn it.</a:t>
            </a:r>
            <a:r>
              <a:rPr b="0"/>
              <a:t> Each increase needs checks that catch what it breaks.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For our FRB summary, record the false confirmation, the unresolved cause, and the source-support check. </a:t>
            </a:r>
            <a:r>
              <a:rPr b="1"/>
              <a:t>Use this same record for your own system.</a:t>
            </a:r>
          </a:p>
          <a:p xmlns:a="http://schemas.openxmlformats.org/drawingml/2006/main">
            <a:r>
              <a:t/>
            </a:r>
          </a:p>
          <a:p xmlns:a="http://schemas.openxmlformats.org/drawingml/2006/main">
            <a:r>
              <a:rPr b="0"/>
              <a:t>Story #3.</a:t>
            </a:r>
          </a:p>
          <a:p xmlns:a="http://schemas.openxmlformats.org/drawingml/2006/main">
            <a:r>
              <a:t/>
            </a:r>
          </a:p>
          <a:p xmlns:a="http://schemas.openxmlformats.org/drawingml/2006/main">
            <a:r>
              <a:rPr b="1"/>
              <a:t>[your story #3]</a:t>
            </a:r>
            <a:r>
              <a:rPr b="0"/>
              <a:t> What you would tell yourself at the start of the transition. It must show one thing you would do earlier, and what it would have saved. Thirty seconds.</a:t>
            </a:r>
          </a:p>
          <a:p xmlns:a="http://schemas.openxmlformats.org/drawingml/2006/main">
            <a:r>
              <a:t/>
            </a:r>
          </a:p>
          <a:p xmlns:a="http://schemas.openxmlformats.org/drawingml/2006/main">
            <a:r>
              <a:rPr b="1"/>
              <a:t>Autonomy is earned by evals, one step at a time.</a:t>
            </a:r>
            <a:r>
              <a:rPr b="0"/>
              <a:t> Advance to slide 25 on the last word.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We have fifteen minutes for your questions.</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def9573db9245d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953d271cb19d40e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fc4083afe55e498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06E00501-1252-47D0-85E5-C0CE4A6D1BBD}"/>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07ab449c88946bf" /><Relationship Type="http://schemas.openxmlformats.org/officeDocument/2006/relationships/slideLayout" Target="/ppt/slideLayouts/slideLayout1.xml" Id="Rbe28634b9b984dbe"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294d7dfb922e43cc" /><Relationship Type="http://schemas.openxmlformats.org/officeDocument/2006/relationships/slideLayout" Target="/ppt/slideLayouts/slideLayout2.xml" Id="R05486ae3885c4b44" /><Relationship Type="http://schemas.openxmlformats.org/officeDocument/2006/relationships/slideLayout" Target="/ppt/slideLayouts/slideLayout3.xml" Id="Rf5e37c90e93f4b1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e28634b9b984dbe"/>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05486ae3885c4b44"/>
    <p:sldLayoutId xmlns:r="http://schemas.openxmlformats.org/officeDocument/2006/relationships" id="2147483652" r:id="Rf5e37c90e93f4b16"/>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cae762f544664f3d" /><Relationship Type="http://schemas.openxmlformats.org/officeDocument/2006/relationships/notesSlide" Target="/ppt/notesSlides/notesSlide1.xml" Id="Rda9d66885fce4e1f"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924c2a57b6c14dd1" /><Relationship Type="http://schemas.openxmlformats.org/officeDocument/2006/relationships/notesSlide" Target="/ppt/notesSlides/notesSlide2.xml" Id="Rcdfdab6c8b3f48d9"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d02d96d97d874f31" /><Relationship Type="http://schemas.openxmlformats.org/officeDocument/2006/relationships/image" Target="/ppt/media/image.png" Id="R83787e0a64374fa4" /><Relationship Type="http://schemas.openxmlformats.org/officeDocument/2006/relationships/notesSlide" Target="/ppt/notesSlides/notesSlide3.xml" Id="R8ee9578f3cc64910"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7f82ecd134f74b26" /><Relationship Type="http://schemas.openxmlformats.org/officeDocument/2006/relationships/notesSlide" Target="/ppt/notesSlides/notesSlide4.xml" Id="Rc721b76b33ed4ed1"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e437bf518192455b" /><Relationship Type="http://schemas.openxmlformats.org/officeDocument/2006/relationships/notesSlide" Target="/ppt/notesSlides/notesSlide5.xml" Id="R59c3c14627ee43e1"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a4a28a71d80a451a" /><Relationship Type="http://schemas.openxmlformats.org/officeDocument/2006/relationships/notesSlide" Target="/ppt/notesSlides/notesSlide6.xml" Id="R0ac006a94d9c4d26"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bba4ed3fa4184a26" /><Relationship Type="http://schemas.openxmlformats.org/officeDocument/2006/relationships/notesSlide" Target="/ppt/notesSlides/notesSlide7.xml" Id="R029fd9175de04314"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1dc10849a9734b15" /><Relationship Type="http://schemas.openxmlformats.org/officeDocument/2006/relationships/notesSlide" Target="/ppt/notesSlides/notesSlide8.xml" Id="Rb8153ae66d2646a1"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c38703753cf34d0b" /><Relationship Type="http://schemas.openxmlformats.org/officeDocument/2006/relationships/image" Target="/ppt/media/image2.png" Id="Rb69a1e0f5ed34840" /><Relationship Type="http://schemas.openxmlformats.org/officeDocument/2006/relationships/notesSlide" Target="/ppt/notesSlides/notesSlide9.xml" Id="Rfed28638e3964dc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811bb4fc86814728" /><Relationship Type="http://schemas.openxmlformats.org/officeDocument/2006/relationships/image" Target="/ppt/media/image3.png" Id="Rf48042e4fa7f4e84" /><Relationship Type="http://schemas.openxmlformats.org/officeDocument/2006/relationships/notesSlide" Target="/ppt/notesSlides/notesSlide10.xml" Id="R512b73299697457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ec20a7f6a1214b62" /><Relationship Type="http://schemas.openxmlformats.org/officeDocument/2006/relationships/image" Target="/ppt/media/image4.png" Id="R0006b85639134bdb" /><Relationship Type="http://schemas.openxmlformats.org/officeDocument/2006/relationships/notesSlide" Target="/ppt/notesSlides/notesSlide11.xml" Id="R10f16a1f8a544e7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fb17eacac2e54596" /><Relationship Type="http://schemas.openxmlformats.org/officeDocument/2006/relationships/image" Target="/ppt/media/image5.png" Id="R90b1252f029f4da6" /><Relationship Type="http://schemas.openxmlformats.org/officeDocument/2006/relationships/notesSlide" Target="/ppt/notesSlides/notesSlide12.xml" Id="R814a85311cab440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950f1a5565194926" /><Relationship Type="http://schemas.openxmlformats.org/officeDocument/2006/relationships/image" Target="/ppt/media/image6.png" Id="R8dfcf38e4352498a" /><Relationship Type="http://schemas.openxmlformats.org/officeDocument/2006/relationships/notesSlide" Target="/ppt/notesSlides/notesSlide13.xml" Id="R6dbf7933d514423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223af790132344ea" /><Relationship Type="http://schemas.openxmlformats.org/officeDocument/2006/relationships/image" Target="/ppt/media/image7.png" Id="Rf91c7a1b4796429f" /><Relationship Type="http://schemas.openxmlformats.org/officeDocument/2006/relationships/notesSlide" Target="/ppt/notesSlides/notesSlide14.xml" Id="R3f9a3ad93ff64c1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e47bae27298e4ab6" /><Relationship Type="http://schemas.openxmlformats.org/officeDocument/2006/relationships/notesSlide" Target="/ppt/notesSlides/notesSlide15.xml" Id="R1b7dd2d3c35f4a3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16b95a78de6b41dc" /><Relationship Type="http://schemas.openxmlformats.org/officeDocument/2006/relationships/image" Target="/ppt/media/image8.png" Id="R569d786a8b9a42ca" /><Relationship Type="http://schemas.openxmlformats.org/officeDocument/2006/relationships/image" Target="/ppt/media/image9.png" Id="Rd722501c10154023" /><Relationship Type="http://schemas.openxmlformats.org/officeDocument/2006/relationships/notesSlide" Target="/ppt/notesSlides/notesSlide16.xml" Id="Rdfe4b7502657407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d3dfb6bdcfd94533" /><Relationship Type="http://schemas.openxmlformats.org/officeDocument/2006/relationships/image" Target="/ppt/media/image8.png" Id="R313ff272678a4a74" /><Relationship Type="http://schemas.openxmlformats.org/officeDocument/2006/relationships/notesSlide" Target="/ppt/notesSlides/notesSlide17.xml" Id="Ra53f7246ab98404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d9b6f8528c54436e" /><Relationship Type="http://schemas.openxmlformats.org/officeDocument/2006/relationships/image" Target="/ppt/media/image8.png" Id="R46115617cf5f4f73" /><Relationship Type="http://schemas.openxmlformats.org/officeDocument/2006/relationships/notesSlide" Target="/ppt/notesSlides/notesSlide18.xml" Id="R6e0d61b95e7c436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7b02d68f9e344745" /><Relationship Type="http://schemas.openxmlformats.org/officeDocument/2006/relationships/image" Target="/ppt/media/image8.png" Id="Raf183df8bf8d44bc" /><Relationship Type="http://schemas.openxmlformats.org/officeDocument/2006/relationships/notesSlide" Target="/ppt/notesSlides/notesSlide19.xml" Id="Ra132e6aaf507410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636280eabfff439e" /><Relationship Type="http://schemas.openxmlformats.org/officeDocument/2006/relationships/notesSlide" Target="/ppt/notesSlides/notesSlide20.xml" Id="R000fcbadc29b422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245984faf95a4343" /><Relationship Type="http://schemas.openxmlformats.org/officeDocument/2006/relationships/image" Target="/ppt/media/image10.png" Id="R763bef52c3954bf3" /><Relationship Type="http://schemas.openxmlformats.org/officeDocument/2006/relationships/image" Target="/ppt/media/image11.png" Id="Rb4bca7d6bf8049f0" /><Relationship Type="http://schemas.openxmlformats.org/officeDocument/2006/relationships/notesSlide" Target="/ppt/notesSlides/notesSlide21.xml" Id="R155bd4af0fdb4c0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6a82087f9c04430f" /><Relationship Type="http://schemas.openxmlformats.org/officeDocument/2006/relationships/image" Target="/ppt/media/image10.png" Id="R3b05617ef5fc4e28" /><Relationship Type="http://schemas.openxmlformats.org/officeDocument/2006/relationships/notesSlide" Target="/ppt/notesSlides/notesSlide22.xml" Id="R683a6d31385e41b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4b8722338136458d" /><Relationship Type="http://schemas.openxmlformats.org/officeDocument/2006/relationships/image" Target="/ppt/media/image10.png" Id="Rebb3b3fad54e4df4" /><Relationship Type="http://schemas.openxmlformats.org/officeDocument/2006/relationships/notesSlide" Target="/ppt/notesSlides/notesSlide23.xml" Id="R21fd243cea9f41b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a4fe180623f14e82" /><Relationship Type="http://schemas.openxmlformats.org/officeDocument/2006/relationships/image" Target="/ppt/media/image10.png" Id="R27d0064d573d4e12" /><Relationship Type="http://schemas.openxmlformats.org/officeDocument/2006/relationships/notesSlide" Target="/ppt/notesSlides/notesSlide24.xml" Id="R3661b75836f847f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ac532d8349fd4093" /><Relationship Type="http://schemas.openxmlformats.org/officeDocument/2006/relationships/notesSlide" Target="/ppt/notesSlides/notesSlide25.xml" Id="Rc02fb5fd07544f6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72ed978622a04dca" /><Relationship Type="http://schemas.openxmlformats.org/officeDocument/2006/relationships/image" Target="/ppt/media/image12.png" Id="R0a52e69d10fd477c" /><Relationship Type="http://schemas.openxmlformats.org/officeDocument/2006/relationships/image" Target="/ppt/media/image13.png" Id="Rfb4456d4574d4671" /><Relationship Type="http://schemas.openxmlformats.org/officeDocument/2006/relationships/notesSlide" Target="/ppt/notesSlides/notesSlide26.xml" Id="Rc6ea2e0246544a8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8345464a387747b1" /><Relationship Type="http://schemas.openxmlformats.org/officeDocument/2006/relationships/image" Target="/ppt/media/image12.png" Id="R1ea699f3c00642a3" /><Relationship Type="http://schemas.openxmlformats.org/officeDocument/2006/relationships/notesSlide" Target="/ppt/notesSlides/notesSlide27.xml" Id="Rc15a236d8cf244f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87a4a4c5f9a44dfb" /><Relationship Type="http://schemas.openxmlformats.org/officeDocument/2006/relationships/image" Target="/ppt/media/image12.png" Id="Rcabb0861017f4d22" /><Relationship Type="http://schemas.openxmlformats.org/officeDocument/2006/relationships/notesSlide" Target="/ppt/notesSlides/notesSlide28.xml" Id="Ra1ffd14bee454a7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b42bfe8aef9641e1" /><Relationship Type="http://schemas.openxmlformats.org/officeDocument/2006/relationships/image" Target="/ppt/media/image12.png" Id="R1737340538db48d0" /><Relationship Type="http://schemas.openxmlformats.org/officeDocument/2006/relationships/notesSlide" Target="/ppt/notesSlides/notesSlide29.xml" Id="Ra0a8bc215cce43c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bf81ade3154745f7" /><Relationship Type="http://schemas.openxmlformats.org/officeDocument/2006/relationships/notesSlide" Target="/ppt/notesSlides/notesSlide30.xml" Id="Rcd915809d2614ab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b0ad227544774ae0" /><Relationship Type="http://schemas.openxmlformats.org/officeDocument/2006/relationships/image" Target="/ppt/media/image14.png" Id="Rabd1cf7ae24d4a05" /><Relationship Type="http://schemas.openxmlformats.org/officeDocument/2006/relationships/image" Target="/ppt/media/image15.png" Id="R486bf5034bbd49b8" /><Relationship Type="http://schemas.openxmlformats.org/officeDocument/2006/relationships/notesSlide" Target="/ppt/notesSlides/notesSlide31.xml" Id="R912649d1e0df469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840a2f7c61f44871" /><Relationship Type="http://schemas.openxmlformats.org/officeDocument/2006/relationships/image" Target="/ppt/media/image14.png" Id="R6a11bb974a834dc1" /><Relationship Type="http://schemas.openxmlformats.org/officeDocument/2006/relationships/notesSlide" Target="/ppt/notesSlides/notesSlide32.xml" Id="Re34cc7e9dd2b4fd9"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732f88ce10e046ee" /><Relationship Type="http://schemas.openxmlformats.org/officeDocument/2006/relationships/image" Target="/ppt/media/image14.png" Id="Rcd62fc516e3b47ca" /><Relationship Type="http://schemas.openxmlformats.org/officeDocument/2006/relationships/notesSlide" Target="/ppt/notesSlides/notesSlide33.xml" Id="R774137e56df44bd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fc78c4e8034340c1" /><Relationship Type="http://schemas.openxmlformats.org/officeDocument/2006/relationships/image" Target="/ppt/media/image14.png" Id="Rc13a8383b05c4c1c" /><Relationship Type="http://schemas.openxmlformats.org/officeDocument/2006/relationships/notesSlide" Target="/ppt/notesSlides/notesSlide34.xml" Id="R2fd5b88b0ad34ac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52f681f51f1f46a7" /><Relationship Type="http://schemas.openxmlformats.org/officeDocument/2006/relationships/notesSlide" Target="/ppt/notesSlides/notesSlide35.xml" Id="R354f29854f334be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e05f247de0694af0" /><Relationship Type="http://schemas.openxmlformats.org/officeDocument/2006/relationships/image" Target="/ppt/media/image16.png" Id="Rc357d4ba33254611" /><Relationship Type="http://schemas.openxmlformats.org/officeDocument/2006/relationships/image" Target="/ppt/media/image17.png" Id="Re2def76d77e647f0" /><Relationship Type="http://schemas.openxmlformats.org/officeDocument/2006/relationships/notesSlide" Target="/ppt/notesSlides/notesSlide36.xml" Id="R46ff0a68c15b4a6d"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9e4abc5eb1574855" /><Relationship Type="http://schemas.openxmlformats.org/officeDocument/2006/relationships/image" Target="/ppt/media/image16.png" Id="Ra0b16df99a53416e" /><Relationship Type="http://schemas.openxmlformats.org/officeDocument/2006/relationships/notesSlide" Target="/ppt/notesSlides/notesSlide37.xml" Id="R0ac7b97d8fb347fe"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1e917782cef04cc4" /><Relationship Type="http://schemas.openxmlformats.org/officeDocument/2006/relationships/image" Target="/ppt/media/image16.png" Id="R14536e9b320d4d62" /><Relationship Type="http://schemas.openxmlformats.org/officeDocument/2006/relationships/notesSlide" Target="/ppt/notesSlides/notesSlide38.xml" Id="R9bc07d35e02c4f0d"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ddec50ef9bb44225" /><Relationship Type="http://schemas.openxmlformats.org/officeDocument/2006/relationships/image" Target="/ppt/media/image16.png" Id="R3d973e86015240ae" /><Relationship Type="http://schemas.openxmlformats.org/officeDocument/2006/relationships/notesSlide" Target="/ppt/notesSlides/notesSlide39.xml" Id="R6d678a17b1824a1f"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18fe68c344b04bc6" /><Relationship Type="http://schemas.openxmlformats.org/officeDocument/2006/relationships/notesSlide" Target="/ppt/notesSlides/notesSlide40.xml" Id="Rde673ac0e2154347"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aaa339cfd0f944c6" /><Relationship Type="http://schemas.openxmlformats.org/officeDocument/2006/relationships/image" Target="/ppt/media/image18.png" Id="Rbf9f202816f84584" /><Relationship Type="http://schemas.openxmlformats.org/officeDocument/2006/relationships/notesSlide" Target="/ppt/notesSlides/notesSlide41.xml" Id="Rab51f44f35e2463d"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9aacb926d3714330" /><Relationship Type="http://schemas.openxmlformats.org/officeDocument/2006/relationships/image" Target="/ppt/media/image18.png" Id="R64bdab349af54942" /><Relationship Type="http://schemas.openxmlformats.org/officeDocument/2006/relationships/notesSlide" Target="/ppt/notesSlides/notesSlide42.xml" Id="R964d0273a6b34d61"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b7b71ca8c7a349dd" /><Relationship Type="http://schemas.openxmlformats.org/officeDocument/2006/relationships/image" Target="/ppt/media/image18.png" Id="Ra084e02f62b94e09" /><Relationship Type="http://schemas.openxmlformats.org/officeDocument/2006/relationships/notesSlide" Target="/ppt/notesSlides/notesSlide43.xml" Id="R013ae8269e344b38"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d2ef2a9f44724862" /><Relationship Type="http://schemas.openxmlformats.org/officeDocument/2006/relationships/image" Target="/ppt/media/image18.png" Id="R48fd9dd385f54a5d" /><Relationship Type="http://schemas.openxmlformats.org/officeDocument/2006/relationships/notesSlide" Target="/ppt/notesSlides/notesSlide44.xml" Id="Rcad43224a5c94daa"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5a2c4bcb92f74500" /><Relationship Type="http://schemas.openxmlformats.org/officeDocument/2006/relationships/image" Target="/ppt/media/image19.png" Id="Rd733b85941c24251" /><Relationship Type="http://schemas.openxmlformats.org/officeDocument/2006/relationships/notesSlide" Target="/ppt/notesSlides/notesSlide45.xml" Id="R7d879f3045a04075"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cdfbd4c3948f4855" /><Relationship Type="http://schemas.openxmlformats.org/officeDocument/2006/relationships/image" Target="/ppt/media/image20.png" Id="Ra87d7424a9b94796" /><Relationship Type="http://schemas.openxmlformats.org/officeDocument/2006/relationships/notesSlide" Target="/ppt/notesSlides/notesSlide46.xml" Id="R3939a93c58b440e0"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dfef707fae264302" /><Relationship Type="http://schemas.openxmlformats.org/officeDocument/2006/relationships/notesSlide" Target="/ppt/notesSlides/notesSlide47.xml" Id="Rc67cd70505084df1"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9d460743efa1493d" /><Relationship Type="http://schemas.openxmlformats.org/officeDocument/2006/relationships/image" Target="/ppt/media/image21.png" Id="R9a8353fa601a4964" /><Relationship Type="http://schemas.openxmlformats.org/officeDocument/2006/relationships/notesSlide" Target="/ppt/notesSlides/notesSlide48.xml" Id="Rd04ee34f6e4c4481"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6214bb51deec4738" /><Relationship Type="http://schemas.openxmlformats.org/officeDocument/2006/relationships/image" Target="/ppt/media/image21.png" Id="R32ab75c7cb124741" /><Relationship Type="http://schemas.openxmlformats.org/officeDocument/2006/relationships/notesSlide" Target="/ppt/notesSlides/notesSlide49.xml" Id="Ref7026a472984e78"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a9433e6698474d13" /><Relationship Type="http://schemas.openxmlformats.org/officeDocument/2006/relationships/image" Target="/ppt/media/image22.png" Id="R8d2b5ac19b2e49f9" /><Relationship Type="http://schemas.openxmlformats.org/officeDocument/2006/relationships/notesSlide" Target="/ppt/notesSlides/notesSlide50.xml" Id="R784a79071b8642ba"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1575f3459b854dfa" /><Relationship Type="http://schemas.openxmlformats.org/officeDocument/2006/relationships/image" Target="/ppt/media/image23.png" Id="Ra309d217b82a47d1" /><Relationship Type="http://schemas.openxmlformats.org/officeDocument/2006/relationships/notesSlide" Target="/ppt/notesSlides/notesSlide51.xml" Id="R63a88fa741354289"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03c18c3474484e33" /><Relationship Type="http://schemas.openxmlformats.org/officeDocument/2006/relationships/image" Target="/ppt/media/image23.png" Id="R652b960a887842ce" /><Relationship Type="http://schemas.openxmlformats.org/officeDocument/2006/relationships/notesSlide" Target="/ppt/notesSlides/notesSlide52.xml" Id="Rfef8853d53224047"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a073b912874b4e05" /><Relationship Type="http://schemas.openxmlformats.org/officeDocument/2006/relationships/notesSlide" Target="/ppt/notesSlides/notesSlide53.xml" Id="R30b9d12629734aa5" /></Relationships>
</file>

<file path=ppt/slides/_rels/slide54.xml.rels>&#65279;<?xml version="1.0" encoding="utf-8"?><Relationships xmlns="http://schemas.openxmlformats.org/package/2006/relationships"><Relationship Type="http://schemas.openxmlformats.org/officeDocument/2006/relationships/slideLayout" Target="/ppt/slideLayouts/slideLayout2.xml" Id="R0931716e79284181" /><Relationship Type="http://schemas.openxmlformats.org/officeDocument/2006/relationships/image" Target="/ppt/media/image24.png" Id="R7673f1ca6b40458c" /><Relationship Type="http://schemas.openxmlformats.org/officeDocument/2006/relationships/notesSlide" Target="/ppt/notesSlides/notesSlide54.xml" Id="R1bf13fdf3a024e11" /></Relationships>
</file>

<file path=ppt/slides/_rels/slide55.xml.rels>&#65279;<?xml version="1.0" encoding="utf-8"?><Relationships xmlns="http://schemas.openxmlformats.org/package/2006/relationships"><Relationship Type="http://schemas.openxmlformats.org/officeDocument/2006/relationships/slideLayout" Target="/ppt/slideLayouts/slideLayout2.xml" Id="R429843551bdd46f0" /><Relationship Type="http://schemas.openxmlformats.org/officeDocument/2006/relationships/image" Target="/ppt/media/image24.png" Id="R2579343fe1274757" /><Relationship Type="http://schemas.openxmlformats.org/officeDocument/2006/relationships/notesSlide" Target="/ppt/notesSlides/notesSlide55.xml" Id="Rd9fd5e443a1c4125" /></Relationships>
</file>

<file path=ppt/slides/_rels/slide56.xml.rels>&#65279;<?xml version="1.0" encoding="utf-8"?><Relationships xmlns="http://schemas.openxmlformats.org/package/2006/relationships"><Relationship Type="http://schemas.openxmlformats.org/officeDocument/2006/relationships/slideLayout" Target="/ppt/slideLayouts/slideLayout2.xml" Id="R2425112f57e64290" /><Relationship Type="http://schemas.openxmlformats.org/officeDocument/2006/relationships/notesSlide" Target="/ppt/notesSlides/notesSlide56.xml" Id="R6a0201c951a34960" /></Relationships>
</file>

<file path=ppt/slides/_rels/slide57.xml.rels>&#65279;<?xml version="1.0" encoding="utf-8"?><Relationships xmlns="http://schemas.openxmlformats.org/package/2006/relationships"><Relationship Type="http://schemas.openxmlformats.org/officeDocument/2006/relationships/slideLayout" Target="/ppt/slideLayouts/slideLayout2.xml" Id="R8c2a070f4f1c4ea4" /><Relationship Type="http://schemas.openxmlformats.org/officeDocument/2006/relationships/notesSlide" Target="/ppt/notesSlides/notesSlide57.xml" Id="R61cb1f911be044d2"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C0EDDABE-F424-4A42-85D7-A20544FBB306}"/>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B3A39C96-56F4-4610-8FB2-22DC6918AFE3}"/>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4B07BA98-7E8A-40B3-A795-7529501E153D}"/>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B3CC5128-210F-4413-B247-FFF9BB4BA19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1500875557"/>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4">
            <a:extLst xmlns:a="http://schemas.openxmlformats.org/drawingml/2006/main">
              <a:ext uri="{FF2B5EF4-FFF2-40B4-BE49-F238E27FC236}">
                <a16:creationId xmlns:a16="http://schemas.microsoft.com/office/drawing/2014/main" id="{3CD2B9FC-7FE6-45D8-90E8-11EFB62B2503}"/>
              </a:ext>
            </a:extLst>
          </p:cNvPr>
          <p:cNvSpPr>
            <a:spLocks xmlns:a="http://schemas.openxmlformats.org/drawingml/2006/main"/>
          </p:cNvSpPr>
          <p:nvPr/>
        </p:nvSpPr>
        <p:spPr>
          <a:xfrm xmlns:a="http://schemas.openxmlformats.org/drawingml/2006/main">
            <a:off x="609600" y="2260600"/>
            <a:ext cx="10972800" cy="233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demo    = </a:t>
            </a:r>
            <a:r>
              <a:rPr b="0">
                <a:solidFill>
                  <a:srgbClr val="FFFCF5"/>
                </a:solidFill>
                <a:latin typeface="Consolas"/>
                <a:ea typeface="Consolas"/>
                <a:cs typeface="Consolas"/>
              </a:rPr>
              <a:t>works</a:t>
            </a:r>
            <a:r>
              <a:rPr b="0">
                <a:solidFill>
                  <a:srgbClr val="FDAD00"/>
                </a:solidFill>
                <a:latin typeface="Consolas"/>
                <a:ea typeface="Consolas"/>
                <a:cs typeface="Consolas"/>
              </a:rPr>
              <a:t>.any()</a:t>
            </a:r>
          </a:p>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product =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6" name="01-text-5">
            <a:extLst xmlns:a="http://schemas.openxmlformats.org/drawingml/2006/main">
              <a:ext uri="{FF2B5EF4-FFF2-40B4-BE49-F238E27FC236}">
                <a16:creationId xmlns:a16="http://schemas.microsoft.com/office/drawing/2014/main" id="{3ED2990B-D89F-4F2C-9D82-EE2CFCCF57F5}"/>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Andrej Karpathy, June 2025</a:t>
            </a:r>
          </a:p>
        </p:txBody>
      </p:sp>
      <p:sp>
        <p:nvSpPr>
          <p:cNvPr id="7" name="narrative-number">
            <a:extLst xmlns:a="http://schemas.openxmlformats.org/drawingml/2006/main">
              <a:ext uri="{FF2B5EF4-FFF2-40B4-BE49-F238E27FC236}">
                <a16:creationId xmlns:a16="http://schemas.microsoft.com/office/drawing/2014/main" id="{77D9A3EC-8918-449B-9D00-FA3687D289A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2932383708"/>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5" name="02-image-1"/>
          <p:cNvPicPr>
            <a:picLocks xmlns:a="http://schemas.openxmlformats.org/drawingml/2006/main" noChangeAspect="1"/>
          </p:cNvPicPr>
          <p:nvPr/>
        </p:nvPicPr>
        <p:blipFill>
          <a:blip xmlns:r="http://schemas.openxmlformats.org/officeDocument/2006/relationships" xmlns:a="http://schemas.openxmlformats.org/drawingml/2006/main" r:embed="R83787e0a64374fa4"/>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9" name="02-text-2">
            <a:extLst xmlns:a="http://schemas.openxmlformats.org/drawingml/2006/main">
              <a:ext uri="{FF2B5EF4-FFF2-40B4-BE49-F238E27FC236}">
                <a16:creationId xmlns:a16="http://schemas.microsoft.com/office/drawing/2014/main" id="{8A9F7B6D-1135-41BF-A3C6-785A77AD004B}"/>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10" name="02-text-3">
            <a:extLst xmlns:a="http://schemas.openxmlformats.org/drawingml/2006/main">
              <a:ext uri="{FF2B5EF4-FFF2-40B4-BE49-F238E27FC236}">
                <a16:creationId xmlns:a16="http://schemas.microsoft.com/office/drawing/2014/main" id="{9262C7A4-EEFE-42C7-ADA3-D3BE37D83DCD}"/>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11" name="02-text-4">
            <a:extLst xmlns:a="http://schemas.openxmlformats.org/drawingml/2006/main">
              <a:ext uri="{FF2B5EF4-FFF2-40B4-BE49-F238E27FC236}">
                <a16:creationId xmlns:a16="http://schemas.microsoft.com/office/drawing/2014/main" id="{564C2082-DA9C-4C8C-B2A9-805B350FC59A}"/>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12" name="02-text-5">
            <a:extLst xmlns:a="http://schemas.openxmlformats.org/drawingml/2006/main">
              <a:ext uri="{FF2B5EF4-FFF2-40B4-BE49-F238E27FC236}">
                <a16:creationId xmlns:a16="http://schemas.microsoft.com/office/drawing/2014/main" id="{8F8FA5BB-7D13-45A1-8033-2222230CABD3}"/>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3" name="02-text-6">
            <a:extLst xmlns:a="http://schemas.openxmlformats.org/drawingml/2006/main">
              <a:ext uri="{FF2B5EF4-FFF2-40B4-BE49-F238E27FC236}">
                <a16:creationId xmlns:a16="http://schemas.microsoft.com/office/drawing/2014/main" id="{52AB8C66-9CD7-459A-8BD6-92A2DF94A960}"/>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4" name="narrative-number">
            <a:extLst xmlns:a="http://schemas.openxmlformats.org/drawingml/2006/main">
              <a:ext uri="{FF2B5EF4-FFF2-40B4-BE49-F238E27FC236}">
                <a16:creationId xmlns:a16="http://schemas.microsoft.com/office/drawing/2014/main" id="{F5EE94EF-28CC-412F-9C31-99BD01FF0D7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3849764101"/>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 name="03-text-1">
            <a:extLst xmlns:a="http://schemas.openxmlformats.org/drawingml/2006/main">
              <a:ext uri="{FF2B5EF4-FFF2-40B4-BE49-F238E27FC236}">
                <a16:creationId xmlns:a16="http://schemas.microsoft.com/office/drawing/2014/main" id="{B41EA991-0EF4-4035-A1A3-1D0F84CEC128}"/>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16" name="03-text-2">
            <a:extLst xmlns:a="http://schemas.openxmlformats.org/drawingml/2006/main">
              <a:ext uri="{FF2B5EF4-FFF2-40B4-BE49-F238E27FC236}">
                <a16:creationId xmlns:a16="http://schemas.microsoft.com/office/drawing/2014/main" id="{838E9520-DDC6-4335-846D-9B5466FB9D23}"/>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17" name="narrative-number">
            <a:extLst xmlns:a="http://schemas.openxmlformats.org/drawingml/2006/main">
              <a:ext uri="{FF2B5EF4-FFF2-40B4-BE49-F238E27FC236}">
                <a16:creationId xmlns:a16="http://schemas.microsoft.com/office/drawing/2014/main" id="{C508818C-7377-44A9-B8C7-1D53C32CF2C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1226594985"/>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graphicFrame>
        <p:nvGraphicFramePr>
          <p:cNvPr id="20" name="04-table-1"/>
          <p:cNvGraphicFramePr/>
          <p:nvPr/>
        </p:nvGraphicFramePr>
        <p:xfrm>
          <a:off xmlns:a="http://schemas.openxmlformats.org/drawingml/2006/main" x="609600" y="863600"/>
          <a:ext xmlns:a="http://schemas.openxmlformats.org/drawingml/2006/main" cx="10972800" cy="4648200"/>
        </p:xfrm>
        <a:graphic xmlns:a="http://schemas.openxmlformats.org/drawingml/2006/main">
          <a:graphicData uri="http://schemas.openxmlformats.org/drawingml/2006/table">
            <a:tbl>
              <a:tblPr firstRow="0" firstCol="0" lastCol="0" bandRow="0" bandCol="0"/>
              <a:tblGrid>
                <a:gridCol w="5334000"/>
                <a:gridCol w="304800"/>
                <a:gridCol w="5334000"/>
              </a:tblGrid>
              <a:tr h="1143000">
                <a:tc>
                  <a:txBody>
                    <a:bodyPr>
                      <a:noAutofit/>
                    </a:bodyPr>
                    <a:lstStyle/>
                    <a:p>
                      <a:pPr>
                        <a:lnSpc>
                          <a:spcPct val="125000"/>
                        </a:lnSpc>
                        <a:buNone/>
                      </a:pPr>
                      <a:r>
                        <a:rPr sz="2400" b="1">
                          <a:solidFill>
                            <a:srgbClr val="F948BE"/>
                          </a:solidFill>
                          <a:latin typeface="Helvetica"/>
                          <a:ea typeface="Helvetica"/>
                          <a:cs typeface="Helvetica"/>
                        </a:rPr>
                        <a:t>AI in your development</a:t>
                      </a:r>
                    </a:p>
                    <a:p>
                      <a:pPr>
                        <a:lnSpc>
                          <a:spcPct val="125000"/>
                        </a:lnSpc>
                        <a:buNone/>
                      </a:pPr>
                      <a:r>
                        <a:rPr sz="2400" b="1">
                          <a:solidFill>
                            <a:srgbClr val="F948BE"/>
                          </a:solidFill>
                          <a:latin typeface="Helvetica"/>
                          <a:ea typeface="Helvetica"/>
                          <a:cs typeface="Helvetica"/>
                        </a:rPr>
                        <a:t>workflow</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AI in the product</a:t>
                      </a:r>
                    </a:p>
                    <a:p>
                      <a:pPr>
                        <a:lnSpc>
                          <a:spcPct val="125000"/>
                        </a:lnSpc>
                        <a:buNone/>
                      </a:pPr>
                      <a:r>
                        <a:rPr sz="2400" b="1">
                          <a:solidFill>
                            <a:srgbClr val="F948BE"/>
                          </a:solidFill>
                          <a:latin typeface="Helvetica"/>
                          <a:ea typeface="Helvetica"/>
                          <a:cs typeface="Helvetica"/>
                        </a:rPr>
                        <a:t>you deliver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193800">
                <a:tc>
                  <a:txBody>
                    <a:bodyPr>
                      <a:noAutofit/>
                    </a:bodyPr>
                    <a:lstStyle/>
                    <a:p>
                      <a:pPr>
                        <a:lnSpc>
                          <a:spcPct val="125000"/>
                        </a:lnSpc>
                        <a:buNone/>
                      </a:pPr>
                      <a:r>
                        <a:rPr sz="2000" b="0">
                          <a:solidFill>
                            <a:srgbClr val="FFFCF5"/>
                          </a:solidFill>
                          <a:latin typeface="Helvetica"/>
                          <a:ea typeface="Helvetica"/>
                          <a:cs typeface="Helvetica"/>
                        </a:rPr>
                        <a:t>You use model output to help</a:t>
                      </a:r>
                    </a:p>
                    <a:p>
                      <a:pPr>
                        <a:lnSpc>
                          <a:spcPct val="125000"/>
                        </a:lnSpc>
                        <a:buNone/>
                      </a:pPr>
                      <a:r>
                        <a:rPr sz="2000" b="0">
                          <a:solidFill>
                            <a:srgbClr val="FFFCF5"/>
                          </a:solidFill>
                          <a:latin typeface="Helvetica"/>
                          <a:ea typeface="Helvetica"/>
                          <a:cs typeface="Helvetica"/>
                        </a:rPr>
                        <a:t>build an artifact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Users depend on model output or</a:t>
                      </a:r>
                    </a:p>
                    <a:p>
                      <a:pPr>
                        <a:lnSpc>
                          <a:spcPct val="125000"/>
                        </a:lnSpc>
                        <a:buNone/>
                      </a:pPr>
                      <a:r>
                        <a:rPr sz="2000" b="0">
                          <a:solidFill>
                            <a:srgbClr val="FFFCF5"/>
                          </a:solidFill>
                          <a:latin typeface="Helvetica"/>
                          <a:ea typeface="Helvetica"/>
                          <a:cs typeface="Helvetica"/>
                        </a:rPr>
                        <a:t>decisions during operation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041400">
                <a:tc>
                  <a:txBody>
                    <a:bodyPr>
                      <a:noAutofit/>
                    </a:bodyPr>
                    <a:lstStyle/>
                    <a:p>
                      <a:pPr>
                        <a:lnSpc>
                          <a:spcPct val="125000"/>
                        </a:lnSpc>
                        <a:buNone/>
                      </a:pPr>
                      <a:r>
                        <a:rPr sz="2000" b="0">
                          <a:solidFill>
                            <a:srgbClr val="FFFCF5"/>
                          </a:solidFill>
                          <a:latin typeface="Helvetica"/>
                          <a:ea typeface="Helvetica"/>
                          <a:cs typeface="Helvetica"/>
                        </a:rPr>
                        <a:t>You decide what to accept and ship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 design checks, approval steps,</a:t>
                      </a:r>
                    </a:p>
                    <a:p>
                      <a:pPr>
                        <a:lnSpc>
                          <a:spcPct val="125000"/>
                        </a:lnSpc>
                        <a:buNone/>
                      </a:pPr>
                      <a:r>
                        <a:rPr sz="2000" b="0">
                          <a:solidFill>
                            <a:srgbClr val="FFFCF5"/>
                          </a:solidFill>
                          <a:latin typeface="Helvetica"/>
                          <a:ea typeface="Helvetica"/>
                          <a:cs typeface="Helvetica"/>
                        </a:rPr>
                        <a:t>and failure handling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270000">
                <a:tc>
                  <a:txBody>
                    <a:bodyPr>
                      <a:noAutofit/>
                    </a:bodyPr>
                    <a:lstStyle/>
                    <a:p>
                      <a:pPr>
                        <a:lnSpc>
                          <a:spcPct val="125000"/>
                        </a:lnSpc>
                        <a:buNone/>
                      </a:pPr>
                      <a:r>
                        <a:rPr sz="2000" b="0">
                          <a:solidFill>
                            <a:srgbClr val="FFFCF5"/>
                          </a:solidFill>
                          <a:latin typeface="Helvetica"/>
                          <a:ea typeface="Helvetica"/>
                          <a:cs typeface="Helvetica"/>
                        </a:rPr>
                        <a:t>Your coding-tool provider operates</a:t>
                      </a:r>
                    </a:p>
                    <a:p>
                      <a:pPr>
                        <a:lnSpc>
                          <a:spcPct val="125000"/>
                        </a:lnSpc>
                        <a:buNone/>
                      </a:pPr>
                      <a:r>
                        <a:rPr sz="2000" b="0">
                          <a:solidFill>
                            <a:srgbClr val="FFFCF5"/>
                          </a:solidFill>
                          <a:latin typeface="Helvetica"/>
                          <a:ea typeface="Helvetica"/>
                          <a:cs typeface="Helvetica"/>
                        </a:rPr>
                        <a:t>the agent platform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Your team owns the product's</a:t>
                      </a:r>
                    </a:p>
                    <a:p>
                      <a:pPr>
                        <a:lnSpc>
                          <a:spcPct val="125000"/>
                        </a:lnSpc>
                        <a:buNone/>
                      </a:pPr>
                      <a:r>
                        <a:rPr sz="2000" b="0">
                          <a:solidFill>
                            <a:srgbClr val="FFFCF5"/>
                          </a:solidFill>
                          <a:latin typeface="Helvetica"/>
                          <a:ea typeface="Helvetica"/>
                          <a:cs typeface="Helvetica"/>
                        </a:rPr>
                        <a:t>behavior and operating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9" name="narrative-number">
            <a:extLst xmlns:a="http://schemas.openxmlformats.org/drawingml/2006/main">
              <a:ext uri="{FF2B5EF4-FFF2-40B4-BE49-F238E27FC236}">
                <a16:creationId xmlns:a16="http://schemas.microsoft.com/office/drawing/2014/main" id="{E8A745B8-A9FF-4601-89E9-40159020418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3140980442"/>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 name="04-text-2">
            <a:extLst xmlns:a="http://schemas.openxmlformats.org/drawingml/2006/main">
              <a:ext uri="{FF2B5EF4-FFF2-40B4-BE49-F238E27FC236}">
                <a16:creationId xmlns:a16="http://schemas.microsoft.com/office/drawing/2014/main" id="{198D915E-E498-4C83-ADB7-165CD6AAAFE6}"/>
              </a:ext>
            </a:extLst>
          </p:cNvPr>
          <p:cNvSpPr>
            <a:spLocks xmlns:a="http://schemas.openxmlformats.org/drawingml/2006/main"/>
          </p:cNvSpPr>
          <p:nvPr/>
        </p:nvSpPr>
        <p:spPr>
          <a:xfrm xmlns:a="http://schemas.openxmlformats.org/drawingml/2006/main">
            <a:off x="1397000" y="1676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21" name="04-text-3">
            <a:extLst xmlns:a="http://schemas.openxmlformats.org/drawingml/2006/main">
              <a:ext uri="{FF2B5EF4-FFF2-40B4-BE49-F238E27FC236}">
                <a16:creationId xmlns:a16="http://schemas.microsoft.com/office/drawing/2014/main" id="{DF279D56-0272-437F-8EB8-A5E8D66E9FFF}"/>
              </a:ext>
            </a:extLst>
          </p:cNvPr>
          <p:cNvSpPr>
            <a:spLocks xmlns:a="http://schemas.openxmlformats.org/drawingml/2006/main"/>
          </p:cNvSpPr>
          <p:nvPr/>
        </p:nvSpPr>
        <p:spPr>
          <a:xfrm xmlns:a="http://schemas.openxmlformats.org/drawingml/2006/main">
            <a:off x="1905000" y="1676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compelling prototype is not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 production readiness.</a:t>
            </a:r>
          </a:p>
        </p:txBody>
      </p:sp>
      <p:sp>
        <p:nvSpPr>
          <p:cNvPr id="22" name="04-text-4">
            <a:extLst xmlns:a="http://schemas.openxmlformats.org/drawingml/2006/main">
              <a:ext uri="{FF2B5EF4-FFF2-40B4-BE49-F238E27FC236}">
                <a16:creationId xmlns:a16="http://schemas.microsoft.com/office/drawing/2014/main" id="{66A85B67-6A2D-473E-A45D-1C7C7B1498AA}"/>
              </a:ext>
            </a:extLst>
          </p:cNvPr>
          <p:cNvSpPr>
            <a:spLocks xmlns:a="http://schemas.openxmlformats.org/drawingml/2006/main"/>
          </p:cNvSpPr>
          <p:nvPr/>
        </p:nvSpPr>
        <p:spPr>
          <a:xfrm xmlns:a="http://schemas.openxmlformats.org/drawingml/2006/main">
            <a:off x="1397000" y="3200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23" name="04-text-5">
            <a:extLst xmlns:a="http://schemas.openxmlformats.org/drawingml/2006/main">
              <a:ext uri="{FF2B5EF4-FFF2-40B4-BE49-F238E27FC236}">
                <a16:creationId xmlns:a16="http://schemas.microsoft.com/office/drawing/2014/main" id="{21D746D9-B5B1-4958-9956-2F3C91A31C74}"/>
              </a:ext>
            </a:extLst>
          </p:cNvPr>
          <p:cNvSpPr>
            <a:spLocks xmlns:a="http://schemas.openxmlformats.org/drawingml/2006/main"/>
          </p:cNvSpPr>
          <p:nvPr/>
        </p:nvSpPr>
        <p:spPr>
          <a:xfrm xmlns:a="http://schemas.openxmlformats.org/drawingml/2006/main">
            <a:off x="1905000" y="3200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Traditional tests are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but no longer sufficient.</a:t>
            </a:r>
          </a:p>
        </p:txBody>
      </p:sp>
      <p:sp>
        <p:nvSpPr>
          <p:cNvPr id="24" name="04-text-6">
            <a:extLst xmlns:a="http://schemas.openxmlformats.org/drawingml/2006/main">
              <a:ext uri="{FF2B5EF4-FFF2-40B4-BE49-F238E27FC236}">
                <a16:creationId xmlns:a16="http://schemas.microsoft.com/office/drawing/2014/main" id="{F096F8A3-37FD-4DE8-9F98-C0513F25F6E0}"/>
              </a:ext>
            </a:extLst>
          </p:cNvPr>
          <p:cNvSpPr>
            <a:spLocks xmlns:a="http://schemas.openxmlformats.org/drawingml/2006/main"/>
          </p:cNvSpPr>
          <p:nvPr/>
        </p:nvSpPr>
        <p:spPr>
          <a:xfrm xmlns:a="http://schemas.openxmlformats.org/drawingml/2006/main">
            <a:off x="1397000" y="4724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25" name="04-text-7">
            <a:extLst xmlns:a="http://schemas.openxmlformats.org/drawingml/2006/main">
              <a:ext uri="{FF2B5EF4-FFF2-40B4-BE49-F238E27FC236}">
                <a16:creationId xmlns:a16="http://schemas.microsoft.com/office/drawing/2014/main" id="{9C8DD1DB-A6A0-4650-B092-9A656C070E08}"/>
              </a:ext>
            </a:extLst>
          </p:cNvPr>
          <p:cNvSpPr>
            <a:spLocks xmlns:a="http://schemas.openxmlformats.org/drawingml/2006/main"/>
          </p:cNvSpPr>
          <p:nvPr/>
        </p:nvSpPr>
        <p:spPr>
          <a:xfrm xmlns:a="http://schemas.openxmlformats.org/drawingml/2006/main">
            <a:off x="1905000" y="4724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does not stop at deployment.</a:t>
            </a:r>
          </a:p>
        </p:txBody>
      </p:sp>
      <p:sp>
        <p:nvSpPr>
          <p:cNvPr id="26" name="04-text-8">
            <a:extLst xmlns:a="http://schemas.openxmlformats.org/drawingml/2006/main">
              <a:ext uri="{FF2B5EF4-FFF2-40B4-BE49-F238E27FC236}">
                <a16:creationId xmlns:a16="http://schemas.microsoft.com/office/drawing/2014/main" id="{E731AC90-0674-4D61-8968-B1043572B435}"/>
              </a:ext>
            </a:extLst>
          </p:cNvPr>
          <p:cNvSpPr>
            <a:spLocks xmlns:a="http://schemas.openxmlformats.org/drawingml/2006/main"/>
          </p:cNvSpPr>
          <p:nvPr/>
        </p:nvSpPr>
        <p:spPr>
          <a:xfrm xmlns:a="http://schemas.openxmlformats.org/drawingml/2006/main">
            <a:off x="1905000" y="2603500"/>
            <a:ext cx="899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FFFCF5"/>
                </a:solidFill>
                <a:latin typeface="Consolas"/>
                <a:ea typeface="Consolas"/>
                <a:cs typeface="Consolas"/>
              </a:rPr>
              <a:t>works</a:t>
            </a:r>
            <a:r>
              <a:rPr b="0">
                <a:solidFill>
                  <a:srgbClr val="FDAD00"/>
                </a:solidFill>
                <a:latin typeface="Consolas"/>
                <a:ea typeface="Consolas"/>
                <a:cs typeface="Consolas"/>
              </a:rPr>
              <a:t>.any()</a:t>
            </a:r>
            <a:r>
              <a:rPr b="0">
                <a:solidFill>
                  <a:srgbClr val="ADACA9"/>
                </a:solidFill>
                <a:latin typeface="Helvetica"/>
                <a:ea typeface="Helvetica"/>
                <a:cs typeface="Helvetica"/>
              </a:rPr>
              <a:t> is not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27" name="narrative-number">
            <a:extLst xmlns:a="http://schemas.openxmlformats.org/drawingml/2006/main">
              <a:ext uri="{FF2B5EF4-FFF2-40B4-BE49-F238E27FC236}">
                <a16:creationId xmlns:a16="http://schemas.microsoft.com/office/drawing/2014/main" id="{20CD605C-AF77-4A96-B604-0D28D294014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2139497978"/>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 name="05-text-1">
            <a:extLst xmlns:a="http://schemas.openxmlformats.org/drawingml/2006/main">
              <a:ext uri="{FF2B5EF4-FFF2-40B4-BE49-F238E27FC236}">
                <a16:creationId xmlns:a16="http://schemas.microsoft.com/office/drawing/2014/main" id="{25D8E588-9907-43E8-B257-988A5A6BAFE5}"/>
              </a:ext>
            </a:extLst>
          </p:cNvPr>
          <p:cNvSpPr>
            <a:spLocks xmlns:a="http://schemas.openxmlformats.org/drawingml/2006/main"/>
          </p:cNvSpPr>
          <p:nvPr/>
        </p:nvSpPr>
        <p:spPr>
          <a:xfrm xmlns:a="http://schemas.openxmlformats.org/drawingml/2006/main">
            <a:off x="609600" y="8636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You will leave with</a:t>
            </a:r>
          </a:p>
        </p:txBody>
      </p:sp>
      <p:sp>
        <p:nvSpPr>
          <p:cNvPr id="29" name="05-text-2">
            <a:extLst xmlns:a="http://schemas.openxmlformats.org/drawingml/2006/main">
              <a:ext uri="{FF2B5EF4-FFF2-40B4-BE49-F238E27FC236}">
                <a16:creationId xmlns:a16="http://schemas.microsoft.com/office/drawing/2014/main" id="{AA826FF6-95E3-4F86-9991-89A245CC3E8B}"/>
              </a:ext>
            </a:extLst>
          </p:cNvPr>
          <p:cNvSpPr>
            <a:spLocks xmlns:a="http://schemas.openxmlformats.org/drawingml/2006/main"/>
          </p:cNvSpPr>
          <p:nvPr/>
        </p:nvSpPr>
        <p:spPr>
          <a:xfrm xmlns:a="http://schemas.openxmlformats.org/drawingml/2006/main">
            <a:off x="6248400" y="8636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Agenda</a:t>
            </a:r>
          </a:p>
        </p:txBody>
      </p:sp>
      <p:sp>
        <p:nvSpPr>
          <p:cNvPr id="30" name="05-text-3">
            <a:extLst xmlns:a="http://schemas.openxmlformats.org/drawingml/2006/main">
              <a:ext uri="{FF2B5EF4-FFF2-40B4-BE49-F238E27FC236}">
                <a16:creationId xmlns:a16="http://schemas.microsoft.com/office/drawing/2014/main" id="{54725220-0230-4A0C-9F28-EB5180B13BEA}"/>
              </a:ext>
            </a:extLst>
          </p:cNvPr>
          <p:cNvSpPr>
            <a:spLocks xmlns:a="http://schemas.openxmlformats.org/drawingml/2006/main"/>
          </p:cNvSpPr>
          <p:nvPr/>
        </p:nvSpPr>
        <p:spPr>
          <a:xfrm xmlns:a="http://schemas.openxmlformats.org/drawingml/2006/main">
            <a:off x="609600" y="173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31" name="05-text-4">
            <a:extLst xmlns:a="http://schemas.openxmlformats.org/drawingml/2006/main">
              <a:ext uri="{FF2B5EF4-FFF2-40B4-BE49-F238E27FC236}">
                <a16:creationId xmlns:a16="http://schemas.microsoft.com/office/drawing/2014/main" id="{7673FFAC-7B59-40F6-8E14-B10D7BD0207C}"/>
              </a:ext>
            </a:extLst>
          </p:cNvPr>
          <p:cNvSpPr>
            <a:spLocks xmlns:a="http://schemas.openxmlformats.org/drawingml/2006/main"/>
          </p:cNvSpPr>
          <p:nvPr/>
        </p:nvSpPr>
        <p:spPr>
          <a:xfrm xmlns:a="http://schemas.openxmlformats.org/drawingml/2006/main">
            <a:off x="1117600" y="173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conceptual map of</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discipline.</a:t>
            </a:r>
          </a:p>
        </p:txBody>
      </p:sp>
      <p:sp>
        <p:nvSpPr>
          <p:cNvPr id="32" name="05-text-5">
            <a:extLst xmlns:a="http://schemas.openxmlformats.org/drawingml/2006/main">
              <a:ext uri="{FF2B5EF4-FFF2-40B4-BE49-F238E27FC236}">
                <a16:creationId xmlns:a16="http://schemas.microsoft.com/office/drawing/2014/main" id="{B2512471-9B1C-4291-85F6-F64B8D4FBA46}"/>
              </a:ext>
            </a:extLst>
          </p:cNvPr>
          <p:cNvSpPr>
            <a:spLocks xmlns:a="http://schemas.openxmlformats.org/drawingml/2006/main"/>
          </p:cNvSpPr>
          <p:nvPr/>
        </p:nvSpPr>
        <p:spPr>
          <a:xfrm xmlns:a="http://schemas.openxmlformats.org/drawingml/2006/main">
            <a:off x="609600" y="300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33" name="05-text-6">
            <a:extLst xmlns:a="http://schemas.openxmlformats.org/drawingml/2006/main">
              <a:ext uri="{FF2B5EF4-FFF2-40B4-BE49-F238E27FC236}">
                <a16:creationId xmlns:a16="http://schemas.microsoft.com/office/drawing/2014/main" id="{5886D235-326C-414B-ABE6-61D6D836E27B}"/>
              </a:ext>
            </a:extLst>
          </p:cNvPr>
          <p:cNvSpPr>
            <a:spLocks xmlns:a="http://schemas.openxmlformats.org/drawingml/2006/main"/>
          </p:cNvSpPr>
          <p:nvPr/>
        </p:nvSpPr>
        <p:spPr>
          <a:xfrm xmlns:a="http://schemas.openxmlformats.org/drawingml/2006/main">
            <a:off x="1117600" y="300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 honest sense of</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how much there is.</a:t>
            </a:r>
          </a:p>
        </p:txBody>
      </p:sp>
      <p:sp>
        <p:nvSpPr>
          <p:cNvPr id="34" name="05-text-7">
            <a:extLst xmlns:a="http://schemas.openxmlformats.org/drawingml/2006/main">
              <a:ext uri="{FF2B5EF4-FFF2-40B4-BE49-F238E27FC236}">
                <a16:creationId xmlns:a16="http://schemas.microsoft.com/office/drawing/2014/main" id="{505FBC0C-3812-4825-B295-BBD6ABFC7FB9}"/>
              </a:ext>
            </a:extLst>
          </p:cNvPr>
          <p:cNvSpPr>
            <a:spLocks xmlns:a="http://schemas.openxmlformats.org/drawingml/2006/main"/>
          </p:cNvSpPr>
          <p:nvPr/>
        </p:nvSpPr>
        <p:spPr>
          <a:xfrm xmlns:a="http://schemas.openxmlformats.org/drawingml/2006/main">
            <a:off x="609600" y="427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35" name="05-text-8">
            <a:extLst xmlns:a="http://schemas.openxmlformats.org/drawingml/2006/main">
              <a:ext uri="{FF2B5EF4-FFF2-40B4-BE49-F238E27FC236}">
                <a16:creationId xmlns:a16="http://schemas.microsoft.com/office/drawing/2014/main" id="{BCDC79CB-4369-4053-93A2-428E75399221}"/>
              </a:ext>
            </a:extLst>
          </p:cNvPr>
          <p:cNvSpPr>
            <a:spLocks xmlns:a="http://schemas.openxmlformats.org/drawingml/2006/main"/>
          </p:cNvSpPr>
          <p:nvPr/>
        </p:nvSpPr>
        <p:spPr>
          <a:xfrm xmlns:a="http://schemas.openxmlformats.org/drawingml/2006/main">
            <a:off x="1117600" y="427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roadmap for making</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transition.</a:t>
            </a:r>
          </a:p>
        </p:txBody>
      </p:sp>
      <p:sp>
        <p:nvSpPr>
          <p:cNvPr id="36" name="05-text-9">
            <a:extLst xmlns:a="http://schemas.openxmlformats.org/drawingml/2006/main">
              <a:ext uri="{FF2B5EF4-FFF2-40B4-BE49-F238E27FC236}">
                <a16:creationId xmlns:a16="http://schemas.microsoft.com/office/drawing/2014/main" id="{0EA7243B-1009-41BE-A307-464F0F54C721}"/>
              </a:ext>
            </a:extLst>
          </p:cNvPr>
          <p:cNvSpPr>
            <a:spLocks xmlns:a="http://schemas.openxmlformats.org/drawingml/2006/main"/>
          </p:cNvSpPr>
          <p:nvPr/>
        </p:nvSpPr>
        <p:spPr>
          <a:xfrm xmlns:a="http://schemas.openxmlformats.org/drawingml/2006/main">
            <a:off x="6248400" y="17399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map.</a:t>
            </a:r>
          </a:p>
        </p:txBody>
      </p:sp>
      <p:sp>
        <p:nvSpPr>
          <p:cNvPr id="37" name="05-text-10">
            <a:extLst xmlns:a="http://schemas.openxmlformats.org/drawingml/2006/main">
              <a:ext uri="{FF2B5EF4-FFF2-40B4-BE49-F238E27FC236}">
                <a16:creationId xmlns:a16="http://schemas.microsoft.com/office/drawing/2014/main" id="{9A9F0815-6836-40AA-BE77-9A47FC7B015D}"/>
              </a:ext>
            </a:extLst>
          </p:cNvPr>
          <p:cNvSpPr>
            <a:spLocks xmlns:a="http://schemas.openxmlformats.org/drawingml/2006/main"/>
          </p:cNvSpPr>
          <p:nvPr/>
        </p:nvSpPr>
        <p:spPr>
          <a:xfrm xmlns:a="http://schemas.openxmlformats.org/drawingml/2006/main">
            <a:off x="10185400" y="17399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2 min</a:t>
            </a:r>
          </a:p>
        </p:txBody>
      </p:sp>
      <p:sp>
        <p:nvSpPr>
          <p:cNvPr id="38" name="05-text-11">
            <a:extLst xmlns:a="http://schemas.openxmlformats.org/drawingml/2006/main">
              <a:ext uri="{FF2B5EF4-FFF2-40B4-BE49-F238E27FC236}">
                <a16:creationId xmlns:a16="http://schemas.microsoft.com/office/drawing/2014/main" id="{5D59323C-CBE7-45DB-82A4-731C51A8795A}"/>
              </a:ext>
            </a:extLst>
          </p:cNvPr>
          <p:cNvSpPr>
            <a:spLocks xmlns:a="http://schemas.openxmlformats.org/drawingml/2006/main"/>
          </p:cNvSpPr>
          <p:nvPr/>
        </p:nvSpPr>
        <p:spPr>
          <a:xfrm xmlns:a="http://schemas.openxmlformats.org/drawingml/2006/main">
            <a:off x="6248400" y="26289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Six areas.</a:t>
            </a:r>
          </a:p>
        </p:txBody>
      </p:sp>
      <p:sp>
        <p:nvSpPr>
          <p:cNvPr id="39" name="05-text-12">
            <a:extLst xmlns:a="http://schemas.openxmlformats.org/drawingml/2006/main">
              <a:ext uri="{FF2B5EF4-FFF2-40B4-BE49-F238E27FC236}">
                <a16:creationId xmlns:a16="http://schemas.microsoft.com/office/drawing/2014/main" id="{1318B33C-A564-4769-B43D-91A14200D9C8}"/>
              </a:ext>
            </a:extLst>
          </p:cNvPr>
          <p:cNvSpPr>
            <a:spLocks xmlns:a="http://schemas.openxmlformats.org/drawingml/2006/main"/>
          </p:cNvSpPr>
          <p:nvPr/>
        </p:nvSpPr>
        <p:spPr>
          <a:xfrm xmlns:a="http://schemas.openxmlformats.org/drawingml/2006/main">
            <a:off x="10185400" y="26289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23 min</a:t>
            </a:r>
          </a:p>
        </p:txBody>
      </p:sp>
      <p:sp>
        <p:nvSpPr>
          <p:cNvPr id="40" name="05-text-13">
            <a:extLst xmlns:a="http://schemas.openxmlformats.org/drawingml/2006/main">
              <a:ext uri="{FF2B5EF4-FFF2-40B4-BE49-F238E27FC236}">
                <a16:creationId xmlns:a16="http://schemas.microsoft.com/office/drawing/2014/main" id="{BFB4A067-45B9-46D9-847E-927FB85A5DC3}"/>
              </a:ext>
            </a:extLst>
          </p:cNvPr>
          <p:cNvSpPr>
            <a:spLocks xmlns:a="http://schemas.openxmlformats.org/drawingml/2006/main"/>
          </p:cNvSpPr>
          <p:nvPr/>
        </p:nvSpPr>
        <p:spPr>
          <a:xfrm xmlns:a="http://schemas.openxmlformats.org/drawingml/2006/main">
            <a:off x="6248400" y="43434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transition.</a:t>
            </a:r>
          </a:p>
        </p:txBody>
      </p:sp>
      <p:sp>
        <p:nvSpPr>
          <p:cNvPr id="41" name="05-text-14">
            <a:extLst xmlns:a="http://schemas.openxmlformats.org/drawingml/2006/main">
              <a:ext uri="{FF2B5EF4-FFF2-40B4-BE49-F238E27FC236}">
                <a16:creationId xmlns:a16="http://schemas.microsoft.com/office/drawing/2014/main" id="{0FEA9C6A-7354-40AA-83FC-8D2F2CC1FFEC}"/>
              </a:ext>
            </a:extLst>
          </p:cNvPr>
          <p:cNvSpPr>
            <a:spLocks xmlns:a="http://schemas.openxmlformats.org/drawingml/2006/main"/>
          </p:cNvSpPr>
          <p:nvPr/>
        </p:nvSpPr>
        <p:spPr>
          <a:xfrm xmlns:a="http://schemas.openxmlformats.org/drawingml/2006/main">
            <a:off x="10185400" y="43434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5 min</a:t>
            </a:r>
          </a:p>
        </p:txBody>
      </p:sp>
      <p:sp>
        <p:nvSpPr>
          <p:cNvPr id="42" name="05-text-15">
            <a:extLst xmlns:a="http://schemas.openxmlformats.org/drawingml/2006/main">
              <a:ext uri="{FF2B5EF4-FFF2-40B4-BE49-F238E27FC236}">
                <a16:creationId xmlns:a16="http://schemas.microsoft.com/office/drawing/2014/main" id="{ED264C66-2AB5-426E-8B72-8AA19D8369BA}"/>
              </a:ext>
            </a:extLst>
          </p:cNvPr>
          <p:cNvSpPr>
            <a:spLocks xmlns:a="http://schemas.openxmlformats.org/drawingml/2006/main"/>
          </p:cNvSpPr>
          <p:nvPr/>
        </p:nvSpPr>
        <p:spPr>
          <a:xfrm xmlns:a="http://schemas.openxmlformats.org/drawingml/2006/main">
            <a:off x="6248400" y="52324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Your questions.</a:t>
            </a:r>
          </a:p>
        </p:txBody>
      </p:sp>
      <p:sp>
        <p:nvSpPr>
          <p:cNvPr id="43" name="05-text-16">
            <a:extLst xmlns:a="http://schemas.openxmlformats.org/drawingml/2006/main">
              <a:ext uri="{FF2B5EF4-FFF2-40B4-BE49-F238E27FC236}">
                <a16:creationId xmlns:a16="http://schemas.microsoft.com/office/drawing/2014/main" id="{85D6C277-C162-4E4F-B9E1-868E938894C2}"/>
              </a:ext>
            </a:extLst>
          </p:cNvPr>
          <p:cNvSpPr>
            <a:spLocks xmlns:a="http://schemas.openxmlformats.org/drawingml/2006/main"/>
          </p:cNvSpPr>
          <p:nvPr/>
        </p:nvSpPr>
        <p:spPr>
          <a:xfrm xmlns:a="http://schemas.openxmlformats.org/drawingml/2006/main">
            <a:off x="10185400" y="52324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15 min</a:t>
            </a:r>
          </a:p>
        </p:txBody>
      </p:sp>
      <p:sp>
        <p:nvSpPr>
          <p:cNvPr id="44" name="05-text-17">
            <a:extLst xmlns:a="http://schemas.openxmlformats.org/drawingml/2006/main">
              <a:ext uri="{FF2B5EF4-FFF2-40B4-BE49-F238E27FC236}">
                <a16:creationId xmlns:a16="http://schemas.microsoft.com/office/drawing/2014/main" id="{A9D5CDB9-A0A1-4478-8E6B-970F71DA8B23}"/>
              </a:ext>
            </a:extLst>
          </p:cNvPr>
          <p:cNvSpPr>
            <a:spLocks xmlns:a="http://schemas.openxmlformats.org/drawingml/2006/main"/>
          </p:cNvSpPr>
          <p:nvPr/>
        </p:nvSpPr>
        <p:spPr>
          <a:xfrm xmlns:a="http://schemas.openxmlformats.org/drawingml/2006/main">
            <a:off x="6502400" y="3149600"/>
            <a:ext cx="50800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1064F8"/>
                </a:solidFill>
                <a:latin typeface="Helvetica"/>
                <a:ea typeface="Helvetica"/>
                <a:cs typeface="Helvetica"/>
              </a:rPr>
              <a:t>Models</a:t>
            </a:r>
            <a:r>
              <a:rPr b="0">
                <a:solidFill>
                  <a:srgbClr val="ADACA9"/>
                </a:solidFill>
                <a:latin typeface="Helvetica"/>
                <a:ea typeface="Helvetica"/>
                <a:cs typeface="Helvetica"/>
              </a:rPr>
              <a:t> · </a:t>
            </a:r>
            <a:r>
              <a:rPr b="0">
                <a:solidFill>
                  <a:srgbClr val="F948BE"/>
                </a:solidFill>
                <a:latin typeface="Helvetica"/>
                <a:ea typeface="Helvetica"/>
                <a:cs typeface="Helvetica"/>
              </a:rPr>
              <a:t>Context and knowledge</a:t>
            </a:r>
            <a:r>
              <a:rPr b="0">
                <a:solidFill>
                  <a:srgbClr val="ADACA9"/>
                </a:solidFill>
                <a:latin typeface="Helvetica"/>
                <a:ea typeface="Helvetica"/>
                <a:cs typeface="Helvetica"/>
              </a:rPr>
              <a:t> · </a:t>
            </a:r>
            <a:r>
              <a:rPr b="0">
                <a:solidFill>
                  <a:srgbClr val="F948BE"/>
                </a:solidFill>
                <a:latin typeface="Helvetica"/>
                <a:ea typeface="Helvetica"/>
                <a:cs typeface="Helvetica"/>
              </a:rPr>
              <a:t>Tools</a:t>
            </a:r>
          </a:p>
          <a:p xmlns:a="http://schemas.openxmlformats.org/drawingml/2006/main">
            <a:pPr algn="l">
              <a:lnSpc>
                <a:spcPct val="125000"/>
              </a:lnSpc>
              <a:defRPr sz="1600" b="0">
                <a:solidFill>
                  <a:srgbClr val="FFFCF5"/>
                </a:solidFill>
                <a:latin typeface="Helvetica"/>
                <a:ea typeface="Helvetica"/>
                <a:cs typeface="Helvetica"/>
              </a:defRPr>
            </a:pPr>
            <a:r>
              <a:rPr b="0">
                <a:solidFill>
                  <a:srgbClr val="F948BE"/>
                </a:solidFill>
                <a:latin typeface="Helvetica"/>
                <a:ea typeface="Helvetica"/>
                <a:cs typeface="Helvetica"/>
              </a:rPr>
              <a:t>Orchestration</a:t>
            </a:r>
            <a:r>
              <a:rPr b="0">
                <a:solidFill>
                  <a:srgbClr val="ADACA9"/>
                </a:solidFill>
                <a:latin typeface="Helvetica"/>
                <a:ea typeface="Helvetica"/>
                <a:cs typeface="Helvetica"/>
              </a:rPr>
              <a:t> · </a:t>
            </a:r>
            <a:r>
              <a:rPr b="0">
                <a:solidFill>
                  <a:srgbClr val="01B66D"/>
                </a:solidFill>
                <a:latin typeface="Helvetica"/>
                <a:ea typeface="Helvetica"/>
                <a:cs typeface="Helvetica"/>
              </a:rPr>
              <a:t>Verification and evals</a:t>
            </a:r>
          </a:p>
          <a:p xmlns:a="http://schemas.openxmlformats.org/drawingml/2006/main">
            <a:pPr algn="l">
              <a:lnSpc>
                <a:spcPct val="125000"/>
              </a:lnSpc>
              <a:defRPr sz="1600" b="0">
                <a:solidFill>
                  <a:srgbClr val="FFFCF5"/>
                </a:solidFill>
                <a:latin typeface="Helvetica"/>
                <a:ea typeface="Helvetica"/>
                <a:cs typeface="Helvetica"/>
              </a:defRPr>
            </a:pPr>
            <a:r>
              <a:rPr b="0">
                <a:solidFill>
                  <a:srgbClr val="FDAD00"/>
                </a:solidFill>
                <a:latin typeface="Helvetica"/>
                <a:ea typeface="Helvetica"/>
                <a:cs typeface="Helvetica"/>
              </a:rPr>
              <a:t>Operating it</a:t>
            </a:r>
          </a:p>
        </p:txBody>
      </p:sp>
      <p:sp>
        <p:nvSpPr>
          <p:cNvPr id="45" name="05-text-18">
            <a:extLst xmlns:a="http://schemas.openxmlformats.org/drawingml/2006/main">
              <a:ext uri="{FF2B5EF4-FFF2-40B4-BE49-F238E27FC236}">
                <a16:creationId xmlns:a16="http://schemas.microsoft.com/office/drawing/2014/main" id="{AEB4D830-FFC6-4E5D-BBA7-2A2E32356B6A}"/>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When you are the user · What someone engineered · When you are the owner</a:t>
            </a:r>
          </a:p>
        </p:txBody>
      </p:sp>
      <p:sp>
        <p:nvSpPr>
          <p:cNvPr id="46" name="narrative-number">
            <a:extLst xmlns:a="http://schemas.openxmlformats.org/drawingml/2006/main">
              <a:ext uri="{FF2B5EF4-FFF2-40B4-BE49-F238E27FC236}">
                <a16:creationId xmlns:a16="http://schemas.microsoft.com/office/drawing/2014/main" id="{9C888BF3-5BA8-4E71-93DA-C734F60E7D9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3834943434"/>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 name="section-label">
            <a:extLst xmlns:a="http://schemas.openxmlformats.org/drawingml/2006/main">
              <a:ext uri="{FF2B5EF4-FFF2-40B4-BE49-F238E27FC236}">
                <a16:creationId xmlns:a16="http://schemas.microsoft.com/office/drawing/2014/main" id="{04E5A34F-CA98-4CDB-912D-C9EB43A55233}"/>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48" name="section-rule">
            <a:extLst xmlns:a="http://schemas.openxmlformats.org/drawingml/2006/main">
              <a:ext uri="{FF2B5EF4-FFF2-40B4-BE49-F238E27FC236}">
                <a16:creationId xmlns:a16="http://schemas.microsoft.com/office/drawing/2014/main" id="{65FD3984-DBBD-4D3E-89A4-E0D39B5F5F0B}"/>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9" name="section-title">
            <a:extLst xmlns:a="http://schemas.openxmlformats.org/drawingml/2006/main">
              <a:ext uri="{FF2B5EF4-FFF2-40B4-BE49-F238E27FC236}">
                <a16:creationId xmlns:a16="http://schemas.microsoft.com/office/drawing/2014/main" id="{CD41DA4F-05BB-444B-A337-158A6C5583EC}"/>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50" name="narrative-number">
            <a:extLst xmlns:a="http://schemas.openxmlformats.org/drawingml/2006/main">
              <a:ext uri="{FF2B5EF4-FFF2-40B4-BE49-F238E27FC236}">
                <a16:creationId xmlns:a16="http://schemas.microsoft.com/office/drawing/2014/main" id="{46D419A5-20BB-4B70-A6AE-6348F979135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11207813"/>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3" name="07-image-1"/>
          <p:cNvPicPr>
            <a:picLocks xmlns:a="http://schemas.openxmlformats.org/drawingml/2006/main" noChangeAspect="1"/>
          </p:cNvPicPr>
          <p:nvPr/>
        </p:nvPicPr>
        <p:blipFill>
          <a:blip xmlns:r="http://schemas.openxmlformats.org/officeDocument/2006/relationships" xmlns:a="http://schemas.openxmlformats.org/drawingml/2006/main" r:embed="Rb69a1e0f5ed3484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2" name="narrative-number">
            <a:extLst xmlns:a="http://schemas.openxmlformats.org/drawingml/2006/main">
              <a:ext uri="{FF2B5EF4-FFF2-40B4-BE49-F238E27FC236}">
                <a16:creationId xmlns:a16="http://schemas.microsoft.com/office/drawing/2014/main" id="{D8DEF914-14AB-4E58-BD37-AB9CA55F382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798974296"/>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5" name="07-image-2"/>
          <p:cNvPicPr>
            <a:picLocks xmlns:a="http://schemas.openxmlformats.org/drawingml/2006/main" noChangeAspect="1"/>
          </p:cNvPicPr>
          <p:nvPr/>
        </p:nvPicPr>
        <p:blipFill>
          <a:blip xmlns:r="http://schemas.openxmlformats.org/officeDocument/2006/relationships" xmlns:a="http://schemas.openxmlformats.org/drawingml/2006/main" r:embed="Rf48042e4fa7f4e8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4" name="narrative-number">
            <a:extLst xmlns:a="http://schemas.openxmlformats.org/drawingml/2006/main">
              <a:ext uri="{FF2B5EF4-FFF2-40B4-BE49-F238E27FC236}">
                <a16:creationId xmlns:a16="http://schemas.microsoft.com/office/drawing/2014/main" id="{BB58C48D-E8F2-46D6-BA83-6732326772E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1380227203"/>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7" name="07-image-3"/>
          <p:cNvPicPr>
            <a:picLocks xmlns:a="http://schemas.openxmlformats.org/drawingml/2006/main" noChangeAspect="1"/>
          </p:cNvPicPr>
          <p:nvPr/>
        </p:nvPicPr>
        <p:blipFill>
          <a:blip xmlns:r="http://schemas.openxmlformats.org/officeDocument/2006/relationships" xmlns:a="http://schemas.openxmlformats.org/drawingml/2006/main" r:embed="R0006b85639134bd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6" name="narrative-number">
            <a:extLst xmlns:a="http://schemas.openxmlformats.org/drawingml/2006/main">
              <a:ext uri="{FF2B5EF4-FFF2-40B4-BE49-F238E27FC236}">
                <a16:creationId xmlns:a16="http://schemas.microsoft.com/office/drawing/2014/main" id="{9AFBD8DE-6C5D-4C6F-8E31-EE971C50F96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1941215266"/>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9" name="07-image-4"/>
          <p:cNvPicPr>
            <a:picLocks xmlns:a="http://schemas.openxmlformats.org/drawingml/2006/main" noChangeAspect="1"/>
          </p:cNvPicPr>
          <p:nvPr/>
        </p:nvPicPr>
        <p:blipFill>
          <a:blip xmlns:r="http://schemas.openxmlformats.org/officeDocument/2006/relationships" xmlns:a="http://schemas.openxmlformats.org/drawingml/2006/main" r:embed="R90b1252f029f4da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8" name="narrative-number">
            <a:extLst xmlns:a="http://schemas.openxmlformats.org/drawingml/2006/main">
              <a:ext uri="{FF2B5EF4-FFF2-40B4-BE49-F238E27FC236}">
                <a16:creationId xmlns:a16="http://schemas.microsoft.com/office/drawing/2014/main" id="{78B314EE-982F-4080-AA5E-CD606AE405B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2035155428"/>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1" name="07-image-5"/>
          <p:cNvPicPr>
            <a:picLocks xmlns:a="http://schemas.openxmlformats.org/drawingml/2006/main" noChangeAspect="1"/>
          </p:cNvPicPr>
          <p:nvPr/>
        </p:nvPicPr>
        <p:blipFill>
          <a:blip xmlns:r="http://schemas.openxmlformats.org/officeDocument/2006/relationships" xmlns:a="http://schemas.openxmlformats.org/drawingml/2006/main" r:embed="R8dfcf38e4352498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0" name="narrative-number">
            <a:extLst xmlns:a="http://schemas.openxmlformats.org/drawingml/2006/main">
              <a:ext uri="{FF2B5EF4-FFF2-40B4-BE49-F238E27FC236}">
                <a16:creationId xmlns:a16="http://schemas.microsoft.com/office/drawing/2014/main" id="{92898BCC-1D35-43E9-A277-2DBF734337D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2513520827"/>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3" name="07-image-6"/>
          <p:cNvPicPr>
            <a:picLocks xmlns:a="http://schemas.openxmlformats.org/drawingml/2006/main" noChangeAspect="1"/>
          </p:cNvPicPr>
          <p:nvPr/>
        </p:nvPicPr>
        <p:blipFill>
          <a:blip xmlns:r="http://schemas.openxmlformats.org/officeDocument/2006/relationships" xmlns:a="http://schemas.openxmlformats.org/drawingml/2006/main" r:embed="Rf91c7a1b4796429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2" name="narrative-number">
            <a:extLst xmlns:a="http://schemas.openxmlformats.org/drawingml/2006/main">
              <a:ext uri="{FF2B5EF4-FFF2-40B4-BE49-F238E27FC236}">
                <a16:creationId xmlns:a16="http://schemas.microsoft.com/office/drawing/2014/main" id="{F553E66B-B875-477F-A345-49F3C4C0777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963604787"/>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3" name="!!area-header">
            <a:extLst xmlns:a="http://schemas.openxmlformats.org/drawingml/2006/main">
              <a:ext uri="{FF2B5EF4-FFF2-40B4-BE49-F238E27FC236}">
                <a16:creationId xmlns:a16="http://schemas.microsoft.com/office/drawing/2014/main" id="{281055D0-CA83-439E-A582-8E4707C0BC12}"/>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64" name="!!area-name">
            <a:extLst xmlns:a="http://schemas.openxmlformats.org/drawingml/2006/main">
              <a:ext uri="{FF2B5EF4-FFF2-40B4-BE49-F238E27FC236}">
                <a16:creationId xmlns:a16="http://schemas.microsoft.com/office/drawing/2014/main" id="{6F68B379-8A5E-49AE-96B2-63CD29B4AEAE}"/>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Models</a:t>
            </a:r>
          </a:p>
        </p:txBody>
      </p:sp>
      <p:sp>
        <p:nvSpPr>
          <p:cNvPr id="65" name="!!area-beat">
            <a:extLst xmlns:a="http://schemas.openxmlformats.org/drawingml/2006/main">
              <a:ext uri="{FF2B5EF4-FFF2-40B4-BE49-F238E27FC236}">
                <a16:creationId xmlns:a16="http://schemas.microsoft.com/office/drawing/2014/main" id="{5BC106BC-9210-442F-A07A-9686AD25DFD9}"/>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When you are the user</a:t>
            </a:r>
          </a:p>
        </p:txBody>
      </p:sp>
      <p:sp>
        <p:nvSpPr>
          <p:cNvPr id="66" name="header-divider">
            <a:extLst xmlns:a="http://schemas.openxmlformats.org/drawingml/2006/main">
              <a:ext uri="{FF2B5EF4-FFF2-40B4-BE49-F238E27FC236}">
                <a16:creationId xmlns:a16="http://schemas.microsoft.com/office/drawing/2014/main" id="{87991491-88D5-45E5-8104-9A3D500CDC93}"/>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7" name="!!screenshot-Devin Desktop">
            <a:extLst xmlns:a="http://schemas.openxmlformats.org/drawingml/2006/main">
              <a:ext uri="{FF2B5EF4-FFF2-40B4-BE49-F238E27FC236}">
                <a16:creationId xmlns:a16="http://schemas.microsoft.com/office/drawing/2014/main" id="{01EF5C30-2465-4B04-BF36-ADE17FA9CEB8}"/>
              </a:ext>
            </a:extLst>
          </p:cNvPr>
          <p:cNvSpPr>
            <a:spLocks xmlns:a="http://schemas.openxmlformats.org/drawingml/2006/main"/>
          </p:cNvSpPr>
          <p:nvPr/>
        </p:nvSpPr>
        <p:spPr>
          <a:xfrm xmlns:a="http://schemas.openxmlformats.org/drawingml/2006/main">
            <a:off x="609600" y="2336800"/>
            <a:ext cx="5334000" cy="3302000"/>
          </a:xfrm>
          <a:prstGeom xmlns:a="http://schemas.openxmlformats.org/drawingml/2006/main" prst="roundRect">
            <a:avLst>
              <a:gd name="adj" fmla="val 1538"/>
            </a:avLst>
          </a:prstGeom>
          <a:solidFill xmlns:a="http://schemas.openxmlformats.org/drawingml/2006/main">
            <a:srgbClr val="303236"/>
          </a:solidFill>
          <a:ln xmlns:a="http://schemas.openxmlformats.org/drawingml/2006/main" w="12700">
            <a:solidFill>
              <a:srgbClr val="4C4D50"/>
            </a:solidFill>
          </a:ln>
        </p:spPr>
      </p:sp>
      <p:sp>
        <p:nvSpPr>
          <p:cNvPr id="68" name="08-text-1">
            <a:extLst xmlns:a="http://schemas.openxmlformats.org/drawingml/2006/main">
              <a:ext uri="{FF2B5EF4-FFF2-40B4-BE49-F238E27FC236}">
                <a16:creationId xmlns:a16="http://schemas.microsoft.com/office/drawing/2014/main" id="{95D1A836-D413-4104-A2AA-92FB371C443C}"/>
              </a:ext>
            </a:extLst>
          </p:cNvPr>
          <p:cNvSpPr>
            <a:spLocks xmlns:a="http://schemas.openxmlformats.org/drawingml/2006/main"/>
          </p:cNvSpPr>
          <p:nvPr/>
        </p:nvSpPr>
        <p:spPr>
          <a:xfrm xmlns:a="http://schemas.openxmlformats.org/drawingml/2006/main">
            <a:off x="812800" y="3035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69" name="08-text-2">
            <a:extLst xmlns:a="http://schemas.openxmlformats.org/drawingml/2006/main">
              <a:ext uri="{FF2B5EF4-FFF2-40B4-BE49-F238E27FC236}">
                <a16:creationId xmlns:a16="http://schemas.microsoft.com/office/drawing/2014/main" id="{7523BDE3-7681-407C-95EC-BB171CB3404E}"/>
              </a:ext>
            </a:extLst>
          </p:cNvPr>
          <p:cNvSpPr>
            <a:spLocks xmlns:a="http://schemas.openxmlformats.org/drawingml/2006/main"/>
          </p:cNvSpPr>
          <p:nvPr/>
        </p:nvSpPr>
        <p:spPr>
          <a:xfrm xmlns:a="http://schemas.openxmlformats.org/drawingml/2006/main">
            <a:off x="812800" y="3556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Devin Desktop model picker</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Reasoning-effort slider visible</a:t>
            </a:r>
          </a:p>
        </p:txBody>
      </p:sp>
      <p:sp>
        <p:nvSpPr>
          <p:cNvPr id="70" name="08-text-3">
            <a:extLst xmlns:a="http://schemas.openxmlformats.org/drawingml/2006/main">
              <a:ext uri="{FF2B5EF4-FFF2-40B4-BE49-F238E27FC236}">
                <a16:creationId xmlns:a16="http://schemas.microsoft.com/office/drawing/2014/main" id="{CDEA7959-E6EC-423E-ABCB-67ECE9018331}"/>
              </a:ext>
            </a:extLst>
          </p:cNvPr>
          <p:cNvSpPr>
            <a:spLocks xmlns:a="http://schemas.openxmlformats.org/drawingml/2006/main"/>
          </p:cNvSpPr>
          <p:nvPr/>
        </p:nvSpPr>
        <p:spPr>
          <a:xfrm xmlns:a="http://schemas.openxmlformats.org/drawingml/2006/main">
            <a:off x="6248400" y="24384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Model</a:t>
            </a:r>
          </a:p>
        </p:txBody>
      </p:sp>
      <p:sp>
        <p:nvSpPr>
          <p:cNvPr id="71" name="08-text-4">
            <a:extLst xmlns:a="http://schemas.openxmlformats.org/drawingml/2006/main">
              <a:ext uri="{FF2B5EF4-FFF2-40B4-BE49-F238E27FC236}">
                <a16:creationId xmlns:a16="http://schemas.microsoft.com/office/drawing/2014/main" id="{F9324828-34BD-4F34-904C-A5612BEE76CC}"/>
              </a:ext>
            </a:extLst>
          </p:cNvPr>
          <p:cNvSpPr>
            <a:spLocks xmlns:a="http://schemas.openxmlformats.org/drawingml/2006/main"/>
          </p:cNvSpPr>
          <p:nvPr/>
        </p:nvSpPr>
        <p:spPr>
          <a:xfrm xmlns:a="http://schemas.openxmlformats.org/drawingml/2006/main">
            <a:off x="6248400" y="2997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Choose which model handles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coding task.</a:t>
            </a:r>
          </a:p>
        </p:txBody>
      </p:sp>
      <p:sp>
        <p:nvSpPr>
          <p:cNvPr id="72" name="08-text-5">
            <a:extLst xmlns:a="http://schemas.openxmlformats.org/drawingml/2006/main">
              <a:ext uri="{FF2B5EF4-FFF2-40B4-BE49-F238E27FC236}">
                <a16:creationId xmlns:a16="http://schemas.microsoft.com/office/drawing/2014/main" id="{87A5AE97-20E0-43D2-A440-B728702A7E67}"/>
              </a:ext>
            </a:extLst>
          </p:cNvPr>
          <p:cNvSpPr>
            <a:spLocks xmlns:a="http://schemas.openxmlformats.org/drawingml/2006/main"/>
          </p:cNvSpPr>
          <p:nvPr/>
        </p:nvSpPr>
        <p:spPr>
          <a:xfrm xmlns:a="http://schemas.openxmlformats.org/drawingml/2006/main">
            <a:off x="6248400" y="41402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Reasoning effort</a:t>
            </a:r>
          </a:p>
        </p:txBody>
      </p:sp>
      <p:sp>
        <p:nvSpPr>
          <p:cNvPr id="73" name="08-text-6">
            <a:extLst xmlns:a="http://schemas.openxmlformats.org/drawingml/2006/main">
              <a:ext uri="{FF2B5EF4-FFF2-40B4-BE49-F238E27FC236}">
                <a16:creationId xmlns:a16="http://schemas.microsoft.com/office/drawing/2014/main" id="{382DA752-C64F-4A47-BF01-0D875895DE09}"/>
              </a:ext>
            </a:extLst>
          </p:cNvPr>
          <p:cNvSpPr>
            <a:spLocks xmlns:a="http://schemas.openxmlformats.org/drawingml/2006/main"/>
          </p:cNvSpPr>
          <p:nvPr/>
        </p:nvSpPr>
        <p:spPr>
          <a:xfrm xmlns:a="http://schemas.openxmlformats.org/drawingml/2006/main">
            <a:off x="6248400" y="46990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Adjust the effort used to</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work through the task.</a:t>
            </a:r>
          </a:p>
        </p:txBody>
      </p:sp>
      <p:sp>
        <p:nvSpPr>
          <p:cNvPr id="74" name="narrative-number">
            <a:extLst xmlns:a="http://schemas.openxmlformats.org/drawingml/2006/main">
              <a:ext uri="{FF2B5EF4-FFF2-40B4-BE49-F238E27FC236}">
                <a16:creationId xmlns:a16="http://schemas.microsoft.com/office/drawing/2014/main" id="{338ED254-40A2-450F-9277-64BCB2FA406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310540077"/>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5" name="!!area-name">
            <a:extLst xmlns:a="http://schemas.openxmlformats.org/drawingml/2006/main">
              <a:ext uri="{FF2B5EF4-FFF2-40B4-BE49-F238E27FC236}">
                <a16:creationId xmlns:a16="http://schemas.microsoft.com/office/drawing/2014/main" id="{4C6F1D03-CF5B-48BF-A5B3-137F792D5DA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84" name="mini-map"/>
          <p:cNvPicPr>
            <a:picLocks xmlns:a="http://schemas.openxmlformats.org/drawingml/2006/main" noChangeAspect="1"/>
          </p:cNvPicPr>
          <p:nvPr/>
        </p:nvPicPr>
        <p:blipFill>
          <a:blip xmlns:r="http://schemas.openxmlformats.org/officeDocument/2006/relationships" xmlns:a="http://schemas.openxmlformats.org/drawingml/2006/main" r:embed="R569d786a8b9a42c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7" name="header-divider">
            <a:extLst xmlns:a="http://schemas.openxmlformats.org/drawingml/2006/main">
              <a:ext uri="{FF2B5EF4-FFF2-40B4-BE49-F238E27FC236}">
                <a16:creationId xmlns:a16="http://schemas.microsoft.com/office/drawing/2014/main" id="{2136337E-BCFF-4524-A9EC-5070805E3E1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78" name="09-text-1">
            <a:extLst xmlns:a="http://schemas.openxmlformats.org/drawingml/2006/main">
              <a:ext uri="{FF2B5EF4-FFF2-40B4-BE49-F238E27FC236}">
                <a16:creationId xmlns:a16="http://schemas.microsoft.com/office/drawing/2014/main" id="{EC0EC1A9-81F0-4138-A23F-B49DB61E4E17}"/>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harness beats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bad harness.”</a:t>
            </a:r>
          </a:p>
        </p:txBody>
      </p:sp>
      <p:sp>
        <p:nvSpPr>
          <p:cNvPr id="79" name="09-text-2">
            <a:extLst xmlns:a="http://schemas.openxmlformats.org/drawingml/2006/main">
              <a:ext uri="{FF2B5EF4-FFF2-40B4-BE49-F238E27FC236}">
                <a16:creationId xmlns:a16="http://schemas.microsoft.com/office/drawing/2014/main" id="{0E75BFDF-044A-4655-8AEE-FA611DD875AB}"/>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Addy Osmani</a:t>
            </a:r>
          </a:p>
        </p:txBody>
      </p:sp>
      <p:sp>
        <p:nvSpPr>
          <p:cNvPr id="80" name="09-text-3">
            <a:extLst xmlns:a="http://schemas.openxmlformats.org/drawingml/2006/main">
              <a:ext uri="{FF2B5EF4-FFF2-40B4-BE49-F238E27FC236}">
                <a16:creationId xmlns:a16="http://schemas.microsoft.com/office/drawing/2014/main" id="{AEEABCC0-FC78-4373-BDB0-47DA0C6348A3}"/>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Agent Harness Engineering, April 2026</a:t>
            </a:r>
          </a:p>
        </p:txBody>
      </p:sp>
      <p:pic>
        <p:nvPicPr>
          <p:cNvPr id="89" name="09-image-4"/>
          <p:cNvPicPr>
            <a:picLocks xmlns:a="http://schemas.openxmlformats.org/drawingml/2006/main" noChangeAspect="1"/>
          </p:cNvPicPr>
          <p:nvPr/>
        </p:nvPicPr>
        <p:blipFill>
          <a:blip xmlns:r="http://schemas.openxmlformats.org/officeDocument/2006/relationships" xmlns:a="http://schemas.openxmlformats.org/drawingml/2006/main" r:embed="Rd722501c10154023"/>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82" name="narrative-number">
            <a:extLst xmlns:a="http://schemas.openxmlformats.org/drawingml/2006/main">
              <a:ext uri="{FF2B5EF4-FFF2-40B4-BE49-F238E27FC236}">
                <a16:creationId xmlns:a16="http://schemas.microsoft.com/office/drawing/2014/main" id="{BC3088D9-359F-4A13-8496-9DF4A4830A5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638096448"/>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83" name="!!area-name">
            <a:extLst xmlns:a="http://schemas.openxmlformats.org/drawingml/2006/main">
              <a:ext uri="{FF2B5EF4-FFF2-40B4-BE49-F238E27FC236}">
                <a16:creationId xmlns:a16="http://schemas.microsoft.com/office/drawing/2014/main" id="{D79B5224-2CA9-4978-BEEF-534D717B35B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95" name="mini-map"/>
          <p:cNvPicPr>
            <a:picLocks xmlns:a="http://schemas.openxmlformats.org/drawingml/2006/main" noChangeAspect="1"/>
          </p:cNvPicPr>
          <p:nvPr/>
        </p:nvPicPr>
        <p:blipFill>
          <a:blip xmlns:r="http://schemas.openxmlformats.org/officeDocument/2006/relationships" xmlns:a="http://schemas.openxmlformats.org/drawingml/2006/main" r:embed="R313ff272678a4a7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85" name="header-divider">
            <a:extLst xmlns:a="http://schemas.openxmlformats.org/drawingml/2006/main">
              <a:ext uri="{FF2B5EF4-FFF2-40B4-BE49-F238E27FC236}">
                <a16:creationId xmlns:a16="http://schemas.microsoft.com/office/drawing/2014/main" id="{479184EB-1101-4DD6-B3C4-D58DEB3E488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86" name="models-decisions-title">
            <a:extLst xmlns:a="http://schemas.openxmlformats.org/drawingml/2006/main">
              <a:ext uri="{FF2B5EF4-FFF2-40B4-BE49-F238E27FC236}">
                <a16:creationId xmlns:a16="http://schemas.microsoft.com/office/drawing/2014/main" id="{B79949C0-5D1C-4410-9FA4-C54AD2B9BF7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decisions you own</a:t>
            </a:r>
          </a:p>
        </p:txBody>
      </p:sp>
      <p:sp>
        <p:nvSpPr>
          <p:cNvPr id="87" name="09-text-5">
            <a:extLst xmlns:a="http://schemas.openxmlformats.org/drawingml/2006/main">
              <a:ext uri="{FF2B5EF4-FFF2-40B4-BE49-F238E27FC236}">
                <a16:creationId xmlns:a16="http://schemas.microsoft.com/office/drawing/2014/main" id="{7CC95BC9-200D-477F-9D4B-8780597FD4D5}"/>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model and</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reasoning settings?</a:t>
            </a:r>
          </a:p>
        </p:txBody>
      </p:sp>
      <p:sp>
        <p:nvSpPr>
          <p:cNvPr id="88" name="09-text-6">
            <a:extLst xmlns:a="http://schemas.openxmlformats.org/drawingml/2006/main">
              <a:ext uri="{FF2B5EF4-FFF2-40B4-BE49-F238E27FC236}">
                <a16:creationId xmlns:a16="http://schemas.microsoft.com/office/drawing/2014/main" id="{F3911B4D-8EC3-4232-B5F8-06B7829CBE3E}"/>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Balance task quality, cost, latency,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deployment constraints.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Start with representative task comparisons.</a:t>
            </a:r>
          </a:p>
        </p:txBody>
      </p:sp>
      <p:sp>
        <p:nvSpPr>
          <p:cNvPr id="89" name="09-text-7">
            <a:extLst xmlns:a="http://schemas.openxmlformats.org/drawingml/2006/main">
              <a:ext uri="{FF2B5EF4-FFF2-40B4-BE49-F238E27FC236}">
                <a16:creationId xmlns:a16="http://schemas.microsoft.com/office/drawing/2014/main" id="{688F625A-BF65-4681-891A-5FD25819A174}"/>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One model or</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different models?</a:t>
            </a:r>
          </a:p>
        </p:txBody>
      </p:sp>
      <p:sp>
        <p:nvSpPr>
          <p:cNvPr id="90" name="09-text-8">
            <a:extLst xmlns:a="http://schemas.openxmlformats.org/drawingml/2006/main">
              <a:ext uri="{FF2B5EF4-FFF2-40B4-BE49-F238E27FC236}">
                <a16:creationId xmlns:a16="http://schemas.microsoft.com/office/drawing/2014/main" id="{2FDFD263-11A8-428F-8662-640F77C4C2F7}"/>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Routing adds task-specific choices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more configurations to maintain.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Start with one until evidence supports routing.</a:t>
            </a:r>
          </a:p>
        </p:txBody>
      </p:sp>
      <p:sp>
        <p:nvSpPr>
          <p:cNvPr id="91" name="09-text-9">
            <a:extLst xmlns:a="http://schemas.openxmlformats.org/drawingml/2006/main">
              <a:ext uri="{FF2B5EF4-FFF2-40B4-BE49-F238E27FC236}">
                <a16:creationId xmlns:a16="http://schemas.microsoft.com/office/drawing/2014/main" id="{278AD112-12EC-493A-A850-0D1C8A712EDA}"/>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How will model</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changes be controlled?</a:t>
            </a:r>
          </a:p>
        </p:txBody>
      </p:sp>
      <p:sp>
        <p:nvSpPr>
          <p:cNvPr id="92" name="09-text-10">
            <a:extLst xmlns:a="http://schemas.openxmlformats.org/drawingml/2006/main">
              <a:ext uri="{FF2B5EF4-FFF2-40B4-BE49-F238E27FC236}">
                <a16:creationId xmlns:a16="http://schemas.microsoft.com/office/drawing/2014/main" id="{020EE20D-C16B-4BAF-98BE-789792828421}"/>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Pinned versions need planned migration.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Moving aliases need regression monitoring.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Define evaluation and replacement practices.</a:t>
            </a:r>
          </a:p>
        </p:txBody>
      </p:sp>
      <p:sp>
        <p:nvSpPr>
          <p:cNvPr id="93" name="narrative-number">
            <a:extLst xmlns:a="http://schemas.openxmlformats.org/drawingml/2006/main">
              <a:ext uri="{FF2B5EF4-FFF2-40B4-BE49-F238E27FC236}">
                <a16:creationId xmlns:a16="http://schemas.microsoft.com/office/drawing/2014/main" id="{BE1FC78D-15BC-4DF1-BDD0-FE24953E546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960252671"/>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4" name="!!area-name">
            <a:extLst xmlns:a="http://schemas.openxmlformats.org/drawingml/2006/main">
              <a:ext uri="{FF2B5EF4-FFF2-40B4-BE49-F238E27FC236}">
                <a16:creationId xmlns:a16="http://schemas.microsoft.com/office/drawing/2014/main" id="{2A4BC248-CD77-451C-9B5D-4072BCF2FFF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109" name="mini-map"/>
          <p:cNvPicPr>
            <a:picLocks xmlns:a="http://schemas.openxmlformats.org/drawingml/2006/main" noChangeAspect="1"/>
          </p:cNvPicPr>
          <p:nvPr/>
        </p:nvPicPr>
        <p:blipFill>
          <a:blip xmlns:r="http://schemas.openxmlformats.org/officeDocument/2006/relationships" xmlns:a="http://schemas.openxmlformats.org/drawingml/2006/main" r:embed="R46115617cf5f4f7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96" name="header-divider">
            <a:extLst xmlns:a="http://schemas.openxmlformats.org/drawingml/2006/main">
              <a:ext uri="{FF2B5EF4-FFF2-40B4-BE49-F238E27FC236}">
                <a16:creationId xmlns:a16="http://schemas.microsoft.com/office/drawing/2014/main" id="{BEF4CAF2-B8E5-4C0D-B732-A4381A8FBEA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97" name="models-maintenance-title">
            <a:extLst xmlns:a="http://schemas.openxmlformats.org/drawingml/2006/main">
              <a:ext uri="{FF2B5EF4-FFF2-40B4-BE49-F238E27FC236}">
                <a16:creationId xmlns:a16="http://schemas.microsoft.com/office/drawing/2014/main" id="{8ECFB4A0-BF83-421C-BB96-9B92D086486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Living with model choices</a:t>
            </a:r>
          </a:p>
        </p:txBody>
      </p:sp>
      <p:sp>
        <p:nvSpPr>
          <p:cNvPr id="98" name="09-text-11">
            <a:extLst xmlns:a="http://schemas.openxmlformats.org/drawingml/2006/main">
              <a:ext uri="{FF2B5EF4-FFF2-40B4-BE49-F238E27FC236}">
                <a16:creationId xmlns:a16="http://schemas.microsoft.com/office/drawing/2014/main" id="{77BE2D5B-9FD2-445A-8A60-7388CE0D94CE}"/>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Task changes</a:t>
            </a:r>
          </a:p>
        </p:txBody>
      </p:sp>
      <p:sp>
        <p:nvSpPr>
          <p:cNvPr id="99" name="09-text-12">
            <a:extLst xmlns:a="http://schemas.openxmlformats.org/drawingml/2006/main">
              <a:ext uri="{FF2B5EF4-FFF2-40B4-BE49-F238E27FC236}">
                <a16:creationId xmlns:a16="http://schemas.microsoft.com/office/drawing/2014/main" id="{3DA503E6-C4A1-4114-A215-D8D476BF4A59}"/>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New tasks can expose gaps in the original evaluation.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Refresh the cases as intended use changes.</a:t>
            </a:r>
          </a:p>
        </p:txBody>
      </p:sp>
      <p:sp>
        <p:nvSpPr>
          <p:cNvPr id="100" name="09-text-13">
            <a:extLst xmlns:a="http://schemas.openxmlformats.org/drawingml/2006/main">
              <a:ext uri="{FF2B5EF4-FFF2-40B4-BE49-F238E27FC236}">
                <a16:creationId xmlns:a16="http://schemas.microsoft.com/office/drawing/2014/main" id="{15B071F7-4D9F-42A7-96E7-5CEC1CDCD5A1}"/>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Routing</a:t>
            </a:r>
          </a:p>
        </p:txBody>
      </p:sp>
      <p:sp>
        <p:nvSpPr>
          <p:cNvPr id="101" name="09-text-14">
            <a:extLst xmlns:a="http://schemas.openxmlformats.org/drawingml/2006/main">
              <a:ext uri="{FF2B5EF4-FFF2-40B4-BE49-F238E27FC236}">
                <a16:creationId xmlns:a16="http://schemas.microsoft.com/office/drawing/2014/main" id="{AE4B9C29-6334-4A15-BE11-65759882168E}"/>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Each route needs evaluation coverage.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Measure the whole workflow as routes change.</a:t>
            </a:r>
          </a:p>
        </p:txBody>
      </p:sp>
      <p:sp>
        <p:nvSpPr>
          <p:cNvPr id="102" name="09-text-15">
            <a:extLst xmlns:a="http://schemas.openxmlformats.org/drawingml/2006/main">
              <a:ext uri="{FF2B5EF4-FFF2-40B4-BE49-F238E27FC236}">
                <a16:creationId xmlns:a16="http://schemas.microsoft.com/office/drawing/2014/main" id="{9BC410F0-1F9E-4B17-9D67-F29B693184BB}"/>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Model lifecycle</a:t>
            </a:r>
          </a:p>
        </p:txBody>
      </p:sp>
      <p:sp>
        <p:nvSpPr>
          <p:cNvPr id="103" name="09-text-16">
            <a:extLst xmlns:a="http://schemas.openxmlformats.org/drawingml/2006/main">
              <a:ext uri="{FF2B5EF4-FFF2-40B4-BE49-F238E27FC236}">
                <a16:creationId xmlns:a16="http://schemas.microsoft.com/office/drawing/2014/main" id="{A8C8172E-4285-4944-829C-735B3417B956}"/>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Versions retire. Aliases update.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Monitor changes and prepare a replacement.</a:t>
            </a:r>
          </a:p>
        </p:txBody>
      </p:sp>
      <p:sp>
        <p:nvSpPr>
          <p:cNvPr id="104" name="09-text-17">
            <a:extLst xmlns:a="http://schemas.openxmlformats.org/drawingml/2006/main">
              <a:ext uri="{FF2B5EF4-FFF2-40B4-BE49-F238E27FC236}">
                <a16:creationId xmlns:a16="http://schemas.microsoft.com/office/drawing/2014/main" id="{D72DB868-4165-4F89-934C-6B4CD569B8CA}"/>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snapshot does not freeze the whole system.</a:t>
            </a:r>
          </a:p>
        </p:txBody>
      </p:sp>
      <p:sp>
        <p:nvSpPr>
          <p:cNvPr id="105" name="09-text-18">
            <a:extLst xmlns:a="http://schemas.openxmlformats.org/drawingml/2006/main">
              <a:ext uri="{FF2B5EF4-FFF2-40B4-BE49-F238E27FC236}">
                <a16:creationId xmlns:a16="http://schemas.microsoft.com/office/drawing/2014/main" id="{CFB5DFCF-22B4-460B-9B75-FD7B5C99FBBE}"/>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06" name="09-text-19">
            <a:extLst xmlns:a="http://schemas.openxmlformats.org/drawingml/2006/main">
              <a:ext uri="{FF2B5EF4-FFF2-40B4-BE49-F238E27FC236}">
                <a16:creationId xmlns:a16="http://schemas.microsoft.com/office/drawing/2014/main" id="{54D5E4D7-0670-435B-8FA0-9C08B286DCF7}"/>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Choosing and changing models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testing them on your task.</a:t>
            </a:r>
          </a:p>
        </p:txBody>
      </p:sp>
      <p:sp>
        <p:nvSpPr>
          <p:cNvPr id="107" name="narrative-number">
            <a:extLst xmlns:a="http://schemas.openxmlformats.org/drawingml/2006/main">
              <a:ext uri="{FF2B5EF4-FFF2-40B4-BE49-F238E27FC236}">
                <a16:creationId xmlns:a16="http://schemas.microsoft.com/office/drawing/2014/main" id="{AE865805-7D5C-4CD8-AD51-5F297953812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529623024"/>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08" name="!!area-name">
            <a:extLst xmlns:a="http://schemas.openxmlformats.org/drawingml/2006/main">
              <a:ext uri="{FF2B5EF4-FFF2-40B4-BE49-F238E27FC236}">
                <a16:creationId xmlns:a16="http://schemas.microsoft.com/office/drawing/2014/main" id="{5CFF1309-E230-41A0-B70F-8C29F8C3BDD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117" name="mini-map"/>
          <p:cNvPicPr>
            <a:picLocks xmlns:a="http://schemas.openxmlformats.org/drawingml/2006/main" noChangeAspect="1"/>
          </p:cNvPicPr>
          <p:nvPr/>
        </p:nvPicPr>
        <p:blipFill>
          <a:blip xmlns:r="http://schemas.openxmlformats.org/officeDocument/2006/relationships" xmlns:a="http://schemas.openxmlformats.org/drawingml/2006/main" r:embed="Raf183df8bf8d44b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10" name="header-divider">
            <a:extLst xmlns:a="http://schemas.openxmlformats.org/drawingml/2006/main">
              <a:ext uri="{FF2B5EF4-FFF2-40B4-BE49-F238E27FC236}">
                <a16:creationId xmlns:a16="http://schemas.microsoft.com/office/drawing/2014/main" id="{C768582D-B8D5-4B37-AA8B-1CEB47872AA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11" name="models-application-title">
            <a:extLst xmlns:a="http://schemas.openxmlformats.org/drawingml/2006/main">
              <a:ext uri="{FF2B5EF4-FFF2-40B4-BE49-F238E27FC236}">
                <a16:creationId xmlns:a16="http://schemas.microsoft.com/office/drawing/2014/main" id="{C83BBA59-9457-4157-9E65-E8C1A9D1BD6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 starting design for the FRB brief</a:t>
            </a:r>
          </a:p>
        </p:txBody>
      </p:sp>
      <p:sp>
        <p:nvSpPr>
          <p:cNvPr id="112" name="09-text-20">
            <a:extLst xmlns:a="http://schemas.openxmlformats.org/drawingml/2006/main">
              <a:ext uri="{FF2B5EF4-FFF2-40B4-BE49-F238E27FC236}">
                <a16:creationId xmlns:a16="http://schemas.microsoft.com/office/drawing/2014/main" id="{330B662C-228B-4AB4-95DA-676332141E8D}"/>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design. No model results claimed.</a:t>
            </a:r>
          </a:p>
        </p:txBody>
      </p:sp>
      <p:graphicFrame>
        <p:nvGraphicFramePr>
          <p:cNvPr id="121" name="09-table-21"/>
          <p:cNvGraphicFramePr/>
          <p:nvPr/>
        </p:nvGraphicFramePr>
        <p:xfrm>
          <a:off xmlns:a="http://schemas.openxmlformats.org/drawingml/2006/main" x="609600" y="2895600"/>
          <a:ext xmlns:a="http://schemas.openxmlformats.org/drawingml/2006/main" cx="10972800" cy="25908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1064F8"/>
                          </a:solidFill>
                          <a:latin typeface="Helvetica"/>
                          <a:ea typeface="Helvetica"/>
                          <a:cs typeface="Helvetica"/>
                        </a:rPr>
                        <a:t>Choice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Starting design and rationale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Task fit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Compare models on faithful summaries</a:t>
                      </a:r>
                    </a:p>
                    <a:p>
                      <a:pPr>
                        <a:lnSpc>
                          <a:spcPct val="125000"/>
                        </a:lnSpc>
                        <a:buNone/>
                      </a:pPr>
                      <a:r>
                        <a:rPr sz="2000" b="0">
                          <a:solidFill>
                            <a:srgbClr val="FFFCF5"/>
                          </a:solidFill>
                          <a:latin typeface="Helvetica"/>
                          <a:ea typeface="Helvetica"/>
                          <a:cs typeface="Helvetica"/>
                        </a:rPr>
                        <a:t>and supported findings.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Allocation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One model configuration for the brief.</a:t>
                      </a:r>
                    </a:p>
                    <a:p>
                      <a:pPr>
                        <a:lnSpc>
                          <a:spcPct val="125000"/>
                        </a:lnSpc>
                        <a:buNone/>
                      </a:pPr>
                      <a:r>
                        <a:rPr sz="2000" b="0">
                          <a:solidFill>
                            <a:srgbClr val="FFFCF5"/>
                          </a:solidFill>
                          <a:latin typeface="Helvetica"/>
                          <a:ea typeface="Helvetica"/>
                          <a:cs typeface="Helvetica"/>
                        </a:rPr>
                        <a:t>Add routing only when measurements justify 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Changes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Pinned version where available,</a:t>
                      </a:r>
                    </a:p>
                    <a:p>
                      <a:pPr>
                        <a:lnSpc>
                          <a:spcPct val="125000"/>
                        </a:lnSpc>
                        <a:buNone/>
                      </a:pPr>
                      <a:r>
                        <a:rPr sz="2000" b="0">
                          <a:solidFill>
                            <a:srgbClr val="FFFCF5"/>
                          </a:solidFill>
                          <a:latin typeface="Helvetica"/>
                          <a:ea typeface="Helvetica"/>
                          <a:cs typeface="Helvetica"/>
                        </a:rPr>
                        <a:t>with a migration plan.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14" name="09-text-22">
            <a:extLst xmlns:a="http://schemas.openxmlformats.org/drawingml/2006/main">
              <a:ext uri="{FF2B5EF4-FFF2-40B4-BE49-F238E27FC236}">
                <a16:creationId xmlns:a16="http://schemas.microsoft.com/office/drawing/2014/main" id="{D88E56FD-C854-46F7-B6DE-62B2DB841B71}"/>
              </a:ext>
            </a:extLst>
          </p:cNvPr>
          <p:cNvSpPr>
            <a:spLocks xmlns:a="http://schemas.openxmlformats.org/drawingml/2006/main"/>
          </p:cNvSpPr>
          <p:nvPr/>
        </p:nvSpPr>
        <p:spPr>
          <a:xfrm xmlns:a="http://schemas.openxmlformats.org/drawingml/2006/main">
            <a:off x="609600" y="5588000"/>
            <a:ext cx="109728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Revisit when measured quality, cost, latency,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 lifecycle requirements justify a change.</a:t>
            </a:r>
          </a:p>
        </p:txBody>
      </p:sp>
      <p:sp>
        <p:nvSpPr>
          <p:cNvPr id="115" name="narrative-number">
            <a:extLst xmlns:a="http://schemas.openxmlformats.org/drawingml/2006/main">
              <a:ext uri="{FF2B5EF4-FFF2-40B4-BE49-F238E27FC236}">
                <a16:creationId xmlns:a16="http://schemas.microsoft.com/office/drawing/2014/main" id="{265AE072-DF3F-4C76-9704-525C935A9E9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85556090"/>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16" name="!!area-header">
            <a:extLst xmlns:a="http://schemas.openxmlformats.org/drawingml/2006/main">
              <a:ext uri="{FF2B5EF4-FFF2-40B4-BE49-F238E27FC236}">
                <a16:creationId xmlns:a16="http://schemas.microsoft.com/office/drawing/2014/main" id="{339B4867-20B9-4361-943E-463006D0B104}"/>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117" name="!!area-name">
            <a:extLst xmlns:a="http://schemas.openxmlformats.org/drawingml/2006/main">
              <a:ext uri="{FF2B5EF4-FFF2-40B4-BE49-F238E27FC236}">
                <a16:creationId xmlns:a16="http://schemas.microsoft.com/office/drawing/2014/main" id="{58E99921-4089-421F-BDC8-D8634974B773}"/>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Context and knowledge</a:t>
            </a:r>
          </a:p>
        </p:txBody>
      </p:sp>
      <p:sp>
        <p:nvSpPr>
          <p:cNvPr id="118" name="!!area-beat">
            <a:extLst xmlns:a="http://schemas.openxmlformats.org/drawingml/2006/main">
              <a:ext uri="{FF2B5EF4-FFF2-40B4-BE49-F238E27FC236}">
                <a16:creationId xmlns:a16="http://schemas.microsoft.com/office/drawing/2014/main" id="{813C6E0E-D961-4134-B2C2-B57A1CEA0BC3}"/>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119" name="header-divider">
            <a:extLst xmlns:a="http://schemas.openxmlformats.org/drawingml/2006/main">
              <a:ext uri="{FF2B5EF4-FFF2-40B4-BE49-F238E27FC236}">
                <a16:creationId xmlns:a16="http://schemas.microsoft.com/office/drawing/2014/main" id="{50DD1FF3-5233-4067-A962-31562AF23609}"/>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0" name="!!screenshot-AGENTS.md">
            <a:extLst xmlns:a="http://schemas.openxmlformats.org/drawingml/2006/main">
              <a:ext uri="{FF2B5EF4-FFF2-40B4-BE49-F238E27FC236}">
                <a16:creationId xmlns:a16="http://schemas.microsoft.com/office/drawing/2014/main" id="{1B1FBAED-CFA2-4466-9573-8C3CDBBA14D3}"/>
              </a:ext>
            </a:extLst>
          </p:cNvPr>
          <p:cNvSpPr>
            <a:spLocks xmlns:a="http://schemas.openxmlformats.org/drawingml/2006/main"/>
          </p:cNvSpPr>
          <p:nvPr/>
        </p:nvSpPr>
        <p:spPr>
          <a:xfrm xmlns:a="http://schemas.openxmlformats.org/drawingml/2006/main">
            <a:off x="609600" y="2336800"/>
            <a:ext cx="5334000" cy="3302000"/>
          </a:xfrm>
          <a:prstGeom xmlns:a="http://schemas.openxmlformats.org/drawingml/2006/main" prst="roundRect">
            <a:avLst>
              <a:gd name="adj" fmla="val 1538"/>
            </a:avLst>
          </a:prstGeom>
          <a:solidFill xmlns:a="http://schemas.openxmlformats.org/drawingml/2006/main">
            <a:srgbClr val="303236"/>
          </a:solidFill>
          <a:ln xmlns:a="http://schemas.openxmlformats.org/drawingml/2006/main" w="12700">
            <a:solidFill>
              <a:srgbClr val="4C4D50"/>
            </a:solidFill>
          </a:ln>
        </p:spPr>
      </p:sp>
      <p:sp>
        <p:nvSpPr>
          <p:cNvPr id="121" name="10-text-1">
            <a:extLst xmlns:a="http://schemas.openxmlformats.org/drawingml/2006/main">
              <a:ext uri="{FF2B5EF4-FFF2-40B4-BE49-F238E27FC236}">
                <a16:creationId xmlns:a16="http://schemas.microsoft.com/office/drawing/2014/main" id="{CAF85D53-9F22-401C-8BA3-8B86B03CF654}"/>
              </a:ext>
            </a:extLst>
          </p:cNvPr>
          <p:cNvSpPr>
            <a:spLocks xmlns:a="http://schemas.openxmlformats.org/drawingml/2006/main"/>
          </p:cNvSpPr>
          <p:nvPr/>
        </p:nvSpPr>
        <p:spPr>
          <a:xfrm xmlns:a="http://schemas.openxmlformats.org/drawingml/2006/main">
            <a:off x="812800" y="3035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122" name="10-text-2">
            <a:extLst xmlns:a="http://schemas.openxmlformats.org/drawingml/2006/main">
              <a:ext uri="{FF2B5EF4-FFF2-40B4-BE49-F238E27FC236}">
                <a16:creationId xmlns:a16="http://schemas.microsoft.com/office/drawing/2014/main" id="{CB7AE533-D4A6-498A-89C3-205BF5F69B0D}"/>
              </a:ext>
            </a:extLst>
          </p:cNvPr>
          <p:cNvSpPr>
            <a:spLocks xmlns:a="http://schemas.openxmlformats.org/drawingml/2006/main"/>
          </p:cNvSpPr>
          <p:nvPr/>
        </p:nvSpPr>
        <p:spPr>
          <a:xfrm xmlns:a="http://schemas.openxmlformats.org/drawingml/2006/main">
            <a:off x="812800" y="3556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AGENTS.md project instructions</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Conventions and checks</a:t>
            </a:r>
          </a:p>
        </p:txBody>
      </p:sp>
      <p:sp>
        <p:nvSpPr>
          <p:cNvPr id="123" name="10-text-3">
            <a:extLst xmlns:a="http://schemas.openxmlformats.org/drawingml/2006/main">
              <a:ext uri="{FF2B5EF4-FFF2-40B4-BE49-F238E27FC236}">
                <a16:creationId xmlns:a16="http://schemas.microsoft.com/office/drawing/2014/main" id="{7164A824-B280-467C-A409-185FD98860BB}"/>
              </a:ext>
            </a:extLst>
          </p:cNvPr>
          <p:cNvSpPr>
            <a:spLocks xmlns:a="http://schemas.openxmlformats.org/drawingml/2006/main"/>
          </p:cNvSpPr>
          <p:nvPr/>
        </p:nvSpPr>
        <p:spPr>
          <a:xfrm xmlns:a="http://schemas.openxmlformats.org/drawingml/2006/main">
            <a:off x="6248400" y="24384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Project conventions</a:t>
            </a:r>
          </a:p>
        </p:txBody>
      </p:sp>
      <p:sp>
        <p:nvSpPr>
          <p:cNvPr id="124" name="10-text-4">
            <a:extLst xmlns:a="http://schemas.openxmlformats.org/drawingml/2006/main">
              <a:ext uri="{FF2B5EF4-FFF2-40B4-BE49-F238E27FC236}">
                <a16:creationId xmlns:a16="http://schemas.microsoft.com/office/drawing/2014/main" id="{D43BEFED-4AD6-4BC4-8D4F-5760C8B4E74E}"/>
              </a:ext>
            </a:extLst>
          </p:cNvPr>
          <p:cNvSpPr>
            <a:spLocks xmlns:a="http://schemas.openxmlformats.org/drawingml/2006/main"/>
          </p:cNvSpPr>
          <p:nvPr/>
        </p:nvSpPr>
        <p:spPr>
          <a:xfrm xmlns:a="http://schemas.openxmlformats.org/drawingml/2006/main">
            <a:off x="6248400" y="2997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Tell the agent how work should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fit this repository.</a:t>
            </a:r>
          </a:p>
        </p:txBody>
      </p:sp>
      <p:sp>
        <p:nvSpPr>
          <p:cNvPr id="125" name="10-text-5">
            <a:extLst xmlns:a="http://schemas.openxmlformats.org/drawingml/2006/main">
              <a:ext uri="{FF2B5EF4-FFF2-40B4-BE49-F238E27FC236}">
                <a16:creationId xmlns:a16="http://schemas.microsoft.com/office/drawing/2014/main" id="{00FC05F6-2634-41E3-A948-AA8B4191B656}"/>
              </a:ext>
            </a:extLst>
          </p:cNvPr>
          <p:cNvSpPr>
            <a:spLocks xmlns:a="http://schemas.openxmlformats.org/drawingml/2006/main"/>
          </p:cNvSpPr>
          <p:nvPr/>
        </p:nvSpPr>
        <p:spPr>
          <a:xfrm xmlns:a="http://schemas.openxmlformats.org/drawingml/2006/main">
            <a:off x="6248400" y="41402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Checks</a:t>
            </a:r>
          </a:p>
        </p:txBody>
      </p:sp>
      <p:sp>
        <p:nvSpPr>
          <p:cNvPr id="126" name="10-text-6">
            <a:extLst xmlns:a="http://schemas.openxmlformats.org/drawingml/2006/main">
              <a:ext uri="{FF2B5EF4-FFF2-40B4-BE49-F238E27FC236}">
                <a16:creationId xmlns:a16="http://schemas.microsoft.com/office/drawing/2014/main" id="{FED26DB8-0C3B-40C6-B15C-A82C4245E766}"/>
              </a:ext>
            </a:extLst>
          </p:cNvPr>
          <p:cNvSpPr>
            <a:spLocks xmlns:a="http://schemas.openxmlformats.org/drawingml/2006/main"/>
          </p:cNvSpPr>
          <p:nvPr/>
        </p:nvSpPr>
        <p:spPr>
          <a:xfrm xmlns:a="http://schemas.openxmlformats.org/drawingml/2006/main">
            <a:off x="6248400" y="46990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Tell it how to validate changes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before handing work back.</a:t>
            </a:r>
          </a:p>
        </p:txBody>
      </p:sp>
      <p:sp>
        <p:nvSpPr>
          <p:cNvPr id="127" name="narrative-number">
            <a:extLst xmlns:a="http://schemas.openxmlformats.org/drawingml/2006/main">
              <a:ext uri="{FF2B5EF4-FFF2-40B4-BE49-F238E27FC236}">
                <a16:creationId xmlns:a16="http://schemas.microsoft.com/office/drawing/2014/main" id="{28CA4565-8784-43AB-9566-E03CBD98B90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4164122206"/>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8" name="!!area-name">
            <a:extLst xmlns:a="http://schemas.openxmlformats.org/drawingml/2006/main">
              <a:ext uri="{FF2B5EF4-FFF2-40B4-BE49-F238E27FC236}">
                <a16:creationId xmlns:a16="http://schemas.microsoft.com/office/drawing/2014/main" id="{E3122770-3323-43B4-A8D4-FC002B19144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owner</a:t>
            </a:r>
          </a:p>
        </p:txBody>
      </p:sp>
      <p:pic>
        <p:nvPicPr>
          <p:cNvPr id="137" name="mini-map"/>
          <p:cNvPicPr>
            <a:picLocks xmlns:a="http://schemas.openxmlformats.org/drawingml/2006/main" noChangeAspect="1"/>
          </p:cNvPicPr>
          <p:nvPr/>
        </p:nvPicPr>
        <p:blipFill>
          <a:blip xmlns:r="http://schemas.openxmlformats.org/officeDocument/2006/relationships" xmlns:a="http://schemas.openxmlformats.org/drawingml/2006/main" r:embed="R763bef52c3954bf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0" name="header-divider">
            <a:extLst xmlns:a="http://schemas.openxmlformats.org/drawingml/2006/main">
              <a:ext uri="{FF2B5EF4-FFF2-40B4-BE49-F238E27FC236}">
                <a16:creationId xmlns:a16="http://schemas.microsoft.com/office/drawing/2014/main" id="{440E7B0E-CC59-4221-984B-F16AF5E82B2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1" name="11-text-1">
            <a:extLst xmlns:a="http://schemas.openxmlformats.org/drawingml/2006/main">
              <a:ext uri="{FF2B5EF4-FFF2-40B4-BE49-F238E27FC236}">
                <a16:creationId xmlns:a16="http://schemas.microsoft.com/office/drawing/2014/main" id="{93940579-A2CE-43B9-9897-980CDCF7A6D3}"/>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“Context, therefore, must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be treated as a finite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resource with diminishing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marginal returns.”</a:t>
            </a:r>
          </a:p>
        </p:txBody>
      </p:sp>
      <p:sp>
        <p:nvSpPr>
          <p:cNvPr id="132" name="11-text-2">
            <a:extLst xmlns:a="http://schemas.openxmlformats.org/drawingml/2006/main">
              <a:ext uri="{FF2B5EF4-FFF2-40B4-BE49-F238E27FC236}">
                <a16:creationId xmlns:a16="http://schemas.microsoft.com/office/drawing/2014/main" id="{34CFD031-5109-4C85-A57B-9E34ABB821DD}"/>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33" name="11-text-3">
            <a:extLst xmlns:a="http://schemas.openxmlformats.org/drawingml/2006/main">
              <a:ext uri="{FF2B5EF4-FFF2-40B4-BE49-F238E27FC236}">
                <a16:creationId xmlns:a16="http://schemas.microsoft.com/office/drawing/2014/main" id="{9CCBEE53-79E4-450C-8256-E2DB74D838AF}"/>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Effective context engineering for AI agents, September 2025</a:t>
            </a:r>
          </a:p>
        </p:txBody>
      </p:sp>
      <p:pic>
        <p:nvPicPr>
          <p:cNvPr id="142" name="11-image-4"/>
          <p:cNvPicPr>
            <a:picLocks xmlns:a="http://schemas.openxmlformats.org/drawingml/2006/main" noChangeAspect="1"/>
          </p:cNvPicPr>
          <p:nvPr/>
        </p:nvPicPr>
        <p:blipFill>
          <a:blip xmlns:r="http://schemas.openxmlformats.org/officeDocument/2006/relationships" xmlns:a="http://schemas.openxmlformats.org/drawingml/2006/main" r:embed="Rb4bca7d6bf8049f0"/>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35" name="narrative-number">
            <a:extLst xmlns:a="http://schemas.openxmlformats.org/drawingml/2006/main">
              <a:ext uri="{FF2B5EF4-FFF2-40B4-BE49-F238E27FC236}">
                <a16:creationId xmlns:a16="http://schemas.microsoft.com/office/drawing/2014/main" id="{4B391014-19D3-4BA5-9F77-D0369E878E2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1796427505"/>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6" name="!!area-name">
            <a:extLst xmlns:a="http://schemas.openxmlformats.org/drawingml/2006/main">
              <a:ext uri="{FF2B5EF4-FFF2-40B4-BE49-F238E27FC236}">
                <a16:creationId xmlns:a16="http://schemas.microsoft.com/office/drawing/2014/main" id="{FD0D0A9D-D202-409F-9DD3-B1B9D3D81D4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owner</a:t>
            </a:r>
          </a:p>
        </p:txBody>
      </p:sp>
      <p:pic>
        <p:nvPicPr>
          <p:cNvPr id="148" name="mini-map"/>
          <p:cNvPicPr>
            <a:picLocks xmlns:a="http://schemas.openxmlformats.org/drawingml/2006/main" noChangeAspect="1"/>
          </p:cNvPicPr>
          <p:nvPr/>
        </p:nvPicPr>
        <p:blipFill>
          <a:blip xmlns:r="http://schemas.openxmlformats.org/officeDocument/2006/relationships" xmlns:a="http://schemas.openxmlformats.org/drawingml/2006/main" r:embed="R3b05617ef5fc4e2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8" name="header-divider">
            <a:extLst xmlns:a="http://schemas.openxmlformats.org/drawingml/2006/main">
              <a:ext uri="{FF2B5EF4-FFF2-40B4-BE49-F238E27FC236}">
                <a16:creationId xmlns:a16="http://schemas.microsoft.com/office/drawing/2014/main" id="{2A7D883C-E8A7-4BD9-BC11-20C9B53DF51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9" name="context-decisions-title">
            <a:extLst xmlns:a="http://schemas.openxmlformats.org/drawingml/2006/main">
              <a:ext uri="{FF2B5EF4-FFF2-40B4-BE49-F238E27FC236}">
                <a16:creationId xmlns:a16="http://schemas.microsoft.com/office/drawing/2014/main" id="{9155EED4-2A64-4FF1-91FE-AE744C97588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context decisions you own</a:t>
            </a:r>
          </a:p>
        </p:txBody>
      </p:sp>
      <p:sp>
        <p:nvSpPr>
          <p:cNvPr id="140" name="11-text-5">
            <a:extLst xmlns:a="http://schemas.openxmlformats.org/drawingml/2006/main">
              <a:ext uri="{FF2B5EF4-FFF2-40B4-BE49-F238E27FC236}">
                <a16:creationId xmlns:a16="http://schemas.microsoft.com/office/drawing/2014/main" id="{2E4A0AB9-E693-4B44-9046-97B321A1EFCF}"/>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belongs in</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the next step?</a:t>
            </a:r>
          </a:p>
        </p:txBody>
      </p:sp>
      <p:sp>
        <p:nvSpPr>
          <p:cNvPr id="141" name="11-text-6">
            <a:extLst xmlns:a="http://schemas.openxmlformats.org/drawingml/2006/main">
              <a:ext uri="{FF2B5EF4-FFF2-40B4-BE49-F238E27FC236}">
                <a16:creationId xmlns:a16="http://schemas.microsoft.com/office/drawing/2014/main" id="{1A536405-8AFC-43A2-AA92-4885FEC08309}"/>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task state, retrieved knowledge.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retrieval for the data and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Start with what the next step needs.</a:t>
            </a:r>
          </a:p>
        </p:txBody>
      </p:sp>
      <p:sp>
        <p:nvSpPr>
          <p:cNvPr id="142" name="11-text-7">
            <a:extLst xmlns:a="http://schemas.openxmlformats.org/drawingml/2006/main">
              <a:ext uri="{FF2B5EF4-FFF2-40B4-BE49-F238E27FC236}">
                <a16:creationId xmlns:a16="http://schemas.microsoft.com/office/drawing/2014/main" id="{27D7F962-2742-4E79-BB5E-D6365EACE31B}"/>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should persist</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or be refreshed?</a:t>
            </a:r>
          </a:p>
        </p:txBody>
      </p:sp>
      <p:sp>
        <p:nvSpPr>
          <p:cNvPr id="143" name="11-text-8">
            <a:extLst xmlns:a="http://schemas.openxmlformats.org/drawingml/2006/main">
              <a:ext uri="{FF2B5EF4-FFF2-40B4-BE49-F238E27FC236}">
                <a16:creationId xmlns:a16="http://schemas.microsoft.com/office/drawing/2014/main" id="{51633EA1-5B7B-407F-9A9C-FDEB921717C6}"/>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durable facts and constraints.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Summarize or discard what is no longer needed.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Refresh information as its sources change.</a:t>
            </a:r>
          </a:p>
        </p:txBody>
      </p:sp>
      <p:sp>
        <p:nvSpPr>
          <p:cNvPr id="144" name="11-text-9">
            <a:extLst xmlns:a="http://schemas.openxmlformats.org/drawingml/2006/main">
              <a:ext uri="{FF2B5EF4-FFF2-40B4-BE49-F238E27FC236}">
                <a16:creationId xmlns:a16="http://schemas.microsoft.com/office/drawing/2014/main" id="{09DCC74A-AD53-4C45-B2DE-8B63AF81173B}"/>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sources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access scope?</a:t>
            </a:r>
          </a:p>
        </p:txBody>
      </p:sp>
      <p:sp>
        <p:nvSpPr>
          <p:cNvPr id="145" name="11-text-10">
            <a:extLst xmlns:a="http://schemas.openxmlformats.org/drawingml/2006/main">
              <a:ext uri="{FF2B5EF4-FFF2-40B4-BE49-F238E27FC236}">
                <a16:creationId xmlns:a16="http://schemas.microsoft.com/office/drawing/2014/main" id="{2CA1CC78-9422-456B-B55A-9BFDC68A1412}"/>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source locations and revisions.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Limit retrieval to the user's authorized scope.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access outside the model.</a:t>
            </a:r>
          </a:p>
        </p:txBody>
      </p:sp>
      <p:sp>
        <p:nvSpPr>
          <p:cNvPr id="146" name="narrative-number">
            <a:extLst xmlns:a="http://schemas.openxmlformats.org/drawingml/2006/main">
              <a:ext uri="{FF2B5EF4-FFF2-40B4-BE49-F238E27FC236}">
                <a16:creationId xmlns:a16="http://schemas.microsoft.com/office/drawing/2014/main" id="{3A63B880-23A4-4792-A35F-9DE66635556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767362461"/>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7" name="!!area-name">
            <a:extLst xmlns:a="http://schemas.openxmlformats.org/drawingml/2006/main">
              <a:ext uri="{FF2B5EF4-FFF2-40B4-BE49-F238E27FC236}">
                <a16:creationId xmlns:a16="http://schemas.microsoft.com/office/drawing/2014/main" id="{BDED1D56-B40B-4990-8762-1E9FFC3BDAE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owner</a:t>
            </a:r>
          </a:p>
        </p:txBody>
      </p:sp>
      <p:pic>
        <p:nvPicPr>
          <p:cNvPr id="162" name="mini-map"/>
          <p:cNvPicPr>
            <a:picLocks xmlns:a="http://schemas.openxmlformats.org/drawingml/2006/main" noChangeAspect="1"/>
          </p:cNvPicPr>
          <p:nvPr/>
        </p:nvPicPr>
        <p:blipFill>
          <a:blip xmlns:r="http://schemas.openxmlformats.org/officeDocument/2006/relationships" xmlns:a="http://schemas.openxmlformats.org/drawingml/2006/main" r:embed="Rebb3b3fad54e4df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49" name="header-divider">
            <a:extLst xmlns:a="http://schemas.openxmlformats.org/drawingml/2006/main">
              <a:ext uri="{FF2B5EF4-FFF2-40B4-BE49-F238E27FC236}">
                <a16:creationId xmlns:a16="http://schemas.microsoft.com/office/drawing/2014/main" id="{20224908-7F85-459B-8F5E-F4C61E1F5B2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50" name="context-maintenance-title">
            <a:extLst xmlns:a="http://schemas.openxmlformats.org/drawingml/2006/main">
              <a:ext uri="{FF2B5EF4-FFF2-40B4-BE49-F238E27FC236}">
                <a16:creationId xmlns:a16="http://schemas.microsoft.com/office/drawing/2014/main" id="{ED9CE623-C522-4FB9-BC22-4407BD09A3F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Living with context choices</a:t>
            </a:r>
          </a:p>
        </p:txBody>
      </p:sp>
      <p:sp>
        <p:nvSpPr>
          <p:cNvPr id="151" name="11-text-11">
            <a:extLst xmlns:a="http://schemas.openxmlformats.org/drawingml/2006/main">
              <a:ext uri="{FF2B5EF4-FFF2-40B4-BE49-F238E27FC236}">
                <a16:creationId xmlns:a16="http://schemas.microsoft.com/office/drawing/2014/main" id="{0B9FCA4F-56E4-4363-9800-27638A6E1385}"/>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Freshness</a:t>
            </a:r>
          </a:p>
        </p:txBody>
      </p:sp>
      <p:sp>
        <p:nvSpPr>
          <p:cNvPr id="152" name="11-text-12">
            <a:extLst xmlns:a="http://schemas.openxmlformats.org/drawingml/2006/main">
              <a:ext uri="{FF2B5EF4-FFF2-40B4-BE49-F238E27FC236}">
                <a16:creationId xmlns:a16="http://schemas.microsoft.com/office/drawing/2014/main" id="{DC549FC0-50C2-47B9-B880-3EF30D9778BF}"/>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New records can make retrieved passages stale.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Refresh retrieval when source versions change.</a:t>
            </a:r>
          </a:p>
        </p:txBody>
      </p:sp>
      <p:sp>
        <p:nvSpPr>
          <p:cNvPr id="153" name="11-text-13">
            <a:extLst xmlns:a="http://schemas.openxmlformats.org/drawingml/2006/main">
              <a:ext uri="{FF2B5EF4-FFF2-40B4-BE49-F238E27FC236}">
                <a16:creationId xmlns:a16="http://schemas.microsoft.com/office/drawing/2014/main" id="{0B2C93CE-B8E7-4580-85B8-86ACEECD022B}"/>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Context growth</a:t>
            </a:r>
          </a:p>
        </p:txBody>
      </p:sp>
      <p:sp>
        <p:nvSpPr>
          <p:cNvPr id="154" name="11-text-14">
            <a:extLst xmlns:a="http://schemas.openxmlformats.org/drawingml/2006/main">
              <a:ext uri="{FF2B5EF4-FFF2-40B4-BE49-F238E27FC236}">
                <a16:creationId xmlns:a16="http://schemas.microsoft.com/office/drawing/2014/main" id="{A1640B1C-09BC-47FC-8C42-1E693FB58AD9}"/>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Summaries can lose constraints as sessions grow.</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 decisions and unresolved questions.</a:t>
            </a:r>
          </a:p>
        </p:txBody>
      </p:sp>
      <p:sp>
        <p:nvSpPr>
          <p:cNvPr id="155" name="11-text-15">
            <a:extLst xmlns:a="http://schemas.openxmlformats.org/drawingml/2006/main">
              <a:ext uri="{FF2B5EF4-FFF2-40B4-BE49-F238E27FC236}">
                <a16:creationId xmlns:a16="http://schemas.microsoft.com/office/drawing/2014/main" id="{94785FA0-88AE-48A2-8257-4A546B951E93}"/>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Boundaries</a:t>
            </a:r>
          </a:p>
        </p:txBody>
      </p:sp>
      <p:sp>
        <p:nvSpPr>
          <p:cNvPr id="156" name="11-text-16">
            <a:extLst xmlns:a="http://schemas.openxmlformats.org/drawingml/2006/main">
              <a:ext uri="{FF2B5EF4-FFF2-40B4-BE49-F238E27FC236}">
                <a16:creationId xmlns:a16="http://schemas.microsoft.com/office/drawing/2014/main" id="{361FA62F-B2BB-488D-B925-A1E1B825D1C7}"/>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Memory or retrieval can cross access boundaries.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Recheck access and preserve provenance.</a:t>
            </a:r>
          </a:p>
        </p:txBody>
      </p:sp>
      <p:sp>
        <p:nvSpPr>
          <p:cNvPr id="157" name="11-text-17">
            <a:extLst xmlns:a="http://schemas.openxmlformats.org/drawingml/2006/main">
              <a:ext uri="{FF2B5EF4-FFF2-40B4-BE49-F238E27FC236}">
                <a16:creationId xmlns:a16="http://schemas.microsoft.com/office/drawing/2014/main" id="{C5CB3FF8-6D9A-4180-8E0A-82712D8686B9}"/>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Stable prefixes can help caching. Correctness and access take priority.</a:t>
            </a:r>
          </a:p>
        </p:txBody>
      </p:sp>
      <p:sp>
        <p:nvSpPr>
          <p:cNvPr id="158" name="11-text-18">
            <a:extLst xmlns:a="http://schemas.openxmlformats.org/drawingml/2006/main">
              <a:ext uri="{FF2B5EF4-FFF2-40B4-BE49-F238E27FC236}">
                <a16:creationId xmlns:a16="http://schemas.microsoft.com/office/drawing/2014/main" id="{1D29EDB6-0ED9-4DB1-BA07-CCD1E357A2E3}"/>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159" name="11-text-19">
            <a:extLst xmlns:a="http://schemas.openxmlformats.org/drawingml/2006/main">
              <a:ext uri="{FF2B5EF4-FFF2-40B4-BE49-F238E27FC236}">
                <a16:creationId xmlns:a16="http://schemas.microsoft.com/office/drawing/2014/main" id="{FC33F94B-F9BD-442B-9F7C-EC6A5F8BFCA7}"/>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instead of curating.</a:t>
            </a:r>
          </a:p>
        </p:txBody>
      </p:sp>
      <p:sp>
        <p:nvSpPr>
          <p:cNvPr id="160" name="narrative-number">
            <a:extLst xmlns:a="http://schemas.openxmlformats.org/drawingml/2006/main">
              <a:ext uri="{FF2B5EF4-FFF2-40B4-BE49-F238E27FC236}">
                <a16:creationId xmlns:a16="http://schemas.microsoft.com/office/drawing/2014/main" id="{FAC9BE84-D118-4F3E-B0FE-E676BB7F8CC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216259468"/>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1" name="!!area-name">
            <a:extLst xmlns:a="http://schemas.openxmlformats.org/drawingml/2006/main">
              <a:ext uri="{FF2B5EF4-FFF2-40B4-BE49-F238E27FC236}">
                <a16:creationId xmlns:a16="http://schemas.microsoft.com/office/drawing/2014/main" id="{97C02936-B2D8-47EC-873E-541099F34D9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owner</a:t>
            </a:r>
          </a:p>
        </p:txBody>
      </p:sp>
      <p:pic>
        <p:nvPicPr>
          <p:cNvPr id="178" name="mini-map"/>
          <p:cNvPicPr>
            <a:picLocks xmlns:a="http://schemas.openxmlformats.org/drawingml/2006/main" noChangeAspect="1"/>
          </p:cNvPicPr>
          <p:nvPr/>
        </p:nvPicPr>
        <p:blipFill>
          <a:blip xmlns:r="http://schemas.openxmlformats.org/officeDocument/2006/relationships" xmlns:a="http://schemas.openxmlformats.org/drawingml/2006/main" r:embed="R27d0064d573d4e1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3" name="header-divider">
            <a:extLst xmlns:a="http://schemas.openxmlformats.org/drawingml/2006/main">
              <a:ext uri="{FF2B5EF4-FFF2-40B4-BE49-F238E27FC236}">
                <a16:creationId xmlns:a16="http://schemas.microsoft.com/office/drawing/2014/main" id="{AB8FCE04-39F8-495D-BD2F-E5C4FE9E379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4" name="context-application-title">
            <a:extLst xmlns:a="http://schemas.openxmlformats.org/drawingml/2006/main">
              <a:ext uri="{FF2B5EF4-FFF2-40B4-BE49-F238E27FC236}">
                <a16:creationId xmlns:a16="http://schemas.microsoft.com/office/drawing/2014/main" id="{9A56D5E7-C6FA-48A8-AA7A-AE7118B113C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 starting context for the FRB brief</a:t>
            </a:r>
          </a:p>
        </p:txBody>
      </p:sp>
      <p:sp>
        <p:nvSpPr>
          <p:cNvPr id="165" name="11-text-20">
            <a:extLst xmlns:a="http://schemas.openxmlformats.org/drawingml/2006/main">
              <a:ext uri="{FF2B5EF4-FFF2-40B4-BE49-F238E27FC236}">
                <a16:creationId xmlns:a16="http://schemas.microsoft.com/office/drawing/2014/main" id="{FA67BC1B-36CF-44AE-BBB7-2E02407E4E87}"/>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context.</a:t>
            </a:r>
          </a:p>
        </p:txBody>
      </p:sp>
      <p:sp>
        <p:nvSpPr>
          <p:cNvPr id="166" name="11-text-21">
            <a:extLst xmlns:a="http://schemas.openxmlformats.org/drawingml/2006/main">
              <a:ext uri="{FF2B5EF4-FFF2-40B4-BE49-F238E27FC236}">
                <a16:creationId xmlns:a16="http://schemas.microsoft.com/office/drawing/2014/main" id="{50EDC4E3-5893-4FE6-ACA5-B2AAA886D864}"/>
              </a:ext>
            </a:extLst>
          </p:cNvPr>
          <p:cNvSpPr>
            <a:spLocks xmlns:a="http://schemas.openxmlformats.org/drawingml/2006/main"/>
          </p:cNvSpPr>
          <p:nvPr/>
        </p:nvSpPr>
        <p:spPr>
          <a:xfrm xmlns:a="http://schemas.openxmlformats.org/drawingml/2006/main">
            <a:off x="609600" y="28448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slide 6 · preliminary</a:t>
            </a:r>
          </a:p>
        </p:txBody>
      </p:sp>
      <p:sp>
        <p:nvSpPr>
          <p:cNvPr id="167" name="11-text-22">
            <a:extLst xmlns:a="http://schemas.openxmlformats.org/drawingml/2006/main">
              <a:ext uri="{FF2B5EF4-FFF2-40B4-BE49-F238E27FC236}">
                <a16:creationId xmlns:a16="http://schemas.microsoft.com/office/drawing/2014/main" id="{FF3E8C5B-0AD1-4E44-8245-E4CADCD25026}"/>
              </a:ext>
            </a:extLst>
          </p:cNvPr>
          <p:cNvSpPr>
            <a:spLocks xmlns:a="http://schemas.openxmlformats.org/drawingml/2006/main"/>
          </p:cNvSpPr>
          <p:nvPr/>
        </p:nvSpPr>
        <p:spPr>
          <a:xfrm xmlns:a="http://schemas.openxmlformats.org/drawingml/2006/main">
            <a:off x="609600" y="3251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possible cause.”</a:t>
            </a:r>
          </a:p>
        </p:txBody>
      </p:sp>
      <p:sp>
        <p:nvSpPr>
          <p:cNvPr id="168" name="11-text-23">
            <a:extLst xmlns:a="http://schemas.openxmlformats.org/drawingml/2006/main">
              <a:ext uri="{FF2B5EF4-FFF2-40B4-BE49-F238E27FC236}">
                <a16:creationId xmlns:a16="http://schemas.microsoft.com/office/drawing/2014/main" id="{3F96A18F-3578-4D45-A4A9-BDE1C18F1A6F}"/>
              </a:ext>
            </a:extLst>
          </p:cNvPr>
          <p:cNvSpPr>
            <a:spLocks xmlns:a="http://schemas.openxmlformats.org/drawingml/2006/main"/>
          </p:cNvSpPr>
          <p:nvPr/>
        </p:nvSpPr>
        <p:spPr>
          <a:xfrm xmlns:a="http://schemas.openxmlformats.org/drawingml/2006/main">
            <a:off x="609600" y="41910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Later minutes</a:t>
            </a:r>
          </a:p>
        </p:txBody>
      </p:sp>
      <p:sp>
        <p:nvSpPr>
          <p:cNvPr id="169" name="11-text-24">
            <a:extLst xmlns:a="http://schemas.openxmlformats.org/drawingml/2006/main">
              <a:ext uri="{FF2B5EF4-FFF2-40B4-BE49-F238E27FC236}">
                <a16:creationId xmlns:a16="http://schemas.microsoft.com/office/drawing/2014/main" id="{275160FE-3393-40B9-9317-479BACC8D599}"/>
              </a:ext>
            </a:extLst>
          </p:cNvPr>
          <p:cNvSpPr>
            <a:spLocks xmlns:a="http://schemas.openxmlformats.org/drawingml/2006/main"/>
          </p:cNvSpPr>
          <p:nvPr/>
        </p:nvSpPr>
        <p:spPr>
          <a:xfrm xmlns:a="http://schemas.openxmlformats.org/drawingml/2006/main">
            <a:off x="609600" y="48260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170" name="11-text-25">
            <a:extLst xmlns:a="http://schemas.openxmlformats.org/drawingml/2006/main">
              <a:ext uri="{FF2B5EF4-FFF2-40B4-BE49-F238E27FC236}">
                <a16:creationId xmlns:a16="http://schemas.microsoft.com/office/drawing/2014/main" id="{2C40E5BA-3EB4-49E6-9625-65BBEABCE3E7}"/>
              </a:ext>
            </a:extLst>
          </p:cNvPr>
          <p:cNvSpPr>
            <a:spLocks xmlns:a="http://schemas.openxmlformats.org/drawingml/2006/main"/>
          </p:cNvSpPr>
          <p:nvPr/>
        </p:nvSpPr>
        <p:spPr>
          <a:xfrm xmlns:a="http://schemas.openxmlformats.org/drawingml/2006/main">
            <a:off x="6248400" y="284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a:t>
            </a:r>
          </a:p>
        </p:txBody>
      </p:sp>
      <p:sp>
        <p:nvSpPr>
          <p:cNvPr id="171" name="11-text-26">
            <a:extLst xmlns:a="http://schemas.openxmlformats.org/drawingml/2006/main">
              <a:ext uri="{FF2B5EF4-FFF2-40B4-BE49-F238E27FC236}">
                <a16:creationId xmlns:a16="http://schemas.microsoft.com/office/drawing/2014/main" id="{BF7EC006-EB0C-4F28-B512-5CB4BB1D8C53}"/>
              </a:ext>
            </a:extLst>
          </p:cNvPr>
          <p:cNvSpPr>
            <a:spLocks xmlns:a="http://schemas.openxmlformats.org/drawingml/2006/main"/>
          </p:cNvSpPr>
          <p:nvPr/>
        </p:nvSpPr>
        <p:spPr>
          <a:xfrm xmlns:a="http://schemas.openxmlformats.org/drawingml/2006/main">
            <a:off x="6248400" y="32258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Relevant passages, with</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revisions and source locations.</a:t>
            </a:r>
          </a:p>
        </p:txBody>
      </p:sp>
      <p:sp>
        <p:nvSpPr>
          <p:cNvPr id="172" name="11-text-27">
            <a:extLst xmlns:a="http://schemas.openxmlformats.org/drawingml/2006/main">
              <a:ext uri="{FF2B5EF4-FFF2-40B4-BE49-F238E27FC236}">
                <a16:creationId xmlns:a16="http://schemas.microsoft.com/office/drawing/2014/main" id="{3D91F4E6-5D5B-4207-8DAA-D86D223BBCAC}"/>
              </a:ext>
            </a:extLst>
          </p:cNvPr>
          <p:cNvSpPr>
            <a:spLocks xmlns:a="http://schemas.openxmlformats.org/drawingml/2006/main"/>
          </p:cNvSpPr>
          <p:nvPr/>
        </p:nvSpPr>
        <p:spPr>
          <a:xfrm xmlns:a="http://schemas.openxmlformats.org/drawingml/2006/main">
            <a:off x="6248400" y="40132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Retain</a:t>
            </a:r>
          </a:p>
        </p:txBody>
      </p:sp>
      <p:sp>
        <p:nvSpPr>
          <p:cNvPr id="173" name="11-text-28">
            <a:extLst xmlns:a="http://schemas.openxmlformats.org/drawingml/2006/main">
              <a:ext uri="{FF2B5EF4-FFF2-40B4-BE49-F238E27FC236}">
                <a16:creationId xmlns:a16="http://schemas.microsoft.com/office/drawing/2014/main" id="{6A8CA24F-B5C7-48BD-A477-DC4D1AAB9999}"/>
              </a:ext>
            </a:extLst>
          </p:cNvPr>
          <p:cNvSpPr>
            <a:spLocks xmlns:a="http://schemas.openxmlformats.org/drawingml/2006/main"/>
          </p:cNvSpPr>
          <p:nvPr/>
        </p:nvSpPr>
        <p:spPr>
          <a:xfrm xmlns:a="http://schemas.openxmlformats.org/drawingml/2006/main">
            <a:off x="6248400" y="43942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Unresolved cause.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174" name="11-text-29">
            <a:extLst xmlns:a="http://schemas.openxmlformats.org/drawingml/2006/main">
              <a:ext uri="{FF2B5EF4-FFF2-40B4-BE49-F238E27FC236}">
                <a16:creationId xmlns:a16="http://schemas.microsoft.com/office/drawing/2014/main" id="{CE2B4562-124E-4FCD-8EAA-612E3FBE3C2F}"/>
              </a:ext>
            </a:extLst>
          </p:cNvPr>
          <p:cNvSpPr>
            <a:spLocks xmlns:a="http://schemas.openxmlformats.org/drawingml/2006/main"/>
          </p:cNvSpPr>
          <p:nvPr/>
        </p:nvSpPr>
        <p:spPr>
          <a:xfrm xmlns:a="http://schemas.openxmlformats.org/drawingml/2006/main">
            <a:off x="6248400" y="51816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Refresh</a:t>
            </a:r>
          </a:p>
        </p:txBody>
      </p:sp>
      <p:sp>
        <p:nvSpPr>
          <p:cNvPr id="175" name="11-text-30">
            <a:extLst xmlns:a="http://schemas.openxmlformats.org/drawingml/2006/main">
              <a:ext uri="{FF2B5EF4-FFF2-40B4-BE49-F238E27FC236}">
                <a16:creationId xmlns:a16="http://schemas.microsoft.com/office/drawing/2014/main" id="{913D95F9-C30F-4851-BAFA-63738557D2BD}"/>
              </a:ext>
            </a:extLst>
          </p:cNvPr>
          <p:cNvSpPr>
            <a:spLocks xmlns:a="http://schemas.openxmlformats.org/drawingml/2006/main"/>
          </p:cNvSpPr>
          <p:nvPr/>
        </p:nvSpPr>
        <p:spPr>
          <a:xfrm xmlns:a="http://schemas.openxmlformats.org/drawingml/2006/main">
            <a:off x="6248400" y="55626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Update sources and recheck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before finalizing the brief.</a:t>
            </a:r>
          </a:p>
        </p:txBody>
      </p:sp>
      <p:sp>
        <p:nvSpPr>
          <p:cNvPr id="176" name="narrative-number">
            <a:extLst xmlns:a="http://schemas.openxmlformats.org/drawingml/2006/main">
              <a:ext uri="{FF2B5EF4-FFF2-40B4-BE49-F238E27FC236}">
                <a16:creationId xmlns:a16="http://schemas.microsoft.com/office/drawing/2014/main" id="{624692F3-67F6-4174-A550-A2DE729CEFB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3078990615"/>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77" name="!!area-header">
            <a:extLst xmlns:a="http://schemas.openxmlformats.org/drawingml/2006/main">
              <a:ext uri="{FF2B5EF4-FFF2-40B4-BE49-F238E27FC236}">
                <a16:creationId xmlns:a16="http://schemas.microsoft.com/office/drawing/2014/main" id="{ADDEE70B-6215-4C3E-96BD-B4308ECA6BAD}"/>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178" name="!!area-name">
            <a:extLst xmlns:a="http://schemas.openxmlformats.org/drawingml/2006/main">
              <a:ext uri="{FF2B5EF4-FFF2-40B4-BE49-F238E27FC236}">
                <a16:creationId xmlns:a16="http://schemas.microsoft.com/office/drawing/2014/main" id="{A04C74BF-89F6-4F86-ACAE-4C352040CA1E}"/>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Tools and extensibility</a:t>
            </a:r>
          </a:p>
        </p:txBody>
      </p:sp>
      <p:sp>
        <p:nvSpPr>
          <p:cNvPr id="179" name="!!area-beat">
            <a:extLst xmlns:a="http://schemas.openxmlformats.org/drawingml/2006/main">
              <a:ext uri="{FF2B5EF4-FFF2-40B4-BE49-F238E27FC236}">
                <a16:creationId xmlns:a16="http://schemas.microsoft.com/office/drawing/2014/main" id="{5EF13999-B287-4821-9FA4-ACC665F5005A}"/>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180" name="header-divider">
            <a:extLst xmlns:a="http://schemas.openxmlformats.org/drawingml/2006/main">
              <a:ext uri="{FF2B5EF4-FFF2-40B4-BE49-F238E27FC236}">
                <a16:creationId xmlns:a16="http://schemas.microsoft.com/office/drawing/2014/main" id="{2685BF76-5BA8-424D-ACC9-F0B4CDBBEEC2}"/>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81" name="!!screenshot-MCP configuration">
            <a:extLst xmlns:a="http://schemas.openxmlformats.org/drawingml/2006/main">
              <a:ext uri="{FF2B5EF4-FFF2-40B4-BE49-F238E27FC236}">
                <a16:creationId xmlns:a16="http://schemas.microsoft.com/office/drawing/2014/main" id="{DCA2D728-C7F5-44C6-B787-C2F34CAE2C42}"/>
              </a:ext>
            </a:extLst>
          </p:cNvPr>
          <p:cNvSpPr>
            <a:spLocks xmlns:a="http://schemas.openxmlformats.org/drawingml/2006/main"/>
          </p:cNvSpPr>
          <p:nvPr/>
        </p:nvSpPr>
        <p:spPr>
          <a:xfrm xmlns:a="http://schemas.openxmlformats.org/drawingml/2006/main">
            <a:off x="609600" y="2336800"/>
            <a:ext cx="5334000" cy="3302000"/>
          </a:xfrm>
          <a:prstGeom xmlns:a="http://schemas.openxmlformats.org/drawingml/2006/main" prst="roundRect">
            <a:avLst>
              <a:gd name="adj" fmla="val 1538"/>
            </a:avLst>
          </a:prstGeom>
          <a:solidFill xmlns:a="http://schemas.openxmlformats.org/drawingml/2006/main">
            <a:srgbClr val="303236"/>
          </a:solidFill>
          <a:ln xmlns:a="http://schemas.openxmlformats.org/drawingml/2006/main" w="12700">
            <a:solidFill>
              <a:srgbClr val="4C4D50"/>
            </a:solidFill>
          </a:ln>
        </p:spPr>
      </p:sp>
      <p:sp>
        <p:nvSpPr>
          <p:cNvPr id="182" name="12-text-1">
            <a:extLst xmlns:a="http://schemas.openxmlformats.org/drawingml/2006/main">
              <a:ext uri="{FF2B5EF4-FFF2-40B4-BE49-F238E27FC236}">
                <a16:creationId xmlns:a16="http://schemas.microsoft.com/office/drawing/2014/main" id="{7DD49BD0-0790-47E6-9363-2F1D9A11DE43}"/>
              </a:ext>
            </a:extLst>
          </p:cNvPr>
          <p:cNvSpPr>
            <a:spLocks xmlns:a="http://schemas.openxmlformats.org/drawingml/2006/main"/>
          </p:cNvSpPr>
          <p:nvPr/>
        </p:nvSpPr>
        <p:spPr>
          <a:xfrm xmlns:a="http://schemas.openxmlformats.org/drawingml/2006/main">
            <a:off x="812800" y="3035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183" name="12-text-2">
            <a:extLst xmlns:a="http://schemas.openxmlformats.org/drawingml/2006/main">
              <a:ext uri="{FF2B5EF4-FFF2-40B4-BE49-F238E27FC236}">
                <a16:creationId xmlns:a16="http://schemas.microsoft.com/office/drawing/2014/main" id="{2C944BD2-4B93-4889-B457-E728BC7BD313}"/>
              </a:ext>
            </a:extLst>
          </p:cNvPr>
          <p:cNvSpPr>
            <a:spLocks xmlns:a="http://schemas.openxmlformats.org/drawingml/2006/main"/>
          </p:cNvSpPr>
          <p:nvPr/>
        </p:nvSpPr>
        <p:spPr>
          <a:xfrm xmlns:a="http://schemas.openxmlformats.org/drawingml/2006/main">
            <a:off x="812800" y="3556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MCP server configuration</a:t>
            </a:r>
          </a:p>
        </p:txBody>
      </p:sp>
      <p:sp>
        <p:nvSpPr>
          <p:cNvPr id="184" name="12-text-3">
            <a:extLst xmlns:a="http://schemas.openxmlformats.org/drawingml/2006/main">
              <a:ext uri="{FF2B5EF4-FFF2-40B4-BE49-F238E27FC236}">
                <a16:creationId xmlns:a16="http://schemas.microsoft.com/office/drawing/2014/main" id="{4A50E2AF-FEB6-400C-8755-523D158FA401}"/>
              </a:ext>
            </a:extLst>
          </p:cNvPr>
          <p:cNvSpPr>
            <a:spLocks xmlns:a="http://schemas.openxmlformats.org/drawingml/2006/main"/>
          </p:cNvSpPr>
          <p:nvPr/>
        </p:nvSpPr>
        <p:spPr>
          <a:xfrm xmlns:a="http://schemas.openxmlformats.org/drawingml/2006/main">
            <a:off x="6248400" y="24384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Connect a service</a:t>
            </a:r>
          </a:p>
        </p:txBody>
      </p:sp>
      <p:sp>
        <p:nvSpPr>
          <p:cNvPr id="185" name="12-text-4">
            <a:extLst xmlns:a="http://schemas.openxmlformats.org/drawingml/2006/main">
              <a:ext uri="{FF2B5EF4-FFF2-40B4-BE49-F238E27FC236}">
                <a16:creationId xmlns:a16="http://schemas.microsoft.com/office/drawing/2014/main" id="{AE85E5FD-E694-4AE3-84C9-589B08A79D6D}"/>
              </a:ext>
            </a:extLst>
          </p:cNvPr>
          <p:cNvSpPr>
            <a:spLocks xmlns:a="http://schemas.openxmlformats.org/drawingml/2006/main"/>
          </p:cNvSpPr>
          <p:nvPr/>
        </p:nvSpPr>
        <p:spPr>
          <a:xfrm xmlns:a="http://schemas.openxmlformats.org/drawingml/2006/main">
            <a:off x="6248400" y="2997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Add an MCP server to make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its tools available.</a:t>
            </a:r>
          </a:p>
        </p:txBody>
      </p:sp>
      <p:sp>
        <p:nvSpPr>
          <p:cNvPr id="186" name="12-text-5">
            <a:extLst xmlns:a="http://schemas.openxmlformats.org/drawingml/2006/main">
              <a:ext uri="{FF2B5EF4-FFF2-40B4-BE49-F238E27FC236}">
                <a16:creationId xmlns:a16="http://schemas.microsoft.com/office/drawing/2014/main" id="{8469E1A9-6DE6-4402-93B2-E283D0B1E10B}"/>
              </a:ext>
            </a:extLst>
          </p:cNvPr>
          <p:cNvSpPr>
            <a:spLocks xmlns:a="http://schemas.openxmlformats.org/drawingml/2006/main"/>
          </p:cNvSpPr>
          <p:nvPr/>
        </p:nvSpPr>
        <p:spPr>
          <a:xfrm xmlns:a="http://schemas.openxmlformats.org/drawingml/2006/main">
            <a:off x="6248400" y="41402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Use its tools</a:t>
            </a:r>
          </a:p>
        </p:txBody>
      </p:sp>
      <p:sp>
        <p:nvSpPr>
          <p:cNvPr id="187" name="12-text-6">
            <a:extLst xmlns:a="http://schemas.openxmlformats.org/drawingml/2006/main">
              <a:ext uri="{FF2B5EF4-FFF2-40B4-BE49-F238E27FC236}">
                <a16:creationId xmlns:a16="http://schemas.microsoft.com/office/drawing/2014/main" id="{F797F2BB-2DC1-4019-9BF5-E51E357AA609}"/>
              </a:ext>
            </a:extLst>
          </p:cNvPr>
          <p:cNvSpPr>
            <a:spLocks xmlns:a="http://schemas.openxmlformats.org/drawingml/2006/main"/>
          </p:cNvSpPr>
          <p:nvPr/>
        </p:nvSpPr>
        <p:spPr>
          <a:xfrm xmlns:a="http://schemas.openxmlformats.org/drawingml/2006/main">
            <a:off x="6248400" y="46990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coding agent can call</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those tools as it works.</a:t>
            </a:r>
          </a:p>
        </p:txBody>
      </p:sp>
      <p:sp>
        <p:nvSpPr>
          <p:cNvPr id="188" name="narrative-number">
            <a:extLst xmlns:a="http://schemas.openxmlformats.org/drawingml/2006/main">
              <a:ext uri="{FF2B5EF4-FFF2-40B4-BE49-F238E27FC236}">
                <a16:creationId xmlns:a16="http://schemas.microsoft.com/office/drawing/2014/main" id="{62F85AAF-6167-45C3-BD46-A407FC7D212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2917740731"/>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89" name="!!area-name">
            <a:extLst xmlns:a="http://schemas.openxmlformats.org/drawingml/2006/main">
              <a:ext uri="{FF2B5EF4-FFF2-40B4-BE49-F238E27FC236}">
                <a16:creationId xmlns:a16="http://schemas.microsoft.com/office/drawing/2014/main" id="{42A933CC-CD4C-47AC-8A27-584D5D7BF65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owner</a:t>
            </a:r>
          </a:p>
        </p:txBody>
      </p:sp>
      <p:pic>
        <p:nvPicPr>
          <p:cNvPr id="198" name="mini-map"/>
          <p:cNvPicPr>
            <a:picLocks xmlns:a="http://schemas.openxmlformats.org/drawingml/2006/main" noChangeAspect="1"/>
          </p:cNvPicPr>
          <p:nvPr/>
        </p:nvPicPr>
        <p:blipFill>
          <a:blip xmlns:r="http://schemas.openxmlformats.org/officeDocument/2006/relationships" xmlns:a="http://schemas.openxmlformats.org/drawingml/2006/main" r:embed="R0a52e69d10fd477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1" name="header-divider">
            <a:extLst xmlns:a="http://schemas.openxmlformats.org/drawingml/2006/main">
              <a:ext uri="{FF2B5EF4-FFF2-40B4-BE49-F238E27FC236}">
                <a16:creationId xmlns:a16="http://schemas.microsoft.com/office/drawing/2014/main" id="{B4D582F9-7F97-4415-9C3F-29EE3B44BD7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92" name="13-text-1">
            <a:extLst xmlns:a="http://schemas.openxmlformats.org/drawingml/2006/main">
              <a:ext uri="{FF2B5EF4-FFF2-40B4-BE49-F238E27FC236}">
                <a16:creationId xmlns:a16="http://schemas.microsoft.com/office/drawing/2014/main" id="{82BBFE44-BE9C-4647-B25D-1B590D3E2E0A}"/>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“Agents are only as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effective as the tools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give them.”</a:t>
            </a:r>
          </a:p>
        </p:txBody>
      </p:sp>
      <p:sp>
        <p:nvSpPr>
          <p:cNvPr id="193" name="13-text-2">
            <a:extLst xmlns:a="http://schemas.openxmlformats.org/drawingml/2006/main">
              <a:ext uri="{FF2B5EF4-FFF2-40B4-BE49-F238E27FC236}">
                <a16:creationId xmlns:a16="http://schemas.microsoft.com/office/drawing/2014/main" id="{A6F1DB3C-4847-46D8-825F-7ADFF879E36C}"/>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94" name="13-text-3">
            <a:extLst xmlns:a="http://schemas.openxmlformats.org/drawingml/2006/main">
              <a:ext uri="{FF2B5EF4-FFF2-40B4-BE49-F238E27FC236}">
                <a16:creationId xmlns:a16="http://schemas.microsoft.com/office/drawing/2014/main" id="{1C2C2343-0A47-49E4-9F7D-BD8B10CA6596}"/>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Writing effective tools for agents, September 2025</a:t>
            </a:r>
          </a:p>
        </p:txBody>
      </p:sp>
      <p:pic>
        <p:nvPicPr>
          <p:cNvPr id="203" name="13-image-4"/>
          <p:cNvPicPr>
            <a:picLocks xmlns:a="http://schemas.openxmlformats.org/drawingml/2006/main" noChangeAspect="1"/>
          </p:cNvPicPr>
          <p:nvPr/>
        </p:nvPicPr>
        <p:blipFill>
          <a:blip xmlns:r="http://schemas.openxmlformats.org/officeDocument/2006/relationships" xmlns:a="http://schemas.openxmlformats.org/drawingml/2006/main" r:embed="Rfb4456d4574d4671"/>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96" name="narrative-number">
            <a:extLst xmlns:a="http://schemas.openxmlformats.org/drawingml/2006/main">
              <a:ext uri="{FF2B5EF4-FFF2-40B4-BE49-F238E27FC236}">
                <a16:creationId xmlns:a16="http://schemas.microsoft.com/office/drawing/2014/main" id="{D72A1D54-334E-4429-A22E-384053497EA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3023841333"/>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7" name="!!area-name">
            <a:extLst xmlns:a="http://schemas.openxmlformats.org/drawingml/2006/main">
              <a:ext uri="{FF2B5EF4-FFF2-40B4-BE49-F238E27FC236}">
                <a16:creationId xmlns:a16="http://schemas.microsoft.com/office/drawing/2014/main" id="{1D762C16-5DE4-4D24-93D9-E00D3F9E187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owner</a:t>
            </a:r>
          </a:p>
        </p:txBody>
      </p:sp>
      <p:pic>
        <p:nvPicPr>
          <p:cNvPr id="209" name="mini-map"/>
          <p:cNvPicPr>
            <a:picLocks xmlns:a="http://schemas.openxmlformats.org/drawingml/2006/main" noChangeAspect="1"/>
          </p:cNvPicPr>
          <p:nvPr/>
        </p:nvPicPr>
        <p:blipFill>
          <a:blip xmlns:r="http://schemas.openxmlformats.org/officeDocument/2006/relationships" xmlns:a="http://schemas.openxmlformats.org/drawingml/2006/main" r:embed="R1ea699f3c00642a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9" name="header-divider">
            <a:extLst xmlns:a="http://schemas.openxmlformats.org/drawingml/2006/main">
              <a:ext uri="{FF2B5EF4-FFF2-40B4-BE49-F238E27FC236}">
                <a16:creationId xmlns:a16="http://schemas.microsoft.com/office/drawing/2014/main" id="{83C37A0D-7347-4B4D-8DA2-C1BD8E42235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00" name="tools-decisions-title">
            <a:extLst xmlns:a="http://schemas.openxmlformats.org/drawingml/2006/main">
              <a:ext uri="{FF2B5EF4-FFF2-40B4-BE49-F238E27FC236}">
                <a16:creationId xmlns:a16="http://schemas.microsoft.com/office/drawing/2014/main" id="{83817B7C-0717-40E6-BCF8-B42BFD2ED59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tool decisions you own</a:t>
            </a:r>
          </a:p>
        </p:txBody>
      </p:sp>
      <p:sp>
        <p:nvSpPr>
          <p:cNvPr id="201" name="13-text-5">
            <a:extLst xmlns:a="http://schemas.openxmlformats.org/drawingml/2006/main">
              <a:ext uri="{FF2B5EF4-FFF2-40B4-BE49-F238E27FC236}">
                <a16:creationId xmlns:a16="http://schemas.microsoft.com/office/drawing/2014/main" id="{EA4E7035-A125-498F-87E5-DA8E9ED77386}"/>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capabilities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need tools?</a:t>
            </a:r>
          </a:p>
        </p:txBody>
      </p:sp>
      <p:sp>
        <p:nvSpPr>
          <p:cNvPr id="202" name="13-text-6">
            <a:extLst xmlns:a="http://schemas.openxmlformats.org/drawingml/2006/main">
              <a:ext uri="{FF2B5EF4-FFF2-40B4-BE49-F238E27FC236}">
                <a16:creationId xmlns:a16="http://schemas.microsoft.com/office/drawing/2014/main" id="{088C45F2-30CF-4797-B14E-E3CF4CF1407A}"/>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operations that serve the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Test granularity and discovery with real use.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Begin with a small, distinct tool set.</a:t>
            </a:r>
          </a:p>
        </p:txBody>
      </p:sp>
      <p:sp>
        <p:nvSpPr>
          <p:cNvPr id="203" name="13-text-7">
            <a:extLst xmlns:a="http://schemas.openxmlformats.org/drawingml/2006/main">
              <a:ext uri="{FF2B5EF4-FFF2-40B4-BE49-F238E27FC236}">
                <a16:creationId xmlns:a16="http://schemas.microsoft.com/office/drawing/2014/main" id="{6F10B809-F8CE-4867-A8BD-01E4078E880E}"/>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is the tool's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contract?</a:t>
            </a:r>
          </a:p>
        </p:txBody>
      </p:sp>
      <p:sp>
        <p:nvSpPr>
          <p:cNvPr id="204" name="13-text-8">
            <a:extLst xmlns:a="http://schemas.openxmlformats.org/drawingml/2006/main">
              <a:ext uri="{FF2B5EF4-FFF2-40B4-BE49-F238E27FC236}">
                <a16:creationId xmlns:a16="http://schemas.microsoft.com/office/drawing/2014/main" id="{BEE6E69C-A7B5-4341-B798-CB0A63EB0167}"/>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Define names, inputs, results, and errors.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Return useful context with stable IDs.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descriptions with real tasks.</a:t>
            </a:r>
          </a:p>
        </p:txBody>
      </p:sp>
      <p:sp>
        <p:nvSpPr>
          <p:cNvPr id="205" name="13-text-9">
            <a:extLst xmlns:a="http://schemas.openxmlformats.org/drawingml/2006/main">
              <a:ext uri="{FF2B5EF4-FFF2-40B4-BE49-F238E27FC236}">
                <a16:creationId xmlns:a16="http://schemas.microsoft.com/office/drawing/2014/main" id="{F795821D-F4F4-453F-ACE0-66048D257747}"/>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may run,</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under which rules?</a:t>
            </a:r>
          </a:p>
        </p:txBody>
      </p:sp>
      <p:sp>
        <p:nvSpPr>
          <p:cNvPr id="206" name="13-text-10">
            <a:extLst xmlns:a="http://schemas.openxmlformats.org/drawingml/2006/main">
              <a:ext uri="{FF2B5EF4-FFF2-40B4-BE49-F238E27FC236}">
                <a16:creationId xmlns:a16="http://schemas.microsoft.com/office/drawing/2014/main" id="{1ED8ABC8-C1B7-4807-B5B2-53BBED548A5F}"/>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Apply least privilege to reads and writes.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Validate inputs and enforce authorization in code.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Require approval where policy calls for it.</a:t>
            </a:r>
          </a:p>
        </p:txBody>
      </p:sp>
      <p:sp>
        <p:nvSpPr>
          <p:cNvPr id="207" name="narrative-number">
            <a:extLst xmlns:a="http://schemas.openxmlformats.org/drawingml/2006/main">
              <a:ext uri="{FF2B5EF4-FFF2-40B4-BE49-F238E27FC236}">
                <a16:creationId xmlns:a16="http://schemas.microsoft.com/office/drawing/2014/main" id="{7D424C2E-23E7-48B9-B421-9DCC5F4BCA9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3594624685"/>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8" name="!!area-name">
            <a:extLst xmlns:a="http://schemas.openxmlformats.org/drawingml/2006/main">
              <a:ext uri="{FF2B5EF4-FFF2-40B4-BE49-F238E27FC236}">
                <a16:creationId xmlns:a16="http://schemas.microsoft.com/office/drawing/2014/main" id="{8C514B97-2CBF-4DB8-B0B7-63B0C5FF559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owner</a:t>
            </a:r>
          </a:p>
        </p:txBody>
      </p:sp>
      <p:pic>
        <p:nvPicPr>
          <p:cNvPr id="223" name="mini-map"/>
          <p:cNvPicPr>
            <a:picLocks xmlns:a="http://schemas.openxmlformats.org/drawingml/2006/main" noChangeAspect="1"/>
          </p:cNvPicPr>
          <p:nvPr/>
        </p:nvPicPr>
        <p:blipFill>
          <a:blip xmlns:r="http://schemas.openxmlformats.org/officeDocument/2006/relationships" xmlns:a="http://schemas.openxmlformats.org/drawingml/2006/main" r:embed="Rcabb0861017f4d2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10" name="header-divider">
            <a:extLst xmlns:a="http://schemas.openxmlformats.org/drawingml/2006/main">
              <a:ext uri="{FF2B5EF4-FFF2-40B4-BE49-F238E27FC236}">
                <a16:creationId xmlns:a16="http://schemas.microsoft.com/office/drawing/2014/main" id="{5E318E3C-639D-4595-8F59-97D22BFAC34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1" name="tools-maintenance-title">
            <a:extLst xmlns:a="http://schemas.openxmlformats.org/drawingml/2006/main">
              <a:ext uri="{FF2B5EF4-FFF2-40B4-BE49-F238E27FC236}">
                <a16:creationId xmlns:a16="http://schemas.microsoft.com/office/drawing/2014/main" id="{1E2FED4F-EE43-4B24-A6A3-4AE20E2F051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Living with tool choices</a:t>
            </a:r>
          </a:p>
        </p:txBody>
      </p:sp>
      <p:sp>
        <p:nvSpPr>
          <p:cNvPr id="212" name="13-text-11">
            <a:extLst xmlns:a="http://schemas.openxmlformats.org/drawingml/2006/main">
              <a:ext uri="{FF2B5EF4-FFF2-40B4-BE49-F238E27FC236}">
                <a16:creationId xmlns:a16="http://schemas.microsoft.com/office/drawing/2014/main" id="{14DDC3AD-D9AA-4634-ADE6-4B781E000074}"/>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Contract changes</a:t>
            </a:r>
          </a:p>
        </p:txBody>
      </p:sp>
      <p:sp>
        <p:nvSpPr>
          <p:cNvPr id="213" name="13-text-12">
            <a:extLst xmlns:a="http://schemas.openxmlformats.org/drawingml/2006/main">
              <a:ext uri="{FF2B5EF4-FFF2-40B4-BE49-F238E27FC236}">
                <a16:creationId xmlns:a16="http://schemas.microsoft.com/office/drawing/2014/main" id="{CB14C86B-A2EA-44E5-9FF7-33C07ACCCE25}"/>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Descriptions, schemas, and behavior can drift.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Update and evaluate them together.</a:t>
            </a:r>
          </a:p>
        </p:txBody>
      </p:sp>
      <p:sp>
        <p:nvSpPr>
          <p:cNvPr id="214" name="13-text-13">
            <a:extLst xmlns:a="http://schemas.openxmlformats.org/drawingml/2006/main">
              <a:ext uri="{FF2B5EF4-FFF2-40B4-BE49-F238E27FC236}">
                <a16:creationId xmlns:a16="http://schemas.microsoft.com/office/drawing/2014/main" id="{91CE7148-B539-4FF0-ABC4-E83BA06F8E61}"/>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growth</a:t>
            </a:r>
          </a:p>
        </p:txBody>
      </p:sp>
      <p:sp>
        <p:nvSpPr>
          <p:cNvPr id="215" name="13-text-14">
            <a:extLst xmlns:a="http://schemas.openxmlformats.org/drawingml/2006/main">
              <a:ext uri="{FF2B5EF4-FFF2-40B4-BE49-F238E27FC236}">
                <a16:creationId xmlns:a16="http://schemas.microsoft.com/office/drawing/2014/main" id="{47FF6DEA-7DC5-4E72-8F68-AB20CB1438A0}"/>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Overlapping tools make selection harder.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Prune duplicates and load definitions when needed.</a:t>
            </a:r>
          </a:p>
        </p:txBody>
      </p:sp>
      <p:sp>
        <p:nvSpPr>
          <p:cNvPr id="216" name="13-text-15">
            <a:extLst xmlns:a="http://schemas.openxmlformats.org/drawingml/2006/main">
              <a:ext uri="{FF2B5EF4-FFF2-40B4-BE49-F238E27FC236}">
                <a16:creationId xmlns:a16="http://schemas.microsoft.com/office/drawing/2014/main" id="{15B94BD2-59F7-4F40-B391-48E1FF74A96F}"/>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Failures</a:t>
            </a:r>
          </a:p>
        </p:txBody>
      </p:sp>
      <p:sp>
        <p:nvSpPr>
          <p:cNvPr id="217" name="13-text-16">
            <a:extLst xmlns:a="http://schemas.openxmlformats.org/drawingml/2006/main">
              <a:ext uri="{FF2B5EF4-FFF2-40B4-BE49-F238E27FC236}">
                <a16:creationId xmlns:a16="http://schemas.microsoft.com/office/drawing/2014/main" id="{08A18A86-5091-40F1-8DA9-B04B7EAB820A}"/>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Return an explicit result, error, or unknown outcome.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callers from mistaking failure for success.</a:t>
            </a:r>
          </a:p>
        </p:txBody>
      </p:sp>
      <p:sp>
        <p:nvSpPr>
          <p:cNvPr id="218" name="13-text-17">
            <a:extLst xmlns:a="http://schemas.openxmlformats.org/drawingml/2006/main">
              <a:ext uri="{FF2B5EF4-FFF2-40B4-BE49-F238E27FC236}">
                <a16:creationId xmlns:a16="http://schemas.microsoft.com/office/drawing/2014/main" id="{56CDE6B8-CE62-4AA2-A638-3DAB10057614}"/>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description guides the model. Code enforces the contract.</a:t>
            </a:r>
          </a:p>
        </p:txBody>
      </p:sp>
      <p:sp>
        <p:nvSpPr>
          <p:cNvPr id="219" name="13-text-18">
            <a:extLst xmlns:a="http://schemas.openxmlformats.org/drawingml/2006/main">
              <a:ext uri="{FF2B5EF4-FFF2-40B4-BE49-F238E27FC236}">
                <a16:creationId xmlns:a16="http://schemas.microsoft.com/office/drawing/2014/main" id="{B82F505F-F61B-4E2C-A4F7-CE89AB1AB981}"/>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20" name="13-text-19">
            <a:extLst xmlns:a="http://schemas.openxmlformats.org/drawingml/2006/main">
              <a:ext uri="{FF2B5EF4-FFF2-40B4-BE49-F238E27FC236}">
                <a16:creationId xmlns:a16="http://schemas.microsoft.com/office/drawing/2014/main" id="{276CBCCD-30F8-469D-AF14-2007890B861B}"/>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copying the API surface</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evaluating task fit.</a:t>
            </a:r>
          </a:p>
        </p:txBody>
      </p:sp>
      <p:sp>
        <p:nvSpPr>
          <p:cNvPr id="221" name="narrative-number">
            <a:extLst xmlns:a="http://schemas.openxmlformats.org/drawingml/2006/main">
              <a:ext uri="{FF2B5EF4-FFF2-40B4-BE49-F238E27FC236}">
                <a16:creationId xmlns:a16="http://schemas.microsoft.com/office/drawing/2014/main" id="{59B76569-9420-4B07-ADF6-81E10CE3036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80499519"/>
      </p:ext>
    </p:extLst>
  </p:cSld>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2" name="!!area-name">
            <a:extLst xmlns:a="http://schemas.openxmlformats.org/drawingml/2006/main">
              <a:ext uri="{FF2B5EF4-FFF2-40B4-BE49-F238E27FC236}">
                <a16:creationId xmlns:a16="http://schemas.microsoft.com/office/drawing/2014/main" id="{18BF8649-5D68-4D11-8F35-451A8FFDA1A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owner</a:t>
            </a:r>
          </a:p>
        </p:txBody>
      </p:sp>
      <p:pic>
        <p:nvPicPr>
          <p:cNvPr id="230" name="mini-map"/>
          <p:cNvPicPr>
            <a:picLocks xmlns:a="http://schemas.openxmlformats.org/drawingml/2006/main" noChangeAspect="1"/>
          </p:cNvPicPr>
          <p:nvPr/>
        </p:nvPicPr>
        <p:blipFill>
          <a:blip xmlns:r="http://schemas.openxmlformats.org/officeDocument/2006/relationships" xmlns:a="http://schemas.openxmlformats.org/drawingml/2006/main" r:embed="R1737340538db48d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24" name="header-divider">
            <a:extLst xmlns:a="http://schemas.openxmlformats.org/drawingml/2006/main">
              <a:ext uri="{FF2B5EF4-FFF2-40B4-BE49-F238E27FC236}">
                <a16:creationId xmlns:a16="http://schemas.microsoft.com/office/drawing/2014/main" id="{379298FC-A59D-4273-9311-96977FD1279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25" name="tools-application-title">
            <a:extLst xmlns:a="http://schemas.openxmlformats.org/drawingml/2006/main">
              <a:ext uri="{FF2B5EF4-FFF2-40B4-BE49-F238E27FC236}">
                <a16:creationId xmlns:a16="http://schemas.microsoft.com/office/drawing/2014/main" id="{018CC375-FC2E-445C-8E68-2979CCD86F7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 tool contract for the FRB brief</a:t>
            </a:r>
          </a:p>
        </p:txBody>
      </p:sp>
      <p:sp>
        <p:nvSpPr>
          <p:cNvPr id="226" name="13-text-20">
            <a:extLst xmlns:a="http://schemas.openxmlformats.org/drawingml/2006/main">
              <a:ext uri="{FF2B5EF4-FFF2-40B4-BE49-F238E27FC236}">
                <a16:creationId xmlns:a16="http://schemas.microsoft.com/office/drawing/2014/main" id="{D40A0E1A-4F98-4041-AE2A-86ED1A3021FC}"/>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Export cited brief tool.</a:t>
            </a:r>
          </a:p>
        </p:txBody>
      </p:sp>
      <p:graphicFrame>
        <p:nvGraphicFramePr>
          <p:cNvPr id="234" name="13-table-21"/>
          <p:cNvGraphicFramePr/>
          <p:nvPr/>
        </p:nvGraphicFramePr>
        <p:xfrm>
          <a:off xmlns:a="http://schemas.openxmlformats.org/drawingml/2006/main" x="609600" y="2895600"/>
          <a:ext xmlns:a="http://schemas.openxmlformats.org/drawingml/2006/main" cx="10972800" cy="30734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F948BE"/>
                          </a:solidFill>
                          <a:latin typeface="Helvetica"/>
                          <a:ea typeface="Helvetica"/>
                          <a:cs typeface="Helvetica"/>
                        </a:rPr>
                        <a:t>Contract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Export cited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82600">
                <a:tc>
                  <a:txBody>
                    <a:bodyPr>
                      <a:noAutofit/>
                    </a:bodyPr>
                    <a:lstStyle/>
                    <a:p>
                      <a:pPr>
                        <a:lnSpc>
                          <a:spcPct val="125000"/>
                        </a:lnSpc>
                        <a:buNone/>
                      </a:pPr>
                      <a:r>
                        <a:rPr sz="2000" b="0">
                          <a:solidFill>
                            <a:srgbClr val="FFFCF5"/>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Checked draft, citations, destination.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 access and permitted destination.</a:t>
                      </a:r>
                    </a:p>
                    <a:p>
                      <a:pPr>
                        <a:lnSpc>
                          <a:spcPct val="125000"/>
                        </a:lnSpc>
                        <a:buNone/>
                      </a:pPr>
                      <a:r>
                        <a:rPr sz="2000" b="0">
                          <a:solidFill>
                            <a:srgbClr val="FFFCF5"/>
                          </a:solidFill>
                          <a:latin typeface="Helvetica"/>
                          <a:ea typeface="Helvetica"/>
                          <a:cs typeface="Helvetica"/>
                        </a:rPr>
                        <a:t>Require source IDs, revisions, and locations.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Output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Brief matching the checked draft, with citations</a:t>
                      </a:r>
                    </a:p>
                    <a:p>
                      <a:pPr>
                        <a:lnSpc>
                          <a:spcPct val="125000"/>
                        </a:lnSpc>
                        <a:buNone/>
                      </a:pPr>
                      <a:r>
                        <a:rPr sz="2000" b="0">
                          <a:solidFill>
                            <a:srgbClr val="FFFCF5"/>
                          </a:solidFill>
                          <a:latin typeface="Helvetica"/>
                          <a:ea typeface="Helvetica"/>
                          <a:cs typeface="Helvetica"/>
                        </a:rPr>
                        <a:t>and uncertainty intact, plus an export receipt.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Failure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Explicit failure or incomplete result.</a:t>
                      </a:r>
                    </a:p>
                    <a:p>
                      <a:pPr>
                        <a:lnSpc>
                          <a:spcPct val="125000"/>
                        </a:lnSpc>
                        <a:buNone/>
                      </a:pPr>
                      <a:r>
                        <a:rPr sz="2000" b="0">
                          <a:solidFill>
                            <a:srgbClr val="FFFCF5"/>
                          </a:solidFill>
                          <a:latin typeface="Helvetica"/>
                          <a:ea typeface="Helvetica"/>
                          <a:cs typeface="Helvetica"/>
                        </a:rPr>
                        <a:t>Do not report an unconfirmed export as complete.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28" name="narrative-number">
            <a:extLst xmlns:a="http://schemas.openxmlformats.org/drawingml/2006/main">
              <a:ext uri="{FF2B5EF4-FFF2-40B4-BE49-F238E27FC236}">
                <a16:creationId xmlns:a16="http://schemas.microsoft.com/office/drawing/2014/main" id="{56192CAF-AA4B-4263-B47E-A62D3C3FA68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2252782964"/>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9" name="!!area-header">
            <a:extLst xmlns:a="http://schemas.openxmlformats.org/drawingml/2006/main">
              <a:ext uri="{FF2B5EF4-FFF2-40B4-BE49-F238E27FC236}">
                <a16:creationId xmlns:a16="http://schemas.microsoft.com/office/drawing/2014/main" id="{89D7CB9A-0B72-4472-AAE8-5A983A1D1BB6}"/>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230" name="!!area-name">
            <a:extLst xmlns:a="http://schemas.openxmlformats.org/drawingml/2006/main">
              <a:ext uri="{FF2B5EF4-FFF2-40B4-BE49-F238E27FC236}">
                <a16:creationId xmlns:a16="http://schemas.microsoft.com/office/drawing/2014/main" id="{289659FB-393B-4A50-9569-EEF98972C81D}"/>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231" name="!!area-beat">
            <a:extLst xmlns:a="http://schemas.openxmlformats.org/drawingml/2006/main">
              <a:ext uri="{FF2B5EF4-FFF2-40B4-BE49-F238E27FC236}">
                <a16:creationId xmlns:a16="http://schemas.microsoft.com/office/drawing/2014/main" id="{06F4C476-9238-4542-BAC5-89918F8C55BD}"/>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232" name="header-divider">
            <a:extLst xmlns:a="http://schemas.openxmlformats.org/drawingml/2006/main">
              <a:ext uri="{FF2B5EF4-FFF2-40B4-BE49-F238E27FC236}">
                <a16:creationId xmlns:a16="http://schemas.microsoft.com/office/drawing/2014/main" id="{ADCA3590-F4C5-4709-9CA2-78FDBDAB7D66}"/>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33" name="!!screenshot-Plan mode">
            <a:extLst xmlns:a="http://schemas.openxmlformats.org/drawingml/2006/main">
              <a:ext uri="{FF2B5EF4-FFF2-40B4-BE49-F238E27FC236}">
                <a16:creationId xmlns:a16="http://schemas.microsoft.com/office/drawing/2014/main" id="{4D120691-C5C4-49A0-9B08-C2DD81664D83}"/>
              </a:ext>
            </a:extLst>
          </p:cNvPr>
          <p:cNvSpPr>
            <a:spLocks xmlns:a="http://schemas.openxmlformats.org/drawingml/2006/main"/>
          </p:cNvSpPr>
          <p:nvPr/>
        </p:nvSpPr>
        <p:spPr>
          <a:xfrm xmlns:a="http://schemas.openxmlformats.org/drawingml/2006/main">
            <a:off x="609600" y="2336800"/>
            <a:ext cx="5334000" cy="3302000"/>
          </a:xfrm>
          <a:prstGeom xmlns:a="http://schemas.openxmlformats.org/drawingml/2006/main" prst="roundRect">
            <a:avLst>
              <a:gd name="adj" fmla="val 1538"/>
            </a:avLst>
          </a:prstGeom>
          <a:solidFill xmlns:a="http://schemas.openxmlformats.org/drawingml/2006/main">
            <a:srgbClr val="303236"/>
          </a:solidFill>
          <a:ln xmlns:a="http://schemas.openxmlformats.org/drawingml/2006/main" w="12700">
            <a:solidFill>
              <a:srgbClr val="4C4D50"/>
            </a:solidFill>
          </a:ln>
        </p:spPr>
      </p:sp>
      <p:sp>
        <p:nvSpPr>
          <p:cNvPr id="234" name="14-text-1">
            <a:extLst xmlns:a="http://schemas.openxmlformats.org/drawingml/2006/main">
              <a:ext uri="{FF2B5EF4-FFF2-40B4-BE49-F238E27FC236}">
                <a16:creationId xmlns:a16="http://schemas.microsoft.com/office/drawing/2014/main" id="{283B3394-3EEC-4D84-A748-524A0D573231}"/>
              </a:ext>
            </a:extLst>
          </p:cNvPr>
          <p:cNvSpPr>
            <a:spLocks xmlns:a="http://schemas.openxmlformats.org/drawingml/2006/main"/>
          </p:cNvSpPr>
          <p:nvPr/>
        </p:nvSpPr>
        <p:spPr>
          <a:xfrm xmlns:a="http://schemas.openxmlformats.org/drawingml/2006/main">
            <a:off x="812800" y="3035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235" name="14-text-2">
            <a:extLst xmlns:a="http://schemas.openxmlformats.org/drawingml/2006/main">
              <a:ext uri="{FF2B5EF4-FFF2-40B4-BE49-F238E27FC236}">
                <a16:creationId xmlns:a16="http://schemas.microsoft.com/office/drawing/2014/main" id="{B05A01B8-40D1-46A9-91F4-3E07AC1A71D4}"/>
              </a:ext>
            </a:extLst>
          </p:cNvPr>
          <p:cNvSpPr>
            <a:spLocks xmlns:a="http://schemas.openxmlformats.org/drawingml/2006/main"/>
          </p:cNvSpPr>
          <p:nvPr/>
        </p:nvSpPr>
        <p:spPr>
          <a:xfrm xmlns:a="http://schemas.openxmlformats.org/drawingml/2006/main">
            <a:off x="812800" y="3556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Codex plan mode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Proposed implementation steps</a:t>
            </a:r>
          </a:p>
        </p:txBody>
      </p:sp>
      <p:sp>
        <p:nvSpPr>
          <p:cNvPr id="236" name="14-text-3">
            <a:extLst xmlns:a="http://schemas.openxmlformats.org/drawingml/2006/main">
              <a:ext uri="{FF2B5EF4-FFF2-40B4-BE49-F238E27FC236}">
                <a16:creationId xmlns:a16="http://schemas.microsoft.com/office/drawing/2014/main" id="{B229B07E-ACE1-41EC-85E5-57799662B581}"/>
              </a:ext>
            </a:extLst>
          </p:cNvPr>
          <p:cNvSpPr>
            <a:spLocks xmlns:a="http://schemas.openxmlformats.org/drawingml/2006/main"/>
          </p:cNvSpPr>
          <p:nvPr/>
        </p:nvSpPr>
        <p:spPr>
          <a:xfrm xmlns:a="http://schemas.openxmlformats.org/drawingml/2006/main">
            <a:off x="6248400" y="24384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Request a plan</a:t>
            </a:r>
          </a:p>
        </p:txBody>
      </p:sp>
      <p:sp>
        <p:nvSpPr>
          <p:cNvPr id="237" name="14-text-4">
            <a:extLst xmlns:a="http://schemas.openxmlformats.org/drawingml/2006/main">
              <a:ext uri="{FF2B5EF4-FFF2-40B4-BE49-F238E27FC236}">
                <a16:creationId xmlns:a16="http://schemas.microsoft.com/office/drawing/2014/main" id="{83119780-116B-4B1C-A362-A450550988CE}"/>
              </a:ext>
            </a:extLst>
          </p:cNvPr>
          <p:cNvSpPr>
            <a:spLocks xmlns:a="http://schemas.openxmlformats.org/drawingml/2006/main"/>
          </p:cNvSpPr>
          <p:nvPr/>
        </p:nvSpPr>
        <p:spPr>
          <a:xfrm xmlns:a="http://schemas.openxmlformats.org/drawingml/2006/main">
            <a:off x="6248400" y="2997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Ask the coding agent to</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break down the task.</a:t>
            </a:r>
          </a:p>
        </p:txBody>
      </p:sp>
      <p:sp>
        <p:nvSpPr>
          <p:cNvPr id="238" name="14-text-5">
            <a:extLst xmlns:a="http://schemas.openxmlformats.org/drawingml/2006/main">
              <a:ext uri="{FF2B5EF4-FFF2-40B4-BE49-F238E27FC236}">
                <a16:creationId xmlns:a16="http://schemas.microsoft.com/office/drawing/2014/main" id="{58933DBC-5F62-4E83-A345-4BD75BE1B016}"/>
              </a:ext>
            </a:extLst>
          </p:cNvPr>
          <p:cNvSpPr>
            <a:spLocks xmlns:a="http://schemas.openxmlformats.org/drawingml/2006/main"/>
          </p:cNvSpPr>
          <p:nvPr/>
        </p:nvSpPr>
        <p:spPr>
          <a:xfrm xmlns:a="http://schemas.openxmlformats.org/drawingml/2006/main">
            <a:off x="6248400" y="41402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Review the approach</a:t>
            </a:r>
          </a:p>
        </p:txBody>
      </p:sp>
      <p:sp>
        <p:nvSpPr>
          <p:cNvPr id="239" name="14-text-6">
            <a:extLst xmlns:a="http://schemas.openxmlformats.org/drawingml/2006/main">
              <a:ext uri="{FF2B5EF4-FFF2-40B4-BE49-F238E27FC236}">
                <a16:creationId xmlns:a16="http://schemas.microsoft.com/office/drawing/2014/main" id="{B96A6F57-7821-4CAA-82BD-E799D503C411}"/>
              </a:ext>
            </a:extLst>
          </p:cNvPr>
          <p:cNvSpPr>
            <a:spLocks xmlns:a="http://schemas.openxmlformats.org/drawingml/2006/main"/>
          </p:cNvSpPr>
          <p:nvPr/>
        </p:nvSpPr>
        <p:spPr>
          <a:xfrm xmlns:a="http://schemas.openxmlformats.org/drawingml/2006/main">
            <a:off x="6248400" y="46990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proposed steps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before implementation.</a:t>
            </a:r>
          </a:p>
        </p:txBody>
      </p:sp>
      <p:sp>
        <p:nvSpPr>
          <p:cNvPr id="240" name="narrative-number">
            <a:extLst xmlns:a="http://schemas.openxmlformats.org/drawingml/2006/main">
              <a:ext uri="{FF2B5EF4-FFF2-40B4-BE49-F238E27FC236}">
                <a16:creationId xmlns:a16="http://schemas.microsoft.com/office/drawing/2014/main" id="{8B814F67-7179-46ED-BC83-298A64C9A96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3890937604"/>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1" name="!!area-name">
            <a:extLst xmlns:a="http://schemas.openxmlformats.org/drawingml/2006/main">
              <a:ext uri="{FF2B5EF4-FFF2-40B4-BE49-F238E27FC236}">
                <a16:creationId xmlns:a16="http://schemas.microsoft.com/office/drawing/2014/main" id="{21534813-BA3F-4539-830D-2562A5E53D2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owner</a:t>
            </a:r>
          </a:p>
        </p:txBody>
      </p:sp>
      <p:pic>
        <p:nvPicPr>
          <p:cNvPr id="250" name="mini-map"/>
          <p:cNvPicPr>
            <a:picLocks xmlns:a="http://schemas.openxmlformats.org/drawingml/2006/main" noChangeAspect="1"/>
          </p:cNvPicPr>
          <p:nvPr/>
        </p:nvPicPr>
        <p:blipFill>
          <a:blip xmlns:r="http://schemas.openxmlformats.org/officeDocument/2006/relationships" xmlns:a="http://schemas.openxmlformats.org/drawingml/2006/main" r:embed="Rabd1cf7ae24d4a0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43" name="header-divider">
            <a:extLst xmlns:a="http://schemas.openxmlformats.org/drawingml/2006/main">
              <a:ext uri="{FF2B5EF4-FFF2-40B4-BE49-F238E27FC236}">
                <a16:creationId xmlns:a16="http://schemas.microsoft.com/office/drawing/2014/main" id="{395726E7-6925-40B9-AF3D-54F0B5ED8F9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4" name="15-text-1">
            <a:extLst xmlns:a="http://schemas.openxmlformats.org/drawingml/2006/main">
              <a:ext uri="{FF2B5EF4-FFF2-40B4-BE49-F238E27FC236}">
                <a16:creationId xmlns:a16="http://schemas.microsoft.com/office/drawing/2014/main" id="{ADDA767C-141B-41BB-A3D6-97B806C98021}"/>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recommend finding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simplest solution</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possible, and only increasing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complexity when needed.”</a:t>
            </a:r>
          </a:p>
        </p:txBody>
      </p:sp>
      <p:sp>
        <p:nvSpPr>
          <p:cNvPr id="245" name="15-text-2">
            <a:extLst xmlns:a="http://schemas.openxmlformats.org/drawingml/2006/main">
              <a:ext uri="{FF2B5EF4-FFF2-40B4-BE49-F238E27FC236}">
                <a16:creationId xmlns:a16="http://schemas.microsoft.com/office/drawing/2014/main" id="{103FD9E5-6F03-403A-8D0F-C5E4C661DB22}"/>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46" name="15-text-3">
            <a:extLst xmlns:a="http://schemas.openxmlformats.org/drawingml/2006/main">
              <a:ext uri="{FF2B5EF4-FFF2-40B4-BE49-F238E27FC236}">
                <a16:creationId xmlns:a16="http://schemas.microsoft.com/office/drawing/2014/main" id="{4CA81932-B29A-439F-AB7C-839F9628C4F5}"/>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Building effective agents, December 2024</a:t>
            </a:r>
          </a:p>
        </p:txBody>
      </p:sp>
      <p:pic>
        <p:nvPicPr>
          <p:cNvPr id="255" name="15-image-4"/>
          <p:cNvPicPr>
            <a:picLocks xmlns:a="http://schemas.openxmlformats.org/drawingml/2006/main" noChangeAspect="1"/>
          </p:cNvPicPr>
          <p:nvPr/>
        </p:nvPicPr>
        <p:blipFill>
          <a:blip xmlns:r="http://schemas.openxmlformats.org/officeDocument/2006/relationships" xmlns:a="http://schemas.openxmlformats.org/drawingml/2006/main" r:embed="R486bf5034bbd49b8"/>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48" name="narrative-number">
            <a:extLst xmlns:a="http://schemas.openxmlformats.org/drawingml/2006/main">
              <a:ext uri="{FF2B5EF4-FFF2-40B4-BE49-F238E27FC236}">
                <a16:creationId xmlns:a16="http://schemas.microsoft.com/office/drawing/2014/main" id="{0C5A2745-792A-4807-8CC3-F41BF6A8AF0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1429250002"/>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9" name="!!area-name">
            <a:extLst xmlns:a="http://schemas.openxmlformats.org/drawingml/2006/main">
              <a:ext uri="{FF2B5EF4-FFF2-40B4-BE49-F238E27FC236}">
                <a16:creationId xmlns:a16="http://schemas.microsoft.com/office/drawing/2014/main" id="{66B6D36C-324C-423F-BA43-96239AFBE32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owner</a:t>
            </a:r>
          </a:p>
        </p:txBody>
      </p:sp>
      <p:pic>
        <p:nvPicPr>
          <p:cNvPr id="261" name="mini-map"/>
          <p:cNvPicPr>
            <a:picLocks xmlns:a="http://schemas.openxmlformats.org/drawingml/2006/main" noChangeAspect="1"/>
          </p:cNvPicPr>
          <p:nvPr/>
        </p:nvPicPr>
        <p:blipFill>
          <a:blip xmlns:r="http://schemas.openxmlformats.org/officeDocument/2006/relationships" xmlns:a="http://schemas.openxmlformats.org/drawingml/2006/main" r:embed="R6a11bb974a834dc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51" name="header-divider">
            <a:extLst xmlns:a="http://schemas.openxmlformats.org/drawingml/2006/main">
              <a:ext uri="{FF2B5EF4-FFF2-40B4-BE49-F238E27FC236}">
                <a16:creationId xmlns:a16="http://schemas.microsoft.com/office/drawing/2014/main" id="{3EDE719A-1327-4AEE-9E4B-F4247588359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52" name="orchestration-decisions-title">
            <a:extLst xmlns:a="http://schemas.openxmlformats.org/drawingml/2006/main">
              <a:ext uri="{FF2B5EF4-FFF2-40B4-BE49-F238E27FC236}">
                <a16:creationId xmlns:a16="http://schemas.microsoft.com/office/drawing/2014/main" id="{0A6DDF22-0290-4931-98EC-02A9D644432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orchestration decisions you own</a:t>
            </a:r>
          </a:p>
        </p:txBody>
      </p:sp>
      <p:sp>
        <p:nvSpPr>
          <p:cNvPr id="253" name="15-text-5">
            <a:extLst xmlns:a="http://schemas.openxmlformats.org/drawingml/2006/main">
              <a:ext uri="{FF2B5EF4-FFF2-40B4-BE49-F238E27FC236}">
                <a16:creationId xmlns:a16="http://schemas.microsoft.com/office/drawing/2014/main" id="{8CF76E39-CC2D-451B-8811-E07EDA55C8AC}"/>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Who chooses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the next step?</a:t>
            </a:r>
          </a:p>
        </p:txBody>
      </p:sp>
      <p:sp>
        <p:nvSpPr>
          <p:cNvPr id="254" name="15-text-6">
            <a:extLst xmlns:a="http://schemas.openxmlformats.org/drawingml/2006/main">
              <a:ext uri="{FF2B5EF4-FFF2-40B4-BE49-F238E27FC236}">
                <a16:creationId xmlns:a16="http://schemas.microsoft.com/office/drawing/2014/main" id="{841822C7-1ED4-4AE0-A88E-4015A461E556}"/>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Use code for known paths and required checks.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Let the model choose where judgment helps.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Start with a bounded workflow.</a:t>
            </a:r>
          </a:p>
        </p:txBody>
      </p:sp>
      <p:sp>
        <p:nvSpPr>
          <p:cNvPr id="255" name="15-text-7">
            <a:extLst xmlns:a="http://schemas.openxmlformats.org/drawingml/2006/main">
              <a:ext uri="{FF2B5EF4-FFF2-40B4-BE49-F238E27FC236}">
                <a16:creationId xmlns:a16="http://schemas.microsoft.com/office/drawing/2014/main" id="{0622776C-EFBB-487E-A9D6-7CA0B92E1CD4}"/>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When should work</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be delegated?</a:t>
            </a:r>
          </a:p>
        </p:txBody>
      </p:sp>
      <p:sp>
        <p:nvSpPr>
          <p:cNvPr id="256" name="15-text-8">
            <a:extLst xmlns:a="http://schemas.openxmlformats.org/drawingml/2006/main">
              <a:ext uri="{FF2B5EF4-FFF2-40B4-BE49-F238E27FC236}">
                <a16:creationId xmlns:a16="http://schemas.microsoft.com/office/drawing/2014/main" id="{6D363307-34BA-471D-A604-9D577DA033CD}"/>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Separate work that can be done independently.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Define handoff inputs and expected results.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 workers only when measured gains justify it.</a:t>
            </a:r>
          </a:p>
        </p:txBody>
      </p:sp>
      <p:sp>
        <p:nvSpPr>
          <p:cNvPr id="257" name="15-text-9">
            <a:extLst xmlns:a="http://schemas.openxmlformats.org/drawingml/2006/main">
              <a:ext uri="{FF2B5EF4-FFF2-40B4-BE49-F238E27FC236}">
                <a16:creationId xmlns:a16="http://schemas.microsoft.com/office/drawing/2014/main" id="{BADC5A47-64CB-413E-8D1D-C372BFC4FCEA}"/>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How does execution</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stop or recover?</a:t>
            </a:r>
          </a:p>
        </p:txBody>
      </p:sp>
      <p:sp>
        <p:nvSpPr>
          <p:cNvPr id="258" name="15-text-10">
            <a:extLst xmlns:a="http://schemas.openxmlformats.org/drawingml/2006/main">
              <a:ext uri="{FF2B5EF4-FFF2-40B4-BE49-F238E27FC236}">
                <a16:creationId xmlns:a16="http://schemas.microsoft.com/office/drawing/2014/main" id="{7074546F-210E-4215-B0A2-3C011B185663}"/>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Define completion checks and stopping limits.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Save state needed to resume.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Bound retries and provide a human handoff.</a:t>
            </a:r>
          </a:p>
        </p:txBody>
      </p:sp>
      <p:sp>
        <p:nvSpPr>
          <p:cNvPr id="259" name="narrative-number">
            <a:extLst xmlns:a="http://schemas.openxmlformats.org/drawingml/2006/main">
              <a:ext uri="{FF2B5EF4-FFF2-40B4-BE49-F238E27FC236}">
                <a16:creationId xmlns:a16="http://schemas.microsoft.com/office/drawing/2014/main" id="{AD48F287-C602-47E4-BF48-4AFBA100B2E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3874828720"/>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0" name="!!area-name">
            <a:extLst xmlns:a="http://schemas.openxmlformats.org/drawingml/2006/main">
              <a:ext uri="{FF2B5EF4-FFF2-40B4-BE49-F238E27FC236}">
                <a16:creationId xmlns:a16="http://schemas.microsoft.com/office/drawing/2014/main" id="{710B9473-4ACC-43BA-BEE6-7848D56E429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owner</a:t>
            </a:r>
          </a:p>
        </p:txBody>
      </p:sp>
      <p:pic>
        <p:nvPicPr>
          <p:cNvPr id="275" name="mini-map"/>
          <p:cNvPicPr>
            <a:picLocks xmlns:a="http://schemas.openxmlformats.org/drawingml/2006/main" noChangeAspect="1"/>
          </p:cNvPicPr>
          <p:nvPr/>
        </p:nvPicPr>
        <p:blipFill>
          <a:blip xmlns:r="http://schemas.openxmlformats.org/officeDocument/2006/relationships" xmlns:a="http://schemas.openxmlformats.org/drawingml/2006/main" r:embed="Rcd62fc516e3b47c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62" name="header-divider">
            <a:extLst xmlns:a="http://schemas.openxmlformats.org/drawingml/2006/main">
              <a:ext uri="{FF2B5EF4-FFF2-40B4-BE49-F238E27FC236}">
                <a16:creationId xmlns:a16="http://schemas.microsoft.com/office/drawing/2014/main" id="{B85324DD-8277-4643-B2C7-55A630BCDE2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63" name="orchestration-maintenance-title">
            <a:extLst xmlns:a="http://schemas.openxmlformats.org/drawingml/2006/main">
              <a:ext uri="{FF2B5EF4-FFF2-40B4-BE49-F238E27FC236}">
                <a16:creationId xmlns:a16="http://schemas.microsoft.com/office/drawing/2014/main" id="{C798C27A-747F-4A6D-8EE9-FB04AD3AD8B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Living with orchestration choices</a:t>
            </a:r>
          </a:p>
        </p:txBody>
      </p:sp>
      <p:sp>
        <p:nvSpPr>
          <p:cNvPr id="264" name="15-text-11">
            <a:extLst xmlns:a="http://schemas.openxmlformats.org/drawingml/2006/main">
              <a:ext uri="{FF2B5EF4-FFF2-40B4-BE49-F238E27FC236}">
                <a16:creationId xmlns:a16="http://schemas.microsoft.com/office/drawing/2014/main" id="{5E7FD660-3D22-465B-8463-60A32880D08B}"/>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Workflow changes</a:t>
            </a:r>
          </a:p>
        </p:txBody>
      </p:sp>
      <p:sp>
        <p:nvSpPr>
          <p:cNvPr id="265" name="15-text-12">
            <a:extLst xmlns:a="http://schemas.openxmlformats.org/drawingml/2006/main">
              <a:ext uri="{FF2B5EF4-FFF2-40B4-BE49-F238E27FC236}">
                <a16:creationId xmlns:a16="http://schemas.microsoft.com/office/drawing/2014/main" id="{72136C5B-F7CD-441A-BCBF-32D3D33E8AFB}"/>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New branches can bypass required checks.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Recheck paths and protect acceptance criteria.</a:t>
            </a:r>
          </a:p>
        </p:txBody>
      </p:sp>
      <p:sp>
        <p:nvSpPr>
          <p:cNvPr id="266" name="15-text-13">
            <a:extLst xmlns:a="http://schemas.openxmlformats.org/drawingml/2006/main">
              <a:ext uri="{FF2B5EF4-FFF2-40B4-BE49-F238E27FC236}">
                <a16:creationId xmlns:a16="http://schemas.microsoft.com/office/drawing/2014/main" id="{9420F5EF-76BD-42CB-89A8-01FF205849A1}"/>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Handoffs</a:t>
            </a:r>
          </a:p>
        </p:txBody>
      </p:sp>
      <p:sp>
        <p:nvSpPr>
          <p:cNvPr id="267" name="15-text-14">
            <a:extLst xmlns:a="http://schemas.openxmlformats.org/drawingml/2006/main">
              <a:ext uri="{FF2B5EF4-FFF2-40B4-BE49-F238E27FC236}">
                <a16:creationId xmlns:a16="http://schemas.microsoft.com/office/drawing/2014/main" id="{29B528BC-108F-401D-A7AB-39D4868359C2}"/>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Workers can lose context or return conflicting results.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evidence, uncertainty, and ownership explicit.</a:t>
            </a:r>
          </a:p>
        </p:txBody>
      </p:sp>
      <p:sp>
        <p:nvSpPr>
          <p:cNvPr id="268" name="15-text-15">
            <a:extLst xmlns:a="http://schemas.openxmlformats.org/drawingml/2006/main">
              <a:ext uri="{FF2B5EF4-FFF2-40B4-BE49-F238E27FC236}">
                <a16:creationId xmlns:a16="http://schemas.microsoft.com/office/drawing/2014/main" id="{4D8200DE-6EC1-4381-A21D-F9197D3E0CD4}"/>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269" name="15-text-16">
            <a:extLst xmlns:a="http://schemas.openxmlformats.org/drawingml/2006/main">
              <a:ext uri="{FF2B5EF4-FFF2-40B4-BE49-F238E27FC236}">
                <a16:creationId xmlns:a16="http://schemas.microsoft.com/office/drawing/2014/main" id="{0ACED913-8985-4395-9D8B-F183E0D59ED8}"/>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Retries can repeat an action that already succeeded.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Persist progress and confirm effects before retrying.</a:t>
            </a:r>
          </a:p>
        </p:txBody>
      </p:sp>
      <p:sp>
        <p:nvSpPr>
          <p:cNvPr id="270" name="15-text-17">
            <a:extLst xmlns:a="http://schemas.openxmlformats.org/drawingml/2006/main">
              <a:ext uri="{FF2B5EF4-FFF2-40B4-BE49-F238E27FC236}">
                <a16:creationId xmlns:a16="http://schemas.microsoft.com/office/drawing/2014/main" id="{27D13317-BF6B-4585-A8B9-C7253C1EEA74}"/>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Set action, token, and end-to-end latency limits.</a:t>
            </a:r>
          </a:p>
        </p:txBody>
      </p:sp>
      <p:sp>
        <p:nvSpPr>
          <p:cNvPr id="271" name="15-text-18">
            <a:extLst xmlns:a="http://schemas.openxmlformats.org/drawingml/2006/main">
              <a:ext uri="{FF2B5EF4-FFF2-40B4-BE49-F238E27FC236}">
                <a16:creationId xmlns:a16="http://schemas.microsoft.com/office/drawing/2014/main" id="{BB449C4B-7FA7-4D49-A461-6C98F91CADC8}"/>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72" name="15-text-19">
            <a:extLst xmlns:a="http://schemas.openxmlformats.org/drawingml/2006/main">
              <a:ext uri="{FF2B5EF4-FFF2-40B4-BE49-F238E27FC236}">
                <a16:creationId xmlns:a16="http://schemas.microsoft.com/office/drawing/2014/main" id="{BCD2FA2E-24B0-4226-A0B4-FBB6D733E6D0}"/>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multi-agent before a workflow was tried.</a:t>
            </a:r>
          </a:p>
        </p:txBody>
      </p:sp>
      <p:sp>
        <p:nvSpPr>
          <p:cNvPr id="273" name="narrative-number">
            <a:extLst xmlns:a="http://schemas.openxmlformats.org/drawingml/2006/main">
              <a:ext uri="{FF2B5EF4-FFF2-40B4-BE49-F238E27FC236}">
                <a16:creationId xmlns:a16="http://schemas.microsoft.com/office/drawing/2014/main" id="{FE705797-18E3-4BD0-88D5-683E8B275F2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4164236013"/>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74" name="!!area-name">
            <a:extLst xmlns:a="http://schemas.openxmlformats.org/drawingml/2006/main">
              <a:ext uri="{FF2B5EF4-FFF2-40B4-BE49-F238E27FC236}">
                <a16:creationId xmlns:a16="http://schemas.microsoft.com/office/drawing/2014/main" id="{0863B479-C772-4B5F-A71A-FC8EBA976A3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owner</a:t>
            </a:r>
          </a:p>
        </p:txBody>
      </p:sp>
      <p:pic>
        <p:nvPicPr>
          <p:cNvPr id="295" name="mini-map"/>
          <p:cNvPicPr>
            <a:picLocks xmlns:a="http://schemas.openxmlformats.org/drawingml/2006/main" noChangeAspect="1"/>
          </p:cNvPicPr>
          <p:nvPr/>
        </p:nvPicPr>
        <p:blipFill>
          <a:blip xmlns:r="http://schemas.openxmlformats.org/officeDocument/2006/relationships" xmlns:a="http://schemas.openxmlformats.org/drawingml/2006/main" r:embed="Rc13a8383b05c4c1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76" name="header-divider">
            <a:extLst xmlns:a="http://schemas.openxmlformats.org/drawingml/2006/main">
              <a:ext uri="{FF2B5EF4-FFF2-40B4-BE49-F238E27FC236}">
                <a16:creationId xmlns:a16="http://schemas.microsoft.com/office/drawing/2014/main" id="{03C2EC78-E0FD-4F78-8808-79716CACDB1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7" name="orchestration-application-title">
            <a:extLst xmlns:a="http://schemas.openxmlformats.org/drawingml/2006/main">
              <a:ext uri="{FF2B5EF4-FFF2-40B4-BE49-F238E27FC236}">
                <a16:creationId xmlns:a16="http://schemas.microsoft.com/office/drawing/2014/main" id="{F14ECA93-E8CE-49FA-9ECE-186BAD32285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 bounded workflow for the FRB brief</a:t>
            </a:r>
          </a:p>
        </p:txBody>
      </p:sp>
      <p:sp>
        <p:nvSpPr>
          <p:cNvPr id="278" name="15-text-20">
            <a:extLst xmlns:a="http://schemas.openxmlformats.org/drawingml/2006/main">
              <a:ext uri="{FF2B5EF4-FFF2-40B4-BE49-F238E27FC236}">
                <a16:creationId xmlns:a16="http://schemas.microsoft.com/office/drawing/2014/main" id="{2DD2180D-5AED-4E9F-A415-638EAE3611CB}"/>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starting design: predefined steps.</a:t>
            </a:r>
          </a:p>
        </p:txBody>
      </p:sp>
      <p:sp>
        <p:nvSpPr>
          <p:cNvPr id="279" name="15-text-21">
            <a:extLst xmlns:a="http://schemas.openxmlformats.org/drawingml/2006/main">
              <a:ext uri="{FF2B5EF4-FFF2-40B4-BE49-F238E27FC236}">
                <a16:creationId xmlns:a16="http://schemas.microsoft.com/office/drawing/2014/main" id="{30A4FFD0-CC5A-4A52-97BD-7E2F3B0917CF}"/>
              </a:ext>
            </a:extLst>
          </p:cNvPr>
          <p:cNvSpPr>
            <a:spLocks xmlns:a="http://schemas.openxmlformats.org/drawingml/2006/main"/>
          </p:cNvSpPr>
          <p:nvPr/>
        </p:nvSpPr>
        <p:spPr>
          <a:xfrm xmlns:a="http://schemas.openxmlformats.org/drawingml/2006/main">
            <a:off x="609600" y="28448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280" name="15-text-22">
            <a:extLst xmlns:a="http://schemas.openxmlformats.org/drawingml/2006/main">
              <a:ext uri="{FF2B5EF4-FFF2-40B4-BE49-F238E27FC236}">
                <a16:creationId xmlns:a16="http://schemas.microsoft.com/office/drawing/2014/main" id="{C8B013A1-C9FC-460B-8B3E-17C44A5FBA49}"/>
              </a:ext>
            </a:extLst>
          </p:cNvPr>
          <p:cNvSpPr>
            <a:spLocks xmlns:a="http://schemas.openxmlformats.org/drawingml/2006/main"/>
          </p:cNvSpPr>
          <p:nvPr/>
        </p:nvSpPr>
        <p:spPr>
          <a:xfrm xmlns:a="http://schemas.openxmlformats.org/drawingml/2006/main">
            <a:off x="1219200" y="28448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Retrieve the packet.</a:t>
            </a:r>
          </a:p>
        </p:txBody>
      </p:sp>
      <p:sp>
        <p:nvSpPr>
          <p:cNvPr id="281" name="15-text-23">
            <a:extLst xmlns:a="http://schemas.openxmlformats.org/drawingml/2006/main">
              <a:ext uri="{FF2B5EF4-FFF2-40B4-BE49-F238E27FC236}">
                <a16:creationId xmlns:a16="http://schemas.microsoft.com/office/drawing/2014/main" id="{B52C0EAF-9E59-4A26-8CF9-B37443D51D7B}"/>
              </a:ext>
            </a:extLst>
          </p:cNvPr>
          <p:cNvSpPr>
            <a:spLocks xmlns:a="http://schemas.openxmlformats.org/drawingml/2006/main"/>
          </p:cNvSpPr>
          <p:nvPr/>
        </p:nvSpPr>
        <p:spPr>
          <a:xfrm xmlns:a="http://schemas.openxmlformats.org/drawingml/2006/main">
            <a:off x="6248400" y="28448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282" name="15-text-24">
            <a:extLst xmlns:a="http://schemas.openxmlformats.org/drawingml/2006/main">
              <a:ext uri="{FF2B5EF4-FFF2-40B4-BE49-F238E27FC236}">
                <a16:creationId xmlns:a16="http://schemas.microsoft.com/office/drawing/2014/main" id="{D6EB74CA-AC24-433C-9F12-B8F10E2334E0}"/>
              </a:ext>
            </a:extLst>
          </p:cNvPr>
          <p:cNvSpPr>
            <a:spLocks xmlns:a="http://schemas.openxmlformats.org/drawingml/2006/main"/>
          </p:cNvSpPr>
          <p:nvPr/>
        </p:nvSpPr>
        <p:spPr>
          <a:xfrm xmlns:a="http://schemas.openxmlformats.org/drawingml/2006/main">
            <a:off x="6858000" y="28448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evidence.</a:t>
            </a:r>
          </a:p>
        </p:txBody>
      </p:sp>
      <p:sp>
        <p:nvSpPr>
          <p:cNvPr id="283" name="15-text-25">
            <a:extLst xmlns:a="http://schemas.openxmlformats.org/drawingml/2006/main">
              <a:ext uri="{FF2B5EF4-FFF2-40B4-BE49-F238E27FC236}">
                <a16:creationId xmlns:a16="http://schemas.microsoft.com/office/drawing/2014/main" id="{9CBC663F-E931-4E8A-98E0-DEED0B1461AA}"/>
              </a:ext>
            </a:extLst>
          </p:cNvPr>
          <p:cNvSpPr>
            <a:spLocks xmlns:a="http://schemas.openxmlformats.org/drawingml/2006/main"/>
          </p:cNvSpPr>
          <p:nvPr/>
        </p:nvSpPr>
        <p:spPr>
          <a:xfrm xmlns:a="http://schemas.openxmlformats.org/drawingml/2006/main">
            <a:off x="609600" y="35560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284" name="15-text-26">
            <a:extLst xmlns:a="http://schemas.openxmlformats.org/drawingml/2006/main">
              <a:ext uri="{FF2B5EF4-FFF2-40B4-BE49-F238E27FC236}">
                <a16:creationId xmlns:a16="http://schemas.microsoft.com/office/drawing/2014/main" id="{177FD049-C81F-40DF-87D9-9EB30677216B}"/>
              </a:ext>
            </a:extLst>
          </p:cNvPr>
          <p:cNvSpPr>
            <a:spLocks xmlns:a="http://schemas.openxmlformats.org/drawingml/2006/main"/>
          </p:cNvSpPr>
          <p:nvPr/>
        </p:nvSpPr>
        <p:spPr>
          <a:xfrm xmlns:a="http://schemas.openxmlformats.org/drawingml/2006/main">
            <a:off x="1219200" y="35560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Compare cases.</a:t>
            </a:r>
          </a:p>
        </p:txBody>
      </p:sp>
      <p:sp>
        <p:nvSpPr>
          <p:cNvPr id="285" name="15-text-27">
            <a:extLst xmlns:a="http://schemas.openxmlformats.org/drawingml/2006/main">
              <a:ext uri="{FF2B5EF4-FFF2-40B4-BE49-F238E27FC236}">
                <a16:creationId xmlns:a16="http://schemas.microsoft.com/office/drawing/2014/main" id="{746E68B3-6874-4B9D-96E8-EFD7F54D5AA9}"/>
              </a:ext>
            </a:extLst>
          </p:cNvPr>
          <p:cNvSpPr>
            <a:spLocks xmlns:a="http://schemas.openxmlformats.org/drawingml/2006/main"/>
          </p:cNvSpPr>
          <p:nvPr/>
        </p:nvSpPr>
        <p:spPr>
          <a:xfrm xmlns:a="http://schemas.openxmlformats.org/drawingml/2006/main">
            <a:off x="6248400" y="35560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86" name="15-text-28">
            <a:extLst xmlns:a="http://schemas.openxmlformats.org/drawingml/2006/main">
              <a:ext uri="{FF2B5EF4-FFF2-40B4-BE49-F238E27FC236}">
                <a16:creationId xmlns:a16="http://schemas.microsoft.com/office/drawing/2014/main" id="{ADB3DB71-AE49-4801-83A5-23FC0F649186}"/>
              </a:ext>
            </a:extLst>
          </p:cNvPr>
          <p:cNvSpPr>
            <a:spLocks xmlns:a="http://schemas.openxmlformats.org/drawingml/2006/main"/>
          </p:cNvSpPr>
          <p:nvPr/>
        </p:nvSpPr>
        <p:spPr>
          <a:xfrm xmlns:a="http://schemas.openxmlformats.org/drawingml/2006/main">
            <a:off x="6858000" y="35560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Reconcile findings.</a:t>
            </a:r>
          </a:p>
        </p:txBody>
      </p:sp>
      <p:sp>
        <p:nvSpPr>
          <p:cNvPr id="287" name="15-text-29">
            <a:extLst xmlns:a="http://schemas.openxmlformats.org/drawingml/2006/main">
              <a:ext uri="{FF2B5EF4-FFF2-40B4-BE49-F238E27FC236}">
                <a16:creationId xmlns:a16="http://schemas.microsoft.com/office/drawing/2014/main" id="{D4D615AA-98BF-4253-94DF-BDBD57EF76E7}"/>
              </a:ext>
            </a:extLst>
          </p:cNvPr>
          <p:cNvSpPr>
            <a:spLocks xmlns:a="http://schemas.openxmlformats.org/drawingml/2006/main"/>
          </p:cNvSpPr>
          <p:nvPr/>
        </p:nvSpPr>
        <p:spPr>
          <a:xfrm xmlns:a="http://schemas.openxmlformats.org/drawingml/2006/main">
            <a:off x="609600" y="42672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
        <p:nvSpPr>
          <p:cNvPr id="288" name="15-text-30">
            <a:extLst xmlns:a="http://schemas.openxmlformats.org/drawingml/2006/main">
              <a:ext uri="{FF2B5EF4-FFF2-40B4-BE49-F238E27FC236}">
                <a16:creationId xmlns:a16="http://schemas.microsoft.com/office/drawing/2014/main" id="{6925DBA6-BD09-464C-9BD9-7C910D5963E5}"/>
              </a:ext>
            </a:extLst>
          </p:cNvPr>
          <p:cNvSpPr>
            <a:spLocks xmlns:a="http://schemas.openxmlformats.org/drawingml/2006/main"/>
          </p:cNvSpPr>
          <p:nvPr/>
        </p:nvSpPr>
        <p:spPr>
          <a:xfrm xmlns:a="http://schemas.openxmlformats.org/drawingml/2006/main">
            <a:off x="1219200" y="42672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Verify the brief.</a:t>
            </a:r>
          </a:p>
        </p:txBody>
      </p:sp>
      <p:sp>
        <p:nvSpPr>
          <p:cNvPr id="289" name="15-text-31">
            <a:extLst xmlns:a="http://schemas.openxmlformats.org/drawingml/2006/main">
              <a:ext uri="{FF2B5EF4-FFF2-40B4-BE49-F238E27FC236}">
                <a16:creationId xmlns:a16="http://schemas.microsoft.com/office/drawing/2014/main" id="{E796825E-B77B-4A19-AF71-AEBF590DAC9D}"/>
              </a:ext>
            </a:extLst>
          </p:cNvPr>
          <p:cNvSpPr>
            <a:spLocks xmlns:a="http://schemas.openxmlformats.org/drawingml/2006/main"/>
          </p:cNvSpPr>
          <p:nvPr/>
        </p:nvSpPr>
        <p:spPr>
          <a:xfrm xmlns:a="http://schemas.openxmlformats.org/drawingml/2006/main">
            <a:off x="6248400" y="42672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
        <p:nvSpPr>
          <p:cNvPr id="290" name="15-text-32">
            <a:extLst xmlns:a="http://schemas.openxmlformats.org/drawingml/2006/main">
              <a:ext uri="{FF2B5EF4-FFF2-40B4-BE49-F238E27FC236}">
                <a16:creationId xmlns:a16="http://schemas.microsoft.com/office/drawing/2014/main" id="{67C3482D-E2D3-4F95-972F-0F0F7F718E16}"/>
              </a:ext>
            </a:extLst>
          </p:cNvPr>
          <p:cNvSpPr>
            <a:spLocks xmlns:a="http://schemas.openxmlformats.org/drawingml/2006/main"/>
          </p:cNvSpPr>
          <p:nvPr/>
        </p:nvSpPr>
        <p:spPr>
          <a:xfrm xmlns:a="http://schemas.openxmlformats.org/drawingml/2006/main">
            <a:off x="6858000" y="42672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Export.</a:t>
            </a:r>
          </a:p>
        </p:txBody>
      </p:sp>
      <p:sp>
        <p:nvSpPr>
          <p:cNvPr id="291" name="15-text-33">
            <a:extLst xmlns:a="http://schemas.openxmlformats.org/drawingml/2006/main">
              <a:ext uri="{FF2B5EF4-FFF2-40B4-BE49-F238E27FC236}">
                <a16:creationId xmlns:a16="http://schemas.microsoft.com/office/drawing/2014/main" id="{570E3A92-AED7-4009-9817-7B49498E8536}"/>
              </a:ext>
            </a:extLst>
          </p:cNvPr>
          <p:cNvSpPr>
            <a:spLocks xmlns:a="http://schemas.openxmlformats.org/drawingml/2006/main"/>
          </p:cNvSpPr>
          <p:nvPr/>
        </p:nvSpPr>
        <p:spPr>
          <a:xfrm xmlns:a="http://schemas.openxmlformats.org/drawingml/2006/main">
            <a:off x="609600" y="497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Export only after checks pass. At a limit, stop or hand off.</a:t>
            </a:r>
          </a:p>
        </p:txBody>
      </p:sp>
      <p:sp>
        <p:nvSpPr>
          <p:cNvPr id="292" name="15-text-34">
            <a:extLst xmlns:a="http://schemas.openxmlformats.org/drawingml/2006/main">
              <a:ext uri="{FF2B5EF4-FFF2-40B4-BE49-F238E27FC236}">
                <a16:creationId xmlns:a16="http://schemas.microsoft.com/office/drawing/2014/main" id="{41EEBA21-249F-42F1-9360-CB28F3C27905}"/>
              </a:ext>
            </a:extLst>
          </p:cNvPr>
          <p:cNvSpPr>
            <a:spLocks xmlns:a="http://schemas.openxmlformats.org/drawingml/2006/main"/>
          </p:cNvSpPr>
          <p:nvPr/>
        </p:nvSpPr>
        <p:spPr>
          <a:xfrm xmlns:a="http://schemas.openxmlformats.org/drawingml/2006/main">
            <a:off x="609600" y="55118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Save steps and revisions. Before retrying an export,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check its receipt and recheck freshness and access.</a:t>
            </a:r>
          </a:p>
        </p:txBody>
      </p:sp>
      <p:sp>
        <p:nvSpPr>
          <p:cNvPr id="293" name="narrative-number">
            <a:extLst xmlns:a="http://schemas.openxmlformats.org/drawingml/2006/main">
              <a:ext uri="{FF2B5EF4-FFF2-40B4-BE49-F238E27FC236}">
                <a16:creationId xmlns:a16="http://schemas.microsoft.com/office/drawing/2014/main" id="{893A5B26-8F7F-4FB8-9722-B9D90DF1119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3624101878"/>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94" name="!!area-header">
            <a:extLst xmlns:a="http://schemas.openxmlformats.org/drawingml/2006/main">
              <a:ext uri="{FF2B5EF4-FFF2-40B4-BE49-F238E27FC236}">
                <a16:creationId xmlns:a16="http://schemas.microsoft.com/office/drawing/2014/main" id="{44095D57-A790-4593-83DB-9675AFCE0E48}"/>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295" name="!!area-name">
            <a:extLst xmlns:a="http://schemas.openxmlformats.org/drawingml/2006/main">
              <a:ext uri="{FF2B5EF4-FFF2-40B4-BE49-F238E27FC236}">
                <a16:creationId xmlns:a16="http://schemas.microsoft.com/office/drawing/2014/main" id="{F0BFDBEA-FE20-4ABE-BF2B-83BFB3E8A202}"/>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Verification and evals</a:t>
            </a:r>
          </a:p>
        </p:txBody>
      </p:sp>
      <p:sp>
        <p:nvSpPr>
          <p:cNvPr id="296" name="!!area-beat">
            <a:extLst xmlns:a="http://schemas.openxmlformats.org/drawingml/2006/main">
              <a:ext uri="{FF2B5EF4-FFF2-40B4-BE49-F238E27FC236}">
                <a16:creationId xmlns:a16="http://schemas.microsoft.com/office/drawing/2014/main" id="{D833CD8D-B90E-4432-8CF3-72DEDA2F419E}"/>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297" name="header-divider">
            <a:extLst xmlns:a="http://schemas.openxmlformats.org/drawingml/2006/main">
              <a:ext uri="{FF2B5EF4-FFF2-40B4-BE49-F238E27FC236}">
                <a16:creationId xmlns:a16="http://schemas.microsoft.com/office/drawing/2014/main" id="{9EAAB34F-6682-4154-983D-87651A6DC209}"/>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8" name="!!screenshot-Test run">
            <a:extLst xmlns:a="http://schemas.openxmlformats.org/drawingml/2006/main">
              <a:ext uri="{FF2B5EF4-FFF2-40B4-BE49-F238E27FC236}">
                <a16:creationId xmlns:a16="http://schemas.microsoft.com/office/drawing/2014/main" id="{13BE98FF-1EA5-4B0D-B8CA-9B34E9D0619A}"/>
              </a:ext>
            </a:extLst>
          </p:cNvPr>
          <p:cNvSpPr>
            <a:spLocks xmlns:a="http://schemas.openxmlformats.org/drawingml/2006/main"/>
          </p:cNvSpPr>
          <p:nvPr/>
        </p:nvSpPr>
        <p:spPr>
          <a:xfrm xmlns:a="http://schemas.openxmlformats.org/drawingml/2006/main">
            <a:off x="609600" y="2336800"/>
            <a:ext cx="5334000" cy="3302000"/>
          </a:xfrm>
          <a:prstGeom xmlns:a="http://schemas.openxmlformats.org/drawingml/2006/main" prst="roundRect">
            <a:avLst>
              <a:gd name="adj" fmla="val 1538"/>
            </a:avLst>
          </a:prstGeom>
          <a:solidFill xmlns:a="http://schemas.openxmlformats.org/drawingml/2006/main">
            <a:srgbClr val="303236"/>
          </a:solidFill>
          <a:ln xmlns:a="http://schemas.openxmlformats.org/drawingml/2006/main" w="12700">
            <a:solidFill>
              <a:srgbClr val="4C4D50"/>
            </a:solidFill>
          </a:ln>
        </p:spPr>
      </p:sp>
      <p:sp>
        <p:nvSpPr>
          <p:cNvPr id="299" name="16-text-1">
            <a:extLst xmlns:a="http://schemas.openxmlformats.org/drawingml/2006/main">
              <a:ext uri="{FF2B5EF4-FFF2-40B4-BE49-F238E27FC236}">
                <a16:creationId xmlns:a16="http://schemas.microsoft.com/office/drawing/2014/main" id="{C62DDC05-641C-478E-B21A-35C52AD42336}"/>
              </a:ext>
            </a:extLst>
          </p:cNvPr>
          <p:cNvSpPr>
            <a:spLocks xmlns:a="http://schemas.openxmlformats.org/drawingml/2006/main"/>
          </p:cNvSpPr>
          <p:nvPr/>
        </p:nvSpPr>
        <p:spPr>
          <a:xfrm xmlns:a="http://schemas.openxmlformats.org/drawingml/2006/main">
            <a:off x="812800" y="3035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300" name="16-text-2">
            <a:extLst xmlns:a="http://schemas.openxmlformats.org/drawingml/2006/main">
              <a:ext uri="{FF2B5EF4-FFF2-40B4-BE49-F238E27FC236}">
                <a16:creationId xmlns:a16="http://schemas.microsoft.com/office/drawing/2014/main" id="{62404E91-B537-4AD1-AB78-AF6C0C5BC341}"/>
              </a:ext>
            </a:extLst>
          </p:cNvPr>
          <p:cNvSpPr>
            <a:spLocks xmlns:a="http://schemas.openxmlformats.org/drawingml/2006/main"/>
          </p:cNvSpPr>
          <p:nvPr/>
        </p:nvSpPr>
        <p:spPr>
          <a:xfrm xmlns:a="http://schemas.openxmlformats.org/drawingml/2006/main">
            <a:off x="812800" y="3556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Codex CLI test run</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Command and result visible</a:t>
            </a:r>
          </a:p>
        </p:txBody>
      </p:sp>
      <p:sp>
        <p:nvSpPr>
          <p:cNvPr id="301" name="16-text-3">
            <a:extLst xmlns:a="http://schemas.openxmlformats.org/drawingml/2006/main">
              <a:ext uri="{FF2B5EF4-FFF2-40B4-BE49-F238E27FC236}">
                <a16:creationId xmlns:a16="http://schemas.microsoft.com/office/drawing/2014/main" id="{ED3EBCD7-31C8-400E-938E-572B3804136A}"/>
              </a:ext>
            </a:extLst>
          </p:cNvPr>
          <p:cNvSpPr>
            <a:spLocks xmlns:a="http://schemas.openxmlformats.org/drawingml/2006/main"/>
          </p:cNvSpPr>
          <p:nvPr/>
        </p:nvSpPr>
        <p:spPr>
          <a:xfrm xmlns:a="http://schemas.openxmlformats.org/drawingml/2006/main">
            <a:off x="6248400" y="24384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Run the checks</a:t>
            </a:r>
          </a:p>
        </p:txBody>
      </p:sp>
      <p:sp>
        <p:nvSpPr>
          <p:cNvPr id="302" name="16-text-4">
            <a:extLst xmlns:a="http://schemas.openxmlformats.org/drawingml/2006/main">
              <a:ext uri="{FF2B5EF4-FFF2-40B4-BE49-F238E27FC236}">
                <a16:creationId xmlns:a16="http://schemas.microsoft.com/office/drawing/2014/main" id="{032BACB8-C365-4C0A-993E-F8C96DFC6822}"/>
              </a:ext>
            </a:extLst>
          </p:cNvPr>
          <p:cNvSpPr>
            <a:spLocks xmlns:a="http://schemas.openxmlformats.org/drawingml/2006/main"/>
          </p:cNvSpPr>
          <p:nvPr/>
        </p:nvSpPr>
        <p:spPr>
          <a:xfrm xmlns:a="http://schemas.openxmlformats.org/drawingml/2006/main">
            <a:off x="6248400" y="2997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agent runs the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repository's tests.</a:t>
            </a:r>
          </a:p>
        </p:txBody>
      </p:sp>
      <p:sp>
        <p:nvSpPr>
          <p:cNvPr id="303" name="16-text-5">
            <a:extLst xmlns:a="http://schemas.openxmlformats.org/drawingml/2006/main">
              <a:ext uri="{FF2B5EF4-FFF2-40B4-BE49-F238E27FC236}">
                <a16:creationId xmlns:a16="http://schemas.microsoft.com/office/drawing/2014/main" id="{6BFDA58B-32F1-4D63-B733-46B737960256}"/>
              </a:ext>
            </a:extLst>
          </p:cNvPr>
          <p:cNvSpPr>
            <a:spLocks xmlns:a="http://schemas.openxmlformats.org/drawingml/2006/main"/>
          </p:cNvSpPr>
          <p:nvPr/>
        </p:nvSpPr>
        <p:spPr>
          <a:xfrm xmlns:a="http://schemas.openxmlformats.org/drawingml/2006/main">
            <a:off x="6248400" y="41402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Read the result</a:t>
            </a:r>
          </a:p>
        </p:txBody>
      </p:sp>
      <p:sp>
        <p:nvSpPr>
          <p:cNvPr id="304" name="16-text-6">
            <a:extLst xmlns:a="http://schemas.openxmlformats.org/drawingml/2006/main">
              <a:ext uri="{FF2B5EF4-FFF2-40B4-BE49-F238E27FC236}">
                <a16:creationId xmlns:a16="http://schemas.microsoft.com/office/drawing/2014/main" id="{4CC74099-1CAD-4BED-A4B3-AB1338C71D44}"/>
              </a:ext>
            </a:extLst>
          </p:cNvPr>
          <p:cNvSpPr>
            <a:spLocks xmlns:a="http://schemas.openxmlformats.org/drawingml/2006/main"/>
          </p:cNvSpPr>
          <p:nvPr/>
        </p:nvSpPr>
        <p:spPr>
          <a:xfrm xmlns:a="http://schemas.openxmlformats.org/drawingml/2006/main">
            <a:off x="6248400" y="46990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output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accepting the change.</a:t>
            </a:r>
          </a:p>
        </p:txBody>
      </p:sp>
      <p:sp>
        <p:nvSpPr>
          <p:cNvPr id="305" name="narrative-number">
            <a:extLst xmlns:a="http://schemas.openxmlformats.org/drawingml/2006/main">
              <a:ext uri="{FF2B5EF4-FFF2-40B4-BE49-F238E27FC236}">
                <a16:creationId xmlns:a16="http://schemas.microsoft.com/office/drawing/2014/main" id="{BF2B3959-AEED-4557-8A8F-894BB702BFB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1851121495"/>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06" name="!!area-name">
            <a:extLst xmlns:a="http://schemas.openxmlformats.org/drawingml/2006/main">
              <a:ext uri="{FF2B5EF4-FFF2-40B4-BE49-F238E27FC236}">
                <a16:creationId xmlns:a16="http://schemas.microsoft.com/office/drawing/2014/main" id="{FB71B238-ED5D-4A2A-9E4C-D97EE15CE18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owner</a:t>
            </a:r>
          </a:p>
        </p:txBody>
      </p:sp>
      <p:pic>
        <p:nvPicPr>
          <p:cNvPr id="315" name="mini-map"/>
          <p:cNvPicPr>
            <a:picLocks xmlns:a="http://schemas.openxmlformats.org/drawingml/2006/main" noChangeAspect="1"/>
          </p:cNvPicPr>
          <p:nvPr/>
        </p:nvPicPr>
        <p:blipFill>
          <a:blip xmlns:r="http://schemas.openxmlformats.org/officeDocument/2006/relationships" xmlns:a="http://schemas.openxmlformats.org/drawingml/2006/main" r:embed="Rc357d4ba3325461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08" name="header-divider">
            <a:extLst xmlns:a="http://schemas.openxmlformats.org/drawingml/2006/main">
              <a:ext uri="{FF2B5EF4-FFF2-40B4-BE49-F238E27FC236}">
                <a16:creationId xmlns:a16="http://schemas.microsoft.com/office/drawing/2014/main" id="{CFC2FCD5-7B85-499B-9624-6FEF20D3CB2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09" name="17-text-1">
            <a:extLst xmlns:a="http://schemas.openxmlformats.org/drawingml/2006/main">
              <a:ext uri="{FF2B5EF4-FFF2-40B4-BE49-F238E27FC236}">
                <a16:creationId xmlns:a16="http://schemas.microsoft.com/office/drawing/2014/main" id="{5616818D-DD07-405B-95A4-2141FACC16AE}"/>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“Error analysis is the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most important activity</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in evals.”</a:t>
            </a:r>
          </a:p>
        </p:txBody>
      </p:sp>
      <p:sp>
        <p:nvSpPr>
          <p:cNvPr id="310" name="17-text-2">
            <a:extLst xmlns:a="http://schemas.openxmlformats.org/drawingml/2006/main">
              <a:ext uri="{FF2B5EF4-FFF2-40B4-BE49-F238E27FC236}">
                <a16:creationId xmlns:a16="http://schemas.microsoft.com/office/drawing/2014/main" id="{1F33C2E4-898B-418B-9CE1-D8BAB2AA7F93}"/>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and Shreya Shankar</a:t>
            </a:r>
          </a:p>
        </p:txBody>
      </p:sp>
      <p:sp>
        <p:nvSpPr>
          <p:cNvPr id="311" name="17-text-3">
            <a:extLst xmlns:a="http://schemas.openxmlformats.org/drawingml/2006/main">
              <a:ext uri="{FF2B5EF4-FFF2-40B4-BE49-F238E27FC236}">
                <a16:creationId xmlns:a16="http://schemas.microsoft.com/office/drawing/2014/main" id="{F7295FB7-F4E6-41F6-813A-C7F0CD6FA7A8}"/>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AI Evals: Everything You Need to Know, September 2026</a:t>
            </a:r>
          </a:p>
        </p:txBody>
      </p:sp>
      <p:pic>
        <p:nvPicPr>
          <p:cNvPr id="320" name="17-image-4"/>
          <p:cNvPicPr>
            <a:picLocks xmlns:a="http://schemas.openxmlformats.org/drawingml/2006/main" noChangeAspect="1"/>
          </p:cNvPicPr>
          <p:nvPr/>
        </p:nvPicPr>
        <p:blipFill>
          <a:blip xmlns:r="http://schemas.openxmlformats.org/officeDocument/2006/relationships" xmlns:a="http://schemas.openxmlformats.org/drawingml/2006/main" r:embed="Re2def76d77e647f0"/>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313" name="narrative-number">
            <a:extLst xmlns:a="http://schemas.openxmlformats.org/drawingml/2006/main">
              <a:ext uri="{FF2B5EF4-FFF2-40B4-BE49-F238E27FC236}">
                <a16:creationId xmlns:a16="http://schemas.microsoft.com/office/drawing/2014/main" id="{D9B32CE7-2048-447A-89EC-3F39AFE87D1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55944228"/>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14" name="!!area-name">
            <a:extLst xmlns:a="http://schemas.openxmlformats.org/drawingml/2006/main">
              <a:ext uri="{FF2B5EF4-FFF2-40B4-BE49-F238E27FC236}">
                <a16:creationId xmlns:a16="http://schemas.microsoft.com/office/drawing/2014/main" id="{F2AA427F-0FD9-4810-8FE1-3C959624662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owner</a:t>
            </a:r>
          </a:p>
        </p:txBody>
      </p:sp>
      <p:pic>
        <p:nvPicPr>
          <p:cNvPr id="326" name="mini-map"/>
          <p:cNvPicPr>
            <a:picLocks xmlns:a="http://schemas.openxmlformats.org/drawingml/2006/main" noChangeAspect="1"/>
          </p:cNvPicPr>
          <p:nvPr/>
        </p:nvPicPr>
        <p:blipFill>
          <a:blip xmlns:r="http://schemas.openxmlformats.org/officeDocument/2006/relationships" xmlns:a="http://schemas.openxmlformats.org/drawingml/2006/main" r:embed="Ra0b16df99a53416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16" name="header-divider">
            <a:extLst xmlns:a="http://schemas.openxmlformats.org/drawingml/2006/main">
              <a:ext uri="{FF2B5EF4-FFF2-40B4-BE49-F238E27FC236}">
                <a16:creationId xmlns:a16="http://schemas.microsoft.com/office/drawing/2014/main" id="{4FF0B4C9-8B96-4D82-9E7E-931FD4CC389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17" name="evals-decisions-title">
            <a:extLst xmlns:a="http://schemas.openxmlformats.org/drawingml/2006/main">
              <a:ext uri="{FF2B5EF4-FFF2-40B4-BE49-F238E27FC236}">
                <a16:creationId xmlns:a16="http://schemas.microsoft.com/office/drawing/2014/main" id="{0DF2C35A-83D2-4731-BD8B-D81C5A30776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evaluation decisions you own</a:t>
            </a:r>
          </a:p>
        </p:txBody>
      </p:sp>
      <p:sp>
        <p:nvSpPr>
          <p:cNvPr id="318" name="17-text-5">
            <a:extLst xmlns:a="http://schemas.openxmlformats.org/drawingml/2006/main">
              <a:ext uri="{FF2B5EF4-FFF2-40B4-BE49-F238E27FC236}">
                <a16:creationId xmlns:a16="http://schemas.microsoft.com/office/drawing/2014/main" id="{4D4A1ADC-8D98-435B-B466-F2318ECF7A14}"/>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counts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as success?</a:t>
            </a:r>
          </a:p>
        </p:txBody>
      </p:sp>
      <p:sp>
        <p:nvSpPr>
          <p:cNvPr id="319" name="17-text-6">
            <a:extLst xmlns:a="http://schemas.openxmlformats.org/drawingml/2006/main">
              <a:ext uri="{FF2B5EF4-FFF2-40B4-BE49-F238E27FC236}">
                <a16:creationId xmlns:a16="http://schemas.microsoft.com/office/drawing/2014/main" id="{00C4AD26-A2C3-4922-AF72-8C27619A1B1A}"/>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Define the outcome and required constraints.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Include serious failure cases and acceptable limits.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Use criteria a domain expert can apply.</a:t>
            </a:r>
          </a:p>
        </p:txBody>
      </p:sp>
      <p:sp>
        <p:nvSpPr>
          <p:cNvPr id="320" name="17-text-7">
            <a:extLst xmlns:a="http://schemas.openxmlformats.org/drawingml/2006/main">
              <a:ext uri="{FF2B5EF4-FFF2-40B4-BE49-F238E27FC236}">
                <a16:creationId xmlns:a16="http://schemas.microsoft.com/office/drawing/2014/main" id="{6B0C1D29-19FD-4752-8103-3039B3A9E231}"/>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checks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can establish it?</a:t>
            </a:r>
          </a:p>
        </p:txBody>
      </p:sp>
      <p:sp>
        <p:nvSpPr>
          <p:cNvPr id="321" name="17-text-8">
            <a:extLst xmlns:a="http://schemas.openxmlformats.org/drawingml/2006/main">
              <a:ext uri="{FF2B5EF4-FFF2-40B4-BE49-F238E27FC236}">
                <a16:creationId xmlns:a16="http://schemas.microsoft.com/office/drawing/2014/main" id="{EB528B2B-4EA5-4361-94AF-E54209430CAB}"/>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Use direct checks where possible.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Use expert judgment for meaning and usefulness.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Calibrate model graders against experts.</a:t>
            </a:r>
          </a:p>
        </p:txBody>
      </p:sp>
      <p:sp>
        <p:nvSpPr>
          <p:cNvPr id="322" name="17-text-9">
            <a:extLst xmlns:a="http://schemas.openxmlformats.org/drawingml/2006/main">
              <a:ext uri="{FF2B5EF4-FFF2-40B4-BE49-F238E27FC236}">
                <a16:creationId xmlns:a16="http://schemas.microsoft.com/office/drawing/2014/main" id="{1C6EF995-070E-4305-8221-C5FE87A99497}"/>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cases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how many trials?</a:t>
            </a:r>
          </a:p>
        </p:txBody>
      </p:sp>
      <p:sp>
        <p:nvSpPr>
          <p:cNvPr id="323" name="17-text-10">
            <a:extLst xmlns:a="http://schemas.openxmlformats.org/drawingml/2006/main">
              <a:ext uri="{FF2B5EF4-FFF2-40B4-BE49-F238E27FC236}">
                <a16:creationId xmlns:a16="http://schemas.microsoft.com/office/drawing/2014/main" id="{823D30F9-36C8-4C54-99CC-B71010C86003}"/>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Start with 20 to 50 cases from real failures.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Cover common tasks and important edge cases.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Repeat trials to measure consistency.</a:t>
            </a:r>
          </a:p>
        </p:txBody>
      </p:sp>
      <p:sp>
        <p:nvSpPr>
          <p:cNvPr id="324" name="narrative-number">
            <a:extLst xmlns:a="http://schemas.openxmlformats.org/drawingml/2006/main">
              <a:ext uri="{FF2B5EF4-FFF2-40B4-BE49-F238E27FC236}">
                <a16:creationId xmlns:a16="http://schemas.microsoft.com/office/drawing/2014/main" id="{21680D01-27F6-4E5F-87F0-37B2A7215A8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857809029"/>
      </p:ext>
    </p:extLst>
  </p:cSld>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25" name="!!area-name">
            <a:extLst xmlns:a="http://schemas.openxmlformats.org/drawingml/2006/main">
              <a:ext uri="{FF2B5EF4-FFF2-40B4-BE49-F238E27FC236}">
                <a16:creationId xmlns:a16="http://schemas.microsoft.com/office/drawing/2014/main" id="{090E6843-3F8A-4474-BC30-2F103E66B17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owner</a:t>
            </a:r>
          </a:p>
        </p:txBody>
      </p:sp>
      <p:pic>
        <p:nvPicPr>
          <p:cNvPr id="340" name="mini-map"/>
          <p:cNvPicPr>
            <a:picLocks xmlns:a="http://schemas.openxmlformats.org/drawingml/2006/main" noChangeAspect="1"/>
          </p:cNvPicPr>
          <p:nvPr/>
        </p:nvPicPr>
        <p:blipFill>
          <a:blip xmlns:r="http://schemas.openxmlformats.org/officeDocument/2006/relationships" xmlns:a="http://schemas.openxmlformats.org/drawingml/2006/main" r:embed="R14536e9b320d4d6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27" name="header-divider">
            <a:extLst xmlns:a="http://schemas.openxmlformats.org/drawingml/2006/main">
              <a:ext uri="{FF2B5EF4-FFF2-40B4-BE49-F238E27FC236}">
                <a16:creationId xmlns:a16="http://schemas.microsoft.com/office/drawing/2014/main" id="{4B433A74-2794-4FB8-84F7-02433CEAA39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28" name="evals-maintenance-title">
            <a:extLst xmlns:a="http://schemas.openxmlformats.org/drawingml/2006/main">
              <a:ext uri="{FF2B5EF4-FFF2-40B4-BE49-F238E27FC236}">
                <a16:creationId xmlns:a16="http://schemas.microsoft.com/office/drawing/2014/main" id="{39B8D8C9-3CDA-44D9-B4FB-C977ADC539B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Living with evaluation choices</a:t>
            </a:r>
          </a:p>
        </p:txBody>
      </p:sp>
      <p:sp>
        <p:nvSpPr>
          <p:cNvPr id="329" name="17-text-11">
            <a:extLst xmlns:a="http://schemas.openxmlformats.org/drawingml/2006/main">
              <a:ext uri="{FF2B5EF4-FFF2-40B4-BE49-F238E27FC236}">
                <a16:creationId xmlns:a16="http://schemas.microsoft.com/office/drawing/2014/main" id="{6A3BACED-117E-4B7A-A75B-356BE3E3D8B8}"/>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Criteria</a:t>
            </a:r>
          </a:p>
        </p:txBody>
      </p:sp>
      <p:sp>
        <p:nvSpPr>
          <p:cNvPr id="330" name="17-text-12">
            <a:extLst xmlns:a="http://schemas.openxmlformats.org/drawingml/2006/main">
              <a:ext uri="{FF2B5EF4-FFF2-40B4-BE49-F238E27FC236}">
                <a16:creationId xmlns:a16="http://schemas.microsoft.com/office/drawing/2014/main" id="{A1142243-4287-4889-BCB6-FB435BBC2FAF}"/>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Outputs can reveal missing requirements.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Refine criteria with domain experts.</a:t>
            </a:r>
          </a:p>
        </p:txBody>
      </p:sp>
      <p:sp>
        <p:nvSpPr>
          <p:cNvPr id="331" name="17-text-13">
            <a:extLst xmlns:a="http://schemas.openxmlformats.org/drawingml/2006/main">
              <a:ext uri="{FF2B5EF4-FFF2-40B4-BE49-F238E27FC236}">
                <a16:creationId xmlns:a16="http://schemas.microsoft.com/office/drawing/2014/main" id="{E6995D91-368F-49E3-8A65-113D03C04021}"/>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Graders</a:t>
            </a:r>
          </a:p>
        </p:txBody>
      </p:sp>
      <p:sp>
        <p:nvSpPr>
          <p:cNvPr id="332" name="17-text-14">
            <a:extLst xmlns:a="http://schemas.openxmlformats.org/drawingml/2006/main">
              <a:ext uri="{FF2B5EF4-FFF2-40B4-BE49-F238E27FC236}">
                <a16:creationId xmlns:a16="http://schemas.microsoft.com/office/drawing/2014/main" id="{AA6636DE-A3E6-4255-B5AA-8C26E426FD17}"/>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judge can disagree with expert decisions.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disagreements and recalibrate.</a:t>
            </a:r>
          </a:p>
        </p:txBody>
      </p:sp>
      <p:sp>
        <p:nvSpPr>
          <p:cNvPr id="333" name="17-text-15">
            <a:extLst xmlns:a="http://schemas.openxmlformats.org/drawingml/2006/main">
              <a:ext uri="{FF2B5EF4-FFF2-40B4-BE49-F238E27FC236}">
                <a16:creationId xmlns:a16="http://schemas.microsoft.com/office/drawing/2014/main" id="{D451735F-CF43-417B-98E1-B7B4DF3A2D2E}"/>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Coverage</a:t>
            </a:r>
          </a:p>
        </p:txBody>
      </p:sp>
      <p:sp>
        <p:nvSpPr>
          <p:cNvPr id="334" name="17-text-16">
            <a:extLst xmlns:a="http://schemas.openxmlformats.org/drawingml/2006/main">
              <a:ext uri="{FF2B5EF4-FFF2-40B4-BE49-F238E27FC236}">
                <a16:creationId xmlns:a16="http://schemas.microsoft.com/office/drawing/2014/main" id="{4EBE11AF-B4B3-4C3D-9171-E791DE34457E}"/>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and harness changes can expose new failures.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Rerun the suite and add production failures.</a:t>
            </a:r>
          </a:p>
        </p:txBody>
      </p:sp>
      <p:sp>
        <p:nvSpPr>
          <p:cNvPr id="335" name="17-text-17">
            <a:extLst xmlns:a="http://schemas.openxmlformats.org/drawingml/2006/main">
              <a:ext uri="{FF2B5EF4-FFF2-40B4-BE49-F238E27FC236}">
                <a16:creationId xmlns:a16="http://schemas.microsoft.com/office/drawing/2014/main" id="{144B186E-69AF-4DB4-9F0A-39DCF7DB70D6}"/>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result and the trace before choosing a repair.</a:t>
            </a:r>
          </a:p>
        </p:txBody>
      </p:sp>
      <p:sp>
        <p:nvSpPr>
          <p:cNvPr id="336" name="17-text-18">
            <a:extLst xmlns:a="http://schemas.openxmlformats.org/drawingml/2006/main">
              <a:ext uri="{FF2B5EF4-FFF2-40B4-BE49-F238E27FC236}">
                <a16:creationId xmlns:a16="http://schemas.microsoft.com/office/drawing/2014/main" id="{DD8AF946-439F-47F9-AB81-64A020A93A6A}"/>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Pitfall</a:t>
            </a:r>
          </a:p>
        </p:txBody>
      </p:sp>
      <p:sp>
        <p:nvSpPr>
          <p:cNvPr id="337" name="17-text-19">
            <a:extLst xmlns:a="http://schemas.openxmlformats.org/drawingml/2006/main">
              <a:ext uri="{FF2B5EF4-FFF2-40B4-BE49-F238E27FC236}">
                <a16:creationId xmlns:a16="http://schemas.microsoft.com/office/drawing/2014/main" id="{891B6C77-7620-4397-9D8D-38EFAFC932BC}"/>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 generic judge instead of error analysis.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Trusting the success claim without checking the result.</a:t>
            </a:r>
          </a:p>
        </p:txBody>
      </p:sp>
      <p:sp>
        <p:nvSpPr>
          <p:cNvPr id="338" name="narrative-number">
            <a:extLst xmlns:a="http://schemas.openxmlformats.org/drawingml/2006/main">
              <a:ext uri="{FF2B5EF4-FFF2-40B4-BE49-F238E27FC236}">
                <a16:creationId xmlns:a16="http://schemas.microsoft.com/office/drawing/2014/main" id="{BD663499-12BB-4B4B-B3A5-E21A2248860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3430357009"/>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9" name="!!area-name">
            <a:extLst xmlns:a="http://schemas.openxmlformats.org/drawingml/2006/main">
              <a:ext uri="{FF2B5EF4-FFF2-40B4-BE49-F238E27FC236}">
                <a16:creationId xmlns:a16="http://schemas.microsoft.com/office/drawing/2014/main" id="{57D3D5B8-31B9-4BFF-B033-F3E107D7A15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owner</a:t>
            </a:r>
          </a:p>
        </p:txBody>
      </p:sp>
      <p:pic>
        <p:nvPicPr>
          <p:cNvPr id="355" name="mini-map"/>
          <p:cNvPicPr>
            <a:picLocks xmlns:a="http://schemas.openxmlformats.org/drawingml/2006/main" noChangeAspect="1"/>
          </p:cNvPicPr>
          <p:nvPr/>
        </p:nvPicPr>
        <p:blipFill>
          <a:blip xmlns:r="http://schemas.openxmlformats.org/officeDocument/2006/relationships" xmlns:a="http://schemas.openxmlformats.org/drawingml/2006/main" r:embed="R3d973e86015240a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41" name="header-divider">
            <a:extLst xmlns:a="http://schemas.openxmlformats.org/drawingml/2006/main">
              <a:ext uri="{FF2B5EF4-FFF2-40B4-BE49-F238E27FC236}">
                <a16:creationId xmlns:a16="http://schemas.microsoft.com/office/drawing/2014/main" id="{F3C1B76A-71B6-4603-A9DC-E9F33B0041D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2" name="evals-application-title">
            <a:extLst xmlns:a="http://schemas.openxmlformats.org/drawingml/2006/main">
              <a:ext uri="{FF2B5EF4-FFF2-40B4-BE49-F238E27FC236}">
                <a16:creationId xmlns:a16="http://schemas.microsoft.com/office/drawing/2014/main" id="{10A02687-C8A8-447D-9559-76F83B91136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 source-support check for the FRB brief</a:t>
            </a:r>
          </a:p>
        </p:txBody>
      </p:sp>
      <p:sp>
        <p:nvSpPr>
          <p:cNvPr id="343" name="17-text-20">
            <a:extLst xmlns:a="http://schemas.openxmlformats.org/drawingml/2006/main">
              <a:ext uri="{FF2B5EF4-FFF2-40B4-BE49-F238E27FC236}">
                <a16:creationId xmlns:a16="http://schemas.microsoft.com/office/drawing/2014/main" id="{C74F2881-5C45-4845-8F11-A74276DF6BDB}"/>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FRB-042 source-support check.</a:t>
            </a:r>
          </a:p>
        </p:txBody>
      </p:sp>
      <p:sp>
        <p:nvSpPr>
          <p:cNvPr id="344" name="17-text-21">
            <a:extLst xmlns:a="http://schemas.openxmlformats.org/drawingml/2006/main">
              <a:ext uri="{FF2B5EF4-FFF2-40B4-BE49-F238E27FC236}">
                <a16:creationId xmlns:a16="http://schemas.microsoft.com/office/drawing/2014/main" id="{EBA2EC72-9778-4342-AB31-5FCE5DDB3688}"/>
              </a:ext>
            </a:extLst>
          </p:cNvPr>
          <p:cNvSpPr>
            <a:spLocks xmlns:a="http://schemas.openxmlformats.org/drawingml/2006/main"/>
          </p:cNvSpPr>
          <p:nvPr/>
        </p:nvSpPr>
        <p:spPr>
          <a:xfrm xmlns:a="http://schemas.openxmlformats.org/drawingml/2006/main">
            <a:off x="609600" y="28448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345" name="17-text-22">
            <a:extLst xmlns:a="http://schemas.openxmlformats.org/drawingml/2006/main">
              <a:ext uri="{FF2B5EF4-FFF2-40B4-BE49-F238E27FC236}">
                <a16:creationId xmlns:a16="http://schemas.microsoft.com/office/drawing/2014/main" id="{CEE34E46-4DF8-4036-8CDC-A144274AFF75}"/>
              </a:ext>
            </a:extLst>
          </p:cNvPr>
          <p:cNvSpPr>
            <a:spLocks xmlns:a="http://schemas.openxmlformats.org/drawingml/2006/main"/>
          </p:cNvSpPr>
          <p:nvPr/>
        </p:nvSpPr>
        <p:spPr>
          <a:xfrm xmlns:a="http://schemas.openxmlformats.org/drawingml/2006/main">
            <a:off x="609600" y="3251200"/>
            <a:ext cx="5334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346" name="17-text-23">
            <a:extLst xmlns:a="http://schemas.openxmlformats.org/drawingml/2006/main">
              <a:ext uri="{FF2B5EF4-FFF2-40B4-BE49-F238E27FC236}">
                <a16:creationId xmlns:a16="http://schemas.microsoft.com/office/drawing/2014/main" id="{4E7B3206-2B7A-4592-B70C-8501BA0E84D1}"/>
              </a:ext>
            </a:extLst>
          </p:cNvPr>
          <p:cNvSpPr>
            <a:spLocks xmlns:a="http://schemas.openxmlformats.org/drawingml/2006/main"/>
          </p:cNvSpPr>
          <p:nvPr/>
        </p:nvSpPr>
        <p:spPr>
          <a:xfrm xmlns:a="http://schemas.openxmlformats.org/drawingml/2006/main">
            <a:off x="609600" y="49022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Citation exists: PASS</a:t>
            </a:r>
          </a:p>
        </p:txBody>
      </p:sp>
      <p:sp>
        <p:nvSpPr>
          <p:cNvPr id="347" name="17-text-24">
            <a:extLst xmlns:a="http://schemas.openxmlformats.org/drawingml/2006/main">
              <a:ext uri="{FF2B5EF4-FFF2-40B4-BE49-F238E27FC236}">
                <a16:creationId xmlns:a16="http://schemas.microsoft.com/office/drawing/2014/main" id="{3252DF10-4201-4DCA-BA07-EB8FB229CFCB}"/>
              </a:ext>
            </a:extLst>
          </p:cNvPr>
          <p:cNvSpPr>
            <a:spLocks xmlns:a="http://schemas.openxmlformats.org/drawingml/2006/main"/>
          </p:cNvSpPr>
          <p:nvPr/>
        </p:nvSpPr>
        <p:spPr>
          <a:xfrm xmlns:a="http://schemas.openxmlformats.org/drawingml/2006/main">
            <a:off x="609600" y="538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Claim supported: FAIL</a:t>
            </a:r>
          </a:p>
        </p:txBody>
      </p:sp>
      <p:sp>
        <p:nvSpPr>
          <p:cNvPr id="348" name="17-text-25">
            <a:extLst xmlns:a="http://schemas.openxmlformats.org/drawingml/2006/main">
              <a:ext uri="{FF2B5EF4-FFF2-40B4-BE49-F238E27FC236}">
                <a16:creationId xmlns:a16="http://schemas.microsoft.com/office/drawing/2014/main" id="{16C73634-F43D-4EF1-A7FD-469003B4CF22}"/>
              </a:ext>
            </a:extLst>
          </p:cNvPr>
          <p:cNvSpPr>
            <a:spLocks xmlns:a="http://schemas.openxmlformats.org/drawingml/2006/main"/>
          </p:cNvSpPr>
          <p:nvPr/>
        </p:nvSpPr>
        <p:spPr>
          <a:xfrm xmlns:a="http://schemas.openxmlformats.org/drawingml/2006/main">
            <a:off x="6248400" y="284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Answer citing these minutes</a:t>
            </a:r>
          </a:p>
        </p:txBody>
      </p:sp>
      <p:sp>
        <p:nvSpPr>
          <p:cNvPr id="349" name="17-text-26">
            <a:extLst xmlns:a="http://schemas.openxmlformats.org/drawingml/2006/main">
              <a:ext uri="{FF2B5EF4-FFF2-40B4-BE49-F238E27FC236}">
                <a16:creationId xmlns:a16="http://schemas.microsoft.com/office/drawing/2014/main" id="{D7D5267A-63A0-4ED5-AF5A-7F7E3E292C42}"/>
              </a:ext>
            </a:extLst>
          </p:cNvPr>
          <p:cNvSpPr>
            <a:spLocks xmlns:a="http://schemas.openxmlformats.org/drawingml/2006/main"/>
          </p:cNvSpPr>
          <p:nvPr/>
        </p:nvSpPr>
        <p:spPr>
          <a:xfrm xmlns:a="http://schemas.openxmlformats.org/drawingml/2006/main">
            <a:off x="6248400" y="3251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350" name="17-text-27">
            <a:extLst xmlns:a="http://schemas.openxmlformats.org/drawingml/2006/main">
              <a:ext uri="{FF2B5EF4-FFF2-40B4-BE49-F238E27FC236}">
                <a16:creationId xmlns:a16="http://schemas.microsoft.com/office/drawing/2014/main" id="{34BB9366-717E-4DBA-A917-1426ED37B741}"/>
              </a:ext>
            </a:extLst>
          </p:cNvPr>
          <p:cNvSpPr>
            <a:spLocks xmlns:a="http://schemas.openxmlformats.org/drawingml/2006/main"/>
          </p:cNvSpPr>
          <p:nvPr/>
        </p:nvSpPr>
        <p:spPr>
          <a:xfrm xmlns:a="http://schemas.openxmlformats.org/drawingml/2006/main">
            <a:off x="6248400" y="4445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Expected</a:t>
            </a:r>
          </a:p>
        </p:txBody>
      </p:sp>
      <p:sp>
        <p:nvSpPr>
          <p:cNvPr id="351" name="17-text-28">
            <a:extLst xmlns:a="http://schemas.openxmlformats.org/drawingml/2006/main">
              <a:ext uri="{FF2B5EF4-FFF2-40B4-BE49-F238E27FC236}">
                <a16:creationId xmlns:a16="http://schemas.microsoft.com/office/drawing/2014/main" id="{864C8C12-FB62-4017-8DD9-7BA01B912B77}"/>
              </a:ext>
            </a:extLst>
          </p:cNvPr>
          <p:cNvSpPr>
            <a:spLocks xmlns:a="http://schemas.openxmlformats.org/drawingml/2006/main"/>
          </p:cNvSpPr>
          <p:nvPr/>
        </p:nvSpPr>
        <p:spPr>
          <a:xfrm xmlns:a="http://schemas.openxmlformats.org/drawingml/2006/main">
            <a:off x="6248400" y="48768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Inspection is required.</a:t>
            </a:r>
          </a:p>
        </p:txBody>
      </p:sp>
      <p:sp>
        <p:nvSpPr>
          <p:cNvPr id="352" name="17-text-29">
            <a:extLst xmlns:a="http://schemas.openxmlformats.org/drawingml/2006/main">
              <a:ext uri="{FF2B5EF4-FFF2-40B4-BE49-F238E27FC236}">
                <a16:creationId xmlns:a16="http://schemas.microsoft.com/office/drawing/2014/main" id="{8CFAFE75-16A7-40B1-9D13-65B92094D490}"/>
              </a:ext>
            </a:extLst>
          </p:cNvPr>
          <p:cNvSpPr>
            <a:spLocks xmlns:a="http://schemas.openxmlformats.org/drawingml/2006/main"/>
          </p:cNvSpPr>
          <p:nvPr/>
        </p:nvSpPr>
        <p:spPr>
          <a:xfrm xmlns:a="http://schemas.openxmlformats.org/drawingml/2006/main">
            <a:off x="609600" y="584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this failure as a regression case. Rerun it after changes.</a:t>
            </a:r>
          </a:p>
        </p:txBody>
      </p:sp>
      <p:sp>
        <p:nvSpPr>
          <p:cNvPr id="353" name="narrative-number">
            <a:extLst xmlns:a="http://schemas.openxmlformats.org/drawingml/2006/main">
              <a:ext uri="{FF2B5EF4-FFF2-40B4-BE49-F238E27FC236}">
                <a16:creationId xmlns:a16="http://schemas.microsoft.com/office/drawing/2014/main" id="{B3872B4B-F930-434B-8E70-5413838911E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3926791369"/>
      </p:ext>
    </p:extLst>
  </p:cSld>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54" name="!!area-header">
            <a:extLst xmlns:a="http://schemas.openxmlformats.org/drawingml/2006/main">
              <a:ext uri="{FF2B5EF4-FFF2-40B4-BE49-F238E27FC236}">
                <a16:creationId xmlns:a16="http://schemas.microsoft.com/office/drawing/2014/main" id="{CBDE8DB6-958C-44AF-9A96-6ADF78AD35AB}"/>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355" name="!!area-name">
            <a:extLst xmlns:a="http://schemas.openxmlformats.org/drawingml/2006/main">
              <a:ext uri="{FF2B5EF4-FFF2-40B4-BE49-F238E27FC236}">
                <a16:creationId xmlns:a16="http://schemas.microsoft.com/office/drawing/2014/main" id="{282C6D55-5972-494D-8166-E544CF48CD7D}"/>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Operating it</a:t>
            </a:r>
          </a:p>
        </p:txBody>
      </p:sp>
      <p:sp>
        <p:nvSpPr>
          <p:cNvPr id="356" name="!!area-beat">
            <a:extLst xmlns:a="http://schemas.openxmlformats.org/drawingml/2006/main">
              <a:ext uri="{FF2B5EF4-FFF2-40B4-BE49-F238E27FC236}">
                <a16:creationId xmlns:a16="http://schemas.microsoft.com/office/drawing/2014/main" id="{A05B6B7E-548F-4199-8961-817FB1D94FF7}"/>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357" name="header-divider">
            <a:extLst xmlns:a="http://schemas.openxmlformats.org/drawingml/2006/main">
              <a:ext uri="{FF2B5EF4-FFF2-40B4-BE49-F238E27FC236}">
                <a16:creationId xmlns:a16="http://schemas.microsoft.com/office/drawing/2014/main" id="{F55568DC-377A-40A4-8951-A94C92DF8B13}"/>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58" name="18-shape-1">
            <a:extLst xmlns:a="http://schemas.openxmlformats.org/drawingml/2006/main">
              <a:ext uri="{FF2B5EF4-FFF2-40B4-BE49-F238E27FC236}">
                <a16:creationId xmlns:a16="http://schemas.microsoft.com/office/drawing/2014/main" id="{1D94F057-5260-4D7C-AE8D-51C992C16DA9}"/>
              </a:ext>
            </a:extLst>
          </p:cNvPr>
          <p:cNvSpPr>
            <a:spLocks xmlns:a="http://schemas.openxmlformats.org/drawingml/2006/main"/>
          </p:cNvSpPr>
          <p:nvPr/>
        </p:nvSpPr>
        <p:spPr>
          <a:xfrm xmlns:a="http://schemas.openxmlformats.org/drawingml/2006/main">
            <a:off x="609600" y="2489200"/>
            <a:ext cx="11430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359" name="18-text-2">
            <a:extLst xmlns:a="http://schemas.openxmlformats.org/drawingml/2006/main">
              <a:ext uri="{FF2B5EF4-FFF2-40B4-BE49-F238E27FC236}">
                <a16:creationId xmlns:a16="http://schemas.microsoft.com/office/drawing/2014/main" id="{FA72745A-9992-4896-9E41-C744A5A45CC0}"/>
              </a:ext>
            </a:extLst>
          </p:cNvPr>
          <p:cNvSpPr>
            <a:spLocks xmlns:a="http://schemas.openxmlformats.org/drawingml/2006/main"/>
          </p:cNvSpPr>
          <p:nvPr/>
        </p:nvSpPr>
        <p:spPr>
          <a:xfrm xmlns:a="http://schemas.openxmlformats.org/drawingml/2006/main">
            <a:off x="762000" y="2527300"/>
            <a:ext cx="838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/usage</a:t>
            </a:r>
          </a:p>
        </p:txBody>
      </p:sp>
      <p:sp>
        <p:nvSpPr>
          <p:cNvPr id="360" name="18-shape-3">
            <a:extLst xmlns:a="http://schemas.openxmlformats.org/drawingml/2006/main">
              <a:ext uri="{FF2B5EF4-FFF2-40B4-BE49-F238E27FC236}">
                <a16:creationId xmlns:a16="http://schemas.microsoft.com/office/drawing/2014/main" id="{6BAF6297-89E6-4DC7-AE25-3DBC3085CF15}"/>
              </a:ext>
            </a:extLst>
          </p:cNvPr>
          <p:cNvSpPr>
            <a:spLocks xmlns:a="http://schemas.openxmlformats.org/drawingml/2006/main"/>
          </p:cNvSpPr>
          <p:nvPr/>
        </p:nvSpPr>
        <p:spPr>
          <a:xfrm xmlns:a="http://schemas.openxmlformats.org/drawingml/2006/main">
            <a:off x="1854200" y="2489200"/>
            <a:ext cx="34544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361" name="18-text-4">
            <a:extLst xmlns:a="http://schemas.openxmlformats.org/drawingml/2006/main">
              <a:ext uri="{FF2B5EF4-FFF2-40B4-BE49-F238E27FC236}">
                <a16:creationId xmlns:a16="http://schemas.microsoft.com/office/drawing/2014/main" id="{951A485E-DC2B-43C8-8045-E88A4CE253A5}"/>
              </a:ext>
            </a:extLst>
          </p:cNvPr>
          <p:cNvSpPr>
            <a:spLocks xmlns:a="http://schemas.openxmlformats.org/drawingml/2006/main"/>
          </p:cNvSpPr>
          <p:nvPr/>
        </p:nvSpPr>
        <p:spPr>
          <a:xfrm xmlns:a="http://schemas.openxmlformats.org/drawingml/2006/main">
            <a:off x="2006600" y="2527300"/>
            <a:ext cx="3149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OpenTelemetry exporter</a:t>
            </a:r>
          </a:p>
        </p:txBody>
      </p:sp>
      <p:sp>
        <p:nvSpPr>
          <p:cNvPr id="362" name="18-shape-5">
            <a:extLst xmlns:a="http://schemas.openxmlformats.org/drawingml/2006/main">
              <a:ext uri="{FF2B5EF4-FFF2-40B4-BE49-F238E27FC236}">
                <a16:creationId xmlns:a16="http://schemas.microsoft.com/office/drawing/2014/main" id="{7FBC5F24-6E09-4209-8A4C-75C3606D46B9}"/>
              </a:ext>
            </a:extLst>
          </p:cNvPr>
          <p:cNvSpPr>
            <a:spLocks xmlns:a="http://schemas.openxmlformats.org/drawingml/2006/main"/>
          </p:cNvSpPr>
          <p:nvPr/>
        </p:nvSpPr>
        <p:spPr>
          <a:xfrm xmlns:a="http://schemas.openxmlformats.org/drawingml/2006/main">
            <a:off x="5410200" y="2489200"/>
            <a:ext cx="16891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363" name="18-text-6">
            <a:extLst xmlns:a="http://schemas.openxmlformats.org/drawingml/2006/main">
              <a:ext uri="{FF2B5EF4-FFF2-40B4-BE49-F238E27FC236}">
                <a16:creationId xmlns:a16="http://schemas.microsoft.com/office/drawing/2014/main" id="{6998E190-6553-4E51-9826-4D2C9FB25F62}"/>
              </a:ext>
            </a:extLst>
          </p:cNvPr>
          <p:cNvSpPr>
            <a:spLocks xmlns:a="http://schemas.openxmlformats.org/drawingml/2006/main"/>
          </p:cNvSpPr>
          <p:nvPr/>
        </p:nvSpPr>
        <p:spPr>
          <a:xfrm xmlns:a="http://schemas.openxmlformats.org/drawingml/2006/main">
            <a:off x="5562600" y="2527300"/>
            <a:ext cx="1384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sandbox</a:t>
            </a:r>
          </a:p>
        </p:txBody>
      </p:sp>
      <p:sp>
        <p:nvSpPr>
          <p:cNvPr id="364" name="18-shape-7">
            <a:extLst xmlns:a="http://schemas.openxmlformats.org/drawingml/2006/main">
              <a:ext uri="{FF2B5EF4-FFF2-40B4-BE49-F238E27FC236}">
                <a16:creationId xmlns:a16="http://schemas.microsoft.com/office/drawing/2014/main" id="{DF63B415-A234-4A5B-B61A-898D81D2D05F}"/>
              </a:ext>
            </a:extLst>
          </p:cNvPr>
          <p:cNvSpPr>
            <a:spLocks xmlns:a="http://schemas.openxmlformats.org/drawingml/2006/main"/>
          </p:cNvSpPr>
          <p:nvPr/>
        </p:nvSpPr>
        <p:spPr>
          <a:xfrm xmlns:a="http://schemas.openxmlformats.org/drawingml/2006/main">
            <a:off x="7200900" y="2489200"/>
            <a:ext cx="20574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365" name="18-text-8">
            <a:extLst xmlns:a="http://schemas.openxmlformats.org/drawingml/2006/main">
              <a:ext uri="{FF2B5EF4-FFF2-40B4-BE49-F238E27FC236}">
                <a16:creationId xmlns:a16="http://schemas.microsoft.com/office/drawing/2014/main" id="{7E96274B-12A1-4521-89BE-9DE1160091F1}"/>
              </a:ext>
            </a:extLst>
          </p:cNvPr>
          <p:cNvSpPr>
            <a:spLocks xmlns:a="http://schemas.openxmlformats.org/drawingml/2006/main"/>
          </p:cNvSpPr>
          <p:nvPr/>
        </p:nvSpPr>
        <p:spPr>
          <a:xfrm xmlns:a="http://schemas.openxmlformats.org/drawingml/2006/main">
            <a:off x="7353300" y="2527300"/>
            <a:ext cx="1752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OAuth login</a:t>
            </a:r>
          </a:p>
        </p:txBody>
      </p:sp>
      <p:sp>
        <p:nvSpPr>
          <p:cNvPr id="366" name="18-text-9">
            <a:extLst xmlns:a="http://schemas.openxmlformats.org/drawingml/2006/main">
              <a:ext uri="{FF2B5EF4-FFF2-40B4-BE49-F238E27FC236}">
                <a16:creationId xmlns:a16="http://schemas.microsoft.com/office/drawing/2014/main" id="{9AF6F83B-C5FE-43BB-9730-950D7CFE8EB7}"/>
              </a:ext>
            </a:extLst>
          </p:cNvPr>
          <p:cNvSpPr>
            <a:spLocks xmlns:a="http://schemas.openxmlformats.org/drawingml/2006/main"/>
          </p:cNvSpPr>
          <p:nvPr/>
        </p:nvSpPr>
        <p:spPr>
          <a:xfrm xmlns:a="http://schemas.openxmlformats.org/drawingml/2006/main">
            <a:off x="609600" y="3835400"/>
            <a:ext cx="109728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And a trust and safety team you have never met.</a:t>
            </a:r>
          </a:p>
        </p:txBody>
      </p:sp>
      <p:sp>
        <p:nvSpPr>
          <p:cNvPr id="367" name="narrative-number">
            <a:extLst xmlns:a="http://schemas.openxmlformats.org/drawingml/2006/main">
              <a:ext uri="{FF2B5EF4-FFF2-40B4-BE49-F238E27FC236}">
                <a16:creationId xmlns:a16="http://schemas.microsoft.com/office/drawing/2014/main" id="{6F9B4AFE-AA04-4E2A-8A1F-FA443F61FC3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2957233910"/>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68" name="!!area-name">
            <a:extLst xmlns:a="http://schemas.openxmlformats.org/drawingml/2006/main">
              <a:ext uri="{FF2B5EF4-FFF2-40B4-BE49-F238E27FC236}">
                <a16:creationId xmlns:a16="http://schemas.microsoft.com/office/drawing/2014/main" id="{5D861C05-537C-46A0-AC88-E72F75DA3D1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378" name="mini-map"/>
          <p:cNvPicPr>
            <a:picLocks xmlns:a="http://schemas.openxmlformats.org/drawingml/2006/main" noChangeAspect="1"/>
          </p:cNvPicPr>
          <p:nvPr/>
        </p:nvPicPr>
        <p:blipFill>
          <a:blip xmlns:r="http://schemas.openxmlformats.org/officeDocument/2006/relationships" xmlns:a="http://schemas.openxmlformats.org/drawingml/2006/main" r:embed="Rbf9f202816f8458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70" name="header-divider">
            <a:extLst xmlns:a="http://schemas.openxmlformats.org/drawingml/2006/main">
              <a:ext uri="{FF2B5EF4-FFF2-40B4-BE49-F238E27FC236}">
                <a16:creationId xmlns:a16="http://schemas.microsoft.com/office/drawing/2014/main" id="{F5D2216D-B3F0-4F97-BF33-DD09C464CF8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71" name="18b-text-1">
            <a:extLst xmlns:a="http://schemas.openxmlformats.org/drawingml/2006/main">
              <a:ext uri="{FF2B5EF4-FFF2-40B4-BE49-F238E27FC236}">
                <a16:creationId xmlns:a16="http://schemas.microsoft.com/office/drawing/2014/main" id="{EA3B384F-C4B2-4513-93F5-FF10347F5251}"/>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372" name="18b-text-2">
            <a:extLst xmlns:a="http://schemas.openxmlformats.org/drawingml/2006/main">
              <a:ext uri="{FF2B5EF4-FFF2-40B4-BE49-F238E27FC236}">
                <a16:creationId xmlns:a16="http://schemas.microsoft.com/office/drawing/2014/main" id="{5164E13D-0963-474B-87C9-FCCF274EEA49}"/>
              </a:ext>
            </a:extLst>
          </p:cNvPr>
          <p:cNvSpPr>
            <a:spLocks xmlns:a="http://schemas.openxmlformats.org/drawingml/2006/main"/>
          </p:cNvSpPr>
          <p:nvPr/>
        </p:nvSpPr>
        <p:spPr>
          <a:xfrm xmlns:a="http://schemas.openxmlformats.org/drawingml/2006/main">
            <a:off x="609600" y="24892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Observability</a:t>
            </a:r>
          </a:p>
        </p:txBody>
      </p:sp>
      <p:sp>
        <p:nvSpPr>
          <p:cNvPr id="373" name="18b-text-3">
            <a:extLst xmlns:a="http://schemas.openxmlformats.org/drawingml/2006/main">
              <a:ext uri="{FF2B5EF4-FFF2-40B4-BE49-F238E27FC236}">
                <a16:creationId xmlns:a16="http://schemas.microsoft.com/office/drawing/2014/main" id="{E253E1D3-51CD-4EE3-A2C1-3F4669D12F4A}"/>
              </a:ext>
            </a:extLst>
          </p:cNvPr>
          <p:cNvSpPr>
            <a:spLocks xmlns:a="http://schemas.openxmlformats.org/drawingml/2006/main"/>
          </p:cNvSpPr>
          <p:nvPr/>
        </p:nvSpPr>
        <p:spPr>
          <a:xfrm xmlns:a="http://schemas.openxmlformats.org/drawingml/2006/main">
            <a:off x="2489200" y="24384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per completed task · p95 and p99 tokens · cache hit rate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loop iterations · tool failures</a:t>
            </a:r>
          </a:p>
        </p:txBody>
      </p:sp>
      <p:sp>
        <p:nvSpPr>
          <p:cNvPr id="374" name="18b-text-4">
            <a:extLst xmlns:a="http://schemas.openxmlformats.org/drawingml/2006/main">
              <a:ext uri="{FF2B5EF4-FFF2-40B4-BE49-F238E27FC236}">
                <a16:creationId xmlns:a16="http://schemas.microsoft.com/office/drawing/2014/main" id="{900079EF-515B-41F1-9203-AFDEB8C93F61}"/>
              </a:ext>
            </a:extLst>
          </p:cNvPr>
          <p:cNvSpPr>
            <a:spLocks xmlns:a="http://schemas.openxmlformats.org/drawingml/2006/main"/>
          </p:cNvSpPr>
          <p:nvPr/>
        </p:nvSpPr>
        <p:spPr>
          <a:xfrm xmlns:a="http://schemas.openxmlformats.org/drawingml/2006/main">
            <a:off x="609600" y="37338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Guardrails</a:t>
            </a:r>
          </a:p>
        </p:txBody>
      </p:sp>
      <p:sp>
        <p:nvSpPr>
          <p:cNvPr id="375" name="18b-text-5">
            <a:extLst xmlns:a="http://schemas.openxmlformats.org/drawingml/2006/main">
              <a:ext uri="{FF2B5EF4-FFF2-40B4-BE49-F238E27FC236}">
                <a16:creationId xmlns:a16="http://schemas.microsoft.com/office/drawing/2014/main" id="{908C5BAC-26BD-42F4-BF8E-9D162B21909E}"/>
              </a:ext>
            </a:extLst>
          </p:cNvPr>
          <p:cNvSpPr>
            <a:spLocks xmlns:a="http://schemas.openxmlformats.org/drawingml/2006/main"/>
          </p:cNvSpPr>
          <p:nvPr/>
        </p:nvSpPr>
        <p:spPr>
          <a:xfrm xmlns:a="http://schemas.openxmlformats.org/drawingml/2006/main">
            <a:off x="2489200" y="36830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classification · provenance · sandboxing · validation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circuit breakers · approvals · least privilege</a:t>
            </a:r>
          </a:p>
        </p:txBody>
      </p:sp>
      <p:sp>
        <p:nvSpPr>
          <p:cNvPr id="376" name="narrative-number">
            <a:extLst xmlns:a="http://schemas.openxmlformats.org/drawingml/2006/main">
              <a:ext uri="{FF2B5EF4-FFF2-40B4-BE49-F238E27FC236}">
                <a16:creationId xmlns:a16="http://schemas.microsoft.com/office/drawing/2014/main" id="{D1988DA7-2C3D-414E-8708-007428D2B6C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1326349751"/>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77" name="!!area-name">
            <a:extLst xmlns:a="http://schemas.openxmlformats.org/drawingml/2006/main">
              <a:ext uri="{FF2B5EF4-FFF2-40B4-BE49-F238E27FC236}">
                <a16:creationId xmlns:a16="http://schemas.microsoft.com/office/drawing/2014/main" id="{0A62F244-9340-4826-A9AD-EBBD73284A1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392" name="mini-map"/>
          <p:cNvPicPr>
            <a:picLocks xmlns:a="http://schemas.openxmlformats.org/drawingml/2006/main" noChangeAspect="1"/>
          </p:cNvPicPr>
          <p:nvPr/>
        </p:nvPicPr>
        <p:blipFill>
          <a:blip xmlns:r="http://schemas.openxmlformats.org/officeDocument/2006/relationships" xmlns:a="http://schemas.openxmlformats.org/drawingml/2006/main" r:embed="R64bdab349af5494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79" name="header-divider">
            <a:extLst xmlns:a="http://schemas.openxmlformats.org/drawingml/2006/main">
              <a:ext uri="{FF2B5EF4-FFF2-40B4-BE49-F238E27FC236}">
                <a16:creationId xmlns:a16="http://schemas.microsoft.com/office/drawing/2014/main" id="{BC5899B8-6832-46A2-9F3F-FD1B151E5DB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80" name="18b-text-1">
            <a:extLst xmlns:a="http://schemas.openxmlformats.org/drawingml/2006/main">
              <a:ext uri="{FF2B5EF4-FFF2-40B4-BE49-F238E27FC236}">
                <a16:creationId xmlns:a16="http://schemas.microsoft.com/office/drawing/2014/main" id="{CAD16AE0-86C7-48B1-89F8-D261B0F5668E}"/>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381" name="18b-text-10">
            <a:extLst xmlns:a="http://schemas.openxmlformats.org/drawingml/2006/main">
              <a:ext uri="{FF2B5EF4-FFF2-40B4-BE49-F238E27FC236}">
                <a16:creationId xmlns:a16="http://schemas.microsoft.com/office/drawing/2014/main" id="{DCA26CB6-F180-4EEE-9DC0-50FDE43BC081}"/>
              </a:ext>
            </a:extLst>
          </p:cNvPr>
          <p:cNvSpPr>
            <a:spLocks xmlns:a="http://schemas.openxmlformats.org/drawingml/2006/main"/>
          </p:cNvSpPr>
          <p:nvPr/>
        </p:nvSpPr>
        <p:spPr>
          <a:xfrm xmlns:a="http://schemas.openxmlformats.org/drawingml/2006/main">
            <a:off x="609600" y="24384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Security</a:t>
            </a:r>
          </a:p>
        </p:txBody>
      </p:sp>
      <p:sp>
        <p:nvSpPr>
          <p:cNvPr id="382" name="18b-line-12">
            <a:extLst xmlns:a="http://schemas.openxmlformats.org/drawingml/2006/main">
              <a:ext uri="{FF2B5EF4-FFF2-40B4-BE49-F238E27FC236}">
                <a16:creationId xmlns:a16="http://schemas.microsoft.com/office/drawing/2014/main" id="{5C560A49-2CAF-46EA-8479-040DD71C9ADE}"/>
              </a:ext>
            </a:extLst>
          </p:cNvPr>
          <p:cNvSpPr>
            <a:spLocks xmlns:a="http://schemas.openxmlformats.org/drawingml/2006/main"/>
          </p:cNvSpPr>
          <p:nvPr/>
        </p:nvSpPr>
        <p:spPr>
          <a:xfrm xmlns:a="http://schemas.openxmlformats.org/drawingml/2006/main" flipH="0" flipV="0">
            <a:off x="3378200" y="3429000"/>
            <a:ext cx="1803400" cy="1524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83" name="18b-line-14">
            <a:extLst xmlns:a="http://schemas.openxmlformats.org/drawingml/2006/main">
              <a:ext uri="{FF2B5EF4-FFF2-40B4-BE49-F238E27FC236}">
                <a16:creationId xmlns:a16="http://schemas.microsoft.com/office/drawing/2014/main" id="{0FC535C8-DE88-4D51-BF88-2DCDEB1A8E54}"/>
              </a:ext>
            </a:extLst>
          </p:cNvPr>
          <p:cNvSpPr>
            <a:spLocks xmlns:a="http://schemas.openxmlformats.org/drawingml/2006/main"/>
          </p:cNvSpPr>
          <p:nvPr/>
        </p:nvSpPr>
        <p:spPr>
          <a:xfrm xmlns:a="http://schemas.openxmlformats.org/drawingml/2006/main" flipH="1" flipV="0">
            <a:off x="1574800" y="4953000"/>
            <a:ext cx="36068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84" name="18b-line-16">
            <a:extLst xmlns:a="http://schemas.openxmlformats.org/drawingml/2006/main">
              <a:ext uri="{FF2B5EF4-FFF2-40B4-BE49-F238E27FC236}">
                <a16:creationId xmlns:a16="http://schemas.microsoft.com/office/drawing/2014/main" id="{02F59616-EB14-43D2-8CF9-74504CD00C1A}"/>
              </a:ext>
            </a:extLst>
          </p:cNvPr>
          <p:cNvSpPr>
            <a:spLocks xmlns:a="http://schemas.openxmlformats.org/drawingml/2006/main"/>
          </p:cNvSpPr>
          <p:nvPr/>
        </p:nvSpPr>
        <p:spPr>
          <a:xfrm xmlns:a="http://schemas.openxmlformats.org/drawingml/2006/main" flipH="0" flipV="1">
            <a:off x="1574800" y="3429000"/>
            <a:ext cx="1803400" cy="1524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85" name="18b-text-17">
            <a:extLst xmlns:a="http://schemas.openxmlformats.org/drawingml/2006/main">
              <a:ext uri="{FF2B5EF4-FFF2-40B4-BE49-F238E27FC236}">
                <a16:creationId xmlns:a16="http://schemas.microsoft.com/office/drawing/2014/main" id="{7A94E5DD-759B-4B90-AC05-DF193136478D}"/>
              </a:ext>
            </a:extLst>
          </p:cNvPr>
          <p:cNvSpPr>
            <a:spLocks xmlns:a="http://schemas.openxmlformats.org/drawingml/2006/main"/>
          </p:cNvSpPr>
          <p:nvPr/>
        </p:nvSpPr>
        <p:spPr>
          <a:xfrm xmlns:a="http://schemas.openxmlformats.org/drawingml/2006/main">
            <a:off x="2667000" y="3022600"/>
            <a:ext cx="1676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Private data</a:t>
            </a:r>
          </a:p>
        </p:txBody>
      </p:sp>
      <p:sp>
        <p:nvSpPr>
          <p:cNvPr id="386" name="18b-text-18">
            <a:extLst xmlns:a="http://schemas.openxmlformats.org/drawingml/2006/main">
              <a:ext uri="{FF2B5EF4-FFF2-40B4-BE49-F238E27FC236}">
                <a16:creationId xmlns:a16="http://schemas.microsoft.com/office/drawing/2014/main" id="{0FC0911C-2EC3-4F21-9DF0-4DE788DDAC73}"/>
              </a:ext>
            </a:extLst>
          </p:cNvPr>
          <p:cNvSpPr>
            <a:spLocks xmlns:a="http://schemas.openxmlformats.org/drawingml/2006/main"/>
          </p:cNvSpPr>
          <p:nvPr/>
        </p:nvSpPr>
        <p:spPr>
          <a:xfrm xmlns:a="http://schemas.openxmlformats.org/drawingml/2006/main">
            <a:off x="609600" y="5207000"/>
            <a:ext cx="264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Untrusted content</a:t>
            </a:r>
          </a:p>
        </p:txBody>
      </p:sp>
      <p:sp>
        <p:nvSpPr>
          <p:cNvPr id="387" name="18b-text-19">
            <a:extLst xmlns:a="http://schemas.openxmlformats.org/drawingml/2006/main">
              <a:ext uri="{FF2B5EF4-FFF2-40B4-BE49-F238E27FC236}">
                <a16:creationId xmlns:a16="http://schemas.microsoft.com/office/drawing/2014/main" id="{DD343176-D415-472A-A3FC-5EB8BCD200CD}"/>
              </a:ext>
            </a:extLst>
          </p:cNvPr>
          <p:cNvSpPr>
            <a:spLocks xmlns:a="http://schemas.openxmlformats.org/drawingml/2006/main"/>
          </p:cNvSpPr>
          <p:nvPr/>
        </p:nvSpPr>
        <p:spPr>
          <a:xfrm xmlns:a="http://schemas.openxmlformats.org/drawingml/2006/main">
            <a:off x="3657600" y="5207000"/>
            <a:ext cx="2590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External communication</a:t>
            </a:r>
          </a:p>
        </p:txBody>
      </p:sp>
      <p:sp>
        <p:nvSpPr>
          <p:cNvPr id="388" name="18b-text-20">
            <a:extLst xmlns:a="http://schemas.openxmlformats.org/drawingml/2006/main">
              <a:ext uri="{FF2B5EF4-FFF2-40B4-BE49-F238E27FC236}">
                <a16:creationId xmlns:a16="http://schemas.microsoft.com/office/drawing/2014/main" id="{7B5C7770-6F0C-46BB-B301-3094FBAD6F28}"/>
              </a:ext>
            </a:extLst>
          </p:cNvPr>
          <p:cNvSpPr>
            <a:spLocks xmlns:a="http://schemas.openxmlformats.org/drawingml/2006/main"/>
          </p:cNvSpPr>
          <p:nvPr/>
        </p:nvSpPr>
        <p:spPr>
          <a:xfrm xmlns:a="http://schemas.openxmlformats.org/drawingml/2006/main">
            <a:off x="6248400" y="3683000"/>
            <a:ext cx="53340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Together: exfiltration risk.</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Break or constrain the path.</a:t>
            </a:r>
          </a:p>
        </p:txBody>
      </p:sp>
      <p:sp>
        <p:nvSpPr>
          <p:cNvPr id="389" name="18b-text-21">
            <a:extLst xmlns:a="http://schemas.openxmlformats.org/drawingml/2006/main">
              <a:ext uri="{FF2B5EF4-FFF2-40B4-BE49-F238E27FC236}">
                <a16:creationId xmlns:a16="http://schemas.microsoft.com/office/drawing/2014/main" id="{5B1D35D2-485F-4F66-9616-DA206868C294}"/>
              </a:ext>
            </a:extLst>
          </p:cNvPr>
          <p:cNvSpPr>
            <a:spLocks xmlns:a="http://schemas.openxmlformats.org/drawingml/2006/main"/>
          </p:cNvSpPr>
          <p:nvPr/>
        </p:nvSpPr>
        <p:spPr>
          <a:xfrm xmlns:a="http://schemas.openxmlformats.org/drawingml/2006/main">
            <a:off x="6248400" y="49530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Simon Willison, June 2025</a:t>
            </a:r>
          </a:p>
        </p:txBody>
      </p:sp>
      <p:sp>
        <p:nvSpPr>
          <p:cNvPr id="390" name="narrative-number">
            <a:extLst xmlns:a="http://schemas.openxmlformats.org/drawingml/2006/main">
              <a:ext uri="{FF2B5EF4-FFF2-40B4-BE49-F238E27FC236}">
                <a16:creationId xmlns:a16="http://schemas.microsoft.com/office/drawing/2014/main" id="{A2E4634B-E103-4317-A306-1BCB0965828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1331895882"/>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1" name="!!area-name">
            <a:extLst xmlns:a="http://schemas.openxmlformats.org/drawingml/2006/main">
              <a:ext uri="{FF2B5EF4-FFF2-40B4-BE49-F238E27FC236}">
                <a16:creationId xmlns:a16="http://schemas.microsoft.com/office/drawing/2014/main" id="{6ABB49A7-94A4-4BA3-85C5-57DF5A0D473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401" name="mini-map"/>
          <p:cNvPicPr>
            <a:picLocks xmlns:a="http://schemas.openxmlformats.org/drawingml/2006/main" noChangeAspect="1"/>
          </p:cNvPicPr>
          <p:nvPr/>
        </p:nvPicPr>
        <p:blipFill>
          <a:blip xmlns:r="http://schemas.openxmlformats.org/officeDocument/2006/relationships" xmlns:a="http://schemas.openxmlformats.org/drawingml/2006/main" r:embed="Ra084e02f62b94e0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3" name="header-divider">
            <a:extLst xmlns:a="http://schemas.openxmlformats.org/drawingml/2006/main">
              <a:ext uri="{FF2B5EF4-FFF2-40B4-BE49-F238E27FC236}">
                <a16:creationId xmlns:a16="http://schemas.microsoft.com/office/drawing/2014/main" id="{7E2EE799-3F21-43E8-BFA0-9777934AC8E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4" name="18b-text-1">
            <a:extLst xmlns:a="http://schemas.openxmlformats.org/drawingml/2006/main">
              <a:ext uri="{FF2B5EF4-FFF2-40B4-BE49-F238E27FC236}">
                <a16:creationId xmlns:a16="http://schemas.microsoft.com/office/drawing/2014/main" id="{1A4A9BA8-6D27-40BD-8ABD-EAB4C670B220}"/>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395" name="18b-text-6">
            <a:extLst xmlns:a="http://schemas.openxmlformats.org/drawingml/2006/main">
              <a:ext uri="{FF2B5EF4-FFF2-40B4-BE49-F238E27FC236}">
                <a16:creationId xmlns:a16="http://schemas.microsoft.com/office/drawing/2014/main" id="{3CF0ECAE-1271-4D3D-95DA-EB1D4405A22C}"/>
              </a:ext>
            </a:extLst>
          </p:cNvPr>
          <p:cNvSpPr>
            <a:spLocks xmlns:a="http://schemas.openxmlformats.org/drawingml/2006/main"/>
          </p:cNvSpPr>
          <p:nvPr/>
        </p:nvSpPr>
        <p:spPr>
          <a:xfrm xmlns:a="http://schemas.openxmlformats.org/drawingml/2006/main">
            <a:off x="609600" y="24892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Identity</a:t>
            </a:r>
          </a:p>
        </p:txBody>
      </p:sp>
      <p:sp>
        <p:nvSpPr>
          <p:cNvPr id="396" name="18b-text-7">
            <a:extLst xmlns:a="http://schemas.openxmlformats.org/drawingml/2006/main">
              <a:ext uri="{FF2B5EF4-FFF2-40B4-BE49-F238E27FC236}">
                <a16:creationId xmlns:a16="http://schemas.microsoft.com/office/drawing/2014/main" id="{2B34806B-812A-4349-B2E2-BE84356DB71A}"/>
              </a:ext>
            </a:extLst>
          </p:cNvPr>
          <p:cNvSpPr>
            <a:spLocks xmlns:a="http://schemas.openxmlformats.org/drawingml/2006/main"/>
          </p:cNvSpPr>
          <p:nvPr/>
        </p:nvSpPr>
        <p:spPr>
          <a:xfrm xmlns:a="http://schemas.openxmlformats.org/drawingml/2006/main">
            <a:off x="2489200" y="24384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Design pattern: workload identity with short-lived delegation.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Requirements: no token passthrough; minimal scopes.</a:t>
            </a:r>
          </a:p>
        </p:txBody>
      </p:sp>
      <p:sp>
        <p:nvSpPr>
          <p:cNvPr id="397" name="18b-text-8">
            <a:extLst xmlns:a="http://schemas.openxmlformats.org/drawingml/2006/main">
              <a:ext uri="{FF2B5EF4-FFF2-40B4-BE49-F238E27FC236}">
                <a16:creationId xmlns:a16="http://schemas.microsoft.com/office/drawing/2014/main" id="{A6305B3D-5471-468F-9CBE-A59B116E3BC3}"/>
              </a:ext>
            </a:extLst>
          </p:cNvPr>
          <p:cNvSpPr>
            <a:spLocks xmlns:a="http://schemas.openxmlformats.org/drawingml/2006/main"/>
          </p:cNvSpPr>
          <p:nvPr/>
        </p:nvSpPr>
        <p:spPr>
          <a:xfrm xmlns:a="http://schemas.openxmlformats.org/drawingml/2006/main">
            <a:off x="609600" y="38608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Governance</a:t>
            </a:r>
          </a:p>
        </p:txBody>
      </p:sp>
      <p:sp>
        <p:nvSpPr>
          <p:cNvPr id="398" name="18b-text-9">
            <a:extLst xmlns:a="http://schemas.openxmlformats.org/drawingml/2006/main">
              <a:ext uri="{FF2B5EF4-FFF2-40B4-BE49-F238E27FC236}">
                <a16:creationId xmlns:a16="http://schemas.microsoft.com/office/drawing/2014/main" id="{26052C33-AF1C-4057-B767-71A7BC2059F7}"/>
              </a:ext>
            </a:extLst>
          </p:cNvPr>
          <p:cNvSpPr>
            <a:spLocks xmlns:a="http://schemas.openxmlformats.org/drawingml/2006/main"/>
          </p:cNvSpPr>
          <p:nvPr/>
        </p:nvSpPr>
        <p:spPr>
          <a:xfrm xmlns:a="http://schemas.openxmlformats.org/drawingml/2006/main">
            <a:off x="2489200" y="38100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EU AI Act Article 50: disclosure duties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covered direct AI interactions.</a:t>
            </a:r>
          </a:p>
        </p:txBody>
      </p:sp>
      <p:sp>
        <p:nvSpPr>
          <p:cNvPr id="399" name="narrative-number">
            <a:extLst xmlns:a="http://schemas.openxmlformats.org/drawingml/2006/main">
              <a:ext uri="{FF2B5EF4-FFF2-40B4-BE49-F238E27FC236}">
                <a16:creationId xmlns:a16="http://schemas.microsoft.com/office/drawing/2014/main" id="{CFE0E869-EB23-4072-A483-A27B6F74F37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4210566417"/>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0" name="!!area-name">
            <a:extLst xmlns:a="http://schemas.openxmlformats.org/drawingml/2006/main">
              <a:ext uri="{FF2B5EF4-FFF2-40B4-BE49-F238E27FC236}">
                <a16:creationId xmlns:a16="http://schemas.microsoft.com/office/drawing/2014/main" id="{4C4DFE90-B31C-4C5E-8758-4ED24442A82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409" name="mini-map"/>
          <p:cNvPicPr>
            <a:picLocks xmlns:a="http://schemas.openxmlformats.org/drawingml/2006/main" noChangeAspect="1"/>
          </p:cNvPicPr>
          <p:nvPr/>
        </p:nvPicPr>
        <p:blipFill>
          <a:blip xmlns:r="http://schemas.openxmlformats.org/officeDocument/2006/relationships" xmlns:a="http://schemas.openxmlformats.org/drawingml/2006/main" r:embed="R48fd9dd385f54a5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02" name="header-divider">
            <a:extLst xmlns:a="http://schemas.openxmlformats.org/drawingml/2006/main">
              <a:ext uri="{FF2B5EF4-FFF2-40B4-BE49-F238E27FC236}">
                <a16:creationId xmlns:a16="http://schemas.microsoft.com/office/drawing/2014/main" id="{994AFEEF-7B47-4372-A1E5-9892900638F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3" name="18b-text-1">
            <a:extLst xmlns:a="http://schemas.openxmlformats.org/drawingml/2006/main">
              <a:ext uri="{FF2B5EF4-FFF2-40B4-BE49-F238E27FC236}">
                <a16:creationId xmlns:a16="http://schemas.microsoft.com/office/drawing/2014/main" id="{881953F0-525D-4146-A2C8-BBDE241EE0FA}"/>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404" name="18b-text-22">
            <a:extLst xmlns:a="http://schemas.openxmlformats.org/drawingml/2006/main">
              <a:ext uri="{FF2B5EF4-FFF2-40B4-BE49-F238E27FC236}">
                <a16:creationId xmlns:a16="http://schemas.microsoft.com/office/drawing/2014/main" id="{5FA4D11D-C492-4A86-9275-87A0553FD945}"/>
              </a:ext>
            </a:extLst>
          </p:cNvPr>
          <p:cNvSpPr>
            <a:spLocks xmlns:a="http://schemas.openxmlformats.org/drawingml/2006/main"/>
          </p:cNvSpPr>
          <p:nvPr/>
        </p:nvSpPr>
        <p:spPr>
          <a:xfrm xmlns:a="http://schemas.openxmlformats.org/drawingml/2006/main">
            <a:off x="609600" y="24384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EchoLeak, June 2025.</a:t>
            </a:r>
            <a:r>
              <a:rPr b="0">
                <a:solidFill>
                  <a:srgbClr val="FFFCF5"/>
                </a:solidFill>
                <a:latin typeface="Helvetica"/>
                <a:ea typeface="Helvetica"/>
                <a:cs typeface="Helvetica"/>
              </a:rPr>
              <a:t> Researcher-demonstrated vulnerability.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evidence of exploitation reported.</a:t>
            </a:r>
          </a:p>
        </p:txBody>
      </p:sp>
      <p:sp>
        <p:nvSpPr>
          <p:cNvPr id="405" name="18b-text-23">
            <a:extLst xmlns:a="http://schemas.openxmlformats.org/drawingml/2006/main">
              <a:ext uri="{FF2B5EF4-FFF2-40B4-BE49-F238E27FC236}">
                <a16:creationId xmlns:a16="http://schemas.microsoft.com/office/drawing/2014/main" id="{2F447487-0946-4130-82AA-1587BBF64271}"/>
              </a:ext>
            </a:extLst>
          </p:cNvPr>
          <p:cNvSpPr>
            <a:spLocks xmlns:a="http://schemas.openxmlformats.org/drawingml/2006/main"/>
          </p:cNvSpPr>
          <p:nvPr/>
        </p:nvSpPr>
        <p:spPr>
          <a:xfrm xmlns:a="http://schemas.openxmlformats.org/drawingml/2006/main">
            <a:off x="609600" y="35814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Replit, July 2025.</a:t>
            </a:r>
            <a:r>
              <a:rPr b="0">
                <a:solidFill>
                  <a:srgbClr val="FFFCF5"/>
                </a:solidFill>
                <a:latin typeface="Helvetica"/>
                <a:ea typeface="Helvetica"/>
                <a:cs typeface="Helvetica"/>
              </a:rPr>
              <a:t> Reported production database deletion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during a code freeze. Fortune / AI Incident Database.</a:t>
            </a:r>
          </a:p>
        </p:txBody>
      </p:sp>
      <p:sp>
        <p:nvSpPr>
          <p:cNvPr id="406" name="18b-text-24">
            <a:extLst xmlns:a="http://schemas.openxmlformats.org/drawingml/2006/main">
              <a:ext uri="{FF2B5EF4-FFF2-40B4-BE49-F238E27FC236}">
                <a16:creationId xmlns:a16="http://schemas.microsoft.com/office/drawing/2014/main" id="{C62A0091-BA98-4C56-A002-38EDCAA6A5CA}"/>
              </a:ext>
            </a:extLst>
          </p:cNvPr>
          <p:cNvSpPr>
            <a:spLocks xmlns:a="http://schemas.openxmlformats.org/drawingml/2006/main"/>
          </p:cNvSpPr>
          <p:nvPr/>
        </p:nvSpPr>
        <p:spPr>
          <a:xfrm xmlns:a="http://schemas.openxmlformats.org/drawingml/2006/main">
            <a:off x="609600" y="47244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Moffatt v. Air Canada, February 2024.</a:t>
            </a:r>
            <a:r>
              <a:rPr b="0">
                <a:solidFill>
                  <a:srgbClr val="FFFCF5"/>
                </a:solidFill>
                <a:latin typeface="Helvetica"/>
                <a:ea typeface="Helvetica"/>
                <a:cs typeface="Helvetica"/>
              </a:rPr>
              <a:t> Reported liability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misleading chatbot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McCarthy Tétrault, secondary commentary.</a:t>
            </a:r>
          </a:p>
        </p:txBody>
      </p:sp>
      <p:sp>
        <p:nvSpPr>
          <p:cNvPr id="407" name="narrative-number">
            <a:extLst xmlns:a="http://schemas.openxmlformats.org/drawingml/2006/main">
              <a:ext uri="{FF2B5EF4-FFF2-40B4-BE49-F238E27FC236}">
                <a16:creationId xmlns:a16="http://schemas.microsoft.com/office/drawing/2014/main" id="{9D8E6165-56E3-4AB5-8DF8-40453FD6915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1362957516"/>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8" name="!!area-name">
            <a:extLst xmlns:a="http://schemas.openxmlformats.org/drawingml/2006/main">
              <a:ext uri="{FF2B5EF4-FFF2-40B4-BE49-F238E27FC236}">
                <a16:creationId xmlns:a16="http://schemas.microsoft.com/office/drawing/2014/main" id="{7D0726E1-6908-4BD0-84A6-4D915FA9199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owner</a:t>
            </a:r>
          </a:p>
        </p:txBody>
      </p:sp>
      <p:pic>
        <p:nvPicPr>
          <p:cNvPr id="427" name="mini-map"/>
          <p:cNvPicPr>
            <a:picLocks xmlns:a="http://schemas.openxmlformats.org/drawingml/2006/main" noChangeAspect="1"/>
          </p:cNvPicPr>
          <p:nvPr/>
        </p:nvPicPr>
        <p:blipFill>
          <a:blip xmlns:r="http://schemas.openxmlformats.org/officeDocument/2006/relationships" xmlns:a="http://schemas.openxmlformats.org/drawingml/2006/main" r:embed="Rd733b85941c2425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10" name="slide-title">
            <a:extLst xmlns:a="http://schemas.openxmlformats.org/drawingml/2006/main">
              <a:ext uri="{FF2B5EF4-FFF2-40B4-BE49-F238E27FC236}">
                <a16:creationId xmlns:a16="http://schemas.microsoft.com/office/drawing/2014/main" id="{4DD39C83-1DDC-46BD-879A-D8E7E82B06C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own the approval process.</a:t>
            </a:r>
          </a:p>
        </p:txBody>
      </p:sp>
      <p:sp>
        <p:nvSpPr>
          <p:cNvPr id="411" name="header-divider">
            <a:extLst xmlns:a="http://schemas.openxmlformats.org/drawingml/2006/main">
              <a:ext uri="{FF2B5EF4-FFF2-40B4-BE49-F238E27FC236}">
                <a16:creationId xmlns:a16="http://schemas.microsoft.com/office/drawing/2014/main" id="{0E46A333-54B1-40EC-8FEF-547A9C0E169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30" name="19-table-1"/>
          <p:cNvGraphicFramePr/>
          <p:nvPr/>
        </p:nvGraphicFramePr>
        <p:xfrm>
          <a:off xmlns:a="http://schemas.openxmlformats.org/drawingml/2006/main" x="609600" y="2438400"/>
          <a:ext xmlns:a="http://schemas.openxmlformats.org/drawingml/2006/main" cx="10972800" cy="18288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FDAD00"/>
                          </a:solidFill>
                          <a:latin typeface="Helvetica"/>
                          <a:ea typeface="Helvetica"/>
                          <a:cs typeface="Helvetica"/>
                        </a:rPr>
                        <a:t>Coding-agent control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DAD00"/>
                          </a:solidFill>
                          <a:latin typeface="Helvetica"/>
                          <a:ea typeface="Helvetica"/>
                          <a:cs typeface="Helvetica"/>
                        </a:rPr>
                        <a:t>Illustrative FRB system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06400">
                <a:tc>
                  <a:txBody>
                    <a:bodyPr>
                      <a:noAutofit/>
                    </a:bodyPr>
                    <a:lstStyle/>
                    <a:p>
                      <a:pPr>
                        <a:lnSpc>
                          <a:spcPct val="125000"/>
                        </a:lnSpc>
                        <a:buNone/>
                      </a:pPr>
                      <a:r>
                        <a:rPr sz="2000" b="0">
                          <a:solidFill>
                            <a:srgbClr val="FFFCF5"/>
                          </a:solidFill>
                          <a:latin typeface="Helvetica"/>
                          <a:ea typeface="Helvetica"/>
                          <a:cs typeface="Helvetica"/>
                        </a:rPr>
                        <a:t>Sandbox and login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 FRB access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06400">
                <a:tc>
                  <a:txBody>
                    <a:bodyPr>
                      <a:noAutofit/>
                    </a:bodyPr>
                    <a:lstStyle/>
                    <a:p>
                      <a:pPr>
                        <a:lnSpc>
                          <a:spcPct val="125000"/>
                        </a:lnSpc>
                        <a:buNone/>
                      </a:pPr>
                      <a:r>
                        <a:rPr sz="2000" b="0">
                          <a:solidFill>
                            <a:srgbClr val="FFFCF5"/>
                          </a:solidFill>
                          <a:latin typeface="Helvetica"/>
                          <a:ea typeface="Helvetica"/>
                          <a:cs typeface="Helvetica"/>
                        </a:rPr>
                        <a:t>Approval prompt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Allowed exports. Human conclusions.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58800">
                <a:tc>
                  <a:txBody>
                    <a:bodyPr>
                      <a:noAutofit/>
                    </a:bodyPr>
                    <a:lstStyle/>
                    <a:p>
                      <a:pPr>
                        <a:lnSpc>
                          <a:spcPct val="125000"/>
                        </a:lnSpc>
                        <a:buNone/>
                      </a:pPr>
                      <a:r>
                        <a:rPr sz="2000" b="0">
                          <a:solidFill>
                            <a:srgbClr val="FFFCF5"/>
                          </a:solidFill>
                          <a:latin typeface="Helvetica"/>
                          <a:ea typeface="Helvetica"/>
                          <a:cs typeface="Helvetica"/>
                        </a:rPr>
                        <a:t>Audit log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An accountable FRB trace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13" name="19-text-2">
            <a:extLst xmlns:a="http://schemas.openxmlformats.org/drawingml/2006/main">
              <a:ext uri="{FF2B5EF4-FFF2-40B4-BE49-F238E27FC236}">
                <a16:creationId xmlns:a16="http://schemas.microsoft.com/office/drawing/2014/main" id="{F2188AFF-67D1-4C8C-87C4-E20839F080A4}"/>
              </a:ext>
            </a:extLst>
          </p:cNvPr>
          <p:cNvSpPr>
            <a:spLocks xmlns:a="http://schemas.openxmlformats.org/drawingml/2006/main"/>
          </p:cNvSpPr>
          <p:nvPr/>
        </p:nvSpPr>
        <p:spPr>
          <a:xfrm xmlns:a="http://schemas.openxmlformats.org/drawingml/2006/main">
            <a:off x="609600" y="4343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Trace: request · FRB-042-MIN r2 · workers · synthesis · export</a:t>
            </a:r>
          </a:p>
        </p:txBody>
      </p:sp>
      <p:sp>
        <p:nvSpPr>
          <p:cNvPr id="414" name="19-text-3">
            <a:extLst xmlns:a="http://schemas.openxmlformats.org/drawingml/2006/main">
              <a:ext uri="{FF2B5EF4-FFF2-40B4-BE49-F238E27FC236}">
                <a16:creationId xmlns:a16="http://schemas.microsoft.com/office/drawing/2014/main" id="{EAD1ADA5-ADFA-4F9C-BE42-62CBC5E99875}"/>
              </a:ext>
            </a:extLst>
          </p:cNvPr>
          <p:cNvSpPr>
            <a:spLocks xmlns:a="http://schemas.openxmlformats.org/drawingml/2006/main"/>
          </p:cNvSpPr>
          <p:nvPr/>
        </p:nvSpPr>
        <p:spPr>
          <a:xfrm xmlns:a="http://schemas.openxmlformats.org/drawingml/2006/main">
            <a:off x="609600" y="48260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Monitor freshness, parsing/tool and quality failures.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per completed brief. End-to-end latency.</a:t>
            </a:r>
          </a:p>
        </p:txBody>
      </p:sp>
      <p:sp>
        <p:nvSpPr>
          <p:cNvPr id="415" name="19-shape-4">
            <a:extLst xmlns:a="http://schemas.openxmlformats.org/drawingml/2006/main">
              <a:ext uri="{FF2B5EF4-FFF2-40B4-BE49-F238E27FC236}">
                <a16:creationId xmlns:a16="http://schemas.microsoft.com/office/drawing/2014/main" id="{50095C04-C4B1-400D-82E3-DD1B91DDD918}"/>
              </a:ext>
            </a:extLst>
          </p:cNvPr>
          <p:cNvSpPr>
            <a:spLocks xmlns:a="http://schemas.openxmlformats.org/drawingml/2006/main"/>
          </p:cNvSpPr>
          <p:nvPr/>
        </p:nvSpPr>
        <p:spPr>
          <a:xfrm xmlns:a="http://schemas.openxmlformats.org/drawingml/2006/main">
            <a:off x="0" y="5638800"/>
            <a:ext cx="12192000" cy="1219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16" name="19-shape-5">
            <a:extLst xmlns:a="http://schemas.openxmlformats.org/drawingml/2006/main">
              <a:ext uri="{FF2B5EF4-FFF2-40B4-BE49-F238E27FC236}">
                <a16:creationId xmlns:a16="http://schemas.microsoft.com/office/drawing/2014/main" id="{1EDBFCF5-3FE9-4159-B307-4C6110CD7D88}"/>
              </a:ext>
            </a:extLst>
          </p:cNvPr>
          <p:cNvSpPr>
            <a:spLocks xmlns:a="http://schemas.openxmlformats.org/drawingml/2006/main"/>
          </p:cNvSpPr>
          <p:nvPr/>
        </p:nvSpPr>
        <p:spPr>
          <a:xfrm xmlns:a="http://schemas.openxmlformats.org/drawingml/2006/main">
            <a:off x="0" y="5638800"/>
            <a:ext cx="2184400" cy="12192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17" name="19-text-6">
            <a:extLst xmlns:a="http://schemas.openxmlformats.org/drawingml/2006/main">
              <a:ext uri="{FF2B5EF4-FFF2-40B4-BE49-F238E27FC236}">
                <a16:creationId xmlns:a16="http://schemas.microsoft.com/office/drawing/2014/main" id="{7C442CF6-CB09-46C5-99F9-F33A4F4BBC2E}"/>
              </a:ext>
            </a:extLst>
          </p:cNvPr>
          <p:cNvSpPr>
            <a:spLocks xmlns:a="http://schemas.openxmlformats.org/drawingml/2006/main"/>
          </p:cNvSpPr>
          <p:nvPr/>
        </p:nvSpPr>
        <p:spPr>
          <a:xfrm xmlns:a="http://schemas.openxmlformats.org/drawingml/2006/main">
            <a:off x="609600" y="60896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418" name="19-text-7">
            <a:extLst xmlns:a="http://schemas.openxmlformats.org/drawingml/2006/main">
              <a:ext uri="{FF2B5EF4-FFF2-40B4-BE49-F238E27FC236}">
                <a16:creationId xmlns:a16="http://schemas.microsoft.com/office/drawing/2014/main" id="{17B443E3-7114-4305-94DF-98C71DCEB694}"/>
              </a:ext>
            </a:extLst>
          </p:cNvPr>
          <p:cNvSpPr>
            <a:spLocks xmlns:a="http://schemas.openxmlformats.org/drawingml/2006/main"/>
          </p:cNvSpPr>
          <p:nvPr/>
        </p:nvSpPr>
        <p:spPr>
          <a:xfrm xmlns:a="http://schemas.openxmlformats.org/drawingml/2006/main">
            <a:off x="2489200" y="5803900"/>
            <a:ext cx="49530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lethal trifecta, assembled one integration at a time.</a:t>
            </a:r>
          </a:p>
        </p:txBody>
      </p:sp>
      <p:sp>
        <p:nvSpPr>
          <p:cNvPr id="419" name="19-line-9">
            <a:extLst xmlns:a="http://schemas.openxmlformats.org/drawingml/2006/main">
              <a:ext uri="{FF2B5EF4-FFF2-40B4-BE49-F238E27FC236}">
                <a16:creationId xmlns:a16="http://schemas.microsoft.com/office/drawing/2014/main" id="{78F10B60-5822-4A28-8D42-1BE1F58738D6}"/>
              </a:ext>
            </a:extLst>
          </p:cNvPr>
          <p:cNvSpPr>
            <a:spLocks xmlns:a="http://schemas.openxmlformats.org/drawingml/2006/main"/>
          </p:cNvSpPr>
          <p:nvPr/>
        </p:nvSpPr>
        <p:spPr>
          <a:xfrm xmlns:a="http://schemas.openxmlformats.org/drawingml/2006/main" flipH="0" flipV="0">
            <a:off x="9042400" y="5918200"/>
            <a:ext cx="1016000" cy="3048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20" name="19-line-11">
            <a:extLst xmlns:a="http://schemas.openxmlformats.org/drawingml/2006/main">
              <a:ext uri="{FF2B5EF4-FFF2-40B4-BE49-F238E27FC236}">
                <a16:creationId xmlns:a16="http://schemas.microsoft.com/office/drawing/2014/main" id="{A3D1EF61-9D56-4161-8D8D-575A940C426A}"/>
              </a:ext>
            </a:extLst>
          </p:cNvPr>
          <p:cNvSpPr>
            <a:spLocks xmlns:a="http://schemas.openxmlformats.org/drawingml/2006/main"/>
          </p:cNvSpPr>
          <p:nvPr/>
        </p:nvSpPr>
        <p:spPr>
          <a:xfrm xmlns:a="http://schemas.openxmlformats.org/drawingml/2006/main" flipH="1" flipV="0">
            <a:off x="8077200" y="6223000"/>
            <a:ext cx="19812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21" name="19-line-13">
            <a:extLst xmlns:a="http://schemas.openxmlformats.org/drawingml/2006/main">
              <a:ext uri="{FF2B5EF4-FFF2-40B4-BE49-F238E27FC236}">
                <a16:creationId xmlns:a16="http://schemas.microsoft.com/office/drawing/2014/main" id="{AC6DF006-379A-42D9-B3AB-5828F4E38391}"/>
              </a:ext>
            </a:extLst>
          </p:cNvPr>
          <p:cNvSpPr>
            <a:spLocks xmlns:a="http://schemas.openxmlformats.org/drawingml/2006/main"/>
          </p:cNvSpPr>
          <p:nvPr/>
        </p:nvSpPr>
        <p:spPr>
          <a:xfrm xmlns:a="http://schemas.openxmlformats.org/drawingml/2006/main" flipH="0" flipV="1">
            <a:off x="8077200" y="5918200"/>
            <a:ext cx="965200" cy="3048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22" name="19-text-14">
            <a:extLst xmlns:a="http://schemas.openxmlformats.org/drawingml/2006/main">
              <a:ext uri="{FF2B5EF4-FFF2-40B4-BE49-F238E27FC236}">
                <a16:creationId xmlns:a16="http://schemas.microsoft.com/office/drawing/2014/main" id="{D7478CCC-C4BB-44C3-A680-08E9F6533ED0}"/>
              </a:ext>
            </a:extLst>
          </p:cNvPr>
          <p:cNvSpPr>
            <a:spLocks xmlns:a="http://schemas.openxmlformats.org/drawingml/2006/main"/>
          </p:cNvSpPr>
          <p:nvPr/>
        </p:nvSpPr>
        <p:spPr>
          <a:xfrm xmlns:a="http://schemas.openxmlformats.org/drawingml/2006/main">
            <a:off x="8432800" y="5638800"/>
            <a:ext cx="18415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Private data</a:t>
            </a:r>
          </a:p>
        </p:txBody>
      </p:sp>
      <p:sp>
        <p:nvSpPr>
          <p:cNvPr id="423" name="19-text-15">
            <a:extLst xmlns:a="http://schemas.openxmlformats.org/drawingml/2006/main">
              <a:ext uri="{FF2B5EF4-FFF2-40B4-BE49-F238E27FC236}">
                <a16:creationId xmlns:a16="http://schemas.microsoft.com/office/drawing/2014/main" id="{4E97FB6C-08C2-4627-90ED-3F5658DCC9D3}"/>
              </a:ext>
            </a:extLst>
          </p:cNvPr>
          <p:cNvSpPr>
            <a:spLocks xmlns:a="http://schemas.openxmlformats.org/drawingml/2006/main"/>
          </p:cNvSpPr>
          <p:nvPr/>
        </p:nvSpPr>
        <p:spPr>
          <a:xfrm xmlns:a="http://schemas.openxmlformats.org/drawingml/2006/main">
            <a:off x="7061200" y="6426200"/>
            <a:ext cx="1981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Untrusted content</a:t>
            </a:r>
          </a:p>
        </p:txBody>
      </p:sp>
      <p:sp>
        <p:nvSpPr>
          <p:cNvPr id="424" name="19-text-16">
            <a:extLst xmlns:a="http://schemas.openxmlformats.org/drawingml/2006/main">
              <a:ext uri="{FF2B5EF4-FFF2-40B4-BE49-F238E27FC236}">
                <a16:creationId xmlns:a16="http://schemas.microsoft.com/office/drawing/2014/main" id="{3A21225C-23B5-40BF-BC6C-ECCF55201A0F}"/>
              </a:ext>
            </a:extLst>
          </p:cNvPr>
          <p:cNvSpPr>
            <a:spLocks xmlns:a="http://schemas.openxmlformats.org/drawingml/2006/main"/>
          </p:cNvSpPr>
          <p:nvPr/>
        </p:nvSpPr>
        <p:spPr>
          <a:xfrm xmlns:a="http://schemas.openxmlformats.org/drawingml/2006/main">
            <a:off x="9093200" y="6426200"/>
            <a:ext cx="2489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External communication</a:t>
            </a:r>
          </a:p>
        </p:txBody>
      </p:sp>
      <p:sp>
        <p:nvSpPr>
          <p:cNvPr id="425" name="narrative-number">
            <a:extLst xmlns:a="http://schemas.openxmlformats.org/drawingml/2006/main">
              <a:ext uri="{FF2B5EF4-FFF2-40B4-BE49-F238E27FC236}">
                <a16:creationId xmlns:a16="http://schemas.microsoft.com/office/drawing/2014/main" id="{6F28431F-88C5-409C-85CE-59A35D2DF5F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1332193806"/>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15"/>
                                        </p:tgtEl>
                                        <p:attrNameLst>
                                          <p:attrName>style.visibility</p:attrName>
                                        </p:attrNameLst>
                                      </p:cBhvr>
                                      <p:to>
                                        <p:strVal val="visible"/>
                                      </p:to>
                                    </p:set>
                                    <p:animEffect transition="in" filter="fade">
                                      <p:cBhvr>
                                        <p:cTn id="7" dur="300" fill="hold"/>
                                        <p:tgtEl>
                                          <p:spTgt spid="415"/>
                                        </p:tgtEl>
                                      </p:cBhvr>
                                    </p:animEffect>
                                  </p:childTnLst>
                                </p:cTn>
                              </p:par>
                              <p:par>
                                <p:cTn id="8" presetID="10" presetClass="entr" presetSubtype="0" fill="hold" nodeType="withEffect">
                                  <p:stCondLst>
                                    <p:cond delay="0"/>
                                  </p:stCondLst>
                                  <p:childTnLst>
                                    <p:set>
                                      <p:cBhvr>
                                        <p:cTn id="9" dur="1" fill="hold">
                                          <p:stCondLst>
                                            <p:cond delay="0"/>
                                          </p:stCondLst>
                                        </p:cTn>
                                        <p:tgtEl>
                                          <p:spTgt spid="416"/>
                                        </p:tgtEl>
                                        <p:attrNameLst>
                                          <p:attrName>style.visibility</p:attrName>
                                        </p:attrNameLst>
                                      </p:cBhvr>
                                      <p:to>
                                        <p:strVal val="visible"/>
                                      </p:to>
                                    </p:set>
                                    <p:animEffect transition="in" filter="fade">
                                      <p:cBhvr>
                                        <p:cTn id="10" dur="300" fill="hold"/>
                                        <p:tgtEl>
                                          <p:spTgt spid="416"/>
                                        </p:tgtEl>
                                      </p:cBhvr>
                                    </p:animEffect>
                                  </p:childTnLst>
                                </p:cTn>
                              </p:par>
                              <p:par>
                                <p:cTn id="11" presetID="10" presetClass="entr" presetSubtype="0" fill="hold" nodeType="withEffect">
                                  <p:stCondLst>
                                    <p:cond delay="0"/>
                                  </p:stCondLst>
                                  <p:childTnLst>
                                    <p:set>
                                      <p:cBhvr>
                                        <p:cTn id="12" dur="1" fill="hold">
                                          <p:stCondLst>
                                            <p:cond delay="0"/>
                                          </p:stCondLst>
                                        </p:cTn>
                                        <p:tgtEl>
                                          <p:spTgt spid="417"/>
                                        </p:tgtEl>
                                        <p:attrNameLst>
                                          <p:attrName>style.visibility</p:attrName>
                                        </p:attrNameLst>
                                      </p:cBhvr>
                                      <p:to>
                                        <p:strVal val="visible"/>
                                      </p:to>
                                    </p:set>
                                    <p:animEffect transition="in" filter="fade">
                                      <p:cBhvr>
                                        <p:cTn id="13" dur="300" fill="hold"/>
                                        <p:tgtEl>
                                          <p:spTgt spid="417"/>
                                        </p:tgtEl>
                                      </p:cBhvr>
                                    </p:animEffect>
                                  </p:childTnLst>
                                </p:cTn>
                              </p:par>
                              <p:par>
                                <p:cTn id="14" presetID="10" presetClass="entr" presetSubtype="0" fill="hold" nodeType="withEffect">
                                  <p:stCondLst>
                                    <p:cond delay="0"/>
                                  </p:stCondLst>
                                  <p:childTnLst>
                                    <p:set>
                                      <p:cBhvr>
                                        <p:cTn id="15" dur="1" fill="hold">
                                          <p:stCondLst>
                                            <p:cond delay="0"/>
                                          </p:stCondLst>
                                        </p:cTn>
                                        <p:tgtEl>
                                          <p:spTgt spid="418"/>
                                        </p:tgtEl>
                                        <p:attrNameLst>
                                          <p:attrName>style.visibility</p:attrName>
                                        </p:attrNameLst>
                                      </p:cBhvr>
                                      <p:to>
                                        <p:strVal val="visible"/>
                                      </p:to>
                                    </p:set>
                                    <p:animEffect transition="in" filter="fade">
                                      <p:cBhvr>
                                        <p:cTn id="16" dur="300" fill="hold"/>
                                        <p:tgtEl>
                                          <p:spTgt spid="418"/>
                                        </p:tgtEl>
                                      </p:cBhvr>
                                    </p:animEffect>
                                  </p:childTnLst>
                                </p:cTn>
                              </p:par>
                              <p:par>
                                <p:cTn id="17" presetID="1" presetClass="entr" presetSubtype="0" fill="hold" nodeType="withEffect">
                                  <p:stCondLst>
                                    <p:cond delay="0"/>
                                  </p:stCondLst>
                                  <p:childTnLst>
                                    <p:set>
                                      <p:cBhvr>
                                        <p:cTn id="18" dur="1" fill="hold">
                                          <p:stCondLst>
                                            <p:cond delay="0"/>
                                          </p:stCondLst>
                                        </p:cTn>
                                        <p:tgtEl>
                                          <p:spTgt spid="41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2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2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2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2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428" name="19b-image-1"/>
          <p:cNvPicPr>
            <a:picLocks xmlns:a="http://schemas.openxmlformats.org/drawingml/2006/main" noChangeAspect="1"/>
          </p:cNvPicPr>
          <p:nvPr/>
        </p:nvPicPr>
        <p:blipFill>
          <a:blip xmlns:r="http://schemas.openxmlformats.org/officeDocument/2006/relationships" xmlns:a="http://schemas.openxmlformats.org/drawingml/2006/main" r:embed="Ra87d7424a9b9479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427" name="narrative-number">
            <a:extLst xmlns:a="http://schemas.openxmlformats.org/drawingml/2006/main">
              <a:ext uri="{FF2B5EF4-FFF2-40B4-BE49-F238E27FC236}">
                <a16:creationId xmlns:a16="http://schemas.microsoft.com/office/drawing/2014/main" id="{1C54B279-2FBE-4DFF-B7DF-A2AA508B3F6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162544887"/>
      </p:ext>
    </p:extLst>
  </p:cSld>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8" name="section-label">
            <a:extLst xmlns:a="http://schemas.openxmlformats.org/drawingml/2006/main">
              <a:ext uri="{FF2B5EF4-FFF2-40B4-BE49-F238E27FC236}">
                <a16:creationId xmlns:a16="http://schemas.microsoft.com/office/drawing/2014/main" id="{DCAE705D-303D-4AF0-8FEC-19583290FB88}"/>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429" name="section-rule">
            <a:extLst xmlns:a="http://schemas.openxmlformats.org/drawingml/2006/main">
              <a:ext uri="{FF2B5EF4-FFF2-40B4-BE49-F238E27FC236}">
                <a16:creationId xmlns:a16="http://schemas.microsoft.com/office/drawing/2014/main" id="{F99949D3-3611-4ACB-ACFB-549D94FAE8D8}"/>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30" name="section-title">
            <a:extLst xmlns:a="http://schemas.openxmlformats.org/drawingml/2006/main">
              <a:ext uri="{FF2B5EF4-FFF2-40B4-BE49-F238E27FC236}">
                <a16:creationId xmlns:a16="http://schemas.microsoft.com/office/drawing/2014/main" id="{0DE6220A-9BEF-43FA-B8C3-5BF6B9D5274C}"/>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431" name="narrative-number">
            <a:extLst xmlns:a="http://schemas.openxmlformats.org/drawingml/2006/main">
              <a:ext uri="{FF2B5EF4-FFF2-40B4-BE49-F238E27FC236}">
                <a16:creationId xmlns:a16="http://schemas.microsoft.com/office/drawing/2014/main" id="{D66FA07E-D5CD-4C2E-ABA6-668E4ED45F6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514578080"/>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32" name="!!area-name">
            <a:extLst xmlns:a="http://schemas.openxmlformats.org/drawingml/2006/main">
              <a:ext uri="{FF2B5EF4-FFF2-40B4-BE49-F238E27FC236}">
                <a16:creationId xmlns:a16="http://schemas.microsoft.com/office/drawing/2014/main" id="{C95941AD-E8F5-47E2-9513-49EC6B696C1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439" name="mini-map"/>
          <p:cNvPicPr>
            <a:picLocks xmlns:a="http://schemas.openxmlformats.org/drawingml/2006/main" noChangeAspect="1"/>
          </p:cNvPicPr>
          <p:nvPr/>
        </p:nvPicPr>
        <p:blipFill>
          <a:blip xmlns:r="http://schemas.openxmlformats.org/officeDocument/2006/relationships" xmlns:a="http://schemas.openxmlformats.org/drawingml/2006/main" r:embed="R9a8353fa601a496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34" name="slide-title">
            <a:extLst xmlns:a="http://schemas.openxmlformats.org/drawingml/2006/main">
              <a:ext uri="{FF2B5EF4-FFF2-40B4-BE49-F238E27FC236}">
                <a16:creationId xmlns:a16="http://schemas.microsoft.com/office/drawing/2014/main" id="{1F226906-6376-4DBC-8FD1-C25577C47C4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435" name="header-divider">
            <a:extLst xmlns:a="http://schemas.openxmlformats.org/drawingml/2006/main">
              <a:ext uri="{FF2B5EF4-FFF2-40B4-BE49-F238E27FC236}">
                <a16:creationId xmlns:a16="http://schemas.microsoft.com/office/drawing/2014/main" id="{A8E55FE7-F588-4149-A0EA-6BA7D2E9E23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42" name="21-table-1"/>
          <p:cNvGraphicFramePr/>
          <p:nvPr/>
        </p:nvGraphicFramePr>
        <p:xfrm>
          <a:off xmlns:a="http://schemas.openxmlformats.org/drawingml/2006/main" x="609600" y="2438400"/>
          <a:ext xmlns:a="http://schemas.openxmlformats.org/drawingml/2006/main" cx="10972800" cy="34544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01B66D"/>
                          </a:solidFill>
                          <a:latin typeface="Helvetica"/>
                          <a:ea typeface="Helvetica"/>
                          <a:cs typeface="Helvetica"/>
                        </a:rPr>
                        <a:t>You already do this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It becomes this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Harness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Tool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Eval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The same, with a new schema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Least privilege for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Operations: cost, latency,</a:t>
                      </a:r>
                    </a:p>
                    <a:p>
                      <a:pPr>
                        <a:lnSpc>
                          <a:spcPct val="125000"/>
                        </a:lnSpc>
                        <a:buNone/>
                      </a:pPr>
                      <a:r>
                        <a:rPr sz="2000" b="0">
                          <a:solidFill>
                            <a:srgbClr val="FFFCF5"/>
                          </a:solidFill>
                          <a:latin typeface="Helvetica"/>
                          <a:ea typeface="Helvetica"/>
                          <a:cs typeface="Helvetica"/>
                        </a:rPr>
                        <a:t>incidents, rollback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The same, in tokens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37" name="narrative-number">
            <a:extLst xmlns:a="http://schemas.openxmlformats.org/drawingml/2006/main">
              <a:ext uri="{FF2B5EF4-FFF2-40B4-BE49-F238E27FC236}">
                <a16:creationId xmlns:a16="http://schemas.microsoft.com/office/drawing/2014/main" id="{C58C2B71-18A7-42E6-958E-F8D3783658B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3542062415"/>
      </p:ext>
    </p:extLst>
  </p:cSld>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38" name="!!area-name">
            <a:extLst xmlns:a="http://schemas.openxmlformats.org/drawingml/2006/main">
              <a:ext uri="{FF2B5EF4-FFF2-40B4-BE49-F238E27FC236}">
                <a16:creationId xmlns:a16="http://schemas.microsoft.com/office/drawing/2014/main" id="{FF929DF8-5D87-4CD3-8A69-A045AF033F7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447" name="mini-map"/>
          <p:cNvPicPr>
            <a:picLocks xmlns:a="http://schemas.openxmlformats.org/drawingml/2006/main" noChangeAspect="1"/>
          </p:cNvPicPr>
          <p:nvPr/>
        </p:nvPicPr>
        <p:blipFill>
          <a:blip xmlns:r="http://schemas.openxmlformats.org/officeDocument/2006/relationships" xmlns:a="http://schemas.openxmlformats.org/drawingml/2006/main" r:embed="R32ab75c7cb12474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40" name="slide-title">
            <a:extLst xmlns:a="http://schemas.openxmlformats.org/drawingml/2006/main">
              <a:ext uri="{FF2B5EF4-FFF2-40B4-BE49-F238E27FC236}">
                <a16:creationId xmlns:a16="http://schemas.microsoft.com/office/drawing/2014/main" id="{CA3F5745-AE6B-43C6-B1EC-8D4A0F4AAA3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441" name="header-divider">
            <a:extLst xmlns:a="http://schemas.openxmlformats.org/drawingml/2006/main">
              <a:ext uri="{FF2B5EF4-FFF2-40B4-BE49-F238E27FC236}">
                <a16:creationId xmlns:a16="http://schemas.microsoft.com/office/drawing/2014/main" id="{240F7505-9F44-4829-97FC-55F2B4A9114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2" name="21-text-2">
            <a:extLst xmlns:a="http://schemas.openxmlformats.org/drawingml/2006/main">
              <a:ext uri="{FF2B5EF4-FFF2-40B4-BE49-F238E27FC236}">
                <a16:creationId xmlns:a16="http://schemas.microsoft.com/office/drawing/2014/main" id="{117BF678-0D83-44BE-A56A-7177D0718CAF}"/>
              </a:ext>
            </a:extLst>
          </p:cNvPr>
          <p:cNvSpPr>
            <a:spLocks xmlns:a="http://schemas.openxmlformats.org/drawingml/2006/main"/>
          </p:cNvSpPr>
          <p:nvPr/>
        </p:nvSpPr>
        <p:spPr>
          <a:xfrm xmlns:a="http://schemas.openxmlformats.org/drawingml/2006/main">
            <a:off x="609600" y="243840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Engineers at incident.io, Sentry, Elsevier, and others crossed over in months, not years.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twenty-five-year veteran: about two months.</a:t>
            </a:r>
          </a:p>
        </p:txBody>
      </p:sp>
      <p:sp>
        <p:nvSpPr>
          <p:cNvPr id="443" name="21-text-3">
            <a:extLst xmlns:a="http://schemas.openxmlformats.org/drawingml/2006/main">
              <a:ext uri="{FF2B5EF4-FFF2-40B4-BE49-F238E27FC236}">
                <a16:creationId xmlns:a16="http://schemas.microsoft.com/office/drawing/2014/main" id="{F9A20C09-DF77-4375-9FA3-2D4E6E7694D0}"/>
              </a:ext>
            </a:extLst>
          </p:cNvPr>
          <p:cNvSpPr>
            <a:spLocks xmlns:a="http://schemas.openxmlformats.org/drawingml/2006/main"/>
          </p:cNvSpPr>
          <p:nvPr/>
        </p:nvSpPr>
        <p:spPr>
          <a:xfrm xmlns:a="http://schemas.openxmlformats.org/drawingml/2006/main">
            <a:off x="609600" y="4165600"/>
            <a:ext cx="109728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"For experienced engineers who know how to break problems down, AI tools are an incredible force multiplier."</a:t>
            </a:r>
          </a:p>
        </p:txBody>
      </p:sp>
      <p:sp>
        <p:nvSpPr>
          <p:cNvPr id="444" name="21-text-4">
            <a:extLst xmlns:a="http://schemas.openxmlformats.org/drawingml/2006/main">
              <a:ext uri="{FF2B5EF4-FFF2-40B4-BE49-F238E27FC236}">
                <a16:creationId xmlns:a16="http://schemas.microsoft.com/office/drawing/2014/main" id="{B12B2703-8941-41AB-9D91-E4BADCA570AD}"/>
              </a:ext>
            </a:extLst>
          </p:cNvPr>
          <p:cNvSpPr>
            <a:spLocks xmlns:a="http://schemas.openxmlformats.org/drawingml/2006/main"/>
          </p:cNvSpPr>
          <p:nvPr/>
        </p:nvSpPr>
        <p:spPr>
          <a:xfrm xmlns:a="http://schemas.openxmlformats.org/drawingml/2006/main">
            <a:off x="609600" y="56642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Matt Morgis, Elsevier, via The Pragmatic Engineer, March 2025</a:t>
            </a:r>
          </a:p>
        </p:txBody>
      </p:sp>
      <p:sp>
        <p:nvSpPr>
          <p:cNvPr id="445" name="narrative-number">
            <a:extLst xmlns:a="http://schemas.openxmlformats.org/drawingml/2006/main">
              <a:ext uri="{FF2B5EF4-FFF2-40B4-BE49-F238E27FC236}">
                <a16:creationId xmlns:a16="http://schemas.microsoft.com/office/drawing/2014/main" id="{1967A5B4-E97C-46F7-B3D4-77685BEAF77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2625142607"/>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6" name="!!area-name">
            <a:extLst xmlns:a="http://schemas.openxmlformats.org/drawingml/2006/main">
              <a:ext uri="{FF2B5EF4-FFF2-40B4-BE49-F238E27FC236}">
                <a16:creationId xmlns:a16="http://schemas.microsoft.com/office/drawing/2014/main" id="{AAAFFE0D-0CD1-4A00-B474-EE1D0281F36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462" name="mini-map"/>
          <p:cNvPicPr>
            <a:picLocks xmlns:a="http://schemas.openxmlformats.org/drawingml/2006/main" noChangeAspect="1"/>
          </p:cNvPicPr>
          <p:nvPr/>
        </p:nvPicPr>
        <p:blipFill>
          <a:blip xmlns:r="http://schemas.openxmlformats.org/officeDocument/2006/relationships" xmlns:a="http://schemas.openxmlformats.org/drawingml/2006/main" r:embed="R8d2b5ac19b2e49f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48" name="slide-title">
            <a:extLst xmlns:a="http://schemas.openxmlformats.org/drawingml/2006/main">
              <a:ext uri="{FF2B5EF4-FFF2-40B4-BE49-F238E27FC236}">
                <a16:creationId xmlns:a16="http://schemas.microsoft.com/office/drawing/2014/main" id="{DAC58A63-69FC-457E-8F9C-1838AB8409C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is new</a:t>
            </a:r>
          </a:p>
        </p:txBody>
      </p:sp>
      <p:sp>
        <p:nvSpPr>
          <p:cNvPr id="449" name="header-divider">
            <a:extLst xmlns:a="http://schemas.openxmlformats.org/drawingml/2006/main">
              <a:ext uri="{FF2B5EF4-FFF2-40B4-BE49-F238E27FC236}">
                <a16:creationId xmlns:a16="http://schemas.microsoft.com/office/drawing/2014/main" id="{FAF26AFE-96E8-429E-BACD-0C8CD4DDC54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50" name="22-text-1">
            <a:extLst xmlns:a="http://schemas.openxmlformats.org/drawingml/2006/main">
              <a:ext uri="{FF2B5EF4-FFF2-40B4-BE49-F238E27FC236}">
                <a16:creationId xmlns:a16="http://schemas.microsoft.com/office/drawing/2014/main" id="{166E2ABB-A26B-4C4B-9AF1-E6BCB94974F7}"/>
              </a:ext>
            </a:extLst>
          </p:cNvPr>
          <p:cNvSpPr>
            <a:spLocks xmlns:a="http://schemas.openxmlformats.org/drawingml/2006/main"/>
          </p:cNvSpPr>
          <p:nvPr/>
        </p:nvSpPr>
        <p:spPr>
          <a:xfrm xmlns:a="http://schemas.openxmlformats.org/drawingml/2006/main">
            <a:off x="609600" y="4216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Prompt engineering</a:t>
            </a:r>
          </a:p>
        </p:txBody>
      </p:sp>
      <p:sp>
        <p:nvSpPr>
          <p:cNvPr id="451" name="22-line-3">
            <a:extLst xmlns:a="http://schemas.openxmlformats.org/drawingml/2006/main">
              <a:ext uri="{FF2B5EF4-FFF2-40B4-BE49-F238E27FC236}">
                <a16:creationId xmlns:a16="http://schemas.microsoft.com/office/drawing/2014/main" id="{79900454-BB23-450F-966F-2FA684B2EAE5}"/>
              </a:ext>
            </a:extLst>
          </p:cNvPr>
          <p:cNvSpPr>
            <a:spLocks xmlns:a="http://schemas.openxmlformats.org/drawingml/2006/main"/>
          </p:cNvSpPr>
          <p:nvPr/>
        </p:nvSpPr>
        <p:spPr>
          <a:xfrm xmlns:a="http://schemas.openxmlformats.org/drawingml/2006/main" flipH="0" flipV="0">
            <a:off x="609600" y="4699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52" name="22-text-4">
            <a:extLst xmlns:a="http://schemas.openxmlformats.org/drawingml/2006/main">
              <a:ext uri="{FF2B5EF4-FFF2-40B4-BE49-F238E27FC236}">
                <a16:creationId xmlns:a16="http://schemas.microsoft.com/office/drawing/2014/main" id="{BEBBAA75-EEAC-4CEF-8E77-B558B16B5EEB}"/>
              </a:ext>
            </a:extLst>
          </p:cNvPr>
          <p:cNvSpPr>
            <a:spLocks xmlns:a="http://schemas.openxmlformats.org/drawingml/2006/main"/>
          </p:cNvSpPr>
          <p:nvPr/>
        </p:nvSpPr>
        <p:spPr>
          <a:xfrm xmlns:a="http://schemas.openxmlformats.org/drawingml/2006/main">
            <a:off x="609600" y="4851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2023</a:t>
            </a:r>
          </a:p>
        </p:txBody>
      </p:sp>
      <p:sp>
        <p:nvSpPr>
          <p:cNvPr id="453" name="22-text-5">
            <a:extLst xmlns:a="http://schemas.openxmlformats.org/drawingml/2006/main">
              <a:ext uri="{FF2B5EF4-FFF2-40B4-BE49-F238E27FC236}">
                <a16:creationId xmlns:a16="http://schemas.microsoft.com/office/drawing/2014/main" id="{66EA9599-A0F0-4397-AF35-7D48992E602D}"/>
              </a:ext>
            </a:extLst>
          </p:cNvPr>
          <p:cNvSpPr>
            <a:spLocks xmlns:a="http://schemas.openxmlformats.org/drawingml/2006/main"/>
          </p:cNvSpPr>
          <p:nvPr/>
        </p:nvSpPr>
        <p:spPr>
          <a:xfrm xmlns:a="http://schemas.openxmlformats.org/drawingml/2006/main">
            <a:off x="4368800" y="3327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engineering</a:t>
            </a:r>
          </a:p>
        </p:txBody>
      </p:sp>
      <p:sp>
        <p:nvSpPr>
          <p:cNvPr id="454" name="22-line-7">
            <a:extLst xmlns:a="http://schemas.openxmlformats.org/drawingml/2006/main">
              <a:ext uri="{FF2B5EF4-FFF2-40B4-BE49-F238E27FC236}">
                <a16:creationId xmlns:a16="http://schemas.microsoft.com/office/drawing/2014/main" id="{3342F378-61D5-4F72-8621-A0C8194CA914}"/>
              </a:ext>
            </a:extLst>
          </p:cNvPr>
          <p:cNvSpPr>
            <a:spLocks xmlns:a="http://schemas.openxmlformats.org/drawingml/2006/main"/>
          </p:cNvSpPr>
          <p:nvPr/>
        </p:nvSpPr>
        <p:spPr>
          <a:xfrm xmlns:a="http://schemas.openxmlformats.org/drawingml/2006/main" flipH="0" flipV="0">
            <a:off x="4368800" y="3810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55" name="22-text-8">
            <a:extLst xmlns:a="http://schemas.openxmlformats.org/drawingml/2006/main">
              <a:ext uri="{FF2B5EF4-FFF2-40B4-BE49-F238E27FC236}">
                <a16:creationId xmlns:a16="http://schemas.microsoft.com/office/drawing/2014/main" id="{B3F6129E-C776-4177-B9AD-366AFBF82E1C}"/>
              </a:ext>
            </a:extLst>
          </p:cNvPr>
          <p:cNvSpPr>
            <a:spLocks xmlns:a="http://schemas.openxmlformats.org/drawingml/2006/main"/>
          </p:cNvSpPr>
          <p:nvPr/>
        </p:nvSpPr>
        <p:spPr>
          <a:xfrm xmlns:a="http://schemas.openxmlformats.org/drawingml/2006/main">
            <a:off x="4368800" y="3962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2025</a:t>
            </a:r>
          </a:p>
        </p:txBody>
      </p:sp>
      <p:sp>
        <p:nvSpPr>
          <p:cNvPr id="456" name="22-text-9">
            <a:extLst xmlns:a="http://schemas.openxmlformats.org/drawingml/2006/main">
              <a:ext uri="{FF2B5EF4-FFF2-40B4-BE49-F238E27FC236}">
                <a16:creationId xmlns:a16="http://schemas.microsoft.com/office/drawing/2014/main" id="{5EEC9D40-C032-4F55-863E-3639269329C5}"/>
              </a:ext>
            </a:extLst>
          </p:cNvPr>
          <p:cNvSpPr>
            <a:spLocks xmlns:a="http://schemas.openxmlformats.org/drawingml/2006/main"/>
          </p:cNvSpPr>
          <p:nvPr/>
        </p:nvSpPr>
        <p:spPr>
          <a:xfrm xmlns:a="http://schemas.openxmlformats.org/drawingml/2006/main">
            <a:off x="8128000" y="2438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Harness engineering</a:t>
            </a:r>
          </a:p>
        </p:txBody>
      </p:sp>
      <p:sp>
        <p:nvSpPr>
          <p:cNvPr id="457" name="22-line-11">
            <a:extLst xmlns:a="http://schemas.openxmlformats.org/drawingml/2006/main">
              <a:ext uri="{FF2B5EF4-FFF2-40B4-BE49-F238E27FC236}">
                <a16:creationId xmlns:a16="http://schemas.microsoft.com/office/drawing/2014/main" id="{4491A38E-C991-494A-99A5-A6492B60EF54}"/>
              </a:ext>
            </a:extLst>
          </p:cNvPr>
          <p:cNvSpPr>
            <a:spLocks xmlns:a="http://schemas.openxmlformats.org/drawingml/2006/main"/>
          </p:cNvSpPr>
          <p:nvPr/>
        </p:nvSpPr>
        <p:spPr>
          <a:xfrm xmlns:a="http://schemas.openxmlformats.org/drawingml/2006/main" flipH="0" flipV="0">
            <a:off x="8128000" y="2921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58" name="22-text-12">
            <a:extLst xmlns:a="http://schemas.openxmlformats.org/drawingml/2006/main">
              <a:ext uri="{FF2B5EF4-FFF2-40B4-BE49-F238E27FC236}">
                <a16:creationId xmlns:a16="http://schemas.microsoft.com/office/drawing/2014/main" id="{9CFFE4E5-0366-4627-9D2D-A3D724845AE2}"/>
              </a:ext>
            </a:extLst>
          </p:cNvPr>
          <p:cNvSpPr>
            <a:spLocks xmlns:a="http://schemas.openxmlformats.org/drawingml/2006/main"/>
          </p:cNvSpPr>
          <p:nvPr/>
        </p:nvSpPr>
        <p:spPr>
          <a:xfrm xmlns:a="http://schemas.openxmlformats.org/drawingml/2006/main">
            <a:off x="8128000" y="3073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2026</a:t>
            </a:r>
          </a:p>
        </p:txBody>
      </p:sp>
      <p:sp>
        <p:nvSpPr>
          <p:cNvPr id="459" name="22-text-13">
            <a:extLst xmlns:a="http://schemas.openxmlformats.org/drawingml/2006/main">
              <a:ext uri="{FF2B5EF4-FFF2-40B4-BE49-F238E27FC236}">
                <a16:creationId xmlns:a16="http://schemas.microsoft.com/office/drawing/2014/main" id="{B62E085E-4DB5-4859-AAFE-8F47BCCF52FD}"/>
              </a:ext>
            </a:extLst>
          </p:cNvPr>
          <p:cNvSpPr>
            <a:spLocks xmlns:a="http://schemas.openxmlformats.org/drawingml/2006/main"/>
          </p:cNvSpPr>
          <p:nvPr/>
        </p:nvSpPr>
        <p:spPr>
          <a:xfrm xmlns:a="http://schemas.openxmlformats.org/drawingml/2006/main">
            <a:off x="609600" y="5613400"/>
            <a:ext cx="10972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Each one absorbs the last.</a:t>
            </a:r>
          </a:p>
        </p:txBody>
      </p:sp>
      <p:sp>
        <p:nvSpPr>
          <p:cNvPr id="460" name="narrative-number">
            <a:extLst xmlns:a="http://schemas.openxmlformats.org/drawingml/2006/main">
              <a:ext uri="{FF2B5EF4-FFF2-40B4-BE49-F238E27FC236}">
                <a16:creationId xmlns:a16="http://schemas.microsoft.com/office/drawing/2014/main" id="{736F4A02-84B4-4DD3-8742-EFD93B2CF28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1572010732"/>
      </p:ext>
    </p:extLst>
  </p:cSld>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1" name="!!area-name">
            <a:extLst xmlns:a="http://schemas.openxmlformats.org/drawingml/2006/main">
              <a:ext uri="{FF2B5EF4-FFF2-40B4-BE49-F238E27FC236}">
                <a16:creationId xmlns:a16="http://schemas.microsoft.com/office/drawing/2014/main" id="{E1CDF825-A167-40B6-946A-1BCAE60B7CE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474" name="mini-map"/>
          <p:cNvPicPr>
            <a:picLocks xmlns:a="http://schemas.openxmlformats.org/drawingml/2006/main" noChangeAspect="1"/>
          </p:cNvPicPr>
          <p:nvPr/>
        </p:nvPicPr>
        <p:blipFill>
          <a:blip xmlns:r="http://schemas.openxmlformats.org/officeDocument/2006/relationships" xmlns:a="http://schemas.openxmlformats.org/drawingml/2006/main" r:embed="Ra309d217b82a47d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63" name="header-divider">
            <a:extLst xmlns:a="http://schemas.openxmlformats.org/drawingml/2006/main">
              <a:ext uri="{FF2B5EF4-FFF2-40B4-BE49-F238E27FC236}">
                <a16:creationId xmlns:a16="http://schemas.microsoft.com/office/drawing/2014/main" id="{19A07F13-BFD5-4B8C-B46F-D2B61FDA37F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64" name="22b-text-1">
            <a:extLst xmlns:a="http://schemas.openxmlformats.org/drawingml/2006/main">
              <a:ext uri="{FF2B5EF4-FFF2-40B4-BE49-F238E27FC236}">
                <a16:creationId xmlns:a16="http://schemas.microsoft.com/office/drawing/2014/main" id="{432A27AF-C138-44B5-8205-5C65E6DBB4BF}"/>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Prompt engineering (2023) · Context engineering (2025) · Harness engineering (2026)</a:t>
            </a:r>
          </a:p>
        </p:txBody>
      </p:sp>
      <p:sp>
        <p:nvSpPr>
          <p:cNvPr id="465" name="22b-text-2">
            <a:extLst xmlns:a="http://schemas.openxmlformats.org/drawingml/2006/main">
              <a:ext uri="{FF2B5EF4-FFF2-40B4-BE49-F238E27FC236}">
                <a16:creationId xmlns:a16="http://schemas.microsoft.com/office/drawing/2014/main" id="{D7F87D4A-67A3-482E-8FEA-474B00E19A21}"/>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behavior intuition. Informed by reading outputs.</a:t>
            </a:r>
          </a:p>
        </p:txBody>
      </p:sp>
      <p:sp>
        <p:nvSpPr>
          <p:cNvPr id="466" name="22b-text-3">
            <a:extLst xmlns:a="http://schemas.openxmlformats.org/drawingml/2006/main">
              <a:ext uri="{FF2B5EF4-FFF2-40B4-BE49-F238E27FC236}">
                <a16:creationId xmlns:a16="http://schemas.microsoft.com/office/drawing/2014/main" id="{2B43F4B1-CA14-4D28-9C77-EA99D11CE531}"/>
              </a:ext>
            </a:extLst>
          </p:cNvPr>
          <p:cNvSpPr>
            <a:spLocks xmlns:a="http://schemas.openxmlformats.org/drawingml/2006/main"/>
          </p:cNvSpPr>
          <p:nvPr/>
        </p:nvSpPr>
        <p:spPr>
          <a:xfrm xmlns:a="http://schemas.openxmlformats.org/drawingml/2006/main">
            <a:off x="609600" y="2971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engineering.</a:t>
            </a:r>
          </a:p>
        </p:txBody>
      </p:sp>
      <p:sp>
        <p:nvSpPr>
          <p:cNvPr id="467" name="22b-text-4">
            <a:extLst xmlns:a="http://schemas.openxmlformats.org/drawingml/2006/main">
              <a:ext uri="{FF2B5EF4-FFF2-40B4-BE49-F238E27FC236}">
                <a16:creationId xmlns:a16="http://schemas.microsoft.com/office/drawing/2014/main" id="{AA7362DF-82A6-44AE-A3F7-C9B1E982DCDC}"/>
              </a:ext>
            </a:extLst>
          </p:cNvPr>
          <p:cNvSpPr>
            <a:spLocks xmlns:a="http://schemas.openxmlformats.org/drawingml/2006/main"/>
          </p:cNvSpPr>
          <p:nvPr/>
        </p:nvSpPr>
        <p:spPr>
          <a:xfrm xmlns:a="http://schemas.openxmlformats.org/drawingml/2006/main">
            <a:off x="609600" y="3505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 design, for a caller that reads the description every time.</a:t>
            </a:r>
          </a:p>
        </p:txBody>
      </p:sp>
      <p:sp>
        <p:nvSpPr>
          <p:cNvPr id="468" name="22b-text-5">
            <a:extLst xmlns:a="http://schemas.openxmlformats.org/drawingml/2006/main">
              <a:ext uri="{FF2B5EF4-FFF2-40B4-BE49-F238E27FC236}">
                <a16:creationId xmlns:a16="http://schemas.microsoft.com/office/drawing/2014/main" id="{0DD025D4-2B0A-418A-B678-B2193C7E856F}"/>
              </a:ext>
            </a:extLst>
          </p:cNvPr>
          <p:cNvSpPr>
            <a:spLocks xmlns:a="http://schemas.openxmlformats.org/drawingml/2006/main"/>
          </p:cNvSpPr>
          <p:nvPr/>
        </p:nvSpPr>
        <p:spPr>
          <a:xfrm xmlns:a="http://schemas.openxmlformats.org/drawingml/2006/main">
            <a:off x="609600" y="4038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Harness and loop design.</a:t>
            </a:r>
          </a:p>
        </p:txBody>
      </p:sp>
      <p:sp>
        <p:nvSpPr>
          <p:cNvPr id="469" name="22b-text-6">
            <a:extLst xmlns:a="http://schemas.openxmlformats.org/drawingml/2006/main">
              <a:ext uri="{FF2B5EF4-FFF2-40B4-BE49-F238E27FC236}">
                <a16:creationId xmlns:a16="http://schemas.microsoft.com/office/drawing/2014/main" id="{7DEFD9EA-4667-46C9-938A-9343C0278AE0}"/>
              </a:ext>
            </a:extLst>
          </p:cNvPr>
          <p:cNvSpPr>
            <a:spLocks xmlns:a="http://schemas.openxmlformats.org/drawingml/2006/main"/>
          </p:cNvSpPr>
          <p:nvPr/>
        </p:nvSpPr>
        <p:spPr>
          <a:xfrm xmlns:a="http://schemas.openxmlformats.org/drawingml/2006/main">
            <a:off x="609600" y="457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Evals and error analysis.</a:t>
            </a:r>
          </a:p>
        </p:txBody>
      </p:sp>
      <p:sp>
        <p:nvSpPr>
          <p:cNvPr id="470" name="22b-text-7">
            <a:extLst xmlns:a="http://schemas.openxmlformats.org/drawingml/2006/main">
              <a:ext uri="{FF2B5EF4-FFF2-40B4-BE49-F238E27FC236}">
                <a16:creationId xmlns:a16="http://schemas.microsoft.com/office/drawing/2014/main" id="{C4C3DBC3-63CF-4D19-9B60-23A6E7CD4A64}"/>
              </a:ext>
            </a:extLst>
          </p:cNvPr>
          <p:cNvSpPr>
            <a:spLocks xmlns:a="http://schemas.openxmlformats.org/drawingml/2006/main"/>
          </p:cNvSpPr>
          <p:nvPr/>
        </p:nvSpPr>
        <p:spPr>
          <a:xfrm xmlns:a="http://schemas.openxmlformats.org/drawingml/2006/main">
            <a:off x="609600" y="5105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AI security. The attack surface is the model's reasoning.</a:t>
            </a:r>
          </a:p>
        </p:txBody>
      </p:sp>
      <p:sp>
        <p:nvSpPr>
          <p:cNvPr id="471" name="22b-text-8">
            <a:extLst xmlns:a="http://schemas.openxmlformats.org/drawingml/2006/main">
              <a:ext uri="{FF2B5EF4-FFF2-40B4-BE49-F238E27FC236}">
                <a16:creationId xmlns:a16="http://schemas.microsoft.com/office/drawing/2014/main" id="{F3983C52-02F6-4630-B398-296C8B982305}"/>
              </a:ext>
            </a:extLst>
          </p:cNvPr>
          <p:cNvSpPr>
            <a:spLocks xmlns:a="http://schemas.openxmlformats.org/drawingml/2006/main"/>
          </p:cNvSpPr>
          <p:nvPr/>
        </p:nvSpPr>
        <p:spPr>
          <a:xfrm xmlns:a="http://schemas.openxmlformats.org/drawingml/2006/main">
            <a:off x="609600" y="5638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and latency as design constraints.</a:t>
            </a:r>
          </a:p>
        </p:txBody>
      </p:sp>
      <p:sp>
        <p:nvSpPr>
          <p:cNvPr id="472" name="narrative-number">
            <a:extLst xmlns:a="http://schemas.openxmlformats.org/drawingml/2006/main">
              <a:ext uri="{FF2B5EF4-FFF2-40B4-BE49-F238E27FC236}">
                <a16:creationId xmlns:a16="http://schemas.microsoft.com/office/drawing/2014/main" id="{A05D8828-2298-4DAF-900D-4CE232884A4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2151251142"/>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3" name="!!area-name">
            <a:extLst xmlns:a="http://schemas.openxmlformats.org/drawingml/2006/main">
              <a:ext uri="{FF2B5EF4-FFF2-40B4-BE49-F238E27FC236}">
                <a16:creationId xmlns:a16="http://schemas.microsoft.com/office/drawing/2014/main" id="{E26636A9-1137-49FC-9A9E-68112C53F48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481" name="mini-map"/>
          <p:cNvPicPr>
            <a:picLocks xmlns:a="http://schemas.openxmlformats.org/drawingml/2006/main" noChangeAspect="1"/>
          </p:cNvPicPr>
          <p:nvPr/>
        </p:nvPicPr>
        <p:blipFill>
          <a:blip xmlns:r="http://schemas.openxmlformats.org/officeDocument/2006/relationships" xmlns:a="http://schemas.openxmlformats.org/drawingml/2006/main" r:embed="R652b960a887842c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75" name="header-divider">
            <a:extLst xmlns:a="http://schemas.openxmlformats.org/drawingml/2006/main">
              <a:ext uri="{FF2B5EF4-FFF2-40B4-BE49-F238E27FC236}">
                <a16:creationId xmlns:a16="http://schemas.microsoft.com/office/drawing/2014/main" id="{9E24A61A-97DA-4A5E-B9C5-53B8480CE3C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76" name="22b-text-1">
            <a:extLst xmlns:a="http://schemas.openxmlformats.org/drawingml/2006/main">
              <a:ext uri="{FF2B5EF4-FFF2-40B4-BE49-F238E27FC236}">
                <a16:creationId xmlns:a16="http://schemas.microsoft.com/office/drawing/2014/main" id="{AFD40805-9245-4D98-9D74-DF04FD8DE5B5}"/>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Prompt engineering (2023) · Context engineering (2025) · Harness engineering (2026)</a:t>
            </a:r>
          </a:p>
        </p:txBody>
      </p:sp>
      <p:sp>
        <p:nvSpPr>
          <p:cNvPr id="477" name="22b-text-9">
            <a:extLst xmlns:a="http://schemas.openxmlformats.org/drawingml/2006/main">
              <a:ext uri="{FF2B5EF4-FFF2-40B4-BE49-F238E27FC236}">
                <a16:creationId xmlns:a16="http://schemas.microsoft.com/office/drawing/2014/main" id="{AF2FE846-E3A5-4BC3-BE08-599E1874F7D5}"/>
              </a:ext>
            </a:extLst>
          </p:cNvPr>
          <p:cNvSpPr>
            <a:spLocks xmlns:a="http://schemas.openxmlformats.org/drawingml/2006/main"/>
          </p:cNvSpPr>
          <p:nvPr/>
        </p:nvSpPr>
        <p:spPr>
          <a:xfrm xmlns:a="http://schemas.openxmlformats.org/drawingml/2006/main">
            <a:off x="609600" y="2438400"/>
            <a:ext cx="10972800" cy="269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"Getting comfortable with evaluations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iterating on non-deterministic</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outputs is the biggest challenge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most devs have."</a:t>
            </a:r>
          </a:p>
        </p:txBody>
      </p:sp>
      <p:sp>
        <p:nvSpPr>
          <p:cNvPr id="478" name="22b-text-10">
            <a:extLst xmlns:a="http://schemas.openxmlformats.org/drawingml/2006/main">
              <a:ext uri="{FF2B5EF4-FFF2-40B4-BE49-F238E27FC236}">
                <a16:creationId xmlns:a16="http://schemas.microsoft.com/office/drawing/2014/main" id="{3A5706DB-69DD-4F04-90A2-54E83F8D0A86}"/>
              </a:ext>
            </a:extLst>
          </p:cNvPr>
          <p:cNvSpPr>
            <a:spLocks xmlns:a="http://schemas.openxmlformats.org/drawingml/2006/main"/>
          </p:cNvSpPr>
          <p:nvPr/>
        </p:nvSpPr>
        <p:spPr>
          <a:xfrm xmlns:a="http://schemas.openxmlformats.org/drawingml/2006/main">
            <a:off x="609600" y="54356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Ross McNairn, Wordsmith, via The Pragmatic Engineer, March 2025</a:t>
            </a:r>
          </a:p>
        </p:txBody>
      </p:sp>
      <p:sp>
        <p:nvSpPr>
          <p:cNvPr id="479" name="narrative-number">
            <a:extLst xmlns:a="http://schemas.openxmlformats.org/drawingml/2006/main">
              <a:ext uri="{FF2B5EF4-FFF2-40B4-BE49-F238E27FC236}">
                <a16:creationId xmlns:a16="http://schemas.microsoft.com/office/drawing/2014/main" id="{9408F5AA-0F2F-4EAA-964E-9D4DBA40680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2989049707"/>
      </p:ext>
    </p:extLst>
  </p:cSld>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80" name="!!area-name">
            <a:extLst xmlns:a="http://schemas.openxmlformats.org/drawingml/2006/main">
              <a:ext uri="{FF2B5EF4-FFF2-40B4-BE49-F238E27FC236}">
                <a16:creationId xmlns:a16="http://schemas.microsoft.com/office/drawing/2014/main" id="{F593615D-C809-4496-ACFE-3205F65BD296}"/>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481" name="header-divider">
            <a:extLst xmlns:a="http://schemas.openxmlformats.org/drawingml/2006/main">
              <a:ext uri="{FF2B5EF4-FFF2-40B4-BE49-F238E27FC236}">
                <a16:creationId xmlns:a16="http://schemas.microsoft.com/office/drawing/2014/main" id="{C53560F3-1C3C-4B5D-A35E-269E969121A4}"/>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82" name="23-shape-1">
            <a:extLst xmlns:a="http://schemas.openxmlformats.org/drawingml/2006/main">
              <a:ext uri="{FF2B5EF4-FFF2-40B4-BE49-F238E27FC236}">
                <a16:creationId xmlns:a16="http://schemas.microsoft.com/office/drawing/2014/main" id="{290FCD49-8E7D-4ED9-863F-6A00FF2ABC2E}"/>
              </a:ext>
            </a:extLst>
          </p:cNvPr>
          <p:cNvSpPr>
            <a:spLocks xmlns:a="http://schemas.openxmlformats.org/drawingml/2006/main"/>
          </p:cNvSpPr>
          <p:nvPr/>
        </p:nvSpPr>
        <p:spPr>
          <a:xfrm xmlns:a="http://schemas.openxmlformats.org/drawingml/2006/main">
            <a:off x="0" y="12700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83" name="23-shape-2">
            <a:extLst xmlns:a="http://schemas.openxmlformats.org/drawingml/2006/main">
              <a:ext uri="{FF2B5EF4-FFF2-40B4-BE49-F238E27FC236}">
                <a16:creationId xmlns:a16="http://schemas.microsoft.com/office/drawing/2014/main" id="{E7A1732B-7762-4C51-8268-84406E4736B7}"/>
              </a:ext>
            </a:extLst>
          </p:cNvPr>
          <p:cNvSpPr>
            <a:spLocks xmlns:a="http://schemas.openxmlformats.org/drawingml/2006/main"/>
          </p:cNvSpPr>
          <p:nvPr/>
        </p:nvSpPr>
        <p:spPr>
          <a:xfrm xmlns:a="http://schemas.openxmlformats.org/drawingml/2006/main">
            <a:off x="0" y="1270000"/>
            <a:ext cx="3454400" cy="7112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484" name="23-text-3">
            <a:extLst xmlns:a="http://schemas.openxmlformats.org/drawingml/2006/main">
              <a:ext uri="{FF2B5EF4-FFF2-40B4-BE49-F238E27FC236}">
                <a16:creationId xmlns:a16="http://schemas.microsoft.com/office/drawing/2014/main" id="{8B70DB2A-273A-44D5-9E92-D79D9FE4B890}"/>
              </a:ext>
            </a:extLst>
          </p:cNvPr>
          <p:cNvSpPr>
            <a:spLocks xmlns:a="http://schemas.openxmlformats.org/drawingml/2006/main"/>
          </p:cNvSpPr>
          <p:nvPr/>
        </p:nvSpPr>
        <p:spPr>
          <a:xfrm xmlns:a="http://schemas.openxmlformats.org/drawingml/2006/main">
            <a:off x="609600" y="14224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Models</a:t>
            </a:r>
          </a:p>
        </p:txBody>
      </p:sp>
      <p:sp>
        <p:nvSpPr>
          <p:cNvPr id="485" name="23-text-4">
            <a:extLst xmlns:a="http://schemas.openxmlformats.org/drawingml/2006/main">
              <a:ext uri="{FF2B5EF4-FFF2-40B4-BE49-F238E27FC236}">
                <a16:creationId xmlns:a16="http://schemas.microsoft.com/office/drawing/2014/main" id="{93F429C8-570B-4A31-A39A-ED24E83FD612}"/>
              </a:ext>
            </a:extLst>
          </p:cNvPr>
          <p:cNvSpPr>
            <a:spLocks xmlns:a="http://schemas.openxmlformats.org/drawingml/2006/main"/>
          </p:cNvSpPr>
          <p:nvPr/>
        </p:nvSpPr>
        <p:spPr>
          <a:xfrm xmlns:a="http://schemas.openxmlformats.org/drawingml/2006/main">
            <a:off x="3759200" y="13081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Choosing and changing models without testing them on your task.</a:t>
            </a:r>
          </a:p>
        </p:txBody>
      </p:sp>
      <p:sp>
        <p:nvSpPr>
          <p:cNvPr id="486" name="23-shape-5">
            <a:extLst xmlns:a="http://schemas.openxmlformats.org/drawingml/2006/main">
              <a:ext uri="{FF2B5EF4-FFF2-40B4-BE49-F238E27FC236}">
                <a16:creationId xmlns:a16="http://schemas.microsoft.com/office/drawing/2014/main" id="{7AAD347B-D4F6-42B5-8C7E-98935A920F68}"/>
              </a:ext>
            </a:extLst>
          </p:cNvPr>
          <p:cNvSpPr>
            <a:spLocks xmlns:a="http://schemas.openxmlformats.org/drawingml/2006/main"/>
          </p:cNvSpPr>
          <p:nvPr/>
        </p:nvSpPr>
        <p:spPr>
          <a:xfrm xmlns:a="http://schemas.openxmlformats.org/drawingml/2006/main">
            <a:off x="0" y="20701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87" name="23-shape-6">
            <a:extLst xmlns:a="http://schemas.openxmlformats.org/drawingml/2006/main">
              <a:ext uri="{FF2B5EF4-FFF2-40B4-BE49-F238E27FC236}">
                <a16:creationId xmlns:a16="http://schemas.microsoft.com/office/drawing/2014/main" id="{6E6A4736-0552-4E47-BE84-2CB350C54C3A}"/>
              </a:ext>
            </a:extLst>
          </p:cNvPr>
          <p:cNvSpPr>
            <a:spLocks xmlns:a="http://schemas.openxmlformats.org/drawingml/2006/main"/>
          </p:cNvSpPr>
          <p:nvPr/>
        </p:nvSpPr>
        <p:spPr>
          <a:xfrm xmlns:a="http://schemas.openxmlformats.org/drawingml/2006/main">
            <a:off x="0" y="20701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88" name="23-text-7">
            <a:extLst xmlns:a="http://schemas.openxmlformats.org/drawingml/2006/main">
              <a:ext uri="{FF2B5EF4-FFF2-40B4-BE49-F238E27FC236}">
                <a16:creationId xmlns:a16="http://schemas.microsoft.com/office/drawing/2014/main" id="{6E4B76BF-AE18-4EC1-900D-422F0712BB2D}"/>
              </a:ext>
            </a:extLst>
          </p:cNvPr>
          <p:cNvSpPr>
            <a:spLocks xmlns:a="http://schemas.openxmlformats.org/drawingml/2006/main"/>
          </p:cNvSpPr>
          <p:nvPr/>
        </p:nvSpPr>
        <p:spPr>
          <a:xfrm xmlns:a="http://schemas.openxmlformats.org/drawingml/2006/main">
            <a:off x="609600" y="22225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p:txBody>
      </p:sp>
      <p:sp>
        <p:nvSpPr>
          <p:cNvPr id="489" name="23-text-8">
            <a:extLst xmlns:a="http://schemas.openxmlformats.org/drawingml/2006/main">
              <a:ext uri="{FF2B5EF4-FFF2-40B4-BE49-F238E27FC236}">
                <a16:creationId xmlns:a16="http://schemas.microsoft.com/office/drawing/2014/main" id="{95DC30B7-B16E-4467-A609-6D0A07C317D7}"/>
              </a:ext>
            </a:extLst>
          </p:cNvPr>
          <p:cNvSpPr>
            <a:spLocks xmlns:a="http://schemas.openxmlformats.org/drawingml/2006/main"/>
          </p:cNvSpPr>
          <p:nvPr/>
        </p:nvSpPr>
        <p:spPr>
          <a:xfrm xmlns:a="http://schemas.openxmlformats.org/drawingml/2006/main">
            <a:off x="3759200" y="21082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instead of curating.</a:t>
            </a:r>
          </a:p>
        </p:txBody>
      </p:sp>
      <p:sp>
        <p:nvSpPr>
          <p:cNvPr id="490" name="23-shape-9">
            <a:extLst xmlns:a="http://schemas.openxmlformats.org/drawingml/2006/main">
              <a:ext uri="{FF2B5EF4-FFF2-40B4-BE49-F238E27FC236}">
                <a16:creationId xmlns:a16="http://schemas.microsoft.com/office/drawing/2014/main" id="{E254E856-9E61-4571-96EB-B8B122B5ED7B}"/>
              </a:ext>
            </a:extLst>
          </p:cNvPr>
          <p:cNvSpPr>
            <a:spLocks xmlns:a="http://schemas.openxmlformats.org/drawingml/2006/main"/>
          </p:cNvSpPr>
          <p:nvPr/>
        </p:nvSpPr>
        <p:spPr>
          <a:xfrm xmlns:a="http://schemas.openxmlformats.org/drawingml/2006/main">
            <a:off x="0" y="28702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91" name="23-shape-10">
            <a:extLst xmlns:a="http://schemas.openxmlformats.org/drawingml/2006/main">
              <a:ext uri="{FF2B5EF4-FFF2-40B4-BE49-F238E27FC236}">
                <a16:creationId xmlns:a16="http://schemas.microsoft.com/office/drawing/2014/main" id="{28136D00-A780-477D-A339-CB30A4CF48B3}"/>
              </a:ext>
            </a:extLst>
          </p:cNvPr>
          <p:cNvSpPr>
            <a:spLocks xmlns:a="http://schemas.openxmlformats.org/drawingml/2006/main"/>
          </p:cNvSpPr>
          <p:nvPr/>
        </p:nvSpPr>
        <p:spPr>
          <a:xfrm xmlns:a="http://schemas.openxmlformats.org/drawingml/2006/main">
            <a:off x="0" y="28702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92" name="23-text-11">
            <a:extLst xmlns:a="http://schemas.openxmlformats.org/drawingml/2006/main">
              <a:ext uri="{FF2B5EF4-FFF2-40B4-BE49-F238E27FC236}">
                <a16:creationId xmlns:a16="http://schemas.microsoft.com/office/drawing/2014/main" id="{1271242C-AB89-4EB6-B7FD-0F61D71B2D3C}"/>
              </a:ext>
            </a:extLst>
          </p:cNvPr>
          <p:cNvSpPr>
            <a:spLocks xmlns:a="http://schemas.openxmlformats.org/drawingml/2006/main"/>
          </p:cNvSpPr>
          <p:nvPr/>
        </p:nvSpPr>
        <p:spPr>
          <a:xfrm xmlns:a="http://schemas.openxmlformats.org/drawingml/2006/main">
            <a:off x="609600" y="30226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a:t>
            </a:r>
          </a:p>
        </p:txBody>
      </p:sp>
      <p:sp>
        <p:nvSpPr>
          <p:cNvPr id="493" name="23-text-12">
            <a:extLst xmlns:a="http://schemas.openxmlformats.org/drawingml/2006/main">
              <a:ext uri="{FF2B5EF4-FFF2-40B4-BE49-F238E27FC236}">
                <a16:creationId xmlns:a16="http://schemas.microsoft.com/office/drawing/2014/main" id="{42DE1BCA-E873-4FAA-AC36-9128246AB09C}"/>
              </a:ext>
            </a:extLst>
          </p:cNvPr>
          <p:cNvSpPr>
            <a:spLocks xmlns:a="http://schemas.openxmlformats.org/drawingml/2006/main"/>
          </p:cNvSpPr>
          <p:nvPr/>
        </p:nvSpPr>
        <p:spPr>
          <a:xfrm xmlns:a="http://schemas.openxmlformats.org/drawingml/2006/main">
            <a:off x="3759200" y="29083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the API surface without evaluating task fit.</a:t>
            </a:r>
          </a:p>
        </p:txBody>
      </p:sp>
      <p:sp>
        <p:nvSpPr>
          <p:cNvPr id="494" name="23-shape-13">
            <a:extLst xmlns:a="http://schemas.openxmlformats.org/drawingml/2006/main">
              <a:ext uri="{FF2B5EF4-FFF2-40B4-BE49-F238E27FC236}">
                <a16:creationId xmlns:a16="http://schemas.microsoft.com/office/drawing/2014/main" id="{A9D060CD-43E8-46D9-93CF-069C5DC6E3D5}"/>
              </a:ext>
            </a:extLst>
          </p:cNvPr>
          <p:cNvSpPr>
            <a:spLocks xmlns:a="http://schemas.openxmlformats.org/drawingml/2006/main"/>
          </p:cNvSpPr>
          <p:nvPr/>
        </p:nvSpPr>
        <p:spPr>
          <a:xfrm xmlns:a="http://schemas.openxmlformats.org/drawingml/2006/main">
            <a:off x="0" y="36703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95" name="23-shape-14">
            <a:extLst xmlns:a="http://schemas.openxmlformats.org/drawingml/2006/main">
              <a:ext uri="{FF2B5EF4-FFF2-40B4-BE49-F238E27FC236}">
                <a16:creationId xmlns:a16="http://schemas.microsoft.com/office/drawing/2014/main" id="{4D519427-1D34-4E28-A380-A93C38194EB4}"/>
              </a:ext>
            </a:extLst>
          </p:cNvPr>
          <p:cNvSpPr>
            <a:spLocks xmlns:a="http://schemas.openxmlformats.org/drawingml/2006/main"/>
          </p:cNvSpPr>
          <p:nvPr/>
        </p:nvSpPr>
        <p:spPr>
          <a:xfrm xmlns:a="http://schemas.openxmlformats.org/drawingml/2006/main">
            <a:off x="0" y="36703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96" name="23-text-15">
            <a:extLst xmlns:a="http://schemas.openxmlformats.org/drawingml/2006/main">
              <a:ext uri="{FF2B5EF4-FFF2-40B4-BE49-F238E27FC236}">
                <a16:creationId xmlns:a16="http://schemas.microsoft.com/office/drawing/2014/main" id="{573FF3F6-A76C-4A34-B945-A207067C619F}"/>
              </a:ext>
            </a:extLst>
          </p:cNvPr>
          <p:cNvSpPr>
            <a:spLocks xmlns:a="http://schemas.openxmlformats.org/drawingml/2006/main"/>
          </p:cNvSpPr>
          <p:nvPr/>
        </p:nvSpPr>
        <p:spPr>
          <a:xfrm xmlns:a="http://schemas.openxmlformats.org/drawingml/2006/main">
            <a:off x="609600" y="38227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497" name="23-text-16">
            <a:extLst xmlns:a="http://schemas.openxmlformats.org/drawingml/2006/main">
              <a:ext uri="{FF2B5EF4-FFF2-40B4-BE49-F238E27FC236}">
                <a16:creationId xmlns:a16="http://schemas.microsoft.com/office/drawing/2014/main" id="{75F30913-3C87-4FAC-B4CD-7C7D9BFB4AD5}"/>
              </a:ext>
            </a:extLst>
          </p:cNvPr>
          <p:cNvSpPr>
            <a:spLocks xmlns:a="http://schemas.openxmlformats.org/drawingml/2006/main"/>
          </p:cNvSpPr>
          <p:nvPr/>
        </p:nvSpPr>
        <p:spPr>
          <a:xfrm xmlns:a="http://schemas.openxmlformats.org/drawingml/2006/main">
            <a:off x="3759200" y="37084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multi-agent before a workflow was tried.</a:t>
            </a:r>
          </a:p>
        </p:txBody>
      </p:sp>
      <p:sp>
        <p:nvSpPr>
          <p:cNvPr id="498" name="23-shape-17">
            <a:extLst xmlns:a="http://schemas.openxmlformats.org/drawingml/2006/main">
              <a:ext uri="{FF2B5EF4-FFF2-40B4-BE49-F238E27FC236}">
                <a16:creationId xmlns:a16="http://schemas.microsoft.com/office/drawing/2014/main" id="{28853CED-1FA3-4785-8089-D74B93C05FBD}"/>
              </a:ext>
            </a:extLst>
          </p:cNvPr>
          <p:cNvSpPr>
            <a:spLocks xmlns:a="http://schemas.openxmlformats.org/drawingml/2006/main"/>
          </p:cNvSpPr>
          <p:nvPr/>
        </p:nvSpPr>
        <p:spPr>
          <a:xfrm xmlns:a="http://schemas.openxmlformats.org/drawingml/2006/main">
            <a:off x="0" y="4470400"/>
            <a:ext cx="12192000" cy="965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99" name="23-shape-18">
            <a:extLst xmlns:a="http://schemas.openxmlformats.org/drawingml/2006/main">
              <a:ext uri="{FF2B5EF4-FFF2-40B4-BE49-F238E27FC236}">
                <a16:creationId xmlns:a16="http://schemas.microsoft.com/office/drawing/2014/main" id="{8E51087D-7978-4BFB-8E61-0346841B4758}"/>
              </a:ext>
            </a:extLst>
          </p:cNvPr>
          <p:cNvSpPr>
            <a:spLocks xmlns:a="http://schemas.openxmlformats.org/drawingml/2006/main"/>
          </p:cNvSpPr>
          <p:nvPr/>
        </p:nvSpPr>
        <p:spPr>
          <a:xfrm xmlns:a="http://schemas.openxmlformats.org/drawingml/2006/main">
            <a:off x="0" y="4470400"/>
            <a:ext cx="3454400" cy="9652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500" name="23-text-19">
            <a:extLst xmlns:a="http://schemas.openxmlformats.org/drawingml/2006/main">
              <a:ext uri="{FF2B5EF4-FFF2-40B4-BE49-F238E27FC236}">
                <a16:creationId xmlns:a16="http://schemas.microsoft.com/office/drawing/2014/main" id="{2AEE41B1-9AE6-4364-B229-9C519F3D9B8C}"/>
              </a:ext>
            </a:extLst>
          </p:cNvPr>
          <p:cNvSpPr>
            <a:spLocks xmlns:a="http://schemas.openxmlformats.org/drawingml/2006/main"/>
          </p:cNvSpPr>
          <p:nvPr/>
        </p:nvSpPr>
        <p:spPr>
          <a:xfrm xmlns:a="http://schemas.openxmlformats.org/drawingml/2006/main">
            <a:off x="609600" y="47498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Evals</a:t>
            </a:r>
          </a:p>
        </p:txBody>
      </p:sp>
      <p:sp>
        <p:nvSpPr>
          <p:cNvPr id="501" name="23-text-20">
            <a:extLst xmlns:a="http://schemas.openxmlformats.org/drawingml/2006/main">
              <a:ext uri="{FF2B5EF4-FFF2-40B4-BE49-F238E27FC236}">
                <a16:creationId xmlns:a16="http://schemas.microsoft.com/office/drawing/2014/main" id="{82D0529E-D49B-4159-AB85-6360DC69DC27}"/>
              </a:ext>
            </a:extLst>
          </p:cNvPr>
          <p:cNvSpPr>
            <a:spLocks xmlns:a="http://schemas.openxmlformats.org/drawingml/2006/main"/>
          </p:cNvSpPr>
          <p:nvPr/>
        </p:nvSpPr>
        <p:spPr>
          <a:xfrm xmlns:a="http://schemas.openxmlformats.org/drawingml/2006/main">
            <a:off x="3759200" y="4508500"/>
            <a:ext cx="78232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generic judge instead of error analysis. Trusting the success claim without checking the result.</a:t>
            </a:r>
          </a:p>
        </p:txBody>
      </p:sp>
      <p:sp>
        <p:nvSpPr>
          <p:cNvPr id="502" name="23-shape-21">
            <a:extLst xmlns:a="http://schemas.openxmlformats.org/drawingml/2006/main">
              <a:ext uri="{FF2B5EF4-FFF2-40B4-BE49-F238E27FC236}">
                <a16:creationId xmlns:a16="http://schemas.microsoft.com/office/drawing/2014/main" id="{6BB97109-0836-40C4-9992-75B5C95F0AE9}"/>
              </a:ext>
            </a:extLst>
          </p:cNvPr>
          <p:cNvSpPr>
            <a:spLocks xmlns:a="http://schemas.openxmlformats.org/drawingml/2006/main"/>
          </p:cNvSpPr>
          <p:nvPr/>
        </p:nvSpPr>
        <p:spPr>
          <a:xfrm xmlns:a="http://schemas.openxmlformats.org/drawingml/2006/main">
            <a:off x="0" y="55245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03" name="23-shape-22">
            <a:extLst xmlns:a="http://schemas.openxmlformats.org/drawingml/2006/main">
              <a:ext uri="{FF2B5EF4-FFF2-40B4-BE49-F238E27FC236}">
                <a16:creationId xmlns:a16="http://schemas.microsoft.com/office/drawing/2014/main" id="{29B73DD3-0B30-4B96-B9DA-D98FB16BA8B2}"/>
              </a:ext>
            </a:extLst>
          </p:cNvPr>
          <p:cNvSpPr>
            <a:spLocks xmlns:a="http://schemas.openxmlformats.org/drawingml/2006/main"/>
          </p:cNvSpPr>
          <p:nvPr/>
        </p:nvSpPr>
        <p:spPr>
          <a:xfrm xmlns:a="http://schemas.openxmlformats.org/drawingml/2006/main">
            <a:off x="0" y="5524500"/>
            <a:ext cx="3454400" cy="7112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504" name="23-text-23">
            <a:extLst xmlns:a="http://schemas.openxmlformats.org/drawingml/2006/main">
              <a:ext uri="{FF2B5EF4-FFF2-40B4-BE49-F238E27FC236}">
                <a16:creationId xmlns:a16="http://schemas.microsoft.com/office/drawing/2014/main" id="{E700C89B-5C16-4358-B122-CCEB7C7D5E55}"/>
              </a:ext>
            </a:extLst>
          </p:cNvPr>
          <p:cNvSpPr>
            <a:spLocks xmlns:a="http://schemas.openxmlformats.org/drawingml/2006/main"/>
          </p:cNvSpPr>
          <p:nvPr/>
        </p:nvSpPr>
        <p:spPr>
          <a:xfrm xmlns:a="http://schemas.openxmlformats.org/drawingml/2006/main">
            <a:off x="609600" y="56769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Operating</a:t>
            </a:r>
          </a:p>
        </p:txBody>
      </p:sp>
      <p:sp>
        <p:nvSpPr>
          <p:cNvPr id="505" name="23-text-24">
            <a:extLst xmlns:a="http://schemas.openxmlformats.org/drawingml/2006/main">
              <a:ext uri="{FF2B5EF4-FFF2-40B4-BE49-F238E27FC236}">
                <a16:creationId xmlns:a16="http://schemas.microsoft.com/office/drawing/2014/main" id="{452C5BA8-208C-4756-9898-304E139AA06B}"/>
              </a:ext>
            </a:extLst>
          </p:cNvPr>
          <p:cNvSpPr>
            <a:spLocks xmlns:a="http://schemas.openxmlformats.org/drawingml/2006/main"/>
          </p:cNvSpPr>
          <p:nvPr/>
        </p:nvSpPr>
        <p:spPr>
          <a:xfrm xmlns:a="http://schemas.openxmlformats.org/drawingml/2006/main">
            <a:off x="3759200" y="55626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lethal trifecta, assembled one integration at a time.</a:t>
            </a:r>
          </a:p>
        </p:txBody>
      </p:sp>
      <p:sp>
        <p:nvSpPr>
          <p:cNvPr id="506" name="narrative-number">
            <a:extLst xmlns:a="http://schemas.openxmlformats.org/drawingml/2006/main">
              <a:ext uri="{FF2B5EF4-FFF2-40B4-BE49-F238E27FC236}">
                <a16:creationId xmlns:a16="http://schemas.microsoft.com/office/drawing/2014/main" id="{575677BC-4767-4B90-B020-0F5CEA5AAE2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2108828760"/>
      </p:ext>
    </p:extLst>
  </p:cSld>
</p:sld>
</file>

<file path=ppt/slides/slide5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07" name="!!area-name">
            <a:extLst xmlns:a="http://schemas.openxmlformats.org/drawingml/2006/main">
              <a:ext uri="{FF2B5EF4-FFF2-40B4-BE49-F238E27FC236}">
                <a16:creationId xmlns:a16="http://schemas.microsoft.com/office/drawing/2014/main" id="{1E9B58C9-7AF4-41D3-97CA-1890A2FD334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525" name="mini-map"/>
          <p:cNvPicPr>
            <a:picLocks xmlns:a="http://schemas.openxmlformats.org/drawingml/2006/main" noChangeAspect="1"/>
          </p:cNvPicPr>
          <p:nvPr/>
        </p:nvPicPr>
        <p:blipFill>
          <a:blip xmlns:r="http://schemas.openxmlformats.org/officeDocument/2006/relationships" xmlns:a="http://schemas.openxmlformats.org/drawingml/2006/main" r:embed="R7673f1ca6b40458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09" name="slide-title">
            <a:extLst xmlns:a="http://schemas.openxmlformats.org/drawingml/2006/main">
              <a:ext uri="{FF2B5EF4-FFF2-40B4-BE49-F238E27FC236}">
                <a16:creationId xmlns:a16="http://schemas.microsoft.com/office/drawing/2014/main" id="{207FD42C-FE9E-4CF8-8B0B-AD8383F7D1C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510" name="header-divider">
            <a:extLst xmlns:a="http://schemas.openxmlformats.org/drawingml/2006/main">
              <a:ext uri="{FF2B5EF4-FFF2-40B4-BE49-F238E27FC236}">
                <a16:creationId xmlns:a16="http://schemas.microsoft.com/office/drawing/2014/main" id="{13C3AAB0-A0C3-4AF3-9EDC-2E074F2A338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11" name="24-shape-1">
            <a:extLst xmlns:a="http://schemas.openxmlformats.org/drawingml/2006/main">
              <a:ext uri="{FF2B5EF4-FFF2-40B4-BE49-F238E27FC236}">
                <a16:creationId xmlns:a16="http://schemas.microsoft.com/office/drawing/2014/main" id="{2ABCBE63-350B-470F-9F2A-48C2FC88C102}"/>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12" name="24-text-2">
            <a:extLst xmlns:a="http://schemas.openxmlformats.org/drawingml/2006/main">
              <a:ext uri="{FF2B5EF4-FFF2-40B4-BE49-F238E27FC236}">
                <a16:creationId xmlns:a16="http://schemas.microsoft.com/office/drawing/2014/main" id="{6938868B-4CFD-434B-9886-E8882CE43A76}"/>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513" name="24-text-3">
            <a:extLst xmlns:a="http://schemas.openxmlformats.org/drawingml/2006/main">
              <a:ext uri="{FF2B5EF4-FFF2-40B4-BE49-F238E27FC236}">
                <a16:creationId xmlns:a16="http://schemas.microsoft.com/office/drawing/2014/main" id="{146AA4A1-EA44-4B43-B2DF-F221C749FF7F}"/>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Look before you build.</a:t>
            </a:r>
          </a:p>
        </p:txBody>
      </p:sp>
      <p:sp>
        <p:nvSpPr>
          <p:cNvPr id="514" name="24-shape-4">
            <a:extLst xmlns:a="http://schemas.openxmlformats.org/drawingml/2006/main">
              <a:ext uri="{FF2B5EF4-FFF2-40B4-BE49-F238E27FC236}">
                <a16:creationId xmlns:a16="http://schemas.microsoft.com/office/drawing/2014/main" id="{A1FF219E-AC97-478B-8275-620B49A2BB1E}"/>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15" name="24-text-5">
            <a:extLst xmlns:a="http://schemas.openxmlformats.org/drawingml/2006/main">
              <a:ext uri="{FF2B5EF4-FFF2-40B4-BE49-F238E27FC236}">
                <a16:creationId xmlns:a16="http://schemas.microsoft.com/office/drawing/2014/main" id="{CD62416A-366C-4BE6-8AD9-4FAD8D7D317F}"/>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16" name="24-text-6">
            <a:extLst xmlns:a="http://schemas.openxmlformats.org/drawingml/2006/main">
              <a:ext uri="{FF2B5EF4-FFF2-40B4-BE49-F238E27FC236}">
                <a16:creationId xmlns:a16="http://schemas.microsoft.com/office/drawing/2014/main" id="{0C6EC33E-FD40-4E5C-8C2E-558B2F77C54E}"/>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constrained.</a:t>
            </a:r>
          </a:p>
        </p:txBody>
      </p:sp>
      <p:sp>
        <p:nvSpPr>
          <p:cNvPr id="517" name="24-shape-7">
            <a:extLst xmlns:a="http://schemas.openxmlformats.org/drawingml/2006/main">
              <a:ext uri="{FF2B5EF4-FFF2-40B4-BE49-F238E27FC236}">
                <a16:creationId xmlns:a16="http://schemas.microsoft.com/office/drawing/2014/main" id="{91949390-F552-49BF-80D2-6F8EC09EABB3}"/>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18" name="24-text-8">
            <a:extLst xmlns:a="http://schemas.openxmlformats.org/drawingml/2006/main">
              <a:ext uri="{FF2B5EF4-FFF2-40B4-BE49-F238E27FC236}">
                <a16:creationId xmlns:a16="http://schemas.microsoft.com/office/drawing/2014/main" id="{866F656F-ACC7-4280-922A-7B190B0B9EFA}"/>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19" name="24-text-9">
            <a:extLst xmlns:a="http://schemas.openxmlformats.org/drawingml/2006/main">
              <a:ext uri="{FF2B5EF4-FFF2-40B4-BE49-F238E27FC236}">
                <a16:creationId xmlns:a16="http://schemas.microsoft.com/office/drawing/2014/main" id="{FD534665-290C-4995-8C63-65AFFBD1A8FF}"/>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Own the harness.</a:t>
            </a:r>
          </a:p>
        </p:txBody>
      </p:sp>
      <p:sp>
        <p:nvSpPr>
          <p:cNvPr id="520" name="24-shape-10">
            <a:extLst xmlns:a="http://schemas.openxmlformats.org/drawingml/2006/main">
              <a:ext uri="{FF2B5EF4-FFF2-40B4-BE49-F238E27FC236}">
                <a16:creationId xmlns:a16="http://schemas.microsoft.com/office/drawing/2014/main" id="{E9AC3A34-2E97-4AB6-9302-E584D618907C}"/>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21" name="24-text-11">
            <a:extLst xmlns:a="http://schemas.openxmlformats.org/drawingml/2006/main">
              <a:ext uri="{FF2B5EF4-FFF2-40B4-BE49-F238E27FC236}">
                <a16:creationId xmlns:a16="http://schemas.microsoft.com/office/drawing/2014/main" id="{8F4AE1FE-310A-44A6-8717-1F87295DFF02}"/>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522" name="24-text-12">
            <a:extLst xmlns:a="http://schemas.openxmlformats.org/drawingml/2006/main">
              <a:ext uri="{FF2B5EF4-FFF2-40B4-BE49-F238E27FC236}">
                <a16:creationId xmlns:a16="http://schemas.microsoft.com/office/drawing/2014/main" id="{4261D1F5-B1B9-4D9F-9226-43DB455A5405}"/>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as your evals earn it.</a:t>
            </a:r>
          </a:p>
        </p:txBody>
      </p:sp>
      <p:sp>
        <p:nvSpPr>
          <p:cNvPr id="523" name="narrative-number">
            <a:extLst xmlns:a="http://schemas.openxmlformats.org/drawingml/2006/main">
              <a:ext uri="{FF2B5EF4-FFF2-40B4-BE49-F238E27FC236}">
                <a16:creationId xmlns:a16="http://schemas.microsoft.com/office/drawing/2014/main" id="{4EDAB836-5EFE-47D6-A6BA-CB8AC6548C2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3060193057"/>
      </p:ext>
    </p:extLst>
  </p:cSld>
</p:sld>
</file>

<file path=ppt/slides/slide5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24" name="!!area-name">
            <a:extLst xmlns:a="http://schemas.openxmlformats.org/drawingml/2006/main">
              <a:ext uri="{FF2B5EF4-FFF2-40B4-BE49-F238E27FC236}">
                <a16:creationId xmlns:a16="http://schemas.microsoft.com/office/drawing/2014/main" id="{5E1F41FF-C0D1-41EC-A7EE-AE5F27226C7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534" name="mini-map"/>
          <p:cNvPicPr>
            <a:picLocks xmlns:a="http://schemas.openxmlformats.org/drawingml/2006/main" noChangeAspect="1"/>
          </p:cNvPicPr>
          <p:nvPr/>
        </p:nvPicPr>
        <p:blipFill>
          <a:blip xmlns:r="http://schemas.openxmlformats.org/officeDocument/2006/relationships" xmlns:a="http://schemas.openxmlformats.org/drawingml/2006/main" r:embed="R2579343fe127475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26" name="slide-title">
            <a:extLst xmlns:a="http://schemas.openxmlformats.org/drawingml/2006/main">
              <a:ext uri="{FF2B5EF4-FFF2-40B4-BE49-F238E27FC236}">
                <a16:creationId xmlns:a16="http://schemas.microsoft.com/office/drawing/2014/main" id="{D429323E-9918-42D2-BB54-3723763EC30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527" name="header-divider">
            <a:extLst xmlns:a="http://schemas.openxmlformats.org/drawingml/2006/main">
              <a:ext uri="{FF2B5EF4-FFF2-40B4-BE49-F238E27FC236}">
                <a16:creationId xmlns:a16="http://schemas.microsoft.com/office/drawing/2014/main" id="{35578215-89B6-48D4-9A20-FBC35DE032A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28" name="24-text-13">
            <a:extLst xmlns:a="http://schemas.openxmlformats.org/drawingml/2006/main">
              <a:ext uri="{FF2B5EF4-FFF2-40B4-BE49-F238E27FC236}">
                <a16:creationId xmlns:a16="http://schemas.microsoft.com/office/drawing/2014/main" id="{743060AD-B3D7-40BF-AC92-4339A759099B}"/>
              </a:ext>
            </a:extLst>
          </p:cNvPr>
          <p:cNvSpPr>
            <a:spLocks xmlns:a="http://schemas.openxmlformats.org/drawingml/2006/main"/>
          </p:cNvSpPr>
          <p:nvPr/>
        </p:nvSpPr>
        <p:spPr>
          <a:xfrm xmlns:a="http://schemas.openxmlformats.org/drawingml/2006/main">
            <a:off x="609600" y="2438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Review 20 to 50 outputs.</a:t>
            </a:r>
          </a:p>
        </p:txBody>
      </p:sp>
      <p:sp>
        <p:nvSpPr>
          <p:cNvPr id="529" name="24-text-14">
            <a:extLst xmlns:a="http://schemas.openxmlformats.org/drawingml/2006/main">
              <a:ext uri="{FF2B5EF4-FFF2-40B4-BE49-F238E27FC236}">
                <a16:creationId xmlns:a16="http://schemas.microsoft.com/office/drawing/2014/main" id="{9BCE28B7-421E-47CD-AD95-B732129DE082}"/>
              </a:ext>
            </a:extLst>
          </p:cNvPr>
          <p:cNvSpPr>
            <a:spLocks xmlns:a="http://schemas.openxmlformats.org/drawingml/2006/main"/>
          </p:cNvSpPr>
          <p:nvPr/>
        </p:nvSpPr>
        <p:spPr>
          <a:xfrm xmlns:a="http://schemas.openxmlformats.org/drawingml/2006/main">
            <a:off x="609600" y="3251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Record the input, observed behavior,</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expected behavior, and check.</a:t>
            </a:r>
          </a:p>
        </p:txBody>
      </p:sp>
      <p:sp>
        <p:nvSpPr>
          <p:cNvPr id="530" name="24-text-15">
            <a:extLst xmlns:a="http://schemas.openxmlformats.org/drawingml/2006/main">
              <a:ext uri="{FF2B5EF4-FFF2-40B4-BE49-F238E27FC236}">
                <a16:creationId xmlns:a16="http://schemas.microsoft.com/office/drawing/2014/main" id="{D2A4C1C0-BAE8-4A4A-8FA4-DAB12199D982}"/>
              </a:ext>
            </a:extLst>
          </p:cNvPr>
          <p:cNvSpPr>
            <a:spLocks xmlns:a="http://schemas.openxmlformats.org/drawingml/2006/main"/>
          </p:cNvSpPr>
          <p:nvPr/>
        </p:nvSpPr>
        <p:spPr>
          <a:xfrm xmlns:a="http://schemas.openxmlformats.org/drawingml/2006/main">
            <a:off x="609600" y="4343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callback. Use your own system’s outputs.</a:t>
            </a:r>
          </a:p>
        </p:txBody>
      </p:sp>
      <p:graphicFrame>
        <p:nvGraphicFramePr>
          <p:cNvPr id="540" name="24-table-16"/>
          <p:cNvGraphicFramePr/>
          <p:nvPr/>
        </p:nvGraphicFramePr>
        <p:xfrm>
          <a:off xmlns:a="http://schemas.openxmlformats.org/drawingml/2006/main" x="609600" y="4749800"/>
          <a:ext xmlns:a="http://schemas.openxmlformats.org/drawingml/2006/main" cx="10972800" cy="1371600"/>
        </p:xfrm>
        <a:graphic xmlns:a="http://schemas.openxmlformats.org/drawingml/2006/main">
          <a:graphicData uri="http://schemas.openxmlformats.org/drawingml/2006/table">
            <a:tbl>
              <a:tblPr firstRow="0" firstCol="0" lastCol="0" bandRow="0" bandCol="0"/>
              <a:tblGrid>
                <a:gridCol w="2743200"/>
                <a:gridCol w="2743200"/>
                <a:gridCol w="2743200"/>
                <a:gridCol w="2743200"/>
              </a:tblGrid>
              <a:tr h="406400">
                <a:tc>
                  <a:txBody>
                    <a:bodyPr>
                      <a:noAutofit/>
                    </a:bodyPr>
                    <a:lstStyle/>
                    <a:p>
                      <a:pPr>
                        <a:lnSpc>
                          <a:spcPct val="125000"/>
                        </a:lnSpc>
                        <a:buNone/>
                      </a:pPr>
                      <a:r>
                        <a:rPr sz="2000" b="1">
                          <a:solidFill>
                            <a:srgbClr val="01B66D"/>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Observed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FRB-042</a:t>
                      </a:r>
                    </a:p>
                    <a:p>
                      <a:pPr>
                        <a:lnSpc>
                          <a:spcPct val="125000"/>
                        </a:lnSpc>
                        <a:buNone/>
                      </a:pPr>
                      <a:r>
                        <a:rPr sz="2000" b="0">
                          <a:solidFill>
                            <a:srgbClr val="FFFCF5"/>
                          </a:solidFill>
                          <a:latin typeface="Helvetica"/>
                          <a:ea typeface="Helvetica"/>
                          <a:cs typeface="Helvetica"/>
                        </a:rPr>
                        <a:t>summary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Bearing wear</a:t>
                      </a:r>
                    </a:p>
                    <a:p>
                      <a:pPr>
                        <a:lnSpc>
                          <a:spcPct val="125000"/>
                        </a:lnSpc>
                        <a:buNone/>
                      </a:pPr>
                      <a:r>
                        <a:rPr sz="2000" b="0">
                          <a:solidFill>
                            <a:srgbClr val="FFFCF5"/>
                          </a:solidFill>
                          <a:latin typeface="Helvetica"/>
                          <a:ea typeface="Helvetica"/>
                          <a:cs typeface="Helvetica"/>
                        </a:rPr>
                        <a:t>confirmed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Cause remains</a:t>
                      </a:r>
                    </a:p>
                    <a:p>
                      <a:pPr>
                        <a:lnSpc>
                          <a:spcPct val="125000"/>
                        </a:lnSpc>
                        <a:buNone/>
                      </a:pPr>
                      <a:r>
                        <a:rPr sz="2000" b="0">
                          <a:solidFill>
                            <a:srgbClr val="FFFCF5"/>
                          </a:solidFill>
                          <a:latin typeface="Helvetica"/>
                          <a:ea typeface="Helvetica"/>
                          <a:cs typeface="Helvetica"/>
                        </a:rPr>
                        <a:t>unresolved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Does the source</a:t>
                      </a:r>
                    </a:p>
                    <a:p>
                      <a:pPr>
                        <a:lnSpc>
                          <a:spcPct val="125000"/>
                        </a:lnSpc>
                        <a:buNone/>
                      </a:pPr>
                      <a:r>
                        <a:rPr sz="2000" b="0">
                          <a:solidFill>
                            <a:srgbClr val="FFFCF5"/>
                          </a:solidFill>
                          <a:latin typeface="Helvetica"/>
                          <a:ea typeface="Helvetica"/>
                          <a:cs typeface="Helvetica"/>
                        </a:rPr>
                        <a:t>support the claim?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32" name="narrative-number">
            <a:extLst xmlns:a="http://schemas.openxmlformats.org/drawingml/2006/main">
              <a:ext uri="{FF2B5EF4-FFF2-40B4-BE49-F238E27FC236}">
                <a16:creationId xmlns:a16="http://schemas.microsoft.com/office/drawing/2014/main" id="{A65F024E-661D-4BEA-A9F1-BAAD8D19825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2220019176"/>
      </p:ext>
    </p:extLst>
  </p:cSld>
</p:sld>
</file>

<file path=ppt/slides/slide5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33" name="slide-title">
            <a:extLst xmlns:a="http://schemas.openxmlformats.org/drawingml/2006/main">
              <a:ext uri="{FF2B5EF4-FFF2-40B4-BE49-F238E27FC236}">
                <a16:creationId xmlns:a16="http://schemas.microsoft.com/office/drawing/2014/main" id="{180B4AA7-D684-4E5A-9D7F-23B08ACFC450}"/>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534" name="header-divider">
            <a:extLst xmlns:a="http://schemas.openxmlformats.org/drawingml/2006/main">
              <a:ext uri="{FF2B5EF4-FFF2-40B4-BE49-F238E27FC236}">
                <a16:creationId xmlns:a16="http://schemas.microsoft.com/office/drawing/2014/main" id="{315D6B77-D51B-4AD5-BD4D-A1CAE6D0EB08}"/>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35" name="25-text-1">
            <a:extLst xmlns:a="http://schemas.openxmlformats.org/drawingml/2006/main">
              <a:ext uri="{FF2B5EF4-FFF2-40B4-BE49-F238E27FC236}">
                <a16:creationId xmlns:a16="http://schemas.microsoft.com/office/drawing/2014/main" id="{46C243BC-3647-4550-B161-0F7789216FFB}"/>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536" name="25-text-2">
            <a:extLst xmlns:a="http://schemas.openxmlformats.org/drawingml/2006/main">
              <a:ext uri="{FF2B5EF4-FFF2-40B4-BE49-F238E27FC236}">
                <a16:creationId xmlns:a16="http://schemas.microsoft.com/office/drawing/2014/main" id="{9FC84011-5F36-4E7C-8288-83CB08DF1967}"/>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537" name="25-text-3">
            <a:extLst xmlns:a="http://schemas.openxmlformats.org/drawingml/2006/main">
              <a:ext uri="{FF2B5EF4-FFF2-40B4-BE49-F238E27FC236}">
                <a16:creationId xmlns:a16="http://schemas.microsoft.com/office/drawing/2014/main" id="{7E86CDC9-6149-4D1E-AF45-BA9FA7B546B0}"/>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538" name="25-text-4">
            <a:extLst xmlns:a="http://schemas.openxmlformats.org/drawingml/2006/main">
              <a:ext uri="{FF2B5EF4-FFF2-40B4-BE49-F238E27FC236}">
                <a16:creationId xmlns:a16="http://schemas.microsoft.com/office/drawing/2014/main" id="{EFD4DAE6-2CE9-4F30-B799-28A007A597EB}"/>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539" name="25-text-5">
            <a:extLst xmlns:a="http://schemas.openxmlformats.org/drawingml/2006/main">
              <a:ext uri="{FF2B5EF4-FFF2-40B4-BE49-F238E27FC236}">
                <a16:creationId xmlns:a16="http://schemas.microsoft.com/office/drawing/2014/main" id="{61EEF024-CC3E-4FD9-A2F0-CACACF237026}"/>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540" name="25-text-6">
            <a:extLst xmlns:a="http://schemas.openxmlformats.org/drawingml/2006/main">
              <a:ext uri="{FF2B5EF4-FFF2-40B4-BE49-F238E27FC236}">
                <a16:creationId xmlns:a16="http://schemas.microsoft.com/office/drawing/2014/main" id="{72D3BFF6-0F99-4F0A-8D93-DA37264A5EF9}"/>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541" name="25-text-7">
            <a:extLst xmlns:a="http://schemas.openxmlformats.org/drawingml/2006/main">
              <a:ext uri="{FF2B5EF4-FFF2-40B4-BE49-F238E27FC236}">
                <a16:creationId xmlns:a16="http://schemas.microsoft.com/office/drawing/2014/main" id="{AE6D2BA1-D6B3-4D76-AC72-0DB2A5589109}"/>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542" name="25-text-8">
            <a:extLst xmlns:a="http://schemas.openxmlformats.org/drawingml/2006/main">
              <a:ext uri="{FF2B5EF4-FFF2-40B4-BE49-F238E27FC236}">
                <a16:creationId xmlns:a16="http://schemas.microsoft.com/office/drawing/2014/main" id="{5522D2A6-6169-41A5-89BA-00F1C886E14C}"/>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543" name="25-text-9">
            <a:extLst xmlns:a="http://schemas.openxmlformats.org/drawingml/2006/main">
              <a:ext uri="{FF2B5EF4-FFF2-40B4-BE49-F238E27FC236}">
                <a16:creationId xmlns:a16="http://schemas.microsoft.com/office/drawing/2014/main" id="{1E5B8714-DC5B-46FE-9B15-D7FDEBA690B4}"/>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544" name="25-text-10">
            <a:extLst xmlns:a="http://schemas.openxmlformats.org/drawingml/2006/main">
              <a:ext uri="{FF2B5EF4-FFF2-40B4-BE49-F238E27FC236}">
                <a16:creationId xmlns:a16="http://schemas.microsoft.com/office/drawing/2014/main" id="{3AF51FC7-B951-4F2A-9211-EA9432609892}"/>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545" name="25-text-11">
            <a:extLst xmlns:a="http://schemas.openxmlformats.org/drawingml/2006/main">
              <a:ext uri="{FF2B5EF4-FFF2-40B4-BE49-F238E27FC236}">
                <a16:creationId xmlns:a16="http://schemas.microsoft.com/office/drawing/2014/main" id="{6AF8A973-C45D-457C-8E69-BFD7F19F99B8}"/>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546" name="25-text-12">
            <a:extLst xmlns:a="http://schemas.openxmlformats.org/drawingml/2006/main">
              <a:ext uri="{FF2B5EF4-FFF2-40B4-BE49-F238E27FC236}">
                <a16:creationId xmlns:a16="http://schemas.microsoft.com/office/drawing/2014/main" id="{640A7F6A-3D95-4522-8EFB-342290E32952}"/>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547" name="narrative-number">
            <a:extLst xmlns:a="http://schemas.openxmlformats.org/drawingml/2006/main">
              <a:ext uri="{FF2B5EF4-FFF2-40B4-BE49-F238E27FC236}">
                <a16:creationId xmlns:a16="http://schemas.microsoft.com/office/drawing/2014/main" id="{9C6D162A-D6FF-4210-A74D-037C3AA5C2C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2651375218"/>
      </p:ext>
    </p:extLst>
  </p:cSld>
</p:sld>
</file>

<file path=ppt/slides/slide5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48" name="26-text-1">
            <a:extLst xmlns:a="http://schemas.openxmlformats.org/drawingml/2006/main">
              <a:ext uri="{FF2B5EF4-FFF2-40B4-BE49-F238E27FC236}">
                <a16:creationId xmlns:a16="http://schemas.microsoft.com/office/drawing/2014/main" id="{175F9145-1EC2-496B-8CEE-32042D113E5E}"/>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549" name="26-text-2">
            <a:extLst xmlns:a="http://schemas.openxmlformats.org/drawingml/2006/main">
              <a:ext uri="{FF2B5EF4-FFF2-40B4-BE49-F238E27FC236}">
                <a16:creationId xmlns:a16="http://schemas.microsoft.com/office/drawing/2014/main" id="{7ABF3D6A-B81E-4055-B260-FC95E4829175}"/>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550" name="26-text-3">
            <a:extLst xmlns:a="http://schemas.openxmlformats.org/drawingml/2006/main">
              <a:ext uri="{FF2B5EF4-FFF2-40B4-BE49-F238E27FC236}">
                <a16:creationId xmlns:a16="http://schemas.microsoft.com/office/drawing/2014/main" id="{01288545-2EBB-4B5A-8AF3-7D3345BF34AD}"/>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551" name="narrative-number">
            <a:extLst xmlns:a="http://schemas.openxmlformats.org/drawingml/2006/main">
              <a:ext uri="{FF2B5EF4-FFF2-40B4-BE49-F238E27FC236}">
                <a16:creationId xmlns:a16="http://schemas.microsoft.com/office/drawing/2014/main" id="{A16F4537-2D2B-4EBE-BDB9-3C9E052E4A9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350550728"/>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2026-09-16T01:51:54.4120000Z</dcterms:created>
  <dcterms:modified xsi:type="dcterms:W3CDTF">2026-09-16T01:51:54.4120000Z</dcterms:modified>
</coreProperties>
</file>