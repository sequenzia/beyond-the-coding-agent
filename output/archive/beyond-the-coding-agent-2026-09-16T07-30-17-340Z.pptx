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Masters/slideMaster2.xml" ContentType="application/vnd.openxmlformats-officedocument.presentationml.slideMaster+xml"/>
  <Override PartName="/ppt/slideMasters/theme/theme3.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Masters/notesMaster1.xml" ContentType="application/vnd.openxmlformats-officedocument.presentationml.notesMaster+xml"/>
  <Override PartName="/ppt/notesMasters/theme/theme4.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Override PartName="/ppt/slides/slide22.xml" ContentType="application/vnd.openxmlformats-officedocument.presentationml.slide+xml"/>
  <Override PartName="/ppt/notesSlides/notesSlide22.xml" ContentType="application/vnd.openxmlformats-officedocument.presentationml.notesSlide+xml"/>
  <Override PartName="/ppt/slides/slide23.xml" ContentType="application/vnd.openxmlformats-officedocument.presentationml.slide+xml"/>
  <Override PartName="/ppt/notesSlides/notesSlide23.xml" ContentType="application/vnd.openxmlformats-officedocument.presentationml.notesSlide+xml"/>
  <Override PartName="/ppt/slides/slide24.xml" ContentType="application/vnd.openxmlformats-officedocument.presentationml.slide+xml"/>
  <Override PartName="/ppt/notesSlides/notesSlide24.xml" ContentType="application/vnd.openxmlformats-officedocument.presentationml.notesSlide+xml"/>
  <Override PartName="/ppt/slides/slide25.xml" ContentType="application/vnd.openxmlformats-officedocument.presentationml.slide+xml"/>
  <Override PartName="/ppt/notesSlides/notesSlide25.xml" ContentType="application/vnd.openxmlformats-officedocument.presentationml.notesSlide+xml"/>
  <Override PartName="/ppt/slides/slide26.xml" ContentType="application/vnd.openxmlformats-officedocument.presentationml.slide+xml"/>
  <Override PartName="/ppt/notesSlides/notesSlide26.xml" ContentType="application/vnd.openxmlformats-officedocument.presentationml.notesSlide+xml"/>
  <Override PartName="/ppt/slides/slide27.xml" ContentType="application/vnd.openxmlformats-officedocument.presentationml.slide+xml"/>
  <Override PartName="/ppt/notesSlides/notesSlide27.xml" ContentType="application/vnd.openxmlformats-officedocument.presentationml.notesSlide+xml"/>
  <Override PartName="/ppt/slides/slide28.xml" ContentType="application/vnd.openxmlformats-officedocument.presentationml.slide+xml"/>
  <Override PartName="/ppt/notesSlides/notesSlide28.xml" ContentType="application/vnd.openxmlformats-officedocument.presentationml.notesSlide+xml"/>
  <Override PartName="/ppt/slides/slide29.xml" ContentType="application/vnd.openxmlformats-officedocument.presentationml.slide+xml"/>
  <Override PartName="/ppt/notesSlides/notesSlide29.xml" ContentType="application/vnd.openxmlformats-officedocument.presentationml.notesSlide+xml"/>
  <Override PartName="/ppt/slides/slide30.xml" ContentType="application/vnd.openxmlformats-officedocument.presentationml.slide+xml"/>
  <Override PartName="/ppt/notesSlides/notesSlide30.xml" ContentType="application/vnd.openxmlformats-officedocument.presentationml.notesSlide+xml"/>
  <Override PartName="/ppt/slides/slide31.xml" ContentType="application/vnd.openxmlformats-officedocument.presentationml.slide+xml"/>
  <Override PartName="/ppt/notesSlides/notesSlide31.xml" ContentType="application/vnd.openxmlformats-officedocument.presentationml.notesSlide+xml"/>
  <Override PartName="/ppt/slides/slide32.xml" ContentType="application/vnd.openxmlformats-officedocument.presentationml.slide+xml"/>
  <Override PartName="/ppt/notesSlides/notesSlide32.xml" ContentType="application/vnd.openxmlformats-officedocument.presentationml.notesSlide+xml"/>
  <Override PartName="/ppt/slides/slide33.xml" ContentType="application/vnd.openxmlformats-officedocument.presentationml.slide+xml"/>
  <Override PartName="/ppt/notesSlides/notesSlide33.xml" ContentType="application/vnd.openxmlformats-officedocument.presentationml.notesSlide+xml"/>
  <Override PartName="/ppt/slides/slide34.xml" ContentType="application/vnd.openxmlformats-officedocument.presentationml.slide+xml"/>
  <Override PartName="/ppt/notesSlides/notesSlide34.xml" ContentType="application/vnd.openxmlformats-officedocument.presentationml.notesSlide+xml"/>
  <Override PartName="/ppt/slides/slide35.xml" ContentType="application/vnd.openxmlformats-officedocument.presentationml.slide+xml"/>
  <Override PartName="/ppt/notesSlides/notesSlide35.xml" ContentType="application/vnd.openxmlformats-officedocument.presentationml.notesSlide+xml"/>
  <Override PartName="/ppt/slides/slide36.xml" ContentType="application/vnd.openxmlformats-officedocument.presentationml.slide+xml"/>
  <Override PartName="/ppt/notesSlides/notesSlide36.xml" ContentType="application/vnd.openxmlformats-officedocument.presentationml.notesSlide+xml"/>
  <Override PartName="/ppt/slides/slide37.xml" ContentType="application/vnd.openxmlformats-officedocument.presentationml.slide+xml"/>
  <Override PartName="/ppt/notesSlides/notesSlide37.xml" ContentType="application/vnd.openxmlformats-officedocument.presentationml.notesSlide+xml"/>
  <Override PartName="/ppt/slides/slide38.xml" ContentType="application/vnd.openxmlformats-officedocument.presentationml.slide+xml"/>
  <Override PartName="/ppt/notesSlides/notesSlide38.xml" ContentType="application/vnd.openxmlformats-officedocument.presentationml.notesSlide+xml"/>
  <Override PartName="/ppt/slides/slide39.xml" ContentType="application/vnd.openxmlformats-officedocument.presentationml.slide+xml"/>
  <Override PartName="/ppt/notesSlides/notesSlide39.xml" ContentType="application/vnd.openxmlformats-officedocument.presentationml.notesSlide+xml"/>
  <Override PartName="/ppt/slides/slide40.xml" ContentType="application/vnd.openxmlformats-officedocument.presentationml.slide+xml"/>
  <Override PartName="/ppt/notesSlides/notesSlide40.xml" ContentType="application/vnd.openxmlformats-officedocument.presentationml.notesSlide+xml"/>
  <Override PartName="/ppt/slides/slide41.xml" ContentType="application/vnd.openxmlformats-officedocument.presentationml.slide+xml"/>
  <Override PartName="/ppt/notesSlides/notesSlide41.xml" ContentType="application/vnd.openxmlformats-officedocument.presentationml.notesSlide+xml"/>
  <Override PartName="/ppt/slides/slide42.xml" ContentType="application/vnd.openxmlformats-officedocument.presentationml.slide+xml"/>
  <Override PartName="/ppt/notesSlides/notesSlide42.xml" ContentType="application/vnd.openxmlformats-officedocument.presentationml.notesSlide+xml"/>
  <Override PartName="/ppt/slides/slide43.xml" ContentType="application/vnd.openxmlformats-officedocument.presentationml.slide+xml"/>
  <Override PartName="/ppt/notesSlides/notesSlide43.xml" ContentType="application/vnd.openxmlformats-officedocument.presentationml.notesSlide+xml"/>
  <Override PartName="/ppt/slides/slide44.xml" ContentType="application/vnd.openxmlformats-officedocument.presentationml.slide+xml"/>
  <Override PartName="/ppt/notesSlides/notesSlide44.xml" ContentType="application/vnd.openxmlformats-officedocument.presentationml.notesSlide+xml"/>
  <Override PartName="/ppt/slides/slide45.xml" ContentType="application/vnd.openxmlformats-officedocument.presentationml.slide+xml"/>
  <Override PartName="/ppt/notesSlides/notesSlide45.xml" ContentType="application/vnd.openxmlformats-officedocument.presentationml.notesSlide+xml"/>
  <Override PartName="/ppt/slides/slide46.xml" ContentType="application/vnd.openxmlformats-officedocument.presentationml.slide+xml"/>
  <Override PartName="/ppt/notesSlides/notesSlide46.xml" ContentType="application/vnd.openxmlformats-officedocument.presentationml.notesSlide+xml"/>
  <Override PartName="/ppt/slides/slide47.xml" ContentType="application/vnd.openxmlformats-officedocument.presentationml.slide+xml"/>
  <Override PartName="/ppt/notesSlides/notesSlide47.xml" ContentType="application/vnd.openxmlformats-officedocument.presentationml.notesSlide+xml"/>
  <Override PartName="/ppt/slides/slide48.xml" ContentType="application/vnd.openxmlformats-officedocument.presentationml.slide+xml"/>
  <Override PartName="/ppt/notesSlides/notesSlide48.xml" ContentType="application/vnd.openxmlformats-officedocument.presentationml.notesSlide+xml"/>
  <Override PartName="/ppt/slides/slide49.xml" ContentType="application/vnd.openxmlformats-officedocument.presentationml.slide+xml"/>
  <Override PartName="/ppt/notesSlides/notesSlide49.xml" ContentType="application/vnd.openxmlformats-officedocument.presentationml.notesSlide+xml"/>
  <Override PartName="/ppt/slides/slide50.xml" ContentType="application/vnd.openxmlformats-officedocument.presentationml.slide+xml"/>
  <Override PartName="/ppt/notesSlides/notesSlide50.xml" ContentType="application/vnd.openxmlformats-officedocument.presentationml.notesSlide+xml"/>
  <Override PartName="/ppt/slides/slide51.xml" ContentType="application/vnd.openxmlformats-officedocument.presentationml.slide+xml"/>
  <Override PartName="/ppt/notesSlides/notesSlide51.xml" ContentType="application/vnd.openxmlformats-officedocument.presentationml.notesSlide+xml"/>
  <Override PartName="/ppt/slides/slide52.xml" ContentType="application/vnd.openxmlformats-officedocument.presentationml.slide+xml"/>
  <Override PartName="/ppt/notesSlides/notesSlide52.xml" ContentType="application/vnd.openxmlformats-officedocument.presentationml.notesSlide+xml"/>
  <Override PartName="/ppt/slides/slide53.xml" ContentType="application/vnd.openxmlformats-officedocument.presentationml.slide+xml"/>
  <Override PartName="/ppt/notesSlides/notesSlide53.xml" ContentType="application/vnd.openxmlformats-officedocument.presentationml.notesSlide+xml"/>
  <Override PartName="/ppt/slides/slide54.xml" ContentType="application/vnd.openxmlformats-officedocument.presentationml.slide+xml"/>
  <Override PartName="/ppt/notesSlides/notesSlide54.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ef9f6550886544bc" /><Relationship Type="http://schemas.openxmlformats.org/officeDocument/2006/relationships/extended-properties" Target="/docProps/app.xml" Id="R5c4239c150544873" /><Relationship Type="http://schemas.openxmlformats.org/officeDocument/2006/relationships/officeDocument" Target="/ppt/presentation.xml" Id="Rba9290aabaf545cc" /></Relationships>
</file>

<file path=ppt/presentation.xml><?xml version="1.0" encoding="utf-8"?>
<p:presentation xmlns:p="http://schemas.openxmlformats.org/presentationml/2006/main" autoCompressPictures="0" embedTrueTypeFonts="0" saveSubsetFonts="0">
  <p:sldMasterIdLst>
    <p:sldMasterId xmlns:r="http://schemas.openxmlformats.org/officeDocument/2006/relationships" id="2147483648" r:id="Ra447a5cfcb65444c"/>
    <p:sldMasterId xmlns:r="http://schemas.openxmlformats.org/officeDocument/2006/relationships" id="2147483650" r:id="R963dbe23e9704ff9"/>
  </p:sldMasterIdLst>
  <p:notesMasterIdLst>
    <p:notesMasterId xmlns:r="http://schemas.openxmlformats.org/officeDocument/2006/relationships" r:id="Rbd4a653c03e44f41"/>
  </p:notesMasterIdLst>
  <p:sldIdLst>
    <p:sldId xmlns:r="http://schemas.openxmlformats.org/officeDocument/2006/relationships" id="256" r:id="Rb0b463082dc54e31"/>
    <p:sldId xmlns:r="http://schemas.openxmlformats.org/officeDocument/2006/relationships" id="257" r:id="R3787bfb7799749da"/>
    <p:sldId xmlns:r="http://schemas.openxmlformats.org/officeDocument/2006/relationships" id="258" r:id="Rb9c4b46a81d04d30"/>
    <p:sldId xmlns:r="http://schemas.openxmlformats.org/officeDocument/2006/relationships" id="259" r:id="R71613ff34ca840aa"/>
    <p:sldId xmlns:r="http://schemas.openxmlformats.org/officeDocument/2006/relationships" id="260" r:id="R1fd82e560d6049d9"/>
    <p:sldId xmlns:r="http://schemas.openxmlformats.org/officeDocument/2006/relationships" id="261" r:id="Rc43bfb89d8584e16"/>
    <p:sldId xmlns:r="http://schemas.openxmlformats.org/officeDocument/2006/relationships" id="262" r:id="R76741e1ac30144ad"/>
    <p:sldId xmlns:r="http://schemas.openxmlformats.org/officeDocument/2006/relationships" id="263" r:id="R4c9f1dfa67724378"/>
    <p:sldId xmlns:r="http://schemas.openxmlformats.org/officeDocument/2006/relationships" id="264" r:id="Rec8202888ba44574"/>
    <p:sldId xmlns:r="http://schemas.openxmlformats.org/officeDocument/2006/relationships" id="265" r:id="Ra13b443400a14f9b"/>
    <p:sldId xmlns:r="http://schemas.openxmlformats.org/officeDocument/2006/relationships" id="266" r:id="Rdd38c1f133ec41f8"/>
    <p:sldId xmlns:r="http://schemas.openxmlformats.org/officeDocument/2006/relationships" id="267" r:id="R4d63a983d3e141e9"/>
    <p:sldId xmlns:r="http://schemas.openxmlformats.org/officeDocument/2006/relationships" id="268" r:id="Rd0daf047f38b4cde"/>
    <p:sldId xmlns:r="http://schemas.openxmlformats.org/officeDocument/2006/relationships" id="269" r:id="R36bd4f0eb3ea484b"/>
    <p:sldId xmlns:r="http://schemas.openxmlformats.org/officeDocument/2006/relationships" id="270" r:id="Ra6aede27ff454f57"/>
    <p:sldId xmlns:r="http://schemas.openxmlformats.org/officeDocument/2006/relationships" id="271" r:id="Rbcb715ea87c94787"/>
    <p:sldId xmlns:r="http://schemas.openxmlformats.org/officeDocument/2006/relationships" id="272" r:id="R4191fa13995347dd"/>
    <p:sldId xmlns:r="http://schemas.openxmlformats.org/officeDocument/2006/relationships" id="273" r:id="R61906e51a689423f"/>
    <p:sldId xmlns:r="http://schemas.openxmlformats.org/officeDocument/2006/relationships" id="274" r:id="R76f375551f6540fe"/>
    <p:sldId xmlns:r="http://schemas.openxmlformats.org/officeDocument/2006/relationships" id="275" r:id="Rb070c825b3ea4f0e"/>
    <p:sldId xmlns:r="http://schemas.openxmlformats.org/officeDocument/2006/relationships" id="276" r:id="Rd36566aef8504dfb"/>
    <p:sldId xmlns:r="http://schemas.openxmlformats.org/officeDocument/2006/relationships" id="277" r:id="Rea28d6439c8e4763"/>
    <p:sldId xmlns:r="http://schemas.openxmlformats.org/officeDocument/2006/relationships" id="278" r:id="R23477b795757465f"/>
    <p:sldId xmlns:r="http://schemas.openxmlformats.org/officeDocument/2006/relationships" id="279" r:id="R8d92ac09b413441a"/>
    <p:sldId xmlns:r="http://schemas.openxmlformats.org/officeDocument/2006/relationships" id="280" r:id="Ra1f02aa279a346a5"/>
    <p:sldId xmlns:r="http://schemas.openxmlformats.org/officeDocument/2006/relationships" id="281" r:id="Rb2104823f9fc4e81"/>
    <p:sldId xmlns:r="http://schemas.openxmlformats.org/officeDocument/2006/relationships" id="282" r:id="R7b29e35f6d8d4321"/>
    <p:sldId xmlns:r="http://schemas.openxmlformats.org/officeDocument/2006/relationships" id="283" r:id="Re22fc1cc483b488c"/>
    <p:sldId xmlns:r="http://schemas.openxmlformats.org/officeDocument/2006/relationships" id="284" r:id="R59c91cf660184b38"/>
    <p:sldId xmlns:r="http://schemas.openxmlformats.org/officeDocument/2006/relationships" id="285" r:id="R0a7905b4575147a6"/>
    <p:sldId xmlns:r="http://schemas.openxmlformats.org/officeDocument/2006/relationships" id="286" r:id="R84c5fd80a0444613"/>
    <p:sldId xmlns:r="http://schemas.openxmlformats.org/officeDocument/2006/relationships" id="287" r:id="R20271060ad924df8"/>
    <p:sldId xmlns:r="http://schemas.openxmlformats.org/officeDocument/2006/relationships" id="288" r:id="R2cc1ef9515e0428b"/>
    <p:sldId xmlns:r="http://schemas.openxmlformats.org/officeDocument/2006/relationships" id="289" r:id="Rdea27608a4c2418e"/>
    <p:sldId xmlns:r="http://schemas.openxmlformats.org/officeDocument/2006/relationships" id="290" r:id="Rbc9f219dd9d54330"/>
    <p:sldId xmlns:r="http://schemas.openxmlformats.org/officeDocument/2006/relationships" id="291" r:id="Rb99a4271e1d647fd"/>
    <p:sldId xmlns:r="http://schemas.openxmlformats.org/officeDocument/2006/relationships" id="292" r:id="R11247a7e78ad4d0a"/>
    <p:sldId xmlns:r="http://schemas.openxmlformats.org/officeDocument/2006/relationships" id="293" r:id="Re19e19ba6fed4097"/>
    <p:sldId xmlns:r="http://schemas.openxmlformats.org/officeDocument/2006/relationships" id="294" r:id="Ra23fdbd228354969"/>
    <p:sldId xmlns:r="http://schemas.openxmlformats.org/officeDocument/2006/relationships" id="295" r:id="R3b84066cef534062"/>
    <p:sldId xmlns:r="http://schemas.openxmlformats.org/officeDocument/2006/relationships" id="296" r:id="Rd1de325c17534011"/>
    <p:sldId xmlns:r="http://schemas.openxmlformats.org/officeDocument/2006/relationships" id="297" r:id="Rb645892581984943"/>
    <p:sldId xmlns:r="http://schemas.openxmlformats.org/officeDocument/2006/relationships" id="298" r:id="R882cbb4234bd4cae"/>
    <p:sldId xmlns:r="http://schemas.openxmlformats.org/officeDocument/2006/relationships" id="299" r:id="R4971ef589653441f"/>
    <p:sldId xmlns:r="http://schemas.openxmlformats.org/officeDocument/2006/relationships" id="300" r:id="Rfcdeb4764901491c"/>
    <p:sldId xmlns:r="http://schemas.openxmlformats.org/officeDocument/2006/relationships" id="301" r:id="Rdd47464466e948f3"/>
    <p:sldId xmlns:r="http://schemas.openxmlformats.org/officeDocument/2006/relationships" id="302" r:id="R85212569a0644469"/>
    <p:sldId xmlns:r="http://schemas.openxmlformats.org/officeDocument/2006/relationships" id="303" r:id="Re315cc7562f74707"/>
    <p:sldId xmlns:r="http://schemas.openxmlformats.org/officeDocument/2006/relationships" id="304" r:id="R35efda91aa484e7a"/>
    <p:sldId xmlns:r="http://schemas.openxmlformats.org/officeDocument/2006/relationships" id="305" r:id="R7aec3f9fd20d43ec"/>
    <p:sldId xmlns:r="http://schemas.openxmlformats.org/officeDocument/2006/relationships" id="306" r:id="Rb98fe04bd3cf45f5"/>
    <p:sldId xmlns:r="http://schemas.openxmlformats.org/officeDocument/2006/relationships" id="307" r:id="Ra891f2d0cee9443f"/>
    <p:sldId xmlns:r="http://schemas.openxmlformats.org/officeDocument/2006/relationships" id="308" r:id="R3a047ea25f7b469a"/>
    <p:sldId xmlns:r="http://schemas.openxmlformats.org/officeDocument/2006/relationships" id="309" r:id="R25b53943e6864027"/>
  </p:sldIdLst>
  <p:sldSz cx="12192000" cy="6858000" type="screen16x9"/>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51d295d2aa3b4a75" /><Relationship Type="http://schemas.openxmlformats.org/officeDocument/2006/relationships/slideMaster" Target="/ppt/slideMasters/slideMaster1.xml" Id="Ra447a5cfcb65444c" /><Relationship Type="http://schemas.openxmlformats.org/officeDocument/2006/relationships/slideMaster" Target="/ppt/slideMasters/slideMaster2.xml" Id="R963dbe23e9704ff9" /><Relationship Type="http://schemas.openxmlformats.org/officeDocument/2006/relationships/notesMaster" Target="/ppt/notesMasters/notesMaster1.xml" Id="Rbd4a653c03e44f41" /><Relationship Type="http://schemas.openxmlformats.org/officeDocument/2006/relationships/presProps" Target="/ppt/presProps.xml" Id="Rca4c69c1f6b34f69" /><Relationship Type="http://schemas.openxmlformats.org/officeDocument/2006/relationships/tableStyles" Target="/ppt/tableStyles.xml" Id="Rcfd8155f0a0340fd" /><Relationship Type="http://schemas.openxmlformats.org/officeDocument/2006/relationships/slide" Target="/ppt/slides/slide1.xml" Id="Rb0b463082dc54e31" /><Relationship Type="http://schemas.openxmlformats.org/officeDocument/2006/relationships/slide" Target="/ppt/slides/slide2.xml" Id="R3787bfb7799749da" /><Relationship Type="http://schemas.openxmlformats.org/officeDocument/2006/relationships/slide" Target="/ppt/slides/slide3.xml" Id="Rb9c4b46a81d04d30" /><Relationship Type="http://schemas.openxmlformats.org/officeDocument/2006/relationships/slide" Target="/ppt/slides/slide4.xml" Id="R71613ff34ca840aa" /><Relationship Type="http://schemas.openxmlformats.org/officeDocument/2006/relationships/slide" Target="/ppt/slides/slide5.xml" Id="R1fd82e560d6049d9" /><Relationship Type="http://schemas.openxmlformats.org/officeDocument/2006/relationships/slide" Target="/ppt/slides/slide6.xml" Id="Rc43bfb89d8584e16" /><Relationship Type="http://schemas.openxmlformats.org/officeDocument/2006/relationships/slide" Target="/ppt/slides/slide7.xml" Id="R76741e1ac30144ad" /><Relationship Type="http://schemas.openxmlformats.org/officeDocument/2006/relationships/slide" Target="/ppt/slides/slide8.xml" Id="R4c9f1dfa67724378" /><Relationship Type="http://schemas.openxmlformats.org/officeDocument/2006/relationships/slide" Target="/ppt/slides/slide9.xml" Id="Rec8202888ba44574" /><Relationship Type="http://schemas.openxmlformats.org/officeDocument/2006/relationships/slide" Target="/ppt/slides/slide10.xml" Id="Ra13b443400a14f9b" /><Relationship Type="http://schemas.openxmlformats.org/officeDocument/2006/relationships/slide" Target="/ppt/slides/slide11.xml" Id="Rdd38c1f133ec41f8" /><Relationship Type="http://schemas.openxmlformats.org/officeDocument/2006/relationships/slide" Target="/ppt/slides/slide12.xml" Id="R4d63a983d3e141e9" /><Relationship Type="http://schemas.openxmlformats.org/officeDocument/2006/relationships/slide" Target="/ppt/slides/slide13.xml" Id="Rd0daf047f38b4cde" /><Relationship Type="http://schemas.openxmlformats.org/officeDocument/2006/relationships/slide" Target="/ppt/slides/slide14.xml" Id="R36bd4f0eb3ea484b" /><Relationship Type="http://schemas.openxmlformats.org/officeDocument/2006/relationships/slide" Target="/ppt/slides/slide15.xml" Id="Ra6aede27ff454f57" /><Relationship Type="http://schemas.openxmlformats.org/officeDocument/2006/relationships/slide" Target="/ppt/slides/slide16.xml" Id="Rbcb715ea87c94787" /><Relationship Type="http://schemas.openxmlformats.org/officeDocument/2006/relationships/slide" Target="/ppt/slides/slide17.xml" Id="R4191fa13995347dd" /><Relationship Type="http://schemas.openxmlformats.org/officeDocument/2006/relationships/slide" Target="/ppt/slides/slide18.xml" Id="R61906e51a689423f" /><Relationship Type="http://schemas.openxmlformats.org/officeDocument/2006/relationships/slide" Target="/ppt/slides/slide19.xml" Id="R76f375551f6540fe" /><Relationship Type="http://schemas.openxmlformats.org/officeDocument/2006/relationships/slide" Target="/ppt/slides/slide20.xml" Id="Rb070c825b3ea4f0e" /><Relationship Type="http://schemas.openxmlformats.org/officeDocument/2006/relationships/slide" Target="/ppt/slides/slide21.xml" Id="Rd36566aef8504dfb" /><Relationship Type="http://schemas.openxmlformats.org/officeDocument/2006/relationships/slide" Target="/ppt/slides/slide22.xml" Id="Rea28d6439c8e4763" /><Relationship Type="http://schemas.openxmlformats.org/officeDocument/2006/relationships/slide" Target="/ppt/slides/slide23.xml" Id="R23477b795757465f" /><Relationship Type="http://schemas.openxmlformats.org/officeDocument/2006/relationships/slide" Target="/ppt/slides/slide24.xml" Id="R8d92ac09b413441a" /><Relationship Type="http://schemas.openxmlformats.org/officeDocument/2006/relationships/slide" Target="/ppt/slides/slide25.xml" Id="Ra1f02aa279a346a5" /><Relationship Type="http://schemas.openxmlformats.org/officeDocument/2006/relationships/slide" Target="/ppt/slides/slide26.xml" Id="Rb2104823f9fc4e81" /><Relationship Type="http://schemas.openxmlformats.org/officeDocument/2006/relationships/slide" Target="/ppt/slides/slide27.xml" Id="R7b29e35f6d8d4321" /><Relationship Type="http://schemas.openxmlformats.org/officeDocument/2006/relationships/slide" Target="/ppt/slides/slide28.xml" Id="Re22fc1cc483b488c" /><Relationship Type="http://schemas.openxmlformats.org/officeDocument/2006/relationships/slide" Target="/ppt/slides/slide29.xml" Id="R59c91cf660184b38" /><Relationship Type="http://schemas.openxmlformats.org/officeDocument/2006/relationships/slide" Target="/ppt/slides/slide30.xml" Id="R0a7905b4575147a6" /><Relationship Type="http://schemas.openxmlformats.org/officeDocument/2006/relationships/slide" Target="/ppt/slides/slide31.xml" Id="R84c5fd80a0444613" /><Relationship Type="http://schemas.openxmlformats.org/officeDocument/2006/relationships/slide" Target="/ppt/slides/slide32.xml" Id="R20271060ad924df8" /><Relationship Type="http://schemas.openxmlformats.org/officeDocument/2006/relationships/slide" Target="/ppt/slides/slide33.xml" Id="R2cc1ef9515e0428b" /><Relationship Type="http://schemas.openxmlformats.org/officeDocument/2006/relationships/slide" Target="/ppt/slides/slide34.xml" Id="Rdea27608a4c2418e" /><Relationship Type="http://schemas.openxmlformats.org/officeDocument/2006/relationships/slide" Target="/ppt/slides/slide35.xml" Id="Rbc9f219dd9d54330" /><Relationship Type="http://schemas.openxmlformats.org/officeDocument/2006/relationships/slide" Target="/ppt/slides/slide36.xml" Id="Rb99a4271e1d647fd" /><Relationship Type="http://schemas.openxmlformats.org/officeDocument/2006/relationships/slide" Target="/ppt/slides/slide37.xml" Id="R11247a7e78ad4d0a" /><Relationship Type="http://schemas.openxmlformats.org/officeDocument/2006/relationships/slide" Target="/ppt/slides/slide38.xml" Id="Re19e19ba6fed4097" /><Relationship Type="http://schemas.openxmlformats.org/officeDocument/2006/relationships/slide" Target="/ppt/slides/slide39.xml" Id="Ra23fdbd228354969" /><Relationship Type="http://schemas.openxmlformats.org/officeDocument/2006/relationships/slide" Target="/ppt/slides/slide40.xml" Id="R3b84066cef534062" /><Relationship Type="http://schemas.openxmlformats.org/officeDocument/2006/relationships/slide" Target="/ppt/slides/slide41.xml" Id="Rd1de325c17534011" /><Relationship Type="http://schemas.openxmlformats.org/officeDocument/2006/relationships/slide" Target="/ppt/slides/slide42.xml" Id="Rb645892581984943" /><Relationship Type="http://schemas.openxmlformats.org/officeDocument/2006/relationships/slide" Target="/ppt/slides/slide43.xml" Id="R882cbb4234bd4cae" /><Relationship Type="http://schemas.openxmlformats.org/officeDocument/2006/relationships/slide" Target="/ppt/slides/slide44.xml" Id="R4971ef589653441f" /><Relationship Type="http://schemas.openxmlformats.org/officeDocument/2006/relationships/slide" Target="/ppt/slides/slide45.xml" Id="Rfcdeb4764901491c" /><Relationship Type="http://schemas.openxmlformats.org/officeDocument/2006/relationships/slide" Target="/ppt/slides/slide46.xml" Id="Rdd47464466e948f3" /><Relationship Type="http://schemas.openxmlformats.org/officeDocument/2006/relationships/slide" Target="/ppt/slides/slide47.xml" Id="R85212569a0644469" /><Relationship Type="http://schemas.openxmlformats.org/officeDocument/2006/relationships/slide" Target="/ppt/slides/slide48.xml" Id="Re315cc7562f74707" /><Relationship Type="http://schemas.openxmlformats.org/officeDocument/2006/relationships/slide" Target="/ppt/slides/slide49.xml" Id="R35efda91aa484e7a" /><Relationship Type="http://schemas.openxmlformats.org/officeDocument/2006/relationships/slide" Target="/ppt/slides/slide50.xml" Id="R7aec3f9fd20d43ec" /><Relationship Type="http://schemas.openxmlformats.org/officeDocument/2006/relationships/slide" Target="/ppt/slides/slide51.xml" Id="Rb98fe04bd3cf45f5" /><Relationship Type="http://schemas.openxmlformats.org/officeDocument/2006/relationships/slide" Target="/ppt/slides/slide52.xml" Id="Ra891f2d0cee9443f" /><Relationship Type="http://schemas.openxmlformats.org/officeDocument/2006/relationships/slide" Target="/ppt/slides/slide53.xml" Id="R3a047ea25f7b469a" /><Relationship Type="http://schemas.openxmlformats.org/officeDocument/2006/relationships/slide" Target="/ppt/slides/slide54.xml" Id="R25b53943e686402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4.xml" Id="R82f6d10982db4ca4"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4.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757867c771424ad3" /><Relationship Type="http://schemas.openxmlformats.org/officeDocument/2006/relationships/notesMaster" Target="/ppt/notesMasters/notesMaster1.xml" Id="Rddaa35608d9b41d1" /></Relationships>
</file>

<file path=ppt/notesSlides/_rels/notesSlide2.xml.rels>&#65279;<?xml version="1.0" encoding="utf-8"?><Relationships xmlns="http://schemas.openxmlformats.org/package/2006/relationships"><Relationship Type="http://schemas.openxmlformats.org/officeDocument/2006/relationships/slide" Target="/ppt/slides/slide2.xml" Id="Ra4163f86aaa546d8" /><Relationship Type="http://schemas.openxmlformats.org/officeDocument/2006/relationships/notesMaster" Target="/ppt/notesMasters/notesMaster1.xml" Id="R8de76103eddb4980" /></Relationships>
</file>

<file path=ppt/notesSlides/_rels/notesSlide3.xml.rels>&#65279;<?xml version="1.0" encoding="utf-8"?><Relationships xmlns="http://schemas.openxmlformats.org/package/2006/relationships"><Relationship Type="http://schemas.openxmlformats.org/officeDocument/2006/relationships/slide" Target="/ppt/slides/slide3.xml" Id="Rfffe3e89891d4c3d" /><Relationship Type="http://schemas.openxmlformats.org/officeDocument/2006/relationships/notesMaster" Target="/ppt/notesMasters/notesMaster1.xml" Id="R2c2f79d905b146ac" /></Relationships>
</file>

<file path=ppt/notesSlides/_rels/notesSlide4.xml.rels>&#65279;<?xml version="1.0" encoding="utf-8"?><Relationships xmlns="http://schemas.openxmlformats.org/package/2006/relationships"><Relationship Type="http://schemas.openxmlformats.org/officeDocument/2006/relationships/slide" Target="/ppt/slides/slide4.xml" Id="Re7cb768d98ce4c37" /><Relationship Type="http://schemas.openxmlformats.org/officeDocument/2006/relationships/notesMaster" Target="/ppt/notesMasters/notesMaster1.xml" Id="Rfb25152f31a7487c" /></Relationships>
</file>

<file path=ppt/notesSlides/_rels/notesSlide5.xml.rels>&#65279;<?xml version="1.0" encoding="utf-8"?><Relationships xmlns="http://schemas.openxmlformats.org/package/2006/relationships"><Relationship Type="http://schemas.openxmlformats.org/officeDocument/2006/relationships/slide" Target="/ppt/slides/slide5.xml" Id="R73e197cfa22248ee" /><Relationship Type="http://schemas.openxmlformats.org/officeDocument/2006/relationships/notesMaster" Target="/ppt/notesMasters/notesMaster1.xml" Id="R01e692da8c204f69" /></Relationships>
</file>

<file path=ppt/notesSlides/_rels/notesSlide6.xml.rels>&#65279;<?xml version="1.0" encoding="utf-8"?><Relationships xmlns="http://schemas.openxmlformats.org/package/2006/relationships"><Relationship Type="http://schemas.openxmlformats.org/officeDocument/2006/relationships/slide" Target="/ppt/slides/slide6.xml" Id="Rb248009c5baa454d" /><Relationship Type="http://schemas.openxmlformats.org/officeDocument/2006/relationships/notesMaster" Target="/ppt/notesMasters/notesMaster1.xml" Id="Rd8fe1865068e473f" /></Relationships>
</file>

<file path=ppt/notesSlides/_rels/notesSlide7.xml.rels>&#65279;<?xml version="1.0" encoding="utf-8"?><Relationships xmlns="http://schemas.openxmlformats.org/package/2006/relationships"><Relationship Type="http://schemas.openxmlformats.org/officeDocument/2006/relationships/slide" Target="/ppt/slides/slide7.xml" Id="R1bccd532d99b40ca" /><Relationship Type="http://schemas.openxmlformats.org/officeDocument/2006/relationships/notesMaster" Target="/ppt/notesMasters/notesMaster1.xml" Id="R4ad0ea20cabc438e" /></Relationships>
</file>

<file path=ppt/notesSlides/_rels/notesSlide8.xml.rels>&#65279;<?xml version="1.0" encoding="utf-8"?><Relationships xmlns="http://schemas.openxmlformats.org/package/2006/relationships"><Relationship Type="http://schemas.openxmlformats.org/officeDocument/2006/relationships/slide" Target="/ppt/slides/slide8.xml" Id="R3b227a054e994361" /><Relationship Type="http://schemas.openxmlformats.org/officeDocument/2006/relationships/notesMaster" Target="/ppt/notesMasters/notesMaster1.xml" Id="Rc2f0704569a54265" /></Relationships>
</file>

<file path=ppt/notesSlides/_rels/notesSlide9.xml.rels>&#65279;<?xml version="1.0" encoding="utf-8"?><Relationships xmlns="http://schemas.openxmlformats.org/package/2006/relationships"><Relationship Type="http://schemas.openxmlformats.org/officeDocument/2006/relationships/slide" Target="/ppt/slides/slide9.xml" Id="Rb765ebb86fd944ec" /><Relationship Type="http://schemas.openxmlformats.org/officeDocument/2006/relationships/notesMaster" Target="/ppt/notesMasters/notesMaster1.xml" Id="Rba217fe2bf96426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735442aacd3f47a1" /><Relationship Type="http://schemas.openxmlformats.org/officeDocument/2006/relationships/notesMaster" Target="/ppt/notesMasters/notesMaster1.xml" Id="Rdbe26f1b4d444d18"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992a24a6fa8444a0" /><Relationship Type="http://schemas.openxmlformats.org/officeDocument/2006/relationships/notesMaster" Target="/ppt/notesMasters/notesMaster1.xml" Id="R3535052699294ca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218edf91a63f4b77" /><Relationship Type="http://schemas.openxmlformats.org/officeDocument/2006/relationships/notesMaster" Target="/ppt/notesMasters/notesMaster1.xml" Id="R4832487073ca4ba0"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36cc317f1694cc2" /><Relationship Type="http://schemas.openxmlformats.org/officeDocument/2006/relationships/notesMaster" Target="/ppt/notesMasters/notesMaster1.xml" Id="R62cbd2ab756e44dc"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5cfff722de1240a2" /><Relationship Type="http://schemas.openxmlformats.org/officeDocument/2006/relationships/notesMaster" Target="/ppt/notesMasters/notesMaster1.xml" Id="Rcee79dfa78b34ac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204f84b9e4564fda" /><Relationship Type="http://schemas.openxmlformats.org/officeDocument/2006/relationships/notesMaster" Target="/ppt/notesMasters/notesMaster1.xml" Id="Rc6a1c48acffc4698"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19804c3085e34292" /><Relationship Type="http://schemas.openxmlformats.org/officeDocument/2006/relationships/notesMaster" Target="/ppt/notesMasters/notesMaster1.xml" Id="R376c4dfab9ca4ecd"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6bb723cbcf744b1e" /><Relationship Type="http://schemas.openxmlformats.org/officeDocument/2006/relationships/notesMaster" Target="/ppt/notesMasters/notesMaster1.xml" Id="R88d60f42b48049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9be1c59ecbbc4b1f" /><Relationship Type="http://schemas.openxmlformats.org/officeDocument/2006/relationships/notesMaster" Target="/ppt/notesMasters/notesMaster1.xml" Id="Rc0851ef338d845ae"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2797e2bfdd6d4768" /><Relationship Type="http://schemas.openxmlformats.org/officeDocument/2006/relationships/notesMaster" Target="/ppt/notesMasters/notesMaster1.xml" Id="Rff5d97f460c64fac"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c603f097b3944fce" /><Relationship Type="http://schemas.openxmlformats.org/officeDocument/2006/relationships/notesMaster" Target="/ppt/notesMasters/notesMaster1.xml" Id="Rb92ac128d90d4dbb"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08663a3809044b2c" /><Relationship Type="http://schemas.openxmlformats.org/officeDocument/2006/relationships/notesMaster" Target="/ppt/notesMasters/notesMaster1.xml" Id="Rf710c52908814535" /></Relationships>
</file>

<file path=ppt/notesSlides/_rels/notesSlide22.xml.rels>&#65279;<?xml version="1.0" encoding="utf-8"?><Relationships xmlns="http://schemas.openxmlformats.org/package/2006/relationships"><Relationship Type="http://schemas.openxmlformats.org/officeDocument/2006/relationships/slide" Target="/ppt/slides/slide22.xml" Id="R0bf0ce1a230347a6" /><Relationship Type="http://schemas.openxmlformats.org/officeDocument/2006/relationships/notesMaster" Target="/ppt/notesMasters/notesMaster1.xml" Id="R4e5df02e5cb74f81" /></Relationships>
</file>

<file path=ppt/notesSlides/_rels/notesSlide23.xml.rels>&#65279;<?xml version="1.0" encoding="utf-8"?><Relationships xmlns="http://schemas.openxmlformats.org/package/2006/relationships"><Relationship Type="http://schemas.openxmlformats.org/officeDocument/2006/relationships/slide" Target="/ppt/slides/slide23.xml" Id="Ra1b3a1470d7f4e7c" /><Relationship Type="http://schemas.openxmlformats.org/officeDocument/2006/relationships/notesMaster" Target="/ppt/notesMasters/notesMaster1.xml" Id="R5f0bb5904bdf4660" /></Relationships>
</file>

<file path=ppt/notesSlides/_rels/notesSlide24.xml.rels>&#65279;<?xml version="1.0" encoding="utf-8"?><Relationships xmlns="http://schemas.openxmlformats.org/package/2006/relationships"><Relationship Type="http://schemas.openxmlformats.org/officeDocument/2006/relationships/slide" Target="/ppt/slides/slide24.xml" Id="R6967ba1550e3471a" /><Relationship Type="http://schemas.openxmlformats.org/officeDocument/2006/relationships/notesMaster" Target="/ppt/notesMasters/notesMaster1.xml" Id="R86f8ca21905b4b80" /></Relationships>
</file>

<file path=ppt/notesSlides/_rels/notesSlide25.xml.rels>&#65279;<?xml version="1.0" encoding="utf-8"?><Relationships xmlns="http://schemas.openxmlformats.org/package/2006/relationships"><Relationship Type="http://schemas.openxmlformats.org/officeDocument/2006/relationships/slide" Target="/ppt/slides/slide25.xml" Id="Ra7726d7b5e0f48e2" /><Relationship Type="http://schemas.openxmlformats.org/officeDocument/2006/relationships/notesMaster" Target="/ppt/notesMasters/notesMaster1.xml" Id="R786b5564a57b4a5d" /></Relationships>
</file>

<file path=ppt/notesSlides/_rels/notesSlide26.xml.rels>&#65279;<?xml version="1.0" encoding="utf-8"?><Relationships xmlns="http://schemas.openxmlformats.org/package/2006/relationships"><Relationship Type="http://schemas.openxmlformats.org/officeDocument/2006/relationships/slide" Target="/ppt/slides/slide26.xml" Id="Rc1c7c5c473d140c2" /><Relationship Type="http://schemas.openxmlformats.org/officeDocument/2006/relationships/notesMaster" Target="/ppt/notesMasters/notesMaster1.xml" Id="Ra27588582c434ff7" /></Relationships>
</file>

<file path=ppt/notesSlides/_rels/notesSlide27.xml.rels>&#65279;<?xml version="1.0" encoding="utf-8"?><Relationships xmlns="http://schemas.openxmlformats.org/package/2006/relationships"><Relationship Type="http://schemas.openxmlformats.org/officeDocument/2006/relationships/slide" Target="/ppt/slides/slide27.xml" Id="R375bd71a9a254e0f" /><Relationship Type="http://schemas.openxmlformats.org/officeDocument/2006/relationships/notesMaster" Target="/ppt/notesMasters/notesMaster1.xml" Id="R4e562c421d894750" /></Relationships>
</file>

<file path=ppt/notesSlides/_rels/notesSlide28.xml.rels>&#65279;<?xml version="1.0" encoding="utf-8"?><Relationships xmlns="http://schemas.openxmlformats.org/package/2006/relationships"><Relationship Type="http://schemas.openxmlformats.org/officeDocument/2006/relationships/slide" Target="/ppt/slides/slide28.xml" Id="R2c05a40ff4a7451e" /><Relationship Type="http://schemas.openxmlformats.org/officeDocument/2006/relationships/notesMaster" Target="/ppt/notesMasters/notesMaster1.xml" Id="R68acc5ab109d4593" /></Relationships>
</file>

<file path=ppt/notesSlides/_rels/notesSlide29.xml.rels>&#65279;<?xml version="1.0" encoding="utf-8"?><Relationships xmlns="http://schemas.openxmlformats.org/package/2006/relationships"><Relationship Type="http://schemas.openxmlformats.org/officeDocument/2006/relationships/slide" Target="/ppt/slides/slide29.xml" Id="R522b451aa2804667" /><Relationship Type="http://schemas.openxmlformats.org/officeDocument/2006/relationships/notesMaster" Target="/ppt/notesMasters/notesMaster1.xml" Id="Rbbcbebeccb4b4b5a" /></Relationships>
</file>

<file path=ppt/notesSlides/_rels/notesSlide30.xml.rels>&#65279;<?xml version="1.0" encoding="utf-8"?><Relationships xmlns="http://schemas.openxmlformats.org/package/2006/relationships"><Relationship Type="http://schemas.openxmlformats.org/officeDocument/2006/relationships/slide" Target="/ppt/slides/slide30.xml" Id="Raba12790af5d4bf9" /><Relationship Type="http://schemas.openxmlformats.org/officeDocument/2006/relationships/notesMaster" Target="/ppt/notesMasters/notesMaster1.xml" Id="Re71c4db8c6e2479a" /></Relationships>
</file>

<file path=ppt/notesSlides/_rels/notesSlide31.xml.rels>&#65279;<?xml version="1.0" encoding="utf-8"?><Relationships xmlns="http://schemas.openxmlformats.org/package/2006/relationships"><Relationship Type="http://schemas.openxmlformats.org/officeDocument/2006/relationships/slide" Target="/ppt/slides/slide31.xml" Id="R28aae365135b4e5a" /><Relationship Type="http://schemas.openxmlformats.org/officeDocument/2006/relationships/notesMaster" Target="/ppt/notesMasters/notesMaster1.xml" Id="R705aeed0bc65433d" /></Relationships>
</file>

<file path=ppt/notesSlides/_rels/notesSlide32.xml.rels>&#65279;<?xml version="1.0" encoding="utf-8"?><Relationships xmlns="http://schemas.openxmlformats.org/package/2006/relationships"><Relationship Type="http://schemas.openxmlformats.org/officeDocument/2006/relationships/slide" Target="/ppt/slides/slide32.xml" Id="R27259aea87a042a8" /><Relationship Type="http://schemas.openxmlformats.org/officeDocument/2006/relationships/notesMaster" Target="/ppt/notesMasters/notesMaster1.xml" Id="R5c5e605b90f64b4c" /></Relationships>
</file>

<file path=ppt/notesSlides/_rels/notesSlide33.xml.rels>&#65279;<?xml version="1.0" encoding="utf-8"?><Relationships xmlns="http://schemas.openxmlformats.org/package/2006/relationships"><Relationship Type="http://schemas.openxmlformats.org/officeDocument/2006/relationships/slide" Target="/ppt/slides/slide33.xml" Id="R24e98586769343c7" /><Relationship Type="http://schemas.openxmlformats.org/officeDocument/2006/relationships/notesMaster" Target="/ppt/notesMasters/notesMaster1.xml" Id="R6cdcf9aff05e40a0" /></Relationships>
</file>

<file path=ppt/notesSlides/_rels/notesSlide34.xml.rels>&#65279;<?xml version="1.0" encoding="utf-8"?><Relationships xmlns="http://schemas.openxmlformats.org/package/2006/relationships"><Relationship Type="http://schemas.openxmlformats.org/officeDocument/2006/relationships/slide" Target="/ppt/slides/slide34.xml" Id="R92a064e8449a4bd7" /><Relationship Type="http://schemas.openxmlformats.org/officeDocument/2006/relationships/notesMaster" Target="/ppt/notesMasters/notesMaster1.xml" Id="Rbae35da7bf984424" /></Relationships>
</file>

<file path=ppt/notesSlides/_rels/notesSlide35.xml.rels>&#65279;<?xml version="1.0" encoding="utf-8"?><Relationships xmlns="http://schemas.openxmlformats.org/package/2006/relationships"><Relationship Type="http://schemas.openxmlformats.org/officeDocument/2006/relationships/slide" Target="/ppt/slides/slide35.xml" Id="R0a9e881bfe794a04" /><Relationship Type="http://schemas.openxmlformats.org/officeDocument/2006/relationships/notesMaster" Target="/ppt/notesMasters/notesMaster1.xml" Id="R081c69f0a7694dc7" /></Relationships>
</file>

<file path=ppt/notesSlides/_rels/notesSlide36.xml.rels>&#65279;<?xml version="1.0" encoding="utf-8"?><Relationships xmlns="http://schemas.openxmlformats.org/package/2006/relationships"><Relationship Type="http://schemas.openxmlformats.org/officeDocument/2006/relationships/slide" Target="/ppt/slides/slide36.xml" Id="Rb85df446f9034802" /><Relationship Type="http://schemas.openxmlformats.org/officeDocument/2006/relationships/notesMaster" Target="/ppt/notesMasters/notesMaster1.xml" Id="Rc7b503d6067b492b" /></Relationships>
</file>

<file path=ppt/notesSlides/_rels/notesSlide37.xml.rels>&#65279;<?xml version="1.0" encoding="utf-8"?><Relationships xmlns="http://schemas.openxmlformats.org/package/2006/relationships"><Relationship Type="http://schemas.openxmlformats.org/officeDocument/2006/relationships/slide" Target="/ppt/slides/slide37.xml" Id="R302c45fcf6b44878" /><Relationship Type="http://schemas.openxmlformats.org/officeDocument/2006/relationships/notesMaster" Target="/ppt/notesMasters/notesMaster1.xml" Id="Rcb190b38aff44305" /></Relationships>
</file>

<file path=ppt/notesSlides/_rels/notesSlide38.xml.rels>&#65279;<?xml version="1.0" encoding="utf-8"?><Relationships xmlns="http://schemas.openxmlformats.org/package/2006/relationships"><Relationship Type="http://schemas.openxmlformats.org/officeDocument/2006/relationships/slide" Target="/ppt/slides/slide38.xml" Id="R03e38d00c95941ae" /><Relationship Type="http://schemas.openxmlformats.org/officeDocument/2006/relationships/notesMaster" Target="/ppt/notesMasters/notesMaster1.xml" Id="Ra8985d6915b84b1c" /></Relationships>
</file>

<file path=ppt/notesSlides/_rels/notesSlide39.xml.rels>&#65279;<?xml version="1.0" encoding="utf-8"?><Relationships xmlns="http://schemas.openxmlformats.org/package/2006/relationships"><Relationship Type="http://schemas.openxmlformats.org/officeDocument/2006/relationships/slide" Target="/ppt/slides/slide39.xml" Id="R54a83a8367f841ab" /><Relationship Type="http://schemas.openxmlformats.org/officeDocument/2006/relationships/notesMaster" Target="/ppt/notesMasters/notesMaster1.xml" Id="R63d01446cffb422f" /></Relationships>
</file>

<file path=ppt/notesSlides/_rels/notesSlide40.xml.rels>&#65279;<?xml version="1.0" encoding="utf-8"?><Relationships xmlns="http://schemas.openxmlformats.org/package/2006/relationships"><Relationship Type="http://schemas.openxmlformats.org/officeDocument/2006/relationships/slide" Target="/ppt/slides/slide40.xml" Id="Ra9597ec3e1834765" /><Relationship Type="http://schemas.openxmlformats.org/officeDocument/2006/relationships/notesMaster" Target="/ppt/notesMasters/notesMaster1.xml" Id="R655e42567fd440f3" /></Relationships>
</file>

<file path=ppt/notesSlides/_rels/notesSlide41.xml.rels>&#65279;<?xml version="1.0" encoding="utf-8"?><Relationships xmlns="http://schemas.openxmlformats.org/package/2006/relationships"><Relationship Type="http://schemas.openxmlformats.org/officeDocument/2006/relationships/slide" Target="/ppt/slides/slide41.xml" Id="R2cb94debda48411a" /><Relationship Type="http://schemas.openxmlformats.org/officeDocument/2006/relationships/notesMaster" Target="/ppt/notesMasters/notesMaster1.xml" Id="R9751e8629cf64ea1" /></Relationships>
</file>

<file path=ppt/notesSlides/_rels/notesSlide42.xml.rels>&#65279;<?xml version="1.0" encoding="utf-8"?><Relationships xmlns="http://schemas.openxmlformats.org/package/2006/relationships"><Relationship Type="http://schemas.openxmlformats.org/officeDocument/2006/relationships/slide" Target="/ppt/slides/slide42.xml" Id="R1243736752b64660" /><Relationship Type="http://schemas.openxmlformats.org/officeDocument/2006/relationships/notesMaster" Target="/ppt/notesMasters/notesMaster1.xml" Id="R57bba5789ede41bd" /></Relationships>
</file>

<file path=ppt/notesSlides/_rels/notesSlide43.xml.rels>&#65279;<?xml version="1.0" encoding="utf-8"?><Relationships xmlns="http://schemas.openxmlformats.org/package/2006/relationships"><Relationship Type="http://schemas.openxmlformats.org/officeDocument/2006/relationships/slide" Target="/ppt/slides/slide43.xml" Id="R667a708074c94178" /><Relationship Type="http://schemas.openxmlformats.org/officeDocument/2006/relationships/notesMaster" Target="/ppt/notesMasters/notesMaster1.xml" Id="R6b6119bcced245d9" /></Relationships>
</file>

<file path=ppt/notesSlides/_rels/notesSlide44.xml.rels>&#65279;<?xml version="1.0" encoding="utf-8"?><Relationships xmlns="http://schemas.openxmlformats.org/package/2006/relationships"><Relationship Type="http://schemas.openxmlformats.org/officeDocument/2006/relationships/slide" Target="/ppt/slides/slide44.xml" Id="Re327ab4e7c264fa4" /><Relationship Type="http://schemas.openxmlformats.org/officeDocument/2006/relationships/notesMaster" Target="/ppt/notesMasters/notesMaster1.xml" Id="R31e59d9bc37d4b81" /></Relationships>
</file>

<file path=ppt/notesSlides/_rels/notesSlide45.xml.rels>&#65279;<?xml version="1.0" encoding="utf-8"?><Relationships xmlns="http://schemas.openxmlformats.org/package/2006/relationships"><Relationship Type="http://schemas.openxmlformats.org/officeDocument/2006/relationships/slide" Target="/ppt/slides/slide45.xml" Id="R1c50cd3af4944004" /><Relationship Type="http://schemas.openxmlformats.org/officeDocument/2006/relationships/notesMaster" Target="/ppt/notesMasters/notesMaster1.xml" Id="R8d0cb22961bd42dc" /></Relationships>
</file>

<file path=ppt/notesSlides/_rels/notesSlide46.xml.rels>&#65279;<?xml version="1.0" encoding="utf-8"?><Relationships xmlns="http://schemas.openxmlformats.org/package/2006/relationships"><Relationship Type="http://schemas.openxmlformats.org/officeDocument/2006/relationships/slide" Target="/ppt/slides/slide46.xml" Id="R516e1cdfd9f74917" /><Relationship Type="http://schemas.openxmlformats.org/officeDocument/2006/relationships/notesMaster" Target="/ppt/notesMasters/notesMaster1.xml" Id="Rb385b01889db4834" /></Relationships>
</file>

<file path=ppt/notesSlides/_rels/notesSlide47.xml.rels>&#65279;<?xml version="1.0" encoding="utf-8"?><Relationships xmlns="http://schemas.openxmlformats.org/package/2006/relationships"><Relationship Type="http://schemas.openxmlformats.org/officeDocument/2006/relationships/slide" Target="/ppt/slides/slide47.xml" Id="Rb70b4858b19c4407" /><Relationship Type="http://schemas.openxmlformats.org/officeDocument/2006/relationships/notesMaster" Target="/ppt/notesMasters/notesMaster1.xml" Id="R8209e248f499406e" /></Relationships>
</file>

<file path=ppt/notesSlides/_rels/notesSlide48.xml.rels>&#65279;<?xml version="1.0" encoding="utf-8"?><Relationships xmlns="http://schemas.openxmlformats.org/package/2006/relationships"><Relationship Type="http://schemas.openxmlformats.org/officeDocument/2006/relationships/slide" Target="/ppt/slides/slide48.xml" Id="R407cca762f7841d9" /><Relationship Type="http://schemas.openxmlformats.org/officeDocument/2006/relationships/notesMaster" Target="/ppt/notesMasters/notesMaster1.xml" Id="R2d648a4a7e2b44c6" /></Relationships>
</file>

<file path=ppt/notesSlides/_rels/notesSlide49.xml.rels>&#65279;<?xml version="1.0" encoding="utf-8"?><Relationships xmlns="http://schemas.openxmlformats.org/package/2006/relationships"><Relationship Type="http://schemas.openxmlformats.org/officeDocument/2006/relationships/slide" Target="/ppt/slides/slide49.xml" Id="Rb84e2df36baa4184" /><Relationship Type="http://schemas.openxmlformats.org/officeDocument/2006/relationships/notesMaster" Target="/ppt/notesMasters/notesMaster1.xml" Id="R4513a880cc1947e3" /></Relationships>
</file>

<file path=ppt/notesSlides/_rels/notesSlide50.xml.rels>&#65279;<?xml version="1.0" encoding="utf-8"?><Relationships xmlns="http://schemas.openxmlformats.org/package/2006/relationships"><Relationship Type="http://schemas.openxmlformats.org/officeDocument/2006/relationships/slide" Target="/ppt/slides/slide50.xml" Id="Re5dacfe73fe7498c" /><Relationship Type="http://schemas.openxmlformats.org/officeDocument/2006/relationships/notesMaster" Target="/ppt/notesMasters/notesMaster1.xml" Id="R7f5d1cb52816496e" /></Relationships>
</file>

<file path=ppt/notesSlides/_rels/notesSlide51.xml.rels>&#65279;<?xml version="1.0" encoding="utf-8"?><Relationships xmlns="http://schemas.openxmlformats.org/package/2006/relationships"><Relationship Type="http://schemas.openxmlformats.org/officeDocument/2006/relationships/slide" Target="/ppt/slides/slide51.xml" Id="R05831443522744f4" /><Relationship Type="http://schemas.openxmlformats.org/officeDocument/2006/relationships/notesMaster" Target="/ppt/notesMasters/notesMaster1.xml" Id="R7b31e88e89e748bb" /></Relationships>
</file>

<file path=ppt/notesSlides/_rels/notesSlide52.xml.rels>&#65279;<?xml version="1.0" encoding="utf-8"?><Relationships xmlns="http://schemas.openxmlformats.org/package/2006/relationships"><Relationship Type="http://schemas.openxmlformats.org/officeDocument/2006/relationships/slide" Target="/ppt/slides/slide52.xml" Id="R83ff5223dc6844d2" /><Relationship Type="http://schemas.openxmlformats.org/officeDocument/2006/relationships/notesMaster" Target="/ppt/notesMasters/notesMaster1.xml" Id="Re9a0b88b8da04c2f" /></Relationships>
</file>

<file path=ppt/notesSlides/_rels/notesSlide53.xml.rels>&#65279;<?xml version="1.0" encoding="utf-8"?><Relationships xmlns="http://schemas.openxmlformats.org/package/2006/relationships"><Relationship Type="http://schemas.openxmlformats.org/officeDocument/2006/relationships/slide" Target="/ppt/slides/slide53.xml" Id="Rbe1b1f371bc14b10" /><Relationship Type="http://schemas.openxmlformats.org/officeDocument/2006/relationships/notesMaster" Target="/ppt/notesMasters/notesMaster1.xml" Id="R12594486befd45df" /></Relationships>
</file>

<file path=ppt/notesSlides/_rels/notesSlide54.xml.rels>&#65279;<?xml version="1.0" encoding="utf-8"?><Relationships xmlns="http://schemas.openxmlformats.org/package/2006/relationships"><Relationship Type="http://schemas.openxmlformats.org/officeDocument/2006/relationships/slide" Target="/ppt/slides/slide54.xml" Id="R58a1fb4a2fc748f3" /><Relationship Type="http://schemas.openxmlformats.org/officeDocument/2006/relationships/notesMaster" Target="/ppt/notesMasters/notesMaster1.xml" Id="Re386fcc5c84c479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Welcome. A brief greeting while the title is visible.</a:t>
            </a:r>
          </a:p>
          <a:p xmlns:a="http://schemas.openxmlformats.org/drawingml/2006/main">
            <a:r>
              <a:t/>
            </a:r>
          </a:p>
          <a:p xmlns:a="http://schemas.openxmlformats.org/drawingml/2006/main">
            <a:r>
              <a:rPr b="0"/>
              <a:t>Advance to slide 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Three sentences, spoken, not read.</a:t>
            </a:r>
          </a:p>
          <a:p xmlns:a="http://schemas.openxmlformats.org/drawingml/2006/main">
            <a:r>
              <a:t/>
            </a:r>
          </a:p>
          <a:p xmlns:a="http://schemas.openxmlformats.org/drawingml/2006/main">
            <a:r>
              <a:rPr b="0"/>
              <a:t>I'm Stephen Sequenzia, a Senior Staff AI/ML Engineer and Architect, and I have spent twenty years putting systems into production, the last several with a model in the loop.</a:t>
            </a:r>
          </a:p>
          <a:p xmlns:a="http://schemas.openxmlformats.org/drawingml/2006/main">
            <a:r>
              <a:t/>
            </a:r>
          </a:p>
          <a:p xmlns:a="http://schemas.openxmlformats.org/drawingml/2006/main">
            <a:r>
              <a:rPr b="0"/>
              <a:t>Today I lead architecture for agentic AI systems across defense programs, where the users are engineers and operators and a demo that worked once is not a system.</a:t>
            </a:r>
          </a:p>
          <a:p xmlns:a="http://schemas.openxmlformats.org/drawingml/2006/main">
            <a:r>
              <a:t/>
            </a:r>
          </a:p>
          <a:p xmlns:a="http://schemas.openxmlformats.org/drawingml/2006/main">
            <a:r>
              <a:rPr b="0"/>
              <a:t>I care about this distinction because I have helped five hundred engineers adopt agents, and watched where using one stops and engineering one begins.</a:t>
            </a:r>
          </a:p>
          <a:p xmlns:a="http://schemas.openxmlformats.org/drawingml/2006/main">
            <a:r>
              <a:t/>
            </a:r>
          </a:p>
          <a:p xmlns:a="http://schemas.openxmlformats.org/drawingml/2006/main">
            <a:r>
              <a:rPr b="0"/>
              <a:t>Advance to slide 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First, what changes when AI becomes part of the product. Then the six engineering areas. Finally, making the transition and your questions.</a:t>
            </a:r>
          </a:p>
          <a:p xmlns:a="http://schemas.openxmlformats.org/drawingml/2006/main">
            <a:r>
              <a:t/>
            </a:r>
          </a:p>
          <a:p xmlns:a="http://schemas.openxmlformats.org/drawingml/2006/main">
            <a:r>
              <a:rPr b="1"/>
              <a:t>You'll leave with a map of the engineering responsibilities, an understanding of what production readiness requires, and a starting point for your own transition.</a:t>
            </a:r>
          </a:p>
          <a:p xmlns:a="http://schemas.openxmlformats.org/drawingml/2006/main">
            <a:r>
              <a:t/>
            </a:r>
          </a:p>
          <a:p xmlns:a="http://schemas.openxmlformats.org/drawingml/2006/main">
            <a:r>
              <a:rPr b="0"/>
              <a:t>Advance to slide 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Let the section title sit. Pause before the opening metaphor, without repeating the agenda.</a:t>
            </a:r>
          </a:p>
          <a:p xmlns:a="http://schemas.openxmlformats.org/drawingml/2006/main">
            <a:r>
              <a:t/>
            </a:r>
          </a:p>
          <a:p xmlns:a="http://schemas.openxmlformats.org/drawingml/2006/main">
            <a:r>
              <a:rPr b="0"/>
              <a:t>Advance to slide 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You've probably seen a coding agent do something impressive.</a:t>
            </a:r>
            <a:r>
              <a:rPr b="0"/>
              <a:t> Andrej Karpathy captures the gap between that moment and a product with these two lines.</a:t>
            </a:r>
          </a:p>
          <a:p xmlns:a="http://schemas.openxmlformats.org/drawingml/2006/main">
            <a:r>
              <a:t/>
            </a:r>
          </a:p>
          <a:p xmlns:a="http://schemas.openxmlformats.org/drawingml/2006/main">
            <a:r>
              <a:rPr b="1"/>
              <a:t>A demo shows that a useful path exists. A product needs reliable behavior across its intended use, including a safe response when it can't complete the task.</a:t>
            </a:r>
          </a:p>
          <a:p xmlns:a="http://schemas.openxmlformats.org/drawingml/2006/main">
            <a:r>
              <a:t/>
            </a:r>
          </a:p>
          <a:p xmlns:a="http://schemas.openxmlformats.org/drawingml/2006/main">
            <a:r>
              <a:rPr b="1"/>
              <a:t>When AI becomes part of the product, engineering that behavior becomes your responsibility.</a:t>
            </a:r>
          </a:p>
          <a:p xmlns:a="http://schemas.openxmlformats.org/drawingml/2006/main">
            <a:r>
              <a:t/>
            </a:r>
          </a:p>
          <a:p xmlns:a="http://schemas.openxmlformats.org/drawingml/2006/main">
            <a:r>
              <a:rPr b="0"/>
              <a:t>Advance to slide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This talk focuses on products built around foundation models. Your software engineering skills are the foundation.</a:t>
            </a:r>
          </a:p>
          <a:p xmlns:a="http://schemas.openxmlformats.org/drawingml/2006/main">
            <a:r>
              <a:t/>
            </a:r>
          </a:p>
          <a:p xmlns:a="http://schemas.openxmlformats.org/drawingml/2006/main">
            <a:r>
              <a:rPr b="0"/>
              <a:t>ML engineers typically focus on models and the pipelines that produce them. AI engineers typically focus on products around those models. </a:t>
            </a:r>
            <a:r>
              <a:rPr b="1"/>
              <a:t>The roles overlap.</a:t>
            </a:r>
          </a:p>
          <a:p xmlns:a="http://schemas.openxmlformats.org/drawingml/2006/main">
            <a:r>
              <a:t/>
            </a:r>
          </a:p>
          <a:p xmlns:a="http://schemas.openxmlformats.org/drawingml/2006/main">
            <a:r>
              <a:rPr b="1"/>
              <a:t>The added responsibility is measuring and controlling the model's contribution to the product's behavior.</a:t>
            </a:r>
          </a:p>
          <a:p xmlns:a="http://schemas.openxmlformats.org/drawingml/2006/main">
            <a:r>
              <a:t/>
            </a:r>
          </a:p>
          <a:p xmlns:a="http://schemas.openxmlformats.org/drawingml/2006/main">
            <a:r>
              <a:rPr b="0"/>
              <a:t>Advance to slide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The distinction is where the model-dependent behavior lives.</a:t>
            </a:r>
            <a:r>
              <a:rPr b="0"/>
              <a:t> During development, AI helps you build the software. In the delivered product, users depend on model output or actions during use.</a:t>
            </a:r>
          </a:p>
          <a:p xmlns:a="http://schemas.openxmlformats.org/drawingml/2006/main">
            <a:r>
              <a:t/>
            </a:r>
          </a:p>
          <a:p xmlns:a="http://schemas.openxmlformats.org/drawingml/2006/main">
            <a:r>
              <a:rPr b="1"/>
              <a:t>Human review can exist on either side.</a:t>
            </a:r>
            <a:r>
              <a:rPr b="0"/>
              <a:t> Your team owns the AI system's behavior and operating limits. You design its checks, permissions, approval steps, and failure handling.</a:t>
            </a:r>
          </a:p>
          <a:p xmlns:a="http://schemas.openxmlformats.org/drawingml/2006/main">
            <a:r>
              <a:t/>
            </a:r>
          </a:p>
          <a:p xmlns:a="http://schemas.openxmlformats.org/drawingml/2006/main">
            <a:r>
              <a:rPr b="1"/>
              <a:t>In a predefined workflow, code fixes the path. An agent can let the model select the next action. Your code still enforces permissions and limits.</a:t>
            </a:r>
            <a:r>
              <a:rPr b="0"/>
              <a:t> This added responsibility is why we will examine agentic systems and the system around the model.</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A compelling prototype is not evidence of production readiness. Traditional tests are necessary but no longer sufficient. Evaluation does not stop at deployment.</a:t>
            </a:r>
          </a:p>
          <a:p xmlns:a="http://schemas.openxmlformats.org/drawingml/2006/main">
            <a:r>
              <a:t/>
            </a:r>
          </a:p>
          <a:p xmlns:a="http://schemas.openxmlformats.org/drawingml/2006/main">
            <a:r>
              <a:rPr b="0"/>
              <a:t>These are the commitments behind the six areas we are about to examine. </a:t>
            </a:r>
            <a:r>
              <a:rPr b="1"/>
              <a:t>Using AI changes how you build. Engineering AI changes what you are responsible for.</a:t>
            </a:r>
          </a:p>
          <a:p xmlns:a="http://schemas.openxmlformats.org/drawingml/2006/main">
            <a:r>
              <a:t/>
            </a:r>
          </a:p>
          <a:p xmlns:a="http://schemas.openxmlformats.org/drawingml/2006/main">
            <a:r>
              <a:rPr b="0"/>
              <a:t>Advance to slide 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Let's look at the system around the model, and the engineering each part requires.</a:t>
            </a:r>
          </a:p>
          <a:p xmlns:a="http://schemas.openxmlformats.org/drawingml/2006/main">
            <a:r>
              <a:t/>
            </a:r>
          </a:p>
          <a:p xmlns:a="http://schemas.openxmlformats.org/drawingml/2006/main">
            <a:r>
              <a:rPr b="0"/>
              <a:t>Advance to slide 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FULL MAP</a:t>
            </a:r>
          </a:p>
          <a:p xmlns:a="http://schemas.openxmlformats.org/drawingml/2006/main">
            <a:r>
              <a:t/>
            </a:r>
          </a:p>
          <a:p xmlns:a="http://schemas.openxmlformats.org/drawingml/2006/main">
            <a:r>
              <a:rPr b="0"/>
              <a:t>An agent is a model plus the execution system around it, the harness.</a:t>
            </a:r>
          </a:p>
          <a:p xmlns:a="http://schemas.openxmlformats.org/drawingml/2006/main">
            <a:r>
              <a:t/>
            </a:r>
          </a:p>
          <a:p xmlns:a="http://schemas.openxmlformats.org/drawingml/2006/main">
            <a:r>
              <a:rPr b="1"/>
              <a:t>MODEL</a:t>
            </a:r>
          </a:p>
          <a:p xmlns:a="http://schemas.openxmlformats.org/drawingml/2006/main">
            <a:r>
              <a:t/>
            </a:r>
          </a:p>
          <a:p xmlns:a="http://schemas.openxmlformats.org/drawingml/2006/main">
            <a:r>
              <a:rPr b="0"/>
              <a:t>The model interprets the task and proposes responses or actions.</a:t>
            </a:r>
          </a:p>
          <a:p xmlns:a="http://schemas.openxmlformats.org/drawingml/2006/main">
            <a:r>
              <a:t/>
            </a:r>
          </a:p>
          <a:p xmlns:a="http://schemas.openxmlformats.org/drawingml/2006/main">
            <a:r>
              <a:rPr b="1"/>
              <a:t>HARNESS</a:t>
            </a:r>
          </a:p>
          <a:p xmlns:a="http://schemas.openxmlformats.org/drawingml/2006/main">
            <a:r>
              <a:t/>
            </a:r>
          </a:p>
          <a:p xmlns:a="http://schemas.openxmlformats.org/drawingml/2006/main">
            <a:r>
              <a:rPr b="0"/>
              <a:t>The harness maintains context, calls tools, handles failures, enforces controls, and carries the work toward a result.</a:t>
            </a:r>
          </a:p>
          <a:p xmlns:a="http://schemas.openxmlformats.org/drawingml/2006/main">
            <a:r>
              <a:t/>
            </a:r>
          </a:p>
          <a:p xmlns:a="http://schemas.openxmlformats.org/drawingml/2006/main">
            <a:r>
              <a:rPr b="1"/>
              <a:t>PER-RUN SERVICES</a:t>
            </a:r>
          </a:p>
          <a:p xmlns:a="http://schemas.openxmlformats.org/drawingml/2006/main">
            <a:r>
              <a:t/>
            </a:r>
          </a:p>
          <a:p xmlns:a="http://schemas.openxmlformats.org/drawingml/2006/main">
            <a:r>
              <a:rPr b="0"/>
              <a:t>Every run uses services such as identity and data access.</a:t>
            </a:r>
          </a:p>
          <a:p xmlns:a="http://schemas.openxmlformats.org/drawingml/2006/main">
            <a:r>
              <a:t/>
            </a:r>
          </a:p>
          <a:p xmlns:a="http://schemas.openxmlformats.org/drawingml/2006/main">
            <a:r>
              <a:rPr b="1"/>
              <a:t>ACROSS-RUN SERVICES</a:t>
            </a:r>
          </a:p>
          <a:p xmlns:a="http://schemas.openxmlformats.org/drawingml/2006/main">
            <a:r>
              <a:t/>
            </a:r>
          </a:p>
          <a:p xmlns:a="http://schemas.openxmlformats.org/drawingml/2006/main">
            <a:r>
              <a:rPr b="0"/>
              <a:t>Observability, evaluations, and governance let the team learn from and control many runs.</a:t>
            </a:r>
          </a:p>
          <a:p xmlns:a="http://schemas.openxmlformats.org/drawingml/2006/main">
            <a:r>
              <a:t/>
            </a:r>
          </a:p>
          <a:p xmlns:a="http://schemas.openxmlformats.org/drawingml/2006/main">
            <a:r>
              <a:rPr b="1"/>
              <a:t>FULL MAP</a:t>
            </a:r>
          </a:p>
          <a:p xmlns:a="http://schemas.openxmlformats.org/drawingml/2006/main">
            <a:r>
              <a:t/>
            </a:r>
          </a:p>
          <a:p xmlns:a="http://schemas.openxmlformats.org/drawingml/2006/main">
            <a:r>
              <a:rPr b="0"/>
              <a:t>You encounter these components in coding agents such as Codex CLI and Devin. Each area begins with a quote, then what it is and why it matters, the decisions, pitfalls, and an applied example.</a:t>
            </a:r>
          </a:p>
          <a:p xmlns:a="http://schemas.openxmlformats.org/drawingml/2006/main">
            <a:r>
              <a:t/>
            </a:r>
          </a:p>
          <a:p xmlns:a="http://schemas.openxmlformats.org/drawingml/2006/main">
            <a:r>
              <a:rPr b="1"/>
              <a:t>We will carry one invented example throughout: a system that researches Failure Review Boards, compares related cases, and exports a cited brief.</a:t>
            </a:r>
            <a:r>
              <a:rPr b="0"/>
              <a:t> The request is to summarize FRB-042, compare similar shutdowns, and distinguish possible causes from established findings. </a:t>
            </a:r>
            <a:r>
              <a:rPr b="1"/>
              <a:t>People remain responsible for official causes, decisions, and board records.</a:t>
            </a:r>
          </a:p>
          <a:p xmlns:a="http://schemas.openxmlformats.org/drawingml/2006/main">
            <a:r>
              <a:t/>
            </a:r>
          </a:p>
          <a:p xmlns:a="http://schemas.openxmlformats.org/drawingml/2006/main">
            <a:r>
              <a:rPr b="1"/>
              <a:t>Agent equals model plus harness. Everything around the model is engineering work.</a:t>
            </a:r>
          </a:p>
          <a:p xmlns:a="http://schemas.openxmlformats.org/drawingml/2006/main">
            <a:r>
              <a:t/>
            </a:r>
          </a:p>
          <a:p xmlns:a="http://schemas.openxmlformats.org/drawingml/2006/main">
            <a:r>
              <a:rPr b="0"/>
              <a:t>Advance to slide 10.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 decent model with a great harness beats a great model with a bad harness.”</a:t>
            </a:r>
          </a:p>
          <a:p xmlns:a="http://schemas.openxmlformats.org/drawingml/2006/main">
            <a:r>
              <a:t/>
            </a:r>
          </a:p>
          <a:p xmlns:a="http://schemas.openxmlformats.org/drawingml/2006/main">
            <a:r>
              <a:rPr b="0"/>
              <a:t>Osmani is describing his engineering experience. Evaluate the model inside the system you are building, because the surrounding context, tools, and control flow shape the result.</a:t>
            </a:r>
          </a:p>
          <a:p xmlns:a="http://schemas.openxmlformats.org/drawingml/2006/main">
            <a:r>
              <a:t/>
            </a:r>
          </a:p>
          <a:p xmlns:a="http://schemas.openxmlformats.org/drawingml/2006/main">
            <a:r>
              <a:rPr b="0"/>
              <a:t>Advance to slide 11.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Model Selection means choosing and maintaining a configuration suited to the task and approved for the data. It includes the model version, settings, and the service or environment where it runs. Choosing a model for a coding task is a familiar version of this decision.</a:t>
            </a:r>
          </a:p>
          <a:p xmlns:a="http://schemas.openxmlformats.org/drawingml/2006/main">
            <a:r>
              <a:t/>
            </a:r>
          </a:p>
          <a:p xmlns:a="http://schemas.openxmlformats.org/drawingml/2006/main">
            <a:r>
              <a:rPr b="1"/>
              <a:t>Data sensitivity determines which options are eligible.</a:t>
            </a:r>
            <a:r>
              <a:rPr b="0"/>
              <a:t> For this audience, CUI and export-controlled information bring familiar constraints. Establish which services and environments are approved for the data, then compare task quality, cost, and latency within that set. </a:t>
            </a:r>
            <a:r>
              <a:rPr b="1"/>
              <a:t>A model appearing in a picker does not establish approval for your records.</a:t>
            </a:r>
          </a:p>
          <a:p xmlns:a="http://schemas.openxmlformats.org/drawingml/2006/main">
            <a:r>
              <a:t/>
            </a:r>
          </a:p>
          <a:p xmlns:a="http://schemas.openxmlformats.org/drawingml/2006/main">
            <a:r>
              <a:rPr b="0"/>
              <a:t>Advance to slide 12.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eligibility. Understand the data and permitted use before ranking candidates. Approval can constrain the choice even when another model appears more capable.</a:t>
            </a:r>
          </a:p>
          <a:p xmlns:a="http://schemas.openxmlformats.org/drawingml/2006/main">
            <a:r>
              <a:t/>
            </a:r>
          </a:p>
          <a:p xmlns:a="http://schemas.openxmlformats.org/drawingml/2006/main">
            <a:r>
              <a:rPr b="0"/>
              <a:t>Second, task fit. Compare eligible configurations on representative work inside the intended workflow. Include reasoning settings in that comparison. Measure cost and latency for completed tasks, including the retries and checks needed to obtain an acceptable result.</a:t>
            </a:r>
          </a:p>
          <a:p xmlns:a="http://schemas.openxmlformats.org/drawingml/2006/main">
            <a:r>
              <a:t/>
            </a:r>
          </a:p>
          <a:p xmlns:a="http://schemas.openxmlformats.org/drawingml/2006/main">
            <a:r>
              <a:rPr b="0"/>
              <a:t>Third, one configuration or routing. One model provides a simpler baseline. Routing can match different work to different models, while adding configurations and routing behavior to evaluate. Begin with one unless measurements justify more.</a:t>
            </a:r>
          </a:p>
          <a:p xmlns:a="http://schemas.openxmlformats.org/drawingml/2006/main">
            <a:r>
              <a:t/>
            </a:r>
          </a:p>
          <a:p xmlns:a="http://schemas.openxmlformats.org/drawingml/2006/main">
            <a:r>
              <a:rPr b="0"/>
              <a:t>Fourth, changes. Pinned versions need a migration plan. Moving aliases need regression monitoring. In either case, a model choice remains a dependency the team must maintain.</a:t>
            </a:r>
          </a:p>
          <a:p xmlns:a="http://schemas.openxmlformats.org/drawingml/2006/main">
            <a:r>
              <a:t/>
            </a:r>
          </a:p>
          <a:p xmlns:a="http://schemas.openxmlformats.org/drawingml/2006/main">
            <a:r>
              <a:rPr b="0"/>
              <a:t>Advance to slide 13.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Tasks change, coverage becomes stale, and model versions retire. A pinned snapshot also does not freeze prompts, retrieval, or tools. The headline pitfall is </a:t>
            </a:r>
            <a:r>
              <a:rPr b="1"/>
              <a:t>Selecting or changing models without testing them on your task.</a:t>
            </a:r>
            <a:r>
              <a:rPr b="0"/>
              <a:t> Inspect failures before deciding which component needs replacement.</a:t>
            </a:r>
          </a:p>
          <a:p xmlns:a="http://schemas.openxmlformats.org/drawingml/2006/main">
            <a:r>
              <a:t/>
            </a:r>
          </a:p>
          <a:p xmlns:a="http://schemas.openxmlformats.org/drawingml/2006/main">
            <a:r>
              <a:rPr b="0"/>
              <a:t>Advance to slide 14.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Assume the FRB corpus includes CUI and ECI. For this example, the approved models are older and less capable for the intended synthesis than newer alternatives outside the approved environment. That reflects a constraint familiar to this audience, not a universal claim about sensitive-data deployments.</a:t>
            </a:r>
          </a:p>
          <a:p xmlns:a="http://schemas.openxmlformats.org/drawingml/2006/main">
            <a:r>
              <a:t/>
            </a:r>
          </a:p>
          <a:p xmlns:a="http://schemas.openxmlformats.org/drawingml/2006/main">
            <a:r>
              <a:rPr b="0"/>
              <a:t>Start with one eligible configuration. Test whether it can produce faithful summaries and supported findings. A possible cause must remain a possible cause. If it cannot reliably produce the full brief, evaluate a narrower task, such as preparing cited findings for an engineer to reconcile, or a more structured workflow with review. Those changes still need evidence that they work. If they do not meet the requirement, limit or defer that capability.</a:t>
            </a:r>
          </a:p>
          <a:p xmlns:a="http://schemas.openxmlformats.org/drawingml/2006/main">
            <a:r>
              <a:t/>
            </a:r>
          </a:p>
          <a:p xmlns:a="http://schemas.openxmlformats.org/drawingml/2006/main">
            <a:r>
              <a:rPr b="0"/>
              <a:t>The goal is useful work within the data constraints, without lowering the evidence requirement or sending restricted records to an unapproved fallback. Revisit the design when measured needs or suitable approved options change.</a:t>
            </a:r>
          </a:p>
          <a:p xmlns:a="http://schemas.openxmlformats.org/drawingml/2006/main">
            <a:r>
              <a:t/>
            </a:r>
          </a:p>
          <a:p xmlns:a="http://schemas.openxmlformats.org/drawingml/2006/main">
            <a:r>
              <a:rPr b="0"/>
              <a:t>That choice now depends on what information the model receives. Context Engineering is next.</a:t>
            </a:r>
          </a:p>
          <a:p xmlns:a="http://schemas.openxmlformats.org/drawingml/2006/main">
            <a:r>
              <a:t/>
            </a:r>
          </a:p>
          <a:p xmlns:a="http://schemas.openxmlformats.org/drawingml/2006/main">
            <a:r>
              <a:rPr b="1"/>
              <a:t>The model is a versioned, expiring dependency. Treat it like one.</a:t>
            </a:r>
          </a:p>
          <a:p xmlns:a="http://schemas.openxmlformats.org/drawingml/2006/main">
            <a:r>
              <a:t/>
            </a:r>
          </a:p>
          <a:p xmlns:a="http://schemas.openxmlformats.org/drawingml/2006/main">
            <a:r>
              <a:rPr b="0"/>
              <a:t>Advance to slide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“Context, therefore, must be treated as a finite resource with diminishing marginal returns.”</a:t>
            </a:r>
          </a:p>
          <a:p xmlns:a="http://schemas.openxmlformats.org/drawingml/2006/main">
            <a:r>
              <a:t/>
            </a:r>
          </a:p>
          <a:p xmlns:a="http://schemas.openxmlformats.org/drawingml/2006/main">
            <a:r>
              <a:rPr b="0"/>
              <a:t>You decide what information the model receives for its next step. A larger context window does not establish that every available piece of information will help.</a:t>
            </a:r>
          </a:p>
          <a:p xmlns:a="http://schemas.openxmlformats.org/drawingml/2006/main">
            <a:r>
              <a:t/>
            </a:r>
          </a:p>
          <a:p xmlns:a="http://schemas.openxmlformats.org/drawingml/2006/main">
            <a:r>
              <a:rPr b="0"/>
              <a:t>Advance to slide 16.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Context engineering selects, organizes, and maintains instructions, task state, evidence, tool results, and useful history. Prompt engineering focuses on the instructions within that wider set. A coding agent combines repository instructions, relevant files, and test output to decide what to do next.</a:t>
            </a:r>
          </a:p>
          <a:p xmlns:a="http://schemas.openxmlformats.org/drawingml/2006/main">
            <a:r>
              <a:t/>
            </a:r>
          </a:p>
          <a:p xmlns:a="http://schemas.openxmlformats.org/drawingml/2006/main">
            <a:r>
              <a:rPr b="0"/>
              <a:t>RAG retrieves relevant information and supplies it to the model. That can mean authorized internal records. It does not require open-web access.</a:t>
            </a:r>
          </a:p>
          <a:p xmlns:a="http://schemas.openxmlformats.org/drawingml/2006/main">
            <a:r>
              <a:t/>
            </a:r>
          </a:p>
          <a:p xmlns:a="http://schemas.openxmlformats.org/drawingml/2006/main">
            <a:r>
              <a:rPr b="0"/>
              <a:t>A missing passage, stale version, or lost qualification can change the basis of the answer. More text does not establish better evidence. Inspect what reached the model and what was left out.</a:t>
            </a:r>
          </a:p>
          <a:p xmlns:a="http://schemas.openxmlformats.org/drawingml/2006/main">
            <a:r>
              <a:t/>
            </a:r>
          </a:p>
          <a:p xmlns:a="http://schemas.openxmlformats.org/drawingml/2006/main">
            <a:r>
              <a:rPr b="0"/>
              <a:t>Advance to slide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what belongs in the next step? Preserve relevant detail and uncertainty, while removing repetition that adds no evidence. A summary saves space but can lose meaning, so retain access to the source.</a:t>
            </a:r>
          </a:p>
          <a:p xmlns:a="http://schemas.openxmlformats.org/drawingml/2006/main">
            <a:r>
              <a:t/>
            </a:r>
          </a:p>
          <a:p xmlns:a="http://schemas.openxmlformats.org/drawingml/2006/main">
            <a:r>
              <a:rPr b="0"/>
              <a:t>Second, how will retrieval find it? Keyword search matches terms and identifiers. Semantic search uses similarity of meaning and can help when wording differs, while still missing an exact identifier. Hybrid retrieval combines the signals and adds result-merging work. Use direct lookup when the source is known. Compare the approaches on the evidence your tasks need.</a:t>
            </a:r>
          </a:p>
          <a:p xmlns:a="http://schemas.openxmlformats.org/drawingml/2006/main">
            <a:r>
              <a:t/>
            </a:r>
          </a:p>
          <a:p xmlns:a="http://schemas.openxmlformats.org/drawingml/2006/main">
            <a:r>
              <a:rPr b="0"/>
              <a:t>Third, what persists? Compaction summarizes the current conversation. Persistent memory can retain selected information across sessions. Both need decisions about freshness and what must survive. Keep important constraints, unresolved questions, and source references. Stable prefixes may help caching, but correctness and access take priority over those savings.</a:t>
            </a:r>
          </a:p>
          <a:p xmlns:a="http://schemas.openxmlformats.org/drawingml/2006/main">
            <a:r>
              <a:t/>
            </a:r>
          </a:p>
          <a:p xmlns:a="http://schemas.openxmlformats.org/drawingml/2006/main">
            <a:r>
              <a:rPr b="0"/>
              <a:t>Fourth, provenance and scope. Keep document identity, revision, and source location attached to evidence. Enforce the user's access outside the model. A user's permission to read a record does not establish that every processing service may receive it.</a:t>
            </a:r>
          </a:p>
          <a:p xmlns:a="http://schemas.openxmlformats.org/drawingml/2006/main">
            <a:r>
              <a:t/>
            </a:r>
          </a:p>
          <a:p xmlns:a="http://schemas.openxmlformats.org/drawingml/2006/main">
            <a:r>
              <a:rPr b="0"/>
              <a:t>Advance to slide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context without curating it.</a:t>
            </a:r>
            <a:r>
              <a:rPr b="0"/>
              <a:t> Inspect retrieval coverage, summaries, and source freshness as records change. Repeated copies do not create independent evidence, and findings from one case must not drift into another.</a:t>
            </a:r>
          </a:p>
          <a:p xmlns:a="http://schemas.openxmlformats.org/drawingml/2006/main">
            <a:r>
              <a:t/>
            </a:r>
          </a:p>
          <a:p xmlns:a="http://schemas.openxmlformats.org/drawingml/2006/main">
            <a:r>
              <a:rPr b="0"/>
              <a:t>Advance to slide 19.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preliminary briefing, FRB-042-BRF revision one, slide six, says bearing wear is a possible cause. The later minutes, FRB-042-MIN revision two, section three, leave the cause unresolved and require inspection. These are different documents, with distinct identities and source locations.</a:t>
            </a:r>
          </a:p>
          <a:p xmlns:a="http://schemas.openxmlformats.org/drawingml/2006/main">
            <a:r>
              <a:t/>
            </a:r>
          </a:p>
          <a:p xmlns:a="http://schemas.openxmlformats.org/drawingml/2006/main">
            <a:r>
              <a:rPr b="0"/>
              <a:t>Retrieve both relevant passages. Keep the unresolved cause and outstanding inspection in any working summary. When comparing other boards, keep their established findings attached to their own cases. Refresh versions and access before finalizing the brief. Missing, unreadable, or inaccessible evidence becomes an explicit limitation.</a:t>
            </a:r>
          </a:p>
          <a:p xmlns:a="http://schemas.openxmlformats.org/drawingml/2006/main">
            <a:r>
              <a:t/>
            </a:r>
          </a:p>
          <a:p xmlns:a="http://schemas.openxmlformats.org/drawingml/2006/main">
            <a:r>
              <a:rPr b="0"/>
              <a:t>The approved-processing constraint also applies to the services preparing this context. Focused evidence is a design to evaluate with the available model, not a promise that it removes every capability limit.</a:t>
            </a:r>
          </a:p>
          <a:p xmlns:a="http://schemas.openxmlformats.org/drawingml/2006/main">
            <a:r>
              <a:t/>
            </a:r>
          </a:p>
          <a:p xmlns:a="http://schemas.openxmlformats.org/drawingml/2006/main">
            <a:r>
              <a:rPr b="0"/>
              <a:t>The next question is how the system obtains information and acts on it. That is the tool contract.</a:t>
            </a:r>
          </a:p>
          <a:p xmlns:a="http://schemas.openxmlformats.org/drawingml/2006/main">
            <a:r>
              <a:t/>
            </a:r>
          </a:p>
          <a:p xmlns:a="http://schemas.openxmlformats.org/drawingml/2006/main">
            <a:r>
              <a:rPr b="1"/>
              <a:t>Context is a budget, not a bucket.</a:t>
            </a:r>
          </a:p>
          <a:p xmlns:a="http://schemas.openxmlformats.org/drawingml/2006/main">
            <a:r>
              <a:t/>
            </a:r>
          </a:p>
          <a:p xmlns:a="http://schemas.openxmlformats.org/drawingml/2006/main">
            <a:r>
              <a:rPr b="0"/>
              <a:t>Advance to slide 20.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“Agents are only as effective as the tools we give them.”</a:t>
            </a:r>
          </a:p>
          <a:p xmlns:a="http://schemas.openxmlformats.org/drawingml/2006/main">
            <a:r>
              <a:t/>
            </a:r>
          </a:p>
          <a:p xmlns:a="http://schemas.openxmlformats.org/drawingml/2006/main">
            <a:r>
              <a:rPr b="0"/>
              <a:t>A tool is a contract between the system and a model caller. Its name, description, inputs, results, and execution rules all contribute to that contract.</a:t>
            </a:r>
          </a:p>
          <a:p xmlns:a="http://schemas.openxmlformats.org/drawingml/2006/main">
            <a:r>
              <a:t/>
            </a:r>
          </a:p>
          <a:p xmlns:a="http://schemas.openxmlformats.org/drawingml/2006/main">
            <a:r>
              <a:rPr b="0"/>
              <a:t>Advance to slide 21.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 tool exposes an operation the model can request. Software checks the request, executes a permitted operation, and returns a result. Reading a repository file or running tests through a coding agent are familiar examples.</a:t>
            </a:r>
          </a:p>
          <a:p xmlns:a="http://schemas.openxmlformats.org/drawingml/2006/main">
            <a:r>
              <a:t/>
            </a:r>
          </a:p>
          <a:p xmlns:a="http://schemas.openxmlformats.org/drawingml/2006/main">
            <a:r>
              <a:rPr b="0"/>
              <a:t>Extensibility adds capabilities through these interfaces. MCP provides a common way for an AI application to connect to external systems and discover and call their tools. It also supports resources and prompt templates. The useful operations and their enforced boundaries remain engineering work.</a:t>
            </a:r>
          </a:p>
          <a:p xmlns:a="http://schemas.openxmlformats.org/drawingml/2006/main">
            <a:r>
              <a:t/>
            </a:r>
          </a:p>
          <a:p xmlns:a="http://schemas.openxmlformats.org/drawingml/2006/main">
            <a:r>
              <a:rPr b="0"/>
              <a:t>Similar names can lead to the wrong selection. Unclear inputs can produce an unsuitable request. An incomplete result can leave the caller unable to tell what happened. When a tool accesses data or changes state, those mistakes have consequences beyond the response text.</a:t>
            </a:r>
          </a:p>
          <a:p xmlns:a="http://schemas.openxmlformats.org/drawingml/2006/main">
            <a:r>
              <a:t/>
            </a:r>
          </a:p>
          <a:p xmlns:a="http://schemas.openxmlformats.org/drawingml/2006/main">
            <a:r>
              <a:rPr b="0"/>
              <a:t>Advance to slide 22.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which capabilities and what granularity? Many small operations offer flexibility but require the caller to assemble more steps. A task-oriented operation can do more in code, while embedding more assumptions about the workflow. Begin with distinct capabilities and evaluate the boundary on real tasks.</a:t>
            </a:r>
          </a:p>
          <a:p xmlns:a="http://schemas.openxmlformats.org/drawingml/2006/main">
            <a:r>
              <a:t/>
            </a:r>
          </a:p>
          <a:p xmlns:a="http://schemas.openxmlformats.org/drawingml/2006/main">
            <a:r>
              <a:rPr b="0"/>
              <a:t>Second, the contract. Design descriptions, inputs, results, and errors together. Return useful context with stable identifiers. Sparse payloads can omit evidence, while excessive detail adds material the model must process. Evaluate actual selections and arguments, and keep the implementation aligned with the definition.</a:t>
            </a:r>
          </a:p>
          <a:p xmlns:a="http://schemas.openxmlformats.org/drawingml/2006/main">
            <a:r>
              <a:t/>
            </a:r>
          </a:p>
          <a:p xmlns:a="http://schemas.openxmlformats.org/drawingml/2006/main">
            <a:r>
              <a:rPr b="0"/>
              <a:t>Third, execution rules. </a:t>
            </a:r>
            <a:r>
              <a:rPr b="1"/>
              <a:t>Validate inputs and enforce authorization in code.</a:t>
            </a:r>
            <a:r>
              <a:rPr b="0"/>
              <a:t> This applies to reads as well as writes. A well-formed request, a successful connection, or a model's recommendation does not grant permission.</a:t>
            </a:r>
          </a:p>
          <a:p xmlns:a="http://schemas.openxmlformats.org/drawingml/2006/main">
            <a:r>
              <a:t/>
            </a:r>
          </a:p>
          <a:p xmlns:a="http://schemas.openxmlformats.org/drawingml/2006/main">
            <a:r>
              <a:rPr b="0"/>
              <a:t>Advance to slide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Copying APIs without evaluating task fit.</a:t>
            </a:r>
            <a:r>
              <a:rPr b="0"/>
              <a:t> Prune overlapping capabilities, maintain contracts as behavior changes, and distinguish confirmed results, known failures, and unknown outcomes.</a:t>
            </a:r>
          </a:p>
          <a:p xmlns:a="http://schemas.openxmlformats.org/drawingml/2006/main">
            <a:r>
              <a:t/>
            </a:r>
          </a:p>
          <a:p xmlns:a="http://schemas.openxmlformats.org/drawingml/2006/main">
            <a:r>
              <a:rPr b="0"/>
              <a:t>Advance to slide 24.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Consider Export cited brief. Parsing and indexing are background services; the agent-facing export takes a checked draft, citations, and a permitted destination.</a:t>
            </a:r>
          </a:p>
          <a:p xmlns:a="http://schemas.openxmlformats.org/drawingml/2006/main">
            <a:r>
              <a:t/>
            </a:r>
          </a:p>
          <a:p xmlns:a="http://schemas.openxmlformats.org/drawingml/2006/main">
            <a:r>
              <a:rPr b="0"/>
              <a:t>The service must establish that the exact content being exported passed its checks. The caller saying it was checked is insufficient. Changed content requires renewed verification. Enforce access and the destination in code. Preserve citations, unresolved findings, and limitations rather than generating a fresh summary during export.</a:t>
            </a:r>
          </a:p>
          <a:p xmlns:a="http://schemas.openxmlformats.org/drawingml/2006/main">
            <a:r>
              <a:t/>
            </a:r>
          </a:p>
          <a:p xmlns:a="http://schemas.openxmlformats.org/drawingml/2006/main">
            <a:r>
              <a:rPr b="0"/>
              <a:t>Return a receipt when completion is confirmed. If the operation fails or its outcome is unknown, say so explicitly. An MCP connection could expose this tool, but the application service must implement those guarantees.</a:t>
            </a:r>
          </a:p>
          <a:p xmlns:a="http://schemas.openxmlformats.org/drawingml/2006/main">
            <a:r>
              <a:t/>
            </a:r>
          </a:p>
          <a:p xmlns:a="http://schemas.openxmlformats.org/drawingml/2006/main">
            <a:r>
              <a:rPr b="0"/>
              <a:t>The result now tells the execution controller what it can establish. Orchestration decides what happens next.</a:t>
            </a:r>
          </a:p>
          <a:p xmlns:a="http://schemas.openxmlformats.org/drawingml/2006/main">
            <a:r>
              <a:t/>
            </a:r>
          </a:p>
          <a:p xmlns:a="http://schemas.openxmlformats.org/drawingml/2006/main">
            <a:r>
              <a:rPr b="1"/>
              <a:t>A description guides the model. Code enforces the contract.</a:t>
            </a:r>
          </a:p>
          <a:p xmlns:a="http://schemas.openxmlformats.org/drawingml/2006/main">
            <a:r>
              <a:t/>
            </a:r>
          </a:p>
          <a:p xmlns:a="http://schemas.openxmlformats.org/drawingml/2006/main">
            <a:r>
              <a:rPr b="0"/>
              <a:t>Advance to slide 25.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“we recommend finding the simplest solution possible, and only increasing complexity when needed.”</a:t>
            </a:r>
          </a:p>
          <a:p xmlns:a="http://schemas.openxmlformats.org/drawingml/2006/main">
            <a:r>
              <a:t/>
            </a:r>
          </a:p>
          <a:p xmlns:a="http://schemas.openxmlformats.org/drawingml/2006/main">
            <a:r>
              <a:rPr b="0"/>
              <a:t>Decide which steps code fixes and which decisions the model makes. Then establish the conditions under which that work may continue.</a:t>
            </a:r>
          </a:p>
          <a:p xmlns:a="http://schemas.openxmlformats.org/drawingml/2006/main">
            <a:r>
              <a:t/>
            </a:r>
          </a:p>
          <a:p xmlns:a="http://schemas.openxmlformats.org/drawingml/2006/main">
            <a:r>
              <a:rPr b="0"/>
              <a:t>Advance to slide 26.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Orchestration determines the next step, carries execution state, coordinates work, and handles completion or interruption. A workflow controls a path through code. An agent loop lets the model choose actions from intermediate results. A bounded design can combine them. The coding agent's inspect, edit, check, and retry loop is a familiar example.</a:t>
            </a:r>
          </a:p>
          <a:p xmlns:a="http://schemas.openxmlformats.org/drawingml/2006/main">
            <a:r>
              <a:t/>
            </a:r>
          </a:p>
          <a:p xmlns:a="http://schemas.openxmlformats.org/drawingml/2006/main">
            <a:r>
              <a:rPr b="0"/>
              <a:t>A useful intermediate answer is only part of a completed task. The system still needs to reach its checks, perform permitted actions, and establish what actually happened. Repeated work also consumes resources, and a retry can repeat a side effect.</a:t>
            </a:r>
          </a:p>
          <a:p xmlns:a="http://schemas.openxmlformats.org/drawingml/2006/main">
            <a:r>
              <a:t/>
            </a:r>
          </a:p>
          <a:p xmlns:a="http://schemas.openxmlformats.org/drawingml/2006/main">
            <a:r>
              <a:rPr b="0"/>
              <a:t>Advance to slide 27.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who chooses the next step? Use code for known paths and required gates. Allow model judgment where adaptation helps. A proposed plan does not enforce permissions or prerequisites. Inspect the executed path and preserve acceptance criteria as branches change.</a:t>
            </a:r>
          </a:p>
          <a:p xmlns:a="http://schemas.openxmlformats.org/drawingml/2006/main">
            <a:r>
              <a:t/>
            </a:r>
          </a:p>
          <a:p xmlns:a="http://schemas.openxmlformats.org/drawingml/2006/main">
            <a:r>
              <a:rPr b="0"/>
              <a:t>Second, delegation. Start with a bounded workflow. Multiple agents can divide independent work, while adding handoffs, reconciliation, and resource use. Add workers when measured whole-task quality, cost, or latency justifies them. Keep assignments and expected results explicit. Model choice remains the earlier decision; this is about dividing the work.</a:t>
            </a:r>
          </a:p>
          <a:p xmlns:a="http://schemas.openxmlformats.org/drawingml/2006/main">
            <a:r>
              <a:t/>
            </a:r>
          </a:p>
          <a:p xmlns:a="http://schemas.openxmlformats.org/drawingml/2006/main">
            <a:r>
              <a:rPr b="0"/>
              <a:t>Third, stopping and recovery. Define completion checks and action, token, retry, and latency limits. Save the state needed to continue. Distinguish confirmed success, known failure, and an unknown outcome. Recheck source freshness and authorization on resume.</a:t>
            </a:r>
          </a:p>
          <a:p xmlns:a="http://schemas.openxmlformats.org/drawingml/2006/main">
            <a:r>
              <a:t/>
            </a:r>
          </a:p>
          <a:p xmlns:a="http://schemas.openxmlformats.org/drawingml/2006/main">
            <a:r>
              <a:rPr b="0"/>
              <a:t>Advance to slide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Adding multiple agents before trying a workflow.</a:t>
            </a:r>
            <a:r>
              <a:rPr b="0"/>
              <a:t> Other failures include loops without progress, early completion claims, and handoffs that lose evidence. </a:t>
            </a:r>
            <a:r>
              <a:rPr b="1"/>
              <a:t>A timeout does not establish that an action failed.</a:t>
            </a:r>
            <a:r>
              <a:rPr b="0"/>
              <a:t> Inspect what happened before repeating it.</a:t>
            </a:r>
          </a:p>
          <a:p xmlns:a="http://schemas.openxmlformats.org/drawingml/2006/main">
            <a:r>
              <a:t/>
            </a:r>
          </a:p>
          <a:p xmlns:a="http://schemas.openxmlformats.org/drawingml/2006/main">
            <a:r>
              <a:rPr b="0"/>
              <a:t>Advance to slide 29.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Begin with six stages: retrieve the packet, inspect evidence, compare cases, reconcile findings, verify the brief, and export. Model judgment operates within stages. Code preserves the conditions for moving to export.</a:t>
            </a:r>
          </a:p>
          <a:p xmlns:a="http://schemas.openxmlformats.org/drawingml/2006/main">
            <a:r>
              <a:t/>
            </a:r>
          </a:p>
          <a:p xmlns:a="http://schemas.openxmlformats.org/drawingml/2006/main">
            <a:r>
              <a:rPr b="0"/>
              <a:t>Save the source revisions, working draft, completed stages, and check results. A changed draft needs verification again. Changed evidence on resume returns the affected work to inspection and reconciliation.</a:t>
            </a:r>
          </a:p>
          <a:p xmlns:a="http://schemas.openxmlformats.org/drawingml/2006/main">
            <a:r>
              <a:t/>
            </a:r>
          </a:p>
          <a:p xmlns:a="http://schemas.openxmlformats.org/drawingml/2006/main">
            <a:r>
              <a:rPr b="0"/>
              <a:t>If the matching export receipt confirms completion, return it. If a confirmed failure establishes that export did not complete, address the cause and retry only within policy and the remaining budget. If completion is unknown, inspect the export state. If it remains unknown, preserve that uncertainty and hand off.</a:t>
            </a:r>
          </a:p>
          <a:p xmlns:a="http://schemas.openxmlformats.org/drawingml/2006/main">
            <a:r>
              <a:t/>
            </a:r>
          </a:p>
          <a:p xmlns:a="http://schemas.openxmlformats.org/drawingml/2006/main">
            <a:r>
              <a:rPr b="0"/>
              <a:t>At a work limit, stop and state what is incomplete. A limited brief still needs its checks before export. Independent comparisons could become worker assignments later, but remain within the same approved scope and cannot export on their own.</a:t>
            </a:r>
          </a:p>
          <a:p xmlns:a="http://schemas.openxmlformats.org/drawingml/2006/main">
            <a:r>
              <a:t/>
            </a:r>
          </a:p>
          <a:p xmlns:a="http://schemas.openxmlformats.org/drawingml/2006/main">
            <a:r>
              <a:rPr b="0"/>
              <a:t>The workflow now has a verification stage. Next, we define what its checks should establish.</a:t>
            </a:r>
          </a:p>
          <a:p xmlns:a="http://schemas.openxmlformats.org/drawingml/2006/main">
            <a:r>
              <a:t/>
            </a:r>
          </a:p>
          <a:p xmlns:a="http://schemas.openxmlformats.org/drawingml/2006/main">
            <a:r>
              <a:rPr b="1"/>
              <a:t>The loop is where autonomy gets its limits. Start with the workflow.</a:t>
            </a:r>
          </a:p>
          <a:p xmlns:a="http://schemas.openxmlformats.org/drawingml/2006/main">
            <a:r>
              <a:t/>
            </a:r>
          </a:p>
          <a:p xmlns:a="http://schemas.openxmlformats.org/drawingml/2006/main">
            <a:r>
              <a:rPr b="0"/>
              <a:t>Advance to slide 30.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“Error analysis is the most important activity in evals.”</a:t>
            </a:r>
          </a:p>
          <a:p xmlns:a="http://schemas.openxmlformats.org/drawingml/2006/main">
            <a:r>
              <a:t/>
            </a:r>
          </a:p>
          <a:p xmlns:a="http://schemas.openxmlformats.org/drawingml/2006/main">
            <a:r>
              <a:rPr b="0"/>
              <a:t>Inspect the result and the trace before choosing a repair. A score becomes useful when the team understands the behavior behind it.</a:t>
            </a:r>
          </a:p>
          <a:p xmlns:a="http://schemas.openxmlformats.org/drawingml/2006/main">
            <a:r>
              <a:t/>
            </a:r>
          </a:p>
          <a:p xmlns:a="http://schemas.openxmlformats.org/drawingml/2006/main">
            <a:r>
              <a:rPr b="0"/>
              <a:t>Advance to slide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Verification informs acceptance of a particular result or action. Evaluation measures behavior across representative cases and repeated attempts. The same checks can serve both purposes. Evals are tests of an AI system. Ordinary software tests remain part of the work.</a:t>
            </a:r>
          </a:p>
          <a:p xmlns:a="http://schemas.openxmlformats.org/drawingml/2006/main">
            <a:r>
              <a:t/>
            </a:r>
          </a:p>
          <a:p xmlns:a="http://schemas.openxmlformats.org/drawingml/2006/main">
            <a:r>
              <a:rPr b="0"/>
              <a:t>A coding agent running repository checks gives you evidence to inspect. Its statement that everything passed still needs to agree with the actual result and the task's requirements.</a:t>
            </a:r>
          </a:p>
          <a:p xmlns:a="http://schemas.openxmlformats.org/drawingml/2006/main">
            <a:r>
              <a:t/>
            </a:r>
          </a:p>
          <a:p xmlns:a="http://schemas.openxmlformats.org/drawingml/2006/main">
            <a:r>
              <a:rPr b="0"/>
              <a:t>A successful demonstration shows a useful path. A product needs evidence about intended use and its important failure cases. </a:t>
            </a:r>
            <a:r>
              <a:rPr b="1"/>
              <a:t>An implementation can pass interface checks while producing an unsupported conclusion.</a:t>
            </a:r>
            <a:r>
              <a:rPr b="0"/>
              <a:t> Evaluate the outcome the user depends on, including required constraints.</a:t>
            </a:r>
          </a:p>
          <a:p xmlns:a="http://schemas.openxmlformats.org/drawingml/2006/main">
            <a:r>
              <a:t/>
            </a:r>
          </a:p>
          <a:p xmlns:a="http://schemas.openxmlformats.org/drawingml/2006/main">
            <a:r>
              <a:rPr b="0"/>
              <a:t>Advance to slide 32.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success criteria. Define acceptable outcomes, serious failures, and useful limitations with domain experts. Broad criteria can be hard to apply consistently. Narrow checks can miss important behavior or reject valid variation. Reviewing outputs helps expose requirements you did not initially express.</a:t>
            </a:r>
          </a:p>
          <a:p xmlns:a="http://schemas.openxmlformats.org/drawingml/2006/main">
            <a:r>
              <a:t/>
            </a:r>
          </a:p>
          <a:p xmlns:a="http://schemas.openxmlformats.org/drawingml/2006/main">
            <a:r>
              <a:rPr b="0"/>
              <a:t>Second, which graders? Code checks are useful for conditions you can establish directly, such as a reference resolving or an expected state existing. Model graders can help judge varied outputs against criteria, but add cost and can disagree with experts. Expert review supplies domain judgment and uses limited expert time.</a:t>
            </a:r>
          </a:p>
          <a:p xmlns:a="http://schemas.openxmlformats.org/drawingml/2006/main">
            <a:r>
              <a:t/>
            </a:r>
          </a:p>
          <a:p xmlns:a="http://schemas.openxmlformats.org/drawingml/2006/main">
            <a:r>
              <a:rPr b="0"/>
              <a:t>Use direct checks where they fit. Compare model-grader decisions with expert decisions, inspect disagreements, and recheck as tasks or graders change. </a:t>
            </a:r>
            <a:r>
              <a:rPr b="1"/>
              <a:t>A grader also needs evaluation.</a:t>
            </a:r>
            <a:r>
              <a:rPr b="0"/>
              <a:t> In this example, a model that can receive the data is not automatically a suitable grader.</a:t>
            </a:r>
          </a:p>
          <a:p xmlns:a="http://schemas.openxmlformats.org/drawingml/2006/main">
            <a:r>
              <a:t/>
            </a:r>
          </a:p>
          <a:p xmlns:a="http://schemas.openxmlformats.org/drawingml/2006/main">
            <a:r>
              <a:rPr b="0"/>
              <a:t>Third, cases and trials. Begin with manageable cases from real work and failures, then expand coverage. Include conditions where a limitation or handoff is correct. Repeat trials where consistency matters. One successful attempt and reliable repeated use answer different questions. Preserve established cases for regression checks and add production failures.</a:t>
            </a:r>
          </a:p>
          <a:p xmlns:a="http://schemas.openxmlformats.org/drawingml/2006/main">
            <a:r>
              <a:t/>
            </a:r>
          </a:p>
          <a:p xmlns:a="http://schemas.openxmlformats.org/drawingml/2006/main">
            <a:r>
              <a:rPr b="0"/>
              <a:t>Advance to slide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Using a generic judge without error analysis or result checks.</a:t>
            </a:r>
            <a:r>
              <a:rPr b="0"/>
              <a:t> Inspect actual outcomes, representative coverage, and the grader itself before selecting a repair. Evaluation continues after deployment and after changes to the model or harness.</a:t>
            </a:r>
          </a:p>
          <a:p xmlns:a="http://schemas.openxmlformats.org/drawingml/2006/main">
            <a:r>
              <a:t/>
            </a:r>
          </a:p>
          <a:p xmlns:a="http://schemas.openxmlformats.org/drawingml/2006/main">
            <a:r>
              <a:rPr b="0"/>
              <a:t>Advance to slide 34.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answer says, “The board confirmed bearing wear,” and cites FRB-042-MIN revision two, section three, paragraph two. That reference exists. The direct reference check passes.</a:t>
            </a:r>
          </a:p>
          <a:p xmlns:a="http://schemas.openxmlformats.org/drawingml/2006/main">
            <a:r>
              <a:t/>
            </a:r>
          </a:p>
          <a:p xmlns:a="http://schemas.openxmlformats.org/drawingml/2006/main">
            <a:r>
              <a:rPr b="0"/>
              <a:t>But the minutes leave the cause unresolved and require inspection before assigning one. The source-support check fails. </a:t>
            </a:r>
            <a:r>
              <a:rPr b="1"/>
              <a:t>Citation existence and semantic support are different checks.</a:t>
            </a:r>
            <a:r>
              <a:rPr b="0"/>
              <a:t> The expected answer preserves the unresolved cause and outstanding inspection.</a:t>
            </a:r>
          </a:p>
          <a:p xmlns:a="http://schemas.openxmlformats.org/drawingml/2006/main">
            <a:r>
              <a:t/>
            </a:r>
          </a:p>
          <a:p xmlns:a="http://schemas.openxmlformats.org/drawingml/2006/main">
            <a:r>
              <a:rPr b="0"/>
              <a:t>Use an authorized expert, or a suitable expert-calibrated model grader within the approved data scope, for that judgment. The failing draft cannot proceed to export. Corrected content must be checked again.</a:t>
            </a:r>
          </a:p>
          <a:p xmlns:a="http://schemas.openxmlformats.org/drawingml/2006/main">
            <a:r>
              <a:t/>
            </a:r>
          </a:p>
          <a:p xmlns:a="http://schemas.openxmlformats.org/drawingml/2006/main">
            <a:r>
              <a:rPr b="0"/>
              <a:t>Retain this as one regression case within the broader suite. Inspect the trace: did parsing, retrieval, compaction, or synthesis lose the qualification? Repair what the evidence identifies and rerun relevant cases. Passing this single check does not establish every other requirement.</a:t>
            </a:r>
          </a:p>
          <a:p xmlns:a="http://schemas.openxmlformats.org/drawingml/2006/main">
            <a:r>
              <a:t/>
            </a:r>
          </a:p>
          <a:p xmlns:a="http://schemas.openxmlformats.org/drawingml/2006/main">
            <a:r>
              <a:rPr b="0"/>
              <a:t>AgentOps connects that evidence to response during real use.</a:t>
            </a:r>
          </a:p>
          <a:p xmlns:a="http://schemas.openxmlformats.org/drawingml/2006/main">
            <a:r>
              <a:t/>
            </a:r>
          </a:p>
          <a:p xmlns:a="http://schemas.openxmlformats.org/drawingml/2006/main">
            <a:r>
              <a:rPr b="1"/>
              <a:t>Check the action before accepting it. Measure behavior across representative cases. Keep both checks running as the system changes.</a:t>
            </a:r>
          </a:p>
          <a:p xmlns:a="http://schemas.openxmlformats.org/drawingml/2006/main">
            <a:r>
              <a:t/>
            </a:r>
          </a:p>
          <a:p xmlns:a="http://schemas.openxmlformats.org/drawingml/2006/main">
            <a:r>
              <a:rPr b="0"/>
              <a:t>Advance to slide 35.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QUOTE</a:t>
            </a:r>
          </a:p>
          <a:p xmlns:a="http://schemas.openxmlformats.org/drawingml/2006/main">
            <a:r>
              <a:t/>
            </a:r>
          </a:p>
          <a:p xmlns:a="http://schemas.openxmlformats.org/drawingml/2006/main">
            <a:r>
              <a:rPr b="1"/>
              <a:t>“The next wave of agent failures won't be about what agents can't do. It'll be about what teams can't observe.”</a:t>
            </a:r>
          </a:p>
          <a:p xmlns:a="http://schemas.openxmlformats.org/drawingml/2006/main">
            <a:r>
              <a:t/>
            </a:r>
          </a:p>
          <a:p xmlns:a="http://schemas.openxmlformats.org/drawingml/2006/main">
            <a:r>
              <a:rPr b="0"/>
              <a:t>That is Guillermo Rauch's perspective, quoted in Datadog's report. The team needs evidence of actual behavior and responsibility for responding when the system departs from its intended use.</a:t>
            </a:r>
          </a:p>
          <a:p xmlns:a="http://schemas.openxmlformats.org/drawingml/2006/main">
            <a:r>
              <a:t/>
            </a:r>
          </a:p>
          <a:p xmlns:a="http://schemas.openxmlformats.org/drawingml/2006/main">
            <a:r>
              <a:rPr b="0"/>
              <a:t>Advance to slide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DEFINITION AND IMPORTANCE</a:t>
            </a:r>
          </a:p>
          <a:p xmlns:a="http://schemas.openxmlformats.org/drawingml/2006/main">
            <a:r>
              <a:t/>
            </a:r>
          </a:p>
          <a:p xmlns:a="http://schemas.openxmlformats.org/drawingml/2006/main">
            <a:r>
              <a:rPr b="0"/>
              <a:t>AgentOps means operating agentic systems with observability, enforced controls, and accountable response. Observability connects actions and outcomes. Guardrails constrain behavior. Identity and security establish access and authority. Governance assigns responsibility for changes and incidents. Permissions, execution limits, and usage information are familiar from coding agents; a deployed product needs a responsible team behind them.</a:t>
            </a:r>
          </a:p>
          <a:p xmlns:a="http://schemas.openxmlformats.org/drawingml/2006/main">
            <a:r>
              <a:t/>
            </a:r>
          </a:p>
          <a:p xmlns:a="http://schemas.openxmlformats.org/drawingml/2006/main">
            <a:r>
              <a:rPr b="0"/>
              <a:t>Models, prompts, records, permissions, and services can change without a corresponding application-code change. Quality, cost, latency, and access may change with them. New integrations also create combinations of capabilities that deserve a fresh review.</a:t>
            </a:r>
          </a:p>
          <a:p xmlns:a="http://schemas.openxmlformats.org/drawingml/2006/main">
            <a:r>
              <a:t/>
            </a:r>
          </a:p>
          <a:p xmlns:a="http://schemas.openxmlformats.org/drawingml/2006/main">
            <a:r>
              <a:rPr b="0"/>
              <a:t>Advance to slide 37.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DECISIONS AND TRADE-OFFS</a:t>
            </a:r>
          </a:p>
          <a:p xmlns:a="http://schemas.openxmlformats.org/drawingml/2006/main">
            <a:r>
              <a:t/>
            </a:r>
          </a:p>
          <a:p xmlns:a="http://schemas.openxmlformats.org/drawingml/2006/main">
            <a:r>
              <a:rPr b="0"/>
              <a:t>First, authority. Define whose scope an action uses, which records it permits, and where information may go. Start with least privilege and enforce boundaries outside the model. Broader access makes more tasks possible and expands what a wrong request can affect.</a:t>
            </a:r>
          </a:p>
          <a:p xmlns:a="http://schemas.openxmlformats.org/drawingml/2006/main">
            <a:r>
              <a:t/>
            </a:r>
          </a:p>
          <a:p xmlns:a="http://schemas.openxmlformats.org/drawingml/2006/main">
            <a:r>
              <a:rPr b="0"/>
              <a:t>Second, observation. Connect requests to source revisions, observable actions, checks, and outcomes. Track quality, cost per completed task, and end-to-end latency, including retries and verification. Choose evidence that supports investigation and protect access to it. More telemetry also creates more information to manage.</a:t>
            </a:r>
          </a:p>
          <a:p xmlns:a="http://schemas.openxmlformats.org/drawingml/2006/main">
            <a:r>
              <a:t/>
            </a:r>
          </a:p>
          <a:p xmlns:a="http://schemas.openxmlformats.org/drawingml/2006/main">
            <a:r>
              <a:rPr b="0"/>
              <a:t>Third, operating limits and handoff. Orchestration implements the run's rules. Here, assign the product policy and response: what happens when a check fails, evidence is unavailable, or a budget is exhausted? The person taking over needs the task, known state, relevant evidence, and unresolved questions.</a:t>
            </a:r>
          </a:p>
          <a:p xmlns:a="http://schemas.openxmlformats.org/drawingml/2006/main">
            <a:r>
              <a:t/>
            </a:r>
          </a:p>
          <a:p xmlns:a="http://schemas.openxmlformats.org/drawingml/2006/main">
            <a:r>
              <a:rPr b="0"/>
              <a:t>Fourth, accountability. Identify who approves changes and who investigates incidents. Keep a way to restrict a capability or revert a problematic configuration. Evaluate changes and monitor their effects. Reverting configuration does not automatically undo an action already completed.</a:t>
            </a:r>
          </a:p>
          <a:p xmlns:a="http://schemas.openxmlformats.org/drawingml/2006/main">
            <a:r>
              <a:t/>
            </a:r>
          </a:p>
          <a:p xmlns:a="http://schemas.openxmlformats.org/drawingml/2006/main">
            <a:r>
              <a:rPr b="0"/>
              <a:t>Advance to slide 38.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CHALLENGES AND PITFALLS</a:t>
            </a:r>
          </a:p>
          <a:p xmlns:a="http://schemas.openxmlformats.org/drawingml/2006/main">
            <a:r>
              <a:t/>
            </a:r>
          </a:p>
          <a:p xmlns:a="http://schemas.openxmlformats.org/drawingml/2006/main">
            <a:r>
              <a:rPr b="0"/>
              <a:t>The pitfall is </a:t>
            </a:r>
            <a:r>
              <a:rPr b="1"/>
              <a:t>Combining private data, untrusted content, and outbound access without reviewing the risk.</a:t>
            </a:r>
            <a:r>
              <a:rPr b="0"/>
              <a:t> Willison describes private data, untrusted content, and external communication combining into a potential path for data theft. A document can contain instructions, and an outbound request can carry information. Review the combined path and break or constrain it.</a:t>
            </a:r>
          </a:p>
          <a:p xmlns:a="http://schemas.openxmlformats.org/drawingml/2006/main">
            <a:r>
              <a:t/>
            </a:r>
          </a:p>
          <a:p xmlns:a="http://schemas.openxmlformats.org/drawingml/2006/main">
            <a:r>
              <a:rPr b="0"/>
              <a:t>This is one threat model, not a complete safety test. A probabilistic filter can contribute to protection but is insufficient as the sole security boundary.</a:t>
            </a:r>
          </a:p>
          <a:p xmlns:a="http://schemas.openxmlformats.org/drawingml/2006/main">
            <a:r>
              <a:t/>
            </a:r>
          </a:p>
          <a:p xmlns:a="http://schemas.openxmlformats.org/drawingml/2006/main">
            <a:r>
              <a:rPr b="0"/>
              <a:t>Advance to slide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FRB APPLICATION</a:t>
            </a:r>
          </a:p>
          <a:p xmlns:a="http://schemas.openxmlformats.org/drawingml/2006/main">
            <a:r>
              <a:t/>
            </a:r>
          </a:p>
          <a:p xmlns:a="http://schemas.openxmlformats.org/drawingml/2006/main">
            <a:r>
              <a:rPr b="0"/>
              <a:t>The operating agreement carries forward our approved processing scope and permitted export destinations. Apply those restrictions to derived context, traces, and evaluation artifacts too.</a:t>
            </a:r>
          </a:p>
          <a:p xmlns:a="http://schemas.openxmlformats.org/drawingml/2006/main">
            <a:r>
              <a:t/>
            </a:r>
          </a:p>
          <a:p xmlns:a="http://schemas.openxmlformats.org/drawingml/2006/main">
            <a:r>
              <a:rPr b="0"/>
              <a:t>Connect each brief to the source revisions, actions, checks, and export receipt or unknown state. Monitor supported findings, freshness, parsing and tool failures, cost per completed brief, and latency. Assign an authorized responder for failed checks, missing evidence, exhausted budgets, and unresolved export outcomes.</a:t>
            </a:r>
          </a:p>
          <a:p xmlns:a="http://schemas.openxmlformats.org/drawingml/2006/main">
            <a:r>
              <a:t/>
            </a:r>
          </a:p>
          <a:p xmlns:a="http://schemas.openxmlformats.org/drawingml/2006/main">
            <a:r>
              <a:rPr b="1"/>
              <a:t>People remain responsible for official causes, decisions, and board records.</a:t>
            </a:r>
            <a:r>
              <a:rPr b="0"/>
              <a:t> If failures increase, the team investigates the evidence, repairs the responsible component, reruns the relevant evals, and monitors after the change. Useful controls and signals need people accountable for acting on them.</a:t>
            </a:r>
          </a:p>
          <a:p xmlns:a="http://schemas.openxmlformats.org/drawingml/2006/main">
            <a:r>
              <a:t/>
            </a:r>
          </a:p>
          <a:p xmlns:a="http://schemas.openxmlformats.org/drawingml/2006/main">
            <a:r>
              <a:rPr b="1"/>
              <a:t>The system needs evidence of its behavior and people accountable for responding.</a:t>
            </a:r>
          </a:p>
          <a:p xmlns:a="http://schemas.openxmlformats.org/drawingml/2006/main">
            <a:r>
              <a:t/>
            </a:r>
          </a:p>
          <a:p xmlns:a="http://schemas.openxmlformats.org/drawingml/2006/main">
            <a:r>
              <a:rPr b="0"/>
              <a:t>Advance to slide 40.</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SECTION WRAP</a:t>
            </a:r>
          </a:p>
          <a:p xmlns:a="http://schemas.openxmlformats.org/drawingml/2006/main">
            <a:r>
              <a:t/>
            </a:r>
          </a:p>
          <a:p xmlns:a="http://schemas.openxmlformats.org/drawingml/2006/main">
            <a:r>
              <a:rPr b="0"/>
              <a:t>We have followed one system through six connected responsibilities: Model Selection, Context Engineering, Tools &amp; Extensibility, Orchestration, Verification &amp; Evals, and AgentOps. A change in one can affect the others.</a:t>
            </a:r>
          </a:p>
          <a:p xmlns:a="http://schemas.openxmlformats.org/drawingml/2006/main">
            <a:r>
              <a:t/>
            </a:r>
          </a:p>
          <a:p xmlns:a="http://schemas.openxmlformats.org/drawingml/2006/main">
            <a:r>
              <a:rPr b="0"/>
              <a:t>The diagram is now a map of engineering work you can identify, test, and improve. Much of it builds on software engineering skills you already have. The next section connects those foundations to the additional competencies you need.</a:t>
            </a:r>
          </a:p>
          <a:p xmlns:a="http://schemas.openxmlformats.org/drawingml/2006/main">
            <a:r>
              <a:t/>
            </a:r>
          </a:p>
          <a:p xmlns:a="http://schemas.openxmlformats.org/drawingml/2006/main">
            <a:r>
              <a:rPr b="1"/>
              <a:t>The responsibilities connect. Your existing engineering skills give you a foundation.</a:t>
            </a:r>
          </a:p>
          <a:p xmlns:a="http://schemas.openxmlformats.org/drawingml/2006/main">
            <a:r>
              <a:t/>
            </a:r>
          </a:p>
          <a:p xmlns:a="http://schemas.openxmlformats.org/drawingml/2006/main">
            <a:r>
              <a:rPr b="0"/>
              <a:t>Advance to slide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Now let's focus on your transition: the skills you bring, the new competencies, and a practical place to start.</a:t>
            </a:r>
          </a:p>
          <a:p xmlns:a="http://schemas.openxmlformats.org/drawingml/2006/main">
            <a:r>
              <a:t/>
            </a:r>
          </a:p>
          <a:p xmlns:a="http://schemas.openxmlformats.org/drawingml/2006/main">
            <a:r>
              <a:rPr b="0"/>
              <a:t>Advance to slide 42.</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Your engineering habits give you a foundation.</a:t>
            </a:r>
            <a:r>
              <a:rPr b="0"/>
              <a:t> Decomposition helps you define a bounded workflow and the state it carries.</a:t>
            </a:r>
          </a:p>
          <a:p xmlns:a="http://schemas.openxmlformats.org/drawingml/2006/main">
            <a:r>
              <a:t/>
            </a:r>
          </a:p>
          <a:p xmlns:a="http://schemas.openxmlformats.org/drawingml/2006/main">
            <a:r>
              <a:rPr b="0"/>
              <a:t>Interface design helps you specify what a tool accepts, how it reports errors, and what confirms completion.</a:t>
            </a:r>
          </a:p>
          <a:p xmlns:a="http://schemas.openxmlformats.org/drawingml/2006/main">
            <a:r>
              <a:t/>
            </a:r>
          </a:p>
          <a:p xmlns:a="http://schemas.openxmlformats.org/drawingml/2006/main">
            <a:r>
              <a:rPr b="1"/>
              <a:t>Testing discipline extends to evals and regression cases.</a:t>
            </a:r>
            <a:r>
              <a:rPr b="0"/>
              <a:t> You still run ordinary software tests and check actual results.</a:t>
            </a:r>
          </a:p>
          <a:p xmlns:a="http://schemas.openxmlformats.org/drawingml/2006/main">
            <a:r>
              <a:t/>
            </a:r>
          </a:p>
          <a:p xmlns:a="http://schemas.openxmlformats.org/drawingml/2006/main">
            <a:r>
              <a:rPr b="0"/>
              <a:t>Debugging and observability help you follow model calls and tool actions to investigate where a failure began.</a:t>
            </a:r>
          </a:p>
          <a:p xmlns:a="http://schemas.openxmlformats.org/drawingml/2006/main">
            <a:r>
              <a:t/>
            </a:r>
          </a:p>
          <a:p xmlns:a="http://schemas.openxmlformats.org/drawingml/2006/main">
            <a:r>
              <a:rPr b="0"/>
              <a:t>Least privilege guides access and action limits. Code enforces those boundaries.</a:t>
            </a:r>
          </a:p>
          <a:p xmlns:a="http://schemas.openxmlformats.org/drawingml/2006/main">
            <a:r>
              <a:t/>
            </a:r>
          </a:p>
          <a:p xmlns:a="http://schemas.openxmlformats.org/drawingml/2006/main">
            <a:r>
              <a:rPr b="0"/>
              <a:t>Production operations brings monitoring, incident response, and recovery. You track quality alongside cost and latency.</a:t>
            </a:r>
          </a:p>
          <a:p xmlns:a="http://schemas.openxmlformats.org/drawingml/2006/main">
            <a:r>
              <a:t/>
            </a:r>
          </a:p>
          <a:p xmlns:a="http://schemas.openxmlformats.org/drawingml/2006/main">
            <a:r>
              <a:rPr b="1"/>
              <a:t>You are learning how to apply these skills to model-dependent behavior.</a:t>
            </a:r>
          </a:p>
          <a:p xmlns:a="http://schemas.openxmlformats.org/drawingml/2006/main">
            <a:r>
              <a:t/>
            </a:r>
          </a:p>
          <a:p xmlns:a="http://schemas.openxmlformats.org/drawingml/2006/main">
            <a:r>
              <a:rPr b="0"/>
              <a:t>Advance to slide 43.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The added work is understanding and controlling model-dependent behavior.</a:t>
            </a:r>
            <a:r>
              <a:rPr b="0"/>
              <a:t> These are the competencies behind the six areas we just covered.</a:t>
            </a:r>
          </a:p>
          <a:p xmlns:a="http://schemas.openxmlformats.org/drawingml/2006/main">
            <a:r>
              <a:t/>
            </a:r>
          </a:p>
          <a:p xmlns:a="http://schemas.openxmlformats.org/drawingml/2006/main">
            <a:r>
              <a:rPr b="0"/>
              <a:t>For models, read failures and compare candidates on your task. Learn where their behavior varies and where it falls short.</a:t>
            </a:r>
          </a:p>
          <a:p xmlns:a="http://schemas.openxmlformats.org/drawingml/2006/main">
            <a:r>
              <a:t/>
            </a:r>
          </a:p>
          <a:p xmlns:a="http://schemas.openxmlformats.org/drawingml/2006/main">
            <a:r>
              <a:rPr b="0"/>
              <a:t>For context, select useful evidence and preserve its meaning. A qualification must survive retrieval and summarization.</a:t>
            </a:r>
          </a:p>
          <a:p xmlns:a="http://schemas.openxmlformats.org/drawingml/2006/main">
            <a:r>
              <a:t/>
            </a:r>
          </a:p>
          <a:p xmlns:a="http://schemas.openxmlformats.org/drawingml/2006/main">
            <a:r>
              <a:rPr b="0"/>
              <a:t>For tools, evaluate how the model chooses and uses them. Valid arguments alone do not establish a correct choice or a successful action.</a:t>
            </a:r>
          </a:p>
          <a:p xmlns:a="http://schemas.openxmlformats.org/drawingml/2006/main">
            <a:r>
              <a:t/>
            </a:r>
          </a:p>
          <a:p xmlns:a="http://schemas.openxmlformats.org/drawingml/2006/main">
            <a:r>
              <a:rPr b="0"/>
              <a:t>For orchestration, bound the actions the model can select. Define when to stop, how to recover, and when to hand off.</a:t>
            </a:r>
          </a:p>
          <a:p xmlns:a="http://schemas.openxmlformats.org/drawingml/2006/main">
            <a:r>
              <a:t/>
            </a:r>
          </a:p>
          <a:p xmlns:a="http://schemas.openxmlformats.org/drawingml/2006/main">
            <a:r>
              <a:rPr b="1"/>
              <a:t>For evals, define quality with domain experts and measure behavior across representative cases and repeated trials.</a:t>
            </a:r>
            <a:r>
              <a:rPr b="0"/>
              <a:t> Inspect failures before choosing a repair.</a:t>
            </a:r>
          </a:p>
          <a:p xmlns:a="http://schemas.openxmlformats.org/drawingml/2006/main">
            <a:r>
              <a:t/>
            </a:r>
          </a:p>
          <a:p xmlns:a="http://schemas.openxmlformats.org/drawingml/2006/main">
            <a:r>
              <a:rPr b="0"/>
              <a:t>In production, investigate quality changes. Address prompt injection, permissions, cost per completed task, and latency.</a:t>
            </a:r>
          </a:p>
          <a:p xmlns:a="http://schemas.openxmlformats.org/drawingml/2006/main">
            <a:r>
              <a:t/>
            </a:r>
          </a:p>
          <a:p xmlns:a="http://schemas.openxmlformats.org/drawingml/2006/main">
            <a:r>
              <a:rPr b="1"/>
              <a:t>Learn to measure and control that behavior.</a:t>
            </a:r>
          </a:p>
          <a:p xmlns:a="http://schemas.openxmlformats.org/drawingml/2006/main">
            <a:r>
              <a:t/>
            </a:r>
          </a:p>
          <a:p xmlns:a="http://schemas.openxmlformats.org/drawingml/2006/main">
            <a:r>
              <a:rPr b="0"/>
              <a:t>Advance to slide 44.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Pause for the audience to recognize the six pitfalls.</a:t>
            </a:r>
          </a:p>
          <a:p xmlns:a="http://schemas.openxmlformats.org/drawingml/2006/main">
            <a:r>
              <a:t/>
            </a:r>
          </a:p>
          <a:p xmlns:a="http://schemas.openxmlformats.org/drawingml/2006/main">
            <a:r>
              <a:rPr b="0"/>
              <a:t>You have seen each of these in the system we walked through. </a:t>
            </a:r>
            <a:r>
              <a:rPr b="1"/>
              <a:t>Use them to guide what you inspect in your own system.</a:t>
            </a:r>
          </a:p>
          <a:p xmlns:a="http://schemas.openxmlformats.org/drawingml/2006/main">
            <a:r>
              <a:t/>
            </a:r>
          </a:p>
          <a:p xmlns:a="http://schemas.openxmlformats.org/drawingml/2006/main">
            <a:r>
              <a:rPr b="0"/>
              <a:t>Model and tool choices need task evidence. Context needs curation. More autonomy needs checks and limits. Inspect failures and review the capabilities your integrations combine.</a:t>
            </a:r>
          </a:p>
          <a:p xmlns:a="http://schemas.openxmlformats.org/drawingml/2006/main">
            <a:r>
              <a:t/>
            </a:r>
          </a:p>
          <a:p xmlns:a="http://schemas.openxmlformats.org/drawingml/2006/main">
            <a:r>
              <a:rPr b="1"/>
              <a:t>Start by examining outputs, recording a failure, and defining a check.</a:t>
            </a:r>
            <a:r>
              <a:rPr b="0"/>
              <a:t> The roadmap makes that concrete.</a:t>
            </a:r>
          </a:p>
          <a:p xmlns:a="http://schemas.openxmlformats.org/drawingml/2006/main">
            <a:r>
              <a:t/>
            </a:r>
          </a:p>
          <a:p xmlns:a="http://schemas.openxmlformats.org/drawingml/2006/main">
            <a:r>
              <a:rPr b="0"/>
              <a:t>Advance to slide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1"/>
              <a:t>BUILD 1</a:t>
            </a:r>
          </a:p>
          <a:p xmlns:a="http://schemas.openxmlformats.org/drawingml/2006/main">
            <a:r>
              <a:t/>
            </a:r>
          </a:p>
          <a:p xmlns:a="http://schemas.openxmlformats.org/drawingml/2006/main">
            <a:r>
              <a:rPr b="1"/>
              <a:t>Choose one narrow task</a:t>
            </a:r>
            <a:r>
              <a:rPr b="0"/>
              <a:t>, such as summarizing a document with citations.</a:t>
            </a:r>
          </a:p>
          <a:p xmlns:a="http://schemas.openxmlformats.org/drawingml/2006/main">
            <a:r>
              <a:t/>
            </a:r>
          </a:p>
          <a:p xmlns:a="http://schemas.openxmlformats.org/drawingml/2006/main">
            <a:r>
              <a:rPr b="1"/>
              <a:t>Start with one model call</a:t>
            </a:r>
            <a:r>
              <a:rPr b="0"/>
              <a:t> and examples you can inspect. If you already have an AI feature, use its outputs for that task.</a:t>
            </a:r>
          </a:p>
          <a:p xmlns:a="http://schemas.openxmlformats.org/drawingml/2006/main">
            <a:r>
              <a:t/>
            </a:r>
          </a:p>
          <a:p xmlns:a="http://schemas.openxmlformats.org/drawingml/2006/main">
            <a:r>
              <a:rPr b="1"/>
              <a:t>Turn failures into checks.</a:t>
            </a:r>
            <a:r>
              <a:rPr b="0"/>
              <a:t> Inspect the result, repair the cause, and rerun your cases.</a:t>
            </a:r>
          </a:p>
          <a:p xmlns:a="http://schemas.openxmlformats.org/drawingml/2006/main">
            <a:r>
              <a:t/>
            </a:r>
          </a:p>
          <a:p xmlns:a="http://schemas.openxmlformats.org/drawingml/2006/main">
            <a:r>
              <a:rPr b="1"/>
              <a:t>Add autonomy when evals justify it.</a:t>
            </a:r>
            <a:r>
              <a:rPr b="0"/>
              <a:t> Keep actions bounded and verify the result.</a:t>
            </a:r>
          </a:p>
          <a:p xmlns:a="http://schemas.openxmlformats.org/drawingml/2006/main">
            <a:r>
              <a:t/>
            </a:r>
          </a:p>
          <a:p xmlns:a="http://schemas.openxmlformats.org/drawingml/2006/main">
            <a:r>
              <a:rPr b="1"/>
              <a:t>BUILD 2</a:t>
            </a:r>
          </a:p>
          <a:p xmlns:a="http://schemas.openxmlformats.org/drawingml/2006/main">
            <a:r>
              <a:t/>
            </a:r>
          </a:p>
          <a:p xmlns:a="http://schemas.openxmlformats.org/drawingml/2006/main">
            <a:r>
              <a:rPr b="1"/>
              <a:t>Review twenty to fifty outputs for that task. Record the input, observed behavior, expected behavior, and check.</a:t>
            </a:r>
          </a:p>
          <a:p xmlns:a="http://schemas.openxmlformats.org/drawingml/2006/main">
            <a:r>
              <a:t/>
            </a:r>
          </a:p>
          <a:p xmlns:a="http://schemas.openxmlformats.org/drawingml/2006/main">
            <a:r>
              <a:rPr b="0"/>
              <a:t>For the FRB, check the false confirmation against the unresolved cause. Fix the cause, then rerun this case. </a:t>
            </a:r>
            <a:r>
              <a:rPr b="1"/>
              <a:t>Use the same record for your task.</a:t>
            </a:r>
          </a:p>
          <a:p xmlns:a="http://schemas.openxmlformats.org/drawingml/2006/main">
            <a:r>
              <a:t/>
            </a:r>
          </a:p>
          <a:p xmlns:a="http://schemas.openxmlformats.org/drawingml/2006/main">
            <a:r>
              <a:rPr b="1"/>
              <a:t>Autonomy is earned by evals, one step at a time.</a:t>
            </a:r>
          </a:p>
          <a:p xmlns:a="http://schemas.openxmlformats.org/drawingml/2006/main">
            <a:r>
              <a:t/>
            </a:r>
          </a:p>
          <a:p xmlns:a="http://schemas.openxmlformats.org/drawingml/2006/main">
            <a:r>
              <a:rPr b="0"/>
              <a:t>Advance to slide 46.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0"/>
              <a:t>Resources. They will be in the deck, so take the photo now.</a:t>
            </a:r>
          </a:p>
          <a:p xmlns:a="http://schemas.openxmlformats.org/drawingml/2006/main">
            <a:r>
              <a:t/>
            </a:r>
          </a:p>
          <a:p xmlns:a="http://schemas.openxmlformats.org/drawingml/2006/main">
            <a:r>
              <a:rPr b="0"/>
              <a:t>Advance to slide 47.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rPr b="0"/>
              <a:t>Slide up.</a:t>
            </a:r>
          </a:p>
          <a:p xmlns:a="http://schemas.openxmlformats.org/drawingml/2006/main">
            <a:r>
              <a:t/>
            </a:r>
          </a:p>
          <a:p xmlns:a="http://schemas.openxmlformats.org/drawingml/2006/main">
            <a:r>
              <a:rPr b="1"/>
              <a:t>Using AI makes you an AI-enabled software engineer. Engineering systems that depend on AI makes you an AI engineer.</a:t>
            </a:r>
            <a:r>
              <a:rPr b="0"/>
              <a:t> The difference is not the tools. </a:t>
            </a:r>
            <a:r>
              <a:rPr b="1"/>
              <a:t>It is what you are responsible for.</a:t>
            </a:r>
          </a:p>
          <a:p xmlns:a="http://schemas.openxmlformats.org/drawingml/2006/main">
            <a:r>
              <a:t/>
            </a:r>
          </a:p>
          <a:p xmlns:a="http://schemas.openxmlformats.org/drawingml/2006/main">
            <a:r>
              <a:rPr b="1"/>
              <a:t>BUILD 1</a:t>
            </a:r>
          </a:p>
          <a:p xmlns:a="http://schemas.openxmlformats.org/drawingml/2006/main">
            <a:r>
              <a:t/>
            </a:r>
          </a:p>
          <a:p xmlns:a="http://schemas.openxmlformats.org/drawingml/2006/main">
            <a:r>
              <a:rPr b="0"/>
              <a:t>Let’s use the remaining time for your questions.</a:t>
            </a:r>
          </a:p>
          <a:p xmlns:a="http://schemas.openxmlformats.org/drawingml/2006/main">
            <a:r>
              <a:t/>
            </a:r>
          </a:p>
          <a:p xmlns:a="http://schemas.openxmlformats.org/drawingml/2006/main">
            <a:r>
              <a:rPr b="0"/>
              <a:t>Section 4 begins. The slide stays.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a166becc18d47cb"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2.xml" Id="R64c0e9ad4be043e1"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2.xml" Id="Re3f38e03eadb4c14"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Layouts/slideLayout2.xml><?xml version="1.0" encoding="utf-8"?>
<p:sldLayout xmlns:p="http://schemas.openxmlformats.org/presentationml/2006/main">
  <p:cSld name="Blank">
    <p:spTree>
      <p:nvGrpSpPr>
        <p:cNvPr id="1" name=""/>
        <p:cNvGrpSpPr/>
        <p:nvPr/>
      </p:nvGrpSpPr>
      <p:grpSpPr>
        <a:xfrm xmlns:a="http://schemas.openxmlformats.org/drawingml/2006/main"/>
      </p:grpSpPr>
    </p:spTree>
  </p:cSld>
</p:sldLayout>
</file>

<file path=ppt/slideLayouts/slideLayout3.xml><?xml version="1.0" encoding="utf-8"?>
<p:sldLayout xmlns:p="http://schemas.openxmlformats.org/presentationml/2006/main">
  <p:cSld name="Kicker">
    <p:spTree>
      <p:nvGrpSpPr>
        <p:cNvPr id="1" name=""/>
        <p:cNvGrpSpPr/>
        <p:nvPr/>
      </p:nvGrpSpPr>
      <p:grpSpPr>
        <a:xfrm xmlns:a="http://schemas.openxmlformats.org/drawingml/2006/main"/>
      </p:grpSpPr>
      <p:sp>
        <p:nvSpPr>
          <p:cNvPr id="2" name="placeholder_2">
            <a:extLst xmlns:a="http://schemas.openxmlformats.org/drawingml/2006/main">
              <a:ext uri="{FF2B5EF4-FFF2-40B4-BE49-F238E27FC236}">
                <a16:creationId xmlns:a16="http://schemas.microsoft.com/office/drawing/2014/main" id="{5409966D-45BD-476D-9927-793E97D28A7C}"/>
              </a:ext>
            </a:extLst>
          </p:cNvPr>
          <p:cNvSpPr>
            <a:spLocks xmlns:a="http://schemas.openxmlformats.org/drawingml/2006/main" noGrp="1"/>
          </p:cNvSpPr>
          <p:nvPr>
            <p:ph type="pic" idx="1"/>
          </p:nvPr>
        </p:nvSpPr>
        <p:spPr>
          <a:xfrm xmlns:a="http://schemas.openxmlformats.org/drawingml/2006/main">
            <a:off x="9550400" y="457200"/>
            <a:ext cx="2032000" cy="1143000"/>
          </a:xfrm>
          <a:prstGeom xmlns:a="http://schemas.openxmlformats.org/drawingml/2006/main" prst="rect">
            <a:avLst/>
          </a:prstGeom>
          <a:noFill xmlns:a="http://schemas.openxmlformats.org/drawingml/2006/main"/>
          <a:ln xmlns:a="http://schemas.openxmlformats.org/drawingml/2006/main" w="0">
            <a:noFill/>
          </a:ln>
        </p:spPr>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4cb1fff53a05482a" /><Relationship Type="http://schemas.openxmlformats.org/officeDocument/2006/relationships/slideLayout" Target="/ppt/slideLayouts/slideLayout1.xml" Id="R0b9023de13ce4551" /></Relationships>
</file>

<file path=ppt/slideMasters/_rels/slideMaster2.xml.rels>&#65279;<?xml version="1.0" encoding="utf-8"?><Relationships xmlns="http://schemas.openxmlformats.org/package/2006/relationships"><Relationship Type="http://schemas.openxmlformats.org/officeDocument/2006/relationships/theme" Target="/ppt/slideMasters/theme/theme3.xml" Id="Rc47e234048ca42cf" /><Relationship Type="http://schemas.openxmlformats.org/officeDocument/2006/relationships/slideLayout" Target="/ppt/slideLayouts/slideLayout2.xml" Id="R0a14e8fdba184483" /><Relationship Type="http://schemas.openxmlformats.org/officeDocument/2006/relationships/slideLayout" Target="/ppt/slideLayouts/slideLayout3.xml" Id="Reaeb872b1189408a"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b9023de13ce4551"/>
  </p:sldLayoutIdLst>
  <p:txStyles>
    <p:titleStyle>
      <a:lvl1pPr xmlns:a="http://schemas.openxmlformats.org/drawingml/2006/main" algn="l">
        <a:lnSpc>
          <a:spcPct val="90000"/>
        </a:lnSpc>
        <a:spcBef>
          <a:spcPts val="0"/>
        </a:spcBef>
        <a:buNone/>
        <a:defRPr sz="4400">
          <a:solidFill>
            <a:schemeClr val="tx1"/>
          </a:solidFill>
          <a:latin typeface="Helvetica"/>
          <a:ea typeface="Helvetica"/>
          <a:cs typeface="Helvetica"/>
        </a:defRPr>
      </a:lvl1pPr>
    </p:titleStyle>
    <p:bodyStyle>
      <a:lvl1pPr xmlns:a="http://schemas.openxmlformats.org/drawingml/2006/main" marL="228600" indent="-228600" algn="l">
        <a:lnSpc>
          <a:spcPct val="90000"/>
        </a:lnSpc>
        <a:spcBef>
          <a:spcPts val="1000"/>
        </a:spcBef>
        <a:buChar char="•"/>
        <a:defRPr sz="2800">
          <a:solidFill>
            <a:schemeClr val="tx1"/>
          </a:solidFill>
          <a:latin typeface="Helvetica"/>
          <a:ea typeface="Helvetica"/>
          <a:cs typeface="Helvetica"/>
        </a:defRPr>
      </a:lvl1pPr>
      <a:lvl2pPr xmlns:a="http://schemas.openxmlformats.org/drawingml/2006/main" marL="685800" indent="-228600" algn="l">
        <a:lnSpc>
          <a:spcPct val="90000"/>
        </a:lnSpc>
        <a:spcBef>
          <a:spcPts val="500"/>
        </a:spcBef>
        <a:buChar char="•"/>
        <a:defRPr sz="2400">
          <a:solidFill>
            <a:schemeClr val="tx1"/>
          </a:solidFill>
          <a:latin typeface="Helvetica"/>
          <a:ea typeface="Helvetica"/>
          <a:cs typeface="Helvetica"/>
        </a:defRPr>
      </a:lvl2pPr>
      <a:lvl3pPr xmlns:a="http://schemas.openxmlformats.org/drawingml/2006/main" marL="1143000" indent="-228600" algn="l">
        <a:lnSpc>
          <a:spcPct val="90000"/>
        </a:lnSpc>
        <a:spcBef>
          <a:spcPts val="500"/>
        </a:spcBef>
        <a:buChar char="•"/>
        <a:defRPr sz="2000">
          <a:solidFill>
            <a:schemeClr val="tx1"/>
          </a:solidFill>
          <a:latin typeface="Helvetica"/>
          <a:ea typeface="Helvetica"/>
          <a:cs typeface="Helvetica"/>
        </a:defRPr>
      </a:lvl3pPr>
      <a:lvl4pPr xmlns:a="http://schemas.openxmlformats.org/drawingml/2006/main" marL="1600200" indent="-228600" algn="l">
        <a:lnSpc>
          <a:spcPct val="90000"/>
        </a:lnSpc>
        <a:spcBef>
          <a:spcPts val="500"/>
        </a:spcBef>
        <a:buChar char="•"/>
        <a:defRPr sz="1800">
          <a:solidFill>
            <a:schemeClr val="tx1"/>
          </a:solidFill>
          <a:latin typeface="Helvetica"/>
          <a:ea typeface="Helvetica"/>
          <a:cs typeface="Helvetica"/>
        </a:defRPr>
      </a:lvl4pPr>
      <a:lvl5pPr xmlns:a="http://schemas.openxmlformats.org/drawingml/2006/main" marL="2057400" indent="-228600" algn="l">
        <a:lnSpc>
          <a:spcPct val="90000"/>
        </a:lnSpc>
        <a:spcBef>
          <a:spcPts val="500"/>
        </a:spcBef>
        <a:buChar char="•"/>
        <a:defRPr sz="1800">
          <a:solidFill>
            <a:schemeClr val="tx1"/>
          </a:solidFill>
          <a:latin typeface="Helvetica"/>
          <a:ea typeface="Helvetica"/>
          <a:cs typeface="Helvetica"/>
        </a:defRPr>
      </a:lvl5pPr>
      <a:lvl6pPr xmlns:a="http://schemas.openxmlformats.org/drawingml/2006/main" marL="2514600" indent="-228600" algn="l">
        <a:lnSpc>
          <a:spcPct val="90000"/>
        </a:lnSpc>
        <a:spcBef>
          <a:spcPts val="500"/>
        </a:spcBef>
        <a:buChar char="•"/>
        <a:defRPr sz="1800">
          <a:solidFill>
            <a:schemeClr val="tx1"/>
          </a:solidFill>
          <a:latin typeface="Helvetica"/>
          <a:ea typeface="Helvetica"/>
          <a:cs typeface="Helvetica"/>
        </a:defRPr>
      </a:lvl6pPr>
      <a:lvl7pPr xmlns:a="http://schemas.openxmlformats.org/drawingml/2006/main" marL="2971800" indent="-228600" algn="l">
        <a:lnSpc>
          <a:spcPct val="90000"/>
        </a:lnSpc>
        <a:spcBef>
          <a:spcPts val="500"/>
        </a:spcBef>
        <a:buChar char="•"/>
        <a:defRPr sz="1800">
          <a:solidFill>
            <a:schemeClr val="tx1"/>
          </a:solidFill>
          <a:latin typeface="Helvetica"/>
          <a:ea typeface="Helvetica"/>
          <a:cs typeface="Helvetica"/>
        </a:defRPr>
      </a:lvl7pPr>
      <a:lvl8pPr xmlns:a="http://schemas.openxmlformats.org/drawingml/2006/main" marL="3429000" indent="-228600" algn="l">
        <a:lnSpc>
          <a:spcPct val="90000"/>
        </a:lnSpc>
        <a:spcBef>
          <a:spcPts val="500"/>
        </a:spcBef>
        <a:buChar char="•"/>
        <a:defRPr sz="1800">
          <a:solidFill>
            <a:schemeClr val="tx1"/>
          </a:solidFill>
          <a:latin typeface="Helvetica"/>
          <a:ea typeface="Helvetica"/>
          <a:cs typeface="Helvetica"/>
        </a:defRPr>
      </a:lvl8pPr>
      <a:lvl9pPr xmlns:a="http://schemas.openxmlformats.org/drawingml/2006/main" marL="3886200" indent="-228600" algn="l">
        <a:lnSpc>
          <a:spcPct val="90000"/>
        </a:lnSpc>
        <a:spcBef>
          <a:spcPts val="500"/>
        </a:spcBef>
        <a:buChar char="•"/>
        <a:defRPr sz="1800">
          <a:solidFill>
            <a:schemeClr val="tx1"/>
          </a:solidFill>
          <a:latin typeface="Helvetica"/>
          <a:ea typeface="Helvetica"/>
          <a:cs typeface="Helvetica"/>
        </a:defRPr>
      </a:lvl9pPr>
    </p:bodyStyle>
    <p:otherStyle>
      <a:lvl1pPr xmlns:a="http://schemas.openxmlformats.org/drawingml/2006/main" marL="0" algn="l">
        <a:buNone/>
        <a:defRPr sz="1800">
          <a:solidFill>
            <a:schemeClr val="tx1"/>
          </a:solidFill>
          <a:latin typeface="Helvetica"/>
          <a:ea typeface="Helvetica"/>
          <a:cs typeface="Helvetica"/>
        </a:defRPr>
      </a:lvl1pPr>
      <a:lvl2pPr xmlns:a="http://schemas.openxmlformats.org/drawingml/2006/main" marL="457200" algn="l">
        <a:buNone/>
        <a:defRPr sz="1800">
          <a:solidFill>
            <a:schemeClr val="tx1"/>
          </a:solidFill>
          <a:latin typeface="Helvetica"/>
          <a:ea typeface="Helvetica"/>
          <a:cs typeface="Helvetica"/>
        </a:defRPr>
      </a:lvl2pPr>
      <a:lvl3pPr xmlns:a="http://schemas.openxmlformats.org/drawingml/2006/main" marL="914400" algn="l">
        <a:buNone/>
        <a:defRPr sz="1800">
          <a:solidFill>
            <a:schemeClr val="tx1"/>
          </a:solidFill>
          <a:latin typeface="Helvetica"/>
          <a:ea typeface="Helvetica"/>
          <a:cs typeface="Helvetica"/>
        </a:defRPr>
      </a:lvl3pPr>
      <a:lvl4pPr xmlns:a="http://schemas.openxmlformats.org/drawingml/2006/main" marL="1371600" algn="l">
        <a:buNone/>
        <a:defRPr sz="1800">
          <a:solidFill>
            <a:schemeClr val="tx1"/>
          </a:solidFill>
          <a:latin typeface="Helvetica"/>
          <a:ea typeface="Helvetica"/>
          <a:cs typeface="Helvetica"/>
        </a:defRPr>
      </a:lvl4pPr>
      <a:lvl5pPr xmlns:a="http://schemas.openxmlformats.org/drawingml/2006/main" marL="1828800" algn="l">
        <a:buNone/>
        <a:defRPr sz="1800">
          <a:solidFill>
            <a:schemeClr val="tx1"/>
          </a:solidFill>
          <a:latin typeface="Helvetica"/>
          <a:ea typeface="Helvetica"/>
          <a:cs typeface="Helvetica"/>
        </a:defRPr>
      </a:lvl5pPr>
      <a:lvl6pPr xmlns:a="http://schemas.openxmlformats.org/drawingml/2006/main" marL="2286000" algn="l">
        <a:buNone/>
        <a:defRPr sz="1800">
          <a:solidFill>
            <a:schemeClr val="tx1"/>
          </a:solidFill>
          <a:latin typeface="Helvetica"/>
          <a:ea typeface="Helvetica"/>
          <a:cs typeface="Helvetica"/>
        </a:defRPr>
      </a:lvl6pPr>
      <a:lvl7pPr xmlns:a="http://schemas.openxmlformats.org/drawingml/2006/main" marL="2743200" algn="l">
        <a:buNone/>
        <a:defRPr sz="1800">
          <a:solidFill>
            <a:schemeClr val="tx1"/>
          </a:solidFill>
          <a:latin typeface="Helvetica"/>
          <a:ea typeface="Helvetica"/>
          <a:cs typeface="Helvetica"/>
        </a:defRPr>
      </a:lvl7pPr>
      <a:lvl8pPr xmlns:a="http://schemas.openxmlformats.org/drawingml/2006/main" marL="3200400" algn="l">
        <a:buNone/>
        <a:defRPr sz="1800">
          <a:solidFill>
            <a:schemeClr val="tx1"/>
          </a:solidFill>
          <a:latin typeface="Helvetica"/>
          <a:ea typeface="Helvetica"/>
          <a:cs typeface="Helvetica"/>
        </a:defRPr>
      </a:lvl8pPr>
      <a:lvl9pPr xmlns:a="http://schemas.openxmlformats.org/drawingml/2006/main" marL="3657600" algn="l">
        <a:buNone/>
        <a:defRPr sz="1800">
          <a:solidFill>
            <a:schemeClr val="tx1"/>
          </a:solidFill>
          <a:latin typeface="Helvetica"/>
          <a:ea typeface="Helvetica"/>
          <a:cs typeface="Helvetica"/>
        </a:defRPr>
      </a:lvl9pPr>
    </p:otherStyle>
  </p:txStyles>
</p:sldMaster>
</file>

<file path=ppt/slideMasters/slideMaster2.xml><?xml version="1.0" encoding="utf-8"?>
<p:sldMaster xmlns:p="http://schemas.openxmlformats.org/presentationml/2006/main">
  <p:cSld name="Beyond the Coding Agent">
    <p:bg>
      <p:bgPr>
        <a:solidFill xmlns:a="http://schemas.openxmlformats.org/drawingml/2006/main">
          <a:srgbClr val="14161C"/>
        </a:solidFill>
      </p:bgPr>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51" r:id="R0a14e8fdba184483"/>
    <p:sldLayoutId xmlns:r="http://schemas.openxmlformats.org/officeDocument/2006/relationships" id="2147483652" r:id="Reaeb872b1189408a"/>
  </p:sldLayoutIdLst>
</p:sldMaster>
</file>

<file path=ppt/slideMasters/theme/theme2.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Masters/theme/theme3.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2.xml" Id="R705e51c51da44b5f" /><Relationship Type="http://schemas.openxmlformats.org/officeDocument/2006/relationships/notesSlide" Target="/ppt/notesSlides/notesSlide1.xml" Id="R1df4b1a58b2f4603"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a84e4a9c0dd741dc" /><Relationship Type="http://schemas.openxmlformats.org/officeDocument/2006/relationships/image" Target="/ppt/media/image.png" Id="R35744fc208cf467f" /><Relationship Type="http://schemas.openxmlformats.org/officeDocument/2006/relationships/notesSlide" Target="/ppt/notesSlides/notesSlide2.xml" Id="Rb172f45974cc4f6e"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294b230b6a414aeb" /><Relationship Type="http://schemas.openxmlformats.org/officeDocument/2006/relationships/notesSlide" Target="/ppt/notesSlides/notesSlide3.xml" Id="R2d848ce4f8b64789"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3343e8bfff84426e" /><Relationship Type="http://schemas.openxmlformats.org/officeDocument/2006/relationships/notesSlide" Target="/ppt/notesSlides/notesSlide4.xml" Id="Rf344994c0a3948da"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fd41e90e3acf4a56" /><Relationship Type="http://schemas.openxmlformats.org/officeDocument/2006/relationships/notesSlide" Target="/ppt/notesSlides/notesSlide5.xml" Id="R569d1f7bdd254149"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4765dd4067714941" /><Relationship Type="http://schemas.openxmlformats.org/officeDocument/2006/relationships/notesSlide" Target="/ppt/notesSlides/notesSlide6.xml" Id="Rcf38a424493444c5" /></Relationships>
</file>

<file path=ppt/slides/_rels/slide7.xml.rels>&#65279;<?xml version="1.0" encoding="utf-8"?><Relationships xmlns="http://schemas.openxmlformats.org/package/2006/relationships"><Relationship Type="http://schemas.openxmlformats.org/officeDocument/2006/relationships/slideLayout" Target="/ppt/slideLayouts/slideLayout2.xml" Id="R828b1871a3d94bdf" /><Relationship Type="http://schemas.openxmlformats.org/officeDocument/2006/relationships/notesSlide" Target="/ppt/notesSlides/notesSlide7.xml" Id="Rca6be86e287246ea" /></Relationships>
</file>

<file path=ppt/slides/_rels/slide8.xml.rels>&#65279;<?xml version="1.0" encoding="utf-8"?><Relationships xmlns="http://schemas.openxmlformats.org/package/2006/relationships"><Relationship Type="http://schemas.openxmlformats.org/officeDocument/2006/relationships/slideLayout" Target="/ppt/slideLayouts/slideLayout2.xml" Id="R04affa67102645f4" /><Relationship Type="http://schemas.openxmlformats.org/officeDocument/2006/relationships/notesSlide" Target="/ppt/notesSlides/notesSlide8.xml" Id="Rbac151d472554d67" /></Relationships>
</file>

<file path=ppt/slides/_rels/slide9.xml.rels>&#65279;<?xml version="1.0" encoding="utf-8"?><Relationships xmlns="http://schemas.openxmlformats.org/package/2006/relationships"><Relationship Type="http://schemas.openxmlformats.org/officeDocument/2006/relationships/slideLayout" Target="/ppt/slideLayouts/slideLayout2.xml" Id="Rfcdde1a26777438f" /><Relationship Type="http://schemas.openxmlformats.org/officeDocument/2006/relationships/notesSlide" Target="/ppt/notesSlides/notesSlide9.xml" Id="R9bb0628b16d4431d" /></Relationships>
</file>

<file path=ppt/slides/_rels/slide10.xml.rels>&#65279;<?xml version="1.0" encoding="utf-8"?><Relationships xmlns="http://schemas.openxmlformats.org/package/2006/relationships"><Relationship Type="http://schemas.openxmlformats.org/officeDocument/2006/relationships/slideLayout" Target="/ppt/slideLayouts/slideLayout2.xml" Id="Rb2eae5dce2ad46ee" /><Relationship Type="http://schemas.openxmlformats.org/officeDocument/2006/relationships/image" Target="/ppt/media/image2.png" Id="R031c043a6b424e21" /><Relationship Type="http://schemas.openxmlformats.org/officeDocument/2006/relationships/notesSlide" Target="/ppt/notesSlides/notesSlide10.xml" Id="R2f2d4a5077684d8b" /></Relationships>
</file>

<file path=ppt/slides/_rels/slide11.xml.rels>&#65279;<?xml version="1.0" encoding="utf-8"?><Relationships xmlns="http://schemas.openxmlformats.org/package/2006/relationships"><Relationship Type="http://schemas.openxmlformats.org/officeDocument/2006/relationships/slideLayout" Target="/ppt/slideLayouts/slideLayout2.xml" Id="R4f45adb2f298404d" /><Relationship Type="http://schemas.openxmlformats.org/officeDocument/2006/relationships/image" Target="/ppt/media/image3.png" Id="R1902ce852de948b5" /><Relationship Type="http://schemas.openxmlformats.org/officeDocument/2006/relationships/notesSlide" Target="/ppt/notesSlides/notesSlide11.xml" Id="R37b5766dc53643d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2.xml" Id="R8c28c241ed7e4b72" /><Relationship Type="http://schemas.openxmlformats.org/officeDocument/2006/relationships/image" Target="/ppt/media/image4.png" Id="R7189cdbf3568421c" /><Relationship Type="http://schemas.openxmlformats.org/officeDocument/2006/relationships/notesSlide" Target="/ppt/notesSlides/notesSlide12.xml" Id="R8739aeb529dc405e" /></Relationships>
</file>

<file path=ppt/slides/_rels/slide13.xml.rels>&#65279;<?xml version="1.0" encoding="utf-8"?><Relationships xmlns="http://schemas.openxmlformats.org/package/2006/relationships"><Relationship Type="http://schemas.openxmlformats.org/officeDocument/2006/relationships/slideLayout" Target="/ppt/slideLayouts/slideLayout2.xml" Id="R64460bc0d2234a10" /><Relationship Type="http://schemas.openxmlformats.org/officeDocument/2006/relationships/image" Target="/ppt/media/image5.png" Id="Rf22ac01b307a419f" /><Relationship Type="http://schemas.openxmlformats.org/officeDocument/2006/relationships/notesSlide" Target="/ppt/notesSlides/notesSlide13.xml" Id="R85cf7b7e75ac4184" /></Relationships>
</file>

<file path=ppt/slides/_rels/slide14.xml.rels>&#65279;<?xml version="1.0" encoding="utf-8"?><Relationships xmlns="http://schemas.openxmlformats.org/package/2006/relationships"><Relationship Type="http://schemas.openxmlformats.org/officeDocument/2006/relationships/slideLayout" Target="/ppt/slideLayouts/slideLayout2.xml" Id="Rbb128846c30b4ce2" /><Relationship Type="http://schemas.openxmlformats.org/officeDocument/2006/relationships/image" Target="/ppt/media/image6.png" Id="R0fc1a670e66c41cd" /><Relationship Type="http://schemas.openxmlformats.org/officeDocument/2006/relationships/notesSlide" Target="/ppt/notesSlides/notesSlide14.xml" Id="R66f0626dbd254878" /></Relationships>
</file>

<file path=ppt/slides/_rels/slide15.xml.rels>&#65279;<?xml version="1.0" encoding="utf-8"?><Relationships xmlns="http://schemas.openxmlformats.org/package/2006/relationships"><Relationship Type="http://schemas.openxmlformats.org/officeDocument/2006/relationships/slideLayout" Target="/ppt/slideLayouts/slideLayout2.xml" Id="Raefe13d01fd94dcc" /><Relationship Type="http://schemas.openxmlformats.org/officeDocument/2006/relationships/image" Target="/ppt/media/image7.png" Id="Rbfe7286223444816" /><Relationship Type="http://schemas.openxmlformats.org/officeDocument/2006/relationships/notesSlide" Target="/ppt/notesSlides/notesSlide15.xml" Id="Rb5a1182495ac494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2.xml" Id="R460a18b9bf0b45ed" /><Relationship Type="http://schemas.openxmlformats.org/officeDocument/2006/relationships/image" Target="/ppt/media/image8.png" Id="R6708afa2154c4628" /><Relationship Type="http://schemas.openxmlformats.org/officeDocument/2006/relationships/image" Target="/ppt/media/image9.png" Id="Rb0a4958b835f4c84" /><Relationship Type="http://schemas.openxmlformats.org/officeDocument/2006/relationships/notesSlide" Target="/ppt/notesSlides/notesSlide16.xml" Id="R7cc4a0426d444c80" /></Relationships>
</file>

<file path=ppt/slides/_rels/slide17.xml.rels>&#65279;<?xml version="1.0" encoding="utf-8"?><Relationships xmlns="http://schemas.openxmlformats.org/package/2006/relationships"><Relationship Type="http://schemas.openxmlformats.org/officeDocument/2006/relationships/slideLayout" Target="/ppt/slideLayouts/slideLayout2.xml" Id="Rea9136108dc94175" /><Relationship Type="http://schemas.openxmlformats.org/officeDocument/2006/relationships/image" Target="/ppt/media/image10.png" Id="R9f58807e8d074684" /><Relationship Type="http://schemas.openxmlformats.org/officeDocument/2006/relationships/notesSlide" Target="/ppt/notesSlides/notesSlide17.xml" Id="Rcb20dd887038478a" /></Relationships>
</file>

<file path=ppt/slides/_rels/slide18.xml.rels>&#65279;<?xml version="1.0" encoding="utf-8"?><Relationships xmlns="http://schemas.openxmlformats.org/package/2006/relationships"><Relationship Type="http://schemas.openxmlformats.org/officeDocument/2006/relationships/slideLayout" Target="/ppt/slideLayouts/slideLayout2.xml" Id="R0fc2f56158cb49d8" /><Relationship Type="http://schemas.openxmlformats.org/officeDocument/2006/relationships/image" Target="/ppt/media/image11.png" Id="Rbe4d1c4f70ad41d0" /><Relationship Type="http://schemas.openxmlformats.org/officeDocument/2006/relationships/notesSlide" Target="/ppt/notesSlides/notesSlide18.xml" Id="R4d90adb64a0543e5" /></Relationships>
</file>

<file path=ppt/slides/_rels/slide19.xml.rels>&#65279;<?xml version="1.0" encoding="utf-8"?><Relationships xmlns="http://schemas.openxmlformats.org/package/2006/relationships"><Relationship Type="http://schemas.openxmlformats.org/officeDocument/2006/relationships/slideLayout" Target="/ppt/slideLayouts/slideLayout2.xml" Id="Rd2f6fe3c1c9e4fc8" /><Relationship Type="http://schemas.openxmlformats.org/officeDocument/2006/relationships/image" Target="/ppt/media/image12.png" Id="R037276eb6c2749d7" /><Relationship Type="http://schemas.openxmlformats.org/officeDocument/2006/relationships/notesSlide" Target="/ppt/notesSlides/notesSlide19.xml" Id="R7a3a6bf0bd8f428b" /></Relationships>
</file>

<file path=ppt/slides/_rels/slide20.xml.rels>&#65279;<?xml version="1.0" encoding="utf-8"?><Relationships xmlns="http://schemas.openxmlformats.org/package/2006/relationships"><Relationship Type="http://schemas.openxmlformats.org/officeDocument/2006/relationships/slideLayout" Target="/ppt/slideLayouts/slideLayout2.xml" Id="Rcf48018cdc484d3b" /><Relationship Type="http://schemas.openxmlformats.org/officeDocument/2006/relationships/image" Target="/ppt/media/image13.png" Id="R688008f9bf0b42ec" /><Relationship Type="http://schemas.openxmlformats.org/officeDocument/2006/relationships/notesSlide" Target="/ppt/notesSlides/notesSlide20.xml" Id="R8d6b3d3cfeac4b1e" /></Relationships>
</file>

<file path=ppt/slides/_rels/slide21.xml.rels>&#65279;<?xml version="1.0" encoding="utf-8"?><Relationships xmlns="http://schemas.openxmlformats.org/package/2006/relationships"><Relationship Type="http://schemas.openxmlformats.org/officeDocument/2006/relationships/slideLayout" Target="/ppt/slideLayouts/slideLayout2.xml" Id="R03bd4e55be6c4c72" /><Relationship Type="http://schemas.openxmlformats.org/officeDocument/2006/relationships/image" Target="/ppt/media/image14.png" Id="R6d7695ed79684b24" /><Relationship Type="http://schemas.openxmlformats.org/officeDocument/2006/relationships/image" Target="/ppt/media/image15.png" Id="R554562e0dcda4576" /><Relationship Type="http://schemas.openxmlformats.org/officeDocument/2006/relationships/notesSlide" Target="/ppt/notesSlides/notesSlide21.xml" Id="R3c8dd4f56aa94c8f" /></Relationships>
</file>

<file path=ppt/slides/_rels/slide22.xml.rels>&#65279;<?xml version="1.0" encoding="utf-8"?><Relationships xmlns="http://schemas.openxmlformats.org/package/2006/relationships"><Relationship Type="http://schemas.openxmlformats.org/officeDocument/2006/relationships/slideLayout" Target="/ppt/slideLayouts/slideLayout2.xml" Id="Re850d2018b174690" /><Relationship Type="http://schemas.openxmlformats.org/officeDocument/2006/relationships/image" Target="/ppt/media/image16.png" Id="R1ac4fa18b7d146ec" /><Relationship Type="http://schemas.openxmlformats.org/officeDocument/2006/relationships/notesSlide" Target="/ppt/notesSlides/notesSlide22.xml" Id="R94cdd822b4804312" /></Relationships>
</file>

<file path=ppt/slides/_rels/slide23.xml.rels>&#65279;<?xml version="1.0" encoding="utf-8"?><Relationships xmlns="http://schemas.openxmlformats.org/package/2006/relationships"><Relationship Type="http://schemas.openxmlformats.org/officeDocument/2006/relationships/slideLayout" Target="/ppt/slideLayouts/slideLayout2.xml" Id="Rb4eed500f9db4958" /><Relationship Type="http://schemas.openxmlformats.org/officeDocument/2006/relationships/image" Target="/ppt/media/image17.png" Id="R0ae9d1b7655041e3" /><Relationship Type="http://schemas.openxmlformats.org/officeDocument/2006/relationships/notesSlide" Target="/ppt/notesSlides/notesSlide23.xml" Id="R8ba86ac2952d44bf" /></Relationships>
</file>

<file path=ppt/slides/_rels/slide24.xml.rels>&#65279;<?xml version="1.0" encoding="utf-8"?><Relationships xmlns="http://schemas.openxmlformats.org/package/2006/relationships"><Relationship Type="http://schemas.openxmlformats.org/officeDocument/2006/relationships/slideLayout" Target="/ppt/slideLayouts/slideLayout2.xml" Id="Ra80af6c264964cdf" /><Relationship Type="http://schemas.openxmlformats.org/officeDocument/2006/relationships/image" Target="/ppt/media/image18.png" Id="R6859ec60a88a4e8d" /><Relationship Type="http://schemas.openxmlformats.org/officeDocument/2006/relationships/notesSlide" Target="/ppt/notesSlides/notesSlide24.xml" Id="Rc359949ab058449d" /></Relationships>
</file>

<file path=ppt/slides/_rels/slide25.xml.rels>&#65279;<?xml version="1.0" encoding="utf-8"?><Relationships xmlns="http://schemas.openxmlformats.org/package/2006/relationships"><Relationship Type="http://schemas.openxmlformats.org/officeDocument/2006/relationships/slideLayout" Target="/ppt/slideLayouts/slideLayout2.xml" Id="Rc5032a4707f4414a" /><Relationship Type="http://schemas.openxmlformats.org/officeDocument/2006/relationships/image" Target="/ppt/media/image19.png" Id="R7f3c7484936040cd" /><Relationship Type="http://schemas.openxmlformats.org/officeDocument/2006/relationships/notesSlide" Target="/ppt/notesSlides/notesSlide25.xml" Id="R8578a4d4adfd4020" /></Relationships>
</file>

<file path=ppt/slides/_rels/slide26.xml.rels>&#65279;<?xml version="1.0" encoding="utf-8"?><Relationships xmlns="http://schemas.openxmlformats.org/package/2006/relationships"><Relationship Type="http://schemas.openxmlformats.org/officeDocument/2006/relationships/slideLayout" Target="/ppt/slideLayouts/slideLayout2.xml" Id="Rc9d9d69c09e24058" /><Relationship Type="http://schemas.openxmlformats.org/officeDocument/2006/relationships/image" Target="/ppt/media/image20.png" Id="R80c7b7de4da145df" /><Relationship Type="http://schemas.openxmlformats.org/officeDocument/2006/relationships/image" Target="/ppt/media/image21.png" Id="R714d14f5e0e643c6" /><Relationship Type="http://schemas.openxmlformats.org/officeDocument/2006/relationships/notesSlide" Target="/ppt/notesSlides/notesSlide26.xml" Id="Rbc95d04c9d4f469e" /></Relationships>
</file>

<file path=ppt/slides/_rels/slide27.xml.rels>&#65279;<?xml version="1.0" encoding="utf-8"?><Relationships xmlns="http://schemas.openxmlformats.org/package/2006/relationships"><Relationship Type="http://schemas.openxmlformats.org/officeDocument/2006/relationships/slideLayout" Target="/ppt/slideLayouts/slideLayout2.xml" Id="R61e48aa3da43461b" /><Relationship Type="http://schemas.openxmlformats.org/officeDocument/2006/relationships/image" Target="/ppt/media/image22.png" Id="Rac7b53cd829f43ec" /><Relationship Type="http://schemas.openxmlformats.org/officeDocument/2006/relationships/notesSlide" Target="/ppt/notesSlides/notesSlide27.xml" Id="Rbd5e9f30abe742e4" /></Relationships>
</file>

<file path=ppt/slides/_rels/slide28.xml.rels>&#65279;<?xml version="1.0" encoding="utf-8"?><Relationships xmlns="http://schemas.openxmlformats.org/package/2006/relationships"><Relationship Type="http://schemas.openxmlformats.org/officeDocument/2006/relationships/slideLayout" Target="/ppt/slideLayouts/slideLayout2.xml" Id="Ra93d9fbf175f4cd7" /><Relationship Type="http://schemas.openxmlformats.org/officeDocument/2006/relationships/image" Target="/ppt/media/image23.png" Id="R07d9626de8c44eff" /><Relationship Type="http://schemas.openxmlformats.org/officeDocument/2006/relationships/notesSlide" Target="/ppt/notesSlides/notesSlide28.xml" Id="R4c9f8dc958844590" /></Relationships>
</file>

<file path=ppt/slides/_rels/slide29.xml.rels>&#65279;<?xml version="1.0" encoding="utf-8"?><Relationships xmlns="http://schemas.openxmlformats.org/package/2006/relationships"><Relationship Type="http://schemas.openxmlformats.org/officeDocument/2006/relationships/slideLayout" Target="/ppt/slideLayouts/slideLayout2.xml" Id="R0ec0083674824303" /><Relationship Type="http://schemas.openxmlformats.org/officeDocument/2006/relationships/image" Target="/ppt/media/image24.png" Id="R23c690d034ce459a" /><Relationship Type="http://schemas.openxmlformats.org/officeDocument/2006/relationships/notesSlide" Target="/ppt/notesSlides/notesSlide29.xml" Id="Rf1ab95f64d944a6b" /></Relationships>
</file>

<file path=ppt/slides/_rels/slide30.xml.rels>&#65279;<?xml version="1.0" encoding="utf-8"?><Relationships xmlns="http://schemas.openxmlformats.org/package/2006/relationships"><Relationship Type="http://schemas.openxmlformats.org/officeDocument/2006/relationships/slideLayout" Target="/ppt/slideLayouts/slideLayout2.xml" Id="R918ca04ae9b340fe" /><Relationship Type="http://schemas.openxmlformats.org/officeDocument/2006/relationships/image" Target="/ppt/media/image25.png" Id="R9047731342e04abb" /><Relationship Type="http://schemas.openxmlformats.org/officeDocument/2006/relationships/notesSlide" Target="/ppt/notesSlides/notesSlide30.xml" Id="R742cedbef9bb458b" /></Relationships>
</file>

<file path=ppt/slides/_rels/slide31.xml.rels>&#65279;<?xml version="1.0" encoding="utf-8"?><Relationships xmlns="http://schemas.openxmlformats.org/package/2006/relationships"><Relationship Type="http://schemas.openxmlformats.org/officeDocument/2006/relationships/slideLayout" Target="/ppt/slideLayouts/slideLayout2.xml" Id="R8ecaee6229ef4e5e" /><Relationship Type="http://schemas.openxmlformats.org/officeDocument/2006/relationships/image" Target="/ppt/media/image26.png" Id="R469d4f9ed80840eb" /><Relationship Type="http://schemas.openxmlformats.org/officeDocument/2006/relationships/image" Target="/ppt/media/image27.png" Id="R1cd77fc41ddf42b8" /><Relationship Type="http://schemas.openxmlformats.org/officeDocument/2006/relationships/notesSlide" Target="/ppt/notesSlides/notesSlide31.xml" Id="Rb03fe03652444b0d" /></Relationships>
</file>

<file path=ppt/slides/_rels/slide32.xml.rels>&#65279;<?xml version="1.0" encoding="utf-8"?><Relationships xmlns="http://schemas.openxmlformats.org/package/2006/relationships"><Relationship Type="http://schemas.openxmlformats.org/officeDocument/2006/relationships/slideLayout" Target="/ppt/slideLayouts/slideLayout2.xml" Id="Rfee44fc8b09a4f30" /><Relationship Type="http://schemas.openxmlformats.org/officeDocument/2006/relationships/image" Target="/ppt/media/image28.png" Id="Rd02aa4b3f1c34fa8" /><Relationship Type="http://schemas.openxmlformats.org/officeDocument/2006/relationships/notesSlide" Target="/ppt/notesSlides/notesSlide32.xml" Id="Rc8ebe4d02587494c" /></Relationships>
</file>

<file path=ppt/slides/_rels/slide33.xml.rels>&#65279;<?xml version="1.0" encoding="utf-8"?><Relationships xmlns="http://schemas.openxmlformats.org/package/2006/relationships"><Relationship Type="http://schemas.openxmlformats.org/officeDocument/2006/relationships/slideLayout" Target="/ppt/slideLayouts/slideLayout2.xml" Id="Ra265332a09b840a8" /><Relationship Type="http://schemas.openxmlformats.org/officeDocument/2006/relationships/image" Target="/ppt/media/image29.png" Id="Rbc2ffce72a194cae" /><Relationship Type="http://schemas.openxmlformats.org/officeDocument/2006/relationships/notesSlide" Target="/ppt/notesSlides/notesSlide33.xml" Id="R74896cc60e3948f7" /></Relationships>
</file>

<file path=ppt/slides/_rels/slide34.xml.rels>&#65279;<?xml version="1.0" encoding="utf-8"?><Relationships xmlns="http://schemas.openxmlformats.org/package/2006/relationships"><Relationship Type="http://schemas.openxmlformats.org/officeDocument/2006/relationships/slideLayout" Target="/ppt/slideLayouts/slideLayout2.xml" Id="Re99dfb5e2b7a4ffa" /><Relationship Type="http://schemas.openxmlformats.org/officeDocument/2006/relationships/image" Target="/ppt/media/image30.png" Id="R5d13aead3de34488" /><Relationship Type="http://schemas.openxmlformats.org/officeDocument/2006/relationships/notesSlide" Target="/ppt/notesSlides/notesSlide34.xml" Id="R896aadd6f6ef4da3" /></Relationships>
</file>

<file path=ppt/slides/_rels/slide35.xml.rels>&#65279;<?xml version="1.0" encoding="utf-8"?><Relationships xmlns="http://schemas.openxmlformats.org/package/2006/relationships"><Relationship Type="http://schemas.openxmlformats.org/officeDocument/2006/relationships/slideLayout" Target="/ppt/slideLayouts/slideLayout2.xml" Id="R298bf7ff5b5044d4" /><Relationship Type="http://schemas.openxmlformats.org/officeDocument/2006/relationships/image" Target="/ppt/media/image31.png" Id="R07bb2508f23d49ed" /><Relationship Type="http://schemas.openxmlformats.org/officeDocument/2006/relationships/notesSlide" Target="/ppt/notesSlides/notesSlide35.xml" Id="R1dda5ad48b6b4e4b" /></Relationships>
</file>

<file path=ppt/slides/_rels/slide36.xml.rels>&#65279;<?xml version="1.0" encoding="utf-8"?><Relationships xmlns="http://schemas.openxmlformats.org/package/2006/relationships"><Relationship Type="http://schemas.openxmlformats.org/officeDocument/2006/relationships/slideLayout" Target="/ppt/slideLayouts/slideLayout2.xml" Id="Rebc692e6e1694967" /><Relationship Type="http://schemas.openxmlformats.org/officeDocument/2006/relationships/image" Target="/ppt/media/image32.png" Id="R8cf03e62c709431c" /><Relationship Type="http://schemas.openxmlformats.org/officeDocument/2006/relationships/image" Target="/ppt/media/image33.png" Id="R547cca74be0148ec" /><Relationship Type="http://schemas.openxmlformats.org/officeDocument/2006/relationships/notesSlide" Target="/ppt/notesSlides/notesSlide36.xml" Id="R2544325a3124412a" /></Relationships>
</file>

<file path=ppt/slides/_rels/slide37.xml.rels>&#65279;<?xml version="1.0" encoding="utf-8"?><Relationships xmlns="http://schemas.openxmlformats.org/package/2006/relationships"><Relationship Type="http://schemas.openxmlformats.org/officeDocument/2006/relationships/slideLayout" Target="/ppt/slideLayouts/slideLayout2.xml" Id="Rf2f71c969f084639" /><Relationship Type="http://schemas.openxmlformats.org/officeDocument/2006/relationships/image" Target="/ppt/media/image34.png" Id="R792b4ca420d4426e" /><Relationship Type="http://schemas.openxmlformats.org/officeDocument/2006/relationships/notesSlide" Target="/ppt/notesSlides/notesSlide37.xml" Id="R6e0904087fce490f" /></Relationships>
</file>

<file path=ppt/slides/_rels/slide38.xml.rels>&#65279;<?xml version="1.0" encoding="utf-8"?><Relationships xmlns="http://schemas.openxmlformats.org/package/2006/relationships"><Relationship Type="http://schemas.openxmlformats.org/officeDocument/2006/relationships/slideLayout" Target="/ppt/slideLayouts/slideLayout2.xml" Id="Re47b703eae2949fe" /><Relationship Type="http://schemas.openxmlformats.org/officeDocument/2006/relationships/image" Target="/ppt/media/image35.png" Id="R22aff713efde43b3" /><Relationship Type="http://schemas.openxmlformats.org/officeDocument/2006/relationships/notesSlide" Target="/ppt/notesSlides/notesSlide38.xml" Id="R0b587dbaa19f42d2" /></Relationships>
</file>

<file path=ppt/slides/_rels/slide39.xml.rels>&#65279;<?xml version="1.0" encoding="utf-8"?><Relationships xmlns="http://schemas.openxmlformats.org/package/2006/relationships"><Relationship Type="http://schemas.openxmlformats.org/officeDocument/2006/relationships/slideLayout" Target="/ppt/slideLayouts/slideLayout2.xml" Id="Ra7f14bbec9b0477e" /><Relationship Type="http://schemas.openxmlformats.org/officeDocument/2006/relationships/image" Target="/ppt/media/image36.png" Id="Rcf9d9772cf5a453e" /><Relationship Type="http://schemas.openxmlformats.org/officeDocument/2006/relationships/notesSlide" Target="/ppt/notesSlides/notesSlide39.xml" Id="R43a09915c9f549d8" /></Relationships>
</file>

<file path=ppt/slides/_rels/slide40.xml.rels>&#65279;<?xml version="1.0" encoding="utf-8"?><Relationships xmlns="http://schemas.openxmlformats.org/package/2006/relationships"><Relationship Type="http://schemas.openxmlformats.org/officeDocument/2006/relationships/slideLayout" Target="/ppt/slideLayouts/slideLayout2.xml" Id="R3ac82dcca51b44da" /><Relationship Type="http://schemas.openxmlformats.org/officeDocument/2006/relationships/image" Target="/ppt/media/image37.png" Id="R7ed914474c1b417b" /><Relationship Type="http://schemas.openxmlformats.org/officeDocument/2006/relationships/notesSlide" Target="/ppt/notesSlides/notesSlide40.xml" Id="Rb9855b397c4d42b8" /></Relationships>
</file>

<file path=ppt/slides/_rels/slide41.xml.rels>&#65279;<?xml version="1.0" encoding="utf-8"?><Relationships xmlns="http://schemas.openxmlformats.org/package/2006/relationships"><Relationship Type="http://schemas.openxmlformats.org/officeDocument/2006/relationships/slideLayout" Target="/ppt/slideLayouts/slideLayout2.xml" Id="Rc1466ff233094f54" /><Relationship Type="http://schemas.openxmlformats.org/officeDocument/2006/relationships/image" Target="/ppt/media/image38.png" Id="R353bcbe6f9014f0d" /><Relationship Type="http://schemas.openxmlformats.org/officeDocument/2006/relationships/image" Target="/ppt/media/image39.png" Id="R3d939faa4f8049a2" /><Relationship Type="http://schemas.openxmlformats.org/officeDocument/2006/relationships/notesSlide" Target="/ppt/notesSlides/notesSlide41.xml" Id="Rcfe58c597ad840ff" /></Relationships>
</file>

<file path=ppt/slides/_rels/slide42.xml.rels>&#65279;<?xml version="1.0" encoding="utf-8"?><Relationships xmlns="http://schemas.openxmlformats.org/package/2006/relationships"><Relationship Type="http://schemas.openxmlformats.org/officeDocument/2006/relationships/slideLayout" Target="/ppt/slideLayouts/slideLayout2.xml" Id="R033cce55c49f4d4c" /><Relationship Type="http://schemas.openxmlformats.org/officeDocument/2006/relationships/image" Target="/ppt/media/image40.png" Id="R50a623c191dc459d" /><Relationship Type="http://schemas.openxmlformats.org/officeDocument/2006/relationships/notesSlide" Target="/ppt/notesSlides/notesSlide42.xml" Id="Rf5f1378e67324bf8" /></Relationships>
</file>

<file path=ppt/slides/_rels/slide43.xml.rels>&#65279;<?xml version="1.0" encoding="utf-8"?><Relationships xmlns="http://schemas.openxmlformats.org/package/2006/relationships"><Relationship Type="http://schemas.openxmlformats.org/officeDocument/2006/relationships/slideLayout" Target="/ppt/slideLayouts/slideLayout2.xml" Id="Ra61dd2ee1ffb474e" /><Relationship Type="http://schemas.openxmlformats.org/officeDocument/2006/relationships/image" Target="/ppt/media/image41.png" Id="R1759cd7bc7f742d7" /><Relationship Type="http://schemas.openxmlformats.org/officeDocument/2006/relationships/notesSlide" Target="/ppt/notesSlides/notesSlide43.xml" Id="R3bf1f8d39d644d31" /></Relationships>
</file>

<file path=ppt/slides/_rels/slide44.xml.rels>&#65279;<?xml version="1.0" encoding="utf-8"?><Relationships xmlns="http://schemas.openxmlformats.org/package/2006/relationships"><Relationship Type="http://schemas.openxmlformats.org/officeDocument/2006/relationships/slideLayout" Target="/ppt/slideLayouts/slideLayout2.xml" Id="R8dc0100c76024742" /><Relationship Type="http://schemas.openxmlformats.org/officeDocument/2006/relationships/image" Target="/ppt/media/image42.png" Id="R503ffde4c88441aa" /><Relationship Type="http://schemas.openxmlformats.org/officeDocument/2006/relationships/notesSlide" Target="/ppt/notesSlides/notesSlide44.xml" Id="Rc4fff626158d4d9f" /></Relationships>
</file>

<file path=ppt/slides/_rels/slide45.xml.rels>&#65279;<?xml version="1.0" encoding="utf-8"?><Relationships xmlns="http://schemas.openxmlformats.org/package/2006/relationships"><Relationship Type="http://schemas.openxmlformats.org/officeDocument/2006/relationships/slideLayout" Target="/ppt/slideLayouts/slideLayout2.xml" Id="R4c18e463bcf54a2e" /><Relationship Type="http://schemas.openxmlformats.org/officeDocument/2006/relationships/image" Target="/ppt/media/image43.png" Id="R577db2ebe56c427e" /><Relationship Type="http://schemas.openxmlformats.org/officeDocument/2006/relationships/notesSlide" Target="/ppt/notesSlides/notesSlide45.xml" Id="R5a6ed0337ce94f0a" /></Relationships>
</file>

<file path=ppt/slides/_rels/slide46.xml.rels>&#65279;<?xml version="1.0" encoding="utf-8"?><Relationships xmlns="http://schemas.openxmlformats.org/package/2006/relationships"><Relationship Type="http://schemas.openxmlformats.org/officeDocument/2006/relationships/slideLayout" Target="/ppt/slideLayouts/slideLayout2.xml" Id="Rd2d715da1d1c42a4" /><Relationship Type="http://schemas.openxmlformats.org/officeDocument/2006/relationships/image" Target="/ppt/media/image44.png" Id="Re0938b9d4ed946c7" /><Relationship Type="http://schemas.openxmlformats.org/officeDocument/2006/relationships/notesSlide" Target="/ppt/notesSlides/notesSlide46.xml" Id="R3844247762f74857" /></Relationships>
</file>

<file path=ppt/slides/_rels/slide47.xml.rels>&#65279;<?xml version="1.0" encoding="utf-8"?><Relationships xmlns="http://schemas.openxmlformats.org/package/2006/relationships"><Relationship Type="http://schemas.openxmlformats.org/officeDocument/2006/relationships/slideLayout" Target="/ppt/slideLayouts/slideLayout2.xml" Id="R048ebf7653fa4d50" /><Relationship Type="http://schemas.openxmlformats.org/officeDocument/2006/relationships/notesSlide" Target="/ppt/notesSlides/notesSlide47.xml" Id="R9efb34bf5b2e4821" /></Relationships>
</file>

<file path=ppt/slides/_rels/slide48.xml.rels>&#65279;<?xml version="1.0" encoding="utf-8"?><Relationships xmlns="http://schemas.openxmlformats.org/package/2006/relationships"><Relationship Type="http://schemas.openxmlformats.org/officeDocument/2006/relationships/slideLayout" Target="/ppt/slideLayouts/slideLayout2.xml" Id="R711a57ab97f74707" /><Relationship Type="http://schemas.openxmlformats.org/officeDocument/2006/relationships/image" Target="/ppt/media/image45.png" Id="R1d238312c81247c3" /><Relationship Type="http://schemas.openxmlformats.org/officeDocument/2006/relationships/notesSlide" Target="/ppt/notesSlides/notesSlide48.xml" Id="R7d6f370ca5bf460f" /></Relationships>
</file>

<file path=ppt/slides/_rels/slide49.xml.rels>&#65279;<?xml version="1.0" encoding="utf-8"?><Relationships xmlns="http://schemas.openxmlformats.org/package/2006/relationships"><Relationship Type="http://schemas.openxmlformats.org/officeDocument/2006/relationships/slideLayout" Target="/ppt/slideLayouts/slideLayout2.xml" Id="Rfb0779ef59f7491a" /><Relationship Type="http://schemas.openxmlformats.org/officeDocument/2006/relationships/image" Target="/ppt/media/image46.png" Id="R85b6516440094f45" /><Relationship Type="http://schemas.openxmlformats.org/officeDocument/2006/relationships/notesSlide" Target="/ppt/notesSlides/notesSlide49.xml" Id="Rb59bab7fa98341f7" /></Relationships>
</file>

<file path=ppt/slides/_rels/slide50.xml.rels>&#65279;<?xml version="1.0" encoding="utf-8"?><Relationships xmlns="http://schemas.openxmlformats.org/package/2006/relationships"><Relationship Type="http://schemas.openxmlformats.org/officeDocument/2006/relationships/slideLayout" Target="/ppt/slideLayouts/slideLayout2.xml" Id="R75e555efd2c94e7e" /><Relationship Type="http://schemas.openxmlformats.org/officeDocument/2006/relationships/notesSlide" Target="/ppt/notesSlides/notesSlide50.xml" Id="Re4e966eb9e2047ba" /></Relationships>
</file>

<file path=ppt/slides/_rels/slide51.xml.rels>&#65279;<?xml version="1.0" encoding="utf-8"?><Relationships xmlns="http://schemas.openxmlformats.org/package/2006/relationships"><Relationship Type="http://schemas.openxmlformats.org/officeDocument/2006/relationships/slideLayout" Target="/ppt/slideLayouts/slideLayout2.xml" Id="R111cfcb5734f4b99" /><Relationship Type="http://schemas.openxmlformats.org/officeDocument/2006/relationships/image" Target="/ppt/media/image47.png" Id="R0e06c20e1a254a8e" /><Relationship Type="http://schemas.openxmlformats.org/officeDocument/2006/relationships/notesSlide" Target="/ppt/notesSlides/notesSlide51.xml" Id="R10b7eda8c1314725" /></Relationships>
</file>

<file path=ppt/slides/_rels/slide52.xml.rels>&#65279;<?xml version="1.0" encoding="utf-8"?><Relationships xmlns="http://schemas.openxmlformats.org/package/2006/relationships"><Relationship Type="http://schemas.openxmlformats.org/officeDocument/2006/relationships/slideLayout" Target="/ppt/slideLayouts/slideLayout2.xml" Id="R387ce1240d5d485e" /><Relationship Type="http://schemas.openxmlformats.org/officeDocument/2006/relationships/image" Target="/ppt/media/image47.png" Id="Rec94be37974c4061" /><Relationship Type="http://schemas.openxmlformats.org/officeDocument/2006/relationships/notesSlide" Target="/ppt/notesSlides/notesSlide52.xml" Id="Rd5679f8e6f0a402e" /></Relationships>
</file>

<file path=ppt/slides/_rels/slide53.xml.rels>&#65279;<?xml version="1.0" encoding="utf-8"?><Relationships xmlns="http://schemas.openxmlformats.org/package/2006/relationships"><Relationship Type="http://schemas.openxmlformats.org/officeDocument/2006/relationships/slideLayout" Target="/ppt/slideLayouts/slideLayout2.xml" Id="Rddb0e48e39e94262" /><Relationship Type="http://schemas.openxmlformats.org/officeDocument/2006/relationships/notesSlide" Target="/ppt/notesSlides/notesSlide53.xml" Id="R97174f0bc98f4cfb" /></Relationships>
</file>

<file path=ppt/slides/_rels/slide54.xml.rels>&#65279;<?xml version="1.0" encoding="utf-8"?><Relationships xmlns="http://schemas.openxmlformats.org/package/2006/relationships"><Relationship Type="http://schemas.openxmlformats.org/officeDocument/2006/relationships/slideLayout" Target="/ppt/slideLayouts/slideLayout2.xml" Id="R1238bfa0e7f3423b" /><Relationship Type="http://schemas.openxmlformats.org/officeDocument/2006/relationships/notesSlide" Target="/ppt/notesSlides/notesSlide54.xml" Id="R0cdd6020f0bd4a85" /></Relationships>
</file>

<file path=ppt/slides/slide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 name="01-text-1">
            <a:extLst xmlns:a="http://schemas.openxmlformats.org/drawingml/2006/main">
              <a:ext uri="{FF2B5EF4-FFF2-40B4-BE49-F238E27FC236}">
                <a16:creationId xmlns:a16="http://schemas.microsoft.com/office/drawing/2014/main" id="{473372E0-5C6D-4045-A071-C7B8AF636B38}"/>
              </a:ext>
            </a:extLst>
          </p:cNvPr>
          <p:cNvSpPr>
            <a:spLocks xmlns:a="http://schemas.openxmlformats.org/drawingml/2006/main"/>
          </p:cNvSpPr>
          <p:nvPr/>
        </p:nvSpPr>
        <p:spPr>
          <a:xfrm xmlns:a="http://schemas.openxmlformats.org/drawingml/2006/main">
            <a:off x="609600" y="2349500"/>
            <a:ext cx="10972800" cy="736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Beyond the Coding Agent</a:t>
            </a:r>
          </a:p>
        </p:txBody>
      </p:sp>
      <p:sp>
        <p:nvSpPr>
          <p:cNvPr id="2" name="01-text-2">
            <a:extLst xmlns:a="http://schemas.openxmlformats.org/drawingml/2006/main">
              <a:ext uri="{FF2B5EF4-FFF2-40B4-BE49-F238E27FC236}">
                <a16:creationId xmlns:a16="http://schemas.microsoft.com/office/drawing/2014/main" id="{19E84464-1DB9-4725-9305-633ED1AD60AC}"/>
              </a:ext>
            </a:extLst>
          </p:cNvPr>
          <p:cNvSpPr>
            <a:spLocks xmlns:a="http://schemas.openxmlformats.org/drawingml/2006/main"/>
          </p:cNvSpPr>
          <p:nvPr/>
        </p:nvSpPr>
        <p:spPr>
          <a:xfrm xmlns:a="http://schemas.openxmlformats.org/drawingml/2006/main">
            <a:off x="609600" y="3276600"/>
            <a:ext cx="109728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From Software Engineer to AI Engineer</a:t>
            </a:r>
          </a:p>
        </p:txBody>
      </p:sp>
      <p:sp>
        <p:nvSpPr>
          <p:cNvPr id="3" name="01-text-3">
            <a:extLst xmlns:a="http://schemas.openxmlformats.org/drawingml/2006/main">
              <a:ext uri="{FF2B5EF4-FFF2-40B4-BE49-F238E27FC236}">
                <a16:creationId xmlns:a16="http://schemas.microsoft.com/office/drawing/2014/main" id="{15803AC4-AE08-4525-908F-DF801A016DBD}"/>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Stephen Sequenzia · Senior Staff AI/ML Engineer and Architect</a:t>
            </a:r>
          </a:p>
        </p:txBody>
      </p:sp>
      <p:sp>
        <p:nvSpPr>
          <p:cNvPr id="4" name="narrative-number">
            <a:extLst xmlns:a="http://schemas.openxmlformats.org/drawingml/2006/main">
              <a:ext uri="{FF2B5EF4-FFF2-40B4-BE49-F238E27FC236}">
                <a16:creationId xmlns:a16="http://schemas.microsoft.com/office/drawing/2014/main" id="{FFC34686-35E8-4288-8F1F-D43F5EC898B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Tree>
    <p:extLst>
      <p:ext uri="{BB962C8B-B14F-4D97-AF65-F5344CB8AC3E}">
        <p14:creationId xmlns:p14="http://schemas.microsoft.com/office/powerpoint/2010/main" val="1201798245"/>
      </p:ext>
    </p:extLst>
  </p:cSld>
</p:sld>
</file>

<file path=ppt/slides/slide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12" name="02-image-1"/>
          <p:cNvPicPr>
            <a:picLocks xmlns:a="http://schemas.openxmlformats.org/drawingml/2006/main" noChangeAspect="1"/>
          </p:cNvPicPr>
          <p:nvPr/>
        </p:nvPicPr>
        <p:blipFill>
          <a:blip xmlns:r="http://schemas.openxmlformats.org/officeDocument/2006/relationships" xmlns:a="http://schemas.openxmlformats.org/drawingml/2006/main" r:embed="R35744fc208cf467f"/>
          <a:stretch xmlns:a="http://schemas.openxmlformats.org/drawingml/2006/main"/>
        </p:blipFill>
        <p:spPr>
          <a:xfrm xmlns:a="http://schemas.openxmlformats.org/drawingml/2006/main">
            <a:off x="609600" y="2679700"/>
            <a:ext cx="1828800" cy="1828800"/>
          </a:xfrm>
          <a:prstGeom xmlns:a="http://schemas.openxmlformats.org/drawingml/2006/main" prst="ellipse">
            <a:avLst/>
          </a:prstGeom>
        </p:spPr>
      </p:pic>
      <p:sp>
        <p:nvSpPr>
          <p:cNvPr id="6" name="02-text-2">
            <a:extLst xmlns:a="http://schemas.openxmlformats.org/drawingml/2006/main">
              <a:ext uri="{FF2B5EF4-FFF2-40B4-BE49-F238E27FC236}">
                <a16:creationId xmlns:a16="http://schemas.microsoft.com/office/drawing/2014/main" id="{9ECAB5A7-BD79-4CAC-A65F-E994D692D38A}"/>
              </a:ext>
            </a:extLst>
          </p:cNvPr>
          <p:cNvSpPr>
            <a:spLocks xmlns:a="http://schemas.openxmlformats.org/drawingml/2006/main"/>
          </p:cNvSpPr>
          <p:nvPr/>
        </p:nvSpPr>
        <p:spPr>
          <a:xfrm xmlns:a="http://schemas.openxmlformats.org/drawingml/2006/main">
            <a:off x="4368800" y="952500"/>
            <a:ext cx="72136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Stephen Sequenzia</a:t>
            </a:r>
          </a:p>
        </p:txBody>
      </p:sp>
      <p:sp>
        <p:nvSpPr>
          <p:cNvPr id="7" name="02-text-3">
            <a:extLst xmlns:a="http://schemas.openxmlformats.org/drawingml/2006/main">
              <a:ext uri="{FF2B5EF4-FFF2-40B4-BE49-F238E27FC236}">
                <a16:creationId xmlns:a16="http://schemas.microsoft.com/office/drawing/2014/main" id="{1AF28CD4-5E65-4127-9E3D-1A70C357ED20}"/>
              </a:ext>
            </a:extLst>
          </p:cNvPr>
          <p:cNvSpPr>
            <a:spLocks xmlns:a="http://schemas.openxmlformats.org/drawingml/2006/main"/>
          </p:cNvSpPr>
          <p:nvPr/>
        </p:nvSpPr>
        <p:spPr>
          <a:xfrm xmlns:a="http://schemas.openxmlformats.org/drawingml/2006/main">
            <a:off x="4368800" y="1587500"/>
            <a:ext cx="72136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Senior Staff AI/ML Engineer and Architect</a:t>
            </a:r>
          </a:p>
        </p:txBody>
      </p:sp>
      <p:sp>
        <p:nvSpPr>
          <p:cNvPr id="8" name="02-text-4">
            <a:extLst xmlns:a="http://schemas.openxmlformats.org/drawingml/2006/main">
              <a:ext uri="{FF2B5EF4-FFF2-40B4-BE49-F238E27FC236}">
                <a16:creationId xmlns:a16="http://schemas.microsoft.com/office/drawing/2014/main" id="{BA18D8AF-819C-467A-9C6D-88E2E845D788}"/>
              </a:ext>
            </a:extLst>
          </p:cNvPr>
          <p:cNvSpPr>
            <a:spLocks xmlns:a="http://schemas.openxmlformats.org/drawingml/2006/main"/>
          </p:cNvSpPr>
          <p:nvPr/>
        </p:nvSpPr>
        <p:spPr>
          <a:xfrm xmlns:a="http://schemas.openxmlformats.org/drawingml/2006/main">
            <a:off x="4368800" y="26035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Twenty years putting systems into production.</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last several with a model in the loop.</a:t>
            </a:r>
          </a:p>
        </p:txBody>
      </p:sp>
      <p:sp>
        <p:nvSpPr>
          <p:cNvPr id="9" name="02-text-5">
            <a:extLst xmlns:a="http://schemas.openxmlformats.org/drawingml/2006/main">
              <a:ext uri="{FF2B5EF4-FFF2-40B4-BE49-F238E27FC236}">
                <a16:creationId xmlns:a16="http://schemas.microsoft.com/office/drawing/2014/main" id="{C979FF00-8685-42FB-930A-E64DF66B75EF}"/>
              </a:ext>
            </a:extLst>
          </p:cNvPr>
          <p:cNvSpPr>
            <a:spLocks xmlns:a="http://schemas.openxmlformats.org/drawingml/2006/main"/>
          </p:cNvSpPr>
          <p:nvPr/>
        </p:nvSpPr>
        <p:spPr>
          <a:xfrm xmlns:a="http://schemas.openxmlformats.org/drawingml/2006/main">
            <a:off x="4368800" y="37338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Leads architecture for agentic AI systems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across defense programs.</a:t>
            </a:r>
          </a:p>
        </p:txBody>
      </p:sp>
      <p:sp>
        <p:nvSpPr>
          <p:cNvPr id="10" name="02-text-6">
            <a:extLst xmlns:a="http://schemas.openxmlformats.org/drawingml/2006/main">
              <a:ext uri="{FF2B5EF4-FFF2-40B4-BE49-F238E27FC236}">
                <a16:creationId xmlns:a16="http://schemas.microsoft.com/office/drawing/2014/main" id="{5ABFC295-B975-4D44-81A6-7B8F76E03707}"/>
              </a:ext>
            </a:extLst>
          </p:cNvPr>
          <p:cNvSpPr>
            <a:spLocks xmlns:a="http://schemas.openxmlformats.org/drawingml/2006/main"/>
          </p:cNvSpPr>
          <p:nvPr/>
        </p:nvSpPr>
        <p:spPr>
          <a:xfrm xmlns:a="http://schemas.openxmlformats.org/drawingml/2006/main">
            <a:off x="4368800" y="4864100"/>
            <a:ext cx="72136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Has helped 500+ engineers adopt agents,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watched where using one stops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and engineering one begins.</a:t>
            </a:r>
          </a:p>
        </p:txBody>
      </p:sp>
      <p:sp>
        <p:nvSpPr>
          <p:cNvPr id="11" name="narrative-number">
            <a:extLst xmlns:a="http://schemas.openxmlformats.org/drawingml/2006/main">
              <a:ext uri="{FF2B5EF4-FFF2-40B4-BE49-F238E27FC236}">
                <a16:creationId xmlns:a16="http://schemas.microsoft.com/office/drawing/2014/main" id="{DB5624F2-E3E8-4A0D-9A8A-76F9DB8D2FE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Tree>
    <p:extLst>
      <p:ext uri="{BB962C8B-B14F-4D97-AF65-F5344CB8AC3E}">
        <p14:creationId xmlns:p14="http://schemas.microsoft.com/office/powerpoint/2010/main" val="1709832054"/>
      </p:ext>
    </p:extLst>
  </p:cSld>
</p:sld>
</file>

<file path=ppt/slides/slide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 name="03-text-1">
            <a:extLst xmlns:a="http://schemas.openxmlformats.org/drawingml/2006/main">
              <a:ext uri="{FF2B5EF4-FFF2-40B4-BE49-F238E27FC236}">
                <a16:creationId xmlns:a16="http://schemas.microsoft.com/office/drawing/2014/main" id="{AEE650E0-D24C-4AD8-82E7-18377DCA0A39}"/>
              </a:ext>
            </a:extLst>
          </p:cNvPr>
          <p:cNvSpPr>
            <a:spLocks xmlns:a="http://schemas.openxmlformats.org/drawingml/2006/main"/>
          </p:cNvSpPr>
          <p:nvPr/>
        </p:nvSpPr>
        <p:spPr>
          <a:xfrm xmlns:a="http://schemas.openxmlformats.org/drawingml/2006/main">
            <a:off x="609600" y="4572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Agenda</a:t>
            </a:r>
          </a:p>
        </p:txBody>
      </p:sp>
      <p:sp>
        <p:nvSpPr>
          <p:cNvPr id="13" name="03-text-2">
            <a:extLst xmlns:a="http://schemas.openxmlformats.org/drawingml/2006/main">
              <a:ext uri="{FF2B5EF4-FFF2-40B4-BE49-F238E27FC236}">
                <a16:creationId xmlns:a16="http://schemas.microsoft.com/office/drawing/2014/main" id="{9F4D8D48-CEC0-4260-8365-0F621A1DD156}"/>
              </a:ext>
            </a:extLst>
          </p:cNvPr>
          <p:cNvSpPr>
            <a:spLocks xmlns:a="http://schemas.openxmlformats.org/drawingml/2006/main"/>
          </p:cNvSpPr>
          <p:nvPr/>
        </p:nvSpPr>
        <p:spPr>
          <a:xfrm xmlns:a="http://schemas.openxmlformats.org/drawingml/2006/main">
            <a:off x="609600" y="12700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14" name="03-text-3">
            <a:extLst xmlns:a="http://schemas.openxmlformats.org/drawingml/2006/main">
              <a:ext uri="{FF2B5EF4-FFF2-40B4-BE49-F238E27FC236}">
                <a16:creationId xmlns:a16="http://schemas.microsoft.com/office/drawing/2014/main" id="{2F7724C9-D567-4408-83B2-9BB382A5B19A}"/>
              </a:ext>
            </a:extLst>
          </p:cNvPr>
          <p:cNvSpPr>
            <a:spLocks xmlns:a="http://schemas.openxmlformats.org/drawingml/2006/main"/>
          </p:cNvSpPr>
          <p:nvPr/>
        </p:nvSpPr>
        <p:spPr>
          <a:xfrm xmlns:a="http://schemas.openxmlformats.org/drawingml/2006/main">
            <a:off x="1117600" y="12700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changes when AI becomes part of the product</a:t>
            </a:r>
          </a:p>
        </p:txBody>
      </p:sp>
      <p:sp>
        <p:nvSpPr>
          <p:cNvPr id="15" name="03-text-4">
            <a:extLst xmlns:a="http://schemas.openxmlformats.org/drawingml/2006/main">
              <a:ext uri="{FF2B5EF4-FFF2-40B4-BE49-F238E27FC236}">
                <a16:creationId xmlns:a16="http://schemas.microsoft.com/office/drawing/2014/main" id="{85F43739-560E-47F9-9B20-D43AFDFEA645}"/>
              </a:ext>
            </a:extLst>
          </p:cNvPr>
          <p:cNvSpPr>
            <a:spLocks xmlns:a="http://schemas.openxmlformats.org/drawingml/2006/main"/>
          </p:cNvSpPr>
          <p:nvPr/>
        </p:nvSpPr>
        <p:spPr>
          <a:xfrm xmlns:a="http://schemas.openxmlformats.org/drawingml/2006/main">
            <a:off x="609600" y="18796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16" name="03-text-5">
            <a:extLst xmlns:a="http://schemas.openxmlformats.org/drawingml/2006/main">
              <a:ext uri="{FF2B5EF4-FFF2-40B4-BE49-F238E27FC236}">
                <a16:creationId xmlns:a16="http://schemas.microsoft.com/office/drawing/2014/main" id="{4DF60CE5-0BFF-41E5-810D-0C5D913DB18B}"/>
              </a:ext>
            </a:extLst>
          </p:cNvPr>
          <p:cNvSpPr>
            <a:spLocks xmlns:a="http://schemas.openxmlformats.org/drawingml/2006/main"/>
          </p:cNvSpPr>
          <p:nvPr/>
        </p:nvSpPr>
        <p:spPr>
          <a:xfrm xmlns:a="http://schemas.openxmlformats.org/drawingml/2006/main">
            <a:off x="1117600" y="18796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What AI engineers actually engineer</a:t>
            </a:r>
          </a:p>
        </p:txBody>
      </p:sp>
      <p:sp>
        <p:nvSpPr>
          <p:cNvPr id="17" name="03-text-6">
            <a:extLst xmlns:a="http://schemas.openxmlformats.org/drawingml/2006/main">
              <a:ext uri="{FF2B5EF4-FFF2-40B4-BE49-F238E27FC236}">
                <a16:creationId xmlns:a16="http://schemas.microsoft.com/office/drawing/2014/main" id="{AE04386E-5487-4F05-9006-821DD6E596FB}"/>
              </a:ext>
            </a:extLst>
          </p:cNvPr>
          <p:cNvSpPr>
            <a:spLocks xmlns:a="http://schemas.openxmlformats.org/drawingml/2006/main"/>
          </p:cNvSpPr>
          <p:nvPr/>
        </p:nvSpPr>
        <p:spPr>
          <a:xfrm xmlns:a="http://schemas.openxmlformats.org/drawingml/2006/main">
            <a:off x="609600" y="33401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18" name="03-text-7">
            <a:extLst xmlns:a="http://schemas.openxmlformats.org/drawingml/2006/main">
              <a:ext uri="{FF2B5EF4-FFF2-40B4-BE49-F238E27FC236}">
                <a16:creationId xmlns:a16="http://schemas.microsoft.com/office/drawing/2014/main" id="{64D1F516-008C-4F1B-B8E5-F4147B379139}"/>
              </a:ext>
            </a:extLst>
          </p:cNvPr>
          <p:cNvSpPr>
            <a:spLocks xmlns:a="http://schemas.openxmlformats.org/drawingml/2006/main"/>
          </p:cNvSpPr>
          <p:nvPr/>
        </p:nvSpPr>
        <p:spPr>
          <a:xfrm xmlns:a="http://schemas.openxmlformats.org/drawingml/2006/main">
            <a:off x="1117600" y="33401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Making the transition</a:t>
            </a:r>
          </a:p>
        </p:txBody>
      </p:sp>
      <p:sp>
        <p:nvSpPr>
          <p:cNvPr id="19" name="03-text-8">
            <a:extLst xmlns:a="http://schemas.openxmlformats.org/drawingml/2006/main">
              <a:ext uri="{FF2B5EF4-FFF2-40B4-BE49-F238E27FC236}">
                <a16:creationId xmlns:a16="http://schemas.microsoft.com/office/drawing/2014/main" id="{4D96A502-011E-4573-B48B-AB4AFEE448A9}"/>
              </a:ext>
            </a:extLst>
          </p:cNvPr>
          <p:cNvSpPr>
            <a:spLocks xmlns:a="http://schemas.openxmlformats.org/drawingml/2006/main"/>
          </p:cNvSpPr>
          <p:nvPr/>
        </p:nvSpPr>
        <p:spPr>
          <a:xfrm xmlns:a="http://schemas.openxmlformats.org/drawingml/2006/main">
            <a:off x="609600" y="4279900"/>
            <a:ext cx="3556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0" name="03-text-9">
            <a:extLst xmlns:a="http://schemas.openxmlformats.org/drawingml/2006/main">
              <a:ext uri="{FF2B5EF4-FFF2-40B4-BE49-F238E27FC236}">
                <a16:creationId xmlns:a16="http://schemas.microsoft.com/office/drawing/2014/main" id="{753352FF-E3E6-4B32-90D0-68F0A76C50D3}"/>
              </a:ext>
            </a:extLst>
          </p:cNvPr>
          <p:cNvSpPr>
            <a:spLocks xmlns:a="http://schemas.openxmlformats.org/drawingml/2006/main"/>
          </p:cNvSpPr>
          <p:nvPr/>
        </p:nvSpPr>
        <p:spPr>
          <a:xfrm xmlns:a="http://schemas.openxmlformats.org/drawingml/2006/main">
            <a:off x="1117600" y="4279900"/>
            <a:ext cx="10464800" cy="406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Questions and discussion</a:t>
            </a:r>
          </a:p>
        </p:txBody>
      </p:sp>
      <p:sp>
        <p:nvSpPr>
          <p:cNvPr id="21" name="03-text-10">
            <a:extLst xmlns:a="http://schemas.openxmlformats.org/drawingml/2006/main">
              <a:ext uri="{FF2B5EF4-FFF2-40B4-BE49-F238E27FC236}">
                <a16:creationId xmlns:a16="http://schemas.microsoft.com/office/drawing/2014/main" id="{781E24F4-4885-4DB5-82CB-328A7DED09C5}"/>
              </a:ext>
            </a:extLst>
          </p:cNvPr>
          <p:cNvSpPr>
            <a:spLocks xmlns:a="http://schemas.openxmlformats.org/drawingml/2006/main"/>
          </p:cNvSpPr>
          <p:nvPr/>
        </p:nvSpPr>
        <p:spPr>
          <a:xfrm xmlns:a="http://schemas.openxmlformats.org/drawingml/2006/main">
            <a:off x="1117600" y="2362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1064F8"/>
                </a:solidFill>
                <a:latin typeface="Helvetica"/>
                <a:ea typeface="Helvetica"/>
                <a:cs typeface="Helvetica"/>
              </a:defRPr>
            </a:pPr>
            <a:r>
              <a:rPr b="0">
                <a:solidFill>
                  <a:srgbClr val="1064F8"/>
                </a:solidFill>
                <a:latin typeface="Helvetica"/>
                <a:ea typeface="Helvetica"/>
                <a:cs typeface="Helvetica"/>
              </a:rPr>
              <a:t>Model Selection</a:t>
            </a:r>
          </a:p>
        </p:txBody>
      </p:sp>
      <p:sp>
        <p:nvSpPr>
          <p:cNvPr id="22" name="03-text-11">
            <a:extLst xmlns:a="http://schemas.openxmlformats.org/drawingml/2006/main">
              <a:ext uri="{FF2B5EF4-FFF2-40B4-BE49-F238E27FC236}">
                <a16:creationId xmlns:a16="http://schemas.microsoft.com/office/drawing/2014/main" id="{0E69B645-3AE4-4763-9280-A006F2EEE483}"/>
              </a:ext>
            </a:extLst>
          </p:cNvPr>
          <p:cNvSpPr>
            <a:spLocks xmlns:a="http://schemas.openxmlformats.org/drawingml/2006/main"/>
          </p:cNvSpPr>
          <p:nvPr/>
        </p:nvSpPr>
        <p:spPr>
          <a:xfrm xmlns:a="http://schemas.openxmlformats.org/drawingml/2006/main">
            <a:off x="4597400" y="2362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Context Engineering</a:t>
            </a:r>
          </a:p>
        </p:txBody>
      </p:sp>
      <p:sp>
        <p:nvSpPr>
          <p:cNvPr id="23" name="03-text-12">
            <a:extLst xmlns:a="http://schemas.openxmlformats.org/drawingml/2006/main">
              <a:ext uri="{FF2B5EF4-FFF2-40B4-BE49-F238E27FC236}">
                <a16:creationId xmlns:a16="http://schemas.microsoft.com/office/drawing/2014/main" id="{D06404B1-DDC6-466A-B920-CF41E6CAD012}"/>
              </a:ext>
            </a:extLst>
          </p:cNvPr>
          <p:cNvSpPr>
            <a:spLocks xmlns:a="http://schemas.openxmlformats.org/drawingml/2006/main"/>
          </p:cNvSpPr>
          <p:nvPr/>
        </p:nvSpPr>
        <p:spPr>
          <a:xfrm xmlns:a="http://schemas.openxmlformats.org/drawingml/2006/main">
            <a:off x="8432800" y="2362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Tools &amp; Extensibility</a:t>
            </a:r>
          </a:p>
        </p:txBody>
      </p:sp>
      <p:sp>
        <p:nvSpPr>
          <p:cNvPr id="24" name="03-text-13">
            <a:extLst xmlns:a="http://schemas.openxmlformats.org/drawingml/2006/main">
              <a:ext uri="{FF2B5EF4-FFF2-40B4-BE49-F238E27FC236}">
                <a16:creationId xmlns:a16="http://schemas.microsoft.com/office/drawing/2014/main" id="{BA0DAE40-F7C1-4E91-A2ED-DE17D1A91B7D}"/>
              </a:ext>
            </a:extLst>
          </p:cNvPr>
          <p:cNvSpPr>
            <a:spLocks xmlns:a="http://schemas.openxmlformats.org/drawingml/2006/main"/>
          </p:cNvSpPr>
          <p:nvPr/>
        </p:nvSpPr>
        <p:spPr>
          <a:xfrm xmlns:a="http://schemas.openxmlformats.org/drawingml/2006/main">
            <a:off x="1117600" y="2743200"/>
            <a:ext cx="31750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948BE"/>
                </a:solidFill>
                <a:latin typeface="Helvetica"/>
                <a:ea typeface="Helvetica"/>
                <a:cs typeface="Helvetica"/>
              </a:defRPr>
            </a:pPr>
            <a:r>
              <a:rPr b="0">
                <a:solidFill>
                  <a:srgbClr val="F948BE"/>
                </a:solidFill>
                <a:latin typeface="Helvetica"/>
                <a:ea typeface="Helvetica"/>
                <a:cs typeface="Helvetica"/>
              </a:rPr>
              <a:t>Orchestration</a:t>
            </a:r>
          </a:p>
        </p:txBody>
      </p:sp>
      <p:sp>
        <p:nvSpPr>
          <p:cNvPr id="25" name="03-text-14">
            <a:extLst xmlns:a="http://schemas.openxmlformats.org/drawingml/2006/main">
              <a:ext uri="{FF2B5EF4-FFF2-40B4-BE49-F238E27FC236}">
                <a16:creationId xmlns:a16="http://schemas.microsoft.com/office/drawing/2014/main" id="{C6741CB8-2009-4B79-AB59-5C734C68EE3D}"/>
              </a:ext>
            </a:extLst>
          </p:cNvPr>
          <p:cNvSpPr>
            <a:spLocks xmlns:a="http://schemas.openxmlformats.org/drawingml/2006/main"/>
          </p:cNvSpPr>
          <p:nvPr/>
        </p:nvSpPr>
        <p:spPr>
          <a:xfrm xmlns:a="http://schemas.openxmlformats.org/drawingml/2006/main">
            <a:off x="4597400" y="2743200"/>
            <a:ext cx="3530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01B66D"/>
                </a:solidFill>
                <a:latin typeface="Helvetica"/>
                <a:ea typeface="Helvetica"/>
                <a:cs typeface="Helvetica"/>
              </a:defRPr>
            </a:pPr>
            <a:r>
              <a:rPr b="0">
                <a:solidFill>
                  <a:srgbClr val="01B66D"/>
                </a:solidFill>
                <a:latin typeface="Helvetica"/>
                <a:ea typeface="Helvetica"/>
                <a:cs typeface="Helvetica"/>
              </a:rPr>
              <a:t>Verification &amp; Evals</a:t>
            </a:r>
          </a:p>
        </p:txBody>
      </p:sp>
      <p:sp>
        <p:nvSpPr>
          <p:cNvPr id="26" name="03-text-15">
            <a:extLst xmlns:a="http://schemas.openxmlformats.org/drawingml/2006/main">
              <a:ext uri="{FF2B5EF4-FFF2-40B4-BE49-F238E27FC236}">
                <a16:creationId xmlns:a16="http://schemas.microsoft.com/office/drawing/2014/main" id="{FF7642BE-956A-422B-98BA-4451FBABD491}"/>
              </a:ext>
            </a:extLst>
          </p:cNvPr>
          <p:cNvSpPr>
            <a:spLocks xmlns:a="http://schemas.openxmlformats.org/drawingml/2006/main"/>
          </p:cNvSpPr>
          <p:nvPr/>
        </p:nvSpPr>
        <p:spPr>
          <a:xfrm xmlns:a="http://schemas.openxmlformats.org/drawingml/2006/main">
            <a:off x="8432800" y="2743200"/>
            <a:ext cx="31496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DAD00"/>
                </a:solidFill>
                <a:latin typeface="Helvetica"/>
                <a:ea typeface="Helvetica"/>
                <a:cs typeface="Helvetica"/>
              </a:defRPr>
            </a:pPr>
            <a:r>
              <a:rPr b="0">
                <a:solidFill>
                  <a:srgbClr val="FDAD00"/>
                </a:solidFill>
                <a:latin typeface="Helvetica"/>
                <a:ea typeface="Helvetica"/>
                <a:cs typeface="Helvetica"/>
              </a:rPr>
              <a:t>AgentOps</a:t>
            </a:r>
          </a:p>
        </p:txBody>
      </p:sp>
      <p:sp>
        <p:nvSpPr>
          <p:cNvPr id="27" name="03-text-16">
            <a:extLst xmlns:a="http://schemas.openxmlformats.org/drawingml/2006/main">
              <a:ext uri="{FF2B5EF4-FFF2-40B4-BE49-F238E27FC236}">
                <a16:creationId xmlns:a16="http://schemas.microsoft.com/office/drawing/2014/main" id="{6C298378-02D5-4557-9D75-EB06E460E0DC}"/>
              </a:ext>
            </a:extLst>
          </p:cNvPr>
          <p:cNvSpPr>
            <a:spLocks xmlns:a="http://schemas.openxmlformats.org/drawingml/2006/main"/>
          </p:cNvSpPr>
          <p:nvPr/>
        </p:nvSpPr>
        <p:spPr>
          <a:xfrm xmlns:a="http://schemas.openxmlformats.org/drawingml/2006/main">
            <a:off x="1117600" y="3784600"/>
            <a:ext cx="10464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Skills that transfer, new competencies, and where to start</a:t>
            </a:r>
          </a:p>
        </p:txBody>
      </p:sp>
      <p:sp>
        <p:nvSpPr>
          <p:cNvPr id="28" name="03-shape-17">
            <a:extLst xmlns:a="http://schemas.openxmlformats.org/drawingml/2006/main">
              <a:ext uri="{FF2B5EF4-FFF2-40B4-BE49-F238E27FC236}">
                <a16:creationId xmlns:a16="http://schemas.microsoft.com/office/drawing/2014/main" id="{D2864A66-27B6-4D9F-9F56-40094800E06C}"/>
              </a:ext>
            </a:extLst>
          </p:cNvPr>
          <p:cNvSpPr>
            <a:spLocks xmlns:a="http://schemas.openxmlformats.org/drawingml/2006/main"/>
          </p:cNvSpPr>
          <p:nvPr/>
        </p:nvSpPr>
        <p:spPr>
          <a:xfrm xmlns:a="http://schemas.openxmlformats.org/drawingml/2006/main">
            <a:off x="609600" y="49403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 name="03-text-18">
            <a:extLst xmlns:a="http://schemas.openxmlformats.org/drawingml/2006/main">
              <a:ext uri="{FF2B5EF4-FFF2-40B4-BE49-F238E27FC236}">
                <a16:creationId xmlns:a16="http://schemas.microsoft.com/office/drawing/2014/main" id="{8DC285CD-09AD-4FC6-875D-4AD0C80E1094}"/>
              </a:ext>
            </a:extLst>
          </p:cNvPr>
          <p:cNvSpPr>
            <a:spLocks xmlns:a="http://schemas.openxmlformats.org/drawingml/2006/main"/>
          </p:cNvSpPr>
          <p:nvPr/>
        </p:nvSpPr>
        <p:spPr>
          <a:xfrm xmlns:a="http://schemas.openxmlformats.org/drawingml/2006/main">
            <a:off x="609600" y="5168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You'll leave with</a:t>
            </a:r>
          </a:p>
        </p:txBody>
      </p:sp>
      <p:sp>
        <p:nvSpPr>
          <p:cNvPr id="30" name="03-text-19">
            <a:extLst xmlns:a="http://schemas.openxmlformats.org/drawingml/2006/main">
              <a:ext uri="{FF2B5EF4-FFF2-40B4-BE49-F238E27FC236}">
                <a16:creationId xmlns:a16="http://schemas.microsoft.com/office/drawing/2014/main" id="{0C9B29A3-6C23-4617-ABCE-28B31A58A107}"/>
              </a:ext>
            </a:extLst>
          </p:cNvPr>
          <p:cNvSpPr>
            <a:spLocks xmlns:a="http://schemas.openxmlformats.org/drawingml/2006/main"/>
          </p:cNvSpPr>
          <p:nvPr/>
        </p:nvSpPr>
        <p:spPr>
          <a:xfrm xmlns:a="http://schemas.openxmlformats.org/drawingml/2006/main">
            <a:off x="6096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map of the engineering</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responsibilities</a:t>
            </a:r>
          </a:p>
        </p:txBody>
      </p:sp>
      <p:sp>
        <p:nvSpPr>
          <p:cNvPr id="31" name="03-text-20">
            <a:extLst xmlns:a="http://schemas.openxmlformats.org/drawingml/2006/main">
              <a:ext uri="{FF2B5EF4-FFF2-40B4-BE49-F238E27FC236}">
                <a16:creationId xmlns:a16="http://schemas.microsoft.com/office/drawing/2014/main" id="{469886AA-7249-4737-8599-AA008CEAA40B}"/>
              </a:ext>
            </a:extLst>
          </p:cNvPr>
          <p:cNvSpPr>
            <a:spLocks xmlns:a="http://schemas.openxmlformats.org/drawingml/2006/main"/>
          </p:cNvSpPr>
          <p:nvPr/>
        </p:nvSpPr>
        <p:spPr>
          <a:xfrm xmlns:a="http://schemas.openxmlformats.org/drawingml/2006/main">
            <a:off x="43688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 understanding of what</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production readiness requires</a:t>
            </a:r>
          </a:p>
        </p:txBody>
      </p:sp>
      <p:sp>
        <p:nvSpPr>
          <p:cNvPr id="32" name="03-text-21">
            <a:extLst xmlns:a="http://schemas.openxmlformats.org/drawingml/2006/main">
              <a:ext uri="{FF2B5EF4-FFF2-40B4-BE49-F238E27FC236}">
                <a16:creationId xmlns:a16="http://schemas.microsoft.com/office/drawing/2014/main" id="{6B3C3C7A-C33B-4DF2-8A3C-5FEF6E4A03A2}"/>
              </a:ext>
            </a:extLst>
          </p:cNvPr>
          <p:cNvSpPr>
            <a:spLocks xmlns:a="http://schemas.openxmlformats.org/drawingml/2006/main"/>
          </p:cNvSpPr>
          <p:nvPr/>
        </p:nvSpPr>
        <p:spPr>
          <a:xfrm xmlns:a="http://schemas.openxmlformats.org/drawingml/2006/main">
            <a:off x="8128000" y="5613400"/>
            <a:ext cx="34544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starting point for</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your own transition</a:t>
            </a:r>
          </a:p>
        </p:txBody>
      </p:sp>
      <p:sp>
        <p:nvSpPr>
          <p:cNvPr id="33" name="narrative-number">
            <a:extLst xmlns:a="http://schemas.openxmlformats.org/drawingml/2006/main">
              <a:ext uri="{FF2B5EF4-FFF2-40B4-BE49-F238E27FC236}">
                <a16:creationId xmlns:a16="http://schemas.microsoft.com/office/drawing/2014/main" id="{85000760-CAB9-432B-8F6F-5D6E12FEEB5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Tree>
    <p:extLst>
      <p:ext uri="{BB962C8B-B14F-4D97-AF65-F5344CB8AC3E}">
        <p14:creationId xmlns:p14="http://schemas.microsoft.com/office/powerpoint/2010/main" val="3730841691"/>
      </p:ext>
    </p:extLst>
  </p:cSld>
</p:sld>
</file>

<file path=ppt/slides/slide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 name="section-label">
            <a:extLst xmlns:a="http://schemas.openxmlformats.org/drawingml/2006/main">
              <a:ext uri="{FF2B5EF4-FFF2-40B4-BE49-F238E27FC236}">
                <a16:creationId xmlns:a16="http://schemas.microsoft.com/office/drawing/2014/main" id="{9E191DD1-1B00-4534-8272-09A0EC7085DC}"/>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1</a:t>
            </a:r>
          </a:p>
        </p:txBody>
      </p:sp>
      <p:sp>
        <p:nvSpPr>
          <p:cNvPr id="35" name="section-rule">
            <a:extLst xmlns:a="http://schemas.openxmlformats.org/drawingml/2006/main">
              <a:ext uri="{FF2B5EF4-FFF2-40B4-BE49-F238E27FC236}">
                <a16:creationId xmlns:a16="http://schemas.microsoft.com/office/drawing/2014/main" id="{07E63B59-92E6-4AFD-8AA0-F676C417E30E}"/>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 name="section-title">
            <a:extLst xmlns:a="http://schemas.openxmlformats.org/drawingml/2006/main">
              <a:ext uri="{FF2B5EF4-FFF2-40B4-BE49-F238E27FC236}">
                <a16:creationId xmlns:a16="http://schemas.microsoft.com/office/drawing/2014/main" id="{A5F9CCFB-D8F1-4D6E-B6A6-7277A365D929}"/>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changes when AI</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becomes part of the product</a:t>
            </a:r>
          </a:p>
        </p:txBody>
      </p:sp>
      <p:sp>
        <p:nvSpPr>
          <p:cNvPr id="37" name="narrative-number">
            <a:extLst xmlns:a="http://schemas.openxmlformats.org/drawingml/2006/main">
              <a:ext uri="{FF2B5EF4-FFF2-40B4-BE49-F238E27FC236}">
                <a16:creationId xmlns:a16="http://schemas.microsoft.com/office/drawing/2014/main" id="{A124A692-3EBC-41FE-8D05-39764788198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Tree>
    <p:extLst>
      <p:ext uri="{BB962C8B-B14F-4D97-AF65-F5344CB8AC3E}">
        <p14:creationId xmlns:p14="http://schemas.microsoft.com/office/powerpoint/2010/main" val="2672497269"/>
      </p:ext>
    </p:extLst>
  </p:cSld>
</p:sld>
</file>

<file path=ppt/slides/slide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8" name="05-text-1">
            <a:extLst xmlns:a="http://schemas.openxmlformats.org/drawingml/2006/main">
              <a:ext uri="{FF2B5EF4-FFF2-40B4-BE49-F238E27FC236}">
                <a16:creationId xmlns:a16="http://schemas.microsoft.com/office/drawing/2014/main" id="{C773B2FD-8C5E-4E0A-B6D3-AFE5F83D73E1}"/>
              </a:ext>
            </a:extLst>
          </p:cNvPr>
          <p:cNvSpPr>
            <a:spLocks xmlns:a="http://schemas.openxmlformats.org/drawingml/2006/main"/>
          </p:cNvSpPr>
          <p:nvPr/>
        </p:nvSpPr>
        <p:spPr>
          <a:xfrm xmlns:a="http://schemas.openxmlformats.org/drawingml/2006/main">
            <a:off x="609600" y="2260600"/>
            <a:ext cx="10972800" cy="2336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demo    = </a:t>
            </a:r>
            <a:r>
              <a:rPr b="0">
                <a:solidFill>
                  <a:srgbClr val="FFFCF5"/>
                </a:solidFill>
                <a:latin typeface="Consolas"/>
                <a:ea typeface="Consolas"/>
                <a:cs typeface="Consolas"/>
              </a:rPr>
              <a:t>works</a:t>
            </a:r>
            <a:r>
              <a:rPr b="0">
                <a:solidFill>
                  <a:srgbClr val="FDAD00"/>
                </a:solidFill>
                <a:latin typeface="Consolas"/>
                <a:ea typeface="Consolas"/>
                <a:cs typeface="Consolas"/>
              </a:rPr>
              <a:t>.any()</a:t>
            </a:r>
          </a:p>
          <a:p xmlns:a="http://schemas.openxmlformats.org/drawingml/2006/main">
            <a:pPr algn="l">
              <a:lnSpc>
                <a:spcPts val="8400"/>
              </a:lnSpc>
              <a:defRPr sz="7200" b="0">
                <a:solidFill>
                  <a:srgbClr val="FFFCF5"/>
                </a:solidFill>
                <a:latin typeface="Consolas"/>
                <a:ea typeface="Consolas"/>
                <a:cs typeface="Consolas"/>
              </a:defRPr>
            </a:pPr>
            <a:r>
              <a:rPr b="0">
                <a:solidFill>
                  <a:srgbClr val="ADACA9"/>
                </a:solidFill>
                <a:latin typeface="Consolas"/>
                <a:ea typeface="Consolas"/>
                <a:cs typeface="Consolas"/>
              </a:rPr>
              <a:t>product =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39" name="05-text-2">
            <a:extLst xmlns:a="http://schemas.openxmlformats.org/drawingml/2006/main">
              <a:ext uri="{FF2B5EF4-FFF2-40B4-BE49-F238E27FC236}">
                <a16:creationId xmlns:a16="http://schemas.microsoft.com/office/drawing/2014/main" id="{AFB57426-8E12-4718-A9DE-29AAFA062DE9}"/>
              </a:ext>
            </a:extLst>
          </p:cNvPr>
          <p:cNvSpPr>
            <a:spLocks xmlns:a="http://schemas.openxmlformats.org/drawingml/2006/main"/>
          </p:cNvSpPr>
          <p:nvPr/>
        </p:nvSpPr>
        <p:spPr>
          <a:xfrm xmlns:a="http://schemas.openxmlformats.org/drawingml/2006/main">
            <a:off x="609600" y="5994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Andrej Karpathy, June 2025</a:t>
            </a:r>
          </a:p>
        </p:txBody>
      </p:sp>
      <p:sp>
        <p:nvSpPr>
          <p:cNvPr id="40" name="narrative-number">
            <a:extLst xmlns:a="http://schemas.openxmlformats.org/drawingml/2006/main">
              <a:ext uri="{FF2B5EF4-FFF2-40B4-BE49-F238E27FC236}">
                <a16:creationId xmlns:a16="http://schemas.microsoft.com/office/drawing/2014/main" id="{3CC4CDEA-51C3-4684-9675-3D2A05D3F10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Tree>
    <p:extLst>
      <p:ext uri="{BB962C8B-B14F-4D97-AF65-F5344CB8AC3E}">
        <p14:creationId xmlns:p14="http://schemas.microsoft.com/office/powerpoint/2010/main" val="1290418495"/>
      </p:ext>
    </p:extLst>
  </p:cSld>
</p:sld>
</file>

<file path=ppt/slides/slide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 name="06-text-1">
            <a:extLst xmlns:a="http://schemas.openxmlformats.org/drawingml/2006/main">
              <a:ext uri="{FF2B5EF4-FFF2-40B4-BE49-F238E27FC236}">
                <a16:creationId xmlns:a16="http://schemas.microsoft.com/office/drawing/2014/main" id="{3CB7C567-9197-4CB3-A82A-56927778316B}"/>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2" name="06-text-2">
            <a:extLst xmlns:a="http://schemas.openxmlformats.org/drawingml/2006/main">
              <a:ext uri="{FF2B5EF4-FFF2-40B4-BE49-F238E27FC236}">
                <a16:creationId xmlns:a16="http://schemas.microsoft.com/office/drawing/2014/main" id="{D15A54F0-31E8-42A7-BB58-C3641C2B29CC}"/>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3" name="narrative-number">
            <a:extLst xmlns:a="http://schemas.openxmlformats.org/drawingml/2006/main">
              <a:ext uri="{FF2B5EF4-FFF2-40B4-BE49-F238E27FC236}">
                <a16:creationId xmlns:a16="http://schemas.microsoft.com/office/drawing/2014/main" id="{27F257B6-C424-458F-82DA-393820FB384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Tree>
    <p:extLst>
      <p:ext uri="{BB962C8B-B14F-4D97-AF65-F5344CB8AC3E}">
        <p14:creationId xmlns:p14="http://schemas.microsoft.com/office/powerpoint/2010/main" val="1914948194"/>
      </p:ext>
    </p:extLst>
  </p:cSld>
</p:sld>
</file>

<file path=ppt/slides/slide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graphicFrame>
        <p:nvGraphicFramePr>
          <p:cNvPr id="46" name="07-table-1"/>
          <p:cNvGraphicFramePr/>
          <p:nvPr/>
        </p:nvGraphicFramePr>
        <p:xfrm>
          <a:off xmlns:a="http://schemas.openxmlformats.org/drawingml/2006/main" x="609600" y="863600"/>
          <a:ext xmlns:a="http://schemas.openxmlformats.org/drawingml/2006/main" cx="10972800" cy="4648200"/>
        </p:xfrm>
        <a:graphic xmlns:a="http://schemas.openxmlformats.org/drawingml/2006/main">
          <a:graphicData uri="http://schemas.openxmlformats.org/drawingml/2006/table">
            <a:tbl>
              <a:tblPr firstRow="0" firstCol="0" lastCol="0" bandRow="0" bandCol="0"/>
              <a:tblGrid>
                <a:gridCol w="5334000"/>
                <a:gridCol w="304800"/>
                <a:gridCol w="5334000"/>
              </a:tblGrid>
              <a:tr h="1143000">
                <a:tc>
                  <a:txBody>
                    <a:bodyPr>
                      <a:noAutofit/>
                    </a:bodyPr>
                    <a:lstStyle/>
                    <a:p>
                      <a:pPr>
                        <a:lnSpc>
                          <a:spcPct val="125000"/>
                        </a:lnSpc>
                        <a:buNone/>
                      </a:pPr>
                      <a:r>
                        <a:rPr sz="2400" b="1">
                          <a:solidFill>
                            <a:srgbClr val="F948BE"/>
                          </a:solidFill>
                          <a:latin typeface="Helvetica"/>
                          <a:ea typeface="Helvetica"/>
                          <a:cs typeface="Helvetica"/>
                        </a:rPr>
                        <a:t>AI during software</a:t>
                      </a:r>
                    </a:p>
                    <a:p>
                      <a:pPr>
                        <a:lnSpc>
                          <a:spcPct val="125000"/>
                        </a:lnSpc>
                        <a:buNone/>
                      </a:pPr>
                      <a:r>
                        <a:rPr sz="2400" b="1">
                          <a:solidFill>
                            <a:srgbClr val="F948BE"/>
                          </a:solidFill>
                          <a:latin typeface="Helvetica"/>
                          <a:ea typeface="Helvetica"/>
                          <a:cs typeface="Helvetica"/>
                        </a:rPr>
                        <a:t>development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F948BE"/>
                          </a:solidFill>
                          <a:latin typeface="Helvetica"/>
                          <a:ea typeface="Helvetica"/>
                          <a:cs typeface="Helvetica"/>
                        </a:rPr>
                        <a:t>AI in the product</a:t>
                      </a:r>
                    </a:p>
                    <a:p>
                      <a:pPr>
                        <a:lnSpc>
                          <a:spcPct val="125000"/>
                        </a:lnSpc>
                        <a:buNone/>
                      </a:pPr>
                      <a:r>
                        <a:rPr sz="2400" b="1">
                          <a:solidFill>
                            <a:srgbClr val="F948BE"/>
                          </a:solidFill>
                          <a:latin typeface="Helvetica"/>
                          <a:ea typeface="Helvetica"/>
                          <a:cs typeface="Helvetica"/>
                        </a:rPr>
                        <a:t>you deliver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193800">
                <a:tc>
                  <a:txBody>
                    <a:bodyPr>
                      <a:noAutofit/>
                    </a:bodyPr>
                    <a:lstStyle/>
                    <a:p>
                      <a:pPr>
                        <a:lnSpc>
                          <a:spcPct val="125000"/>
                        </a:lnSpc>
                        <a:buNone/>
                      </a:pPr>
                      <a:r>
                        <a:rPr sz="2000" b="0">
                          <a:solidFill>
                            <a:srgbClr val="FFFCF5"/>
                          </a:solidFill>
                          <a:latin typeface="Helvetica"/>
                          <a:ea typeface="Helvetica"/>
                          <a:cs typeface="Helvetica"/>
                        </a:rPr>
                        <a:t>AI helps you build the software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AI contributes to its behavior</a:t>
                      </a:r>
                    </a:p>
                    <a:p>
                      <a:pPr>
                        <a:lnSpc>
                          <a:spcPct val="125000"/>
                        </a:lnSpc>
                        <a:buNone/>
                      </a:pPr>
                      <a:r>
                        <a:rPr sz="2000" b="0">
                          <a:solidFill>
                            <a:srgbClr val="FFFCF5"/>
                          </a:solidFill>
                          <a:latin typeface="Helvetica"/>
                          <a:ea typeface="Helvetica"/>
                          <a:cs typeface="Helvetica"/>
                        </a:rPr>
                        <a:t>during use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041400">
                <a:tc>
                  <a:txBody>
                    <a:bodyPr>
                      <a:noAutofit/>
                    </a:bodyPr>
                    <a:lstStyle/>
                    <a:p>
                      <a:pPr>
                        <a:lnSpc>
                          <a:spcPct val="125000"/>
                        </a:lnSpc>
                        <a:buNone/>
                      </a:pPr>
                      <a:r>
                        <a:rPr sz="2000" b="0">
                          <a:solidFill>
                            <a:srgbClr val="FFFCF5"/>
                          </a:solidFill>
                          <a:latin typeface="Helvetica"/>
                          <a:ea typeface="Helvetica"/>
                          <a:cs typeface="Helvetica"/>
                        </a:rPr>
                        <a:t>You review and test what you ship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 also evaluate model behavior</a:t>
                      </a:r>
                    </a:p>
                    <a:p>
                      <a:pPr>
                        <a:lnSpc>
                          <a:spcPct val="125000"/>
                        </a:lnSpc>
                        <a:buNone/>
                      </a:pPr>
                      <a:r>
                        <a:rPr sz="2000" b="0">
                          <a:solidFill>
                            <a:srgbClr val="FFFCF5"/>
                          </a:solidFill>
                          <a:latin typeface="Helvetica"/>
                          <a:ea typeface="Helvetica"/>
                          <a:cs typeface="Helvetica"/>
                        </a:rPr>
                        <a:t>across representative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1270000">
                <a:tc>
                  <a:txBody>
                    <a:bodyPr>
                      <a:noAutofit/>
                    </a:bodyPr>
                    <a:lstStyle/>
                    <a:p>
                      <a:pPr>
                        <a:lnSpc>
                          <a:spcPct val="125000"/>
                        </a:lnSpc>
                        <a:buNone/>
                      </a:pPr>
                      <a:r>
                        <a:rPr sz="2000" b="0">
                          <a:solidFill>
                            <a:srgbClr val="FFFCF5"/>
                          </a:solidFill>
                          <a:latin typeface="Helvetica"/>
                          <a:ea typeface="Helvetica"/>
                          <a:cs typeface="Helvetica"/>
                        </a:rPr>
                        <a:t>Your coding-tool provider operates</a:t>
                      </a:r>
                    </a:p>
                    <a:p>
                      <a:pPr>
                        <a:lnSpc>
                          <a:spcPct val="125000"/>
                        </a:lnSpc>
                        <a:buNone/>
                      </a:pPr>
                      <a:r>
                        <a:rPr sz="2000" b="0">
                          <a:solidFill>
                            <a:srgbClr val="FFFCF5"/>
                          </a:solidFill>
                          <a:latin typeface="Helvetica"/>
                          <a:ea typeface="Helvetica"/>
                          <a:cs typeface="Helvetica"/>
                        </a:rPr>
                        <a:t>the agent platform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Your team owns the AI system's</a:t>
                      </a:r>
                    </a:p>
                    <a:p>
                      <a:pPr>
                        <a:lnSpc>
                          <a:spcPct val="125000"/>
                        </a:lnSpc>
                        <a:buNone/>
                      </a:pPr>
                      <a:r>
                        <a:rPr sz="2000" b="0">
                          <a:solidFill>
                            <a:srgbClr val="FFFCF5"/>
                          </a:solidFill>
                          <a:latin typeface="Helvetica"/>
                          <a:ea typeface="Helvetica"/>
                          <a:cs typeface="Helvetica"/>
                        </a:rPr>
                        <a:t>behavior and operating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5" name="narrative-number">
            <a:extLst xmlns:a="http://schemas.openxmlformats.org/drawingml/2006/main">
              <a:ext uri="{FF2B5EF4-FFF2-40B4-BE49-F238E27FC236}">
                <a16:creationId xmlns:a16="http://schemas.microsoft.com/office/drawing/2014/main" id="{637B97BE-B8D1-4548-83E7-1C21A519C6A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990722963"/>
      </p:ext>
    </p:extLst>
  </p:cSld>
</p:sld>
</file>

<file path=ppt/slides/slide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 name="07-text-2">
            <a:extLst xmlns:a="http://schemas.openxmlformats.org/drawingml/2006/main">
              <a:ext uri="{FF2B5EF4-FFF2-40B4-BE49-F238E27FC236}">
                <a16:creationId xmlns:a16="http://schemas.microsoft.com/office/drawing/2014/main" id="{5FC29610-8596-4FD1-B679-C298C37D1B28}"/>
              </a:ext>
            </a:extLst>
          </p:cNvPr>
          <p:cNvSpPr>
            <a:spLocks xmlns:a="http://schemas.openxmlformats.org/drawingml/2006/main"/>
          </p:cNvSpPr>
          <p:nvPr/>
        </p:nvSpPr>
        <p:spPr>
          <a:xfrm xmlns:a="http://schemas.openxmlformats.org/drawingml/2006/main">
            <a:off x="1397000" y="863600"/>
            <a:ext cx="94996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readiness</a:t>
            </a:r>
          </a:p>
        </p:txBody>
      </p:sp>
      <p:sp>
        <p:nvSpPr>
          <p:cNvPr id="47" name="07-text-3">
            <a:extLst xmlns:a="http://schemas.openxmlformats.org/drawingml/2006/main">
              <a:ext uri="{FF2B5EF4-FFF2-40B4-BE49-F238E27FC236}">
                <a16:creationId xmlns:a16="http://schemas.microsoft.com/office/drawing/2014/main" id="{6C836156-21FF-4FFD-A06B-A9BCD8E8C60F}"/>
              </a:ext>
            </a:extLst>
          </p:cNvPr>
          <p:cNvSpPr>
            <a:spLocks xmlns:a="http://schemas.openxmlformats.org/drawingml/2006/main"/>
          </p:cNvSpPr>
          <p:nvPr/>
        </p:nvSpPr>
        <p:spPr>
          <a:xfrm xmlns:a="http://schemas.openxmlformats.org/drawingml/2006/main">
            <a:off x="1397000" y="1676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8" name="07-text-4">
            <a:extLst xmlns:a="http://schemas.openxmlformats.org/drawingml/2006/main">
              <a:ext uri="{FF2B5EF4-FFF2-40B4-BE49-F238E27FC236}">
                <a16:creationId xmlns:a16="http://schemas.microsoft.com/office/drawing/2014/main" id="{3BDC5871-C095-47E9-8EDD-06643B65FB65}"/>
              </a:ext>
            </a:extLst>
          </p:cNvPr>
          <p:cNvSpPr>
            <a:spLocks xmlns:a="http://schemas.openxmlformats.org/drawingml/2006/main"/>
          </p:cNvSpPr>
          <p:nvPr/>
        </p:nvSpPr>
        <p:spPr>
          <a:xfrm xmlns:a="http://schemas.openxmlformats.org/drawingml/2006/main">
            <a:off x="1905000" y="1676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 compelling prototype is not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of production readiness.</a:t>
            </a:r>
          </a:p>
        </p:txBody>
      </p:sp>
      <p:sp>
        <p:nvSpPr>
          <p:cNvPr id="49" name="07-text-5">
            <a:extLst xmlns:a="http://schemas.openxmlformats.org/drawingml/2006/main">
              <a:ext uri="{FF2B5EF4-FFF2-40B4-BE49-F238E27FC236}">
                <a16:creationId xmlns:a16="http://schemas.microsoft.com/office/drawing/2014/main" id="{E18E0A1D-4B8B-4BEF-8211-4018DE3B6B0E}"/>
              </a:ext>
            </a:extLst>
          </p:cNvPr>
          <p:cNvSpPr>
            <a:spLocks xmlns:a="http://schemas.openxmlformats.org/drawingml/2006/main"/>
          </p:cNvSpPr>
          <p:nvPr/>
        </p:nvSpPr>
        <p:spPr>
          <a:xfrm xmlns:a="http://schemas.openxmlformats.org/drawingml/2006/main">
            <a:off x="1397000" y="3200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50" name="07-text-6">
            <a:extLst xmlns:a="http://schemas.openxmlformats.org/drawingml/2006/main">
              <a:ext uri="{FF2B5EF4-FFF2-40B4-BE49-F238E27FC236}">
                <a16:creationId xmlns:a16="http://schemas.microsoft.com/office/drawing/2014/main" id="{AB1EA1ED-118F-4FD9-BC2C-B19D563DCA7A}"/>
              </a:ext>
            </a:extLst>
          </p:cNvPr>
          <p:cNvSpPr>
            <a:spLocks xmlns:a="http://schemas.openxmlformats.org/drawingml/2006/main"/>
          </p:cNvSpPr>
          <p:nvPr/>
        </p:nvSpPr>
        <p:spPr>
          <a:xfrm xmlns:a="http://schemas.openxmlformats.org/drawingml/2006/main">
            <a:off x="1905000" y="3200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Traditional tests are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but no longer sufficient.</a:t>
            </a:r>
          </a:p>
        </p:txBody>
      </p:sp>
      <p:sp>
        <p:nvSpPr>
          <p:cNvPr id="51" name="07-text-7">
            <a:extLst xmlns:a="http://schemas.openxmlformats.org/drawingml/2006/main">
              <a:ext uri="{FF2B5EF4-FFF2-40B4-BE49-F238E27FC236}">
                <a16:creationId xmlns:a16="http://schemas.microsoft.com/office/drawing/2014/main" id="{8A071414-939E-4EA5-B2B5-BB97BBC4CF94}"/>
              </a:ext>
            </a:extLst>
          </p:cNvPr>
          <p:cNvSpPr>
            <a:spLocks xmlns:a="http://schemas.openxmlformats.org/drawingml/2006/main"/>
          </p:cNvSpPr>
          <p:nvPr/>
        </p:nvSpPr>
        <p:spPr>
          <a:xfrm xmlns:a="http://schemas.openxmlformats.org/drawingml/2006/main">
            <a:off x="1397000" y="4724400"/>
            <a:ext cx="431800" cy="635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52" name="07-text-8">
            <a:extLst xmlns:a="http://schemas.openxmlformats.org/drawingml/2006/main">
              <a:ext uri="{FF2B5EF4-FFF2-40B4-BE49-F238E27FC236}">
                <a16:creationId xmlns:a16="http://schemas.microsoft.com/office/drawing/2014/main" id="{9C7DFAFE-5C52-47A6-ABCC-8F84CFB4F884}"/>
              </a:ext>
            </a:extLst>
          </p:cNvPr>
          <p:cNvSpPr>
            <a:spLocks xmlns:a="http://schemas.openxmlformats.org/drawingml/2006/main"/>
          </p:cNvSpPr>
          <p:nvPr/>
        </p:nvSpPr>
        <p:spPr>
          <a:xfrm xmlns:a="http://schemas.openxmlformats.org/drawingml/2006/main">
            <a:off x="1905000" y="4724400"/>
            <a:ext cx="8991600" cy="86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does not stop at deployment.</a:t>
            </a:r>
          </a:p>
        </p:txBody>
      </p:sp>
      <p:sp>
        <p:nvSpPr>
          <p:cNvPr id="53" name="07-text-9">
            <a:extLst xmlns:a="http://schemas.openxmlformats.org/drawingml/2006/main">
              <a:ext uri="{FF2B5EF4-FFF2-40B4-BE49-F238E27FC236}">
                <a16:creationId xmlns:a16="http://schemas.microsoft.com/office/drawing/2014/main" id="{DA153307-BEBB-4739-A695-238EB47C70F9}"/>
              </a:ext>
            </a:extLst>
          </p:cNvPr>
          <p:cNvSpPr>
            <a:spLocks xmlns:a="http://schemas.openxmlformats.org/drawingml/2006/main"/>
          </p:cNvSpPr>
          <p:nvPr/>
        </p:nvSpPr>
        <p:spPr>
          <a:xfrm xmlns:a="http://schemas.openxmlformats.org/drawingml/2006/main">
            <a:off x="1905000" y="2603500"/>
            <a:ext cx="8991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FFFCF5"/>
                </a:solidFill>
                <a:latin typeface="Helvetica"/>
                <a:ea typeface="Helvetica"/>
                <a:cs typeface="Helvetica"/>
              </a:defRPr>
            </a:pPr>
            <a:r>
              <a:rPr b="0">
                <a:solidFill>
                  <a:srgbClr val="FFFCF5"/>
                </a:solidFill>
                <a:latin typeface="Consolas"/>
                <a:ea typeface="Consolas"/>
                <a:cs typeface="Consolas"/>
              </a:rPr>
              <a:t>works</a:t>
            </a:r>
            <a:r>
              <a:rPr b="0">
                <a:solidFill>
                  <a:srgbClr val="FDAD00"/>
                </a:solidFill>
                <a:latin typeface="Consolas"/>
                <a:ea typeface="Consolas"/>
                <a:cs typeface="Consolas"/>
              </a:rPr>
              <a:t>.any()</a:t>
            </a:r>
            <a:r>
              <a:rPr b="0">
                <a:solidFill>
                  <a:srgbClr val="ADACA9"/>
                </a:solidFill>
                <a:latin typeface="Helvetica"/>
                <a:ea typeface="Helvetica"/>
                <a:cs typeface="Helvetica"/>
              </a:rPr>
              <a:t> is not </a:t>
            </a:r>
            <a:r>
              <a:rPr b="0">
                <a:solidFill>
                  <a:srgbClr val="FFFCF5"/>
                </a:solidFill>
                <a:latin typeface="Consolas"/>
                <a:ea typeface="Consolas"/>
                <a:cs typeface="Consolas"/>
              </a:rPr>
              <a:t>works</a:t>
            </a:r>
            <a:r>
              <a:rPr b="0">
                <a:solidFill>
                  <a:srgbClr val="01B66D"/>
                </a:solidFill>
                <a:latin typeface="Consolas"/>
                <a:ea typeface="Consolas"/>
                <a:cs typeface="Consolas"/>
              </a:rPr>
              <a:t>.all()</a:t>
            </a:r>
          </a:p>
        </p:txBody>
      </p:sp>
      <p:sp>
        <p:nvSpPr>
          <p:cNvPr id="54" name="narrative-number">
            <a:extLst xmlns:a="http://schemas.openxmlformats.org/drawingml/2006/main">
              <a:ext uri="{FF2B5EF4-FFF2-40B4-BE49-F238E27FC236}">
                <a16:creationId xmlns:a16="http://schemas.microsoft.com/office/drawing/2014/main" id="{8E06AEDC-9019-454E-9700-321727DDB5C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7</a:t>
            </a:r>
          </a:p>
        </p:txBody>
      </p:sp>
    </p:spTree>
    <p:extLst>
      <p:ext uri="{BB962C8B-B14F-4D97-AF65-F5344CB8AC3E}">
        <p14:creationId xmlns:p14="http://schemas.microsoft.com/office/powerpoint/2010/main" val="2066863844"/>
      </p:ext>
    </p:extLst>
  </p:cSld>
</p:sld>
</file>

<file path=ppt/slides/slide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55" name="section-label">
            <a:extLst xmlns:a="http://schemas.openxmlformats.org/drawingml/2006/main">
              <a:ext uri="{FF2B5EF4-FFF2-40B4-BE49-F238E27FC236}">
                <a16:creationId xmlns:a16="http://schemas.microsoft.com/office/drawing/2014/main" id="{FD2975E7-88C9-45F6-B4B6-C1B2FEE4A880}"/>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2</a:t>
            </a:r>
          </a:p>
        </p:txBody>
      </p:sp>
      <p:sp>
        <p:nvSpPr>
          <p:cNvPr id="56" name="section-rule">
            <a:extLst xmlns:a="http://schemas.openxmlformats.org/drawingml/2006/main">
              <a:ext uri="{FF2B5EF4-FFF2-40B4-BE49-F238E27FC236}">
                <a16:creationId xmlns:a16="http://schemas.microsoft.com/office/drawing/2014/main" id="{95DA8740-A189-47A5-93CB-B5A83218689F}"/>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57" name="section-title">
            <a:extLst xmlns:a="http://schemas.openxmlformats.org/drawingml/2006/main">
              <a:ext uri="{FF2B5EF4-FFF2-40B4-BE49-F238E27FC236}">
                <a16:creationId xmlns:a16="http://schemas.microsoft.com/office/drawing/2014/main" id="{894EE886-32E0-4273-8B54-924EFF285F6B}"/>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What AI engineers</a:t>
            </a:r>
          </a:p>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actually engineer</a:t>
            </a:r>
          </a:p>
        </p:txBody>
      </p:sp>
      <p:sp>
        <p:nvSpPr>
          <p:cNvPr id="58" name="narrative-number">
            <a:extLst xmlns:a="http://schemas.openxmlformats.org/drawingml/2006/main">
              <a:ext uri="{FF2B5EF4-FFF2-40B4-BE49-F238E27FC236}">
                <a16:creationId xmlns:a16="http://schemas.microsoft.com/office/drawing/2014/main" id="{6135FB17-D596-4A53-A30D-D624A43B278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8</a:t>
            </a:r>
          </a:p>
        </p:txBody>
      </p:sp>
    </p:spTree>
    <p:extLst>
      <p:ext uri="{BB962C8B-B14F-4D97-AF65-F5344CB8AC3E}">
        <p14:creationId xmlns:p14="http://schemas.microsoft.com/office/powerpoint/2010/main" val="1636781558"/>
      </p:ext>
    </p:extLst>
  </p:cSld>
</p:sld>
</file>

<file path=ppt/slides/slide1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1" name="09-image-1"/>
          <p:cNvPicPr>
            <a:picLocks xmlns:a="http://schemas.openxmlformats.org/drawingml/2006/main" noChangeAspect="1"/>
          </p:cNvPicPr>
          <p:nvPr/>
        </p:nvPicPr>
        <p:blipFill>
          <a:blip xmlns:r="http://schemas.openxmlformats.org/officeDocument/2006/relationships" xmlns:a="http://schemas.openxmlformats.org/drawingml/2006/main" r:embed="R031c043a6b424e21"/>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0" name="narrative-number">
            <a:extLst xmlns:a="http://schemas.openxmlformats.org/drawingml/2006/main">
              <a:ext uri="{FF2B5EF4-FFF2-40B4-BE49-F238E27FC236}">
                <a16:creationId xmlns:a16="http://schemas.microsoft.com/office/drawing/2014/main" id="{3FA60908-2270-466C-9DA4-C9C73B315F0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4048952809"/>
      </p:ext>
    </p:extLst>
  </p:cSld>
</p:sld>
</file>

<file path=ppt/slides/slide1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3" name="09-image-2"/>
          <p:cNvPicPr>
            <a:picLocks xmlns:a="http://schemas.openxmlformats.org/drawingml/2006/main" noChangeAspect="1"/>
          </p:cNvPicPr>
          <p:nvPr/>
        </p:nvPicPr>
        <p:blipFill>
          <a:blip xmlns:r="http://schemas.openxmlformats.org/officeDocument/2006/relationships" xmlns:a="http://schemas.openxmlformats.org/drawingml/2006/main" r:embed="R1902ce852de948b5"/>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2" name="narrative-number">
            <a:extLst xmlns:a="http://schemas.openxmlformats.org/drawingml/2006/main">
              <a:ext uri="{FF2B5EF4-FFF2-40B4-BE49-F238E27FC236}">
                <a16:creationId xmlns:a16="http://schemas.microsoft.com/office/drawing/2014/main" id="{D9E18ECB-6261-4BCD-B275-D175153FABB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2242813737"/>
      </p:ext>
    </p:extLst>
  </p:cSld>
</p:sld>
</file>

<file path=ppt/slides/slide1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5" name="09-image-3"/>
          <p:cNvPicPr>
            <a:picLocks xmlns:a="http://schemas.openxmlformats.org/drawingml/2006/main" noChangeAspect="1"/>
          </p:cNvPicPr>
          <p:nvPr/>
        </p:nvPicPr>
        <p:blipFill>
          <a:blip xmlns:r="http://schemas.openxmlformats.org/officeDocument/2006/relationships" xmlns:a="http://schemas.openxmlformats.org/drawingml/2006/main" r:embed="R7189cdbf3568421c"/>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4" name="narrative-number">
            <a:extLst xmlns:a="http://schemas.openxmlformats.org/drawingml/2006/main">
              <a:ext uri="{FF2B5EF4-FFF2-40B4-BE49-F238E27FC236}">
                <a16:creationId xmlns:a16="http://schemas.microsoft.com/office/drawing/2014/main" id="{9A399D1A-278E-4ED8-81D2-6C830B1FB7F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1426410022"/>
      </p:ext>
    </p:extLst>
  </p:cSld>
</p:sld>
</file>

<file path=ppt/slides/slide1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7" name="09-image-4"/>
          <p:cNvPicPr>
            <a:picLocks xmlns:a="http://schemas.openxmlformats.org/drawingml/2006/main" noChangeAspect="1"/>
          </p:cNvPicPr>
          <p:nvPr/>
        </p:nvPicPr>
        <p:blipFill>
          <a:blip xmlns:r="http://schemas.openxmlformats.org/officeDocument/2006/relationships" xmlns:a="http://schemas.openxmlformats.org/drawingml/2006/main" r:embed="Rf22ac01b307a419f"/>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6" name="narrative-number">
            <a:extLst xmlns:a="http://schemas.openxmlformats.org/drawingml/2006/main">
              <a:ext uri="{FF2B5EF4-FFF2-40B4-BE49-F238E27FC236}">
                <a16:creationId xmlns:a16="http://schemas.microsoft.com/office/drawing/2014/main" id="{BA1CC80A-1F6B-4833-A52F-4D280AF05EA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888193047"/>
      </p:ext>
    </p:extLst>
  </p:cSld>
</p:sld>
</file>

<file path=ppt/slides/slide1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69" name="09-image-5"/>
          <p:cNvPicPr>
            <a:picLocks xmlns:a="http://schemas.openxmlformats.org/drawingml/2006/main" noChangeAspect="1"/>
          </p:cNvPicPr>
          <p:nvPr/>
        </p:nvPicPr>
        <p:blipFill>
          <a:blip xmlns:r="http://schemas.openxmlformats.org/officeDocument/2006/relationships" xmlns:a="http://schemas.openxmlformats.org/drawingml/2006/main" r:embed="R0fc1a670e66c41cd"/>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68" name="narrative-number">
            <a:extLst xmlns:a="http://schemas.openxmlformats.org/drawingml/2006/main">
              <a:ext uri="{FF2B5EF4-FFF2-40B4-BE49-F238E27FC236}">
                <a16:creationId xmlns:a16="http://schemas.microsoft.com/office/drawing/2014/main" id="{97589B76-5F9A-4377-AB9C-24F0C3CB6D5B}"/>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21618294"/>
      </p:ext>
    </p:extLst>
  </p:cSld>
</p:sld>
</file>

<file path=ppt/slides/slide1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71" name="09-image-6"/>
          <p:cNvPicPr>
            <a:picLocks xmlns:a="http://schemas.openxmlformats.org/drawingml/2006/main" noChangeAspect="1"/>
          </p:cNvPicPr>
          <p:nvPr/>
        </p:nvPicPr>
        <p:blipFill>
          <a:blip xmlns:r="http://schemas.openxmlformats.org/officeDocument/2006/relationships" xmlns:a="http://schemas.openxmlformats.org/drawingml/2006/main" r:embed="Rbfe7286223444816"/>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70" name="narrative-number">
            <a:extLst xmlns:a="http://schemas.openxmlformats.org/drawingml/2006/main">
              <a:ext uri="{FF2B5EF4-FFF2-40B4-BE49-F238E27FC236}">
                <a16:creationId xmlns:a16="http://schemas.microsoft.com/office/drawing/2014/main" id="{28926CD4-0273-4119-B015-340FEFA6B21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9</a:t>
            </a:r>
          </a:p>
        </p:txBody>
      </p:sp>
    </p:spTree>
    <p:extLst>
      <p:ext uri="{BB962C8B-B14F-4D97-AF65-F5344CB8AC3E}">
        <p14:creationId xmlns:p14="http://schemas.microsoft.com/office/powerpoint/2010/main" val="3443304969"/>
      </p:ext>
    </p:extLst>
  </p:cSld>
</p:sld>
</file>

<file path=ppt/slides/slide1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1" name="!!area-name">
            <a:extLst xmlns:a="http://schemas.openxmlformats.org/drawingml/2006/main">
              <a:ext uri="{FF2B5EF4-FFF2-40B4-BE49-F238E27FC236}">
                <a16:creationId xmlns:a16="http://schemas.microsoft.com/office/drawing/2014/main" id="{1D37331D-656C-4D29-81C9-3A3231F3F18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Perspective</a:t>
            </a:r>
          </a:p>
        </p:txBody>
      </p:sp>
      <p:pic>
        <p:nvPicPr>
          <p:cNvPr id="80" name="mini-map"/>
          <p:cNvPicPr>
            <a:picLocks xmlns:a="http://schemas.openxmlformats.org/drawingml/2006/main" noChangeAspect="1"/>
          </p:cNvPicPr>
          <p:nvPr/>
        </p:nvPicPr>
        <p:blipFill>
          <a:blip xmlns:r="http://schemas.openxmlformats.org/officeDocument/2006/relationships" xmlns:a="http://schemas.openxmlformats.org/drawingml/2006/main" r:embed="R6708afa2154c462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73" name="header-divider">
            <a:extLst xmlns:a="http://schemas.openxmlformats.org/drawingml/2006/main">
              <a:ext uri="{FF2B5EF4-FFF2-40B4-BE49-F238E27FC236}">
                <a16:creationId xmlns:a16="http://schemas.microsoft.com/office/drawing/2014/main" id="{B68E9061-408B-4A53-A191-8AC0B464CD5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74" name="10-text-1">
            <a:extLst xmlns:a="http://schemas.openxmlformats.org/drawingml/2006/main">
              <a:ext uri="{FF2B5EF4-FFF2-40B4-BE49-F238E27FC236}">
                <a16:creationId xmlns:a16="http://schemas.microsoft.com/office/drawing/2014/main" id="{E3001945-DBBD-488F-AA91-A1DC5A0DF46F}"/>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 decent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harness beats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great model with a</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bad harness.”</a:t>
            </a:r>
          </a:p>
        </p:txBody>
      </p:sp>
      <p:sp>
        <p:nvSpPr>
          <p:cNvPr id="75" name="10-text-2">
            <a:extLst xmlns:a="http://schemas.openxmlformats.org/drawingml/2006/main">
              <a:ext uri="{FF2B5EF4-FFF2-40B4-BE49-F238E27FC236}">
                <a16:creationId xmlns:a16="http://schemas.microsoft.com/office/drawing/2014/main" id="{F882DD76-5176-4E7E-87C5-34F579EAC85C}"/>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Addy Osmani</a:t>
            </a:r>
          </a:p>
        </p:txBody>
      </p:sp>
      <p:sp>
        <p:nvSpPr>
          <p:cNvPr id="76" name="10-text-3">
            <a:extLst xmlns:a="http://schemas.openxmlformats.org/drawingml/2006/main">
              <a:ext uri="{FF2B5EF4-FFF2-40B4-BE49-F238E27FC236}">
                <a16:creationId xmlns:a16="http://schemas.microsoft.com/office/drawing/2014/main" id="{5B8FD1DD-AF03-47EF-A183-FDEBD686B28A}"/>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Agent Harness Engineering, April 2026</a:t>
            </a:r>
          </a:p>
        </p:txBody>
      </p:sp>
      <p:pic>
        <p:nvPicPr>
          <p:cNvPr id="85" name="10-image-4"/>
          <p:cNvPicPr>
            <a:picLocks xmlns:a="http://schemas.openxmlformats.org/drawingml/2006/main" noChangeAspect="1"/>
          </p:cNvPicPr>
          <p:nvPr/>
        </p:nvPicPr>
        <p:blipFill>
          <a:blip xmlns:r="http://schemas.openxmlformats.org/officeDocument/2006/relationships" xmlns:a="http://schemas.openxmlformats.org/drawingml/2006/main" r:embed="Rb0a4958b835f4c84"/>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78" name="narrative-number">
            <a:extLst xmlns:a="http://schemas.openxmlformats.org/drawingml/2006/main">
              <a:ext uri="{FF2B5EF4-FFF2-40B4-BE49-F238E27FC236}">
                <a16:creationId xmlns:a16="http://schemas.microsoft.com/office/drawing/2014/main" id="{D4F47BF9-CBDA-4B2D-B190-784F234935A0}"/>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10</a:t>
            </a:r>
          </a:p>
        </p:txBody>
      </p:sp>
    </p:spTree>
    <p:extLst>
      <p:ext uri="{BB962C8B-B14F-4D97-AF65-F5344CB8AC3E}">
        <p14:creationId xmlns:p14="http://schemas.microsoft.com/office/powerpoint/2010/main" val="3067838095"/>
      </p:ext>
    </p:extLst>
  </p:cSld>
</p:sld>
</file>

<file path=ppt/slides/slide1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79" name="!!area-name">
            <a:extLst xmlns:a="http://schemas.openxmlformats.org/drawingml/2006/main">
              <a:ext uri="{FF2B5EF4-FFF2-40B4-BE49-F238E27FC236}">
                <a16:creationId xmlns:a16="http://schemas.microsoft.com/office/drawing/2014/main" id="{C3C34F23-8719-43D4-9CE0-5AFE5DBEA989}"/>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What and why</a:t>
            </a:r>
          </a:p>
        </p:txBody>
      </p:sp>
      <p:pic>
        <p:nvPicPr>
          <p:cNvPr id="89" name="mini-map"/>
          <p:cNvPicPr>
            <a:picLocks xmlns:a="http://schemas.openxmlformats.org/drawingml/2006/main" noChangeAspect="1"/>
          </p:cNvPicPr>
          <p:nvPr/>
        </p:nvPicPr>
        <p:blipFill>
          <a:blip xmlns:r="http://schemas.openxmlformats.org/officeDocument/2006/relationships" xmlns:a="http://schemas.openxmlformats.org/drawingml/2006/main" r:embed="R9f58807e8d07468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81" name="slide-title">
            <a:extLst xmlns:a="http://schemas.openxmlformats.org/drawingml/2006/main">
              <a:ext uri="{FF2B5EF4-FFF2-40B4-BE49-F238E27FC236}">
                <a16:creationId xmlns:a16="http://schemas.microsoft.com/office/drawing/2014/main" id="{34AD22AE-C899-4E09-B351-404D96022D0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82" name="header-divider">
            <a:extLst xmlns:a="http://schemas.openxmlformats.org/drawingml/2006/main">
              <a:ext uri="{FF2B5EF4-FFF2-40B4-BE49-F238E27FC236}">
                <a16:creationId xmlns:a16="http://schemas.microsoft.com/office/drawing/2014/main" id="{7ABAC6D7-957B-4697-806C-E204876B33C1}"/>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83" name="11-text-1">
            <a:extLst xmlns:a="http://schemas.openxmlformats.org/drawingml/2006/main">
              <a:ext uri="{FF2B5EF4-FFF2-40B4-BE49-F238E27FC236}">
                <a16:creationId xmlns:a16="http://schemas.microsoft.com/office/drawing/2014/main" id="{5519D17B-D5E7-4BA6-81B1-E6BEBFE6B1D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What it is</a:t>
            </a:r>
          </a:p>
        </p:txBody>
      </p:sp>
      <p:sp>
        <p:nvSpPr>
          <p:cNvPr id="84" name="11-text-2">
            <a:extLst xmlns:a="http://schemas.openxmlformats.org/drawingml/2006/main">
              <a:ext uri="{FF2B5EF4-FFF2-40B4-BE49-F238E27FC236}">
                <a16:creationId xmlns:a16="http://schemas.microsoft.com/office/drawing/2014/main" id="{3C97C1AC-6C76-49F5-988D-F9F66FB83FC2}"/>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Choose and maintain a model configuration suited to the task and approved for the data.</a:t>
            </a:r>
          </a:p>
        </p:txBody>
      </p:sp>
      <p:sp>
        <p:nvSpPr>
          <p:cNvPr id="85" name="11-text-3">
            <a:extLst xmlns:a="http://schemas.openxmlformats.org/drawingml/2006/main">
              <a:ext uri="{FF2B5EF4-FFF2-40B4-BE49-F238E27FC236}">
                <a16:creationId xmlns:a16="http://schemas.microsoft.com/office/drawing/2014/main" id="{0761E7A5-F983-41DA-9965-2840510ABD06}"/>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Why it matters</a:t>
            </a:r>
          </a:p>
        </p:txBody>
      </p:sp>
      <p:sp>
        <p:nvSpPr>
          <p:cNvPr id="86" name="11-text-4">
            <a:extLst xmlns:a="http://schemas.openxmlformats.org/drawingml/2006/main">
              <a:ext uri="{FF2B5EF4-FFF2-40B4-BE49-F238E27FC236}">
                <a16:creationId xmlns:a16="http://schemas.microsoft.com/office/drawing/2014/main" id="{BB785D03-84F4-4F91-B406-D6FD59CE726B}"/>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Eligible for the data.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Capable on the task.</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cost and latency requirements.</a:t>
            </a:r>
          </a:p>
        </p:txBody>
      </p:sp>
      <p:sp>
        <p:nvSpPr>
          <p:cNvPr id="87" name="narrative-number">
            <a:extLst xmlns:a="http://schemas.openxmlformats.org/drawingml/2006/main">
              <a:ext uri="{FF2B5EF4-FFF2-40B4-BE49-F238E27FC236}">
                <a16:creationId xmlns:a16="http://schemas.microsoft.com/office/drawing/2014/main" id="{F0E6DC82-0519-4F8D-9C3B-DFE98CBA4AD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11</a:t>
            </a:r>
          </a:p>
        </p:txBody>
      </p:sp>
    </p:spTree>
    <p:extLst>
      <p:ext uri="{BB962C8B-B14F-4D97-AF65-F5344CB8AC3E}">
        <p14:creationId xmlns:p14="http://schemas.microsoft.com/office/powerpoint/2010/main" val="1859704140"/>
      </p:ext>
    </p:extLst>
  </p:cSld>
</p:sld>
</file>

<file path=ppt/slides/slide1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88" name="!!area-name">
            <a:extLst xmlns:a="http://schemas.openxmlformats.org/drawingml/2006/main">
              <a:ext uri="{FF2B5EF4-FFF2-40B4-BE49-F238E27FC236}">
                <a16:creationId xmlns:a16="http://schemas.microsoft.com/office/drawing/2014/main" id="{C5C9A09F-E769-4D27-AF7D-7F100E7DE3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Decisions</a:t>
            </a:r>
          </a:p>
        </p:txBody>
      </p:sp>
      <p:pic>
        <p:nvPicPr>
          <p:cNvPr id="102" name="mini-map"/>
          <p:cNvPicPr>
            <a:picLocks xmlns:a="http://schemas.openxmlformats.org/drawingml/2006/main" noChangeAspect="1"/>
          </p:cNvPicPr>
          <p:nvPr/>
        </p:nvPicPr>
        <p:blipFill>
          <a:blip xmlns:r="http://schemas.openxmlformats.org/officeDocument/2006/relationships" xmlns:a="http://schemas.openxmlformats.org/drawingml/2006/main" r:embed="Rbe4d1c4f70ad41d0"/>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90" name="slide-title">
            <a:extLst xmlns:a="http://schemas.openxmlformats.org/drawingml/2006/main">
              <a:ext uri="{FF2B5EF4-FFF2-40B4-BE49-F238E27FC236}">
                <a16:creationId xmlns:a16="http://schemas.microsoft.com/office/drawing/2014/main" id="{2D07432F-DD10-4568-A366-CB55C23E0F8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91" name="header-divider">
            <a:extLst xmlns:a="http://schemas.openxmlformats.org/drawingml/2006/main">
              <a:ext uri="{FF2B5EF4-FFF2-40B4-BE49-F238E27FC236}">
                <a16:creationId xmlns:a16="http://schemas.microsoft.com/office/drawing/2014/main" id="{0EECE233-E112-4124-BC3E-F27E67E5632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92" name="12-text-1">
            <a:extLst xmlns:a="http://schemas.openxmlformats.org/drawingml/2006/main">
              <a:ext uri="{FF2B5EF4-FFF2-40B4-BE49-F238E27FC236}">
                <a16:creationId xmlns:a16="http://schemas.microsoft.com/office/drawing/2014/main" id="{8AD879A9-BA33-4DE4-8704-A4FB946CE4D2}"/>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Data and deployment</a:t>
            </a:r>
          </a:p>
        </p:txBody>
      </p:sp>
      <p:sp>
        <p:nvSpPr>
          <p:cNvPr id="93" name="12-text-2">
            <a:extLst xmlns:a="http://schemas.openxmlformats.org/drawingml/2006/main">
              <a:ext uri="{FF2B5EF4-FFF2-40B4-BE49-F238E27FC236}">
                <a16:creationId xmlns:a16="http://schemas.microsoft.com/office/drawing/2014/main" id="{FAD0F6F1-8011-46EE-A214-E0CD6DD9E874}"/>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Approved service, environment, and intended use.</a:t>
            </a:r>
          </a:p>
        </p:txBody>
      </p:sp>
      <p:sp>
        <p:nvSpPr>
          <p:cNvPr id="94" name="12-text-3">
            <a:extLst xmlns:a="http://schemas.openxmlformats.org/drawingml/2006/main">
              <a:ext uri="{FF2B5EF4-FFF2-40B4-BE49-F238E27FC236}">
                <a16:creationId xmlns:a16="http://schemas.microsoft.com/office/drawing/2014/main" id="{694C98A0-D8F7-453E-AC73-B6803CDC4730}"/>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Task fit and settings</a:t>
            </a:r>
          </a:p>
        </p:txBody>
      </p:sp>
      <p:sp>
        <p:nvSpPr>
          <p:cNvPr id="95" name="12-text-4">
            <a:extLst xmlns:a="http://schemas.openxmlformats.org/drawingml/2006/main">
              <a:ext uri="{FF2B5EF4-FFF2-40B4-BE49-F238E27FC236}">
                <a16:creationId xmlns:a16="http://schemas.microsoft.com/office/drawing/2014/main" id="{A01D6B5A-7936-42EF-B183-9243F198E9CB}"/>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Compare quality, cost, and latency on your tasks.</a:t>
            </a:r>
          </a:p>
        </p:txBody>
      </p:sp>
      <p:sp>
        <p:nvSpPr>
          <p:cNvPr id="96" name="12-text-5">
            <a:extLst xmlns:a="http://schemas.openxmlformats.org/drawingml/2006/main">
              <a:ext uri="{FF2B5EF4-FFF2-40B4-BE49-F238E27FC236}">
                <a16:creationId xmlns:a16="http://schemas.microsoft.com/office/drawing/2014/main" id="{2E6E8A49-96EC-4308-B173-87E610D21D17}"/>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One model or routing?</a:t>
            </a:r>
          </a:p>
        </p:txBody>
      </p:sp>
      <p:sp>
        <p:nvSpPr>
          <p:cNvPr id="97" name="12-text-6">
            <a:extLst xmlns:a="http://schemas.openxmlformats.org/drawingml/2006/main">
              <a:ext uri="{FF2B5EF4-FFF2-40B4-BE49-F238E27FC236}">
                <a16:creationId xmlns:a16="http://schemas.microsoft.com/office/drawing/2014/main" id="{C4940E4B-023B-48D6-9B47-DF497BB23B67}"/>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one. Add routes when measurements justify them.</a:t>
            </a:r>
          </a:p>
        </p:txBody>
      </p:sp>
      <p:sp>
        <p:nvSpPr>
          <p:cNvPr id="98" name="12-text-7">
            <a:extLst xmlns:a="http://schemas.openxmlformats.org/drawingml/2006/main">
              <a:ext uri="{FF2B5EF4-FFF2-40B4-BE49-F238E27FC236}">
                <a16:creationId xmlns:a16="http://schemas.microsoft.com/office/drawing/2014/main" id="{FD63FBF5-0253-4DA6-8CE5-5D916A5CB39D}"/>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Version changes</a:t>
            </a:r>
          </a:p>
        </p:txBody>
      </p:sp>
      <p:sp>
        <p:nvSpPr>
          <p:cNvPr id="99" name="12-text-8">
            <a:extLst xmlns:a="http://schemas.openxmlformats.org/drawingml/2006/main">
              <a:ext uri="{FF2B5EF4-FFF2-40B4-BE49-F238E27FC236}">
                <a16:creationId xmlns:a16="http://schemas.microsoft.com/office/drawing/2014/main" id="{1E35838C-2A11-463D-A507-B83BB9F8E7CE}"/>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Pinned: plan migration. Alias: monitor regressions.</a:t>
            </a:r>
          </a:p>
        </p:txBody>
      </p:sp>
      <p:sp>
        <p:nvSpPr>
          <p:cNvPr id="100" name="narrative-number">
            <a:extLst xmlns:a="http://schemas.openxmlformats.org/drawingml/2006/main">
              <a:ext uri="{FF2B5EF4-FFF2-40B4-BE49-F238E27FC236}">
                <a16:creationId xmlns:a16="http://schemas.microsoft.com/office/drawing/2014/main" id="{39542485-DB0A-42D6-8F6C-4AD9F673072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12</a:t>
            </a:r>
          </a:p>
        </p:txBody>
      </p:sp>
    </p:spTree>
    <p:extLst>
      <p:ext uri="{BB962C8B-B14F-4D97-AF65-F5344CB8AC3E}">
        <p14:creationId xmlns:p14="http://schemas.microsoft.com/office/powerpoint/2010/main" val="3061504825"/>
      </p:ext>
    </p:extLst>
  </p:cSld>
</p:sld>
</file>

<file path=ppt/slides/slide1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01" name="!!area-name">
            <a:extLst xmlns:a="http://schemas.openxmlformats.org/drawingml/2006/main">
              <a:ext uri="{FF2B5EF4-FFF2-40B4-BE49-F238E27FC236}">
                <a16:creationId xmlns:a16="http://schemas.microsoft.com/office/drawing/2014/main" id="{339E71AB-83AA-42A8-908C-9E12F126D4B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Challenges and pitfalls</a:t>
            </a:r>
          </a:p>
        </p:txBody>
      </p:sp>
      <p:pic>
        <p:nvPicPr>
          <p:cNvPr id="115" name="mini-map"/>
          <p:cNvPicPr>
            <a:picLocks xmlns:a="http://schemas.openxmlformats.org/drawingml/2006/main" noChangeAspect="1"/>
          </p:cNvPicPr>
          <p:nvPr/>
        </p:nvPicPr>
        <p:blipFill>
          <a:blip xmlns:r="http://schemas.openxmlformats.org/officeDocument/2006/relationships" xmlns:a="http://schemas.openxmlformats.org/drawingml/2006/main" r:embed="R037276eb6c2749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03" name="slide-title">
            <a:extLst xmlns:a="http://schemas.openxmlformats.org/drawingml/2006/main">
              <a:ext uri="{FF2B5EF4-FFF2-40B4-BE49-F238E27FC236}">
                <a16:creationId xmlns:a16="http://schemas.microsoft.com/office/drawing/2014/main" id="{F5B4F1BF-4262-404F-9BCB-194AFD6BBBD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Model-selection pitfalls</a:t>
            </a:r>
          </a:p>
        </p:txBody>
      </p:sp>
      <p:sp>
        <p:nvSpPr>
          <p:cNvPr id="104" name="header-divider">
            <a:extLst xmlns:a="http://schemas.openxmlformats.org/drawingml/2006/main">
              <a:ext uri="{FF2B5EF4-FFF2-40B4-BE49-F238E27FC236}">
                <a16:creationId xmlns:a16="http://schemas.microsoft.com/office/drawing/2014/main" id="{309B9ED8-B7A1-4DE7-AC99-5375FA95735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05" name="13-text-1">
            <a:extLst xmlns:a="http://schemas.openxmlformats.org/drawingml/2006/main">
              <a:ext uri="{FF2B5EF4-FFF2-40B4-BE49-F238E27FC236}">
                <a16:creationId xmlns:a16="http://schemas.microsoft.com/office/drawing/2014/main" id="{378FEE08-E3D8-43F7-91FC-FCAB0274EA46}"/>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Access</a:t>
            </a:r>
          </a:p>
        </p:txBody>
      </p:sp>
      <p:sp>
        <p:nvSpPr>
          <p:cNvPr id="106" name="13-text-2">
            <a:extLst xmlns:a="http://schemas.openxmlformats.org/drawingml/2006/main">
              <a:ext uri="{FF2B5EF4-FFF2-40B4-BE49-F238E27FC236}">
                <a16:creationId xmlns:a16="http://schemas.microsoft.com/office/drawing/2014/main" id="{BBABB036-A0E1-421A-8EC4-CB8420F3162B}"/>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Availability does not establish approval.</a:t>
            </a:r>
          </a:p>
        </p:txBody>
      </p:sp>
      <p:sp>
        <p:nvSpPr>
          <p:cNvPr id="107" name="13-text-3">
            <a:extLst xmlns:a="http://schemas.openxmlformats.org/drawingml/2006/main">
              <a:ext uri="{FF2B5EF4-FFF2-40B4-BE49-F238E27FC236}">
                <a16:creationId xmlns:a16="http://schemas.microsoft.com/office/drawing/2014/main" id="{28B19E80-54B1-4F50-B2AC-3188D72DFF87}"/>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Coverage</a:t>
            </a:r>
          </a:p>
        </p:txBody>
      </p:sp>
      <p:sp>
        <p:nvSpPr>
          <p:cNvPr id="108" name="13-text-4">
            <a:extLst xmlns:a="http://schemas.openxmlformats.org/drawingml/2006/main">
              <a:ext uri="{FF2B5EF4-FFF2-40B4-BE49-F238E27FC236}">
                <a16:creationId xmlns:a16="http://schemas.microsoft.com/office/drawing/2014/main" id="{82484803-A887-4AE8-8495-BDB558180DD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Task changes can leave gaps.</a:t>
            </a:r>
          </a:p>
        </p:txBody>
      </p:sp>
      <p:sp>
        <p:nvSpPr>
          <p:cNvPr id="109" name="13-text-5">
            <a:extLst xmlns:a="http://schemas.openxmlformats.org/drawingml/2006/main">
              <a:ext uri="{FF2B5EF4-FFF2-40B4-BE49-F238E27FC236}">
                <a16:creationId xmlns:a16="http://schemas.microsoft.com/office/drawing/2014/main" id="{C0D9142D-C6FE-48CE-943D-F8F7518FDB4A}"/>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Dependencies</a:t>
            </a:r>
          </a:p>
        </p:txBody>
      </p:sp>
      <p:sp>
        <p:nvSpPr>
          <p:cNvPr id="110" name="13-text-6">
            <a:extLst xmlns:a="http://schemas.openxmlformats.org/drawingml/2006/main">
              <a:ext uri="{FF2B5EF4-FFF2-40B4-BE49-F238E27FC236}">
                <a16:creationId xmlns:a16="http://schemas.microsoft.com/office/drawing/2014/main" id="{677C9900-54D7-43CC-AB12-83EF24579368}"/>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pinned model does not freeze the system.</a:t>
            </a:r>
          </a:p>
        </p:txBody>
      </p:sp>
      <p:sp>
        <p:nvSpPr>
          <p:cNvPr id="111" name="13-text-7">
            <a:extLst xmlns:a="http://schemas.openxmlformats.org/drawingml/2006/main">
              <a:ext uri="{FF2B5EF4-FFF2-40B4-BE49-F238E27FC236}">
                <a16:creationId xmlns:a16="http://schemas.microsoft.com/office/drawing/2014/main" id="{FEB9AD02-8D67-4990-AB38-90D3A34D1AC8}"/>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1064F8"/>
                </a:solidFill>
                <a:latin typeface="Helvetica"/>
                <a:ea typeface="Helvetica"/>
                <a:cs typeface="Helvetica"/>
              </a:defRPr>
            </a:pPr>
            <a:r>
              <a:rPr b="1">
                <a:solidFill>
                  <a:srgbClr val="1064F8"/>
                </a:solidFill>
                <a:latin typeface="Helvetica"/>
                <a:ea typeface="Helvetica"/>
                <a:cs typeface="Helvetica"/>
              </a:rPr>
              <a:t>Pitfall</a:t>
            </a:r>
          </a:p>
        </p:txBody>
      </p:sp>
      <p:sp>
        <p:nvSpPr>
          <p:cNvPr id="112" name="13-text-8">
            <a:extLst xmlns:a="http://schemas.openxmlformats.org/drawingml/2006/main">
              <a:ext uri="{FF2B5EF4-FFF2-40B4-BE49-F238E27FC236}">
                <a16:creationId xmlns:a16="http://schemas.microsoft.com/office/drawing/2014/main" id="{28003770-7CF1-4153-9C41-690E473D8712}"/>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Selecting or changing models</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testing them on your task.</a:t>
            </a:r>
          </a:p>
        </p:txBody>
      </p:sp>
      <p:sp>
        <p:nvSpPr>
          <p:cNvPr id="113" name="narrative-number">
            <a:extLst xmlns:a="http://schemas.openxmlformats.org/drawingml/2006/main">
              <a:ext uri="{FF2B5EF4-FFF2-40B4-BE49-F238E27FC236}">
                <a16:creationId xmlns:a16="http://schemas.microsoft.com/office/drawing/2014/main" id="{DA64B45E-3167-46F4-9092-30E9F6CFC84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13</a:t>
            </a:r>
          </a:p>
        </p:txBody>
      </p:sp>
    </p:spTree>
    <p:extLst>
      <p:ext uri="{BB962C8B-B14F-4D97-AF65-F5344CB8AC3E}">
        <p14:creationId xmlns:p14="http://schemas.microsoft.com/office/powerpoint/2010/main" val="593599520"/>
      </p:ext>
    </p:extLst>
  </p:cSld>
</p:sld>
</file>

<file path=ppt/slides/slide2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14" name="!!area-name">
            <a:extLst xmlns:a="http://schemas.openxmlformats.org/drawingml/2006/main">
              <a:ext uri="{FF2B5EF4-FFF2-40B4-BE49-F238E27FC236}">
                <a16:creationId xmlns:a16="http://schemas.microsoft.com/office/drawing/2014/main" id="{479E802F-152A-438E-8AAA-89AB1818862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1064F8"/>
                </a:solidFill>
                <a:latin typeface="Helvetica"/>
                <a:ea typeface="Helvetica"/>
                <a:cs typeface="Helvetica"/>
              </a:rPr>
              <a:t>Model Selection</a:t>
            </a:r>
            <a:r>
              <a:rPr b="0">
                <a:solidFill>
                  <a:srgbClr val="ADACA9"/>
                </a:solidFill>
                <a:latin typeface="Helvetica"/>
                <a:ea typeface="Helvetica"/>
                <a:cs typeface="Helvetica"/>
              </a:rPr>
              <a:t> · FRB application</a:t>
            </a:r>
          </a:p>
        </p:txBody>
      </p:sp>
      <p:pic>
        <p:nvPicPr>
          <p:cNvPr id="122" name="mini-map"/>
          <p:cNvPicPr>
            <a:picLocks xmlns:a="http://schemas.openxmlformats.org/drawingml/2006/main" noChangeAspect="1"/>
          </p:cNvPicPr>
          <p:nvPr/>
        </p:nvPicPr>
        <p:blipFill>
          <a:blip xmlns:r="http://schemas.openxmlformats.org/officeDocument/2006/relationships" xmlns:a="http://schemas.openxmlformats.org/drawingml/2006/main" r:embed="R688008f9bf0b42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16" name="slide-title">
            <a:extLst xmlns:a="http://schemas.openxmlformats.org/drawingml/2006/main">
              <a:ext uri="{FF2B5EF4-FFF2-40B4-BE49-F238E27FC236}">
                <a16:creationId xmlns:a16="http://schemas.microsoft.com/office/drawing/2014/main" id="{FAF7E968-D717-44DD-9B01-C82615E04D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Models for the FRB brief</a:t>
            </a:r>
          </a:p>
        </p:txBody>
      </p:sp>
      <p:sp>
        <p:nvSpPr>
          <p:cNvPr id="117" name="header-divider">
            <a:extLst xmlns:a="http://schemas.openxmlformats.org/drawingml/2006/main">
              <a:ext uri="{FF2B5EF4-FFF2-40B4-BE49-F238E27FC236}">
                <a16:creationId xmlns:a16="http://schemas.microsoft.com/office/drawing/2014/main" id="{2DEA2E08-AF48-46F2-9619-E299DF11970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18" name="14-text-1">
            <a:extLst xmlns:a="http://schemas.openxmlformats.org/drawingml/2006/main">
              <a:ext uri="{FF2B5EF4-FFF2-40B4-BE49-F238E27FC236}">
                <a16:creationId xmlns:a16="http://schemas.microsoft.com/office/drawing/2014/main" id="{6DB0E1A0-DB9D-40F0-80E7-E1843EAA609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design. No model results claimed.</a:t>
            </a:r>
          </a:p>
        </p:txBody>
      </p:sp>
      <p:graphicFrame>
        <p:nvGraphicFramePr>
          <p:cNvPr id="126" name="14-table-2"/>
          <p:cNvGraphicFramePr/>
          <p:nvPr/>
        </p:nvGraphicFramePr>
        <p:xfrm>
          <a:off xmlns:a="http://schemas.openxmlformats.org/drawingml/2006/main" x="609600" y="2895600"/>
          <a:ext xmlns:a="http://schemas.openxmlformats.org/drawingml/2006/main" cx="10972800" cy="32004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1064F8"/>
                          </a:solidFill>
                          <a:latin typeface="Helvetica"/>
                          <a:ea typeface="Helvetica"/>
                          <a:cs typeface="Helvetica"/>
                        </a:rPr>
                        <a:t>Choice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1064F8"/>
                          </a:solidFill>
                          <a:latin typeface="Helvetica"/>
                          <a:ea typeface="Helvetica"/>
                          <a:cs typeface="Helvetica"/>
                        </a:rPr>
                        <a:t>Starting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Constraint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CUI/ECI corpus. Approved options assumed older</a:t>
                      </a:r>
                    </a:p>
                    <a:p>
                      <a:pPr>
                        <a:lnSpc>
                          <a:spcPct val="125000"/>
                        </a:lnSpc>
                        <a:buNone/>
                      </a:pPr>
                      <a:r>
                        <a:rPr sz="2000" b="0">
                          <a:solidFill>
                            <a:srgbClr val="FFFCF5"/>
                          </a:solidFill>
                          <a:latin typeface="Helvetica"/>
                          <a:ea typeface="Helvetica"/>
                          <a:cs typeface="Helvetica"/>
                        </a:rPr>
                        <a:t>and less capable for this synthesis.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Configuration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one eligible configuration on the FRB task.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If quality falls short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narrower scope and human review.</a:t>
                      </a:r>
                    </a:p>
                    <a:p>
                      <a:pPr>
                        <a:lnSpc>
                          <a:spcPct val="125000"/>
                        </a:lnSpc>
                        <a:buNone/>
                      </a:pPr>
                      <a:r>
                        <a:rPr sz="2000" b="0">
                          <a:solidFill>
                            <a:srgbClr val="FFFCF5"/>
                          </a:solidFill>
                          <a:latin typeface="Helvetica"/>
                          <a:ea typeface="Helvetica"/>
                          <a:cs typeface="Helvetica"/>
                        </a:rPr>
                        <a:t>Keep the evidence 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120" name="narrative-number">
            <a:extLst xmlns:a="http://schemas.openxmlformats.org/drawingml/2006/main">
              <a:ext uri="{FF2B5EF4-FFF2-40B4-BE49-F238E27FC236}">
                <a16:creationId xmlns:a16="http://schemas.microsoft.com/office/drawing/2014/main" id="{3D3CA54C-654E-41A5-B1F3-4F6F25E55C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14</a:t>
            </a:r>
          </a:p>
        </p:txBody>
      </p:sp>
    </p:spTree>
    <p:extLst>
      <p:ext uri="{BB962C8B-B14F-4D97-AF65-F5344CB8AC3E}">
        <p14:creationId xmlns:p14="http://schemas.microsoft.com/office/powerpoint/2010/main" val="4151665808"/>
      </p:ext>
    </p:extLst>
  </p:cSld>
</p:sld>
</file>

<file path=ppt/slides/slide2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1" name="!!area-name">
            <a:extLst xmlns:a="http://schemas.openxmlformats.org/drawingml/2006/main">
              <a:ext uri="{FF2B5EF4-FFF2-40B4-BE49-F238E27FC236}">
                <a16:creationId xmlns:a16="http://schemas.microsoft.com/office/drawing/2014/main" id="{F23C8532-2FEC-4C9D-B8D4-0DF837BB828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Perspective</a:t>
            </a:r>
          </a:p>
        </p:txBody>
      </p:sp>
      <p:pic>
        <p:nvPicPr>
          <p:cNvPr id="130" name="mini-map"/>
          <p:cNvPicPr>
            <a:picLocks xmlns:a="http://schemas.openxmlformats.org/drawingml/2006/main" noChangeAspect="1"/>
          </p:cNvPicPr>
          <p:nvPr/>
        </p:nvPicPr>
        <p:blipFill>
          <a:blip xmlns:r="http://schemas.openxmlformats.org/officeDocument/2006/relationships" xmlns:a="http://schemas.openxmlformats.org/drawingml/2006/main" r:embed="R6d7695ed79684b24"/>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23" name="header-divider">
            <a:extLst xmlns:a="http://schemas.openxmlformats.org/drawingml/2006/main">
              <a:ext uri="{FF2B5EF4-FFF2-40B4-BE49-F238E27FC236}">
                <a16:creationId xmlns:a16="http://schemas.microsoft.com/office/drawing/2014/main" id="{CFA6C8B8-F419-4465-8061-F9450AB188F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24" name="15-text-1">
            <a:extLst xmlns:a="http://schemas.openxmlformats.org/drawingml/2006/main">
              <a:ext uri="{FF2B5EF4-FFF2-40B4-BE49-F238E27FC236}">
                <a16:creationId xmlns:a16="http://schemas.microsoft.com/office/drawing/2014/main" id="{682BE75F-04D0-4AA6-BD2A-722AB7FA9AC5}"/>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“Context, therefore, must be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treated as a finite resource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with diminishing marginal</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returns.”</a:t>
            </a:r>
          </a:p>
        </p:txBody>
      </p:sp>
      <p:sp>
        <p:nvSpPr>
          <p:cNvPr id="125" name="15-text-2">
            <a:extLst xmlns:a="http://schemas.openxmlformats.org/drawingml/2006/main">
              <a:ext uri="{FF2B5EF4-FFF2-40B4-BE49-F238E27FC236}">
                <a16:creationId xmlns:a16="http://schemas.microsoft.com/office/drawing/2014/main" id="{4148E02D-5C50-4E55-9C0D-6DF639563D64}"/>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26" name="15-text-3">
            <a:extLst xmlns:a="http://schemas.openxmlformats.org/drawingml/2006/main">
              <a:ext uri="{FF2B5EF4-FFF2-40B4-BE49-F238E27FC236}">
                <a16:creationId xmlns:a16="http://schemas.microsoft.com/office/drawing/2014/main" id="{0CF9D4F4-9C33-4AEF-AF35-AE55B59AEDE1}"/>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Effective context engineering for AI agents, September 2025</a:t>
            </a:r>
          </a:p>
        </p:txBody>
      </p:sp>
      <p:pic>
        <p:nvPicPr>
          <p:cNvPr id="135" name="15-image-4"/>
          <p:cNvPicPr>
            <a:picLocks xmlns:a="http://schemas.openxmlformats.org/drawingml/2006/main" noChangeAspect="1"/>
          </p:cNvPicPr>
          <p:nvPr/>
        </p:nvPicPr>
        <p:blipFill>
          <a:blip xmlns:r="http://schemas.openxmlformats.org/officeDocument/2006/relationships" xmlns:a="http://schemas.openxmlformats.org/drawingml/2006/main" r:embed="R554562e0dcda457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28" name="narrative-number">
            <a:extLst xmlns:a="http://schemas.openxmlformats.org/drawingml/2006/main">
              <a:ext uri="{FF2B5EF4-FFF2-40B4-BE49-F238E27FC236}">
                <a16:creationId xmlns:a16="http://schemas.microsoft.com/office/drawing/2014/main" id="{EA1B50C2-0D8C-4D3F-824A-BA9304BC7D74}"/>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15</a:t>
            </a:r>
          </a:p>
        </p:txBody>
      </p:sp>
    </p:spTree>
    <p:extLst>
      <p:ext uri="{BB962C8B-B14F-4D97-AF65-F5344CB8AC3E}">
        <p14:creationId xmlns:p14="http://schemas.microsoft.com/office/powerpoint/2010/main" val="2879924110"/>
      </p:ext>
    </p:extLst>
  </p:cSld>
</p:sld>
</file>

<file path=ppt/slides/slide2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29" name="!!area-name">
            <a:extLst xmlns:a="http://schemas.openxmlformats.org/drawingml/2006/main">
              <a:ext uri="{FF2B5EF4-FFF2-40B4-BE49-F238E27FC236}">
                <a16:creationId xmlns:a16="http://schemas.microsoft.com/office/drawing/2014/main" id="{08F22091-85D2-4AC2-A1A1-C6E6E52E9D7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What and why</a:t>
            </a:r>
          </a:p>
        </p:txBody>
      </p:sp>
      <p:pic>
        <p:nvPicPr>
          <p:cNvPr id="139" name="mini-map"/>
          <p:cNvPicPr>
            <a:picLocks xmlns:a="http://schemas.openxmlformats.org/drawingml/2006/main" noChangeAspect="1"/>
          </p:cNvPicPr>
          <p:nvPr/>
        </p:nvPicPr>
        <p:blipFill>
          <a:blip xmlns:r="http://schemas.openxmlformats.org/officeDocument/2006/relationships" xmlns:a="http://schemas.openxmlformats.org/drawingml/2006/main" r:embed="R1ac4fa18b7d146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31" name="slide-title">
            <a:extLst xmlns:a="http://schemas.openxmlformats.org/drawingml/2006/main">
              <a:ext uri="{FF2B5EF4-FFF2-40B4-BE49-F238E27FC236}">
                <a16:creationId xmlns:a16="http://schemas.microsoft.com/office/drawing/2014/main" id="{BD485AA2-EF22-4B3F-AB6B-77FEC0E601BF}"/>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for the next step</a:t>
            </a:r>
          </a:p>
        </p:txBody>
      </p:sp>
      <p:sp>
        <p:nvSpPr>
          <p:cNvPr id="132" name="header-divider">
            <a:extLst xmlns:a="http://schemas.openxmlformats.org/drawingml/2006/main">
              <a:ext uri="{FF2B5EF4-FFF2-40B4-BE49-F238E27FC236}">
                <a16:creationId xmlns:a16="http://schemas.microsoft.com/office/drawing/2014/main" id="{2C2FB7CC-C3B5-4B01-A56E-A72AFF779049}"/>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33" name="16-text-1">
            <a:extLst xmlns:a="http://schemas.openxmlformats.org/drawingml/2006/main">
              <a:ext uri="{FF2B5EF4-FFF2-40B4-BE49-F238E27FC236}">
                <a16:creationId xmlns:a16="http://schemas.microsoft.com/office/drawing/2014/main" id="{374B9CC7-1983-4949-A1F0-DFFB0548B292}"/>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34" name="16-text-2">
            <a:extLst xmlns:a="http://schemas.openxmlformats.org/drawingml/2006/main">
              <a:ext uri="{FF2B5EF4-FFF2-40B4-BE49-F238E27FC236}">
                <a16:creationId xmlns:a16="http://schemas.microsoft.com/office/drawing/2014/main" id="{7842519A-978D-413D-ABBD-9A361B257FEF}"/>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Select and maintain information for the next model step.</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RAG supplies retrieved knowledge.</a:t>
            </a:r>
          </a:p>
        </p:txBody>
      </p:sp>
      <p:sp>
        <p:nvSpPr>
          <p:cNvPr id="135" name="16-text-3">
            <a:extLst xmlns:a="http://schemas.openxmlformats.org/drawingml/2006/main">
              <a:ext uri="{FF2B5EF4-FFF2-40B4-BE49-F238E27FC236}">
                <a16:creationId xmlns:a16="http://schemas.microsoft.com/office/drawing/2014/main" id="{93D61CCD-2F91-48C9-A82F-214A9CAEFBED}"/>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36" name="16-text-4">
            <a:extLst xmlns:a="http://schemas.openxmlformats.org/drawingml/2006/main">
              <a:ext uri="{FF2B5EF4-FFF2-40B4-BE49-F238E27FC236}">
                <a16:creationId xmlns:a16="http://schemas.microsoft.com/office/drawing/2014/main" id="{787EA902-0767-4D50-91BF-7BC90273E09C}"/>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Relevant evidence.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Preserved constraints.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Current, traceable sources.</a:t>
            </a:r>
          </a:p>
        </p:txBody>
      </p:sp>
      <p:sp>
        <p:nvSpPr>
          <p:cNvPr id="137" name="narrative-number">
            <a:extLst xmlns:a="http://schemas.openxmlformats.org/drawingml/2006/main">
              <a:ext uri="{FF2B5EF4-FFF2-40B4-BE49-F238E27FC236}">
                <a16:creationId xmlns:a16="http://schemas.microsoft.com/office/drawing/2014/main" id="{2928DFBC-8ACD-4BB4-BB34-988EF7BD42A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16</a:t>
            </a:r>
          </a:p>
        </p:txBody>
      </p:sp>
    </p:spTree>
    <p:extLst>
      <p:ext uri="{BB962C8B-B14F-4D97-AF65-F5344CB8AC3E}">
        <p14:creationId xmlns:p14="http://schemas.microsoft.com/office/powerpoint/2010/main" val="1929882427"/>
      </p:ext>
    </p:extLst>
  </p:cSld>
</p:sld>
</file>

<file path=ppt/slides/slide2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38" name="!!area-name">
            <a:extLst xmlns:a="http://schemas.openxmlformats.org/drawingml/2006/main">
              <a:ext uri="{FF2B5EF4-FFF2-40B4-BE49-F238E27FC236}">
                <a16:creationId xmlns:a16="http://schemas.microsoft.com/office/drawing/2014/main" id="{59ECD397-EACC-4F90-B3D1-BC473C557AB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Decisions</a:t>
            </a:r>
          </a:p>
        </p:txBody>
      </p:sp>
      <p:pic>
        <p:nvPicPr>
          <p:cNvPr id="152" name="mini-map"/>
          <p:cNvPicPr>
            <a:picLocks xmlns:a="http://schemas.openxmlformats.org/drawingml/2006/main" noChangeAspect="1"/>
          </p:cNvPicPr>
          <p:nvPr/>
        </p:nvPicPr>
        <p:blipFill>
          <a:blip xmlns:r="http://schemas.openxmlformats.org/officeDocument/2006/relationships" xmlns:a="http://schemas.openxmlformats.org/drawingml/2006/main" r:embed="R0ae9d1b7655041e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40" name="slide-title">
            <a:extLst xmlns:a="http://schemas.openxmlformats.org/drawingml/2006/main">
              <a:ext uri="{FF2B5EF4-FFF2-40B4-BE49-F238E27FC236}">
                <a16:creationId xmlns:a16="http://schemas.microsoft.com/office/drawing/2014/main" id="{1F3BC953-F64C-4BA7-84A1-EB4099B45AC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decisions</a:t>
            </a:r>
          </a:p>
        </p:txBody>
      </p:sp>
      <p:sp>
        <p:nvSpPr>
          <p:cNvPr id="141" name="header-divider">
            <a:extLst xmlns:a="http://schemas.openxmlformats.org/drawingml/2006/main">
              <a:ext uri="{FF2B5EF4-FFF2-40B4-BE49-F238E27FC236}">
                <a16:creationId xmlns:a16="http://schemas.microsoft.com/office/drawing/2014/main" id="{9E5C2B91-2552-4464-813C-510D5A823737}"/>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42" name="17-text-1">
            <a:extLst xmlns:a="http://schemas.openxmlformats.org/drawingml/2006/main">
              <a:ext uri="{FF2B5EF4-FFF2-40B4-BE49-F238E27FC236}">
                <a16:creationId xmlns:a16="http://schemas.microsoft.com/office/drawing/2014/main" id="{2FF134FC-EA6F-4411-A076-E7EF8A3052C2}"/>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enters the step?</a:t>
            </a:r>
          </a:p>
        </p:txBody>
      </p:sp>
      <p:sp>
        <p:nvSpPr>
          <p:cNvPr id="143" name="17-text-2">
            <a:extLst xmlns:a="http://schemas.openxmlformats.org/drawingml/2006/main">
              <a:ext uri="{FF2B5EF4-FFF2-40B4-BE49-F238E27FC236}">
                <a16:creationId xmlns:a16="http://schemas.microsoft.com/office/drawing/2014/main" id="{594756D9-982F-46F8-BD15-339F003181EE}"/>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Useful instructions, state, and evidence. Remove repetition.</a:t>
            </a:r>
          </a:p>
        </p:txBody>
      </p:sp>
      <p:sp>
        <p:nvSpPr>
          <p:cNvPr id="144" name="17-text-3">
            <a:extLst xmlns:a="http://schemas.openxmlformats.org/drawingml/2006/main">
              <a:ext uri="{FF2B5EF4-FFF2-40B4-BE49-F238E27FC236}">
                <a16:creationId xmlns:a16="http://schemas.microsoft.com/office/drawing/2014/main" id="{2F23D262-689E-412D-822F-45CDA7F864E3}"/>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How is it retrieved?</a:t>
            </a:r>
          </a:p>
        </p:txBody>
      </p:sp>
      <p:sp>
        <p:nvSpPr>
          <p:cNvPr id="145" name="17-text-4">
            <a:extLst xmlns:a="http://schemas.openxmlformats.org/drawingml/2006/main">
              <a:ext uri="{FF2B5EF4-FFF2-40B4-BE49-F238E27FC236}">
                <a16:creationId xmlns:a16="http://schemas.microsoft.com/office/drawing/2014/main" id="{15434324-9DBD-432C-A5C3-2A8BE1930CBB}"/>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Keyword, semantic, or hybrid. Choose for the data and task.</a:t>
            </a:r>
          </a:p>
        </p:txBody>
      </p:sp>
      <p:sp>
        <p:nvSpPr>
          <p:cNvPr id="146" name="17-text-5">
            <a:extLst xmlns:a="http://schemas.openxmlformats.org/drawingml/2006/main">
              <a:ext uri="{FF2B5EF4-FFF2-40B4-BE49-F238E27FC236}">
                <a16:creationId xmlns:a16="http://schemas.microsoft.com/office/drawing/2014/main" id="{E31526FC-D728-42D7-8418-61DAB10FDE5B}"/>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What persists?</a:t>
            </a:r>
          </a:p>
        </p:txBody>
      </p:sp>
      <p:sp>
        <p:nvSpPr>
          <p:cNvPr id="147" name="17-text-6">
            <a:extLst xmlns:a="http://schemas.openxmlformats.org/drawingml/2006/main">
              <a:ext uri="{FF2B5EF4-FFF2-40B4-BE49-F238E27FC236}">
                <a16:creationId xmlns:a16="http://schemas.microsoft.com/office/drawing/2014/main" id="{30286F62-2777-4384-B9C7-D0479432D206}"/>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essential constraints. Refresh summaries and memory.</a:t>
            </a:r>
          </a:p>
        </p:txBody>
      </p:sp>
      <p:sp>
        <p:nvSpPr>
          <p:cNvPr id="148" name="17-text-7">
            <a:extLst xmlns:a="http://schemas.openxmlformats.org/drawingml/2006/main">
              <a:ext uri="{FF2B5EF4-FFF2-40B4-BE49-F238E27FC236}">
                <a16:creationId xmlns:a16="http://schemas.microsoft.com/office/drawing/2014/main" id="{447785ED-E7ED-4922-8D42-1E39D9411132}"/>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Which sources and scope?</a:t>
            </a:r>
          </a:p>
        </p:txBody>
      </p:sp>
      <p:sp>
        <p:nvSpPr>
          <p:cNvPr id="149" name="17-text-8">
            <a:extLst xmlns:a="http://schemas.openxmlformats.org/drawingml/2006/main">
              <a:ext uri="{FF2B5EF4-FFF2-40B4-BE49-F238E27FC236}">
                <a16:creationId xmlns:a16="http://schemas.microsoft.com/office/drawing/2014/main" id="{2B305F25-EBF5-4C94-B0BA-331F91020324}"/>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Preserve identity and revision. Enforce authorized access.</a:t>
            </a:r>
          </a:p>
        </p:txBody>
      </p:sp>
      <p:sp>
        <p:nvSpPr>
          <p:cNvPr id="150" name="narrative-number">
            <a:extLst xmlns:a="http://schemas.openxmlformats.org/drawingml/2006/main">
              <a:ext uri="{FF2B5EF4-FFF2-40B4-BE49-F238E27FC236}">
                <a16:creationId xmlns:a16="http://schemas.microsoft.com/office/drawing/2014/main" id="{238349ED-4677-4F73-80A1-574F6E4B1B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17</a:t>
            </a:r>
          </a:p>
        </p:txBody>
      </p:sp>
    </p:spTree>
    <p:extLst>
      <p:ext uri="{BB962C8B-B14F-4D97-AF65-F5344CB8AC3E}">
        <p14:creationId xmlns:p14="http://schemas.microsoft.com/office/powerpoint/2010/main" val="416621295"/>
      </p:ext>
    </p:extLst>
  </p:cSld>
</p:sld>
</file>

<file path=ppt/slides/slide2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51" name="!!area-name">
            <a:extLst xmlns:a="http://schemas.openxmlformats.org/drawingml/2006/main">
              <a:ext uri="{FF2B5EF4-FFF2-40B4-BE49-F238E27FC236}">
                <a16:creationId xmlns:a16="http://schemas.microsoft.com/office/drawing/2014/main" id="{33B9533A-A805-4A2E-80D5-1783D03B8B9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Challenges and pitfalls</a:t>
            </a:r>
          </a:p>
        </p:txBody>
      </p:sp>
      <p:pic>
        <p:nvPicPr>
          <p:cNvPr id="165" name="mini-map"/>
          <p:cNvPicPr>
            <a:picLocks xmlns:a="http://schemas.openxmlformats.org/drawingml/2006/main" noChangeAspect="1"/>
          </p:cNvPicPr>
          <p:nvPr/>
        </p:nvPicPr>
        <p:blipFill>
          <a:blip xmlns:r="http://schemas.openxmlformats.org/officeDocument/2006/relationships" xmlns:a="http://schemas.openxmlformats.org/drawingml/2006/main" r:embed="R6859ec60a88a4e8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53" name="slide-title">
            <a:extLst xmlns:a="http://schemas.openxmlformats.org/drawingml/2006/main">
              <a:ext uri="{FF2B5EF4-FFF2-40B4-BE49-F238E27FC236}">
                <a16:creationId xmlns:a16="http://schemas.microsoft.com/office/drawing/2014/main" id="{E61ECDFD-6CA2-4266-B3DA-D7FD151DFED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Context pitfalls</a:t>
            </a:r>
          </a:p>
        </p:txBody>
      </p:sp>
      <p:sp>
        <p:nvSpPr>
          <p:cNvPr id="154" name="header-divider">
            <a:extLst xmlns:a="http://schemas.openxmlformats.org/drawingml/2006/main">
              <a:ext uri="{FF2B5EF4-FFF2-40B4-BE49-F238E27FC236}">
                <a16:creationId xmlns:a16="http://schemas.microsoft.com/office/drawing/2014/main" id="{729218E5-AE12-42C7-B167-AB72544DF363}"/>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55" name="18-text-1">
            <a:extLst xmlns:a="http://schemas.openxmlformats.org/drawingml/2006/main">
              <a:ext uri="{FF2B5EF4-FFF2-40B4-BE49-F238E27FC236}">
                <a16:creationId xmlns:a16="http://schemas.microsoft.com/office/drawing/2014/main" id="{FF72F449-935F-49B1-9D34-91C436C68A8E}"/>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Coverage</a:t>
            </a:r>
          </a:p>
        </p:txBody>
      </p:sp>
      <p:sp>
        <p:nvSpPr>
          <p:cNvPr id="156" name="18-text-2">
            <a:extLst xmlns:a="http://schemas.openxmlformats.org/drawingml/2006/main">
              <a:ext uri="{FF2B5EF4-FFF2-40B4-BE49-F238E27FC236}">
                <a16:creationId xmlns:a16="http://schemas.microsoft.com/office/drawing/2014/main" id="{4E7683C8-18F3-4FED-BB20-FBEB2C2F2B46}"/>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Decisive evidence can be missing.</a:t>
            </a:r>
          </a:p>
        </p:txBody>
      </p:sp>
      <p:sp>
        <p:nvSpPr>
          <p:cNvPr id="157" name="18-text-3">
            <a:extLst xmlns:a="http://schemas.openxmlformats.org/drawingml/2006/main">
              <a:ext uri="{FF2B5EF4-FFF2-40B4-BE49-F238E27FC236}">
                <a16:creationId xmlns:a16="http://schemas.microsoft.com/office/drawing/2014/main" id="{F907103A-3679-46D4-9060-B63B5598FC6B}"/>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Summaries</a:t>
            </a:r>
          </a:p>
        </p:txBody>
      </p:sp>
      <p:sp>
        <p:nvSpPr>
          <p:cNvPr id="158" name="18-text-4">
            <a:extLst xmlns:a="http://schemas.openxmlformats.org/drawingml/2006/main">
              <a:ext uri="{FF2B5EF4-FFF2-40B4-BE49-F238E27FC236}">
                <a16:creationId xmlns:a16="http://schemas.microsoft.com/office/drawing/2014/main" id="{534E6184-8119-4B27-8872-F169A990F60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Qualifications can disappear.</a:t>
            </a:r>
          </a:p>
        </p:txBody>
      </p:sp>
      <p:sp>
        <p:nvSpPr>
          <p:cNvPr id="159" name="18-text-5">
            <a:extLst xmlns:a="http://schemas.openxmlformats.org/drawingml/2006/main">
              <a:ext uri="{FF2B5EF4-FFF2-40B4-BE49-F238E27FC236}">
                <a16:creationId xmlns:a16="http://schemas.microsoft.com/office/drawing/2014/main" id="{B7F0C9FC-B04B-4182-9FF3-FA95C440E29D}"/>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Sources</a:t>
            </a:r>
          </a:p>
        </p:txBody>
      </p:sp>
      <p:sp>
        <p:nvSpPr>
          <p:cNvPr id="160" name="18-text-6">
            <a:extLst xmlns:a="http://schemas.openxmlformats.org/drawingml/2006/main">
              <a:ext uri="{FF2B5EF4-FFF2-40B4-BE49-F238E27FC236}">
                <a16:creationId xmlns:a16="http://schemas.microsoft.com/office/drawing/2014/main" id="{5E0DF90F-BCD1-4D72-B5A3-057DA9F2EBCC}"/>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Versions and identities must remain traceable.</a:t>
            </a:r>
          </a:p>
        </p:txBody>
      </p:sp>
      <p:sp>
        <p:nvSpPr>
          <p:cNvPr id="161" name="18-text-7">
            <a:extLst xmlns:a="http://schemas.openxmlformats.org/drawingml/2006/main">
              <a:ext uri="{FF2B5EF4-FFF2-40B4-BE49-F238E27FC236}">
                <a16:creationId xmlns:a16="http://schemas.microsoft.com/office/drawing/2014/main" id="{E7462BA8-0B6E-48C9-9886-EEB359A62D49}"/>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162" name="18-text-8">
            <a:extLst xmlns:a="http://schemas.openxmlformats.org/drawingml/2006/main">
              <a:ext uri="{FF2B5EF4-FFF2-40B4-BE49-F238E27FC236}">
                <a16:creationId xmlns:a16="http://schemas.microsoft.com/office/drawing/2014/main" id="{96A7E786-89B5-4534-BBB1-9DD1B957A36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context without curating it.</a:t>
            </a:r>
          </a:p>
        </p:txBody>
      </p:sp>
      <p:sp>
        <p:nvSpPr>
          <p:cNvPr id="163" name="narrative-number">
            <a:extLst xmlns:a="http://schemas.openxmlformats.org/drawingml/2006/main">
              <a:ext uri="{FF2B5EF4-FFF2-40B4-BE49-F238E27FC236}">
                <a16:creationId xmlns:a16="http://schemas.microsoft.com/office/drawing/2014/main" id="{806E8C85-768B-4F01-9A00-434CB8516128}"/>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18</a:t>
            </a:r>
          </a:p>
        </p:txBody>
      </p:sp>
    </p:spTree>
    <p:extLst>
      <p:ext uri="{BB962C8B-B14F-4D97-AF65-F5344CB8AC3E}">
        <p14:creationId xmlns:p14="http://schemas.microsoft.com/office/powerpoint/2010/main" val="1028517555"/>
      </p:ext>
    </p:extLst>
  </p:cSld>
</p:sld>
</file>

<file path=ppt/slides/slide2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64" name="!!area-name">
            <a:extLst xmlns:a="http://schemas.openxmlformats.org/drawingml/2006/main">
              <a:ext uri="{FF2B5EF4-FFF2-40B4-BE49-F238E27FC236}">
                <a16:creationId xmlns:a16="http://schemas.microsoft.com/office/drawing/2014/main" id="{954FF34C-DDFE-440A-88D1-6E717B03EF7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Context Engineering</a:t>
            </a:r>
            <a:r>
              <a:rPr b="0">
                <a:solidFill>
                  <a:srgbClr val="ADACA9"/>
                </a:solidFill>
                <a:latin typeface="Helvetica"/>
                <a:ea typeface="Helvetica"/>
                <a:cs typeface="Helvetica"/>
              </a:rPr>
              <a:t> · FRB application</a:t>
            </a:r>
          </a:p>
        </p:txBody>
      </p:sp>
      <p:pic>
        <p:nvPicPr>
          <p:cNvPr id="181" name="mini-map"/>
          <p:cNvPicPr>
            <a:picLocks xmlns:a="http://schemas.openxmlformats.org/drawingml/2006/main" noChangeAspect="1"/>
          </p:cNvPicPr>
          <p:nvPr/>
        </p:nvPicPr>
        <p:blipFill>
          <a:blip xmlns:r="http://schemas.openxmlformats.org/officeDocument/2006/relationships" xmlns:a="http://schemas.openxmlformats.org/drawingml/2006/main" r:embed="R7f3c7484936040c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66" name="slide-title">
            <a:extLst xmlns:a="http://schemas.openxmlformats.org/drawingml/2006/main">
              <a:ext uri="{FF2B5EF4-FFF2-40B4-BE49-F238E27FC236}">
                <a16:creationId xmlns:a16="http://schemas.microsoft.com/office/drawing/2014/main" id="{733A65CE-EE31-4E73-9B8B-C922E573E518}"/>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Evidence for the FRB brief</a:t>
            </a:r>
          </a:p>
        </p:txBody>
      </p:sp>
      <p:sp>
        <p:nvSpPr>
          <p:cNvPr id="167" name="header-divider">
            <a:extLst xmlns:a="http://schemas.openxmlformats.org/drawingml/2006/main">
              <a:ext uri="{FF2B5EF4-FFF2-40B4-BE49-F238E27FC236}">
                <a16:creationId xmlns:a16="http://schemas.microsoft.com/office/drawing/2014/main" id="{59089F6F-6D41-41CB-A4C0-D387A25F37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68" name="19-text-1">
            <a:extLst xmlns:a="http://schemas.openxmlformats.org/drawingml/2006/main">
              <a:ext uri="{FF2B5EF4-FFF2-40B4-BE49-F238E27FC236}">
                <a16:creationId xmlns:a16="http://schemas.microsoft.com/office/drawing/2014/main" id="{B79CAFB4-B915-4006-B298-DDE36DD3CBF5}"/>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evidence.</a:t>
            </a:r>
          </a:p>
        </p:txBody>
      </p:sp>
      <p:sp>
        <p:nvSpPr>
          <p:cNvPr id="169" name="19-text-2">
            <a:extLst xmlns:a="http://schemas.openxmlformats.org/drawingml/2006/main">
              <a:ext uri="{FF2B5EF4-FFF2-40B4-BE49-F238E27FC236}">
                <a16:creationId xmlns:a16="http://schemas.microsoft.com/office/drawing/2014/main" id="{D279BB0C-9E13-4C8F-A80B-C1D254CAEC74}"/>
              </a:ext>
            </a:extLst>
          </p:cNvPr>
          <p:cNvSpPr>
            <a:spLocks xmlns:a="http://schemas.openxmlformats.org/drawingml/2006/main"/>
          </p:cNvSpPr>
          <p:nvPr/>
        </p:nvSpPr>
        <p:spPr>
          <a:xfrm xmlns:a="http://schemas.openxmlformats.org/drawingml/2006/main">
            <a:off x="609600" y="2844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FRB-042-BRF r1 · August 19,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slide 6</a:t>
            </a:r>
          </a:p>
        </p:txBody>
      </p:sp>
      <p:sp>
        <p:nvSpPr>
          <p:cNvPr id="170" name="19-text-3">
            <a:extLst xmlns:a="http://schemas.openxmlformats.org/drawingml/2006/main">
              <a:ext uri="{FF2B5EF4-FFF2-40B4-BE49-F238E27FC236}">
                <a16:creationId xmlns:a16="http://schemas.microsoft.com/office/drawing/2014/main" id="{E3F26836-C535-4C3B-8EB1-61E1A9146F79}"/>
              </a:ext>
            </a:extLst>
          </p:cNvPr>
          <p:cNvSpPr>
            <a:spLocks xmlns:a="http://schemas.openxmlformats.org/drawingml/2006/main"/>
          </p:cNvSpPr>
          <p:nvPr/>
        </p:nvSpPr>
        <p:spPr>
          <a:xfrm xmlns:a="http://schemas.openxmlformats.org/drawingml/2006/main">
            <a:off x="609600" y="3327400"/>
            <a:ext cx="53340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 is a</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possible cause.”</a:t>
            </a:r>
          </a:p>
        </p:txBody>
      </p:sp>
      <p:sp>
        <p:nvSpPr>
          <p:cNvPr id="171" name="19-text-4">
            <a:extLst xmlns:a="http://schemas.openxmlformats.org/drawingml/2006/main">
              <a:ext uri="{FF2B5EF4-FFF2-40B4-BE49-F238E27FC236}">
                <a16:creationId xmlns:a16="http://schemas.microsoft.com/office/drawing/2014/main" id="{C808E5C3-B50B-4A9D-A7B5-E49C8F1543B8}"/>
              </a:ext>
            </a:extLst>
          </p:cNvPr>
          <p:cNvSpPr>
            <a:spLocks xmlns:a="http://schemas.openxmlformats.org/drawingml/2006/main"/>
          </p:cNvSpPr>
          <p:nvPr/>
        </p:nvSpPr>
        <p:spPr>
          <a:xfrm xmlns:a="http://schemas.openxmlformats.org/drawingml/2006/main">
            <a:off x="609600" y="4368800"/>
            <a:ext cx="53340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August 22, 2026</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§3, paragraph 2</a:t>
            </a:r>
          </a:p>
        </p:txBody>
      </p:sp>
      <p:sp>
        <p:nvSpPr>
          <p:cNvPr id="172" name="19-text-5">
            <a:extLst xmlns:a="http://schemas.openxmlformats.org/drawingml/2006/main">
              <a:ext uri="{FF2B5EF4-FFF2-40B4-BE49-F238E27FC236}">
                <a16:creationId xmlns:a16="http://schemas.microsoft.com/office/drawing/2014/main" id="{686B6AF1-948C-4965-BB16-B2ABD894C939}"/>
              </a:ext>
            </a:extLst>
          </p:cNvPr>
          <p:cNvSpPr>
            <a:spLocks xmlns:a="http://schemas.openxmlformats.org/drawingml/2006/main"/>
          </p:cNvSpPr>
          <p:nvPr/>
        </p:nvSpPr>
        <p:spPr>
          <a:xfrm xmlns:a="http://schemas.openxmlformats.org/drawingml/2006/main">
            <a:off x="609600" y="5080000"/>
            <a:ext cx="5334000" cy="1143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173" name="19-text-6">
            <a:extLst xmlns:a="http://schemas.openxmlformats.org/drawingml/2006/main">
              <a:ext uri="{FF2B5EF4-FFF2-40B4-BE49-F238E27FC236}">
                <a16:creationId xmlns:a16="http://schemas.microsoft.com/office/drawing/2014/main" id="{7865CB74-11F9-4DFD-BD8A-B57EA00DFCAA}"/>
              </a:ext>
            </a:extLst>
          </p:cNvPr>
          <p:cNvSpPr>
            <a:spLocks xmlns:a="http://schemas.openxmlformats.org/drawingml/2006/main"/>
          </p:cNvSpPr>
          <p:nvPr/>
        </p:nvSpPr>
        <p:spPr>
          <a:xfrm xmlns:a="http://schemas.openxmlformats.org/drawingml/2006/main">
            <a:off x="6248400" y="28448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Select</a:t>
            </a:r>
          </a:p>
        </p:txBody>
      </p:sp>
      <p:sp>
        <p:nvSpPr>
          <p:cNvPr id="174" name="19-text-7">
            <a:extLst xmlns:a="http://schemas.openxmlformats.org/drawingml/2006/main">
              <a:ext uri="{FF2B5EF4-FFF2-40B4-BE49-F238E27FC236}">
                <a16:creationId xmlns:a16="http://schemas.microsoft.com/office/drawing/2014/main" id="{46DDD94A-E7A0-490E-A66B-84322240BA2E}"/>
              </a:ext>
            </a:extLst>
          </p:cNvPr>
          <p:cNvSpPr>
            <a:spLocks xmlns:a="http://schemas.openxmlformats.org/drawingml/2006/main"/>
          </p:cNvSpPr>
          <p:nvPr/>
        </p:nvSpPr>
        <p:spPr>
          <a:xfrm xmlns:a="http://schemas.openxmlformats.org/drawingml/2006/main">
            <a:off x="6248400" y="32258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Relevant passages with</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their source identities.</a:t>
            </a:r>
          </a:p>
        </p:txBody>
      </p:sp>
      <p:sp>
        <p:nvSpPr>
          <p:cNvPr id="175" name="19-text-8">
            <a:extLst xmlns:a="http://schemas.openxmlformats.org/drawingml/2006/main">
              <a:ext uri="{FF2B5EF4-FFF2-40B4-BE49-F238E27FC236}">
                <a16:creationId xmlns:a16="http://schemas.microsoft.com/office/drawing/2014/main" id="{96DA9CAC-A659-462C-B243-53AABF108A80}"/>
              </a:ext>
            </a:extLst>
          </p:cNvPr>
          <p:cNvSpPr>
            <a:spLocks xmlns:a="http://schemas.openxmlformats.org/drawingml/2006/main"/>
          </p:cNvSpPr>
          <p:nvPr/>
        </p:nvSpPr>
        <p:spPr>
          <a:xfrm xmlns:a="http://schemas.openxmlformats.org/drawingml/2006/main">
            <a:off x="6248400" y="40132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Retain</a:t>
            </a:r>
          </a:p>
        </p:txBody>
      </p:sp>
      <p:sp>
        <p:nvSpPr>
          <p:cNvPr id="176" name="19-text-9">
            <a:extLst xmlns:a="http://schemas.openxmlformats.org/drawingml/2006/main">
              <a:ext uri="{FF2B5EF4-FFF2-40B4-BE49-F238E27FC236}">
                <a16:creationId xmlns:a16="http://schemas.microsoft.com/office/drawing/2014/main" id="{0074ACB0-912B-4488-83FB-A1D2A8E170DD}"/>
              </a:ext>
            </a:extLst>
          </p:cNvPr>
          <p:cNvSpPr>
            <a:spLocks xmlns:a="http://schemas.openxmlformats.org/drawingml/2006/main"/>
          </p:cNvSpPr>
          <p:nvPr/>
        </p:nvSpPr>
        <p:spPr>
          <a:xfrm xmlns:a="http://schemas.openxmlformats.org/drawingml/2006/main">
            <a:off x="6248400" y="43942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Unresolved cause.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177" name="19-text-10">
            <a:extLst xmlns:a="http://schemas.openxmlformats.org/drawingml/2006/main">
              <a:ext uri="{FF2B5EF4-FFF2-40B4-BE49-F238E27FC236}">
                <a16:creationId xmlns:a16="http://schemas.microsoft.com/office/drawing/2014/main" id="{893CA9BB-E6D1-4B30-92DA-80B43260C682}"/>
              </a:ext>
            </a:extLst>
          </p:cNvPr>
          <p:cNvSpPr>
            <a:spLocks xmlns:a="http://schemas.openxmlformats.org/drawingml/2006/main"/>
          </p:cNvSpPr>
          <p:nvPr/>
        </p:nvSpPr>
        <p:spPr>
          <a:xfrm xmlns:a="http://schemas.openxmlformats.org/drawingml/2006/main">
            <a:off x="6248400" y="5181600"/>
            <a:ext cx="5334000" cy="330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Refresh</a:t>
            </a:r>
          </a:p>
        </p:txBody>
      </p:sp>
      <p:sp>
        <p:nvSpPr>
          <p:cNvPr id="178" name="19-text-11">
            <a:extLst xmlns:a="http://schemas.openxmlformats.org/drawingml/2006/main">
              <a:ext uri="{FF2B5EF4-FFF2-40B4-BE49-F238E27FC236}">
                <a16:creationId xmlns:a16="http://schemas.microsoft.com/office/drawing/2014/main" id="{47ADFC3B-BE8B-43CE-B328-73B6CCD730A4}"/>
              </a:ext>
            </a:extLst>
          </p:cNvPr>
          <p:cNvSpPr>
            <a:spLocks xmlns:a="http://schemas.openxmlformats.org/drawingml/2006/main"/>
          </p:cNvSpPr>
          <p:nvPr/>
        </p:nvSpPr>
        <p:spPr>
          <a:xfrm xmlns:a="http://schemas.openxmlformats.org/drawingml/2006/main">
            <a:off x="6248400" y="5562600"/>
            <a:ext cx="533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Source versions and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finalizing.</a:t>
            </a:r>
          </a:p>
        </p:txBody>
      </p:sp>
      <p:sp>
        <p:nvSpPr>
          <p:cNvPr id="179" name="narrative-number">
            <a:extLst xmlns:a="http://schemas.openxmlformats.org/drawingml/2006/main">
              <a:ext uri="{FF2B5EF4-FFF2-40B4-BE49-F238E27FC236}">
                <a16:creationId xmlns:a16="http://schemas.microsoft.com/office/drawing/2014/main" id="{F5683F10-6BE9-4DF8-B2C7-3C5F2EC1E13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19</a:t>
            </a:r>
          </a:p>
        </p:txBody>
      </p:sp>
    </p:spTree>
    <p:extLst>
      <p:ext uri="{BB962C8B-B14F-4D97-AF65-F5344CB8AC3E}">
        <p14:creationId xmlns:p14="http://schemas.microsoft.com/office/powerpoint/2010/main" val="90138728"/>
      </p:ext>
    </p:extLst>
  </p:cSld>
</p:sld>
</file>

<file path=ppt/slides/slide2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0" name="!!area-name">
            <a:extLst xmlns:a="http://schemas.openxmlformats.org/drawingml/2006/main">
              <a:ext uri="{FF2B5EF4-FFF2-40B4-BE49-F238E27FC236}">
                <a16:creationId xmlns:a16="http://schemas.microsoft.com/office/drawing/2014/main" id="{10DC4F83-27C5-49C5-9F4B-484E64CA6D2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Perspective</a:t>
            </a:r>
          </a:p>
        </p:txBody>
      </p:sp>
      <p:pic>
        <p:nvPicPr>
          <p:cNvPr id="189" name="mini-map"/>
          <p:cNvPicPr>
            <a:picLocks xmlns:a="http://schemas.openxmlformats.org/drawingml/2006/main" noChangeAspect="1"/>
          </p:cNvPicPr>
          <p:nvPr/>
        </p:nvPicPr>
        <p:blipFill>
          <a:blip xmlns:r="http://schemas.openxmlformats.org/officeDocument/2006/relationships" xmlns:a="http://schemas.openxmlformats.org/drawingml/2006/main" r:embed="R80c7b7de4da145d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82" name="header-divider">
            <a:extLst xmlns:a="http://schemas.openxmlformats.org/drawingml/2006/main">
              <a:ext uri="{FF2B5EF4-FFF2-40B4-BE49-F238E27FC236}">
                <a16:creationId xmlns:a16="http://schemas.microsoft.com/office/drawing/2014/main" id="{6FAF535D-74BB-4E19-8BCC-69340DF7A47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83" name="20-text-1">
            <a:extLst xmlns:a="http://schemas.openxmlformats.org/drawingml/2006/main">
              <a:ext uri="{FF2B5EF4-FFF2-40B4-BE49-F238E27FC236}">
                <a16:creationId xmlns:a16="http://schemas.microsoft.com/office/drawing/2014/main" id="{C31FEDDD-D8AD-4336-A21F-6171E825502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“Agents are only as effective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as the tools we give them.”</a:t>
            </a:r>
          </a:p>
        </p:txBody>
      </p:sp>
      <p:sp>
        <p:nvSpPr>
          <p:cNvPr id="184" name="20-text-2">
            <a:extLst xmlns:a="http://schemas.openxmlformats.org/drawingml/2006/main">
              <a:ext uri="{FF2B5EF4-FFF2-40B4-BE49-F238E27FC236}">
                <a16:creationId xmlns:a16="http://schemas.microsoft.com/office/drawing/2014/main" id="{087EE1CD-98B2-4B2D-B1A9-925AED12EE4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185" name="20-text-3">
            <a:extLst xmlns:a="http://schemas.openxmlformats.org/drawingml/2006/main">
              <a:ext uri="{FF2B5EF4-FFF2-40B4-BE49-F238E27FC236}">
                <a16:creationId xmlns:a16="http://schemas.microsoft.com/office/drawing/2014/main" id="{386D4175-53BD-4DE2-9FAE-DBB03CF77DCB}"/>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Writing effective tools for agents, with agents, September 2025</a:t>
            </a:r>
          </a:p>
        </p:txBody>
      </p:sp>
      <p:pic>
        <p:nvPicPr>
          <p:cNvPr id="194" name="20-image-4"/>
          <p:cNvPicPr>
            <a:picLocks xmlns:a="http://schemas.openxmlformats.org/drawingml/2006/main" noChangeAspect="1"/>
          </p:cNvPicPr>
          <p:nvPr/>
        </p:nvPicPr>
        <p:blipFill>
          <a:blip xmlns:r="http://schemas.openxmlformats.org/officeDocument/2006/relationships" xmlns:a="http://schemas.openxmlformats.org/drawingml/2006/main" r:embed="R714d14f5e0e643c6"/>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187" name="narrative-number">
            <a:extLst xmlns:a="http://schemas.openxmlformats.org/drawingml/2006/main">
              <a:ext uri="{FF2B5EF4-FFF2-40B4-BE49-F238E27FC236}">
                <a16:creationId xmlns:a16="http://schemas.microsoft.com/office/drawing/2014/main" id="{861FB103-F8AC-492C-9CDB-5E7CA89D3C5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20</a:t>
            </a:r>
          </a:p>
        </p:txBody>
      </p:sp>
    </p:spTree>
    <p:extLst>
      <p:ext uri="{BB962C8B-B14F-4D97-AF65-F5344CB8AC3E}">
        <p14:creationId xmlns:p14="http://schemas.microsoft.com/office/powerpoint/2010/main" val="2699428760"/>
      </p:ext>
    </p:extLst>
  </p:cSld>
</p:sld>
</file>

<file path=ppt/slides/slide2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88" name="!!area-name">
            <a:extLst xmlns:a="http://schemas.openxmlformats.org/drawingml/2006/main">
              <a:ext uri="{FF2B5EF4-FFF2-40B4-BE49-F238E27FC236}">
                <a16:creationId xmlns:a16="http://schemas.microsoft.com/office/drawing/2014/main" id="{90C5CF2E-C9E4-419F-A87A-427D4A5605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What and why</a:t>
            </a:r>
          </a:p>
        </p:txBody>
      </p:sp>
      <p:pic>
        <p:nvPicPr>
          <p:cNvPr id="198" name="mini-map"/>
          <p:cNvPicPr>
            <a:picLocks xmlns:a="http://schemas.openxmlformats.org/drawingml/2006/main" noChangeAspect="1"/>
          </p:cNvPicPr>
          <p:nvPr/>
        </p:nvPicPr>
        <p:blipFill>
          <a:blip xmlns:r="http://schemas.openxmlformats.org/officeDocument/2006/relationships" xmlns:a="http://schemas.openxmlformats.org/drawingml/2006/main" r:embed="Rac7b53cd829f43e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0" name="slide-title">
            <a:extLst xmlns:a="http://schemas.openxmlformats.org/drawingml/2006/main">
              <a:ext uri="{FF2B5EF4-FFF2-40B4-BE49-F238E27FC236}">
                <a16:creationId xmlns:a16="http://schemas.microsoft.com/office/drawing/2014/main" id="{94E13E49-44E7-4B6C-8950-B0AFC5EFE4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Tools and connections</a:t>
            </a:r>
          </a:p>
        </p:txBody>
      </p:sp>
      <p:sp>
        <p:nvSpPr>
          <p:cNvPr id="191" name="header-divider">
            <a:extLst xmlns:a="http://schemas.openxmlformats.org/drawingml/2006/main">
              <a:ext uri="{FF2B5EF4-FFF2-40B4-BE49-F238E27FC236}">
                <a16:creationId xmlns:a16="http://schemas.microsoft.com/office/drawing/2014/main" id="{A3C02CEC-EA6F-4E1D-9F0D-0551129994A2}"/>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192" name="21-text-1">
            <a:extLst xmlns:a="http://schemas.openxmlformats.org/drawingml/2006/main">
              <a:ext uri="{FF2B5EF4-FFF2-40B4-BE49-F238E27FC236}">
                <a16:creationId xmlns:a16="http://schemas.microsoft.com/office/drawing/2014/main" id="{BDCE433B-ECBC-45D5-AE65-F5A8C207862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193" name="21-text-2">
            <a:extLst xmlns:a="http://schemas.openxmlformats.org/drawingml/2006/main">
              <a:ext uri="{FF2B5EF4-FFF2-40B4-BE49-F238E27FC236}">
                <a16:creationId xmlns:a16="http://schemas.microsoft.com/office/drawing/2014/main" id="{D5D89DE4-18A5-47C3-95FC-FE515C353778}"/>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Tool: an operation with defined inputs, results, and execution rules.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MCP: a common integration interface.</a:t>
            </a:r>
          </a:p>
        </p:txBody>
      </p:sp>
      <p:sp>
        <p:nvSpPr>
          <p:cNvPr id="194" name="21-text-3">
            <a:extLst xmlns:a="http://schemas.openxmlformats.org/drawingml/2006/main">
              <a:ext uri="{FF2B5EF4-FFF2-40B4-BE49-F238E27FC236}">
                <a16:creationId xmlns:a16="http://schemas.microsoft.com/office/drawing/2014/main" id="{339E7E3A-C870-4066-B4CF-84EE35667C4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195" name="21-text-4">
            <a:extLst xmlns:a="http://schemas.openxmlformats.org/drawingml/2006/main">
              <a:ext uri="{FF2B5EF4-FFF2-40B4-BE49-F238E27FC236}">
                <a16:creationId xmlns:a16="http://schemas.microsoft.com/office/drawing/2014/main" id="{0433BF61-8568-4744-A959-AA43262D041D}"/>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Useful capabilities.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Clear results.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Enforced boundaries.</a:t>
            </a:r>
          </a:p>
        </p:txBody>
      </p:sp>
      <p:sp>
        <p:nvSpPr>
          <p:cNvPr id="196" name="narrative-number">
            <a:extLst xmlns:a="http://schemas.openxmlformats.org/drawingml/2006/main">
              <a:ext uri="{FF2B5EF4-FFF2-40B4-BE49-F238E27FC236}">
                <a16:creationId xmlns:a16="http://schemas.microsoft.com/office/drawing/2014/main" id="{BD303295-86BF-4CE8-B335-1A12A67DFD6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21</a:t>
            </a:r>
          </a:p>
        </p:txBody>
      </p:sp>
    </p:spTree>
    <p:extLst>
      <p:ext uri="{BB962C8B-B14F-4D97-AF65-F5344CB8AC3E}">
        <p14:creationId xmlns:p14="http://schemas.microsoft.com/office/powerpoint/2010/main" val="1201076309"/>
      </p:ext>
    </p:extLst>
  </p:cSld>
</p:sld>
</file>

<file path=ppt/slides/slide2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197" name="!!area-name">
            <a:extLst xmlns:a="http://schemas.openxmlformats.org/drawingml/2006/main">
              <a:ext uri="{FF2B5EF4-FFF2-40B4-BE49-F238E27FC236}">
                <a16:creationId xmlns:a16="http://schemas.microsoft.com/office/drawing/2014/main" id="{5A5D79E2-2E1B-4875-B37E-D0CAE0AD8D3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Decisions</a:t>
            </a:r>
          </a:p>
        </p:txBody>
      </p:sp>
      <p:pic>
        <p:nvPicPr>
          <p:cNvPr id="209" name="mini-map"/>
          <p:cNvPicPr>
            <a:picLocks xmlns:a="http://schemas.openxmlformats.org/drawingml/2006/main" noChangeAspect="1"/>
          </p:cNvPicPr>
          <p:nvPr/>
        </p:nvPicPr>
        <p:blipFill>
          <a:blip xmlns:r="http://schemas.openxmlformats.org/officeDocument/2006/relationships" xmlns:a="http://schemas.openxmlformats.org/drawingml/2006/main" r:embed="R07d9626de8c44eff"/>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199" name="slide-title">
            <a:extLst xmlns:a="http://schemas.openxmlformats.org/drawingml/2006/main">
              <a:ext uri="{FF2B5EF4-FFF2-40B4-BE49-F238E27FC236}">
                <a16:creationId xmlns:a16="http://schemas.microsoft.com/office/drawing/2014/main" id="{19F2F1CA-F8C6-40B7-9166-B3580AADCAA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decisions</a:t>
            </a:r>
          </a:p>
        </p:txBody>
      </p:sp>
      <p:sp>
        <p:nvSpPr>
          <p:cNvPr id="200" name="header-divider">
            <a:extLst xmlns:a="http://schemas.openxmlformats.org/drawingml/2006/main">
              <a:ext uri="{FF2B5EF4-FFF2-40B4-BE49-F238E27FC236}">
                <a16:creationId xmlns:a16="http://schemas.microsoft.com/office/drawing/2014/main" id="{1BC180DC-934D-4E6C-84D7-F3CDBC81DC3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01" name="22-text-1">
            <a:extLst xmlns:a="http://schemas.openxmlformats.org/drawingml/2006/main">
              <a:ext uri="{FF2B5EF4-FFF2-40B4-BE49-F238E27FC236}">
                <a16:creationId xmlns:a16="http://schemas.microsoft.com/office/drawing/2014/main" id="{7B807EA1-D283-4EFF-BA45-E28FFB0C4157}"/>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Capabilities and granularity</a:t>
            </a:r>
          </a:p>
        </p:txBody>
      </p:sp>
      <p:sp>
        <p:nvSpPr>
          <p:cNvPr id="202" name="22-text-2">
            <a:extLst xmlns:a="http://schemas.openxmlformats.org/drawingml/2006/main">
              <a:ext uri="{FF2B5EF4-FFF2-40B4-BE49-F238E27FC236}">
                <a16:creationId xmlns:a16="http://schemas.microsoft.com/office/drawing/2014/main" id="{738E5549-3E0B-40A0-801C-663730E577F5}"/>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Distinct operations that fit the task. Evaluate flexibility against coordination work.</a:t>
            </a:r>
          </a:p>
        </p:txBody>
      </p:sp>
      <p:sp>
        <p:nvSpPr>
          <p:cNvPr id="203" name="22-text-3">
            <a:extLst xmlns:a="http://schemas.openxmlformats.org/drawingml/2006/main">
              <a:ext uri="{FF2B5EF4-FFF2-40B4-BE49-F238E27FC236}">
                <a16:creationId xmlns:a16="http://schemas.microsoft.com/office/drawing/2014/main" id="{9C0D0E1B-4771-48B6-803E-2D69767DCF61}"/>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 usable contract</a:t>
            </a:r>
          </a:p>
        </p:txBody>
      </p:sp>
      <p:sp>
        <p:nvSpPr>
          <p:cNvPr id="204" name="22-text-4">
            <a:extLst xmlns:a="http://schemas.openxmlformats.org/drawingml/2006/main">
              <a:ext uri="{FF2B5EF4-FFF2-40B4-BE49-F238E27FC236}">
                <a16:creationId xmlns:a16="http://schemas.microsoft.com/office/drawing/2014/main" id="{AF142730-F02C-4B91-9BC6-AC8BFC8D0666}"/>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Descriptions, inputs, results, and errors must agree.</a:t>
            </a:r>
          </a:p>
        </p:txBody>
      </p:sp>
      <p:sp>
        <p:nvSpPr>
          <p:cNvPr id="205" name="22-text-5">
            <a:extLst xmlns:a="http://schemas.openxmlformats.org/drawingml/2006/main">
              <a:ext uri="{FF2B5EF4-FFF2-40B4-BE49-F238E27FC236}">
                <a16:creationId xmlns:a16="http://schemas.microsoft.com/office/drawing/2014/main" id="{50228209-F745-46EE-B6B9-5FAED1F01D53}"/>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Permitted execution</a:t>
            </a:r>
          </a:p>
        </p:txBody>
      </p:sp>
      <p:sp>
        <p:nvSpPr>
          <p:cNvPr id="206" name="22-text-6">
            <a:extLst xmlns:a="http://schemas.openxmlformats.org/drawingml/2006/main">
              <a:ext uri="{FF2B5EF4-FFF2-40B4-BE49-F238E27FC236}">
                <a16:creationId xmlns:a16="http://schemas.microsoft.com/office/drawing/2014/main" id="{B1DAACC3-53AA-416B-9188-CE0035D2FDBD}"/>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Validate and authorize in code. Scope reads and writes.</a:t>
            </a:r>
          </a:p>
        </p:txBody>
      </p:sp>
      <p:sp>
        <p:nvSpPr>
          <p:cNvPr id="207" name="narrative-number">
            <a:extLst xmlns:a="http://schemas.openxmlformats.org/drawingml/2006/main">
              <a:ext uri="{FF2B5EF4-FFF2-40B4-BE49-F238E27FC236}">
                <a16:creationId xmlns:a16="http://schemas.microsoft.com/office/drawing/2014/main" id="{934EBD99-2247-4108-A4A5-39B875B75DA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22</a:t>
            </a:r>
          </a:p>
        </p:txBody>
      </p:sp>
    </p:spTree>
    <p:extLst>
      <p:ext uri="{BB962C8B-B14F-4D97-AF65-F5344CB8AC3E}">
        <p14:creationId xmlns:p14="http://schemas.microsoft.com/office/powerpoint/2010/main" val="1670186734"/>
      </p:ext>
    </p:extLst>
  </p:cSld>
</p:sld>
</file>

<file path=ppt/slides/slide2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08" name="!!area-name">
            <a:extLst xmlns:a="http://schemas.openxmlformats.org/drawingml/2006/main">
              <a:ext uri="{FF2B5EF4-FFF2-40B4-BE49-F238E27FC236}">
                <a16:creationId xmlns:a16="http://schemas.microsoft.com/office/drawing/2014/main" id="{B7DF7D43-3F99-4EE8-8ED1-80187028A27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Challenges and pitfalls</a:t>
            </a:r>
          </a:p>
        </p:txBody>
      </p:sp>
      <p:pic>
        <p:nvPicPr>
          <p:cNvPr id="222" name="mini-map"/>
          <p:cNvPicPr>
            <a:picLocks xmlns:a="http://schemas.openxmlformats.org/drawingml/2006/main" noChangeAspect="1"/>
          </p:cNvPicPr>
          <p:nvPr/>
        </p:nvPicPr>
        <p:blipFill>
          <a:blip xmlns:r="http://schemas.openxmlformats.org/officeDocument/2006/relationships" xmlns:a="http://schemas.openxmlformats.org/drawingml/2006/main" r:embed="R23c690d034ce459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10" name="slide-title">
            <a:extLst xmlns:a="http://schemas.openxmlformats.org/drawingml/2006/main">
              <a:ext uri="{FF2B5EF4-FFF2-40B4-BE49-F238E27FC236}">
                <a16:creationId xmlns:a16="http://schemas.microsoft.com/office/drawing/2014/main" id="{1B3B474C-09C4-46BB-B3F2-E216D5F411B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Tool-design pitfalls</a:t>
            </a:r>
          </a:p>
        </p:txBody>
      </p:sp>
      <p:sp>
        <p:nvSpPr>
          <p:cNvPr id="211" name="header-divider">
            <a:extLst xmlns:a="http://schemas.openxmlformats.org/drawingml/2006/main">
              <a:ext uri="{FF2B5EF4-FFF2-40B4-BE49-F238E27FC236}">
                <a16:creationId xmlns:a16="http://schemas.microsoft.com/office/drawing/2014/main" id="{3B5D7828-CA49-4F35-9E0A-8371D2D55BE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12" name="23-text-1">
            <a:extLst xmlns:a="http://schemas.openxmlformats.org/drawingml/2006/main">
              <a:ext uri="{FF2B5EF4-FFF2-40B4-BE49-F238E27FC236}">
                <a16:creationId xmlns:a16="http://schemas.microsoft.com/office/drawing/2014/main" id="{7204192D-FF2A-41A8-B98C-DD3C087996DC}"/>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Tool set</a:t>
            </a:r>
          </a:p>
        </p:txBody>
      </p:sp>
      <p:sp>
        <p:nvSpPr>
          <p:cNvPr id="213" name="23-text-2">
            <a:extLst xmlns:a="http://schemas.openxmlformats.org/drawingml/2006/main">
              <a:ext uri="{FF2B5EF4-FFF2-40B4-BE49-F238E27FC236}">
                <a16:creationId xmlns:a16="http://schemas.microsoft.com/office/drawing/2014/main" id="{C104583B-A82C-468C-B000-62F26F59F79F}"/>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Overlapping purposes confuse selection.</a:t>
            </a:r>
          </a:p>
        </p:txBody>
      </p:sp>
      <p:sp>
        <p:nvSpPr>
          <p:cNvPr id="214" name="23-text-3">
            <a:extLst xmlns:a="http://schemas.openxmlformats.org/drawingml/2006/main">
              <a:ext uri="{FF2B5EF4-FFF2-40B4-BE49-F238E27FC236}">
                <a16:creationId xmlns:a16="http://schemas.microsoft.com/office/drawing/2014/main" id="{E6B7BA4B-52BA-4666-8035-04752227302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Contract</a:t>
            </a:r>
          </a:p>
        </p:txBody>
      </p:sp>
      <p:sp>
        <p:nvSpPr>
          <p:cNvPr id="215" name="23-text-4">
            <a:extLst xmlns:a="http://schemas.openxmlformats.org/drawingml/2006/main">
              <a:ext uri="{FF2B5EF4-FFF2-40B4-BE49-F238E27FC236}">
                <a16:creationId xmlns:a16="http://schemas.microsoft.com/office/drawing/2014/main" id="{C17375FD-A000-4559-BD12-5972A3CF4DEE}"/>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Description, schema, and behavior can drift.</a:t>
            </a:r>
          </a:p>
        </p:txBody>
      </p:sp>
      <p:sp>
        <p:nvSpPr>
          <p:cNvPr id="216" name="23-text-5">
            <a:extLst xmlns:a="http://schemas.openxmlformats.org/drawingml/2006/main">
              <a:ext uri="{FF2B5EF4-FFF2-40B4-BE49-F238E27FC236}">
                <a16:creationId xmlns:a16="http://schemas.microsoft.com/office/drawing/2014/main" id="{A34E90BF-8683-4D99-91D0-C0DC2F891FB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Outcomes</a:t>
            </a:r>
          </a:p>
        </p:txBody>
      </p:sp>
      <p:sp>
        <p:nvSpPr>
          <p:cNvPr id="217" name="23-text-6">
            <a:extLst xmlns:a="http://schemas.openxmlformats.org/drawingml/2006/main">
              <a:ext uri="{FF2B5EF4-FFF2-40B4-BE49-F238E27FC236}">
                <a16:creationId xmlns:a16="http://schemas.microsoft.com/office/drawing/2014/main" id="{AFD7E5F4-ACCD-4614-81A6-104C036A37A2}"/>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Success, failure, and uncertainty need distinct results.</a:t>
            </a:r>
          </a:p>
        </p:txBody>
      </p:sp>
      <p:sp>
        <p:nvSpPr>
          <p:cNvPr id="218" name="23-text-7">
            <a:extLst xmlns:a="http://schemas.openxmlformats.org/drawingml/2006/main">
              <a:ext uri="{FF2B5EF4-FFF2-40B4-BE49-F238E27FC236}">
                <a16:creationId xmlns:a16="http://schemas.microsoft.com/office/drawing/2014/main" id="{AA0617C8-5B81-429B-AB72-767C5338566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19" name="23-text-8">
            <a:extLst xmlns:a="http://schemas.openxmlformats.org/drawingml/2006/main">
              <a:ext uri="{FF2B5EF4-FFF2-40B4-BE49-F238E27FC236}">
                <a16:creationId xmlns:a16="http://schemas.microsoft.com/office/drawing/2014/main" id="{0CBBA3B2-1B56-41CB-8D61-B64D7C17B91A}"/>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Copying APIs without evaluating task fit.</a:t>
            </a:r>
          </a:p>
        </p:txBody>
      </p:sp>
      <p:sp>
        <p:nvSpPr>
          <p:cNvPr id="220" name="narrative-number">
            <a:extLst xmlns:a="http://schemas.openxmlformats.org/drawingml/2006/main">
              <a:ext uri="{FF2B5EF4-FFF2-40B4-BE49-F238E27FC236}">
                <a16:creationId xmlns:a16="http://schemas.microsoft.com/office/drawing/2014/main" id="{D0D420B8-6239-4688-A86C-708A2651756E}"/>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23</a:t>
            </a:r>
          </a:p>
        </p:txBody>
      </p:sp>
    </p:spTree>
    <p:extLst>
      <p:ext uri="{BB962C8B-B14F-4D97-AF65-F5344CB8AC3E}">
        <p14:creationId xmlns:p14="http://schemas.microsoft.com/office/powerpoint/2010/main" val="3431073730"/>
      </p:ext>
    </p:extLst>
  </p:cSld>
</p:sld>
</file>

<file path=ppt/slides/slide3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1" name="!!area-name">
            <a:extLst xmlns:a="http://schemas.openxmlformats.org/drawingml/2006/main">
              <a:ext uri="{FF2B5EF4-FFF2-40B4-BE49-F238E27FC236}">
                <a16:creationId xmlns:a16="http://schemas.microsoft.com/office/drawing/2014/main" id="{101A0711-B59B-4D63-8409-4ACE95B089F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Tools &amp; Extensibility</a:t>
            </a:r>
            <a:r>
              <a:rPr b="0">
                <a:solidFill>
                  <a:srgbClr val="ADACA9"/>
                </a:solidFill>
                <a:latin typeface="Helvetica"/>
                <a:ea typeface="Helvetica"/>
                <a:cs typeface="Helvetica"/>
              </a:rPr>
              <a:t> · FRB application</a:t>
            </a:r>
          </a:p>
        </p:txBody>
      </p:sp>
      <p:pic>
        <p:nvPicPr>
          <p:cNvPr id="229" name="mini-map"/>
          <p:cNvPicPr>
            <a:picLocks xmlns:a="http://schemas.openxmlformats.org/drawingml/2006/main" noChangeAspect="1"/>
          </p:cNvPicPr>
          <p:nvPr/>
        </p:nvPicPr>
        <p:blipFill>
          <a:blip xmlns:r="http://schemas.openxmlformats.org/officeDocument/2006/relationships" xmlns:a="http://schemas.openxmlformats.org/drawingml/2006/main" r:embed="R9047731342e04ab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23" name="slide-title">
            <a:extLst xmlns:a="http://schemas.openxmlformats.org/drawingml/2006/main">
              <a:ext uri="{FF2B5EF4-FFF2-40B4-BE49-F238E27FC236}">
                <a16:creationId xmlns:a16="http://schemas.microsoft.com/office/drawing/2014/main" id="{24415865-12CF-4F67-B8F5-4D3181B92B9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Export cited brief</a:t>
            </a:r>
          </a:p>
        </p:txBody>
      </p:sp>
      <p:sp>
        <p:nvSpPr>
          <p:cNvPr id="224" name="header-divider">
            <a:extLst xmlns:a="http://schemas.openxmlformats.org/drawingml/2006/main">
              <a:ext uri="{FF2B5EF4-FFF2-40B4-BE49-F238E27FC236}">
                <a16:creationId xmlns:a16="http://schemas.microsoft.com/office/drawing/2014/main" id="{121826BE-1A1C-4DB6-AD2A-3D46E2BCAC9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25" name="24-text-1">
            <a:extLst xmlns:a="http://schemas.openxmlformats.org/drawingml/2006/main">
              <a:ext uri="{FF2B5EF4-FFF2-40B4-BE49-F238E27FC236}">
                <a16:creationId xmlns:a16="http://schemas.microsoft.com/office/drawing/2014/main" id="{6DE19576-E7A6-4CAD-B965-48AE32726658}"/>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Export cited brief contract.</a:t>
            </a:r>
          </a:p>
        </p:txBody>
      </p:sp>
      <p:graphicFrame>
        <p:nvGraphicFramePr>
          <p:cNvPr id="233" name="24-table-2"/>
          <p:cNvGraphicFramePr/>
          <p:nvPr/>
        </p:nvGraphicFramePr>
        <p:xfrm>
          <a:off xmlns:a="http://schemas.openxmlformats.org/drawingml/2006/main" x="609600" y="2895600"/>
          <a:ext xmlns:a="http://schemas.openxmlformats.org/drawingml/2006/main" cx="10972800" cy="3352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948BE"/>
                          </a:solidFill>
                          <a:latin typeface="Helvetica"/>
                          <a:ea typeface="Helvetica"/>
                          <a:cs typeface="Helvetica"/>
                        </a:rPr>
                        <a:t>Contract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948BE"/>
                          </a:solidFill>
                          <a:latin typeface="Helvetica"/>
                          <a:ea typeface="Helvetica"/>
                          <a:cs typeface="Helvetica"/>
                        </a:rPr>
                        <a:t>Requirement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58800">
                <a:tc>
                  <a:txBody>
                    <a:bodyPr>
                      <a:noAutofit/>
                    </a:bodyPr>
                    <a:lstStyle/>
                    <a:p>
                      <a:pPr>
                        <a:lnSpc>
                          <a:spcPct val="125000"/>
                        </a:lnSpc>
                        <a:buNone/>
                      </a:pPr>
                      <a:r>
                        <a:rPr sz="2000" b="0">
                          <a:solidFill>
                            <a:srgbClr val="FFFCF5"/>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Checked draft, citations, destination.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Checks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Exact draft passed verification.</a:t>
                      </a:r>
                    </a:p>
                    <a:p>
                      <a:pPr>
                        <a:lnSpc>
                          <a:spcPct val="125000"/>
                        </a:lnSpc>
                        <a:buNone/>
                      </a:pPr>
                      <a:r>
                        <a:rPr sz="2000" b="0">
                          <a:solidFill>
                            <a:srgbClr val="FFFCF5"/>
                          </a:solidFill>
                          <a:latin typeface="Helvetica"/>
                          <a:ea typeface="Helvetica"/>
                          <a:cs typeface="Helvetica"/>
                        </a:rPr>
                        <a:t>Access and destination permitted.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812800">
                <a:tc>
                  <a:txBody>
                    <a:bodyPr>
                      <a:noAutofit/>
                    </a:bodyPr>
                    <a:lstStyle/>
                    <a:p>
                      <a:pPr>
                        <a:lnSpc>
                          <a:spcPct val="125000"/>
                        </a:lnSpc>
                        <a:buNone/>
                      </a:pPr>
                      <a:r>
                        <a:rPr sz="2000" b="0">
                          <a:solidFill>
                            <a:srgbClr val="FFFCF5"/>
                          </a:solidFill>
                          <a:latin typeface="Helvetica"/>
                          <a:ea typeface="Helvetica"/>
                          <a:cs typeface="Helvetica"/>
                        </a:rPr>
                        <a:t>Output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Matching content and citations, with uncertainty preserved.</a:t>
                      </a:r>
                    </a:p>
                    <a:p>
                      <a:pPr>
                        <a:lnSpc>
                          <a:spcPct val="125000"/>
                        </a:lnSpc>
                        <a:buNone/>
                      </a:pPr>
                      <a:r>
                        <a:rPr sz="2000" b="0">
                          <a:solidFill>
                            <a:srgbClr val="FFFCF5"/>
                          </a:solidFill>
                          <a:latin typeface="Helvetica"/>
                          <a:ea typeface="Helvetica"/>
                          <a:cs typeface="Helvetica"/>
                        </a:rPr>
                        <a:t>Export receipt.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11200">
                <a:tc>
                  <a:txBody>
                    <a:bodyPr>
                      <a:noAutofit/>
                    </a:bodyPr>
                    <a:lstStyle/>
                    <a:p>
                      <a:pPr>
                        <a:lnSpc>
                          <a:spcPct val="125000"/>
                        </a:lnSpc>
                        <a:buNone/>
                      </a:pPr>
                      <a:r>
                        <a:rPr sz="2000" b="0">
                          <a:solidFill>
                            <a:srgbClr val="FFFCF5"/>
                          </a:solidFill>
                          <a:latin typeface="Helvetica"/>
                          <a:ea typeface="Helvetica"/>
                          <a:cs typeface="Helvetica"/>
                        </a:rPr>
                        <a:t>Failure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Known failure or unknown outcome stays explicit.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227" name="narrative-number">
            <a:extLst xmlns:a="http://schemas.openxmlformats.org/drawingml/2006/main">
              <a:ext uri="{FF2B5EF4-FFF2-40B4-BE49-F238E27FC236}">
                <a16:creationId xmlns:a16="http://schemas.microsoft.com/office/drawing/2014/main" id="{BCD8823F-3415-41C8-9B5F-099DA849B7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24</a:t>
            </a:r>
          </a:p>
        </p:txBody>
      </p:sp>
    </p:spTree>
    <p:extLst>
      <p:ext uri="{BB962C8B-B14F-4D97-AF65-F5344CB8AC3E}">
        <p14:creationId xmlns:p14="http://schemas.microsoft.com/office/powerpoint/2010/main" val="2468177481"/>
      </p:ext>
    </p:extLst>
  </p:cSld>
</p:sld>
</file>

<file path=ppt/slides/slide3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28" name="!!area-name">
            <a:extLst xmlns:a="http://schemas.openxmlformats.org/drawingml/2006/main">
              <a:ext uri="{FF2B5EF4-FFF2-40B4-BE49-F238E27FC236}">
                <a16:creationId xmlns:a16="http://schemas.microsoft.com/office/drawing/2014/main" id="{BBB6A66A-147D-4DD9-BD4E-B1CE433C8B6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Perspective</a:t>
            </a:r>
          </a:p>
        </p:txBody>
      </p:sp>
      <p:pic>
        <p:nvPicPr>
          <p:cNvPr id="237" name="mini-map"/>
          <p:cNvPicPr>
            <a:picLocks xmlns:a="http://schemas.openxmlformats.org/drawingml/2006/main" noChangeAspect="1"/>
          </p:cNvPicPr>
          <p:nvPr/>
        </p:nvPicPr>
        <p:blipFill>
          <a:blip xmlns:r="http://schemas.openxmlformats.org/officeDocument/2006/relationships" xmlns:a="http://schemas.openxmlformats.org/drawingml/2006/main" r:embed="R469d4f9ed80840e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0" name="header-divider">
            <a:extLst xmlns:a="http://schemas.openxmlformats.org/drawingml/2006/main">
              <a:ext uri="{FF2B5EF4-FFF2-40B4-BE49-F238E27FC236}">
                <a16:creationId xmlns:a16="http://schemas.microsoft.com/office/drawing/2014/main" id="{D0F537D9-E5B5-4972-8670-73001FEACEA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31" name="25-text-1">
            <a:extLst xmlns:a="http://schemas.openxmlformats.org/drawingml/2006/main">
              <a:ext uri="{FF2B5EF4-FFF2-40B4-BE49-F238E27FC236}">
                <a16:creationId xmlns:a16="http://schemas.microsoft.com/office/drawing/2014/main" id="{64B331E4-1587-45F7-B7B7-D00CF12A8333}"/>
              </a:ext>
            </a:extLst>
          </p:cNvPr>
          <p:cNvSpPr>
            <a:spLocks xmlns:a="http://schemas.openxmlformats.org/drawingml/2006/main"/>
          </p:cNvSpPr>
          <p:nvPr/>
        </p:nvSpPr>
        <p:spPr>
          <a:xfrm xmlns:a="http://schemas.openxmlformats.org/drawingml/2006/main">
            <a:off x="609600" y="2438400"/>
            <a:ext cx="7213600" cy="274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“we recommend finding the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simplest solution possible,</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and only increasing</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complexity when needed.”</a:t>
            </a:r>
          </a:p>
        </p:txBody>
      </p:sp>
      <p:sp>
        <p:nvSpPr>
          <p:cNvPr id="232" name="25-text-2">
            <a:extLst xmlns:a="http://schemas.openxmlformats.org/drawingml/2006/main">
              <a:ext uri="{FF2B5EF4-FFF2-40B4-BE49-F238E27FC236}">
                <a16:creationId xmlns:a16="http://schemas.microsoft.com/office/drawing/2014/main" id="{B549F008-A177-49E4-9CBE-11D29E834DA8}"/>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a:t>
            </a:r>
          </a:p>
        </p:txBody>
      </p:sp>
      <p:sp>
        <p:nvSpPr>
          <p:cNvPr id="233" name="25-text-3">
            <a:extLst xmlns:a="http://schemas.openxmlformats.org/drawingml/2006/main">
              <a:ext uri="{FF2B5EF4-FFF2-40B4-BE49-F238E27FC236}">
                <a16:creationId xmlns:a16="http://schemas.microsoft.com/office/drawing/2014/main" id="{D2BC1D52-F9B6-4328-B7C0-8E14F33F08E2}"/>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Building effective agents, December 2024</a:t>
            </a:r>
          </a:p>
        </p:txBody>
      </p:sp>
      <p:pic>
        <p:nvPicPr>
          <p:cNvPr id="242" name="25-image-4"/>
          <p:cNvPicPr>
            <a:picLocks xmlns:a="http://schemas.openxmlformats.org/drawingml/2006/main" noChangeAspect="1"/>
          </p:cNvPicPr>
          <p:nvPr/>
        </p:nvPicPr>
        <p:blipFill>
          <a:blip xmlns:r="http://schemas.openxmlformats.org/officeDocument/2006/relationships" xmlns:a="http://schemas.openxmlformats.org/drawingml/2006/main" r:embed="R1cd77fc41ddf42b8"/>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35" name="narrative-number">
            <a:extLst xmlns:a="http://schemas.openxmlformats.org/drawingml/2006/main">
              <a:ext uri="{FF2B5EF4-FFF2-40B4-BE49-F238E27FC236}">
                <a16:creationId xmlns:a16="http://schemas.microsoft.com/office/drawing/2014/main" id="{6B350C39-10E7-4265-A0B2-FE678C82FDF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25</a:t>
            </a:r>
          </a:p>
        </p:txBody>
      </p:sp>
    </p:spTree>
    <p:extLst>
      <p:ext uri="{BB962C8B-B14F-4D97-AF65-F5344CB8AC3E}">
        <p14:creationId xmlns:p14="http://schemas.microsoft.com/office/powerpoint/2010/main" val="2449112876"/>
      </p:ext>
    </p:extLst>
  </p:cSld>
</p:sld>
</file>

<file path=ppt/slides/slide3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36" name="!!area-name">
            <a:extLst xmlns:a="http://schemas.openxmlformats.org/drawingml/2006/main">
              <a:ext uri="{FF2B5EF4-FFF2-40B4-BE49-F238E27FC236}">
                <a16:creationId xmlns:a16="http://schemas.microsoft.com/office/drawing/2014/main" id="{64FD5F58-DCF9-4EFE-AC3A-B6C9F8D1BE2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What and why</a:t>
            </a:r>
          </a:p>
        </p:txBody>
      </p:sp>
      <p:pic>
        <p:nvPicPr>
          <p:cNvPr id="246" name="mini-map"/>
          <p:cNvPicPr>
            <a:picLocks xmlns:a="http://schemas.openxmlformats.org/drawingml/2006/main" noChangeAspect="1"/>
          </p:cNvPicPr>
          <p:nvPr/>
        </p:nvPicPr>
        <p:blipFill>
          <a:blip xmlns:r="http://schemas.openxmlformats.org/officeDocument/2006/relationships" xmlns:a="http://schemas.openxmlformats.org/drawingml/2006/main" r:embed="Rd02aa4b3f1c34fa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38" name="slide-title">
            <a:extLst xmlns:a="http://schemas.openxmlformats.org/drawingml/2006/main">
              <a:ext uri="{FF2B5EF4-FFF2-40B4-BE49-F238E27FC236}">
                <a16:creationId xmlns:a16="http://schemas.microsoft.com/office/drawing/2014/main" id="{E2457737-0589-40C9-ACDB-F1590F0225C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control</a:t>
            </a:r>
          </a:p>
        </p:txBody>
      </p:sp>
      <p:sp>
        <p:nvSpPr>
          <p:cNvPr id="239" name="header-divider">
            <a:extLst xmlns:a="http://schemas.openxmlformats.org/drawingml/2006/main">
              <a:ext uri="{FF2B5EF4-FFF2-40B4-BE49-F238E27FC236}">
                <a16:creationId xmlns:a16="http://schemas.microsoft.com/office/drawing/2014/main" id="{DFA7D1C4-77D4-4932-8112-44BD46C625A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0" name="26-text-1">
            <a:extLst xmlns:a="http://schemas.openxmlformats.org/drawingml/2006/main">
              <a:ext uri="{FF2B5EF4-FFF2-40B4-BE49-F238E27FC236}">
                <a16:creationId xmlns:a16="http://schemas.microsoft.com/office/drawing/2014/main" id="{A5723E35-8B37-4CE7-A6F0-AAA0A8819C5A}"/>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What it is</a:t>
            </a:r>
          </a:p>
        </p:txBody>
      </p:sp>
      <p:sp>
        <p:nvSpPr>
          <p:cNvPr id="241" name="26-text-2">
            <a:extLst xmlns:a="http://schemas.openxmlformats.org/drawingml/2006/main">
              <a:ext uri="{FF2B5EF4-FFF2-40B4-BE49-F238E27FC236}">
                <a16:creationId xmlns:a16="http://schemas.microsoft.com/office/drawing/2014/main" id="{38779A88-8093-4BB4-9C9D-13D3AB83A84B}"/>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Sequence work, carry state, coordinate, stop, and recover.</a:t>
            </a:r>
          </a:p>
        </p:txBody>
      </p:sp>
      <p:sp>
        <p:nvSpPr>
          <p:cNvPr id="242" name="26-text-3">
            <a:extLst xmlns:a="http://schemas.openxmlformats.org/drawingml/2006/main">
              <a:ext uri="{FF2B5EF4-FFF2-40B4-BE49-F238E27FC236}">
                <a16:creationId xmlns:a16="http://schemas.microsoft.com/office/drawing/2014/main" id="{B6D1B87C-05CD-4236-AEAC-803C186CE9B2}"/>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Why it matters</a:t>
            </a:r>
          </a:p>
        </p:txBody>
      </p:sp>
      <p:sp>
        <p:nvSpPr>
          <p:cNvPr id="243" name="26-text-4">
            <a:extLst xmlns:a="http://schemas.openxmlformats.org/drawingml/2006/main">
              <a:ext uri="{FF2B5EF4-FFF2-40B4-BE49-F238E27FC236}">
                <a16:creationId xmlns:a16="http://schemas.microsoft.com/office/drawing/2014/main" id="{0F780950-1150-43F5-82B3-23E0AF4AAE24}"/>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Reach checked outcomes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within enforced limits.</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Combine code-controlled paths and model judgment.</a:t>
            </a:r>
          </a:p>
        </p:txBody>
      </p:sp>
      <p:sp>
        <p:nvSpPr>
          <p:cNvPr id="244" name="narrative-number">
            <a:extLst xmlns:a="http://schemas.openxmlformats.org/drawingml/2006/main">
              <a:ext uri="{FF2B5EF4-FFF2-40B4-BE49-F238E27FC236}">
                <a16:creationId xmlns:a16="http://schemas.microsoft.com/office/drawing/2014/main" id="{54FEC743-F808-4F2F-B614-3D9953EB374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26</a:t>
            </a:r>
          </a:p>
        </p:txBody>
      </p:sp>
    </p:spTree>
    <p:extLst>
      <p:ext uri="{BB962C8B-B14F-4D97-AF65-F5344CB8AC3E}">
        <p14:creationId xmlns:p14="http://schemas.microsoft.com/office/powerpoint/2010/main" val="2703351229"/>
      </p:ext>
    </p:extLst>
  </p:cSld>
</p:sld>
</file>

<file path=ppt/slides/slide3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45" name="!!area-name">
            <a:extLst xmlns:a="http://schemas.openxmlformats.org/drawingml/2006/main">
              <a:ext uri="{FF2B5EF4-FFF2-40B4-BE49-F238E27FC236}">
                <a16:creationId xmlns:a16="http://schemas.microsoft.com/office/drawing/2014/main" id="{BF75F4A5-15D9-4512-843A-E967084F655F}"/>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Decisions</a:t>
            </a:r>
          </a:p>
        </p:txBody>
      </p:sp>
      <p:pic>
        <p:nvPicPr>
          <p:cNvPr id="257" name="mini-map"/>
          <p:cNvPicPr>
            <a:picLocks xmlns:a="http://schemas.openxmlformats.org/drawingml/2006/main" noChangeAspect="1"/>
          </p:cNvPicPr>
          <p:nvPr/>
        </p:nvPicPr>
        <p:blipFill>
          <a:blip xmlns:r="http://schemas.openxmlformats.org/officeDocument/2006/relationships" xmlns:a="http://schemas.openxmlformats.org/drawingml/2006/main" r:embed="Rbc2ffce72a194ca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47" name="slide-title">
            <a:extLst xmlns:a="http://schemas.openxmlformats.org/drawingml/2006/main">
              <a:ext uri="{FF2B5EF4-FFF2-40B4-BE49-F238E27FC236}">
                <a16:creationId xmlns:a16="http://schemas.microsoft.com/office/drawing/2014/main" id="{BCD119E3-7C91-4891-85B2-3F592940CB2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Orchestration decisions</a:t>
            </a:r>
          </a:p>
        </p:txBody>
      </p:sp>
      <p:sp>
        <p:nvSpPr>
          <p:cNvPr id="248" name="header-divider">
            <a:extLst xmlns:a="http://schemas.openxmlformats.org/drawingml/2006/main">
              <a:ext uri="{FF2B5EF4-FFF2-40B4-BE49-F238E27FC236}">
                <a16:creationId xmlns:a16="http://schemas.microsoft.com/office/drawing/2014/main" id="{D35FD829-59AF-4371-A4F6-A52795B03D4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49" name="27-text-1">
            <a:extLst xmlns:a="http://schemas.openxmlformats.org/drawingml/2006/main">
              <a:ext uri="{FF2B5EF4-FFF2-40B4-BE49-F238E27FC236}">
                <a16:creationId xmlns:a16="http://schemas.microsoft.com/office/drawing/2014/main" id="{8C310AC8-6E6F-40CD-AEC5-16A96B0785BC}"/>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Who chooses the next step?</a:t>
            </a:r>
          </a:p>
        </p:txBody>
      </p:sp>
      <p:sp>
        <p:nvSpPr>
          <p:cNvPr id="250" name="27-text-2">
            <a:extLst xmlns:a="http://schemas.openxmlformats.org/drawingml/2006/main">
              <a:ext uri="{FF2B5EF4-FFF2-40B4-BE49-F238E27FC236}">
                <a16:creationId xmlns:a16="http://schemas.microsoft.com/office/drawing/2014/main" id="{3698DCB2-FF73-4FF1-B22D-B2854991B326}"/>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for required gates. Model judgment where adaptation helps.</a:t>
            </a:r>
          </a:p>
        </p:txBody>
      </p:sp>
      <p:sp>
        <p:nvSpPr>
          <p:cNvPr id="251" name="27-text-3">
            <a:extLst xmlns:a="http://schemas.openxmlformats.org/drawingml/2006/main">
              <a:ext uri="{FF2B5EF4-FFF2-40B4-BE49-F238E27FC236}">
                <a16:creationId xmlns:a16="http://schemas.microsoft.com/office/drawing/2014/main" id="{A2439005-EF9B-4425-8A59-105E233FA354}"/>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When should work be delegated?</a:t>
            </a:r>
          </a:p>
        </p:txBody>
      </p:sp>
      <p:sp>
        <p:nvSpPr>
          <p:cNvPr id="252" name="27-text-4">
            <a:extLst xmlns:a="http://schemas.openxmlformats.org/drawingml/2006/main">
              <a:ext uri="{FF2B5EF4-FFF2-40B4-BE49-F238E27FC236}">
                <a16:creationId xmlns:a16="http://schemas.microsoft.com/office/drawing/2014/main" id="{C385FAD0-BE89-48F6-A28B-2A799297B9A0}"/>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Begin with a bounded workflow. Add workers after measured benefit.</a:t>
            </a:r>
          </a:p>
        </p:txBody>
      </p:sp>
      <p:sp>
        <p:nvSpPr>
          <p:cNvPr id="253" name="27-text-5">
            <a:extLst xmlns:a="http://schemas.openxmlformats.org/drawingml/2006/main">
              <a:ext uri="{FF2B5EF4-FFF2-40B4-BE49-F238E27FC236}">
                <a16:creationId xmlns:a16="http://schemas.microsoft.com/office/drawing/2014/main" id="{FE23B3CD-D65C-4631-ACF1-D0A37B527D8A}"/>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How does work stop or recover?</a:t>
            </a:r>
          </a:p>
        </p:txBody>
      </p:sp>
      <p:sp>
        <p:nvSpPr>
          <p:cNvPr id="254" name="27-text-6">
            <a:extLst xmlns:a="http://schemas.openxmlformats.org/drawingml/2006/main">
              <a:ext uri="{FF2B5EF4-FFF2-40B4-BE49-F238E27FC236}">
                <a16:creationId xmlns:a16="http://schemas.microsoft.com/office/drawing/2014/main" id="{585F4FE5-2AC1-4819-8B70-57B4F2817E21}"/>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Completion checks, saved state, bounded retries, and handoff.</a:t>
            </a:r>
          </a:p>
        </p:txBody>
      </p:sp>
      <p:sp>
        <p:nvSpPr>
          <p:cNvPr id="255" name="narrative-number">
            <a:extLst xmlns:a="http://schemas.openxmlformats.org/drawingml/2006/main">
              <a:ext uri="{FF2B5EF4-FFF2-40B4-BE49-F238E27FC236}">
                <a16:creationId xmlns:a16="http://schemas.microsoft.com/office/drawing/2014/main" id="{CCFE48A4-3C28-4A9A-8EF2-F456869C990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27</a:t>
            </a:r>
          </a:p>
        </p:txBody>
      </p:sp>
    </p:spTree>
    <p:extLst>
      <p:ext uri="{BB962C8B-B14F-4D97-AF65-F5344CB8AC3E}">
        <p14:creationId xmlns:p14="http://schemas.microsoft.com/office/powerpoint/2010/main" val="1806299573"/>
      </p:ext>
    </p:extLst>
  </p:cSld>
</p:sld>
</file>

<file path=ppt/slides/slide3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56" name="!!area-name">
            <a:extLst xmlns:a="http://schemas.openxmlformats.org/drawingml/2006/main">
              <a:ext uri="{FF2B5EF4-FFF2-40B4-BE49-F238E27FC236}">
                <a16:creationId xmlns:a16="http://schemas.microsoft.com/office/drawing/2014/main" id="{1D09AD6E-08E7-4B7A-A447-E7AA05F2404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Challenges and pitfalls</a:t>
            </a:r>
          </a:p>
        </p:txBody>
      </p:sp>
      <p:pic>
        <p:nvPicPr>
          <p:cNvPr id="270" name="mini-map"/>
          <p:cNvPicPr>
            <a:picLocks xmlns:a="http://schemas.openxmlformats.org/drawingml/2006/main" noChangeAspect="1"/>
          </p:cNvPicPr>
          <p:nvPr/>
        </p:nvPicPr>
        <p:blipFill>
          <a:blip xmlns:r="http://schemas.openxmlformats.org/officeDocument/2006/relationships" xmlns:a="http://schemas.openxmlformats.org/drawingml/2006/main" r:embed="R5d13aead3de34488"/>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58" name="slide-title">
            <a:extLst xmlns:a="http://schemas.openxmlformats.org/drawingml/2006/main">
              <a:ext uri="{FF2B5EF4-FFF2-40B4-BE49-F238E27FC236}">
                <a16:creationId xmlns:a16="http://schemas.microsoft.com/office/drawing/2014/main" id="{5D497FE6-77F0-4229-8B11-887DED270317}"/>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Execution pitfalls</a:t>
            </a:r>
          </a:p>
        </p:txBody>
      </p:sp>
      <p:sp>
        <p:nvSpPr>
          <p:cNvPr id="259" name="header-divider">
            <a:extLst xmlns:a="http://schemas.openxmlformats.org/drawingml/2006/main">
              <a:ext uri="{FF2B5EF4-FFF2-40B4-BE49-F238E27FC236}">
                <a16:creationId xmlns:a16="http://schemas.microsoft.com/office/drawing/2014/main" id="{108649D9-128E-4E24-A85A-C4D7EFA984C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60" name="28-text-1">
            <a:extLst xmlns:a="http://schemas.openxmlformats.org/drawingml/2006/main">
              <a:ext uri="{FF2B5EF4-FFF2-40B4-BE49-F238E27FC236}">
                <a16:creationId xmlns:a16="http://schemas.microsoft.com/office/drawing/2014/main" id="{762E316F-FE39-4384-B520-7965F63041BB}"/>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Gates</a:t>
            </a:r>
          </a:p>
        </p:txBody>
      </p:sp>
      <p:sp>
        <p:nvSpPr>
          <p:cNvPr id="261" name="28-text-2">
            <a:extLst xmlns:a="http://schemas.openxmlformats.org/drawingml/2006/main">
              <a:ext uri="{FF2B5EF4-FFF2-40B4-BE49-F238E27FC236}">
                <a16:creationId xmlns:a16="http://schemas.microsoft.com/office/drawing/2014/main" id="{4CB6DB1F-7907-48D5-9A9C-37842A1AA5A5}"/>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proposed plan does not enforce prerequisites.</a:t>
            </a:r>
          </a:p>
        </p:txBody>
      </p:sp>
      <p:sp>
        <p:nvSpPr>
          <p:cNvPr id="262" name="28-text-3">
            <a:extLst xmlns:a="http://schemas.openxmlformats.org/drawingml/2006/main">
              <a:ext uri="{FF2B5EF4-FFF2-40B4-BE49-F238E27FC236}">
                <a16:creationId xmlns:a16="http://schemas.microsoft.com/office/drawing/2014/main" id="{BE44C4BD-075B-407D-A2DA-FBADE134A92C}"/>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Progress</a:t>
            </a:r>
          </a:p>
        </p:txBody>
      </p:sp>
      <p:sp>
        <p:nvSpPr>
          <p:cNvPr id="263" name="28-text-4">
            <a:extLst xmlns:a="http://schemas.openxmlformats.org/drawingml/2006/main">
              <a:ext uri="{FF2B5EF4-FFF2-40B4-BE49-F238E27FC236}">
                <a16:creationId xmlns:a16="http://schemas.microsoft.com/office/drawing/2014/main" id="{9D32FE63-2C9D-42FA-950C-99A8FCFA3890}"/>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Repeated work can exhaust the budget.</a:t>
            </a:r>
          </a:p>
        </p:txBody>
      </p:sp>
      <p:sp>
        <p:nvSpPr>
          <p:cNvPr id="264" name="28-text-5">
            <a:extLst xmlns:a="http://schemas.openxmlformats.org/drawingml/2006/main">
              <a:ext uri="{FF2B5EF4-FFF2-40B4-BE49-F238E27FC236}">
                <a16:creationId xmlns:a16="http://schemas.microsoft.com/office/drawing/2014/main" id="{106043E4-B8F2-4308-9FD4-B402F1ED726B}"/>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Recovery</a:t>
            </a:r>
          </a:p>
        </p:txBody>
      </p:sp>
      <p:sp>
        <p:nvSpPr>
          <p:cNvPr id="265" name="28-text-6">
            <a:extLst xmlns:a="http://schemas.openxmlformats.org/drawingml/2006/main">
              <a:ext uri="{FF2B5EF4-FFF2-40B4-BE49-F238E27FC236}">
                <a16:creationId xmlns:a16="http://schemas.microsoft.com/office/drawing/2014/main" id="{B0E99968-BBED-4163-9DC8-F415DBB60C20}"/>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timeout does not establish failure.</a:t>
            </a:r>
          </a:p>
        </p:txBody>
      </p:sp>
      <p:sp>
        <p:nvSpPr>
          <p:cNvPr id="266" name="28-text-7">
            <a:extLst xmlns:a="http://schemas.openxmlformats.org/drawingml/2006/main">
              <a:ext uri="{FF2B5EF4-FFF2-40B4-BE49-F238E27FC236}">
                <a16:creationId xmlns:a16="http://schemas.microsoft.com/office/drawing/2014/main" id="{0D88F31B-70A0-400F-A89D-CFBD738C3210}"/>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948BE"/>
                </a:solidFill>
                <a:latin typeface="Helvetica"/>
                <a:ea typeface="Helvetica"/>
                <a:cs typeface="Helvetica"/>
              </a:defRPr>
            </a:pPr>
            <a:r>
              <a:rPr b="1">
                <a:solidFill>
                  <a:srgbClr val="F948BE"/>
                </a:solidFill>
                <a:latin typeface="Helvetica"/>
                <a:ea typeface="Helvetica"/>
                <a:cs typeface="Helvetica"/>
              </a:rPr>
              <a:t>Pitfall</a:t>
            </a:r>
          </a:p>
        </p:txBody>
      </p:sp>
      <p:sp>
        <p:nvSpPr>
          <p:cNvPr id="267" name="28-text-8">
            <a:extLst xmlns:a="http://schemas.openxmlformats.org/drawingml/2006/main">
              <a:ext uri="{FF2B5EF4-FFF2-40B4-BE49-F238E27FC236}">
                <a16:creationId xmlns:a16="http://schemas.microsoft.com/office/drawing/2014/main" id="{90334558-3AF4-4062-B686-DD56B7982361}"/>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Adding multiple agents before trying a workflow.</a:t>
            </a:r>
          </a:p>
        </p:txBody>
      </p:sp>
      <p:sp>
        <p:nvSpPr>
          <p:cNvPr id="268" name="narrative-number">
            <a:extLst xmlns:a="http://schemas.openxmlformats.org/drawingml/2006/main">
              <a:ext uri="{FF2B5EF4-FFF2-40B4-BE49-F238E27FC236}">
                <a16:creationId xmlns:a16="http://schemas.microsoft.com/office/drawing/2014/main" id="{62D4D16A-9ACB-4D1D-9860-44222214A2D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28</a:t>
            </a:r>
          </a:p>
        </p:txBody>
      </p:sp>
    </p:spTree>
    <p:extLst>
      <p:ext uri="{BB962C8B-B14F-4D97-AF65-F5344CB8AC3E}">
        <p14:creationId xmlns:p14="http://schemas.microsoft.com/office/powerpoint/2010/main" val="2255214720"/>
      </p:ext>
    </p:extLst>
  </p:cSld>
</p:sld>
</file>

<file path=ppt/slides/slide3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69" name="!!area-name">
            <a:extLst xmlns:a="http://schemas.openxmlformats.org/drawingml/2006/main">
              <a:ext uri="{FF2B5EF4-FFF2-40B4-BE49-F238E27FC236}">
                <a16:creationId xmlns:a16="http://schemas.microsoft.com/office/drawing/2014/main" id="{A490227A-395A-411C-9AA2-396DB4B59CC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948BE"/>
                </a:solidFill>
                <a:latin typeface="Helvetica"/>
                <a:ea typeface="Helvetica"/>
                <a:cs typeface="Helvetica"/>
              </a:rPr>
              <a:t>Orchestration</a:t>
            </a:r>
            <a:r>
              <a:rPr b="0">
                <a:solidFill>
                  <a:srgbClr val="ADACA9"/>
                </a:solidFill>
                <a:latin typeface="Helvetica"/>
                <a:ea typeface="Helvetica"/>
                <a:cs typeface="Helvetica"/>
              </a:rPr>
              <a:t> · FRB application</a:t>
            </a:r>
          </a:p>
        </p:txBody>
      </p:sp>
      <p:pic>
        <p:nvPicPr>
          <p:cNvPr id="290" name="mini-map"/>
          <p:cNvPicPr>
            <a:picLocks xmlns:a="http://schemas.openxmlformats.org/drawingml/2006/main" noChangeAspect="1"/>
          </p:cNvPicPr>
          <p:nvPr/>
        </p:nvPicPr>
        <p:blipFill>
          <a:blip xmlns:r="http://schemas.openxmlformats.org/officeDocument/2006/relationships" xmlns:a="http://schemas.openxmlformats.org/drawingml/2006/main" r:embed="R07bb2508f23d49e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71" name="slide-title">
            <a:extLst xmlns:a="http://schemas.openxmlformats.org/drawingml/2006/main">
              <a:ext uri="{FF2B5EF4-FFF2-40B4-BE49-F238E27FC236}">
                <a16:creationId xmlns:a16="http://schemas.microsoft.com/office/drawing/2014/main" id="{7BC7A4FD-97F8-4CFC-9103-33FB39A1EC33}"/>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Workflow for the FRB brief</a:t>
            </a:r>
          </a:p>
        </p:txBody>
      </p:sp>
      <p:sp>
        <p:nvSpPr>
          <p:cNvPr id="272" name="header-divider">
            <a:extLst xmlns:a="http://schemas.openxmlformats.org/drawingml/2006/main">
              <a:ext uri="{FF2B5EF4-FFF2-40B4-BE49-F238E27FC236}">
                <a16:creationId xmlns:a16="http://schemas.microsoft.com/office/drawing/2014/main" id="{DCAC5C65-981B-457E-BB4A-21F928515C4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73" name="29-text-1">
            <a:extLst xmlns:a="http://schemas.openxmlformats.org/drawingml/2006/main">
              <a:ext uri="{FF2B5EF4-FFF2-40B4-BE49-F238E27FC236}">
                <a16:creationId xmlns:a16="http://schemas.microsoft.com/office/drawing/2014/main" id="{669C44F8-39B0-4A19-A468-F25E4BF88B50}"/>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bounded workflow.</a:t>
            </a:r>
          </a:p>
        </p:txBody>
      </p:sp>
      <p:sp>
        <p:nvSpPr>
          <p:cNvPr id="274" name="29-text-2">
            <a:extLst xmlns:a="http://schemas.openxmlformats.org/drawingml/2006/main">
              <a:ext uri="{FF2B5EF4-FFF2-40B4-BE49-F238E27FC236}">
                <a16:creationId xmlns:a16="http://schemas.microsoft.com/office/drawing/2014/main" id="{6FC6C762-9044-4917-8E5F-590B0D8252CA}"/>
              </a:ext>
            </a:extLst>
          </p:cNvPr>
          <p:cNvSpPr>
            <a:spLocks xmlns:a="http://schemas.openxmlformats.org/drawingml/2006/main"/>
          </p:cNvSpPr>
          <p:nvPr/>
        </p:nvSpPr>
        <p:spPr>
          <a:xfrm xmlns:a="http://schemas.openxmlformats.org/drawingml/2006/main">
            <a:off x="6096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275" name="29-text-3">
            <a:extLst xmlns:a="http://schemas.openxmlformats.org/drawingml/2006/main">
              <a:ext uri="{FF2B5EF4-FFF2-40B4-BE49-F238E27FC236}">
                <a16:creationId xmlns:a16="http://schemas.microsoft.com/office/drawing/2014/main" id="{31446988-1A9A-4EC0-ABA1-976A4CEE8D33}"/>
              </a:ext>
            </a:extLst>
          </p:cNvPr>
          <p:cNvSpPr>
            <a:spLocks xmlns:a="http://schemas.openxmlformats.org/drawingml/2006/main"/>
          </p:cNvSpPr>
          <p:nvPr/>
        </p:nvSpPr>
        <p:spPr>
          <a:xfrm xmlns:a="http://schemas.openxmlformats.org/drawingml/2006/main">
            <a:off x="12192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Retrieve the packet.</a:t>
            </a:r>
          </a:p>
        </p:txBody>
      </p:sp>
      <p:sp>
        <p:nvSpPr>
          <p:cNvPr id="276" name="29-text-4">
            <a:extLst xmlns:a="http://schemas.openxmlformats.org/drawingml/2006/main">
              <a:ext uri="{FF2B5EF4-FFF2-40B4-BE49-F238E27FC236}">
                <a16:creationId xmlns:a16="http://schemas.microsoft.com/office/drawing/2014/main" id="{DD19128D-973D-4103-9D24-396BEA8689DC}"/>
              </a:ext>
            </a:extLst>
          </p:cNvPr>
          <p:cNvSpPr>
            <a:spLocks xmlns:a="http://schemas.openxmlformats.org/drawingml/2006/main"/>
          </p:cNvSpPr>
          <p:nvPr/>
        </p:nvSpPr>
        <p:spPr>
          <a:xfrm xmlns:a="http://schemas.openxmlformats.org/drawingml/2006/main">
            <a:off x="6248400" y="28448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277" name="29-text-5">
            <a:extLst xmlns:a="http://schemas.openxmlformats.org/drawingml/2006/main">
              <a:ext uri="{FF2B5EF4-FFF2-40B4-BE49-F238E27FC236}">
                <a16:creationId xmlns:a16="http://schemas.microsoft.com/office/drawing/2014/main" id="{174943E2-B035-479B-ADFC-7E8BE3BDAF2F}"/>
              </a:ext>
            </a:extLst>
          </p:cNvPr>
          <p:cNvSpPr>
            <a:spLocks xmlns:a="http://schemas.openxmlformats.org/drawingml/2006/main"/>
          </p:cNvSpPr>
          <p:nvPr/>
        </p:nvSpPr>
        <p:spPr>
          <a:xfrm xmlns:a="http://schemas.openxmlformats.org/drawingml/2006/main">
            <a:off x="6858000" y="28448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evidence.</a:t>
            </a:r>
          </a:p>
        </p:txBody>
      </p:sp>
      <p:sp>
        <p:nvSpPr>
          <p:cNvPr id="278" name="29-text-6">
            <a:extLst xmlns:a="http://schemas.openxmlformats.org/drawingml/2006/main">
              <a:ext uri="{FF2B5EF4-FFF2-40B4-BE49-F238E27FC236}">
                <a16:creationId xmlns:a16="http://schemas.microsoft.com/office/drawing/2014/main" id="{595A2D5E-09DF-4982-9C0B-153AD920B66A}"/>
              </a:ext>
            </a:extLst>
          </p:cNvPr>
          <p:cNvSpPr>
            <a:spLocks xmlns:a="http://schemas.openxmlformats.org/drawingml/2006/main"/>
          </p:cNvSpPr>
          <p:nvPr/>
        </p:nvSpPr>
        <p:spPr>
          <a:xfrm xmlns:a="http://schemas.openxmlformats.org/drawingml/2006/main">
            <a:off x="6096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279" name="29-text-7">
            <a:extLst xmlns:a="http://schemas.openxmlformats.org/drawingml/2006/main">
              <a:ext uri="{FF2B5EF4-FFF2-40B4-BE49-F238E27FC236}">
                <a16:creationId xmlns:a16="http://schemas.microsoft.com/office/drawing/2014/main" id="{11907777-15D7-4B33-B714-A142B3C03E80}"/>
              </a:ext>
            </a:extLst>
          </p:cNvPr>
          <p:cNvSpPr>
            <a:spLocks xmlns:a="http://schemas.openxmlformats.org/drawingml/2006/main"/>
          </p:cNvSpPr>
          <p:nvPr/>
        </p:nvSpPr>
        <p:spPr>
          <a:xfrm xmlns:a="http://schemas.openxmlformats.org/drawingml/2006/main">
            <a:off x="12192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Compare cases.</a:t>
            </a:r>
          </a:p>
        </p:txBody>
      </p:sp>
      <p:sp>
        <p:nvSpPr>
          <p:cNvPr id="280" name="29-text-8">
            <a:extLst xmlns:a="http://schemas.openxmlformats.org/drawingml/2006/main">
              <a:ext uri="{FF2B5EF4-FFF2-40B4-BE49-F238E27FC236}">
                <a16:creationId xmlns:a16="http://schemas.microsoft.com/office/drawing/2014/main" id="{4EFAAFF9-BD30-46A9-ABE1-43DE905F8A34}"/>
              </a:ext>
            </a:extLst>
          </p:cNvPr>
          <p:cNvSpPr>
            <a:spLocks xmlns:a="http://schemas.openxmlformats.org/drawingml/2006/main"/>
          </p:cNvSpPr>
          <p:nvPr/>
        </p:nvSpPr>
        <p:spPr>
          <a:xfrm xmlns:a="http://schemas.openxmlformats.org/drawingml/2006/main">
            <a:off x="6248400" y="35560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281" name="29-text-9">
            <a:extLst xmlns:a="http://schemas.openxmlformats.org/drawingml/2006/main">
              <a:ext uri="{FF2B5EF4-FFF2-40B4-BE49-F238E27FC236}">
                <a16:creationId xmlns:a16="http://schemas.microsoft.com/office/drawing/2014/main" id="{0AD8CA26-4FAC-44E5-94FE-06066EF3060C}"/>
              </a:ext>
            </a:extLst>
          </p:cNvPr>
          <p:cNvSpPr>
            <a:spLocks xmlns:a="http://schemas.openxmlformats.org/drawingml/2006/main"/>
          </p:cNvSpPr>
          <p:nvPr/>
        </p:nvSpPr>
        <p:spPr>
          <a:xfrm xmlns:a="http://schemas.openxmlformats.org/drawingml/2006/main">
            <a:off x="6858000" y="35560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Reconcile findings.</a:t>
            </a:r>
          </a:p>
        </p:txBody>
      </p:sp>
      <p:sp>
        <p:nvSpPr>
          <p:cNvPr id="282" name="29-text-10">
            <a:extLst xmlns:a="http://schemas.openxmlformats.org/drawingml/2006/main">
              <a:ext uri="{FF2B5EF4-FFF2-40B4-BE49-F238E27FC236}">
                <a16:creationId xmlns:a16="http://schemas.microsoft.com/office/drawing/2014/main" id="{A5B5706C-5564-4E07-B90E-502F4EC1A78C}"/>
              </a:ext>
            </a:extLst>
          </p:cNvPr>
          <p:cNvSpPr>
            <a:spLocks xmlns:a="http://schemas.openxmlformats.org/drawingml/2006/main"/>
          </p:cNvSpPr>
          <p:nvPr/>
        </p:nvSpPr>
        <p:spPr>
          <a:xfrm xmlns:a="http://schemas.openxmlformats.org/drawingml/2006/main">
            <a:off x="6096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5</a:t>
            </a:r>
          </a:p>
        </p:txBody>
      </p:sp>
      <p:sp>
        <p:nvSpPr>
          <p:cNvPr id="283" name="29-text-11">
            <a:extLst xmlns:a="http://schemas.openxmlformats.org/drawingml/2006/main">
              <a:ext uri="{FF2B5EF4-FFF2-40B4-BE49-F238E27FC236}">
                <a16:creationId xmlns:a16="http://schemas.microsoft.com/office/drawing/2014/main" id="{57E2205F-E13C-47EF-B960-4E6384DC3B4D}"/>
              </a:ext>
            </a:extLst>
          </p:cNvPr>
          <p:cNvSpPr>
            <a:spLocks xmlns:a="http://schemas.openxmlformats.org/drawingml/2006/main"/>
          </p:cNvSpPr>
          <p:nvPr/>
        </p:nvSpPr>
        <p:spPr>
          <a:xfrm xmlns:a="http://schemas.openxmlformats.org/drawingml/2006/main">
            <a:off x="12192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Verify the brief.</a:t>
            </a:r>
          </a:p>
        </p:txBody>
      </p:sp>
      <p:sp>
        <p:nvSpPr>
          <p:cNvPr id="284" name="29-text-12">
            <a:extLst xmlns:a="http://schemas.openxmlformats.org/drawingml/2006/main">
              <a:ext uri="{FF2B5EF4-FFF2-40B4-BE49-F238E27FC236}">
                <a16:creationId xmlns:a16="http://schemas.microsoft.com/office/drawing/2014/main" id="{69DCF295-7D58-4689-A9DD-4676BB268F05}"/>
              </a:ext>
            </a:extLst>
          </p:cNvPr>
          <p:cNvSpPr>
            <a:spLocks xmlns:a="http://schemas.openxmlformats.org/drawingml/2006/main"/>
          </p:cNvSpPr>
          <p:nvPr/>
        </p:nvSpPr>
        <p:spPr>
          <a:xfrm xmlns:a="http://schemas.openxmlformats.org/drawingml/2006/main">
            <a:off x="6248400" y="4267200"/>
            <a:ext cx="406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ADACA9"/>
                </a:solidFill>
                <a:latin typeface="Helvetica"/>
                <a:ea typeface="Helvetica"/>
                <a:cs typeface="Helvetica"/>
              </a:defRPr>
            </a:pPr>
            <a:r>
              <a:rPr b="0">
                <a:solidFill>
                  <a:srgbClr val="ADACA9"/>
                </a:solidFill>
                <a:latin typeface="Helvetica"/>
                <a:ea typeface="Helvetica"/>
                <a:cs typeface="Helvetica"/>
              </a:rPr>
              <a:t>6</a:t>
            </a:r>
          </a:p>
        </p:txBody>
      </p:sp>
      <p:sp>
        <p:nvSpPr>
          <p:cNvPr id="285" name="29-text-13">
            <a:extLst xmlns:a="http://schemas.openxmlformats.org/drawingml/2006/main">
              <a:ext uri="{FF2B5EF4-FFF2-40B4-BE49-F238E27FC236}">
                <a16:creationId xmlns:a16="http://schemas.microsoft.com/office/drawing/2014/main" id="{8FCB1BFA-EBA5-4E01-AEDA-0876B3E6E5D0}"/>
              </a:ext>
            </a:extLst>
          </p:cNvPr>
          <p:cNvSpPr>
            <a:spLocks xmlns:a="http://schemas.openxmlformats.org/drawingml/2006/main"/>
          </p:cNvSpPr>
          <p:nvPr/>
        </p:nvSpPr>
        <p:spPr>
          <a:xfrm xmlns:a="http://schemas.openxmlformats.org/drawingml/2006/main">
            <a:off x="6858000" y="4267200"/>
            <a:ext cx="472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Export.</a:t>
            </a:r>
          </a:p>
        </p:txBody>
      </p:sp>
      <p:sp>
        <p:nvSpPr>
          <p:cNvPr id="286" name="29-text-14">
            <a:extLst xmlns:a="http://schemas.openxmlformats.org/drawingml/2006/main">
              <a:ext uri="{FF2B5EF4-FFF2-40B4-BE49-F238E27FC236}">
                <a16:creationId xmlns:a16="http://schemas.microsoft.com/office/drawing/2014/main" id="{65AB4AA7-5CF2-4800-BE83-5EDC8828C5DC}"/>
              </a:ext>
            </a:extLst>
          </p:cNvPr>
          <p:cNvSpPr>
            <a:spLocks xmlns:a="http://schemas.openxmlformats.org/drawingml/2006/main"/>
          </p:cNvSpPr>
          <p:nvPr/>
        </p:nvSpPr>
        <p:spPr>
          <a:xfrm xmlns:a="http://schemas.openxmlformats.org/drawingml/2006/main">
            <a:off x="609600" y="49784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Export only after checks pass on the exact draft.</a:t>
            </a:r>
          </a:p>
        </p:txBody>
      </p:sp>
      <p:sp>
        <p:nvSpPr>
          <p:cNvPr id="287" name="29-text-15">
            <a:extLst xmlns:a="http://schemas.openxmlformats.org/drawingml/2006/main">
              <a:ext uri="{FF2B5EF4-FFF2-40B4-BE49-F238E27FC236}">
                <a16:creationId xmlns:a16="http://schemas.microsoft.com/office/drawing/2014/main" id="{0F997FEE-48B2-4078-AB02-4B7BE8890A57}"/>
              </a:ext>
            </a:extLst>
          </p:cNvPr>
          <p:cNvSpPr>
            <a:spLocks xmlns:a="http://schemas.openxmlformats.org/drawingml/2006/main"/>
          </p:cNvSpPr>
          <p:nvPr/>
        </p:nvSpPr>
        <p:spPr>
          <a:xfrm xmlns:a="http://schemas.openxmlformats.org/drawingml/2006/main">
            <a:off x="609600" y="5511800"/>
            <a:ext cx="109728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an unknown export outcome</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before deciding whether to retry.</a:t>
            </a:r>
          </a:p>
        </p:txBody>
      </p:sp>
      <p:sp>
        <p:nvSpPr>
          <p:cNvPr id="288" name="narrative-number">
            <a:extLst xmlns:a="http://schemas.openxmlformats.org/drawingml/2006/main">
              <a:ext uri="{FF2B5EF4-FFF2-40B4-BE49-F238E27FC236}">
                <a16:creationId xmlns:a16="http://schemas.microsoft.com/office/drawing/2014/main" id="{4D4F0E40-89D6-451A-BA4C-6FA5A69067E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29</a:t>
            </a:r>
          </a:p>
        </p:txBody>
      </p:sp>
    </p:spTree>
    <p:extLst>
      <p:ext uri="{BB962C8B-B14F-4D97-AF65-F5344CB8AC3E}">
        <p14:creationId xmlns:p14="http://schemas.microsoft.com/office/powerpoint/2010/main" val="4020514562"/>
      </p:ext>
    </p:extLst>
  </p:cSld>
</p:sld>
</file>

<file path=ppt/slides/slide3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89" name="!!area-name">
            <a:extLst xmlns:a="http://schemas.openxmlformats.org/drawingml/2006/main">
              <a:ext uri="{FF2B5EF4-FFF2-40B4-BE49-F238E27FC236}">
                <a16:creationId xmlns:a16="http://schemas.microsoft.com/office/drawing/2014/main" id="{74E2333C-D802-461B-9F68-45F80C83050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Perspective</a:t>
            </a:r>
          </a:p>
        </p:txBody>
      </p:sp>
      <p:pic>
        <p:nvPicPr>
          <p:cNvPr id="298" name="mini-map"/>
          <p:cNvPicPr>
            <a:picLocks xmlns:a="http://schemas.openxmlformats.org/drawingml/2006/main" noChangeAspect="1"/>
          </p:cNvPicPr>
          <p:nvPr/>
        </p:nvPicPr>
        <p:blipFill>
          <a:blip xmlns:r="http://schemas.openxmlformats.org/officeDocument/2006/relationships" xmlns:a="http://schemas.openxmlformats.org/drawingml/2006/main" r:embed="R8cf03e62c709431c"/>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1" name="header-divider">
            <a:extLst xmlns:a="http://schemas.openxmlformats.org/drawingml/2006/main">
              <a:ext uri="{FF2B5EF4-FFF2-40B4-BE49-F238E27FC236}">
                <a16:creationId xmlns:a16="http://schemas.microsoft.com/office/drawing/2014/main" id="{E64DCD66-11AF-4C14-87F9-51E392923000}"/>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292" name="30-text-1">
            <a:extLst xmlns:a="http://schemas.openxmlformats.org/drawingml/2006/main">
              <a:ext uri="{FF2B5EF4-FFF2-40B4-BE49-F238E27FC236}">
                <a16:creationId xmlns:a16="http://schemas.microsoft.com/office/drawing/2014/main" id="{E73D1A73-8CEC-483C-81CE-5B1628D19E8A}"/>
              </a:ext>
            </a:extLst>
          </p:cNvPr>
          <p:cNvSpPr>
            <a:spLocks xmlns:a="http://schemas.openxmlformats.org/drawingml/2006/main"/>
          </p:cNvSpPr>
          <p:nvPr/>
        </p:nvSpPr>
        <p:spPr>
          <a:xfrm xmlns:a="http://schemas.openxmlformats.org/drawingml/2006/main">
            <a:off x="609600" y="2743200"/>
            <a:ext cx="7213600" cy="208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“Error analysis is the most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important activity in evals.”</a:t>
            </a:r>
          </a:p>
        </p:txBody>
      </p:sp>
      <p:sp>
        <p:nvSpPr>
          <p:cNvPr id="293" name="30-text-2">
            <a:extLst xmlns:a="http://schemas.openxmlformats.org/drawingml/2006/main">
              <a:ext uri="{FF2B5EF4-FFF2-40B4-BE49-F238E27FC236}">
                <a16:creationId xmlns:a16="http://schemas.microsoft.com/office/drawing/2014/main" id="{15CD36B9-AF92-4E41-9040-DC448B8F4D4F}"/>
              </a:ext>
            </a:extLst>
          </p:cNvPr>
          <p:cNvSpPr>
            <a:spLocks xmlns:a="http://schemas.openxmlformats.org/drawingml/2006/main"/>
          </p:cNvSpPr>
          <p:nvPr/>
        </p:nvSpPr>
        <p:spPr>
          <a:xfrm xmlns:a="http://schemas.openxmlformats.org/drawingml/2006/main">
            <a:off x="609600" y="5435600"/>
            <a:ext cx="72136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and Shreya Shankar</a:t>
            </a:r>
          </a:p>
        </p:txBody>
      </p:sp>
      <p:sp>
        <p:nvSpPr>
          <p:cNvPr id="294" name="30-text-3">
            <a:extLst xmlns:a="http://schemas.openxmlformats.org/drawingml/2006/main">
              <a:ext uri="{FF2B5EF4-FFF2-40B4-BE49-F238E27FC236}">
                <a16:creationId xmlns:a16="http://schemas.microsoft.com/office/drawing/2014/main" id="{C5F14AE8-DA19-484A-9C01-E51B1452FC6D}"/>
              </a:ext>
            </a:extLst>
          </p:cNvPr>
          <p:cNvSpPr>
            <a:spLocks xmlns:a="http://schemas.openxmlformats.org/drawingml/2006/main"/>
          </p:cNvSpPr>
          <p:nvPr/>
        </p:nvSpPr>
        <p:spPr>
          <a:xfrm xmlns:a="http://schemas.openxmlformats.org/drawingml/2006/main">
            <a:off x="609600" y="5867400"/>
            <a:ext cx="72136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AI Evals: Everything You Need to Know, September 2026</a:t>
            </a:r>
          </a:p>
        </p:txBody>
      </p:sp>
      <p:pic>
        <p:nvPicPr>
          <p:cNvPr id="303" name="30-image-4"/>
          <p:cNvPicPr>
            <a:picLocks xmlns:a="http://schemas.openxmlformats.org/drawingml/2006/main" noChangeAspect="1"/>
          </p:cNvPicPr>
          <p:nvPr/>
        </p:nvPicPr>
        <p:blipFill>
          <a:blip xmlns:r="http://schemas.openxmlformats.org/officeDocument/2006/relationships" xmlns:a="http://schemas.openxmlformats.org/drawingml/2006/main" r:embed="R547cca74be0148ec"/>
          <a:stretch xmlns:a="http://schemas.openxmlformats.org/drawingml/2006/main"/>
        </p:blipFill>
        <p:spPr>
          <a:xfrm xmlns:a="http://schemas.openxmlformats.org/drawingml/2006/main">
            <a:off x="8128000" y="2692400"/>
            <a:ext cx="3454400" cy="3454400"/>
          </a:xfrm>
          <a:prstGeom xmlns:a="http://schemas.openxmlformats.org/drawingml/2006/main" prst="rect">
            <a:avLst/>
          </a:prstGeom>
        </p:spPr>
      </p:pic>
      <p:sp>
        <p:nvSpPr>
          <p:cNvPr id="296" name="narrative-number">
            <a:extLst xmlns:a="http://schemas.openxmlformats.org/drawingml/2006/main">
              <a:ext uri="{FF2B5EF4-FFF2-40B4-BE49-F238E27FC236}">
                <a16:creationId xmlns:a16="http://schemas.microsoft.com/office/drawing/2014/main" id="{621E292A-5A54-480C-881A-41ED36AFB6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30</a:t>
            </a:r>
          </a:p>
        </p:txBody>
      </p:sp>
    </p:spTree>
    <p:extLst>
      <p:ext uri="{BB962C8B-B14F-4D97-AF65-F5344CB8AC3E}">
        <p14:creationId xmlns:p14="http://schemas.microsoft.com/office/powerpoint/2010/main" val="1325862724"/>
      </p:ext>
    </p:extLst>
  </p:cSld>
</p:sld>
</file>

<file path=ppt/slides/slide3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297" name="!!area-name">
            <a:extLst xmlns:a="http://schemas.openxmlformats.org/drawingml/2006/main">
              <a:ext uri="{FF2B5EF4-FFF2-40B4-BE49-F238E27FC236}">
                <a16:creationId xmlns:a16="http://schemas.microsoft.com/office/drawing/2014/main" id="{25C2CC8C-5745-452A-821F-01039FE7BED7}"/>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What and why</a:t>
            </a:r>
          </a:p>
        </p:txBody>
      </p:sp>
      <p:pic>
        <p:nvPicPr>
          <p:cNvPr id="307" name="mini-map"/>
          <p:cNvPicPr>
            <a:picLocks xmlns:a="http://schemas.openxmlformats.org/drawingml/2006/main" noChangeAspect="1"/>
          </p:cNvPicPr>
          <p:nvPr/>
        </p:nvPicPr>
        <p:blipFill>
          <a:blip xmlns:r="http://schemas.openxmlformats.org/officeDocument/2006/relationships" xmlns:a="http://schemas.openxmlformats.org/drawingml/2006/main" r:embed="R792b4ca420d4426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299" name="slide-title">
            <a:extLst xmlns:a="http://schemas.openxmlformats.org/drawingml/2006/main">
              <a:ext uri="{FF2B5EF4-FFF2-40B4-BE49-F238E27FC236}">
                <a16:creationId xmlns:a16="http://schemas.microsoft.com/office/drawing/2014/main" id="{8355CF68-315A-4368-8489-C99601E360CC}"/>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Verification and evaluation</a:t>
            </a:r>
          </a:p>
        </p:txBody>
      </p:sp>
      <p:sp>
        <p:nvSpPr>
          <p:cNvPr id="300" name="header-divider">
            <a:extLst xmlns:a="http://schemas.openxmlformats.org/drawingml/2006/main">
              <a:ext uri="{FF2B5EF4-FFF2-40B4-BE49-F238E27FC236}">
                <a16:creationId xmlns:a16="http://schemas.microsoft.com/office/drawing/2014/main" id="{267876CB-32FB-4682-BA42-94490FA86DDC}"/>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01" name="31-text-1">
            <a:extLst xmlns:a="http://schemas.openxmlformats.org/drawingml/2006/main">
              <a:ext uri="{FF2B5EF4-FFF2-40B4-BE49-F238E27FC236}">
                <a16:creationId xmlns:a16="http://schemas.microsoft.com/office/drawing/2014/main" id="{625172E9-61C1-4AC6-8E25-C11D2D23DA04}"/>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What it is</a:t>
            </a:r>
          </a:p>
        </p:txBody>
      </p:sp>
      <p:sp>
        <p:nvSpPr>
          <p:cNvPr id="302" name="31-text-2">
            <a:extLst xmlns:a="http://schemas.openxmlformats.org/drawingml/2006/main">
              <a:ext uri="{FF2B5EF4-FFF2-40B4-BE49-F238E27FC236}">
                <a16:creationId xmlns:a16="http://schemas.microsoft.com/office/drawing/2014/main" id="{602351A0-347E-4AAC-9EC5-81C2E698D0D1}"/>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Verification: acceptance of this result.</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Evaluation: behavior across cases and repeated trials.</a:t>
            </a:r>
          </a:p>
        </p:txBody>
      </p:sp>
      <p:sp>
        <p:nvSpPr>
          <p:cNvPr id="303" name="31-text-3">
            <a:extLst xmlns:a="http://schemas.openxmlformats.org/drawingml/2006/main">
              <a:ext uri="{FF2B5EF4-FFF2-40B4-BE49-F238E27FC236}">
                <a16:creationId xmlns:a16="http://schemas.microsoft.com/office/drawing/2014/main" id="{8DA9B1E8-0E86-406F-8A6A-E514B54FE911}"/>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Why it matters</a:t>
            </a:r>
          </a:p>
        </p:txBody>
      </p:sp>
      <p:sp>
        <p:nvSpPr>
          <p:cNvPr id="304" name="31-text-4">
            <a:extLst xmlns:a="http://schemas.openxmlformats.org/drawingml/2006/main">
              <a:ext uri="{FF2B5EF4-FFF2-40B4-BE49-F238E27FC236}">
                <a16:creationId xmlns:a16="http://schemas.microsoft.com/office/drawing/2014/main" id="{5A9DA272-359A-48B4-AAB0-546BF01A720F}"/>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Ordinary tests remain necessary.</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Check outcomes, required constraints, and consistency.</a:t>
            </a:r>
          </a:p>
        </p:txBody>
      </p:sp>
      <p:sp>
        <p:nvSpPr>
          <p:cNvPr id="305" name="narrative-number">
            <a:extLst xmlns:a="http://schemas.openxmlformats.org/drawingml/2006/main">
              <a:ext uri="{FF2B5EF4-FFF2-40B4-BE49-F238E27FC236}">
                <a16:creationId xmlns:a16="http://schemas.microsoft.com/office/drawing/2014/main" id="{CC880A48-2106-4B7C-82F4-173C1997D16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31</a:t>
            </a:r>
          </a:p>
        </p:txBody>
      </p:sp>
    </p:spTree>
    <p:extLst>
      <p:ext uri="{BB962C8B-B14F-4D97-AF65-F5344CB8AC3E}">
        <p14:creationId xmlns:p14="http://schemas.microsoft.com/office/powerpoint/2010/main" val="4234559159"/>
      </p:ext>
    </p:extLst>
  </p:cSld>
</p:sld>
</file>

<file path=ppt/slides/slide3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06" name="!!area-name">
            <a:extLst xmlns:a="http://schemas.openxmlformats.org/drawingml/2006/main">
              <a:ext uri="{FF2B5EF4-FFF2-40B4-BE49-F238E27FC236}">
                <a16:creationId xmlns:a16="http://schemas.microsoft.com/office/drawing/2014/main" id="{94E49C4F-BA34-4F76-9D97-6652FC1B8F65}"/>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Decisions</a:t>
            </a:r>
          </a:p>
        </p:txBody>
      </p:sp>
      <p:pic>
        <p:nvPicPr>
          <p:cNvPr id="318" name="mini-map"/>
          <p:cNvPicPr>
            <a:picLocks xmlns:a="http://schemas.openxmlformats.org/drawingml/2006/main" noChangeAspect="1"/>
          </p:cNvPicPr>
          <p:nvPr/>
        </p:nvPicPr>
        <p:blipFill>
          <a:blip xmlns:r="http://schemas.openxmlformats.org/officeDocument/2006/relationships" xmlns:a="http://schemas.openxmlformats.org/drawingml/2006/main" r:embed="R22aff713efde43b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08" name="slide-title">
            <a:extLst xmlns:a="http://schemas.openxmlformats.org/drawingml/2006/main">
              <a:ext uri="{FF2B5EF4-FFF2-40B4-BE49-F238E27FC236}">
                <a16:creationId xmlns:a16="http://schemas.microsoft.com/office/drawing/2014/main" id="{9CB119C4-BCE7-4647-9FD3-331A4C8F833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decisions</a:t>
            </a:r>
          </a:p>
        </p:txBody>
      </p:sp>
      <p:sp>
        <p:nvSpPr>
          <p:cNvPr id="309" name="header-divider">
            <a:extLst xmlns:a="http://schemas.openxmlformats.org/drawingml/2006/main">
              <a:ext uri="{FF2B5EF4-FFF2-40B4-BE49-F238E27FC236}">
                <a16:creationId xmlns:a16="http://schemas.microsoft.com/office/drawing/2014/main" id="{B13986FE-568D-4622-A789-038A735CBF0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10" name="32-text-1">
            <a:extLst xmlns:a="http://schemas.openxmlformats.org/drawingml/2006/main">
              <a:ext uri="{FF2B5EF4-FFF2-40B4-BE49-F238E27FC236}">
                <a16:creationId xmlns:a16="http://schemas.microsoft.com/office/drawing/2014/main" id="{0CC98DC1-7F3D-48D2-A5CD-F222B33F9E4D}"/>
              </a:ext>
            </a:extLst>
          </p:cNvPr>
          <p:cNvSpPr>
            <a:spLocks xmlns:a="http://schemas.openxmlformats.org/drawingml/2006/main"/>
          </p:cNvSpPr>
          <p:nvPr/>
        </p:nvSpPr>
        <p:spPr>
          <a:xfrm xmlns:a="http://schemas.openxmlformats.org/drawingml/2006/main">
            <a:off x="609600" y="243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What counts as success?</a:t>
            </a:r>
          </a:p>
        </p:txBody>
      </p:sp>
      <p:sp>
        <p:nvSpPr>
          <p:cNvPr id="311" name="32-text-2">
            <a:extLst xmlns:a="http://schemas.openxmlformats.org/drawingml/2006/main">
              <a:ext uri="{FF2B5EF4-FFF2-40B4-BE49-F238E27FC236}">
                <a16:creationId xmlns:a16="http://schemas.microsoft.com/office/drawing/2014/main" id="{0EECADBD-698C-4823-96B4-0C3B5C0D0FAF}"/>
              </a:ext>
            </a:extLst>
          </p:cNvPr>
          <p:cNvSpPr>
            <a:spLocks xmlns:a="http://schemas.openxmlformats.org/drawingml/2006/main"/>
          </p:cNvSpPr>
          <p:nvPr/>
        </p:nvSpPr>
        <p:spPr>
          <a:xfrm xmlns:a="http://schemas.openxmlformats.org/drawingml/2006/main">
            <a:off x="4368800" y="243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Outcomes, serious failures, and useful limitations.</a:t>
            </a:r>
          </a:p>
        </p:txBody>
      </p:sp>
      <p:sp>
        <p:nvSpPr>
          <p:cNvPr id="312" name="32-text-3">
            <a:extLst xmlns:a="http://schemas.openxmlformats.org/drawingml/2006/main">
              <a:ext uri="{FF2B5EF4-FFF2-40B4-BE49-F238E27FC236}">
                <a16:creationId xmlns:a16="http://schemas.microsoft.com/office/drawing/2014/main" id="{D6348FA3-D208-479F-B403-5850A323ED0C}"/>
              </a:ext>
            </a:extLst>
          </p:cNvPr>
          <p:cNvSpPr>
            <a:spLocks xmlns:a="http://schemas.openxmlformats.org/drawingml/2006/main"/>
          </p:cNvSpPr>
          <p:nvPr/>
        </p:nvSpPr>
        <p:spPr>
          <a:xfrm xmlns:a="http://schemas.openxmlformats.org/drawingml/2006/main">
            <a:off x="609600" y="370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checks fit?</a:t>
            </a:r>
          </a:p>
        </p:txBody>
      </p:sp>
      <p:sp>
        <p:nvSpPr>
          <p:cNvPr id="313" name="32-text-4">
            <a:extLst xmlns:a="http://schemas.openxmlformats.org/drawingml/2006/main">
              <a:ext uri="{FF2B5EF4-FFF2-40B4-BE49-F238E27FC236}">
                <a16:creationId xmlns:a16="http://schemas.microsoft.com/office/drawing/2014/main" id="{59A897DA-D49C-45B8-9286-9928F4F23D59}"/>
              </a:ext>
            </a:extLst>
          </p:cNvPr>
          <p:cNvSpPr>
            <a:spLocks xmlns:a="http://schemas.openxmlformats.org/drawingml/2006/main"/>
          </p:cNvSpPr>
          <p:nvPr/>
        </p:nvSpPr>
        <p:spPr>
          <a:xfrm xmlns:a="http://schemas.openxmlformats.org/drawingml/2006/main">
            <a:off x="4368800" y="370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Code checks, model graders, expert review. Evaluate grader agreement.</a:t>
            </a:r>
          </a:p>
        </p:txBody>
      </p:sp>
      <p:sp>
        <p:nvSpPr>
          <p:cNvPr id="314" name="32-text-5">
            <a:extLst xmlns:a="http://schemas.openxmlformats.org/drawingml/2006/main">
              <a:ext uri="{FF2B5EF4-FFF2-40B4-BE49-F238E27FC236}">
                <a16:creationId xmlns:a16="http://schemas.microsoft.com/office/drawing/2014/main" id="{AABDB636-15EB-488C-9899-E3B00864503C}"/>
              </a:ext>
            </a:extLst>
          </p:cNvPr>
          <p:cNvSpPr>
            <a:spLocks xmlns:a="http://schemas.openxmlformats.org/drawingml/2006/main"/>
          </p:cNvSpPr>
          <p:nvPr/>
        </p:nvSpPr>
        <p:spPr>
          <a:xfrm xmlns:a="http://schemas.openxmlformats.org/drawingml/2006/main">
            <a:off x="609600" y="4978400"/>
            <a:ext cx="34544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Which cases and trials?</a:t>
            </a:r>
          </a:p>
        </p:txBody>
      </p:sp>
      <p:sp>
        <p:nvSpPr>
          <p:cNvPr id="315" name="32-text-6">
            <a:extLst xmlns:a="http://schemas.openxmlformats.org/drawingml/2006/main">
              <a:ext uri="{FF2B5EF4-FFF2-40B4-BE49-F238E27FC236}">
                <a16:creationId xmlns:a16="http://schemas.microsoft.com/office/drawing/2014/main" id="{83725F95-EE8C-402E-8175-A79D37DFC8B4}"/>
              </a:ext>
            </a:extLst>
          </p:cNvPr>
          <p:cNvSpPr>
            <a:spLocks xmlns:a="http://schemas.openxmlformats.org/drawingml/2006/main"/>
          </p:cNvSpPr>
          <p:nvPr/>
        </p:nvSpPr>
        <p:spPr>
          <a:xfrm xmlns:a="http://schemas.openxmlformats.org/drawingml/2006/main">
            <a:off x="4368800" y="4978400"/>
            <a:ext cx="7213600" cy="1041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Representative work, known failures, and repeated attempts.</a:t>
            </a:r>
          </a:p>
        </p:txBody>
      </p:sp>
      <p:sp>
        <p:nvSpPr>
          <p:cNvPr id="316" name="narrative-number">
            <a:extLst xmlns:a="http://schemas.openxmlformats.org/drawingml/2006/main">
              <a:ext uri="{FF2B5EF4-FFF2-40B4-BE49-F238E27FC236}">
                <a16:creationId xmlns:a16="http://schemas.microsoft.com/office/drawing/2014/main" id="{0B420D86-3A93-4167-ACEE-C510EA49384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32</a:t>
            </a:r>
          </a:p>
        </p:txBody>
      </p:sp>
    </p:spTree>
    <p:extLst>
      <p:ext uri="{BB962C8B-B14F-4D97-AF65-F5344CB8AC3E}">
        <p14:creationId xmlns:p14="http://schemas.microsoft.com/office/powerpoint/2010/main" val="2165251825"/>
      </p:ext>
    </p:extLst>
  </p:cSld>
</p:sld>
</file>

<file path=ppt/slides/slide3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17" name="!!area-name">
            <a:extLst xmlns:a="http://schemas.openxmlformats.org/drawingml/2006/main">
              <a:ext uri="{FF2B5EF4-FFF2-40B4-BE49-F238E27FC236}">
                <a16:creationId xmlns:a16="http://schemas.microsoft.com/office/drawing/2014/main" id="{63ECEA40-2C7F-4211-962B-F9436C98A2A8}"/>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Challenges and pitfalls</a:t>
            </a:r>
          </a:p>
        </p:txBody>
      </p:sp>
      <p:pic>
        <p:nvPicPr>
          <p:cNvPr id="332" name="mini-map"/>
          <p:cNvPicPr>
            <a:picLocks xmlns:a="http://schemas.openxmlformats.org/drawingml/2006/main" noChangeAspect="1"/>
          </p:cNvPicPr>
          <p:nvPr/>
        </p:nvPicPr>
        <p:blipFill>
          <a:blip xmlns:r="http://schemas.openxmlformats.org/officeDocument/2006/relationships" xmlns:a="http://schemas.openxmlformats.org/drawingml/2006/main" r:embed="Rcf9d9772cf5a453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19" name="slide-title">
            <a:extLst xmlns:a="http://schemas.openxmlformats.org/drawingml/2006/main">
              <a:ext uri="{FF2B5EF4-FFF2-40B4-BE49-F238E27FC236}">
                <a16:creationId xmlns:a16="http://schemas.microsoft.com/office/drawing/2014/main" id="{C46439A8-0499-42CB-A877-516C67B5B26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Evaluation pitfalls</a:t>
            </a:r>
          </a:p>
        </p:txBody>
      </p:sp>
      <p:sp>
        <p:nvSpPr>
          <p:cNvPr id="320" name="header-divider">
            <a:extLst xmlns:a="http://schemas.openxmlformats.org/drawingml/2006/main">
              <a:ext uri="{FF2B5EF4-FFF2-40B4-BE49-F238E27FC236}">
                <a16:creationId xmlns:a16="http://schemas.microsoft.com/office/drawing/2014/main" id="{0B2516A3-765A-47FE-B7A8-F4FF26E4874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21" name="33-text-1">
            <a:extLst xmlns:a="http://schemas.openxmlformats.org/drawingml/2006/main">
              <a:ext uri="{FF2B5EF4-FFF2-40B4-BE49-F238E27FC236}">
                <a16:creationId xmlns:a16="http://schemas.microsoft.com/office/drawing/2014/main" id="{287042AB-43F1-41D0-B3D9-8DBA1CF36C74}"/>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Outcome</a:t>
            </a:r>
          </a:p>
        </p:txBody>
      </p:sp>
      <p:sp>
        <p:nvSpPr>
          <p:cNvPr id="322" name="33-text-2">
            <a:extLst xmlns:a="http://schemas.openxmlformats.org/drawingml/2006/main">
              <a:ext uri="{FF2B5EF4-FFF2-40B4-BE49-F238E27FC236}">
                <a16:creationId xmlns:a16="http://schemas.microsoft.com/office/drawing/2014/main" id="{BAE46AB7-E65E-48F5-BCFA-B0EBBBEE8C41}"/>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actual result.</a:t>
            </a:r>
          </a:p>
        </p:txBody>
      </p:sp>
      <p:sp>
        <p:nvSpPr>
          <p:cNvPr id="323" name="33-text-3">
            <a:extLst xmlns:a="http://schemas.openxmlformats.org/drawingml/2006/main">
              <a:ext uri="{FF2B5EF4-FFF2-40B4-BE49-F238E27FC236}">
                <a16:creationId xmlns:a16="http://schemas.microsoft.com/office/drawing/2014/main" id="{540B7718-28FA-475C-81F8-BE51E9CBCE22}"/>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Grader</a:t>
            </a:r>
          </a:p>
        </p:txBody>
      </p:sp>
      <p:sp>
        <p:nvSpPr>
          <p:cNvPr id="324" name="33-text-4">
            <a:extLst xmlns:a="http://schemas.openxmlformats.org/drawingml/2006/main">
              <a:ext uri="{FF2B5EF4-FFF2-40B4-BE49-F238E27FC236}">
                <a16:creationId xmlns:a16="http://schemas.microsoft.com/office/drawing/2014/main" id="{F733EC23-5C6F-4959-BC0F-267F99B29BD2}"/>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disagreement with expert judgment.</a:t>
            </a:r>
          </a:p>
        </p:txBody>
      </p:sp>
      <p:sp>
        <p:nvSpPr>
          <p:cNvPr id="325" name="33-text-5">
            <a:extLst xmlns:a="http://schemas.openxmlformats.org/drawingml/2006/main">
              <a:ext uri="{FF2B5EF4-FFF2-40B4-BE49-F238E27FC236}">
                <a16:creationId xmlns:a16="http://schemas.microsoft.com/office/drawing/2014/main" id="{F839EF7D-A017-4610-B47B-902FD80AF6A9}"/>
              </a:ext>
            </a:extLst>
          </p:cNvPr>
          <p:cNvSpPr>
            <a:spLocks xmlns:a="http://schemas.openxmlformats.org/drawingml/2006/main"/>
          </p:cNvSpPr>
          <p:nvPr/>
        </p:nvSpPr>
        <p:spPr>
          <a:xfrm xmlns:a="http://schemas.openxmlformats.org/drawingml/2006/main">
            <a:off x="609600" y="40132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Coverage</a:t>
            </a:r>
          </a:p>
        </p:txBody>
      </p:sp>
      <p:sp>
        <p:nvSpPr>
          <p:cNvPr id="326" name="33-text-6">
            <a:extLst xmlns:a="http://schemas.openxmlformats.org/drawingml/2006/main">
              <a:ext uri="{FF2B5EF4-FFF2-40B4-BE49-F238E27FC236}">
                <a16:creationId xmlns:a16="http://schemas.microsoft.com/office/drawing/2014/main" id="{4139714A-831A-4691-B8C9-F3C4ABF8913E}"/>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 failures and recheck after changes.</a:t>
            </a:r>
          </a:p>
        </p:txBody>
      </p:sp>
      <p:sp>
        <p:nvSpPr>
          <p:cNvPr id="327" name="33-text-7">
            <a:extLst xmlns:a="http://schemas.openxmlformats.org/drawingml/2006/main">
              <a:ext uri="{FF2B5EF4-FFF2-40B4-BE49-F238E27FC236}">
                <a16:creationId xmlns:a16="http://schemas.microsoft.com/office/drawing/2014/main" id="{99609B33-A2F5-4B7C-8B3C-9C2128370A01}"/>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Inspect the result and the trace before choosing a repair.</a:t>
            </a:r>
          </a:p>
        </p:txBody>
      </p:sp>
      <p:sp>
        <p:nvSpPr>
          <p:cNvPr id="328" name="33-text-8">
            <a:extLst xmlns:a="http://schemas.openxmlformats.org/drawingml/2006/main">
              <a:ext uri="{FF2B5EF4-FFF2-40B4-BE49-F238E27FC236}">
                <a16:creationId xmlns:a16="http://schemas.microsoft.com/office/drawing/2014/main" id="{8604F6DA-7AEF-4B85-AFB3-D5C192FC2A43}"/>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Pitfall</a:t>
            </a:r>
          </a:p>
        </p:txBody>
      </p:sp>
      <p:sp>
        <p:nvSpPr>
          <p:cNvPr id="329" name="33-text-9">
            <a:extLst xmlns:a="http://schemas.openxmlformats.org/drawingml/2006/main">
              <a:ext uri="{FF2B5EF4-FFF2-40B4-BE49-F238E27FC236}">
                <a16:creationId xmlns:a16="http://schemas.microsoft.com/office/drawing/2014/main" id="{8DCCEED7-2941-4B87-B3EA-FF5845E18B43}"/>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Using a generic judge</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without error analysis or result checks.</a:t>
            </a:r>
          </a:p>
        </p:txBody>
      </p:sp>
      <p:sp>
        <p:nvSpPr>
          <p:cNvPr id="330" name="narrative-number">
            <a:extLst xmlns:a="http://schemas.openxmlformats.org/drawingml/2006/main">
              <a:ext uri="{FF2B5EF4-FFF2-40B4-BE49-F238E27FC236}">
                <a16:creationId xmlns:a16="http://schemas.microsoft.com/office/drawing/2014/main" id="{AF2A0D60-4D96-43D0-8A57-D2D21EFF561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33</a:t>
            </a:r>
          </a:p>
        </p:txBody>
      </p:sp>
    </p:spTree>
    <p:extLst>
      <p:ext uri="{BB962C8B-B14F-4D97-AF65-F5344CB8AC3E}">
        <p14:creationId xmlns:p14="http://schemas.microsoft.com/office/powerpoint/2010/main" val="1465651547"/>
      </p:ext>
    </p:extLst>
  </p:cSld>
</p:sld>
</file>

<file path=ppt/slides/slide4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31" name="!!area-name">
            <a:extLst xmlns:a="http://schemas.openxmlformats.org/drawingml/2006/main">
              <a:ext uri="{FF2B5EF4-FFF2-40B4-BE49-F238E27FC236}">
                <a16:creationId xmlns:a16="http://schemas.microsoft.com/office/drawing/2014/main" id="{A4F4CB7A-9545-4763-B8CA-A40DEBF495F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Verification &amp; Evals</a:t>
            </a:r>
            <a:r>
              <a:rPr b="0">
                <a:solidFill>
                  <a:srgbClr val="ADACA9"/>
                </a:solidFill>
                <a:latin typeface="Helvetica"/>
                <a:ea typeface="Helvetica"/>
                <a:cs typeface="Helvetica"/>
              </a:rPr>
              <a:t> · FRB application</a:t>
            </a:r>
          </a:p>
        </p:txBody>
      </p:sp>
      <p:pic>
        <p:nvPicPr>
          <p:cNvPr id="347" name="mini-map"/>
          <p:cNvPicPr>
            <a:picLocks xmlns:a="http://schemas.openxmlformats.org/drawingml/2006/main" noChangeAspect="1"/>
          </p:cNvPicPr>
          <p:nvPr/>
        </p:nvPicPr>
        <p:blipFill>
          <a:blip xmlns:r="http://schemas.openxmlformats.org/officeDocument/2006/relationships" xmlns:a="http://schemas.openxmlformats.org/drawingml/2006/main" r:embed="R7ed914474c1b417b"/>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33" name="slide-title">
            <a:extLst xmlns:a="http://schemas.openxmlformats.org/drawingml/2006/main">
              <a:ext uri="{FF2B5EF4-FFF2-40B4-BE49-F238E27FC236}">
                <a16:creationId xmlns:a16="http://schemas.microsoft.com/office/drawing/2014/main" id="{1C79FAFE-2D00-4DD6-AA30-8AFBA80E52DB}"/>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Does the source support the claim?</a:t>
            </a:r>
          </a:p>
        </p:txBody>
      </p:sp>
      <p:sp>
        <p:nvSpPr>
          <p:cNvPr id="334" name="header-divider">
            <a:extLst xmlns:a="http://schemas.openxmlformats.org/drawingml/2006/main">
              <a:ext uri="{FF2B5EF4-FFF2-40B4-BE49-F238E27FC236}">
                <a16:creationId xmlns:a16="http://schemas.microsoft.com/office/drawing/2014/main" id="{96CCA56A-2336-4949-AE05-BAEE71F1838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35" name="34-text-1">
            <a:extLst xmlns:a="http://schemas.openxmlformats.org/drawingml/2006/main">
              <a:ext uri="{FF2B5EF4-FFF2-40B4-BE49-F238E27FC236}">
                <a16:creationId xmlns:a16="http://schemas.microsoft.com/office/drawing/2014/main" id="{0CFD1B5F-1810-4C3F-8FB9-0BC5C4E552C7}"/>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source-support check.</a:t>
            </a:r>
          </a:p>
        </p:txBody>
      </p:sp>
      <p:sp>
        <p:nvSpPr>
          <p:cNvPr id="336" name="34-text-2">
            <a:extLst xmlns:a="http://schemas.openxmlformats.org/drawingml/2006/main">
              <a:ext uri="{FF2B5EF4-FFF2-40B4-BE49-F238E27FC236}">
                <a16:creationId xmlns:a16="http://schemas.microsoft.com/office/drawing/2014/main" id="{3506A817-80B0-4193-92ED-7522930E1859}"/>
              </a:ext>
            </a:extLst>
          </p:cNvPr>
          <p:cNvSpPr>
            <a:spLocks xmlns:a="http://schemas.openxmlformats.org/drawingml/2006/main"/>
          </p:cNvSpPr>
          <p:nvPr/>
        </p:nvSpPr>
        <p:spPr>
          <a:xfrm xmlns:a="http://schemas.openxmlformats.org/drawingml/2006/main">
            <a:off x="609600" y="2844800"/>
            <a:ext cx="533400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FRB-042-MIN r2 · §3, paragraph 2</a:t>
            </a:r>
          </a:p>
        </p:txBody>
      </p:sp>
      <p:sp>
        <p:nvSpPr>
          <p:cNvPr id="337" name="34-text-3">
            <a:extLst xmlns:a="http://schemas.openxmlformats.org/drawingml/2006/main">
              <a:ext uri="{FF2B5EF4-FFF2-40B4-BE49-F238E27FC236}">
                <a16:creationId xmlns:a16="http://schemas.microsoft.com/office/drawing/2014/main" id="{D6972425-1900-49D2-998E-80D549207E80}"/>
              </a:ext>
            </a:extLst>
          </p:cNvPr>
          <p:cNvSpPr>
            <a:spLocks xmlns:a="http://schemas.openxmlformats.org/drawingml/2006/main"/>
          </p:cNvSpPr>
          <p:nvPr/>
        </p:nvSpPr>
        <p:spPr>
          <a:xfrm xmlns:a="http://schemas.openxmlformats.org/drawingml/2006/main">
            <a:off x="609600" y="3251200"/>
            <a:ext cx="5334000" cy="1219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remains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 the bearing before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assigning a cause.”</a:t>
            </a:r>
          </a:p>
        </p:txBody>
      </p:sp>
      <p:sp>
        <p:nvSpPr>
          <p:cNvPr id="338" name="34-text-4">
            <a:extLst xmlns:a="http://schemas.openxmlformats.org/drawingml/2006/main">
              <a:ext uri="{FF2B5EF4-FFF2-40B4-BE49-F238E27FC236}">
                <a16:creationId xmlns:a16="http://schemas.microsoft.com/office/drawing/2014/main" id="{9972193E-D084-4ADF-BE81-93862AA7B3EE}"/>
              </a:ext>
            </a:extLst>
          </p:cNvPr>
          <p:cNvSpPr>
            <a:spLocks xmlns:a="http://schemas.openxmlformats.org/drawingml/2006/main"/>
          </p:cNvSpPr>
          <p:nvPr/>
        </p:nvSpPr>
        <p:spPr>
          <a:xfrm xmlns:a="http://schemas.openxmlformats.org/drawingml/2006/main">
            <a:off x="6248400" y="284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Answer citing these minutes</a:t>
            </a:r>
          </a:p>
        </p:txBody>
      </p:sp>
      <p:sp>
        <p:nvSpPr>
          <p:cNvPr id="339" name="34-text-5">
            <a:extLst xmlns:a="http://schemas.openxmlformats.org/drawingml/2006/main">
              <a:ext uri="{FF2B5EF4-FFF2-40B4-BE49-F238E27FC236}">
                <a16:creationId xmlns:a16="http://schemas.microsoft.com/office/drawing/2014/main" id="{515AAE8C-8B8F-4733-BE5D-7E481C70787F}"/>
              </a:ext>
            </a:extLst>
          </p:cNvPr>
          <p:cNvSpPr>
            <a:spLocks xmlns:a="http://schemas.openxmlformats.org/drawingml/2006/main"/>
          </p:cNvSpPr>
          <p:nvPr/>
        </p:nvSpPr>
        <p:spPr>
          <a:xfrm xmlns:a="http://schemas.openxmlformats.org/drawingml/2006/main">
            <a:off x="6248400" y="32512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“The board confirmed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bearing wear.”</a:t>
            </a:r>
          </a:p>
        </p:txBody>
      </p:sp>
      <p:sp>
        <p:nvSpPr>
          <p:cNvPr id="340" name="34-text-6">
            <a:extLst xmlns:a="http://schemas.openxmlformats.org/drawingml/2006/main">
              <a:ext uri="{FF2B5EF4-FFF2-40B4-BE49-F238E27FC236}">
                <a16:creationId xmlns:a16="http://schemas.microsoft.com/office/drawing/2014/main" id="{44466B0E-D77D-431A-AFDF-8709909EE742}"/>
              </a:ext>
            </a:extLst>
          </p:cNvPr>
          <p:cNvSpPr>
            <a:spLocks xmlns:a="http://schemas.openxmlformats.org/drawingml/2006/main"/>
          </p:cNvSpPr>
          <p:nvPr/>
        </p:nvSpPr>
        <p:spPr>
          <a:xfrm xmlns:a="http://schemas.openxmlformats.org/drawingml/2006/main">
            <a:off x="609600" y="49022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Citation exists: PASS</a:t>
            </a:r>
          </a:p>
        </p:txBody>
      </p:sp>
      <p:sp>
        <p:nvSpPr>
          <p:cNvPr id="341" name="34-text-7">
            <a:extLst xmlns:a="http://schemas.openxmlformats.org/drawingml/2006/main">
              <a:ext uri="{FF2B5EF4-FFF2-40B4-BE49-F238E27FC236}">
                <a16:creationId xmlns:a16="http://schemas.microsoft.com/office/drawing/2014/main" id="{0FEE174C-1AD3-4D95-B990-3D4338291D04}"/>
              </a:ext>
            </a:extLst>
          </p:cNvPr>
          <p:cNvSpPr>
            <a:spLocks xmlns:a="http://schemas.openxmlformats.org/drawingml/2006/main"/>
          </p:cNvSpPr>
          <p:nvPr/>
        </p:nvSpPr>
        <p:spPr>
          <a:xfrm xmlns:a="http://schemas.openxmlformats.org/drawingml/2006/main">
            <a:off x="609600" y="53848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Claim supported: FAIL</a:t>
            </a:r>
          </a:p>
        </p:txBody>
      </p:sp>
      <p:sp>
        <p:nvSpPr>
          <p:cNvPr id="342" name="34-text-8">
            <a:extLst xmlns:a="http://schemas.openxmlformats.org/drawingml/2006/main">
              <a:ext uri="{FF2B5EF4-FFF2-40B4-BE49-F238E27FC236}">
                <a16:creationId xmlns:a16="http://schemas.microsoft.com/office/drawing/2014/main" id="{04CD116E-EEFC-480C-BE2A-658372C2AAD1}"/>
              </a:ext>
            </a:extLst>
          </p:cNvPr>
          <p:cNvSpPr>
            <a:spLocks xmlns:a="http://schemas.openxmlformats.org/drawingml/2006/main"/>
          </p:cNvSpPr>
          <p:nvPr/>
        </p:nvSpPr>
        <p:spPr>
          <a:xfrm xmlns:a="http://schemas.openxmlformats.org/drawingml/2006/main">
            <a:off x="6248400" y="44450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01B66D"/>
                </a:solidFill>
                <a:latin typeface="Helvetica"/>
                <a:ea typeface="Helvetica"/>
                <a:cs typeface="Helvetica"/>
              </a:defRPr>
            </a:pPr>
            <a:r>
              <a:rPr b="1">
                <a:solidFill>
                  <a:srgbClr val="01B66D"/>
                </a:solidFill>
                <a:latin typeface="Helvetica"/>
                <a:ea typeface="Helvetica"/>
                <a:cs typeface="Helvetica"/>
              </a:rPr>
              <a:t>Expected</a:t>
            </a:r>
          </a:p>
        </p:txBody>
      </p:sp>
      <p:sp>
        <p:nvSpPr>
          <p:cNvPr id="343" name="34-text-9">
            <a:extLst xmlns:a="http://schemas.openxmlformats.org/drawingml/2006/main">
              <a:ext uri="{FF2B5EF4-FFF2-40B4-BE49-F238E27FC236}">
                <a16:creationId xmlns:a16="http://schemas.microsoft.com/office/drawing/2014/main" id="{8761F354-2E79-4758-835B-AC070434334A}"/>
              </a:ext>
            </a:extLst>
          </p:cNvPr>
          <p:cNvSpPr>
            <a:spLocks xmlns:a="http://schemas.openxmlformats.org/drawingml/2006/main"/>
          </p:cNvSpPr>
          <p:nvPr/>
        </p:nvSpPr>
        <p:spPr>
          <a:xfrm xmlns:a="http://schemas.openxmlformats.org/drawingml/2006/main">
            <a:off x="6248400" y="4876800"/>
            <a:ext cx="53340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Cause unresolved.</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Inspection required.</a:t>
            </a:r>
          </a:p>
        </p:txBody>
      </p:sp>
      <p:sp>
        <p:nvSpPr>
          <p:cNvPr id="344" name="34-text-10">
            <a:extLst xmlns:a="http://schemas.openxmlformats.org/drawingml/2006/main">
              <a:ext uri="{FF2B5EF4-FFF2-40B4-BE49-F238E27FC236}">
                <a16:creationId xmlns:a16="http://schemas.microsoft.com/office/drawing/2014/main" id="{9AE8A1D0-2C88-4283-B7E3-24C42CDD3ADF}"/>
              </a:ext>
            </a:extLst>
          </p:cNvPr>
          <p:cNvSpPr>
            <a:spLocks xmlns:a="http://schemas.openxmlformats.org/drawingml/2006/main"/>
          </p:cNvSpPr>
          <p:nvPr/>
        </p:nvSpPr>
        <p:spPr>
          <a:xfrm xmlns:a="http://schemas.openxmlformats.org/drawingml/2006/main">
            <a:off x="609600" y="58420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Keep this failure as a regression case.</a:t>
            </a:r>
          </a:p>
        </p:txBody>
      </p:sp>
      <p:sp>
        <p:nvSpPr>
          <p:cNvPr id="345" name="narrative-number">
            <a:extLst xmlns:a="http://schemas.openxmlformats.org/drawingml/2006/main">
              <a:ext uri="{FF2B5EF4-FFF2-40B4-BE49-F238E27FC236}">
                <a16:creationId xmlns:a16="http://schemas.microsoft.com/office/drawing/2014/main" id="{E0E70BCF-5D07-4C9F-8F49-DFDE839D0D7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34</a:t>
            </a:r>
          </a:p>
        </p:txBody>
      </p:sp>
    </p:spTree>
    <p:extLst>
      <p:ext uri="{BB962C8B-B14F-4D97-AF65-F5344CB8AC3E}">
        <p14:creationId xmlns:p14="http://schemas.microsoft.com/office/powerpoint/2010/main" val="2004448091"/>
      </p:ext>
    </p:extLst>
  </p:cSld>
</p:sld>
</file>

<file path=ppt/slides/slide4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46" name="!!area-name">
            <a:extLst xmlns:a="http://schemas.openxmlformats.org/drawingml/2006/main">
              <a:ext uri="{FF2B5EF4-FFF2-40B4-BE49-F238E27FC236}">
                <a16:creationId xmlns:a16="http://schemas.microsoft.com/office/drawing/2014/main" id="{1E2D76BF-76A7-49C5-9719-F516B69535D4}"/>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Perspective</a:t>
            </a:r>
          </a:p>
        </p:txBody>
      </p:sp>
      <p:pic>
        <p:nvPicPr>
          <p:cNvPr id="355" name="mini-map"/>
          <p:cNvPicPr>
            <a:picLocks xmlns:a="http://schemas.openxmlformats.org/drawingml/2006/main" noChangeAspect="1"/>
          </p:cNvPicPr>
          <p:nvPr/>
        </p:nvPicPr>
        <p:blipFill>
          <a:blip xmlns:r="http://schemas.openxmlformats.org/officeDocument/2006/relationships" xmlns:a="http://schemas.openxmlformats.org/drawingml/2006/main" r:embed="R353bcbe6f9014f0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48" name="header-divider">
            <a:extLst xmlns:a="http://schemas.openxmlformats.org/drawingml/2006/main">
              <a:ext uri="{FF2B5EF4-FFF2-40B4-BE49-F238E27FC236}">
                <a16:creationId xmlns:a16="http://schemas.microsoft.com/office/drawing/2014/main" id="{AC4F3D63-4751-4079-AFB8-281462D9B8B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49" name="35-text-1">
            <a:extLst xmlns:a="http://schemas.openxmlformats.org/drawingml/2006/main">
              <a:ext uri="{FF2B5EF4-FFF2-40B4-BE49-F238E27FC236}">
                <a16:creationId xmlns:a16="http://schemas.microsoft.com/office/drawing/2014/main" id="{C63967E1-AC2B-4609-A241-CBD4A3F663F8}"/>
              </a:ext>
            </a:extLst>
          </p:cNvPr>
          <p:cNvSpPr>
            <a:spLocks xmlns:a="http://schemas.openxmlformats.org/drawingml/2006/main"/>
          </p:cNvSpPr>
          <p:nvPr/>
        </p:nvSpPr>
        <p:spPr>
          <a:xfrm xmlns:a="http://schemas.openxmlformats.org/drawingml/2006/main">
            <a:off x="609600" y="2438400"/>
            <a:ext cx="7213600" cy="3403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“The next wave of agent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failures won't be about</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what agents can't do.</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It'll be about what teams</a:t>
            </a:r>
          </a:p>
          <a:p xmlns:a="http://schemas.openxmlformats.org/drawingml/2006/main">
            <a:pPr algn="l">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can't observe.”</a:t>
            </a:r>
          </a:p>
        </p:txBody>
      </p:sp>
      <p:pic>
        <p:nvPicPr>
          <p:cNvPr id="358" name="35-image-2"/>
          <p:cNvPicPr>
            <a:picLocks xmlns:a="http://schemas.openxmlformats.org/drawingml/2006/main" noChangeAspect="1"/>
          </p:cNvPicPr>
          <p:nvPr/>
        </p:nvPicPr>
        <p:blipFill>
          <a:blip xmlns:r="http://schemas.openxmlformats.org/officeDocument/2006/relationships" xmlns:a="http://schemas.openxmlformats.org/drawingml/2006/main" r:embed="R3d939faa4f8049a2"/>
          <a:stretch xmlns:a="http://schemas.openxmlformats.org/drawingml/2006/main"/>
        </p:blipFill>
        <p:spPr>
          <a:xfrm xmlns:a="http://schemas.openxmlformats.org/drawingml/2006/main">
            <a:off x="8432800" y="2438400"/>
            <a:ext cx="2844800" cy="2844800"/>
          </a:xfrm>
          <a:prstGeom xmlns:a="http://schemas.openxmlformats.org/drawingml/2006/main" prst="rect">
            <a:avLst/>
          </a:prstGeom>
        </p:spPr>
      </p:pic>
      <p:sp>
        <p:nvSpPr>
          <p:cNvPr id="351" name="35-text-3">
            <a:extLst xmlns:a="http://schemas.openxmlformats.org/drawingml/2006/main">
              <a:ext uri="{FF2B5EF4-FFF2-40B4-BE49-F238E27FC236}">
                <a16:creationId xmlns:a16="http://schemas.microsoft.com/office/drawing/2014/main" id="{EDEA6B5A-AE4B-447B-96F9-3BE3A4FBAE48}"/>
              </a:ext>
            </a:extLst>
          </p:cNvPr>
          <p:cNvSpPr>
            <a:spLocks xmlns:a="http://schemas.openxmlformats.org/drawingml/2006/main"/>
          </p:cNvSpPr>
          <p:nvPr/>
        </p:nvSpPr>
        <p:spPr>
          <a:xfrm xmlns:a="http://schemas.openxmlformats.org/drawingml/2006/main">
            <a:off x="8128000" y="5334000"/>
            <a:ext cx="3454400" cy="355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Guillermo Rauch</a:t>
            </a:r>
          </a:p>
        </p:txBody>
      </p:sp>
      <p:sp>
        <p:nvSpPr>
          <p:cNvPr id="352" name="35-text-4">
            <a:extLst xmlns:a="http://schemas.openxmlformats.org/drawingml/2006/main">
              <a:ext uri="{FF2B5EF4-FFF2-40B4-BE49-F238E27FC236}">
                <a16:creationId xmlns:a16="http://schemas.microsoft.com/office/drawing/2014/main" id="{7BD19245-B96D-4384-91A6-FD6FA2ACC3A4}"/>
              </a:ext>
            </a:extLst>
          </p:cNvPr>
          <p:cNvSpPr>
            <a:spLocks xmlns:a="http://schemas.openxmlformats.org/drawingml/2006/main"/>
          </p:cNvSpPr>
          <p:nvPr/>
        </p:nvSpPr>
        <p:spPr>
          <a:xfrm xmlns:a="http://schemas.openxmlformats.org/drawingml/2006/main">
            <a:off x="8128000" y="5740400"/>
            <a:ext cx="34544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State of AI Engineering,</a:t>
            </a:r>
          </a:p>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Datadog, 2026</a:t>
            </a:r>
          </a:p>
        </p:txBody>
      </p:sp>
      <p:sp>
        <p:nvSpPr>
          <p:cNvPr id="353" name="narrative-number">
            <a:extLst xmlns:a="http://schemas.openxmlformats.org/drawingml/2006/main">
              <a:ext uri="{FF2B5EF4-FFF2-40B4-BE49-F238E27FC236}">
                <a16:creationId xmlns:a16="http://schemas.microsoft.com/office/drawing/2014/main" id="{F876FD49-BB6B-4C9F-B8D3-EA3AF572C66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35</a:t>
            </a:r>
          </a:p>
        </p:txBody>
      </p:sp>
    </p:spTree>
    <p:extLst>
      <p:ext uri="{BB962C8B-B14F-4D97-AF65-F5344CB8AC3E}">
        <p14:creationId xmlns:p14="http://schemas.microsoft.com/office/powerpoint/2010/main" val="4213812712"/>
      </p:ext>
    </p:extLst>
  </p:cSld>
</p:sld>
</file>

<file path=ppt/slides/slide4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54" name="!!area-name">
            <a:extLst xmlns:a="http://schemas.openxmlformats.org/drawingml/2006/main">
              <a:ext uri="{FF2B5EF4-FFF2-40B4-BE49-F238E27FC236}">
                <a16:creationId xmlns:a16="http://schemas.microsoft.com/office/drawing/2014/main" id="{B4BE20BE-7F81-41DD-912E-FF72D612AD51}"/>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What and why</a:t>
            </a:r>
          </a:p>
        </p:txBody>
      </p:sp>
      <p:pic>
        <p:nvPicPr>
          <p:cNvPr id="364" name="mini-map"/>
          <p:cNvPicPr>
            <a:picLocks xmlns:a="http://schemas.openxmlformats.org/drawingml/2006/main" noChangeAspect="1"/>
          </p:cNvPicPr>
          <p:nvPr/>
        </p:nvPicPr>
        <p:blipFill>
          <a:blip xmlns:r="http://schemas.openxmlformats.org/officeDocument/2006/relationships" xmlns:a="http://schemas.openxmlformats.org/drawingml/2006/main" r:embed="R50a623c191dc459d"/>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56" name="slide-title">
            <a:extLst xmlns:a="http://schemas.openxmlformats.org/drawingml/2006/main">
              <a:ext uri="{FF2B5EF4-FFF2-40B4-BE49-F238E27FC236}">
                <a16:creationId xmlns:a16="http://schemas.microsoft.com/office/drawing/2014/main" id="{E94D76A5-6754-4945-A979-B8C1A3E806B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AgentOps</a:t>
            </a:r>
          </a:p>
        </p:txBody>
      </p:sp>
      <p:sp>
        <p:nvSpPr>
          <p:cNvPr id="357" name="header-divider">
            <a:extLst xmlns:a="http://schemas.openxmlformats.org/drawingml/2006/main">
              <a:ext uri="{FF2B5EF4-FFF2-40B4-BE49-F238E27FC236}">
                <a16:creationId xmlns:a16="http://schemas.microsoft.com/office/drawing/2014/main" id="{54B6FC6E-ED51-4EF9-94FD-BD32A7AC5FD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58" name="36-text-1">
            <a:extLst xmlns:a="http://schemas.openxmlformats.org/drawingml/2006/main">
              <a:ext uri="{FF2B5EF4-FFF2-40B4-BE49-F238E27FC236}">
                <a16:creationId xmlns:a16="http://schemas.microsoft.com/office/drawing/2014/main" id="{D8461F8F-E28B-4F45-B3A9-F50AC0661CB8}"/>
              </a:ext>
            </a:extLst>
          </p:cNvPr>
          <p:cNvSpPr>
            <a:spLocks xmlns:a="http://schemas.openxmlformats.org/drawingml/2006/main"/>
          </p:cNvSpPr>
          <p:nvPr/>
        </p:nvSpPr>
        <p:spPr>
          <a:xfrm xmlns:a="http://schemas.openxmlformats.org/drawingml/2006/main">
            <a:off x="6096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What it is</a:t>
            </a:r>
          </a:p>
        </p:txBody>
      </p:sp>
      <p:sp>
        <p:nvSpPr>
          <p:cNvPr id="359" name="36-text-2">
            <a:extLst xmlns:a="http://schemas.openxmlformats.org/drawingml/2006/main">
              <a:ext uri="{FF2B5EF4-FFF2-40B4-BE49-F238E27FC236}">
                <a16:creationId xmlns:a16="http://schemas.microsoft.com/office/drawing/2014/main" id="{70D2B29E-0A06-48AF-94BA-C433FB1DA6F3}"/>
              </a:ext>
            </a:extLst>
          </p:cNvPr>
          <p:cNvSpPr>
            <a:spLocks xmlns:a="http://schemas.openxmlformats.org/drawingml/2006/main"/>
          </p:cNvSpPr>
          <p:nvPr/>
        </p:nvSpPr>
        <p:spPr>
          <a:xfrm xmlns:a="http://schemas.openxmlformats.org/drawingml/2006/main">
            <a:off x="6096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Operate agentic systems with observability, enforced controls, and accountable response.</a:t>
            </a:r>
          </a:p>
        </p:txBody>
      </p:sp>
      <p:sp>
        <p:nvSpPr>
          <p:cNvPr id="360" name="36-text-3">
            <a:extLst xmlns:a="http://schemas.openxmlformats.org/drawingml/2006/main">
              <a:ext uri="{FF2B5EF4-FFF2-40B4-BE49-F238E27FC236}">
                <a16:creationId xmlns:a16="http://schemas.microsoft.com/office/drawing/2014/main" id="{E5A17EF3-ACDC-4281-8478-1EDECF193B9E}"/>
              </a:ext>
            </a:extLst>
          </p:cNvPr>
          <p:cNvSpPr>
            <a:spLocks xmlns:a="http://schemas.openxmlformats.org/drawingml/2006/main"/>
          </p:cNvSpPr>
          <p:nvPr/>
        </p:nvSpPr>
        <p:spPr>
          <a:xfrm xmlns:a="http://schemas.openxmlformats.org/drawingml/2006/main">
            <a:off x="6248400" y="2438400"/>
            <a:ext cx="53340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Why it matters</a:t>
            </a:r>
          </a:p>
        </p:txBody>
      </p:sp>
      <p:sp>
        <p:nvSpPr>
          <p:cNvPr id="361" name="36-text-4">
            <a:extLst xmlns:a="http://schemas.openxmlformats.org/drawingml/2006/main">
              <a:ext uri="{FF2B5EF4-FFF2-40B4-BE49-F238E27FC236}">
                <a16:creationId xmlns:a16="http://schemas.microsoft.com/office/drawing/2014/main" id="{7C71D260-9266-4C9A-B63F-2B3A81A745F2}"/>
              </a:ext>
            </a:extLst>
          </p:cNvPr>
          <p:cNvSpPr>
            <a:spLocks xmlns:a="http://schemas.openxmlformats.org/drawingml/2006/main"/>
          </p:cNvSpPr>
          <p:nvPr/>
        </p:nvSpPr>
        <p:spPr>
          <a:xfrm xmlns:a="http://schemas.openxmlformats.org/drawingml/2006/main">
            <a:off x="6248400" y="2971800"/>
            <a:ext cx="5334000" cy="2540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Behavior, access, cost, and latency change over time.</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Failures need an accountable response.</a:t>
            </a:r>
          </a:p>
        </p:txBody>
      </p:sp>
      <p:sp>
        <p:nvSpPr>
          <p:cNvPr id="362" name="narrative-number">
            <a:extLst xmlns:a="http://schemas.openxmlformats.org/drawingml/2006/main">
              <a:ext uri="{FF2B5EF4-FFF2-40B4-BE49-F238E27FC236}">
                <a16:creationId xmlns:a16="http://schemas.microsoft.com/office/drawing/2014/main" id="{43313CF9-82DB-46FF-B1EC-F73448EFD397}"/>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36</a:t>
            </a:r>
          </a:p>
        </p:txBody>
      </p:sp>
    </p:spTree>
    <p:extLst>
      <p:ext uri="{BB962C8B-B14F-4D97-AF65-F5344CB8AC3E}">
        <p14:creationId xmlns:p14="http://schemas.microsoft.com/office/powerpoint/2010/main" val="2323269161"/>
      </p:ext>
    </p:extLst>
  </p:cSld>
</p:sld>
</file>

<file path=ppt/slides/slide4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63" name="!!area-name">
            <a:extLst xmlns:a="http://schemas.openxmlformats.org/drawingml/2006/main">
              <a:ext uri="{FF2B5EF4-FFF2-40B4-BE49-F238E27FC236}">
                <a16:creationId xmlns:a16="http://schemas.microsoft.com/office/drawing/2014/main" id="{B4311898-8B28-4156-AE85-CD6AAB3EC590}"/>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Decisions</a:t>
            </a:r>
          </a:p>
        </p:txBody>
      </p:sp>
      <p:pic>
        <p:nvPicPr>
          <p:cNvPr id="377" name="mini-map"/>
          <p:cNvPicPr>
            <a:picLocks xmlns:a="http://schemas.openxmlformats.org/drawingml/2006/main" noChangeAspect="1"/>
          </p:cNvPicPr>
          <p:nvPr/>
        </p:nvPicPr>
        <p:blipFill>
          <a:blip xmlns:r="http://schemas.openxmlformats.org/officeDocument/2006/relationships" xmlns:a="http://schemas.openxmlformats.org/drawingml/2006/main" r:embed="R1759cd7bc7f742d7"/>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65" name="slide-title">
            <a:extLst xmlns:a="http://schemas.openxmlformats.org/drawingml/2006/main">
              <a:ext uri="{FF2B5EF4-FFF2-40B4-BE49-F238E27FC236}">
                <a16:creationId xmlns:a16="http://schemas.microsoft.com/office/drawing/2014/main" id="{E6276037-FCD9-4A02-B91E-04B4F1E49310}"/>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Production decisions</a:t>
            </a:r>
          </a:p>
        </p:txBody>
      </p:sp>
      <p:sp>
        <p:nvSpPr>
          <p:cNvPr id="366" name="header-divider">
            <a:extLst xmlns:a="http://schemas.openxmlformats.org/drawingml/2006/main">
              <a:ext uri="{FF2B5EF4-FFF2-40B4-BE49-F238E27FC236}">
                <a16:creationId xmlns:a16="http://schemas.microsoft.com/office/drawing/2014/main" id="{36133059-3CE3-4266-865A-6829CD626BB5}"/>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67" name="37-text-1">
            <a:extLst xmlns:a="http://schemas.openxmlformats.org/drawingml/2006/main">
              <a:ext uri="{FF2B5EF4-FFF2-40B4-BE49-F238E27FC236}">
                <a16:creationId xmlns:a16="http://schemas.microsoft.com/office/drawing/2014/main" id="{387BFB8E-AFCD-4A7F-8477-F8C0210829BC}"/>
              </a:ext>
            </a:extLst>
          </p:cNvPr>
          <p:cNvSpPr>
            <a:spLocks xmlns:a="http://schemas.openxmlformats.org/drawingml/2006/main"/>
          </p:cNvSpPr>
          <p:nvPr/>
        </p:nvSpPr>
        <p:spPr>
          <a:xfrm xmlns:a="http://schemas.openxmlformats.org/drawingml/2006/main">
            <a:off x="609600" y="24384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Authority</a:t>
            </a:r>
          </a:p>
        </p:txBody>
      </p:sp>
      <p:sp>
        <p:nvSpPr>
          <p:cNvPr id="368" name="37-text-2">
            <a:extLst xmlns:a="http://schemas.openxmlformats.org/drawingml/2006/main">
              <a:ext uri="{FF2B5EF4-FFF2-40B4-BE49-F238E27FC236}">
                <a16:creationId xmlns:a16="http://schemas.microsoft.com/office/drawing/2014/main" id="{6440CFD0-34FE-4971-BD70-5C582DD510D8}"/>
              </a:ext>
            </a:extLst>
          </p:cNvPr>
          <p:cNvSpPr>
            <a:spLocks xmlns:a="http://schemas.openxmlformats.org/drawingml/2006/main"/>
          </p:cNvSpPr>
          <p:nvPr/>
        </p:nvSpPr>
        <p:spPr>
          <a:xfrm xmlns:a="http://schemas.openxmlformats.org/drawingml/2006/main">
            <a:off x="4368800" y="24384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Enforce identity, scope, and permitted destinations.</a:t>
            </a:r>
          </a:p>
        </p:txBody>
      </p:sp>
      <p:sp>
        <p:nvSpPr>
          <p:cNvPr id="369" name="37-text-3">
            <a:extLst xmlns:a="http://schemas.openxmlformats.org/drawingml/2006/main">
              <a:ext uri="{FF2B5EF4-FFF2-40B4-BE49-F238E27FC236}">
                <a16:creationId xmlns:a16="http://schemas.microsoft.com/office/drawing/2014/main" id="{4F31D99C-49B7-4891-98E5-73AA65002F0A}"/>
              </a:ext>
            </a:extLst>
          </p:cNvPr>
          <p:cNvSpPr>
            <a:spLocks xmlns:a="http://schemas.openxmlformats.org/drawingml/2006/main"/>
          </p:cNvSpPr>
          <p:nvPr/>
        </p:nvSpPr>
        <p:spPr>
          <a:xfrm xmlns:a="http://schemas.openxmlformats.org/drawingml/2006/main">
            <a:off x="609600" y="33528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Observation</a:t>
            </a:r>
          </a:p>
        </p:txBody>
      </p:sp>
      <p:sp>
        <p:nvSpPr>
          <p:cNvPr id="370" name="37-text-4">
            <a:extLst xmlns:a="http://schemas.openxmlformats.org/drawingml/2006/main">
              <a:ext uri="{FF2B5EF4-FFF2-40B4-BE49-F238E27FC236}">
                <a16:creationId xmlns:a16="http://schemas.microsoft.com/office/drawing/2014/main" id="{865581FF-5A25-4F6B-A199-E6979065410F}"/>
              </a:ext>
            </a:extLst>
          </p:cNvPr>
          <p:cNvSpPr>
            <a:spLocks xmlns:a="http://schemas.openxmlformats.org/drawingml/2006/main"/>
          </p:cNvSpPr>
          <p:nvPr/>
        </p:nvSpPr>
        <p:spPr>
          <a:xfrm xmlns:a="http://schemas.openxmlformats.org/drawingml/2006/main">
            <a:off x="4368800" y="33528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Connect evidence to outcomes, quality, cost, and latency.</a:t>
            </a:r>
          </a:p>
        </p:txBody>
      </p:sp>
      <p:sp>
        <p:nvSpPr>
          <p:cNvPr id="371" name="37-text-5">
            <a:extLst xmlns:a="http://schemas.openxmlformats.org/drawingml/2006/main">
              <a:ext uri="{FF2B5EF4-FFF2-40B4-BE49-F238E27FC236}">
                <a16:creationId xmlns:a16="http://schemas.microsoft.com/office/drawing/2014/main" id="{C8C66E7B-108E-425C-B2EF-001A4AF8FEEF}"/>
              </a:ext>
            </a:extLst>
          </p:cNvPr>
          <p:cNvSpPr>
            <a:spLocks xmlns:a="http://schemas.openxmlformats.org/drawingml/2006/main"/>
          </p:cNvSpPr>
          <p:nvPr/>
        </p:nvSpPr>
        <p:spPr>
          <a:xfrm xmlns:a="http://schemas.openxmlformats.org/drawingml/2006/main">
            <a:off x="609600" y="42672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Limits and handoff</a:t>
            </a:r>
          </a:p>
        </p:txBody>
      </p:sp>
      <p:sp>
        <p:nvSpPr>
          <p:cNvPr id="372" name="37-text-6">
            <a:extLst xmlns:a="http://schemas.openxmlformats.org/drawingml/2006/main">
              <a:ext uri="{FF2B5EF4-FFF2-40B4-BE49-F238E27FC236}">
                <a16:creationId xmlns:a16="http://schemas.microsoft.com/office/drawing/2014/main" id="{255E27D8-E37C-438B-B2C8-D63522544F5C}"/>
              </a:ext>
            </a:extLst>
          </p:cNvPr>
          <p:cNvSpPr>
            <a:spLocks xmlns:a="http://schemas.openxmlformats.org/drawingml/2006/main"/>
          </p:cNvSpPr>
          <p:nvPr/>
        </p:nvSpPr>
        <p:spPr>
          <a:xfrm xmlns:a="http://schemas.openxmlformats.org/drawingml/2006/main">
            <a:off x="4368800" y="42672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Set the policy and assign the authorized responder.</a:t>
            </a:r>
          </a:p>
        </p:txBody>
      </p:sp>
      <p:sp>
        <p:nvSpPr>
          <p:cNvPr id="373" name="37-text-7">
            <a:extLst xmlns:a="http://schemas.openxmlformats.org/drawingml/2006/main">
              <a:ext uri="{FF2B5EF4-FFF2-40B4-BE49-F238E27FC236}">
                <a16:creationId xmlns:a16="http://schemas.microsoft.com/office/drawing/2014/main" id="{9093527B-E00B-412B-8869-F56C76DF0629}"/>
              </a:ext>
            </a:extLst>
          </p:cNvPr>
          <p:cNvSpPr>
            <a:spLocks xmlns:a="http://schemas.openxmlformats.org/drawingml/2006/main"/>
          </p:cNvSpPr>
          <p:nvPr/>
        </p:nvSpPr>
        <p:spPr>
          <a:xfrm xmlns:a="http://schemas.openxmlformats.org/drawingml/2006/main">
            <a:off x="609600" y="5181600"/>
            <a:ext cx="34544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Changes and incidents</a:t>
            </a:r>
          </a:p>
        </p:txBody>
      </p:sp>
      <p:sp>
        <p:nvSpPr>
          <p:cNvPr id="374" name="37-text-8">
            <a:extLst xmlns:a="http://schemas.openxmlformats.org/drawingml/2006/main">
              <a:ext uri="{FF2B5EF4-FFF2-40B4-BE49-F238E27FC236}">
                <a16:creationId xmlns:a16="http://schemas.microsoft.com/office/drawing/2014/main" id="{91BED92E-4A41-4A2F-964E-C25513EF7A1B}"/>
              </a:ext>
            </a:extLst>
          </p:cNvPr>
          <p:cNvSpPr>
            <a:spLocks xmlns:a="http://schemas.openxmlformats.org/drawingml/2006/main"/>
          </p:cNvSpPr>
          <p:nvPr/>
        </p:nvSpPr>
        <p:spPr>
          <a:xfrm xmlns:a="http://schemas.openxmlformats.org/drawingml/2006/main">
            <a:off x="4368800" y="5181600"/>
            <a:ext cx="7213600" cy="787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Review changes. Keep a way to restrict or revert configuration.</a:t>
            </a:r>
          </a:p>
        </p:txBody>
      </p:sp>
      <p:sp>
        <p:nvSpPr>
          <p:cNvPr id="375" name="narrative-number">
            <a:extLst xmlns:a="http://schemas.openxmlformats.org/drawingml/2006/main">
              <a:ext uri="{FF2B5EF4-FFF2-40B4-BE49-F238E27FC236}">
                <a16:creationId xmlns:a16="http://schemas.microsoft.com/office/drawing/2014/main" id="{175A43E4-B31D-434B-9B98-8DD890F5767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37</a:t>
            </a:r>
          </a:p>
        </p:txBody>
      </p:sp>
    </p:spTree>
    <p:extLst>
      <p:ext uri="{BB962C8B-B14F-4D97-AF65-F5344CB8AC3E}">
        <p14:creationId xmlns:p14="http://schemas.microsoft.com/office/powerpoint/2010/main" val="4041366941"/>
      </p:ext>
    </p:extLst>
  </p:cSld>
</p:sld>
</file>

<file path=ppt/slides/slide4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76" name="!!area-name">
            <a:extLst xmlns:a="http://schemas.openxmlformats.org/drawingml/2006/main">
              <a:ext uri="{FF2B5EF4-FFF2-40B4-BE49-F238E27FC236}">
                <a16:creationId xmlns:a16="http://schemas.microsoft.com/office/drawing/2014/main" id="{B9E5A7B8-9932-49EE-8D38-7C962C0D888C}"/>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Challenges and pitfalls</a:t>
            </a:r>
          </a:p>
        </p:txBody>
      </p:sp>
      <p:pic>
        <p:nvPicPr>
          <p:cNvPr id="391" name="mini-map"/>
          <p:cNvPicPr>
            <a:picLocks xmlns:a="http://schemas.openxmlformats.org/drawingml/2006/main" noChangeAspect="1"/>
          </p:cNvPicPr>
          <p:nvPr/>
        </p:nvPicPr>
        <p:blipFill>
          <a:blip xmlns:r="http://schemas.openxmlformats.org/officeDocument/2006/relationships" xmlns:a="http://schemas.openxmlformats.org/drawingml/2006/main" r:embed="R503ffde4c88441aa"/>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78" name="slide-title">
            <a:extLst xmlns:a="http://schemas.openxmlformats.org/drawingml/2006/main">
              <a:ext uri="{FF2B5EF4-FFF2-40B4-BE49-F238E27FC236}">
                <a16:creationId xmlns:a16="http://schemas.microsoft.com/office/drawing/2014/main" id="{CD51EF25-BE07-4B98-8635-A1386CF8F2F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Risks across integrations</a:t>
            </a:r>
          </a:p>
        </p:txBody>
      </p:sp>
      <p:sp>
        <p:nvSpPr>
          <p:cNvPr id="379" name="header-divider">
            <a:extLst xmlns:a="http://schemas.openxmlformats.org/drawingml/2006/main">
              <a:ext uri="{FF2B5EF4-FFF2-40B4-BE49-F238E27FC236}">
                <a16:creationId xmlns:a16="http://schemas.microsoft.com/office/drawing/2014/main" id="{2ECB014B-1942-4B6B-A8D9-B8FDFA9BC30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80" name="38-text-1">
            <a:extLst xmlns:a="http://schemas.openxmlformats.org/drawingml/2006/main">
              <a:ext uri="{FF2B5EF4-FFF2-40B4-BE49-F238E27FC236}">
                <a16:creationId xmlns:a16="http://schemas.microsoft.com/office/drawing/2014/main" id="{D899DC4E-67D1-41D4-9408-5C23A3EA5835}"/>
              </a:ext>
            </a:extLst>
          </p:cNvPr>
          <p:cNvSpPr>
            <a:spLocks xmlns:a="http://schemas.openxmlformats.org/drawingml/2006/main"/>
          </p:cNvSpPr>
          <p:nvPr/>
        </p:nvSpPr>
        <p:spPr>
          <a:xfrm xmlns:a="http://schemas.openxmlformats.org/drawingml/2006/main">
            <a:off x="609600" y="24384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Private data</a:t>
            </a:r>
          </a:p>
        </p:txBody>
      </p:sp>
      <p:sp>
        <p:nvSpPr>
          <p:cNvPr id="381" name="38-text-2">
            <a:extLst xmlns:a="http://schemas.openxmlformats.org/drawingml/2006/main">
              <a:ext uri="{FF2B5EF4-FFF2-40B4-BE49-F238E27FC236}">
                <a16:creationId xmlns:a16="http://schemas.microsoft.com/office/drawing/2014/main" id="{0A9A2F1F-E23E-465F-AA1D-1839F70E0672}"/>
              </a:ext>
            </a:extLst>
          </p:cNvPr>
          <p:cNvSpPr>
            <a:spLocks xmlns:a="http://schemas.openxmlformats.org/drawingml/2006/main"/>
          </p:cNvSpPr>
          <p:nvPr/>
        </p:nvSpPr>
        <p:spPr>
          <a:xfrm xmlns:a="http://schemas.openxmlformats.org/drawingml/2006/main">
            <a:off x="3708400" y="24384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Information the system can access.</a:t>
            </a:r>
          </a:p>
        </p:txBody>
      </p:sp>
      <p:sp>
        <p:nvSpPr>
          <p:cNvPr id="382" name="38-text-3">
            <a:extLst xmlns:a="http://schemas.openxmlformats.org/drawingml/2006/main">
              <a:ext uri="{FF2B5EF4-FFF2-40B4-BE49-F238E27FC236}">
                <a16:creationId xmlns:a16="http://schemas.microsoft.com/office/drawing/2014/main" id="{8EDCB7C5-4AAC-4F79-8FF8-D65CAAB50A9E}"/>
              </a:ext>
            </a:extLst>
          </p:cNvPr>
          <p:cNvSpPr>
            <a:spLocks xmlns:a="http://schemas.openxmlformats.org/drawingml/2006/main"/>
          </p:cNvSpPr>
          <p:nvPr/>
        </p:nvSpPr>
        <p:spPr>
          <a:xfrm xmlns:a="http://schemas.openxmlformats.org/drawingml/2006/main">
            <a:off x="609600" y="3225800"/>
            <a:ext cx="27432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Untrusted content</a:t>
            </a:r>
          </a:p>
        </p:txBody>
      </p:sp>
      <p:sp>
        <p:nvSpPr>
          <p:cNvPr id="383" name="38-text-4">
            <a:extLst xmlns:a="http://schemas.openxmlformats.org/drawingml/2006/main">
              <a:ext uri="{FF2B5EF4-FFF2-40B4-BE49-F238E27FC236}">
                <a16:creationId xmlns:a16="http://schemas.microsoft.com/office/drawing/2014/main" id="{4F474109-4D45-4062-B5A7-9A0269E086C5}"/>
              </a:ext>
            </a:extLst>
          </p:cNvPr>
          <p:cNvSpPr>
            <a:spLocks xmlns:a="http://schemas.openxmlformats.org/drawingml/2006/main"/>
          </p:cNvSpPr>
          <p:nvPr/>
        </p:nvSpPr>
        <p:spPr>
          <a:xfrm xmlns:a="http://schemas.openxmlformats.org/drawingml/2006/main">
            <a:off x="3708400" y="32258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Instructions can arrive inside documents.</a:t>
            </a:r>
          </a:p>
        </p:txBody>
      </p:sp>
      <p:sp>
        <p:nvSpPr>
          <p:cNvPr id="384" name="38-text-5">
            <a:extLst xmlns:a="http://schemas.openxmlformats.org/drawingml/2006/main">
              <a:ext uri="{FF2B5EF4-FFF2-40B4-BE49-F238E27FC236}">
                <a16:creationId xmlns:a16="http://schemas.microsoft.com/office/drawing/2014/main" id="{A358E4E3-FD75-4F8D-8540-C19D6227ADB8}"/>
              </a:ext>
            </a:extLst>
          </p:cNvPr>
          <p:cNvSpPr>
            <a:spLocks xmlns:a="http://schemas.openxmlformats.org/drawingml/2006/main"/>
          </p:cNvSpPr>
          <p:nvPr/>
        </p:nvSpPr>
        <p:spPr>
          <a:xfrm xmlns:a="http://schemas.openxmlformats.org/drawingml/2006/main">
            <a:off x="609600" y="4013200"/>
            <a:ext cx="274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External communication</a:t>
            </a:r>
          </a:p>
        </p:txBody>
      </p:sp>
      <p:sp>
        <p:nvSpPr>
          <p:cNvPr id="385" name="38-text-6">
            <a:extLst xmlns:a="http://schemas.openxmlformats.org/drawingml/2006/main">
              <a:ext uri="{FF2B5EF4-FFF2-40B4-BE49-F238E27FC236}">
                <a16:creationId xmlns:a16="http://schemas.microsoft.com/office/drawing/2014/main" id="{289BE4C5-0A0E-4E30-BCC6-900373A450E5}"/>
              </a:ext>
            </a:extLst>
          </p:cNvPr>
          <p:cNvSpPr>
            <a:spLocks xmlns:a="http://schemas.openxmlformats.org/drawingml/2006/main"/>
          </p:cNvSpPr>
          <p:nvPr/>
        </p:nvSpPr>
        <p:spPr>
          <a:xfrm xmlns:a="http://schemas.openxmlformats.org/drawingml/2006/main">
            <a:off x="3708400" y="4013200"/>
            <a:ext cx="78740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Outbound actions can carry information.</a:t>
            </a:r>
          </a:p>
        </p:txBody>
      </p:sp>
      <p:sp>
        <p:nvSpPr>
          <p:cNvPr id="386" name="38-text-7">
            <a:extLst xmlns:a="http://schemas.openxmlformats.org/drawingml/2006/main">
              <a:ext uri="{FF2B5EF4-FFF2-40B4-BE49-F238E27FC236}">
                <a16:creationId xmlns:a16="http://schemas.microsoft.com/office/drawing/2014/main" id="{4A5A18C1-53FD-4FAA-A4C0-8A7C8B9F929F}"/>
              </a:ext>
            </a:extLst>
          </p:cNvPr>
          <p:cNvSpPr>
            <a:spLocks xmlns:a="http://schemas.openxmlformats.org/drawingml/2006/main"/>
          </p:cNvSpPr>
          <p:nvPr/>
        </p:nvSpPr>
        <p:spPr>
          <a:xfrm xmlns:a="http://schemas.openxmlformats.org/drawingml/2006/main">
            <a:off x="609600" y="4902200"/>
            <a:ext cx="10972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 probabilistic filter is insufficient as the sole security boundary.</a:t>
            </a:r>
          </a:p>
        </p:txBody>
      </p:sp>
      <p:sp>
        <p:nvSpPr>
          <p:cNvPr id="387" name="38-text-8">
            <a:extLst xmlns:a="http://schemas.openxmlformats.org/drawingml/2006/main">
              <a:ext uri="{FF2B5EF4-FFF2-40B4-BE49-F238E27FC236}">
                <a16:creationId xmlns:a16="http://schemas.microsoft.com/office/drawing/2014/main" id="{09D31D4B-73F3-46EC-AF61-623197E0A6E5}"/>
              </a:ext>
            </a:extLst>
          </p:cNvPr>
          <p:cNvSpPr>
            <a:spLocks xmlns:a="http://schemas.openxmlformats.org/drawingml/2006/main"/>
          </p:cNvSpPr>
          <p:nvPr/>
        </p:nvSpPr>
        <p:spPr>
          <a:xfrm xmlns:a="http://schemas.openxmlformats.org/drawingml/2006/main">
            <a:off x="609600" y="5410200"/>
            <a:ext cx="15748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1">
                <a:solidFill>
                  <a:srgbClr val="FDAD00"/>
                </a:solidFill>
                <a:latin typeface="Helvetica"/>
                <a:ea typeface="Helvetica"/>
                <a:cs typeface="Helvetica"/>
              </a:defRPr>
            </a:pPr>
            <a:r>
              <a:rPr b="1">
                <a:solidFill>
                  <a:srgbClr val="FDAD00"/>
                </a:solidFill>
                <a:latin typeface="Helvetica"/>
                <a:ea typeface="Helvetica"/>
                <a:cs typeface="Helvetica"/>
              </a:rPr>
              <a:t>Pitfall</a:t>
            </a:r>
          </a:p>
        </p:txBody>
      </p:sp>
      <p:sp>
        <p:nvSpPr>
          <p:cNvPr id="388" name="38-text-9">
            <a:extLst xmlns:a="http://schemas.openxmlformats.org/drawingml/2006/main">
              <a:ext uri="{FF2B5EF4-FFF2-40B4-BE49-F238E27FC236}">
                <a16:creationId xmlns:a16="http://schemas.microsoft.com/office/drawing/2014/main" id="{B8C662F2-DD83-404D-9E8D-059D3075D3D4}"/>
              </a:ext>
            </a:extLst>
          </p:cNvPr>
          <p:cNvSpPr>
            <a:spLocks xmlns:a="http://schemas.openxmlformats.org/drawingml/2006/main"/>
          </p:cNvSpPr>
          <p:nvPr/>
        </p:nvSpPr>
        <p:spPr>
          <a:xfrm xmlns:a="http://schemas.openxmlformats.org/drawingml/2006/main">
            <a:off x="2489200" y="5410200"/>
            <a:ext cx="9093200" cy="812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Combining private data, untrusted content,</a:t>
            </a:r>
          </a:p>
          <a:p xmlns:a="http://schemas.openxmlformats.org/drawingml/2006/main">
            <a:pPr algn="l">
              <a:lnSpc>
                <a:spcPct val="125000"/>
              </a:lnSpc>
              <a:defRPr sz="2400" b="1">
                <a:solidFill>
                  <a:srgbClr val="FFFCF5"/>
                </a:solidFill>
                <a:latin typeface="Helvetica"/>
                <a:ea typeface="Helvetica"/>
                <a:cs typeface="Helvetica"/>
              </a:defRPr>
            </a:pPr>
            <a:r>
              <a:rPr b="1">
                <a:solidFill>
                  <a:srgbClr val="FFFCF5"/>
                </a:solidFill>
                <a:latin typeface="Helvetica"/>
                <a:ea typeface="Helvetica"/>
                <a:cs typeface="Helvetica"/>
              </a:rPr>
              <a:t>and outbound access without reviewing the risk.</a:t>
            </a:r>
          </a:p>
        </p:txBody>
      </p:sp>
      <p:sp>
        <p:nvSpPr>
          <p:cNvPr id="389" name="narrative-number">
            <a:extLst xmlns:a="http://schemas.openxmlformats.org/drawingml/2006/main">
              <a:ext uri="{FF2B5EF4-FFF2-40B4-BE49-F238E27FC236}">
                <a16:creationId xmlns:a16="http://schemas.microsoft.com/office/drawing/2014/main" id="{18517739-FABC-4CA7-A367-EA0BB12ADB9C}"/>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38</a:t>
            </a:r>
          </a:p>
        </p:txBody>
      </p:sp>
    </p:spTree>
    <p:extLst>
      <p:ext uri="{BB962C8B-B14F-4D97-AF65-F5344CB8AC3E}">
        <p14:creationId xmlns:p14="http://schemas.microsoft.com/office/powerpoint/2010/main" val="2746045918"/>
      </p:ext>
    </p:extLst>
  </p:cSld>
</p:sld>
</file>

<file path=ppt/slides/slide45.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0" name="!!area-name">
            <a:extLst xmlns:a="http://schemas.openxmlformats.org/drawingml/2006/main">
              <a:ext uri="{FF2B5EF4-FFF2-40B4-BE49-F238E27FC236}">
                <a16:creationId xmlns:a16="http://schemas.microsoft.com/office/drawing/2014/main" id="{2879D2F2-252D-45A0-A055-5465D3E3066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FDAD00"/>
                </a:solidFill>
                <a:latin typeface="Helvetica"/>
                <a:ea typeface="Helvetica"/>
                <a:cs typeface="Helvetica"/>
              </a:rPr>
              <a:t>AgentOps</a:t>
            </a:r>
            <a:r>
              <a:rPr b="0">
                <a:solidFill>
                  <a:srgbClr val="ADACA9"/>
                </a:solidFill>
                <a:latin typeface="Helvetica"/>
                <a:ea typeface="Helvetica"/>
                <a:cs typeface="Helvetica"/>
              </a:rPr>
              <a:t> · FRB application</a:t>
            </a:r>
          </a:p>
        </p:txBody>
      </p:sp>
      <p:pic>
        <p:nvPicPr>
          <p:cNvPr id="398" name="mini-map"/>
          <p:cNvPicPr>
            <a:picLocks xmlns:a="http://schemas.openxmlformats.org/drawingml/2006/main" noChangeAspect="1"/>
          </p:cNvPicPr>
          <p:nvPr/>
        </p:nvPicPr>
        <p:blipFill>
          <a:blip xmlns:r="http://schemas.openxmlformats.org/officeDocument/2006/relationships" xmlns:a="http://schemas.openxmlformats.org/drawingml/2006/main" r:embed="R577db2ebe56c427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392" name="slide-title">
            <a:extLst xmlns:a="http://schemas.openxmlformats.org/drawingml/2006/main">
              <a:ext uri="{FF2B5EF4-FFF2-40B4-BE49-F238E27FC236}">
                <a16:creationId xmlns:a16="http://schemas.microsoft.com/office/drawing/2014/main" id="{3BF2EEB1-27E3-49C7-9B02-1A0C116F7C74}"/>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FRB operating agreement</a:t>
            </a:r>
          </a:p>
        </p:txBody>
      </p:sp>
      <p:sp>
        <p:nvSpPr>
          <p:cNvPr id="393" name="header-divider">
            <a:extLst xmlns:a="http://schemas.openxmlformats.org/drawingml/2006/main">
              <a:ext uri="{FF2B5EF4-FFF2-40B4-BE49-F238E27FC236}">
                <a16:creationId xmlns:a16="http://schemas.microsoft.com/office/drawing/2014/main" id="{46D3D600-4882-4001-BCCA-65B94B3A6B9E}"/>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394" name="39-text-1">
            <a:extLst xmlns:a="http://schemas.openxmlformats.org/drawingml/2006/main">
              <a:ext uri="{FF2B5EF4-FFF2-40B4-BE49-F238E27FC236}">
                <a16:creationId xmlns:a16="http://schemas.microsoft.com/office/drawing/2014/main" id="{0397955E-3F94-45F5-8531-C2BB07DF7529}"/>
              </a:ext>
            </a:extLst>
          </p:cNvPr>
          <p:cNvSpPr>
            <a:spLocks xmlns:a="http://schemas.openxmlformats.org/drawingml/2006/main"/>
          </p:cNvSpPr>
          <p:nvPr/>
        </p:nvSpPr>
        <p:spPr>
          <a:xfrm xmlns:a="http://schemas.openxmlformats.org/drawingml/2006/main">
            <a:off x="609600" y="2438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proposed operating agreement.</a:t>
            </a:r>
          </a:p>
        </p:txBody>
      </p:sp>
      <p:graphicFrame>
        <p:nvGraphicFramePr>
          <p:cNvPr id="402" name="39-table-2"/>
          <p:cNvGraphicFramePr/>
          <p:nvPr/>
        </p:nvGraphicFramePr>
        <p:xfrm>
          <a:off xmlns:a="http://schemas.openxmlformats.org/drawingml/2006/main" x="609600" y="2895600"/>
          <a:ext xmlns:a="http://schemas.openxmlformats.org/drawingml/2006/main" cx="10972800" cy="3098800"/>
        </p:xfrm>
        <a:graphic xmlns:a="http://schemas.openxmlformats.org/drawingml/2006/main">
          <a:graphicData uri="http://schemas.openxmlformats.org/drawingml/2006/table">
            <a:tbl>
              <a:tblPr firstRow="0" firstCol="0" lastCol="0" bandRow="0" bandCol="0"/>
              <a:tblGrid>
                <a:gridCol w="2844800"/>
                <a:gridCol w="8128000"/>
              </a:tblGrid>
              <a:tr h="457200">
                <a:tc>
                  <a:txBody>
                    <a:bodyPr>
                      <a:noAutofit/>
                    </a:bodyPr>
                    <a:lstStyle/>
                    <a:p>
                      <a:pPr>
                        <a:lnSpc>
                          <a:spcPct val="125000"/>
                        </a:lnSpc>
                        <a:buNone/>
                      </a:pPr>
                      <a:r>
                        <a:rPr sz="2000" b="1">
                          <a:solidFill>
                            <a:srgbClr val="FDAD00"/>
                          </a:solidFill>
                          <a:latin typeface="Helvetica"/>
                          <a:ea typeface="Helvetica"/>
                          <a:cs typeface="Helvetica"/>
                        </a:rPr>
                        <a:t>Responsibility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FDAD00"/>
                          </a:solidFill>
                          <a:latin typeface="Helvetica"/>
                          <a:ea typeface="Helvetica"/>
                          <a:cs typeface="Helvetica"/>
                        </a:rPr>
                        <a:t>FRB rule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Approved scope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Records, services, destinations, traces, and eval artifacts.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Evidence and signals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Revisions, checks, export state.</a:t>
                      </a:r>
                    </a:p>
                    <a:p>
                      <a:pPr>
                        <a:lnSpc>
                          <a:spcPct val="125000"/>
                        </a:lnSpc>
                        <a:buNone/>
                      </a:pPr>
                      <a:r>
                        <a:rPr sz="2000" b="0">
                          <a:solidFill>
                            <a:srgbClr val="FFFCF5"/>
                          </a:solidFill>
                          <a:latin typeface="Helvetica"/>
                          <a:ea typeface="Helvetica"/>
                          <a:cs typeface="Helvetica"/>
                        </a:rPr>
                        <a:t>Quality, freshness, cost,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Response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limits. An assigned, authorized responder.</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660400">
                <a:tc>
                  <a:txBody>
                    <a:bodyPr>
                      <a:noAutofit/>
                    </a:bodyPr>
                    <a:lstStyle/>
                    <a:p>
                      <a:pPr>
                        <a:lnSpc>
                          <a:spcPct val="125000"/>
                        </a:lnSpc>
                        <a:buNone/>
                      </a:pPr>
                      <a:r>
                        <a:rPr sz="2000" b="0">
                          <a:solidFill>
                            <a:srgbClr val="FFFCF5"/>
                          </a:solidFill>
                          <a:latin typeface="Helvetica"/>
                          <a:ea typeface="Helvetica"/>
                          <a:cs typeface="Helvetica"/>
                        </a:rPr>
                        <a:t>Accountability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Review changes. People own official findings and records.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396" name="narrative-number">
            <a:extLst xmlns:a="http://schemas.openxmlformats.org/drawingml/2006/main">
              <a:ext uri="{FF2B5EF4-FFF2-40B4-BE49-F238E27FC236}">
                <a16:creationId xmlns:a16="http://schemas.microsoft.com/office/drawing/2014/main" id="{5170A969-61FA-4CFC-81EC-9DA68E8120D2}"/>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39</a:t>
            </a:r>
          </a:p>
        </p:txBody>
      </p:sp>
    </p:spTree>
    <p:extLst>
      <p:ext uri="{BB962C8B-B14F-4D97-AF65-F5344CB8AC3E}">
        <p14:creationId xmlns:p14="http://schemas.microsoft.com/office/powerpoint/2010/main" val="513401663"/>
      </p:ext>
    </p:extLst>
  </p:cSld>
</p:sld>
</file>

<file path=ppt/slides/slide46.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pic>
        <p:nvPicPr>
          <p:cNvPr id="399" name="40-image-1"/>
          <p:cNvPicPr>
            <a:picLocks xmlns:a="http://schemas.openxmlformats.org/drawingml/2006/main" noChangeAspect="1"/>
          </p:cNvPicPr>
          <p:nvPr/>
        </p:nvPicPr>
        <p:blipFill>
          <a:blip xmlns:r="http://schemas.openxmlformats.org/officeDocument/2006/relationships" xmlns:a="http://schemas.openxmlformats.org/drawingml/2006/main" r:embed="Re0938b9d4ed946c7"/>
          <a:stretch xmlns:a="http://schemas.openxmlformats.org/drawingml/2006/main"/>
        </p:blipFill>
        <p:spPr>
          <a:xfrm xmlns:a="http://schemas.openxmlformats.org/drawingml/2006/main">
            <a:off x="0" y="0"/>
            <a:ext cx="12192000" cy="6858000"/>
          </a:xfrm>
          <a:prstGeom xmlns:a="http://schemas.openxmlformats.org/drawingml/2006/main" prst="rect">
            <a:avLst/>
          </a:prstGeom>
        </p:spPr>
      </p:pic>
      <p:sp>
        <p:nvSpPr>
          <p:cNvPr id="398" name="narrative-number">
            <a:extLst xmlns:a="http://schemas.openxmlformats.org/drawingml/2006/main">
              <a:ext uri="{FF2B5EF4-FFF2-40B4-BE49-F238E27FC236}">
                <a16:creationId xmlns:a16="http://schemas.microsoft.com/office/drawing/2014/main" id="{4CAAA25F-0AA2-4FC1-AFC8-7FD22EF501B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40</a:t>
            </a:r>
          </a:p>
        </p:txBody>
      </p:sp>
    </p:spTree>
    <p:extLst>
      <p:ext uri="{BB962C8B-B14F-4D97-AF65-F5344CB8AC3E}">
        <p14:creationId xmlns:p14="http://schemas.microsoft.com/office/powerpoint/2010/main" val="1191043996"/>
      </p:ext>
    </p:extLst>
  </p:cSld>
</p:sld>
</file>

<file path=ppt/slides/slide47.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399" name="section-label">
            <a:extLst xmlns:a="http://schemas.openxmlformats.org/drawingml/2006/main">
              <a:ext uri="{FF2B5EF4-FFF2-40B4-BE49-F238E27FC236}">
                <a16:creationId xmlns:a16="http://schemas.microsoft.com/office/drawing/2014/main" id="{4E1FB236-EEA2-405D-BD35-405C376BCADA}"/>
              </a:ext>
            </a:extLst>
          </p:cNvPr>
          <p:cNvSpPr>
            <a:spLocks xmlns:a="http://schemas.openxmlformats.org/drawingml/2006/main"/>
          </p:cNvSpPr>
          <p:nvPr/>
        </p:nvSpPr>
        <p:spPr>
          <a:xfrm xmlns:a="http://schemas.openxmlformats.org/drawingml/2006/main">
            <a:off x="609600" y="2133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ADACA9"/>
                </a:solidFill>
                <a:latin typeface="Helvetica"/>
                <a:ea typeface="Helvetica"/>
                <a:cs typeface="Helvetica"/>
              </a:defRPr>
            </a:pPr>
            <a:r>
              <a:rPr b="0">
                <a:solidFill>
                  <a:srgbClr val="ADACA9"/>
                </a:solidFill>
                <a:latin typeface="Helvetica"/>
                <a:ea typeface="Helvetica"/>
                <a:cs typeface="Helvetica"/>
              </a:rPr>
              <a:t>Section 3</a:t>
            </a:r>
          </a:p>
        </p:txBody>
      </p:sp>
      <p:sp>
        <p:nvSpPr>
          <p:cNvPr id="400" name="section-rule">
            <a:extLst xmlns:a="http://schemas.openxmlformats.org/drawingml/2006/main">
              <a:ext uri="{FF2B5EF4-FFF2-40B4-BE49-F238E27FC236}">
                <a16:creationId xmlns:a16="http://schemas.microsoft.com/office/drawing/2014/main" id="{847D1AFE-A4BD-405B-B4C3-1114B57EB0A2}"/>
              </a:ext>
            </a:extLst>
          </p:cNvPr>
          <p:cNvSpPr>
            <a:spLocks xmlns:a="http://schemas.openxmlformats.org/drawingml/2006/main"/>
          </p:cNvSpPr>
          <p:nvPr/>
        </p:nvSpPr>
        <p:spPr>
          <a:xfrm xmlns:a="http://schemas.openxmlformats.org/drawingml/2006/main">
            <a:off x="609600" y="2641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01" name="section-title">
            <a:extLst xmlns:a="http://schemas.openxmlformats.org/drawingml/2006/main">
              <a:ext uri="{FF2B5EF4-FFF2-40B4-BE49-F238E27FC236}">
                <a16:creationId xmlns:a16="http://schemas.microsoft.com/office/drawing/2014/main" id="{78FECE93-D401-4E36-B719-3D82B25B029F}"/>
              </a:ext>
            </a:extLst>
          </p:cNvPr>
          <p:cNvSpPr>
            <a:spLocks xmlns:a="http://schemas.openxmlformats.org/drawingml/2006/main"/>
          </p:cNvSpPr>
          <p:nvPr/>
        </p:nvSpPr>
        <p:spPr>
          <a:xfrm xmlns:a="http://schemas.openxmlformats.org/drawingml/2006/main">
            <a:off x="609600" y="2946400"/>
            <a:ext cx="10972800" cy="177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7000"/>
              </a:lnSpc>
              <a:defRPr sz="6000" b="1">
                <a:solidFill>
                  <a:srgbClr val="FFFCF5"/>
                </a:solidFill>
                <a:latin typeface="Helvetica"/>
                <a:ea typeface="Helvetica"/>
                <a:cs typeface="Helvetica"/>
              </a:defRPr>
            </a:pPr>
            <a:r>
              <a:rPr b="1">
                <a:solidFill>
                  <a:srgbClr val="FFFCF5"/>
                </a:solidFill>
                <a:latin typeface="Helvetica"/>
                <a:ea typeface="Helvetica"/>
                <a:cs typeface="Helvetica"/>
              </a:rPr>
              <a:t>Making the transition</a:t>
            </a:r>
          </a:p>
        </p:txBody>
      </p:sp>
      <p:sp>
        <p:nvSpPr>
          <p:cNvPr id="402" name="narrative-number">
            <a:extLst xmlns:a="http://schemas.openxmlformats.org/drawingml/2006/main">
              <a:ext uri="{FF2B5EF4-FFF2-40B4-BE49-F238E27FC236}">
                <a16:creationId xmlns:a16="http://schemas.microsoft.com/office/drawing/2014/main" id="{446D8BE6-3A17-4EDD-BD92-93E055F2A1E6}"/>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41</a:t>
            </a:r>
          </a:p>
        </p:txBody>
      </p:sp>
    </p:spTree>
    <p:extLst>
      <p:ext uri="{BB962C8B-B14F-4D97-AF65-F5344CB8AC3E}">
        <p14:creationId xmlns:p14="http://schemas.microsoft.com/office/powerpoint/2010/main" val="1878779086"/>
      </p:ext>
    </p:extLst>
  </p:cSld>
</p:sld>
</file>

<file path=ppt/slides/slide48.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3" name="!!area-name">
            <a:extLst xmlns:a="http://schemas.openxmlformats.org/drawingml/2006/main">
              <a:ext uri="{FF2B5EF4-FFF2-40B4-BE49-F238E27FC236}">
                <a16:creationId xmlns:a16="http://schemas.microsoft.com/office/drawing/2014/main" id="{F2E99B65-A472-4AA6-BB2A-2432A32FB04E}"/>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transfers</a:t>
            </a:r>
          </a:p>
        </p:txBody>
      </p:sp>
      <p:pic>
        <p:nvPicPr>
          <p:cNvPr id="410" name="mini-map"/>
          <p:cNvPicPr>
            <a:picLocks xmlns:a="http://schemas.openxmlformats.org/drawingml/2006/main" noChangeAspect="1"/>
          </p:cNvPicPr>
          <p:nvPr/>
        </p:nvPicPr>
        <p:blipFill>
          <a:blip xmlns:r="http://schemas.openxmlformats.org/officeDocument/2006/relationships" xmlns:a="http://schemas.openxmlformats.org/drawingml/2006/main" r:embed="R1d238312c81247c3"/>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05" name="slide-title">
            <a:extLst xmlns:a="http://schemas.openxmlformats.org/drawingml/2006/main">
              <a:ext uri="{FF2B5EF4-FFF2-40B4-BE49-F238E27FC236}">
                <a16:creationId xmlns:a16="http://schemas.microsoft.com/office/drawing/2014/main" id="{143B3C0E-1399-4DF7-A34D-66334751E106}"/>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transfers</a:t>
            </a:r>
          </a:p>
        </p:txBody>
      </p:sp>
      <p:sp>
        <p:nvSpPr>
          <p:cNvPr id="406" name="header-divider">
            <a:extLst xmlns:a="http://schemas.openxmlformats.org/drawingml/2006/main">
              <a:ext uri="{FF2B5EF4-FFF2-40B4-BE49-F238E27FC236}">
                <a16:creationId xmlns:a16="http://schemas.microsoft.com/office/drawing/2014/main" id="{BEC77BA1-E96F-4EB6-8382-4A6BFD083C6F}"/>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3" name="42-table-1"/>
          <p:cNvGraphicFramePr/>
          <p:nvPr/>
        </p:nvGraphicFramePr>
        <p:xfrm>
          <a:off xmlns:a="http://schemas.openxmlformats.org/drawingml/2006/main" x="609600" y="2438400"/>
          <a:ext xmlns:a="http://schemas.openxmlformats.org/drawingml/2006/main" cx="10972800" cy="3733800"/>
        </p:xfrm>
        <a:graphic xmlns:a="http://schemas.openxmlformats.org/drawingml/2006/main">
          <a:graphicData uri="http://schemas.openxmlformats.org/drawingml/2006/table">
            <a:tbl>
              <a:tblPr firstRow="0" firstCol="0" lastCol="0" bandRow="0" bandCol="0"/>
              <a:tblGrid>
                <a:gridCol w="5334000"/>
                <a:gridCol w="304800"/>
                <a:gridCol w="5334000"/>
              </a:tblGrid>
              <a:tr h="533400">
                <a:tc>
                  <a:txBody>
                    <a:bodyPr>
                      <a:noAutofit/>
                    </a:bodyPr>
                    <a:lstStyle/>
                    <a:p>
                      <a:pPr>
                        <a:lnSpc>
                          <a:spcPct val="125000"/>
                        </a:lnSpc>
                        <a:buNone/>
                      </a:pPr>
                      <a:r>
                        <a:rPr sz="2400" b="1">
                          <a:solidFill>
                            <a:srgbClr val="01B66D"/>
                          </a:solidFill>
                          <a:latin typeface="Helvetica"/>
                          <a:ea typeface="Helvetica"/>
                          <a:cs typeface="Helvetica"/>
                        </a:rPr>
                        <a:t>Existing skill</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Application in an AI system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Decomposition and systems thinking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Bounded workflows and clear state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Interface design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Tool contracts and explicit outcomes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Testing discipline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Evals and regression cases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Debugging and observability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Traces of model calls and tool actions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Security and least privilege</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Enforced access and action limits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33400">
                <a:tc>
                  <a:txBody>
                    <a:bodyPr>
                      <a:noAutofit/>
                    </a:bodyPr>
                    <a:lstStyle/>
                    <a:p>
                      <a:pPr>
                        <a:lnSpc>
                          <a:spcPct val="125000"/>
                        </a:lnSpc>
                        <a:buNone/>
                      </a:pPr>
                      <a:r>
                        <a:rPr sz="2000" b="0">
                          <a:solidFill>
                            <a:srgbClr val="FFFCF5"/>
                          </a:solidFill>
                          <a:latin typeface="Helvetica"/>
                          <a:ea typeface="Helvetica"/>
                          <a:cs typeface="Helvetica"/>
                        </a:rPr>
                        <a:t>Production operations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Quality, cost, latency, and recovery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08" name="narrative-number">
            <a:extLst xmlns:a="http://schemas.openxmlformats.org/drawingml/2006/main">
              <a:ext uri="{FF2B5EF4-FFF2-40B4-BE49-F238E27FC236}">
                <a16:creationId xmlns:a16="http://schemas.microsoft.com/office/drawing/2014/main" id="{15CFF5BE-5B9C-45EC-B595-726D81E281F9}"/>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42</a:t>
            </a:r>
          </a:p>
        </p:txBody>
      </p:sp>
    </p:spTree>
    <p:extLst>
      <p:ext uri="{BB962C8B-B14F-4D97-AF65-F5344CB8AC3E}">
        <p14:creationId xmlns:p14="http://schemas.microsoft.com/office/powerpoint/2010/main" val="670353520"/>
      </p:ext>
    </p:extLst>
  </p:cSld>
</p:sld>
</file>

<file path=ppt/slides/slide49.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09" name="!!area-name">
            <a:extLst xmlns:a="http://schemas.openxmlformats.org/drawingml/2006/main">
              <a:ext uri="{FF2B5EF4-FFF2-40B4-BE49-F238E27FC236}">
                <a16:creationId xmlns:a16="http://schemas.microsoft.com/office/drawing/2014/main" id="{3B239D02-0012-4EF8-AF41-C703E345809D}"/>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What you add</a:t>
            </a:r>
          </a:p>
        </p:txBody>
      </p:sp>
      <p:pic>
        <p:nvPicPr>
          <p:cNvPr id="416" name="mini-map"/>
          <p:cNvPicPr>
            <a:picLocks xmlns:a="http://schemas.openxmlformats.org/drawingml/2006/main" noChangeAspect="1"/>
          </p:cNvPicPr>
          <p:nvPr/>
        </p:nvPicPr>
        <p:blipFill>
          <a:blip xmlns:r="http://schemas.openxmlformats.org/officeDocument/2006/relationships" xmlns:a="http://schemas.openxmlformats.org/drawingml/2006/main" r:embed="R85b6516440094f45"/>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11" name="slide-title">
            <a:extLst xmlns:a="http://schemas.openxmlformats.org/drawingml/2006/main">
              <a:ext uri="{FF2B5EF4-FFF2-40B4-BE49-F238E27FC236}">
                <a16:creationId xmlns:a16="http://schemas.microsoft.com/office/drawing/2014/main" id="{949B9543-F331-4FC0-9738-C2DE0578B81E}"/>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What you add</a:t>
            </a:r>
          </a:p>
        </p:txBody>
      </p:sp>
      <p:sp>
        <p:nvSpPr>
          <p:cNvPr id="412" name="header-divider">
            <a:extLst xmlns:a="http://schemas.openxmlformats.org/drawingml/2006/main">
              <a:ext uri="{FF2B5EF4-FFF2-40B4-BE49-F238E27FC236}">
                <a16:creationId xmlns:a16="http://schemas.microsoft.com/office/drawing/2014/main" id="{9D6474E5-6D4D-4790-B9D7-8F2933D607FD}"/>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graphicFrame>
        <p:nvGraphicFramePr>
          <p:cNvPr id="419" name="43-table-1"/>
          <p:cNvGraphicFramePr/>
          <p:nvPr/>
        </p:nvGraphicFramePr>
        <p:xfrm>
          <a:off xmlns:a="http://schemas.openxmlformats.org/drawingml/2006/main" x="609600" y="2438400"/>
          <a:ext xmlns:a="http://schemas.openxmlformats.org/drawingml/2006/main" cx="10972800" cy="3810000"/>
        </p:xfrm>
        <a:graphic xmlns:a="http://schemas.openxmlformats.org/drawingml/2006/main">
          <a:graphicData uri="http://schemas.openxmlformats.org/drawingml/2006/table">
            <a:tbl>
              <a:tblPr firstRow="0" firstCol="0" lastCol="0" bandRow="0" bandCol="0"/>
              <a:tblGrid>
                <a:gridCol w="3454400"/>
                <a:gridCol w="304800"/>
                <a:gridCol w="7213600"/>
              </a:tblGrid>
              <a:tr h="508000">
                <a:tc>
                  <a:txBody>
                    <a:bodyPr>
                      <a:noAutofit/>
                    </a:bodyPr>
                    <a:lstStyle/>
                    <a:p>
                      <a:pPr>
                        <a:lnSpc>
                          <a:spcPct val="125000"/>
                        </a:lnSpc>
                        <a:buNone/>
                      </a:pPr>
                      <a:r>
                        <a:rPr sz="2400" b="1">
                          <a:solidFill>
                            <a:srgbClr val="01B66D"/>
                          </a:solidFill>
                          <a:latin typeface="Helvetica"/>
                          <a:ea typeface="Helvetica"/>
                          <a:cs typeface="Helvetica"/>
                        </a:rPr>
                        <a:t>Area</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400" b="1">
                          <a:solidFill>
                            <a:srgbClr val="01B66D"/>
                          </a:solidFill>
                          <a:latin typeface="Helvetica"/>
                          <a:ea typeface="Helvetica"/>
                          <a:cs typeface="Helvetica"/>
                        </a:rPr>
                        <a:t>Competency to develop</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Model Selection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Recognize failure patterns and evaluate task fit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Context Engineering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Select evidence and preserve its meaning</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Tools &amp; Extensibility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Evaluate how the model selects and uses tools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Orchestration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Bound model-selected actions and handle interruption</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508000">
                <a:tc>
                  <a:txBody>
                    <a:bodyPr>
                      <a:noAutofit/>
                    </a:bodyPr>
                    <a:lstStyle/>
                    <a:p>
                      <a:pPr>
                        <a:lnSpc>
                          <a:spcPct val="125000"/>
                        </a:lnSpc>
                        <a:buNone/>
                      </a:pPr>
                      <a:r>
                        <a:rPr sz="2000" b="0">
                          <a:solidFill>
                            <a:srgbClr val="FFFCF5"/>
                          </a:solidFill>
                          <a:latin typeface="Helvetica"/>
                          <a:ea typeface="Helvetica"/>
                          <a:cs typeface="Helvetica"/>
                        </a:rPr>
                        <a:t>Verification &amp; Evals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Define quality and measure behavior across repeated trials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762000">
                <a:tc>
                  <a:txBody>
                    <a:bodyPr>
                      <a:noAutofit/>
                    </a:bodyPr>
                    <a:lstStyle/>
                    <a:p>
                      <a:pPr>
                        <a:lnSpc>
                          <a:spcPct val="125000"/>
                        </a:lnSpc>
                        <a:buNone/>
                      </a:pPr>
                      <a:r>
                        <a:rPr sz="2000" b="0">
                          <a:solidFill>
                            <a:srgbClr val="FFFCF5"/>
                          </a:solidFill>
                          <a:latin typeface="Helvetica"/>
                          <a:ea typeface="Helvetica"/>
                          <a:cs typeface="Helvetica"/>
                        </a:rPr>
                        <a:t>AgentOps</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r>
                        <a:rPr sz="2000">
                          <a:solidFill>
                            <a:srgbClr val="FFFCF5"/>
                          </a:solidFill>
                          <a:latin typeface="Helvetica"/>
                          <a:ea typeface="Helvetica"/>
                          <a:cs typeface="Helvetica"/>
                        </a:rPr>
                        <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Investigate quality changes and manage</a:t>
                      </a:r>
                    </a:p>
                    <a:p>
                      <a:pPr>
                        <a:lnSpc>
                          <a:spcPct val="125000"/>
                        </a:lnSpc>
                        <a:buNone/>
                      </a:pPr>
                      <a:r>
                        <a:rPr sz="2000" b="0">
                          <a:solidFill>
                            <a:srgbClr val="FFFCF5"/>
                          </a:solidFill>
                          <a:latin typeface="Helvetica"/>
                          <a:ea typeface="Helvetica"/>
                          <a:cs typeface="Helvetica"/>
                        </a:rPr>
                        <a:t>security, cost, and latency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14" name="narrative-number">
            <a:extLst xmlns:a="http://schemas.openxmlformats.org/drawingml/2006/main">
              <a:ext uri="{FF2B5EF4-FFF2-40B4-BE49-F238E27FC236}">
                <a16:creationId xmlns:a16="http://schemas.microsoft.com/office/drawing/2014/main" id="{D08C9B90-152C-401B-B26A-5272FA4A87D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43</a:t>
            </a:r>
          </a:p>
        </p:txBody>
      </p:sp>
    </p:spTree>
    <p:extLst>
      <p:ext uri="{BB962C8B-B14F-4D97-AF65-F5344CB8AC3E}">
        <p14:creationId xmlns:p14="http://schemas.microsoft.com/office/powerpoint/2010/main" val="2256932233"/>
      </p:ext>
    </p:extLst>
  </p:cSld>
</p:sld>
</file>

<file path=ppt/slides/slide50.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15" name="!!area-name">
            <a:extLst xmlns:a="http://schemas.openxmlformats.org/drawingml/2006/main">
              <a:ext uri="{FF2B5EF4-FFF2-40B4-BE49-F238E27FC236}">
                <a16:creationId xmlns:a16="http://schemas.microsoft.com/office/drawing/2014/main" id="{1263FE1E-24B7-4E49-B50E-B3E0EAD05DA2}"/>
              </a:ext>
            </a:extLst>
          </p:cNvPr>
          <p:cNvSpPr>
            <a:spLocks xmlns:a="http://schemas.openxmlformats.org/drawingml/2006/main"/>
          </p:cNvSpPr>
          <p:nvPr/>
        </p:nvSpPr>
        <p:spPr>
          <a:xfrm xmlns:a="http://schemas.openxmlformats.org/drawingml/2006/main">
            <a:off x="609600" y="457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pitfalls</a:t>
            </a:r>
          </a:p>
        </p:txBody>
      </p:sp>
      <p:sp>
        <p:nvSpPr>
          <p:cNvPr id="416" name="header-divider">
            <a:extLst xmlns:a="http://schemas.openxmlformats.org/drawingml/2006/main">
              <a:ext uri="{FF2B5EF4-FFF2-40B4-BE49-F238E27FC236}">
                <a16:creationId xmlns:a16="http://schemas.microsoft.com/office/drawing/2014/main" id="{E2F00EF9-BD7C-46C6-A921-5249FD7B06F9}"/>
              </a:ext>
            </a:extLst>
          </p:cNvPr>
          <p:cNvSpPr>
            <a:spLocks xmlns:a="http://schemas.openxmlformats.org/drawingml/2006/main"/>
          </p:cNvSpPr>
          <p:nvPr/>
        </p:nvSpPr>
        <p:spPr>
          <a:xfrm xmlns:a="http://schemas.openxmlformats.org/drawingml/2006/main">
            <a:off x="609600" y="9652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17" name="44-shape-1">
            <a:extLst xmlns:a="http://schemas.openxmlformats.org/drawingml/2006/main">
              <a:ext uri="{FF2B5EF4-FFF2-40B4-BE49-F238E27FC236}">
                <a16:creationId xmlns:a16="http://schemas.microsoft.com/office/drawing/2014/main" id="{8CEC36DA-ADDC-4914-96D6-69A8084476C4}"/>
              </a:ext>
            </a:extLst>
          </p:cNvPr>
          <p:cNvSpPr>
            <a:spLocks xmlns:a="http://schemas.openxmlformats.org/drawingml/2006/main"/>
          </p:cNvSpPr>
          <p:nvPr/>
        </p:nvSpPr>
        <p:spPr>
          <a:xfrm xmlns:a="http://schemas.openxmlformats.org/drawingml/2006/main">
            <a:off x="0" y="1270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18" name="44-shape-2">
            <a:extLst xmlns:a="http://schemas.openxmlformats.org/drawingml/2006/main">
              <a:ext uri="{FF2B5EF4-FFF2-40B4-BE49-F238E27FC236}">
                <a16:creationId xmlns:a16="http://schemas.microsoft.com/office/drawing/2014/main" id="{18A2B677-9398-4D9F-A9D0-CBB23EEE7ADC}"/>
              </a:ext>
            </a:extLst>
          </p:cNvPr>
          <p:cNvSpPr>
            <a:spLocks xmlns:a="http://schemas.openxmlformats.org/drawingml/2006/main"/>
          </p:cNvSpPr>
          <p:nvPr/>
        </p:nvSpPr>
        <p:spPr>
          <a:xfrm xmlns:a="http://schemas.openxmlformats.org/drawingml/2006/main">
            <a:off x="0" y="1270000"/>
            <a:ext cx="3454400" cy="762000"/>
          </a:xfrm>
          <a:prstGeom xmlns:a="http://schemas.openxmlformats.org/drawingml/2006/main" prst="rect">
            <a:avLst/>
          </a:prstGeom>
          <a:solidFill xmlns:a="http://schemas.openxmlformats.org/drawingml/2006/main">
            <a:srgbClr val="1064F8"/>
          </a:solidFill>
          <a:ln xmlns:a="http://schemas.openxmlformats.org/drawingml/2006/main" w="0">
            <a:noFill/>
          </a:ln>
        </p:spPr>
      </p:sp>
      <p:sp>
        <p:nvSpPr>
          <p:cNvPr id="419" name="44-text-3">
            <a:extLst xmlns:a="http://schemas.openxmlformats.org/drawingml/2006/main">
              <a:ext uri="{FF2B5EF4-FFF2-40B4-BE49-F238E27FC236}">
                <a16:creationId xmlns:a16="http://schemas.microsoft.com/office/drawing/2014/main" id="{EDD93C0C-72DA-421E-93D7-304B589B2D55}"/>
              </a:ext>
            </a:extLst>
          </p:cNvPr>
          <p:cNvSpPr>
            <a:spLocks xmlns:a="http://schemas.openxmlformats.org/drawingml/2006/main"/>
          </p:cNvSpPr>
          <p:nvPr/>
        </p:nvSpPr>
        <p:spPr>
          <a:xfrm xmlns:a="http://schemas.openxmlformats.org/drawingml/2006/main">
            <a:off x="609600" y="1308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FFFCF5"/>
                </a:solidFill>
                <a:latin typeface="Helvetica"/>
                <a:ea typeface="Helvetica"/>
                <a:cs typeface="Helvetica"/>
              </a:defRPr>
            </a:pPr>
            <a:r>
              <a:rPr b="1">
                <a:solidFill>
                  <a:srgbClr val="FFFCF5"/>
                </a:solidFill>
                <a:latin typeface="Helvetica"/>
                <a:ea typeface="Helvetica"/>
                <a:cs typeface="Helvetica"/>
              </a:rPr>
              <a:t>Model Selection</a:t>
            </a:r>
          </a:p>
        </p:txBody>
      </p:sp>
      <p:sp>
        <p:nvSpPr>
          <p:cNvPr id="420" name="44-text-4">
            <a:extLst xmlns:a="http://schemas.openxmlformats.org/drawingml/2006/main">
              <a:ext uri="{FF2B5EF4-FFF2-40B4-BE49-F238E27FC236}">
                <a16:creationId xmlns:a16="http://schemas.microsoft.com/office/drawing/2014/main" id="{D0C34C73-2BBD-40DE-B109-2E1EE5B00428}"/>
              </a:ext>
            </a:extLst>
          </p:cNvPr>
          <p:cNvSpPr>
            <a:spLocks xmlns:a="http://schemas.openxmlformats.org/drawingml/2006/main"/>
          </p:cNvSpPr>
          <p:nvPr/>
        </p:nvSpPr>
        <p:spPr>
          <a:xfrm xmlns:a="http://schemas.openxmlformats.org/drawingml/2006/main">
            <a:off x="3759200" y="1308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Selecting or changing models without testing them on your task.</a:t>
            </a:r>
          </a:p>
        </p:txBody>
      </p:sp>
      <p:sp>
        <p:nvSpPr>
          <p:cNvPr id="421" name="44-shape-5">
            <a:extLst xmlns:a="http://schemas.openxmlformats.org/drawingml/2006/main">
              <a:ext uri="{FF2B5EF4-FFF2-40B4-BE49-F238E27FC236}">
                <a16:creationId xmlns:a16="http://schemas.microsoft.com/office/drawing/2014/main" id="{C2FC4BA2-9B96-4BC5-8CAD-3860259CAE12}"/>
              </a:ext>
            </a:extLst>
          </p:cNvPr>
          <p:cNvSpPr>
            <a:spLocks xmlns:a="http://schemas.openxmlformats.org/drawingml/2006/main"/>
          </p:cNvSpPr>
          <p:nvPr/>
        </p:nvSpPr>
        <p:spPr>
          <a:xfrm xmlns:a="http://schemas.openxmlformats.org/drawingml/2006/main">
            <a:off x="0" y="21082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2" name="44-shape-6">
            <a:extLst xmlns:a="http://schemas.openxmlformats.org/drawingml/2006/main">
              <a:ext uri="{FF2B5EF4-FFF2-40B4-BE49-F238E27FC236}">
                <a16:creationId xmlns:a16="http://schemas.microsoft.com/office/drawing/2014/main" id="{AB382478-0B04-492A-8706-CC70CEAD7EF3}"/>
              </a:ext>
            </a:extLst>
          </p:cNvPr>
          <p:cNvSpPr>
            <a:spLocks xmlns:a="http://schemas.openxmlformats.org/drawingml/2006/main"/>
          </p:cNvSpPr>
          <p:nvPr/>
        </p:nvSpPr>
        <p:spPr>
          <a:xfrm xmlns:a="http://schemas.openxmlformats.org/drawingml/2006/main">
            <a:off x="0" y="21082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3" name="44-text-7">
            <a:extLst xmlns:a="http://schemas.openxmlformats.org/drawingml/2006/main">
              <a:ext uri="{FF2B5EF4-FFF2-40B4-BE49-F238E27FC236}">
                <a16:creationId xmlns:a16="http://schemas.microsoft.com/office/drawing/2014/main" id="{B419C45D-0EE5-40AD-9481-8D66353F78B8}"/>
              </a:ext>
            </a:extLst>
          </p:cNvPr>
          <p:cNvSpPr>
            <a:spLocks xmlns:a="http://schemas.openxmlformats.org/drawingml/2006/main"/>
          </p:cNvSpPr>
          <p:nvPr/>
        </p:nvSpPr>
        <p:spPr>
          <a:xfrm xmlns:a="http://schemas.openxmlformats.org/drawingml/2006/main">
            <a:off x="609600" y="21463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Context</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Engineering</a:t>
            </a:r>
          </a:p>
        </p:txBody>
      </p:sp>
      <p:sp>
        <p:nvSpPr>
          <p:cNvPr id="424" name="44-text-8">
            <a:extLst xmlns:a="http://schemas.openxmlformats.org/drawingml/2006/main">
              <a:ext uri="{FF2B5EF4-FFF2-40B4-BE49-F238E27FC236}">
                <a16:creationId xmlns:a16="http://schemas.microsoft.com/office/drawing/2014/main" id="{DA2DDBDC-003A-4782-9884-356D3A4052D5}"/>
              </a:ext>
            </a:extLst>
          </p:cNvPr>
          <p:cNvSpPr>
            <a:spLocks xmlns:a="http://schemas.openxmlformats.org/drawingml/2006/main"/>
          </p:cNvSpPr>
          <p:nvPr/>
        </p:nvSpPr>
        <p:spPr>
          <a:xfrm xmlns:a="http://schemas.openxmlformats.org/drawingml/2006/main">
            <a:off x="3759200" y="21463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context without curating it.</a:t>
            </a:r>
          </a:p>
        </p:txBody>
      </p:sp>
      <p:sp>
        <p:nvSpPr>
          <p:cNvPr id="425" name="44-shape-9">
            <a:extLst xmlns:a="http://schemas.openxmlformats.org/drawingml/2006/main">
              <a:ext uri="{FF2B5EF4-FFF2-40B4-BE49-F238E27FC236}">
                <a16:creationId xmlns:a16="http://schemas.microsoft.com/office/drawing/2014/main" id="{D2360FC6-AC6D-4F7C-A6C1-ECB497B27189}"/>
              </a:ext>
            </a:extLst>
          </p:cNvPr>
          <p:cNvSpPr>
            <a:spLocks xmlns:a="http://schemas.openxmlformats.org/drawingml/2006/main"/>
          </p:cNvSpPr>
          <p:nvPr/>
        </p:nvSpPr>
        <p:spPr>
          <a:xfrm xmlns:a="http://schemas.openxmlformats.org/drawingml/2006/main">
            <a:off x="0" y="29464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26" name="44-shape-10">
            <a:extLst xmlns:a="http://schemas.openxmlformats.org/drawingml/2006/main">
              <a:ext uri="{FF2B5EF4-FFF2-40B4-BE49-F238E27FC236}">
                <a16:creationId xmlns:a16="http://schemas.microsoft.com/office/drawing/2014/main" id="{875068EF-DB5A-4F38-B6D4-BEE5A20269EF}"/>
              </a:ext>
            </a:extLst>
          </p:cNvPr>
          <p:cNvSpPr>
            <a:spLocks xmlns:a="http://schemas.openxmlformats.org/drawingml/2006/main"/>
          </p:cNvSpPr>
          <p:nvPr/>
        </p:nvSpPr>
        <p:spPr>
          <a:xfrm xmlns:a="http://schemas.openxmlformats.org/drawingml/2006/main">
            <a:off x="0" y="29464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27" name="44-text-11">
            <a:extLst xmlns:a="http://schemas.openxmlformats.org/drawingml/2006/main">
              <a:ext uri="{FF2B5EF4-FFF2-40B4-BE49-F238E27FC236}">
                <a16:creationId xmlns:a16="http://schemas.microsoft.com/office/drawing/2014/main" id="{32031BB6-9AE7-4310-B4A3-E5CA29776665}"/>
              </a:ext>
            </a:extLst>
          </p:cNvPr>
          <p:cNvSpPr>
            <a:spLocks xmlns:a="http://schemas.openxmlformats.org/drawingml/2006/main"/>
          </p:cNvSpPr>
          <p:nvPr/>
        </p:nvSpPr>
        <p:spPr>
          <a:xfrm xmlns:a="http://schemas.openxmlformats.org/drawingml/2006/main">
            <a:off x="609600" y="29845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Tools &amp;</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Extensibility</a:t>
            </a:r>
          </a:p>
        </p:txBody>
      </p:sp>
      <p:sp>
        <p:nvSpPr>
          <p:cNvPr id="428" name="44-text-12">
            <a:extLst xmlns:a="http://schemas.openxmlformats.org/drawingml/2006/main">
              <a:ext uri="{FF2B5EF4-FFF2-40B4-BE49-F238E27FC236}">
                <a16:creationId xmlns:a16="http://schemas.microsoft.com/office/drawing/2014/main" id="{1612FCE0-CE9A-4DB5-9673-ABD7472A9C92}"/>
              </a:ext>
            </a:extLst>
          </p:cNvPr>
          <p:cNvSpPr>
            <a:spLocks xmlns:a="http://schemas.openxmlformats.org/drawingml/2006/main"/>
          </p:cNvSpPr>
          <p:nvPr/>
        </p:nvSpPr>
        <p:spPr>
          <a:xfrm xmlns:a="http://schemas.openxmlformats.org/drawingml/2006/main">
            <a:off x="3759200" y="29845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Copying APIs without evaluating task fit.</a:t>
            </a:r>
          </a:p>
        </p:txBody>
      </p:sp>
      <p:sp>
        <p:nvSpPr>
          <p:cNvPr id="429" name="44-shape-13">
            <a:extLst xmlns:a="http://schemas.openxmlformats.org/drawingml/2006/main">
              <a:ext uri="{FF2B5EF4-FFF2-40B4-BE49-F238E27FC236}">
                <a16:creationId xmlns:a16="http://schemas.microsoft.com/office/drawing/2014/main" id="{3E3EFD30-753F-448B-8687-785948B86C68}"/>
              </a:ext>
            </a:extLst>
          </p:cNvPr>
          <p:cNvSpPr>
            <a:spLocks xmlns:a="http://schemas.openxmlformats.org/drawingml/2006/main"/>
          </p:cNvSpPr>
          <p:nvPr/>
        </p:nvSpPr>
        <p:spPr>
          <a:xfrm xmlns:a="http://schemas.openxmlformats.org/drawingml/2006/main">
            <a:off x="0" y="37846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0" name="44-shape-14">
            <a:extLst xmlns:a="http://schemas.openxmlformats.org/drawingml/2006/main">
              <a:ext uri="{FF2B5EF4-FFF2-40B4-BE49-F238E27FC236}">
                <a16:creationId xmlns:a16="http://schemas.microsoft.com/office/drawing/2014/main" id="{F5925B16-C84A-4415-BBBE-6AB5D1F0608C}"/>
              </a:ext>
            </a:extLst>
          </p:cNvPr>
          <p:cNvSpPr>
            <a:spLocks xmlns:a="http://schemas.openxmlformats.org/drawingml/2006/main"/>
          </p:cNvSpPr>
          <p:nvPr/>
        </p:nvSpPr>
        <p:spPr>
          <a:xfrm xmlns:a="http://schemas.openxmlformats.org/drawingml/2006/main">
            <a:off x="0" y="3784600"/>
            <a:ext cx="3454400" cy="762000"/>
          </a:xfrm>
          <a:prstGeom xmlns:a="http://schemas.openxmlformats.org/drawingml/2006/main" prst="rect">
            <a:avLst/>
          </a:prstGeom>
          <a:solidFill xmlns:a="http://schemas.openxmlformats.org/drawingml/2006/main">
            <a:srgbClr val="F948BE"/>
          </a:solidFill>
          <a:ln xmlns:a="http://schemas.openxmlformats.org/drawingml/2006/main" w="0">
            <a:noFill/>
          </a:ln>
        </p:spPr>
      </p:sp>
      <p:sp>
        <p:nvSpPr>
          <p:cNvPr id="431" name="44-text-15">
            <a:extLst xmlns:a="http://schemas.openxmlformats.org/drawingml/2006/main">
              <a:ext uri="{FF2B5EF4-FFF2-40B4-BE49-F238E27FC236}">
                <a16:creationId xmlns:a16="http://schemas.microsoft.com/office/drawing/2014/main" id="{DB3FC12E-B577-49E2-AAFC-66069E329267}"/>
              </a:ext>
            </a:extLst>
          </p:cNvPr>
          <p:cNvSpPr>
            <a:spLocks xmlns:a="http://schemas.openxmlformats.org/drawingml/2006/main"/>
          </p:cNvSpPr>
          <p:nvPr/>
        </p:nvSpPr>
        <p:spPr>
          <a:xfrm xmlns:a="http://schemas.openxmlformats.org/drawingml/2006/main">
            <a:off x="609600" y="38227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Orchestration</a:t>
            </a:r>
          </a:p>
        </p:txBody>
      </p:sp>
      <p:sp>
        <p:nvSpPr>
          <p:cNvPr id="432" name="44-text-16">
            <a:extLst xmlns:a="http://schemas.openxmlformats.org/drawingml/2006/main">
              <a:ext uri="{FF2B5EF4-FFF2-40B4-BE49-F238E27FC236}">
                <a16:creationId xmlns:a16="http://schemas.microsoft.com/office/drawing/2014/main" id="{B86F7286-C9B6-452D-9C5C-A9C366D50040}"/>
              </a:ext>
            </a:extLst>
          </p:cNvPr>
          <p:cNvSpPr>
            <a:spLocks xmlns:a="http://schemas.openxmlformats.org/drawingml/2006/main"/>
          </p:cNvSpPr>
          <p:nvPr/>
        </p:nvSpPr>
        <p:spPr>
          <a:xfrm xmlns:a="http://schemas.openxmlformats.org/drawingml/2006/main">
            <a:off x="3759200" y="38227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Adding multiple agents before trying a workflow.</a:t>
            </a:r>
          </a:p>
        </p:txBody>
      </p:sp>
      <p:sp>
        <p:nvSpPr>
          <p:cNvPr id="433" name="44-shape-17">
            <a:extLst xmlns:a="http://schemas.openxmlformats.org/drawingml/2006/main">
              <a:ext uri="{FF2B5EF4-FFF2-40B4-BE49-F238E27FC236}">
                <a16:creationId xmlns:a16="http://schemas.microsoft.com/office/drawing/2014/main" id="{062050BB-48B6-419F-9E24-624C9FDE3E1A}"/>
              </a:ext>
            </a:extLst>
          </p:cNvPr>
          <p:cNvSpPr>
            <a:spLocks xmlns:a="http://schemas.openxmlformats.org/drawingml/2006/main"/>
          </p:cNvSpPr>
          <p:nvPr/>
        </p:nvSpPr>
        <p:spPr>
          <a:xfrm xmlns:a="http://schemas.openxmlformats.org/drawingml/2006/main">
            <a:off x="0" y="46228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4" name="44-shape-18">
            <a:extLst xmlns:a="http://schemas.openxmlformats.org/drawingml/2006/main">
              <a:ext uri="{FF2B5EF4-FFF2-40B4-BE49-F238E27FC236}">
                <a16:creationId xmlns:a16="http://schemas.microsoft.com/office/drawing/2014/main" id="{9B6BA8A9-A0D5-4EAB-B394-A9386689C6A2}"/>
              </a:ext>
            </a:extLst>
          </p:cNvPr>
          <p:cNvSpPr>
            <a:spLocks xmlns:a="http://schemas.openxmlformats.org/drawingml/2006/main"/>
          </p:cNvSpPr>
          <p:nvPr/>
        </p:nvSpPr>
        <p:spPr>
          <a:xfrm xmlns:a="http://schemas.openxmlformats.org/drawingml/2006/main">
            <a:off x="0" y="4622800"/>
            <a:ext cx="3454400" cy="762000"/>
          </a:xfrm>
          <a:prstGeom xmlns:a="http://schemas.openxmlformats.org/drawingml/2006/main" prst="rect">
            <a:avLst/>
          </a:prstGeom>
          <a:solidFill xmlns:a="http://schemas.openxmlformats.org/drawingml/2006/main">
            <a:srgbClr val="01B66D"/>
          </a:solidFill>
          <a:ln xmlns:a="http://schemas.openxmlformats.org/drawingml/2006/main" w="0">
            <a:noFill/>
          </a:ln>
        </p:spPr>
      </p:sp>
      <p:sp>
        <p:nvSpPr>
          <p:cNvPr id="435" name="44-text-19">
            <a:extLst xmlns:a="http://schemas.openxmlformats.org/drawingml/2006/main">
              <a:ext uri="{FF2B5EF4-FFF2-40B4-BE49-F238E27FC236}">
                <a16:creationId xmlns:a16="http://schemas.microsoft.com/office/drawing/2014/main" id="{341E253B-7186-46E0-BFC0-E8298A4160BE}"/>
              </a:ext>
            </a:extLst>
          </p:cNvPr>
          <p:cNvSpPr>
            <a:spLocks xmlns:a="http://schemas.openxmlformats.org/drawingml/2006/main"/>
          </p:cNvSpPr>
          <p:nvPr/>
        </p:nvSpPr>
        <p:spPr>
          <a:xfrm xmlns:a="http://schemas.openxmlformats.org/drawingml/2006/main">
            <a:off x="609600" y="46609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Verification</a:t>
            </a:r>
          </a:p>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&amp; Evals</a:t>
            </a:r>
          </a:p>
        </p:txBody>
      </p:sp>
      <p:sp>
        <p:nvSpPr>
          <p:cNvPr id="436" name="44-text-20">
            <a:extLst xmlns:a="http://schemas.openxmlformats.org/drawingml/2006/main">
              <a:ext uri="{FF2B5EF4-FFF2-40B4-BE49-F238E27FC236}">
                <a16:creationId xmlns:a16="http://schemas.microsoft.com/office/drawing/2014/main" id="{2DA4F081-298F-4EF6-8A5F-15F246F4124B}"/>
              </a:ext>
            </a:extLst>
          </p:cNvPr>
          <p:cNvSpPr>
            <a:spLocks xmlns:a="http://schemas.openxmlformats.org/drawingml/2006/main"/>
          </p:cNvSpPr>
          <p:nvPr/>
        </p:nvSpPr>
        <p:spPr>
          <a:xfrm xmlns:a="http://schemas.openxmlformats.org/drawingml/2006/main">
            <a:off x="3759200" y="46609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Using a generic judge without error analysis or result checks.</a:t>
            </a:r>
          </a:p>
        </p:txBody>
      </p:sp>
      <p:sp>
        <p:nvSpPr>
          <p:cNvPr id="437" name="44-shape-21">
            <a:extLst xmlns:a="http://schemas.openxmlformats.org/drawingml/2006/main">
              <a:ext uri="{FF2B5EF4-FFF2-40B4-BE49-F238E27FC236}">
                <a16:creationId xmlns:a16="http://schemas.microsoft.com/office/drawing/2014/main" id="{58AA98A7-628F-4DA8-AA5B-FD42F8EA8075}"/>
              </a:ext>
            </a:extLst>
          </p:cNvPr>
          <p:cNvSpPr>
            <a:spLocks xmlns:a="http://schemas.openxmlformats.org/drawingml/2006/main"/>
          </p:cNvSpPr>
          <p:nvPr/>
        </p:nvSpPr>
        <p:spPr>
          <a:xfrm xmlns:a="http://schemas.openxmlformats.org/drawingml/2006/main">
            <a:off x="0" y="5461000"/>
            <a:ext cx="12192000" cy="762000"/>
          </a:xfrm>
          <a:prstGeom xmlns:a="http://schemas.openxmlformats.org/drawingml/2006/main" prst="rect">
            <a:avLst/>
          </a:prstGeom>
          <a:solidFill xmlns:a="http://schemas.openxmlformats.org/drawingml/2006/main">
            <a:srgbClr val="303236"/>
          </a:solidFill>
          <a:ln xmlns:a="http://schemas.openxmlformats.org/drawingml/2006/main" w="0">
            <a:noFill/>
          </a:ln>
        </p:spPr>
      </p:sp>
      <p:sp>
        <p:nvSpPr>
          <p:cNvPr id="438" name="44-shape-22">
            <a:extLst xmlns:a="http://schemas.openxmlformats.org/drawingml/2006/main">
              <a:ext uri="{FF2B5EF4-FFF2-40B4-BE49-F238E27FC236}">
                <a16:creationId xmlns:a16="http://schemas.microsoft.com/office/drawing/2014/main" id="{06C5B43A-3D91-4C34-BF24-E16C6FFC2636}"/>
              </a:ext>
            </a:extLst>
          </p:cNvPr>
          <p:cNvSpPr>
            <a:spLocks xmlns:a="http://schemas.openxmlformats.org/drawingml/2006/main"/>
          </p:cNvSpPr>
          <p:nvPr/>
        </p:nvSpPr>
        <p:spPr>
          <a:xfrm xmlns:a="http://schemas.openxmlformats.org/drawingml/2006/main">
            <a:off x="0" y="5461000"/>
            <a:ext cx="3454400" cy="762000"/>
          </a:xfrm>
          <a:prstGeom xmlns:a="http://schemas.openxmlformats.org/drawingml/2006/main" prst="rect">
            <a:avLst/>
          </a:prstGeom>
          <a:solidFill xmlns:a="http://schemas.openxmlformats.org/drawingml/2006/main">
            <a:srgbClr val="FDAD00"/>
          </a:solidFill>
          <a:ln xmlns:a="http://schemas.openxmlformats.org/drawingml/2006/main" w="0">
            <a:noFill/>
          </a:ln>
        </p:spPr>
      </p:sp>
      <p:sp>
        <p:nvSpPr>
          <p:cNvPr id="439" name="44-text-23">
            <a:extLst xmlns:a="http://schemas.openxmlformats.org/drawingml/2006/main">
              <a:ext uri="{FF2B5EF4-FFF2-40B4-BE49-F238E27FC236}">
                <a16:creationId xmlns:a16="http://schemas.microsoft.com/office/drawing/2014/main" id="{6127EFDC-2BA2-4289-9AEB-CD8B2828EEBC}"/>
              </a:ext>
            </a:extLst>
          </p:cNvPr>
          <p:cNvSpPr>
            <a:spLocks xmlns:a="http://schemas.openxmlformats.org/drawingml/2006/main"/>
          </p:cNvSpPr>
          <p:nvPr/>
        </p:nvSpPr>
        <p:spPr>
          <a:xfrm xmlns:a="http://schemas.openxmlformats.org/drawingml/2006/main">
            <a:off x="609600" y="5499100"/>
            <a:ext cx="26416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1">
                <a:solidFill>
                  <a:srgbClr val="14161C"/>
                </a:solidFill>
                <a:latin typeface="Helvetica"/>
                <a:ea typeface="Helvetica"/>
                <a:cs typeface="Helvetica"/>
              </a:defRPr>
            </a:pPr>
            <a:r>
              <a:rPr b="1">
                <a:solidFill>
                  <a:srgbClr val="14161C"/>
                </a:solidFill>
                <a:latin typeface="Helvetica"/>
                <a:ea typeface="Helvetica"/>
                <a:cs typeface="Helvetica"/>
              </a:rPr>
              <a:t>AgentOps</a:t>
            </a:r>
          </a:p>
        </p:txBody>
      </p:sp>
      <p:sp>
        <p:nvSpPr>
          <p:cNvPr id="440" name="44-text-24">
            <a:extLst xmlns:a="http://schemas.openxmlformats.org/drawingml/2006/main">
              <a:ext uri="{FF2B5EF4-FFF2-40B4-BE49-F238E27FC236}">
                <a16:creationId xmlns:a16="http://schemas.microsoft.com/office/drawing/2014/main" id="{36755AC7-7BF5-4A9A-A1E4-B7085F03DF6C}"/>
              </a:ext>
            </a:extLst>
          </p:cNvPr>
          <p:cNvSpPr>
            <a:spLocks xmlns:a="http://schemas.openxmlformats.org/drawingml/2006/main"/>
          </p:cNvSpPr>
          <p:nvPr/>
        </p:nvSpPr>
        <p:spPr>
          <a:xfrm xmlns:a="http://schemas.openxmlformats.org/drawingml/2006/main">
            <a:off x="3759200" y="5499100"/>
            <a:ext cx="7823200"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ctr">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Combining private data, untrusted content, and outbound access</a:t>
            </a:r>
          </a:p>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without reviewing the risk.</a:t>
            </a:r>
          </a:p>
        </p:txBody>
      </p:sp>
      <p:sp>
        <p:nvSpPr>
          <p:cNvPr id="441" name="narrative-number">
            <a:extLst xmlns:a="http://schemas.openxmlformats.org/drawingml/2006/main">
              <a:ext uri="{FF2B5EF4-FFF2-40B4-BE49-F238E27FC236}">
                <a16:creationId xmlns:a16="http://schemas.microsoft.com/office/drawing/2014/main" id="{D46542A3-E31E-4018-A057-C162EF96CA13}"/>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44</a:t>
            </a:r>
          </a:p>
        </p:txBody>
      </p:sp>
    </p:spTree>
    <p:extLst>
      <p:ext uri="{BB962C8B-B14F-4D97-AF65-F5344CB8AC3E}">
        <p14:creationId xmlns:p14="http://schemas.microsoft.com/office/powerpoint/2010/main" val="3635970570"/>
      </p:ext>
    </p:extLst>
  </p:cSld>
</p:sld>
</file>

<file path=ppt/slides/slide51.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42" name="!!area-name">
            <a:extLst xmlns:a="http://schemas.openxmlformats.org/drawingml/2006/main">
              <a:ext uri="{FF2B5EF4-FFF2-40B4-BE49-F238E27FC236}">
                <a16:creationId xmlns:a16="http://schemas.microsoft.com/office/drawing/2014/main" id="{FD797EF5-E92F-40D9-8F36-391061F505B2}"/>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0" name="mini-map"/>
          <p:cNvPicPr>
            <a:picLocks xmlns:a="http://schemas.openxmlformats.org/drawingml/2006/main" noChangeAspect="1"/>
          </p:cNvPicPr>
          <p:nvPr/>
        </p:nvPicPr>
        <p:blipFill>
          <a:blip xmlns:r="http://schemas.openxmlformats.org/officeDocument/2006/relationships" xmlns:a="http://schemas.openxmlformats.org/drawingml/2006/main" r:embed="R0e06c20e1a254a8e"/>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44" name="slide-title">
            <a:extLst xmlns:a="http://schemas.openxmlformats.org/drawingml/2006/main">
              <a:ext uri="{FF2B5EF4-FFF2-40B4-BE49-F238E27FC236}">
                <a16:creationId xmlns:a16="http://schemas.microsoft.com/office/drawing/2014/main" id="{8B3A8E54-61A0-44C4-AAD8-1260FA2DBC82}"/>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45" name="header-divider">
            <a:extLst xmlns:a="http://schemas.openxmlformats.org/drawingml/2006/main">
              <a:ext uri="{FF2B5EF4-FFF2-40B4-BE49-F238E27FC236}">
                <a16:creationId xmlns:a16="http://schemas.microsoft.com/office/drawing/2014/main" id="{682AFD31-AF67-41D2-AF2E-5BB184F76464}"/>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46" name="45-shape-1">
            <a:extLst xmlns:a="http://schemas.openxmlformats.org/drawingml/2006/main">
              <a:ext uri="{FF2B5EF4-FFF2-40B4-BE49-F238E27FC236}">
                <a16:creationId xmlns:a16="http://schemas.microsoft.com/office/drawing/2014/main" id="{E8FF4BCE-C2CF-4658-B967-ACAD42C5AC68}"/>
              </a:ext>
            </a:extLst>
          </p:cNvPr>
          <p:cNvSpPr>
            <a:spLocks xmlns:a="http://schemas.openxmlformats.org/drawingml/2006/main"/>
          </p:cNvSpPr>
          <p:nvPr/>
        </p:nvSpPr>
        <p:spPr>
          <a:xfrm xmlns:a="http://schemas.openxmlformats.org/drawingml/2006/main">
            <a:off x="609600" y="24384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47" name="45-text-2">
            <a:extLst xmlns:a="http://schemas.openxmlformats.org/drawingml/2006/main">
              <a:ext uri="{FF2B5EF4-FFF2-40B4-BE49-F238E27FC236}">
                <a16:creationId xmlns:a16="http://schemas.microsoft.com/office/drawing/2014/main" id="{898CCFBC-70ED-4BF5-BAC7-DEE1CFF0C726}"/>
              </a:ext>
            </a:extLst>
          </p:cNvPr>
          <p:cNvSpPr>
            <a:spLocks xmlns:a="http://schemas.openxmlformats.org/drawingml/2006/main"/>
          </p:cNvSpPr>
          <p:nvPr/>
        </p:nvSpPr>
        <p:spPr>
          <a:xfrm xmlns:a="http://schemas.openxmlformats.org/drawingml/2006/main">
            <a:off x="812800" y="24765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1</a:t>
            </a:r>
          </a:p>
        </p:txBody>
      </p:sp>
      <p:sp>
        <p:nvSpPr>
          <p:cNvPr id="448" name="45-text-3">
            <a:extLst xmlns:a="http://schemas.openxmlformats.org/drawingml/2006/main">
              <a:ext uri="{FF2B5EF4-FFF2-40B4-BE49-F238E27FC236}">
                <a16:creationId xmlns:a16="http://schemas.microsoft.com/office/drawing/2014/main" id="{D1226584-02A7-4973-BE56-6877E32E08BA}"/>
              </a:ext>
            </a:extLst>
          </p:cNvPr>
          <p:cNvSpPr>
            <a:spLocks xmlns:a="http://schemas.openxmlformats.org/drawingml/2006/main"/>
          </p:cNvSpPr>
          <p:nvPr/>
        </p:nvSpPr>
        <p:spPr>
          <a:xfrm xmlns:a="http://schemas.openxmlformats.org/drawingml/2006/main">
            <a:off x="1727200" y="25654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Choose one narrow task.</a:t>
            </a:r>
          </a:p>
        </p:txBody>
      </p:sp>
      <p:sp>
        <p:nvSpPr>
          <p:cNvPr id="449" name="45-shape-4">
            <a:extLst xmlns:a="http://schemas.openxmlformats.org/drawingml/2006/main">
              <a:ext uri="{FF2B5EF4-FFF2-40B4-BE49-F238E27FC236}">
                <a16:creationId xmlns:a16="http://schemas.microsoft.com/office/drawing/2014/main" id="{A3560FD0-743D-49AC-A71F-159E5E63CA4F}"/>
              </a:ext>
            </a:extLst>
          </p:cNvPr>
          <p:cNvSpPr>
            <a:spLocks xmlns:a="http://schemas.openxmlformats.org/drawingml/2006/main"/>
          </p:cNvSpPr>
          <p:nvPr/>
        </p:nvSpPr>
        <p:spPr>
          <a:xfrm xmlns:a="http://schemas.openxmlformats.org/drawingml/2006/main">
            <a:off x="609600" y="32893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0" name="45-text-5">
            <a:extLst xmlns:a="http://schemas.openxmlformats.org/drawingml/2006/main">
              <a:ext uri="{FF2B5EF4-FFF2-40B4-BE49-F238E27FC236}">
                <a16:creationId xmlns:a16="http://schemas.microsoft.com/office/drawing/2014/main" id="{1EC2108A-6CF4-4982-BD02-652DF2B478C3}"/>
              </a:ext>
            </a:extLst>
          </p:cNvPr>
          <p:cNvSpPr>
            <a:spLocks xmlns:a="http://schemas.openxmlformats.org/drawingml/2006/main"/>
          </p:cNvSpPr>
          <p:nvPr/>
        </p:nvSpPr>
        <p:spPr>
          <a:xfrm xmlns:a="http://schemas.openxmlformats.org/drawingml/2006/main">
            <a:off x="812800" y="33274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2</a:t>
            </a:r>
          </a:p>
        </p:txBody>
      </p:sp>
      <p:sp>
        <p:nvSpPr>
          <p:cNvPr id="451" name="45-text-6">
            <a:extLst xmlns:a="http://schemas.openxmlformats.org/drawingml/2006/main">
              <a:ext uri="{FF2B5EF4-FFF2-40B4-BE49-F238E27FC236}">
                <a16:creationId xmlns:a16="http://schemas.microsoft.com/office/drawing/2014/main" id="{D902D1CB-8626-4667-BB7E-BDD82F705C28}"/>
              </a:ext>
            </a:extLst>
          </p:cNvPr>
          <p:cNvSpPr>
            <a:spLocks xmlns:a="http://schemas.openxmlformats.org/drawingml/2006/main"/>
          </p:cNvSpPr>
          <p:nvPr/>
        </p:nvSpPr>
        <p:spPr>
          <a:xfrm xmlns:a="http://schemas.openxmlformats.org/drawingml/2006/main">
            <a:off x="1727200" y="34163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Start with one model call.</a:t>
            </a:r>
          </a:p>
        </p:txBody>
      </p:sp>
      <p:sp>
        <p:nvSpPr>
          <p:cNvPr id="452" name="45-shape-7">
            <a:extLst xmlns:a="http://schemas.openxmlformats.org/drawingml/2006/main">
              <a:ext uri="{FF2B5EF4-FFF2-40B4-BE49-F238E27FC236}">
                <a16:creationId xmlns:a16="http://schemas.microsoft.com/office/drawing/2014/main" id="{EDB5029B-EE46-411C-B497-E0E4C6B25A4C}"/>
              </a:ext>
            </a:extLst>
          </p:cNvPr>
          <p:cNvSpPr>
            <a:spLocks xmlns:a="http://schemas.openxmlformats.org/drawingml/2006/main"/>
          </p:cNvSpPr>
          <p:nvPr/>
        </p:nvSpPr>
        <p:spPr>
          <a:xfrm xmlns:a="http://schemas.openxmlformats.org/drawingml/2006/main">
            <a:off x="609600" y="41402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3" name="45-text-8">
            <a:extLst xmlns:a="http://schemas.openxmlformats.org/drawingml/2006/main">
              <a:ext uri="{FF2B5EF4-FFF2-40B4-BE49-F238E27FC236}">
                <a16:creationId xmlns:a16="http://schemas.microsoft.com/office/drawing/2014/main" id="{885E8A3E-B3D4-48A0-BE05-B4190EC287A7}"/>
              </a:ext>
            </a:extLst>
          </p:cNvPr>
          <p:cNvSpPr>
            <a:spLocks xmlns:a="http://schemas.openxmlformats.org/drawingml/2006/main"/>
          </p:cNvSpPr>
          <p:nvPr/>
        </p:nvSpPr>
        <p:spPr>
          <a:xfrm xmlns:a="http://schemas.openxmlformats.org/drawingml/2006/main">
            <a:off x="812800" y="41783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3</a:t>
            </a:r>
          </a:p>
        </p:txBody>
      </p:sp>
      <p:sp>
        <p:nvSpPr>
          <p:cNvPr id="454" name="45-text-9">
            <a:extLst xmlns:a="http://schemas.openxmlformats.org/drawingml/2006/main">
              <a:ext uri="{FF2B5EF4-FFF2-40B4-BE49-F238E27FC236}">
                <a16:creationId xmlns:a16="http://schemas.microsoft.com/office/drawing/2014/main" id="{32E27B66-FFD3-4291-ACB7-A10EA7EB4207}"/>
              </a:ext>
            </a:extLst>
          </p:cNvPr>
          <p:cNvSpPr>
            <a:spLocks xmlns:a="http://schemas.openxmlformats.org/drawingml/2006/main"/>
          </p:cNvSpPr>
          <p:nvPr/>
        </p:nvSpPr>
        <p:spPr>
          <a:xfrm xmlns:a="http://schemas.openxmlformats.org/drawingml/2006/main">
            <a:off x="1727200" y="42672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Turn failures into checks.</a:t>
            </a:r>
          </a:p>
        </p:txBody>
      </p:sp>
      <p:sp>
        <p:nvSpPr>
          <p:cNvPr id="455" name="45-shape-10">
            <a:extLst xmlns:a="http://schemas.openxmlformats.org/drawingml/2006/main">
              <a:ext uri="{FF2B5EF4-FFF2-40B4-BE49-F238E27FC236}">
                <a16:creationId xmlns:a16="http://schemas.microsoft.com/office/drawing/2014/main" id="{E10055C7-692C-4B0C-966B-F58909F1B89D}"/>
              </a:ext>
            </a:extLst>
          </p:cNvPr>
          <p:cNvSpPr>
            <a:spLocks xmlns:a="http://schemas.openxmlformats.org/drawingml/2006/main"/>
          </p:cNvSpPr>
          <p:nvPr/>
        </p:nvSpPr>
        <p:spPr>
          <a:xfrm xmlns:a="http://schemas.openxmlformats.org/drawingml/2006/main">
            <a:off x="609600" y="4991100"/>
            <a:ext cx="10972800" cy="749300"/>
          </a:xfrm>
          <a:prstGeom xmlns:a="http://schemas.openxmlformats.org/drawingml/2006/main" prst="roundRect">
            <a:avLst>
              <a:gd name="adj" fmla="val 13559"/>
            </a:avLst>
          </a:prstGeom>
          <a:solidFill xmlns:a="http://schemas.openxmlformats.org/drawingml/2006/main">
            <a:srgbClr val="303236"/>
          </a:solidFill>
          <a:ln xmlns:a="http://schemas.openxmlformats.org/drawingml/2006/main" w="0">
            <a:noFill/>
          </a:ln>
        </p:spPr>
      </p:sp>
      <p:sp>
        <p:nvSpPr>
          <p:cNvPr id="456" name="45-text-11">
            <a:extLst xmlns:a="http://schemas.openxmlformats.org/drawingml/2006/main">
              <a:ext uri="{FF2B5EF4-FFF2-40B4-BE49-F238E27FC236}">
                <a16:creationId xmlns:a16="http://schemas.microsoft.com/office/drawing/2014/main" id="{FF9C1BAD-1F0C-47F9-8700-80B5616F514F}"/>
              </a:ext>
            </a:extLst>
          </p:cNvPr>
          <p:cNvSpPr>
            <a:spLocks xmlns:a="http://schemas.openxmlformats.org/drawingml/2006/main"/>
          </p:cNvSpPr>
          <p:nvPr/>
        </p:nvSpPr>
        <p:spPr>
          <a:xfrm xmlns:a="http://schemas.openxmlformats.org/drawingml/2006/main">
            <a:off x="812800" y="5029200"/>
            <a:ext cx="812800" cy="673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5200"/>
              </a:lnSpc>
              <a:defRPr sz="4400" b="0">
                <a:solidFill>
                  <a:srgbClr val="ADACA9"/>
                </a:solidFill>
                <a:latin typeface="Helvetica"/>
                <a:ea typeface="Helvetica"/>
                <a:cs typeface="Helvetica"/>
              </a:defRPr>
            </a:pPr>
            <a:r>
              <a:rPr b="0">
                <a:solidFill>
                  <a:srgbClr val="ADACA9"/>
                </a:solidFill>
                <a:latin typeface="Helvetica"/>
                <a:ea typeface="Helvetica"/>
                <a:cs typeface="Helvetica"/>
              </a:rPr>
              <a:t>4</a:t>
            </a:r>
          </a:p>
        </p:txBody>
      </p:sp>
      <p:sp>
        <p:nvSpPr>
          <p:cNvPr id="457" name="45-text-12">
            <a:extLst xmlns:a="http://schemas.openxmlformats.org/drawingml/2006/main">
              <a:ext uri="{FF2B5EF4-FFF2-40B4-BE49-F238E27FC236}">
                <a16:creationId xmlns:a16="http://schemas.microsoft.com/office/drawing/2014/main" id="{13DFECB4-0F95-4784-8540-D0559656FA21}"/>
              </a:ext>
            </a:extLst>
          </p:cNvPr>
          <p:cNvSpPr>
            <a:spLocks xmlns:a="http://schemas.openxmlformats.org/drawingml/2006/main"/>
          </p:cNvSpPr>
          <p:nvPr/>
        </p:nvSpPr>
        <p:spPr>
          <a:xfrm xmlns:a="http://schemas.openxmlformats.org/drawingml/2006/main">
            <a:off x="1727200" y="5118100"/>
            <a:ext cx="96012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Add autonomy when evals justify it.</a:t>
            </a:r>
          </a:p>
        </p:txBody>
      </p:sp>
      <p:sp>
        <p:nvSpPr>
          <p:cNvPr id="458" name="narrative-number">
            <a:extLst xmlns:a="http://schemas.openxmlformats.org/drawingml/2006/main">
              <a:ext uri="{FF2B5EF4-FFF2-40B4-BE49-F238E27FC236}">
                <a16:creationId xmlns:a16="http://schemas.microsoft.com/office/drawing/2014/main" id="{DC8871CA-3449-4BEB-8F01-9CB3CB8276C5}"/>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3112482489"/>
      </p:ext>
    </p:extLst>
  </p:cSld>
</p:sld>
</file>

<file path=ppt/slides/slide52.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59" name="!!area-name">
            <a:extLst xmlns:a="http://schemas.openxmlformats.org/drawingml/2006/main">
              <a:ext uri="{FF2B5EF4-FFF2-40B4-BE49-F238E27FC236}">
                <a16:creationId xmlns:a16="http://schemas.microsoft.com/office/drawing/2014/main" id="{30235CB3-5B94-495F-BD70-5A72E3D1E2BB}"/>
              </a:ext>
            </a:extLst>
          </p:cNvPr>
          <p:cNvSpPr>
            <a:spLocks xmlns:a="http://schemas.openxmlformats.org/drawingml/2006/main"/>
          </p:cNvSpPr>
          <p:nvPr/>
        </p:nvSpPr>
        <p:spPr>
          <a:xfrm xmlns:a="http://schemas.openxmlformats.org/drawingml/2006/main">
            <a:off x="609600" y="457200"/>
            <a:ext cx="90932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1">
                <a:solidFill>
                  <a:srgbClr val="01B66D"/>
                </a:solidFill>
                <a:latin typeface="Helvetica"/>
                <a:ea typeface="Helvetica"/>
                <a:cs typeface="Helvetica"/>
              </a:rPr>
              <a:t>The transition</a:t>
            </a:r>
            <a:r>
              <a:rPr b="0">
                <a:solidFill>
                  <a:srgbClr val="ADACA9"/>
                </a:solidFill>
                <a:latin typeface="Helvetica"/>
                <a:ea typeface="Helvetica"/>
                <a:cs typeface="Helvetica"/>
              </a:rPr>
              <a:t> · The roadmap</a:t>
            </a:r>
          </a:p>
        </p:txBody>
      </p:sp>
      <p:pic>
        <p:nvPicPr>
          <p:cNvPr id="469" name="mini-map"/>
          <p:cNvPicPr>
            <a:picLocks xmlns:a="http://schemas.openxmlformats.org/drawingml/2006/main" noChangeAspect="1"/>
          </p:cNvPicPr>
          <p:nvPr/>
        </p:nvPicPr>
        <p:blipFill>
          <a:blip xmlns:r="http://schemas.openxmlformats.org/officeDocument/2006/relationships" xmlns:a="http://schemas.openxmlformats.org/drawingml/2006/main" r:embed="Rec94be37974c4061"/>
          <a:stretch xmlns:a="http://schemas.openxmlformats.org/drawingml/2006/main"/>
        </p:blipFill>
        <p:spPr>
          <a:xfrm xmlns:a="http://schemas.openxmlformats.org/drawingml/2006/main">
            <a:off x="9550400" y="457200"/>
            <a:ext cx="2032000" cy="1143000"/>
          </a:xfrm>
          <a:prstGeom xmlns:a="http://schemas.openxmlformats.org/drawingml/2006/main" prst="rect">
            <a:avLst/>
          </a:prstGeom>
        </p:spPr>
      </p:pic>
      <p:sp>
        <p:nvSpPr>
          <p:cNvPr id="461" name="slide-title">
            <a:extLst xmlns:a="http://schemas.openxmlformats.org/drawingml/2006/main">
              <a:ext uri="{FF2B5EF4-FFF2-40B4-BE49-F238E27FC236}">
                <a16:creationId xmlns:a16="http://schemas.microsoft.com/office/drawing/2014/main" id="{7692DDBF-7FBB-4DD0-B936-536AA66A332D}"/>
              </a:ext>
            </a:extLst>
          </p:cNvPr>
          <p:cNvSpPr>
            <a:spLocks xmlns:a="http://schemas.openxmlformats.org/drawingml/2006/main"/>
          </p:cNvSpPr>
          <p:nvPr/>
        </p:nvSpPr>
        <p:spPr>
          <a:xfrm xmlns:a="http://schemas.openxmlformats.org/drawingml/2006/main">
            <a:off x="609600" y="863600"/>
            <a:ext cx="8788400" cy="965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The roadmap</a:t>
            </a:r>
          </a:p>
        </p:txBody>
      </p:sp>
      <p:sp>
        <p:nvSpPr>
          <p:cNvPr id="462" name="header-divider">
            <a:extLst xmlns:a="http://schemas.openxmlformats.org/drawingml/2006/main">
              <a:ext uri="{FF2B5EF4-FFF2-40B4-BE49-F238E27FC236}">
                <a16:creationId xmlns:a16="http://schemas.microsoft.com/office/drawing/2014/main" id="{2CB065E2-0372-4A71-B5DD-28DACE8D1A78}"/>
              </a:ext>
            </a:extLst>
          </p:cNvPr>
          <p:cNvSpPr>
            <a:spLocks xmlns:a="http://schemas.openxmlformats.org/drawingml/2006/main"/>
          </p:cNvSpPr>
          <p:nvPr/>
        </p:nvSpPr>
        <p:spPr>
          <a:xfrm xmlns:a="http://schemas.openxmlformats.org/drawingml/2006/main">
            <a:off x="609600" y="21336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63" name="45-text-13">
            <a:extLst xmlns:a="http://schemas.openxmlformats.org/drawingml/2006/main">
              <a:ext uri="{FF2B5EF4-FFF2-40B4-BE49-F238E27FC236}">
                <a16:creationId xmlns:a16="http://schemas.microsoft.com/office/drawing/2014/main" id="{3B8EE6A1-1F6C-49BF-B53A-888A05D1A63E}"/>
              </a:ext>
            </a:extLst>
          </p:cNvPr>
          <p:cNvSpPr>
            <a:spLocks xmlns:a="http://schemas.openxmlformats.org/drawingml/2006/main"/>
          </p:cNvSpPr>
          <p:nvPr/>
        </p:nvSpPr>
        <p:spPr>
          <a:xfrm xmlns:a="http://schemas.openxmlformats.org/drawingml/2006/main">
            <a:off x="609600" y="2438400"/>
            <a:ext cx="10972800" cy="571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Review 20 to 50 outputs for one task.</a:t>
            </a:r>
          </a:p>
        </p:txBody>
      </p:sp>
      <p:sp>
        <p:nvSpPr>
          <p:cNvPr id="464" name="45-text-14">
            <a:extLst xmlns:a="http://schemas.openxmlformats.org/drawingml/2006/main">
              <a:ext uri="{FF2B5EF4-FFF2-40B4-BE49-F238E27FC236}">
                <a16:creationId xmlns:a16="http://schemas.microsoft.com/office/drawing/2014/main" id="{82C4C4CD-1A6A-4FCE-B818-2D2E278B8DAF}"/>
              </a:ext>
            </a:extLst>
          </p:cNvPr>
          <p:cNvSpPr>
            <a:spLocks xmlns:a="http://schemas.openxmlformats.org/drawingml/2006/main"/>
          </p:cNvSpPr>
          <p:nvPr/>
        </p:nvSpPr>
        <p:spPr>
          <a:xfrm xmlns:a="http://schemas.openxmlformats.org/drawingml/2006/main">
            <a:off x="609600" y="3251200"/>
            <a:ext cx="1097280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Record the input, observed behavior,</a:t>
            </a:r>
          </a:p>
          <a:p xmlns:a="http://schemas.openxmlformats.org/drawingml/2006/main">
            <a:pPr algn="l">
              <a:lnSpc>
                <a:spcPct val="125000"/>
              </a:lnSpc>
              <a:defRPr sz="2400" b="0">
                <a:solidFill>
                  <a:srgbClr val="FFFCF5"/>
                </a:solidFill>
                <a:latin typeface="Helvetica"/>
                <a:ea typeface="Helvetica"/>
                <a:cs typeface="Helvetica"/>
              </a:defRPr>
            </a:pPr>
            <a:r>
              <a:rPr b="0">
                <a:solidFill>
                  <a:srgbClr val="FFFCF5"/>
                </a:solidFill>
                <a:latin typeface="Helvetica"/>
                <a:ea typeface="Helvetica"/>
                <a:cs typeface="Helvetica"/>
              </a:rPr>
              <a:t>expected behavior, and check.</a:t>
            </a:r>
          </a:p>
        </p:txBody>
      </p:sp>
      <p:sp>
        <p:nvSpPr>
          <p:cNvPr id="465" name="45-text-15">
            <a:extLst xmlns:a="http://schemas.openxmlformats.org/drawingml/2006/main">
              <a:ext uri="{FF2B5EF4-FFF2-40B4-BE49-F238E27FC236}">
                <a16:creationId xmlns:a16="http://schemas.microsoft.com/office/drawing/2014/main" id="{CCF4BE00-7EF9-413E-BBCD-16B55E3A0D07}"/>
              </a:ext>
            </a:extLst>
          </p:cNvPr>
          <p:cNvSpPr>
            <a:spLocks xmlns:a="http://schemas.openxmlformats.org/drawingml/2006/main"/>
          </p:cNvSpPr>
          <p:nvPr/>
        </p:nvSpPr>
        <p:spPr>
          <a:xfrm xmlns:a="http://schemas.openxmlformats.org/drawingml/2006/main">
            <a:off x="609600" y="4343400"/>
            <a:ext cx="10972800" cy="254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ts val="2000"/>
              </a:lnSpc>
              <a:defRPr sz="1600" b="0">
                <a:solidFill>
                  <a:srgbClr val="ADACA9"/>
                </a:solidFill>
                <a:latin typeface="Helvetica"/>
                <a:ea typeface="Helvetica"/>
                <a:cs typeface="Helvetica"/>
              </a:defRPr>
            </a:pPr>
            <a:r>
              <a:rPr b="0">
                <a:solidFill>
                  <a:srgbClr val="ADACA9"/>
                </a:solidFill>
                <a:latin typeface="Helvetica"/>
                <a:ea typeface="Helvetica"/>
                <a:cs typeface="Helvetica"/>
              </a:rPr>
              <a:t>Illustrative FRB example. Use the same record for your task.</a:t>
            </a:r>
          </a:p>
        </p:txBody>
      </p:sp>
      <p:graphicFrame>
        <p:nvGraphicFramePr>
          <p:cNvPr id="475" name="45-table-16"/>
          <p:cNvGraphicFramePr/>
          <p:nvPr/>
        </p:nvGraphicFramePr>
        <p:xfrm>
          <a:off xmlns:a="http://schemas.openxmlformats.org/drawingml/2006/main" x="609600" y="4749800"/>
          <a:ext xmlns:a="http://schemas.openxmlformats.org/drawingml/2006/main" cx="10972800" cy="1371600"/>
        </p:xfrm>
        <a:graphic xmlns:a="http://schemas.openxmlformats.org/drawingml/2006/main">
          <a:graphicData uri="http://schemas.openxmlformats.org/drawingml/2006/table">
            <a:tbl>
              <a:tblPr firstRow="0" firstCol="0" lastCol="0" bandRow="0" bandCol="0"/>
              <a:tblGrid>
                <a:gridCol w="2743200"/>
                <a:gridCol w="2743200"/>
                <a:gridCol w="2743200"/>
                <a:gridCol w="2743200"/>
              </a:tblGrid>
              <a:tr h="406400">
                <a:tc>
                  <a:txBody>
                    <a:bodyPr>
                      <a:noAutofit/>
                    </a:bodyPr>
                    <a:lstStyle/>
                    <a:p>
                      <a:pPr>
                        <a:lnSpc>
                          <a:spcPct val="125000"/>
                        </a:lnSpc>
                        <a:buNone/>
                      </a:pPr>
                      <a:r>
                        <a:rPr sz="2000" b="1">
                          <a:solidFill>
                            <a:srgbClr val="01B66D"/>
                          </a:solidFill>
                          <a:latin typeface="Helvetica"/>
                          <a:ea typeface="Helvetica"/>
                          <a:cs typeface="Helvetica"/>
                        </a:rPr>
                        <a:t>Input</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Observed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Expected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1">
                          <a:solidFill>
                            <a:srgbClr val="01B66D"/>
                          </a:solidFill>
                          <a:latin typeface="Helvetica"/>
                          <a:ea typeface="Helvetica"/>
                          <a:cs typeface="Helvetica"/>
                        </a:rPr>
                        <a:t>Check</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r h="965200">
                <a:tc>
                  <a:txBody>
                    <a:bodyPr>
                      <a:noAutofit/>
                    </a:bodyPr>
                    <a:lstStyle/>
                    <a:p>
                      <a:pPr>
                        <a:lnSpc>
                          <a:spcPct val="125000"/>
                        </a:lnSpc>
                        <a:buNone/>
                      </a:pPr>
                      <a:r>
                        <a:rPr sz="2000" b="0">
                          <a:solidFill>
                            <a:srgbClr val="FFFCF5"/>
                          </a:solidFill>
                          <a:latin typeface="Helvetica"/>
                          <a:ea typeface="Helvetica"/>
                          <a:cs typeface="Helvetica"/>
                        </a:rPr>
                        <a:t>FRB-042</a:t>
                      </a:r>
                    </a:p>
                    <a:p>
                      <a:pPr>
                        <a:lnSpc>
                          <a:spcPct val="125000"/>
                        </a:lnSpc>
                        <a:buNone/>
                      </a:pPr>
                      <a:r>
                        <a:rPr sz="2000" b="0">
                          <a:solidFill>
                            <a:srgbClr val="FFFCF5"/>
                          </a:solidFill>
                          <a:latin typeface="Helvetica"/>
                          <a:ea typeface="Helvetica"/>
                          <a:cs typeface="Helvetica"/>
                        </a:rPr>
                        <a:t>summary</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Bearing wear</a:t>
                      </a:r>
                    </a:p>
                    <a:p>
                      <a:pPr>
                        <a:lnSpc>
                          <a:spcPct val="125000"/>
                        </a:lnSpc>
                        <a:buNone/>
                      </a:pPr>
                      <a:r>
                        <a:rPr sz="2000" b="0">
                          <a:solidFill>
                            <a:srgbClr val="FFFCF5"/>
                          </a:solidFill>
                          <a:latin typeface="Helvetica"/>
                          <a:ea typeface="Helvetica"/>
                          <a:cs typeface="Helvetica"/>
                        </a:rPr>
                        <a:t>confirmed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Cause remains</a:t>
                      </a:r>
                    </a:p>
                    <a:p>
                      <a:pPr>
                        <a:lnSpc>
                          <a:spcPct val="125000"/>
                        </a:lnSpc>
                        <a:buNone/>
                      </a:pPr>
                      <a:r>
                        <a:rPr sz="2000" b="0">
                          <a:solidFill>
                            <a:srgbClr val="FFFCF5"/>
                          </a:solidFill>
                          <a:latin typeface="Helvetica"/>
                          <a:ea typeface="Helvetica"/>
                          <a:cs typeface="Helvetica"/>
                        </a:rPr>
                        <a:t>unresolved</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c>
                  <a:txBody>
                    <a:bodyPr>
                      <a:noAutofit/>
                    </a:bodyPr>
                    <a:lstStyle/>
                    <a:p>
                      <a:pPr>
                        <a:lnSpc>
                          <a:spcPct val="125000"/>
                        </a:lnSpc>
                        <a:buNone/>
                      </a:pPr>
                      <a:r>
                        <a:rPr sz="2000" b="0">
                          <a:solidFill>
                            <a:srgbClr val="FFFCF5"/>
                          </a:solidFill>
                          <a:latin typeface="Helvetica"/>
                          <a:ea typeface="Helvetica"/>
                          <a:cs typeface="Helvetica"/>
                        </a:rPr>
                        <a:t>Does the source</a:t>
                      </a:r>
                    </a:p>
                    <a:p>
                      <a:pPr>
                        <a:lnSpc>
                          <a:spcPct val="125000"/>
                        </a:lnSpc>
                        <a:buNone/>
                      </a:pPr>
                      <a:r>
                        <a:rPr sz="2000" b="0">
                          <a:solidFill>
                            <a:srgbClr val="FFFCF5"/>
                          </a:solidFill>
                          <a:latin typeface="Helvetica"/>
                          <a:ea typeface="Helvetica"/>
                          <a:cs typeface="Helvetica"/>
                        </a:rPr>
                        <a:t>support the claim?</a:t>
                      </a:r>
                    </a:p>
                  </a:txBody>
                  <a:tcPr marL="0" marR="0" marT="0" marB="0" anchor="t">
                    <a:lnL w="127">
                      <a:solidFill>
                        <a:srgbClr val="14161C"/>
                      </a:solidFill>
                    </a:lnL>
                    <a:lnR w="127">
                      <a:solidFill>
                        <a:srgbClr val="14161C"/>
                      </a:solidFill>
                    </a:lnR>
                    <a:lnT w="127">
                      <a:solidFill>
                        <a:srgbClr val="14161C"/>
                      </a:solidFill>
                    </a:lnT>
                    <a:lnB w="127">
                      <a:solidFill>
                        <a:srgbClr val="14161C"/>
                      </a:solidFill>
                    </a:lnB>
                    <a:lnTlToBr w="127">
                      <a:solidFill>
                        <a:srgbClr val="14161C"/>
                      </a:solidFill>
                    </a:lnTlToBr>
                    <a:lnBlToTr w="127">
                      <a:solidFill>
                        <a:srgbClr val="14161C"/>
                      </a:solidFill>
                    </a:lnBlToTr>
                    <a:solidFill>
                      <a:srgbClr val="14161C"/>
                    </a:solidFill>
                  </a:tcPr>
                </a:tc>
              </a:tr>
            </a:tbl>
          </a:graphicData>
        </a:graphic>
      </p:graphicFrame>
      <p:sp>
        <p:nvSpPr>
          <p:cNvPr id="467" name="narrative-number">
            <a:extLst xmlns:a="http://schemas.openxmlformats.org/drawingml/2006/main">
              <a:ext uri="{FF2B5EF4-FFF2-40B4-BE49-F238E27FC236}">
                <a16:creationId xmlns:a16="http://schemas.microsoft.com/office/drawing/2014/main" id="{56133FD9-1C6F-475A-AB3B-6885B74622ED}"/>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45</a:t>
            </a:r>
          </a:p>
        </p:txBody>
      </p:sp>
    </p:spTree>
    <p:extLst>
      <p:ext uri="{BB962C8B-B14F-4D97-AF65-F5344CB8AC3E}">
        <p14:creationId xmlns:p14="http://schemas.microsoft.com/office/powerpoint/2010/main" val="2008250070"/>
      </p:ext>
    </p:extLst>
  </p:cSld>
</p:sld>
</file>

<file path=ppt/slides/slide53.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68" name="slide-title">
            <a:extLst xmlns:a="http://schemas.openxmlformats.org/drawingml/2006/main">
              <a:ext uri="{FF2B5EF4-FFF2-40B4-BE49-F238E27FC236}">
                <a16:creationId xmlns:a16="http://schemas.microsoft.com/office/drawing/2014/main" id="{16326DFD-C2E4-43F3-9B93-B99BBCEE8996}"/>
              </a:ext>
            </a:extLst>
          </p:cNvPr>
          <p:cNvSpPr>
            <a:spLocks xmlns:a="http://schemas.openxmlformats.org/drawingml/2006/main"/>
          </p:cNvSpPr>
          <p:nvPr/>
        </p:nvSpPr>
        <p:spPr>
          <a:xfrm xmlns:a="http://schemas.openxmlformats.org/drawingml/2006/main">
            <a:off x="609600" y="863600"/>
            <a:ext cx="1097280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15000"/>
              </a:lnSpc>
              <a:defRPr sz="3200" b="1">
                <a:solidFill>
                  <a:srgbClr val="FFFCF5"/>
                </a:solidFill>
                <a:latin typeface="Helvetica"/>
                <a:ea typeface="Helvetica"/>
                <a:cs typeface="Helvetica"/>
              </a:defRPr>
            </a:pPr>
            <a:r>
              <a:rPr b="1">
                <a:solidFill>
                  <a:srgbClr val="FFFCF5"/>
                </a:solidFill>
                <a:latin typeface="Helvetica"/>
                <a:ea typeface="Helvetica"/>
                <a:cs typeface="Helvetica"/>
              </a:rPr>
              <a:t>Resources</a:t>
            </a:r>
          </a:p>
        </p:txBody>
      </p:sp>
      <p:sp>
        <p:nvSpPr>
          <p:cNvPr id="469" name="header-divider">
            <a:extLst xmlns:a="http://schemas.openxmlformats.org/drawingml/2006/main">
              <a:ext uri="{FF2B5EF4-FFF2-40B4-BE49-F238E27FC236}">
                <a16:creationId xmlns:a16="http://schemas.microsoft.com/office/drawing/2014/main" id="{BDA70C5B-2C27-4410-9265-D49F987E026D}"/>
              </a:ext>
            </a:extLst>
          </p:cNvPr>
          <p:cNvSpPr>
            <a:spLocks xmlns:a="http://schemas.openxmlformats.org/drawingml/2006/main"/>
          </p:cNvSpPr>
          <p:nvPr/>
        </p:nvSpPr>
        <p:spPr>
          <a:xfrm xmlns:a="http://schemas.openxmlformats.org/drawingml/2006/main">
            <a:off x="609600" y="1549400"/>
            <a:ext cx="10972800" cy="12700"/>
          </a:xfrm>
          <a:prstGeom xmlns:a="http://schemas.openxmlformats.org/drawingml/2006/main" prst="rect">
            <a:avLst/>
          </a:prstGeom>
          <a:solidFill xmlns:a="http://schemas.openxmlformats.org/drawingml/2006/main">
            <a:srgbClr val="4C4D50"/>
          </a:solidFill>
          <a:ln xmlns:a="http://schemas.openxmlformats.org/drawingml/2006/main" w="0">
            <a:noFill/>
          </a:ln>
        </p:spPr>
      </p:sp>
      <p:sp>
        <p:nvSpPr>
          <p:cNvPr id="470" name="46-text-1">
            <a:extLst xmlns:a="http://schemas.openxmlformats.org/drawingml/2006/main">
              <a:ext uri="{FF2B5EF4-FFF2-40B4-BE49-F238E27FC236}">
                <a16:creationId xmlns:a16="http://schemas.microsoft.com/office/drawing/2014/main" id="{8D66163B-EB2E-4D9C-A5BD-2AA378C51555}"/>
              </a:ext>
            </a:extLst>
          </p:cNvPr>
          <p:cNvSpPr>
            <a:spLocks xmlns:a="http://schemas.openxmlformats.org/drawingml/2006/main"/>
          </p:cNvSpPr>
          <p:nvPr/>
        </p:nvSpPr>
        <p:spPr>
          <a:xfrm xmlns:a="http://schemas.openxmlformats.org/drawingml/2006/main">
            <a:off x="609600" y="18542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Chip Huyen, AI Engineering: Building Applications with Foundation Models.</a:t>
            </a:r>
          </a:p>
        </p:txBody>
      </p:sp>
      <p:sp>
        <p:nvSpPr>
          <p:cNvPr id="471" name="46-text-2">
            <a:extLst xmlns:a="http://schemas.openxmlformats.org/drawingml/2006/main">
              <a:ext uri="{FF2B5EF4-FFF2-40B4-BE49-F238E27FC236}">
                <a16:creationId xmlns:a16="http://schemas.microsoft.com/office/drawing/2014/main" id="{59716CF2-BD21-4DC5-92F7-1A2637728FD6}"/>
              </a:ext>
            </a:extLst>
          </p:cNvPr>
          <p:cNvSpPr>
            <a:spLocks xmlns:a="http://schemas.openxmlformats.org/drawingml/2006/main"/>
          </p:cNvSpPr>
          <p:nvPr/>
        </p:nvSpPr>
        <p:spPr>
          <a:xfrm xmlns:a="http://schemas.openxmlformats.org/drawingml/2006/main">
            <a:off x="609600" y="2171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2025.</a:t>
            </a:r>
          </a:p>
        </p:txBody>
      </p:sp>
      <p:sp>
        <p:nvSpPr>
          <p:cNvPr id="472" name="46-text-3">
            <a:extLst xmlns:a="http://schemas.openxmlformats.org/drawingml/2006/main">
              <a:ext uri="{FF2B5EF4-FFF2-40B4-BE49-F238E27FC236}">
                <a16:creationId xmlns:a16="http://schemas.microsoft.com/office/drawing/2014/main" id="{29657A43-EC5B-49A1-877D-335D41EE3A2A}"/>
              </a:ext>
            </a:extLst>
          </p:cNvPr>
          <p:cNvSpPr>
            <a:spLocks xmlns:a="http://schemas.openxmlformats.org/drawingml/2006/main"/>
          </p:cNvSpPr>
          <p:nvPr/>
        </p:nvSpPr>
        <p:spPr>
          <a:xfrm xmlns:a="http://schemas.openxmlformats.org/drawingml/2006/main">
            <a:off x="609600" y="2590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Anthropic engineering: "Building effective agents" (December 2024).</a:t>
            </a:r>
          </a:p>
        </p:txBody>
      </p:sp>
      <p:sp>
        <p:nvSpPr>
          <p:cNvPr id="473" name="46-text-4">
            <a:extLst xmlns:a="http://schemas.openxmlformats.org/drawingml/2006/main">
              <a:ext uri="{FF2B5EF4-FFF2-40B4-BE49-F238E27FC236}">
                <a16:creationId xmlns:a16="http://schemas.microsoft.com/office/drawing/2014/main" id="{19E1619D-15B8-4EAC-9F33-89C6B36B734B}"/>
              </a:ext>
            </a:extLst>
          </p:cNvPr>
          <p:cNvSpPr>
            <a:spLocks xmlns:a="http://schemas.openxmlformats.org/drawingml/2006/main"/>
          </p:cNvSpPr>
          <p:nvPr/>
        </p:nvSpPr>
        <p:spPr>
          <a:xfrm xmlns:a="http://schemas.openxmlformats.org/drawingml/2006/main">
            <a:off x="609600" y="29083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"Effective context engineering for AI agents" (September 2025).</a:t>
            </a:r>
          </a:p>
        </p:txBody>
      </p:sp>
      <p:sp>
        <p:nvSpPr>
          <p:cNvPr id="474" name="46-text-5">
            <a:extLst xmlns:a="http://schemas.openxmlformats.org/drawingml/2006/main">
              <a:ext uri="{FF2B5EF4-FFF2-40B4-BE49-F238E27FC236}">
                <a16:creationId xmlns:a16="http://schemas.microsoft.com/office/drawing/2014/main" id="{99AC41E7-168A-4E48-8375-F67EB698F636}"/>
              </a:ext>
            </a:extLst>
          </p:cNvPr>
          <p:cNvSpPr>
            <a:spLocks xmlns:a="http://schemas.openxmlformats.org/drawingml/2006/main"/>
          </p:cNvSpPr>
          <p:nvPr/>
        </p:nvSpPr>
        <p:spPr>
          <a:xfrm xmlns:a="http://schemas.openxmlformats.org/drawingml/2006/main">
            <a:off x="609600" y="32258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"Demystifying evals for AI agents" (January 2026).</a:t>
            </a:r>
          </a:p>
        </p:txBody>
      </p:sp>
      <p:sp>
        <p:nvSpPr>
          <p:cNvPr id="475" name="46-text-6">
            <a:extLst xmlns:a="http://schemas.openxmlformats.org/drawingml/2006/main">
              <a:ext uri="{FF2B5EF4-FFF2-40B4-BE49-F238E27FC236}">
                <a16:creationId xmlns:a16="http://schemas.microsoft.com/office/drawing/2014/main" id="{8F0FD8E2-9D16-44DC-8FE8-C87930936D7F}"/>
              </a:ext>
            </a:extLst>
          </p:cNvPr>
          <p:cNvSpPr>
            <a:spLocks xmlns:a="http://schemas.openxmlformats.org/drawingml/2006/main"/>
          </p:cNvSpPr>
          <p:nvPr/>
        </p:nvSpPr>
        <p:spPr>
          <a:xfrm xmlns:a="http://schemas.openxmlformats.org/drawingml/2006/main">
            <a:off x="609600" y="36449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OpenAI, "A practical guide to building agents" (2025).</a:t>
            </a:r>
          </a:p>
        </p:txBody>
      </p:sp>
      <p:sp>
        <p:nvSpPr>
          <p:cNvPr id="476" name="46-text-7">
            <a:extLst xmlns:a="http://schemas.openxmlformats.org/drawingml/2006/main">
              <a:ext uri="{FF2B5EF4-FFF2-40B4-BE49-F238E27FC236}">
                <a16:creationId xmlns:a16="http://schemas.microsoft.com/office/drawing/2014/main" id="{0E8645D6-89FB-409C-88C1-8AA5F6A0D39A}"/>
              </a:ext>
            </a:extLst>
          </p:cNvPr>
          <p:cNvSpPr>
            <a:spLocks xmlns:a="http://schemas.openxmlformats.org/drawingml/2006/main"/>
          </p:cNvSpPr>
          <p:nvPr/>
        </p:nvSpPr>
        <p:spPr>
          <a:xfrm xmlns:a="http://schemas.openxmlformats.org/drawingml/2006/main">
            <a:off x="609600" y="4064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Hamel Husain, "AI Evals: Everything You Need to Know," hamel.dev.</a:t>
            </a:r>
          </a:p>
        </p:txBody>
      </p:sp>
      <p:sp>
        <p:nvSpPr>
          <p:cNvPr id="477" name="46-text-8">
            <a:extLst xmlns:a="http://schemas.openxmlformats.org/drawingml/2006/main">
              <a:ext uri="{FF2B5EF4-FFF2-40B4-BE49-F238E27FC236}">
                <a16:creationId xmlns:a16="http://schemas.microsoft.com/office/drawing/2014/main" id="{8C5D58A5-08F5-4F33-A6E3-7896C9562093}"/>
              </a:ext>
            </a:extLst>
          </p:cNvPr>
          <p:cNvSpPr>
            <a:spLocks xmlns:a="http://schemas.openxmlformats.org/drawingml/2006/main"/>
          </p:cNvSpPr>
          <p:nvPr/>
        </p:nvSpPr>
        <p:spPr>
          <a:xfrm xmlns:a="http://schemas.openxmlformats.org/drawingml/2006/main">
            <a:off x="609600" y="43815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Shreya Shankar and Hamel Husain, Evals for AI Engineers.</a:t>
            </a:r>
          </a:p>
        </p:txBody>
      </p:sp>
      <p:sp>
        <p:nvSpPr>
          <p:cNvPr id="478" name="46-text-9">
            <a:extLst xmlns:a="http://schemas.openxmlformats.org/drawingml/2006/main">
              <a:ext uri="{FF2B5EF4-FFF2-40B4-BE49-F238E27FC236}">
                <a16:creationId xmlns:a16="http://schemas.microsoft.com/office/drawing/2014/main" id="{E9A878D4-7768-4172-8527-E0EF74317F6E}"/>
              </a:ext>
            </a:extLst>
          </p:cNvPr>
          <p:cNvSpPr>
            <a:spLocks xmlns:a="http://schemas.openxmlformats.org/drawingml/2006/main"/>
          </p:cNvSpPr>
          <p:nvPr/>
        </p:nvSpPr>
        <p:spPr>
          <a:xfrm xmlns:a="http://schemas.openxmlformats.org/drawingml/2006/main">
            <a:off x="609600" y="46990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O'Reilly, October 2026.</a:t>
            </a:r>
          </a:p>
        </p:txBody>
      </p:sp>
      <p:sp>
        <p:nvSpPr>
          <p:cNvPr id="479" name="46-text-10">
            <a:extLst xmlns:a="http://schemas.openxmlformats.org/drawingml/2006/main">
              <a:ext uri="{FF2B5EF4-FFF2-40B4-BE49-F238E27FC236}">
                <a16:creationId xmlns:a16="http://schemas.microsoft.com/office/drawing/2014/main" id="{490B61BE-3886-4B1D-9E77-F1EEB4246BC0}"/>
              </a:ext>
            </a:extLst>
          </p:cNvPr>
          <p:cNvSpPr>
            <a:spLocks xmlns:a="http://schemas.openxmlformats.org/drawingml/2006/main"/>
          </p:cNvSpPr>
          <p:nvPr/>
        </p:nvSpPr>
        <p:spPr>
          <a:xfrm xmlns:a="http://schemas.openxmlformats.org/drawingml/2006/main">
            <a:off x="609600" y="51181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OWASP Top 10 for LLM Applications (2025)</a:t>
            </a:r>
          </a:p>
        </p:txBody>
      </p:sp>
      <p:sp>
        <p:nvSpPr>
          <p:cNvPr id="480" name="46-text-11">
            <a:extLst xmlns:a="http://schemas.openxmlformats.org/drawingml/2006/main">
              <a:ext uri="{FF2B5EF4-FFF2-40B4-BE49-F238E27FC236}">
                <a16:creationId xmlns:a16="http://schemas.microsoft.com/office/drawing/2014/main" id="{3E027CF6-67BC-446E-8AC7-A05A017B1667}"/>
              </a:ext>
            </a:extLst>
          </p:cNvPr>
          <p:cNvSpPr>
            <a:spLocks xmlns:a="http://schemas.openxmlformats.org/drawingml/2006/main"/>
          </p:cNvSpPr>
          <p:nvPr/>
        </p:nvSpPr>
        <p:spPr>
          <a:xfrm xmlns:a="http://schemas.openxmlformats.org/drawingml/2006/main">
            <a:off x="609600" y="54356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and for Agentic Applications (2026).</a:t>
            </a:r>
          </a:p>
        </p:txBody>
      </p:sp>
      <p:sp>
        <p:nvSpPr>
          <p:cNvPr id="481" name="46-text-12">
            <a:extLst xmlns:a="http://schemas.openxmlformats.org/drawingml/2006/main">
              <a:ext uri="{FF2B5EF4-FFF2-40B4-BE49-F238E27FC236}">
                <a16:creationId xmlns:a16="http://schemas.microsoft.com/office/drawing/2014/main" id="{8A684157-1472-4AEA-B9C8-771761DBC823}"/>
              </a:ext>
            </a:extLst>
          </p:cNvPr>
          <p:cNvSpPr>
            <a:spLocks xmlns:a="http://schemas.openxmlformats.org/drawingml/2006/main"/>
          </p:cNvSpPr>
          <p:nvPr/>
        </p:nvSpPr>
        <p:spPr>
          <a:xfrm xmlns:a="http://schemas.openxmlformats.org/drawingml/2006/main">
            <a:off x="609600" y="5854700"/>
            <a:ext cx="10972800" cy="317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lnSpc>
                <a:spcPct val="125000"/>
              </a:lnSpc>
              <a:defRPr sz="2000" b="0">
                <a:solidFill>
                  <a:srgbClr val="FFFCF5"/>
                </a:solidFill>
                <a:latin typeface="Helvetica"/>
                <a:ea typeface="Helvetica"/>
                <a:cs typeface="Helvetica"/>
              </a:defRPr>
            </a:pPr>
            <a:r>
              <a:rPr b="0">
                <a:solidFill>
                  <a:srgbClr val="FFFCF5"/>
                </a:solidFill>
                <a:latin typeface="Helvetica"/>
                <a:ea typeface="Helvetica"/>
                <a:cs typeface="Helvetica"/>
              </a:rPr>
              <a:t>OpenTelemetry GenAI semantic conventions.</a:t>
            </a:r>
          </a:p>
        </p:txBody>
      </p:sp>
      <p:sp>
        <p:nvSpPr>
          <p:cNvPr id="482" name="narrative-number">
            <a:extLst xmlns:a="http://schemas.openxmlformats.org/drawingml/2006/main">
              <a:ext uri="{FF2B5EF4-FFF2-40B4-BE49-F238E27FC236}">
                <a16:creationId xmlns:a16="http://schemas.microsoft.com/office/drawing/2014/main" id="{DCD62FEF-F9F3-4CFA-8700-690283DA3F5F}"/>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46</a:t>
            </a:r>
          </a:p>
        </p:txBody>
      </p:sp>
    </p:spTree>
    <p:extLst>
      <p:ext uri="{BB962C8B-B14F-4D97-AF65-F5344CB8AC3E}">
        <p14:creationId xmlns:p14="http://schemas.microsoft.com/office/powerpoint/2010/main" val="154639745"/>
      </p:ext>
    </p:extLst>
  </p:cSld>
</p:sld>
</file>

<file path=ppt/slides/slide54.xml><?xml version="1.0" encoding="utf-8"?>
<p:sld xmlns:p="http://schemas.openxmlformats.org/presentationml/2006/main">
  <p:cSld>
    <p:bg>
      <p:bgPr>
        <a:solidFill xmlns:a="http://schemas.openxmlformats.org/drawingml/2006/main">
          <a:srgbClr val="14161C"/>
        </a:solidFill>
      </p:bgPr>
    </p:bg>
    <p:spTree>
      <p:nvGrpSpPr>
        <p:cNvPr id="1" name=""/>
        <p:cNvGrpSpPr/>
        <p:nvPr/>
      </p:nvGrpSpPr>
      <p:grpSpPr>
        <a:xfrm xmlns:a="http://schemas.openxmlformats.org/drawingml/2006/main"/>
      </p:grpSpPr>
      <p:sp>
        <p:nvSpPr>
          <p:cNvPr id="483" name="47-text-1">
            <a:extLst xmlns:a="http://schemas.openxmlformats.org/drawingml/2006/main">
              <a:ext uri="{FF2B5EF4-FFF2-40B4-BE49-F238E27FC236}">
                <a16:creationId xmlns:a16="http://schemas.microsoft.com/office/drawing/2014/main" id="{5190F471-207C-4020-AD8E-16388F46FDB0}"/>
              </a:ext>
            </a:extLst>
          </p:cNvPr>
          <p:cNvSpPr>
            <a:spLocks xmlns:a="http://schemas.openxmlformats.org/drawingml/2006/main"/>
          </p:cNvSpPr>
          <p:nvPr/>
        </p:nvSpPr>
        <p:spPr>
          <a:xfrm xmlns:a="http://schemas.openxmlformats.org/drawingml/2006/main">
            <a:off x="609600" y="1727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Using AI makes you</a:t>
            </a:r>
          </a:p>
          <a:p xmlns:a="http://schemas.openxmlformats.org/drawingml/2006/main">
            <a:pPr algn="ctr">
              <a:lnSpc>
                <a:spcPts val="5200"/>
              </a:lnSpc>
              <a:defRPr sz="4400" b="0">
                <a:solidFill>
                  <a:srgbClr val="FFFCF5"/>
                </a:solidFill>
                <a:latin typeface="Helvetica"/>
                <a:ea typeface="Helvetica"/>
                <a:cs typeface="Helvetica"/>
              </a:defRPr>
            </a:pPr>
            <a:r>
              <a:rPr b="0">
                <a:solidFill>
                  <a:srgbClr val="FFFCF5"/>
                </a:solidFill>
                <a:latin typeface="Helvetica"/>
                <a:ea typeface="Helvetica"/>
                <a:cs typeface="Helvetica"/>
              </a:rPr>
              <a:t>an AI-enabled software engineer.</a:t>
            </a:r>
          </a:p>
        </p:txBody>
      </p:sp>
      <p:sp>
        <p:nvSpPr>
          <p:cNvPr id="484" name="47-text-2">
            <a:extLst xmlns:a="http://schemas.openxmlformats.org/drawingml/2006/main">
              <a:ext uri="{FF2B5EF4-FFF2-40B4-BE49-F238E27FC236}">
                <a16:creationId xmlns:a16="http://schemas.microsoft.com/office/drawing/2014/main" id="{D2E48DA0-6AEA-476A-A4C6-2332B1E20EAA}"/>
              </a:ext>
            </a:extLst>
          </p:cNvPr>
          <p:cNvSpPr>
            <a:spLocks xmlns:a="http://schemas.openxmlformats.org/drawingml/2006/main"/>
          </p:cNvSpPr>
          <p:nvPr/>
        </p:nvSpPr>
        <p:spPr>
          <a:xfrm xmlns:a="http://schemas.openxmlformats.org/drawingml/2006/main">
            <a:off x="609600" y="3632200"/>
            <a:ext cx="10972800" cy="1320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Engineering systems that depend on AI</a:t>
            </a:r>
          </a:p>
          <a:p xmlns:a="http://schemas.openxmlformats.org/drawingml/2006/main">
            <a:pPr algn="ctr">
              <a:lnSpc>
                <a:spcPts val="5200"/>
              </a:lnSpc>
              <a:defRPr sz="4400" b="1">
                <a:solidFill>
                  <a:srgbClr val="FFFCF5"/>
                </a:solidFill>
                <a:latin typeface="Helvetica"/>
                <a:ea typeface="Helvetica"/>
                <a:cs typeface="Helvetica"/>
              </a:defRPr>
            </a:pPr>
            <a:r>
              <a:rPr b="1">
                <a:solidFill>
                  <a:srgbClr val="FFFCF5"/>
                </a:solidFill>
                <a:latin typeface="Helvetica"/>
                <a:ea typeface="Helvetica"/>
                <a:cs typeface="Helvetica"/>
              </a:rPr>
              <a:t>makes you an AI engineer.</a:t>
            </a:r>
          </a:p>
        </p:txBody>
      </p:sp>
      <p:sp>
        <p:nvSpPr>
          <p:cNvPr id="485" name="47-text-3">
            <a:extLst xmlns:a="http://schemas.openxmlformats.org/drawingml/2006/main">
              <a:ext uri="{FF2B5EF4-FFF2-40B4-BE49-F238E27FC236}">
                <a16:creationId xmlns:a16="http://schemas.microsoft.com/office/drawing/2014/main" id="{E93E9C19-75C6-44A5-B1D3-7E8B98BA65F9}"/>
              </a:ext>
            </a:extLst>
          </p:cNvPr>
          <p:cNvSpPr>
            <a:spLocks xmlns:a="http://schemas.openxmlformats.org/drawingml/2006/main"/>
          </p:cNvSpPr>
          <p:nvPr/>
        </p:nvSpPr>
        <p:spPr>
          <a:xfrm xmlns:a="http://schemas.openxmlformats.org/drawingml/2006/main">
            <a:off x="609600" y="5562600"/>
            <a:ext cx="10972800" cy="50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ctr">
              <a:lnSpc>
                <a:spcPct val="115000"/>
              </a:lnSpc>
              <a:defRPr sz="3200" b="0">
                <a:solidFill>
                  <a:srgbClr val="FFFCF5"/>
                </a:solidFill>
                <a:latin typeface="Helvetica"/>
                <a:ea typeface="Helvetica"/>
                <a:cs typeface="Helvetica"/>
              </a:defRPr>
            </a:pPr>
            <a:r>
              <a:rPr b="0">
                <a:solidFill>
                  <a:srgbClr val="FFFCF5"/>
                </a:solidFill>
                <a:latin typeface="Helvetica"/>
                <a:ea typeface="Helvetica"/>
                <a:cs typeface="Helvetica"/>
              </a:rPr>
              <a:t>Questions</a:t>
            </a:r>
          </a:p>
        </p:txBody>
      </p:sp>
      <p:sp>
        <p:nvSpPr>
          <p:cNvPr id="486" name="narrative-number">
            <a:extLst xmlns:a="http://schemas.openxmlformats.org/drawingml/2006/main">
              <a:ext uri="{FF2B5EF4-FFF2-40B4-BE49-F238E27FC236}">
                <a16:creationId xmlns:a16="http://schemas.microsoft.com/office/drawing/2014/main" id="{C8A2344E-4784-4ACA-9C0A-91BCFB09F1FA}"/>
              </a:ext>
            </a:extLst>
          </p:cNvPr>
          <p:cNvSpPr>
            <a:spLocks xmlns:a="http://schemas.openxmlformats.org/drawingml/2006/main"/>
          </p:cNvSpPr>
          <p:nvPr/>
        </p:nvSpPr>
        <p:spPr>
          <a:xfrm xmlns:a="http://schemas.openxmlformats.org/drawingml/2006/main">
            <a:off x="11785600" y="6502400"/>
            <a:ext cx="254000" cy="203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lnSpc>
                <a:spcPct val="125000"/>
              </a:lnSpc>
              <a:defRPr sz="1200" b="0">
                <a:solidFill>
                  <a:srgbClr val="ADACA9"/>
                </a:solidFill>
                <a:latin typeface="Helvetica"/>
                <a:ea typeface="Helvetica"/>
                <a:cs typeface="Helvetica"/>
              </a:defRPr>
            </a:pPr>
            <a:r>
              <a:rPr b="0">
                <a:solidFill>
                  <a:srgbClr val="ADACA9"/>
                </a:solidFill>
                <a:latin typeface="Helvetica"/>
                <a:ea typeface="Helvetica"/>
                <a:cs typeface="Helvetica"/>
              </a:rPr>
              <a:t>47</a:t>
            </a:r>
          </a:p>
        </p:txBody>
      </p:sp>
    </p:spTree>
    <p:extLst>
      <p:ext uri="{BB962C8B-B14F-4D97-AF65-F5344CB8AC3E}">
        <p14:creationId xmlns:p14="http://schemas.microsoft.com/office/powerpoint/2010/main" val="3171320807"/>
      </p:ext>
    </p:extLst>
  </p:cSld>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ChatGPT">
  <a:themeElements>
    <a:clrScheme name="Beyond the Coding Agent">
      <a:dk1>
        <a:srgbClr val="14161C"/>
      </a:dk1>
      <a:lt1>
        <a:srgbClr val="FFFCF5"/>
      </a:lt1>
      <a:dk2>
        <a:srgbClr val="303236"/>
      </a:dk2>
      <a:lt2>
        <a:srgbClr val="ADACA9"/>
      </a:lt2>
      <a:accent1>
        <a:srgbClr val="F948BE"/>
      </a:accent1>
      <a:accent2>
        <a:srgbClr val="1064F8"/>
      </a:accent2>
      <a:accent3>
        <a:srgbClr val="01B66D"/>
      </a:accent3>
      <a:accent4>
        <a:srgbClr val="FDAD00"/>
      </a:accent4>
      <a:accent5>
        <a:srgbClr val="ADACA9"/>
      </a:accent5>
      <a:accent6>
        <a:srgbClr val="303236"/>
      </a:accent6>
      <a:hlink>
        <a:srgbClr val="FFFCF5"/>
      </a:hlink>
      <a:folHlink>
        <a:srgbClr val="FFFCF5"/>
      </a:folHlink>
    </a:clrScheme>
    <a:fontScheme name="Office">
      <a:majorFont>
        <a:latin typeface="Helvetica"/>
        <a:ea typeface="Helvetica"/>
        <a:cs typeface="Helvetica"/>
      </a:majorFont>
      <a:minorFont>
        <a:latin typeface="Helvetica"/>
        <a:ea typeface="Helvetica"/>
        <a:cs typeface="Helvetica"/>
      </a:minorFont>
    </a:fontScheme>
    <a:fmtScheme name="Beyond the Coding Agen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2026-09-16T07:30:19.5570000Z</dcterms:created>
  <dcterms:modified xsi:type="dcterms:W3CDTF">2026-09-16T07:30:19.5570000Z</dcterms:modified>
</coreProperties>
</file>