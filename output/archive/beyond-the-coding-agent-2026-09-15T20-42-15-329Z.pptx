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cdcc1ed1824f3b" /><Relationship Type="http://schemas.openxmlformats.org/officeDocument/2006/relationships/extended-properties" Target="/docProps/app.xml" Id="Rfc0d908f3e274786" /><Relationship Type="http://schemas.openxmlformats.org/officeDocument/2006/relationships/officeDocument" Target="/ppt/presentation.xml" Id="R217fee3997a24d77"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3fdb2ec99b224f3c"/>
    <p:sldMasterId xmlns:r="http://schemas.openxmlformats.org/officeDocument/2006/relationships" id="2147483650" r:id="Rd37e90ba703d4631"/>
  </p:sldMasterIdLst>
  <p:notesMasterIdLst>
    <p:notesMasterId xmlns:r="http://schemas.openxmlformats.org/officeDocument/2006/relationships" r:id="Rdfe05ccaf02c44e3"/>
  </p:notesMasterIdLst>
  <p:sldIdLst>
    <p:sldId xmlns:r="http://schemas.openxmlformats.org/officeDocument/2006/relationships" id="256" r:id="R5b1d8fb610b14735"/>
    <p:sldId xmlns:r="http://schemas.openxmlformats.org/officeDocument/2006/relationships" id="257" r:id="Rd70c532278a44c48"/>
    <p:sldId xmlns:r="http://schemas.openxmlformats.org/officeDocument/2006/relationships" id="258" r:id="R64b4711873654596"/>
    <p:sldId xmlns:r="http://schemas.openxmlformats.org/officeDocument/2006/relationships" id="259" r:id="R12a2c36134504204"/>
    <p:sldId xmlns:r="http://schemas.openxmlformats.org/officeDocument/2006/relationships" id="260" r:id="Ra21299bfeceb42b0"/>
    <p:sldId xmlns:r="http://schemas.openxmlformats.org/officeDocument/2006/relationships" id="261" r:id="R2a4acdfe0d1b4d4b"/>
    <p:sldId xmlns:r="http://schemas.openxmlformats.org/officeDocument/2006/relationships" id="262" r:id="Rb5c28c43a52c4aab"/>
    <p:sldId xmlns:r="http://schemas.openxmlformats.org/officeDocument/2006/relationships" id="263" r:id="Ra77b83d446414a91"/>
    <p:sldId xmlns:r="http://schemas.openxmlformats.org/officeDocument/2006/relationships" id="264" r:id="Ra7b90d052c0c45b6"/>
    <p:sldId xmlns:r="http://schemas.openxmlformats.org/officeDocument/2006/relationships" id="265" r:id="R825906f2534f456f"/>
    <p:sldId xmlns:r="http://schemas.openxmlformats.org/officeDocument/2006/relationships" id="266" r:id="Rbf3c453942db4c9a"/>
    <p:sldId xmlns:r="http://schemas.openxmlformats.org/officeDocument/2006/relationships" id="267" r:id="Rc5e4f4bc3d5f407b"/>
    <p:sldId xmlns:r="http://schemas.openxmlformats.org/officeDocument/2006/relationships" id="268" r:id="R4c7ace6f1cf145f1"/>
    <p:sldId xmlns:r="http://schemas.openxmlformats.org/officeDocument/2006/relationships" id="269" r:id="Rdd04b3c89db448a8"/>
    <p:sldId xmlns:r="http://schemas.openxmlformats.org/officeDocument/2006/relationships" id="270" r:id="R028f7c497da74090"/>
    <p:sldId xmlns:r="http://schemas.openxmlformats.org/officeDocument/2006/relationships" id="271" r:id="Rb51e2b4085d84a97"/>
    <p:sldId xmlns:r="http://schemas.openxmlformats.org/officeDocument/2006/relationships" id="272" r:id="R5d009dd4cb1a49ac"/>
    <p:sldId xmlns:r="http://schemas.openxmlformats.org/officeDocument/2006/relationships" id="273" r:id="R90ee63388821415b"/>
    <p:sldId xmlns:r="http://schemas.openxmlformats.org/officeDocument/2006/relationships" id="274" r:id="Rf170500ff12d493e"/>
    <p:sldId xmlns:r="http://schemas.openxmlformats.org/officeDocument/2006/relationships" id="275" r:id="Rf53dee7ca7d04ac5"/>
    <p:sldId xmlns:r="http://schemas.openxmlformats.org/officeDocument/2006/relationships" id="276" r:id="R929347c8297f4d3c"/>
    <p:sldId xmlns:r="http://schemas.openxmlformats.org/officeDocument/2006/relationships" id="277" r:id="Ra5a39cdf9eae4714"/>
    <p:sldId xmlns:r="http://schemas.openxmlformats.org/officeDocument/2006/relationships" id="278" r:id="R8a623bb6d7af41cc"/>
    <p:sldId xmlns:r="http://schemas.openxmlformats.org/officeDocument/2006/relationships" id="279" r:id="R0b6c4358e64245f0"/>
    <p:sldId xmlns:r="http://schemas.openxmlformats.org/officeDocument/2006/relationships" id="280" r:id="R9a0531a1025f4f8a"/>
    <p:sldId xmlns:r="http://schemas.openxmlformats.org/officeDocument/2006/relationships" id="281" r:id="R54d8aed2408946dc"/>
    <p:sldId xmlns:r="http://schemas.openxmlformats.org/officeDocument/2006/relationships" id="282" r:id="R5cd737b1c0a44404"/>
    <p:sldId xmlns:r="http://schemas.openxmlformats.org/officeDocument/2006/relationships" id="283" r:id="Rb150b69b5dd84bce"/>
    <p:sldId xmlns:r="http://schemas.openxmlformats.org/officeDocument/2006/relationships" id="284" r:id="Rd9739da695674f9b"/>
    <p:sldId xmlns:r="http://schemas.openxmlformats.org/officeDocument/2006/relationships" id="285" r:id="R6dfed1b25bcb45fa"/>
    <p:sldId xmlns:r="http://schemas.openxmlformats.org/officeDocument/2006/relationships" id="286" r:id="Rc52aefcf707f4e02"/>
    <p:sldId xmlns:r="http://schemas.openxmlformats.org/officeDocument/2006/relationships" id="287" r:id="Radbb121246fe4e21"/>
    <p:sldId xmlns:r="http://schemas.openxmlformats.org/officeDocument/2006/relationships" id="288" r:id="R6bab1c62fe9647dd"/>
    <p:sldId xmlns:r="http://schemas.openxmlformats.org/officeDocument/2006/relationships" id="289" r:id="R845e801110304476"/>
    <p:sldId xmlns:r="http://schemas.openxmlformats.org/officeDocument/2006/relationships" id="290" r:id="R47c9fa54a7654eac"/>
    <p:sldId xmlns:r="http://schemas.openxmlformats.org/officeDocument/2006/relationships" id="291" r:id="R808a728aae56402b"/>
    <p:sldId xmlns:r="http://schemas.openxmlformats.org/officeDocument/2006/relationships" id="292" r:id="R78135eb9c9ff44e8"/>
    <p:sldId xmlns:r="http://schemas.openxmlformats.org/officeDocument/2006/relationships" id="293" r:id="R54743f64388c4e04"/>
    <p:sldId xmlns:r="http://schemas.openxmlformats.org/officeDocument/2006/relationships" id="294" r:id="R445b4be298804af1"/>
    <p:sldId xmlns:r="http://schemas.openxmlformats.org/officeDocument/2006/relationships" id="295" r:id="R935d3b78fd5a429f"/>
    <p:sldId xmlns:r="http://schemas.openxmlformats.org/officeDocument/2006/relationships" id="296" r:id="R048ec73074f8478b"/>
    <p:sldId xmlns:r="http://schemas.openxmlformats.org/officeDocument/2006/relationships" id="297" r:id="R12c6cbdce5884bf3"/>
    <p:sldId xmlns:r="http://schemas.openxmlformats.org/officeDocument/2006/relationships" id="298" r:id="R95fbb6a65eaa4d5a"/>
    <p:sldId xmlns:r="http://schemas.openxmlformats.org/officeDocument/2006/relationships" id="299" r:id="Rc7ed8e38c4b747e2"/>
    <p:sldId xmlns:r="http://schemas.openxmlformats.org/officeDocument/2006/relationships" id="300" r:id="Ra1a13f566a284fad"/>
    <p:sldId xmlns:r="http://schemas.openxmlformats.org/officeDocument/2006/relationships" id="301" r:id="R8714672daefd4b82"/>
    <p:sldId xmlns:r="http://schemas.openxmlformats.org/officeDocument/2006/relationships" id="302" r:id="R59a7227800244650"/>
    <p:sldId xmlns:r="http://schemas.openxmlformats.org/officeDocument/2006/relationships" id="303" r:id="R27346c2f7d414f1d"/>
    <p:sldId xmlns:r="http://schemas.openxmlformats.org/officeDocument/2006/relationships" id="304" r:id="Rd8f5ebae47a449e7"/>
    <p:sldId xmlns:r="http://schemas.openxmlformats.org/officeDocument/2006/relationships" id="305" r:id="R7c8e8eddca934444"/>
    <p:sldId xmlns:r="http://schemas.openxmlformats.org/officeDocument/2006/relationships" id="306" r:id="Rde767be2695f41f1"/>
    <p:sldId xmlns:r="http://schemas.openxmlformats.org/officeDocument/2006/relationships" id="307" r:id="R027e35bba9054383"/>
    <p:sldId xmlns:r="http://schemas.openxmlformats.org/officeDocument/2006/relationships" id="308" r:id="Rf043e4cdd01e4d4b"/>
    <p:sldId xmlns:r="http://schemas.openxmlformats.org/officeDocument/2006/relationships" id="309" r:id="R34c121697ba34401"/>
    <p:sldId xmlns:r="http://schemas.openxmlformats.org/officeDocument/2006/relationships" id="310" r:id="R1250825e5db74590"/>
    <p:sldId xmlns:r="http://schemas.openxmlformats.org/officeDocument/2006/relationships" id="311" r:id="R12655695f71b4c00"/>
    <p:sldId xmlns:r="http://schemas.openxmlformats.org/officeDocument/2006/relationships" id="312" r:id="Rbc42019817914b3a"/>
    <p:sldId xmlns:r="http://schemas.openxmlformats.org/officeDocument/2006/relationships" id="313" r:id="R623b7bde83404c07"/>
    <p:sldId xmlns:r="http://schemas.openxmlformats.org/officeDocument/2006/relationships" id="314" r:id="R16e5f6de3e58461b"/>
    <p:sldId xmlns:r="http://schemas.openxmlformats.org/officeDocument/2006/relationships" id="315" r:id="Rc497115c2b62457b"/>
    <p:sldId xmlns:r="http://schemas.openxmlformats.org/officeDocument/2006/relationships" id="316" r:id="Rdedce76b11b8466a"/>
    <p:sldId xmlns:r="http://schemas.openxmlformats.org/officeDocument/2006/relationships" id="317" r:id="R3cd737afa2d24e20"/>
    <p:sldId xmlns:r="http://schemas.openxmlformats.org/officeDocument/2006/relationships" id="318" r:id="R04a2119196a1422c"/>
    <p:sldId xmlns:r="http://schemas.openxmlformats.org/officeDocument/2006/relationships" id="319" r:id="Rba5bf76808de475c"/>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3d9856221594157" /><Relationship Type="http://schemas.openxmlformats.org/officeDocument/2006/relationships/slideMaster" Target="/ppt/slideMasters/slideMaster1.xml" Id="R3fdb2ec99b224f3c" /><Relationship Type="http://schemas.openxmlformats.org/officeDocument/2006/relationships/slideMaster" Target="/ppt/slideMasters/slideMaster2.xml" Id="Rd37e90ba703d4631" /><Relationship Type="http://schemas.openxmlformats.org/officeDocument/2006/relationships/notesMaster" Target="/ppt/notesMasters/notesMaster1.xml" Id="Rdfe05ccaf02c44e3" /><Relationship Type="http://schemas.openxmlformats.org/officeDocument/2006/relationships/presProps" Target="/ppt/presProps.xml" Id="Rccd77454755d4083" /><Relationship Type="http://schemas.openxmlformats.org/officeDocument/2006/relationships/tableStyles" Target="/ppt/tableStyles.xml" Id="Raf0c6e420d924326" /><Relationship Type="http://schemas.openxmlformats.org/officeDocument/2006/relationships/slide" Target="/ppt/slides/slide1.xml" Id="R5b1d8fb610b14735" /><Relationship Type="http://schemas.openxmlformats.org/officeDocument/2006/relationships/slide" Target="/ppt/slides/slide2.xml" Id="Rd70c532278a44c48" /><Relationship Type="http://schemas.openxmlformats.org/officeDocument/2006/relationships/slide" Target="/ppt/slides/slide3.xml" Id="R64b4711873654596" /><Relationship Type="http://schemas.openxmlformats.org/officeDocument/2006/relationships/slide" Target="/ppt/slides/slide4.xml" Id="R12a2c36134504204" /><Relationship Type="http://schemas.openxmlformats.org/officeDocument/2006/relationships/slide" Target="/ppt/slides/slide5.xml" Id="Ra21299bfeceb42b0" /><Relationship Type="http://schemas.openxmlformats.org/officeDocument/2006/relationships/slide" Target="/ppt/slides/slide6.xml" Id="R2a4acdfe0d1b4d4b" /><Relationship Type="http://schemas.openxmlformats.org/officeDocument/2006/relationships/slide" Target="/ppt/slides/slide7.xml" Id="Rb5c28c43a52c4aab" /><Relationship Type="http://schemas.openxmlformats.org/officeDocument/2006/relationships/slide" Target="/ppt/slides/slide8.xml" Id="Ra77b83d446414a91" /><Relationship Type="http://schemas.openxmlformats.org/officeDocument/2006/relationships/slide" Target="/ppt/slides/slide9.xml" Id="Ra7b90d052c0c45b6" /><Relationship Type="http://schemas.openxmlformats.org/officeDocument/2006/relationships/slide" Target="/ppt/slides/slide10.xml" Id="R825906f2534f456f" /><Relationship Type="http://schemas.openxmlformats.org/officeDocument/2006/relationships/slide" Target="/ppt/slides/slide11.xml" Id="Rbf3c453942db4c9a" /><Relationship Type="http://schemas.openxmlformats.org/officeDocument/2006/relationships/slide" Target="/ppt/slides/slide12.xml" Id="Rc5e4f4bc3d5f407b" /><Relationship Type="http://schemas.openxmlformats.org/officeDocument/2006/relationships/slide" Target="/ppt/slides/slide13.xml" Id="R4c7ace6f1cf145f1" /><Relationship Type="http://schemas.openxmlformats.org/officeDocument/2006/relationships/slide" Target="/ppt/slides/slide14.xml" Id="Rdd04b3c89db448a8" /><Relationship Type="http://schemas.openxmlformats.org/officeDocument/2006/relationships/slide" Target="/ppt/slides/slide15.xml" Id="R028f7c497da74090" /><Relationship Type="http://schemas.openxmlformats.org/officeDocument/2006/relationships/slide" Target="/ppt/slides/slide16.xml" Id="Rb51e2b4085d84a97" /><Relationship Type="http://schemas.openxmlformats.org/officeDocument/2006/relationships/slide" Target="/ppt/slides/slide17.xml" Id="R5d009dd4cb1a49ac" /><Relationship Type="http://schemas.openxmlformats.org/officeDocument/2006/relationships/slide" Target="/ppt/slides/slide18.xml" Id="R90ee63388821415b" /><Relationship Type="http://schemas.openxmlformats.org/officeDocument/2006/relationships/slide" Target="/ppt/slides/slide19.xml" Id="Rf170500ff12d493e" /><Relationship Type="http://schemas.openxmlformats.org/officeDocument/2006/relationships/slide" Target="/ppt/slides/slide20.xml" Id="Rf53dee7ca7d04ac5" /><Relationship Type="http://schemas.openxmlformats.org/officeDocument/2006/relationships/slide" Target="/ppt/slides/slide21.xml" Id="R929347c8297f4d3c" /><Relationship Type="http://schemas.openxmlformats.org/officeDocument/2006/relationships/slide" Target="/ppt/slides/slide22.xml" Id="Ra5a39cdf9eae4714" /><Relationship Type="http://schemas.openxmlformats.org/officeDocument/2006/relationships/slide" Target="/ppt/slides/slide23.xml" Id="R8a623bb6d7af41cc" /><Relationship Type="http://schemas.openxmlformats.org/officeDocument/2006/relationships/slide" Target="/ppt/slides/slide24.xml" Id="R0b6c4358e64245f0" /><Relationship Type="http://schemas.openxmlformats.org/officeDocument/2006/relationships/slide" Target="/ppt/slides/slide25.xml" Id="R9a0531a1025f4f8a" /><Relationship Type="http://schemas.openxmlformats.org/officeDocument/2006/relationships/slide" Target="/ppt/slides/slide26.xml" Id="R54d8aed2408946dc" /><Relationship Type="http://schemas.openxmlformats.org/officeDocument/2006/relationships/slide" Target="/ppt/slides/slide27.xml" Id="R5cd737b1c0a44404" /><Relationship Type="http://schemas.openxmlformats.org/officeDocument/2006/relationships/slide" Target="/ppt/slides/slide28.xml" Id="Rb150b69b5dd84bce" /><Relationship Type="http://schemas.openxmlformats.org/officeDocument/2006/relationships/slide" Target="/ppt/slides/slide29.xml" Id="Rd9739da695674f9b" /><Relationship Type="http://schemas.openxmlformats.org/officeDocument/2006/relationships/slide" Target="/ppt/slides/slide30.xml" Id="R6dfed1b25bcb45fa" /><Relationship Type="http://schemas.openxmlformats.org/officeDocument/2006/relationships/slide" Target="/ppt/slides/slide31.xml" Id="Rc52aefcf707f4e02" /><Relationship Type="http://schemas.openxmlformats.org/officeDocument/2006/relationships/slide" Target="/ppt/slides/slide32.xml" Id="Radbb121246fe4e21" /><Relationship Type="http://schemas.openxmlformats.org/officeDocument/2006/relationships/slide" Target="/ppt/slides/slide33.xml" Id="R6bab1c62fe9647dd" /><Relationship Type="http://schemas.openxmlformats.org/officeDocument/2006/relationships/slide" Target="/ppt/slides/slide34.xml" Id="R845e801110304476" /><Relationship Type="http://schemas.openxmlformats.org/officeDocument/2006/relationships/slide" Target="/ppt/slides/slide35.xml" Id="R47c9fa54a7654eac" /><Relationship Type="http://schemas.openxmlformats.org/officeDocument/2006/relationships/slide" Target="/ppt/slides/slide36.xml" Id="R808a728aae56402b" /><Relationship Type="http://schemas.openxmlformats.org/officeDocument/2006/relationships/slide" Target="/ppt/slides/slide37.xml" Id="R78135eb9c9ff44e8" /><Relationship Type="http://schemas.openxmlformats.org/officeDocument/2006/relationships/slide" Target="/ppt/slides/slide38.xml" Id="R54743f64388c4e04" /><Relationship Type="http://schemas.openxmlformats.org/officeDocument/2006/relationships/slide" Target="/ppt/slides/slide39.xml" Id="R445b4be298804af1" /><Relationship Type="http://schemas.openxmlformats.org/officeDocument/2006/relationships/slide" Target="/ppt/slides/slide40.xml" Id="R935d3b78fd5a429f" /><Relationship Type="http://schemas.openxmlformats.org/officeDocument/2006/relationships/slide" Target="/ppt/slides/slide41.xml" Id="R048ec73074f8478b" /><Relationship Type="http://schemas.openxmlformats.org/officeDocument/2006/relationships/slide" Target="/ppt/slides/slide42.xml" Id="R12c6cbdce5884bf3" /><Relationship Type="http://schemas.openxmlformats.org/officeDocument/2006/relationships/slide" Target="/ppt/slides/slide43.xml" Id="R95fbb6a65eaa4d5a" /><Relationship Type="http://schemas.openxmlformats.org/officeDocument/2006/relationships/slide" Target="/ppt/slides/slide44.xml" Id="Rc7ed8e38c4b747e2" /><Relationship Type="http://schemas.openxmlformats.org/officeDocument/2006/relationships/slide" Target="/ppt/slides/slide45.xml" Id="Ra1a13f566a284fad" /><Relationship Type="http://schemas.openxmlformats.org/officeDocument/2006/relationships/slide" Target="/ppt/slides/slide46.xml" Id="R8714672daefd4b82" /><Relationship Type="http://schemas.openxmlformats.org/officeDocument/2006/relationships/slide" Target="/ppt/slides/slide47.xml" Id="R59a7227800244650" /><Relationship Type="http://schemas.openxmlformats.org/officeDocument/2006/relationships/slide" Target="/ppt/slides/slide48.xml" Id="R27346c2f7d414f1d" /><Relationship Type="http://schemas.openxmlformats.org/officeDocument/2006/relationships/slide" Target="/ppt/slides/slide49.xml" Id="Rd8f5ebae47a449e7" /><Relationship Type="http://schemas.openxmlformats.org/officeDocument/2006/relationships/slide" Target="/ppt/slides/slide50.xml" Id="R7c8e8eddca934444" /><Relationship Type="http://schemas.openxmlformats.org/officeDocument/2006/relationships/slide" Target="/ppt/slides/slide51.xml" Id="Rde767be2695f41f1" /><Relationship Type="http://schemas.openxmlformats.org/officeDocument/2006/relationships/slide" Target="/ppt/slides/slide52.xml" Id="R027e35bba9054383" /><Relationship Type="http://schemas.openxmlformats.org/officeDocument/2006/relationships/slide" Target="/ppt/slides/slide53.xml" Id="Rf043e4cdd01e4d4b" /><Relationship Type="http://schemas.openxmlformats.org/officeDocument/2006/relationships/slide" Target="/ppt/slides/slide54.xml" Id="R34c121697ba34401" /><Relationship Type="http://schemas.openxmlformats.org/officeDocument/2006/relationships/slide" Target="/ppt/slides/slide55.xml" Id="R1250825e5db74590" /><Relationship Type="http://schemas.openxmlformats.org/officeDocument/2006/relationships/slide" Target="/ppt/slides/slide56.xml" Id="R12655695f71b4c00" /><Relationship Type="http://schemas.openxmlformats.org/officeDocument/2006/relationships/slide" Target="/ppt/slides/slide57.xml" Id="Rbc42019817914b3a" /><Relationship Type="http://schemas.openxmlformats.org/officeDocument/2006/relationships/slide" Target="/ppt/slides/slide58.xml" Id="R623b7bde83404c07" /><Relationship Type="http://schemas.openxmlformats.org/officeDocument/2006/relationships/slide" Target="/ppt/slides/slide59.xml" Id="R16e5f6de3e58461b" /><Relationship Type="http://schemas.openxmlformats.org/officeDocument/2006/relationships/slide" Target="/ppt/slides/slide60.xml" Id="Rc497115c2b62457b" /><Relationship Type="http://schemas.openxmlformats.org/officeDocument/2006/relationships/slide" Target="/ppt/slides/slide61.xml" Id="Rdedce76b11b8466a" /><Relationship Type="http://schemas.openxmlformats.org/officeDocument/2006/relationships/slide" Target="/ppt/slides/slide62.xml" Id="R3cd737afa2d24e20" /><Relationship Type="http://schemas.openxmlformats.org/officeDocument/2006/relationships/slide" Target="/ppt/slides/slide63.xml" Id="R04a2119196a1422c" /><Relationship Type="http://schemas.openxmlformats.org/officeDocument/2006/relationships/slide" Target="/ppt/slides/slide64.xml" Id="Rba5bf76808de47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c9990eacbc1848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f2035e516349b2" /><Relationship Type="http://schemas.openxmlformats.org/officeDocument/2006/relationships/notesMaster" Target="/ppt/notesMasters/notesMaster1.xml" Id="Re65bd1572c9a44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9cb703e71b48e8" /><Relationship Type="http://schemas.openxmlformats.org/officeDocument/2006/relationships/notesMaster" Target="/ppt/notesMasters/notesMaster1.xml" Id="R59dcb68478934e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105b5fc1174edc" /><Relationship Type="http://schemas.openxmlformats.org/officeDocument/2006/relationships/notesMaster" Target="/ppt/notesMasters/notesMaster1.xml" Id="R135af76e3e484e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0db4ba78c5a4377" /><Relationship Type="http://schemas.openxmlformats.org/officeDocument/2006/relationships/notesMaster" Target="/ppt/notesMasters/notesMaster1.xml" Id="Rf6042f40bae64d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db8b251fec4eb2" /><Relationship Type="http://schemas.openxmlformats.org/officeDocument/2006/relationships/notesMaster" Target="/ppt/notesMasters/notesMaster1.xml" Id="Rebef390f34824e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956c883fc0f4872" /><Relationship Type="http://schemas.openxmlformats.org/officeDocument/2006/relationships/notesMaster" Target="/ppt/notesMasters/notesMaster1.xml" Id="R5c088fb535f24665" /></Relationships>
</file>

<file path=ppt/notesSlides/_rels/notesSlide7.xml.rels>&#65279;<?xml version="1.0" encoding="utf-8"?><Relationships xmlns="http://schemas.openxmlformats.org/package/2006/relationships"><Relationship Type="http://schemas.openxmlformats.org/officeDocument/2006/relationships/slide" Target="/ppt/slides/slide7.xml" Id="R4b551fdf517b4883" /><Relationship Type="http://schemas.openxmlformats.org/officeDocument/2006/relationships/notesMaster" Target="/ppt/notesMasters/notesMaster1.xml" Id="R8c5b88745f06422c" /></Relationships>
</file>

<file path=ppt/notesSlides/_rels/notesSlide8.xml.rels>&#65279;<?xml version="1.0" encoding="utf-8"?><Relationships xmlns="http://schemas.openxmlformats.org/package/2006/relationships"><Relationship Type="http://schemas.openxmlformats.org/officeDocument/2006/relationships/slide" Target="/ppt/slides/slide8.xml" Id="R054b20af098f45a3" /><Relationship Type="http://schemas.openxmlformats.org/officeDocument/2006/relationships/notesMaster" Target="/ppt/notesMasters/notesMaster1.xml" Id="R6ce5893ea59c4719" /></Relationships>
</file>

<file path=ppt/notesSlides/_rels/notesSlide9.xml.rels>&#65279;<?xml version="1.0" encoding="utf-8"?><Relationships xmlns="http://schemas.openxmlformats.org/package/2006/relationships"><Relationship Type="http://schemas.openxmlformats.org/officeDocument/2006/relationships/slide" Target="/ppt/slides/slide9.xml" Id="Rf1d923a895444a82" /><Relationship Type="http://schemas.openxmlformats.org/officeDocument/2006/relationships/notesMaster" Target="/ppt/notesMasters/notesMaster1.xml" Id="Rf5ad4ea684ef4d0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ada015bfcc5439d" /><Relationship Type="http://schemas.openxmlformats.org/officeDocument/2006/relationships/notesMaster" Target="/ppt/notesMasters/notesMaster1.xml" Id="Rad54ea58c953462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b1071c47caa419c" /><Relationship Type="http://schemas.openxmlformats.org/officeDocument/2006/relationships/notesMaster" Target="/ppt/notesMasters/notesMaster1.xml" Id="Rfd0753bdeb5b44c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4e7ce88ed724119" /><Relationship Type="http://schemas.openxmlformats.org/officeDocument/2006/relationships/notesMaster" Target="/ppt/notesMasters/notesMaster1.xml" Id="Rba944f8c7287488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35025c40e1d4dc0" /><Relationship Type="http://schemas.openxmlformats.org/officeDocument/2006/relationships/notesMaster" Target="/ppt/notesMasters/notesMaster1.xml" Id="Raf91db698e7d481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e2162474b9740ff" /><Relationship Type="http://schemas.openxmlformats.org/officeDocument/2006/relationships/notesMaster" Target="/ppt/notesMasters/notesMaster1.xml" Id="Rdafbb926ce7a4ff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02da33189f74521" /><Relationship Type="http://schemas.openxmlformats.org/officeDocument/2006/relationships/notesMaster" Target="/ppt/notesMasters/notesMaster1.xml" Id="R62fd5c0768ae4a2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cbccb1db69a49ef" /><Relationship Type="http://schemas.openxmlformats.org/officeDocument/2006/relationships/notesMaster" Target="/ppt/notesMasters/notesMaster1.xml" Id="Rc14e752c798f4ee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a79bfa5adc54b3c" /><Relationship Type="http://schemas.openxmlformats.org/officeDocument/2006/relationships/notesMaster" Target="/ppt/notesMasters/notesMaster1.xml" Id="R7c7043c2ed3e48d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8057a8b68b84fc9" /><Relationship Type="http://schemas.openxmlformats.org/officeDocument/2006/relationships/notesMaster" Target="/ppt/notesMasters/notesMaster1.xml" Id="R4cc0a7893a0a438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b8c093e9df84cc5" /><Relationship Type="http://schemas.openxmlformats.org/officeDocument/2006/relationships/notesMaster" Target="/ppt/notesMasters/notesMaster1.xml" Id="Rae6509c1905f489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e5d5c08d66347a9" /><Relationship Type="http://schemas.openxmlformats.org/officeDocument/2006/relationships/notesMaster" Target="/ppt/notesMasters/notesMaster1.xml" Id="Ra7360512aaf149c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090610328d440d5" /><Relationship Type="http://schemas.openxmlformats.org/officeDocument/2006/relationships/notesMaster" Target="/ppt/notesMasters/notesMaster1.xml" Id="R5ccbbe8d4872484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5a878667ca241c5" /><Relationship Type="http://schemas.openxmlformats.org/officeDocument/2006/relationships/notesMaster" Target="/ppt/notesMasters/notesMaster1.xml" Id="Rfc6e26ba5f8b491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0c250b8d99a430d" /><Relationship Type="http://schemas.openxmlformats.org/officeDocument/2006/relationships/notesMaster" Target="/ppt/notesMasters/notesMaster1.xml" Id="R0472abb314484f4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91d5622c16e4a83" /><Relationship Type="http://schemas.openxmlformats.org/officeDocument/2006/relationships/notesMaster" Target="/ppt/notesMasters/notesMaster1.xml" Id="R7183ee3589324a0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4e83d38d7c942b8" /><Relationship Type="http://schemas.openxmlformats.org/officeDocument/2006/relationships/notesMaster" Target="/ppt/notesMasters/notesMaster1.xml" Id="Rc1de58e8f89543a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534f2211d494c28" /><Relationship Type="http://schemas.openxmlformats.org/officeDocument/2006/relationships/notesMaster" Target="/ppt/notesMasters/notesMaster1.xml" Id="Re396dc07716f44a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1a65d235f524a6c" /><Relationship Type="http://schemas.openxmlformats.org/officeDocument/2006/relationships/notesMaster" Target="/ppt/notesMasters/notesMaster1.xml" Id="Rffe89aff6820470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0e888f4fe8843b7" /><Relationship Type="http://schemas.openxmlformats.org/officeDocument/2006/relationships/notesMaster" Target="/ppt/notesMasters/notesMaster1.xml" Id="Rab6a5f341dfe40e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6394a5724334649" /><Relationship Type="http://schemas.openxmlformats.org/officeDocument/2006/relationships/notesMaster" Target="/ppt/notesMasters/notesMaster1.xml" Id="R021feea4a49e484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473205db56a41a3" /><Relationship Type="http://schemas.openxmlformats.org/officeDocument/2006/relationships/notesMaster" Target="/ppt/notesMasters/notesMaster1.xml" Id="Rbcb610a366c049e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15e7196f21c41fe" /><Relationship Type="http://schemas.openxmlformats.org/officeDocument/2006/relationships/notesMaster" Target="/ppt/notesMasters/notesMaster1.xml" Id="R358eb607e0034d9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ce8fa29ad014f44" /><Relationship Type="http://schemas.openxmlformats.org/officeDocument/2006/relationships/notesMaster" Target="/ppt/notesMasters/notesMaster1.xml" Id="R47977f3b1bb9434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ea1f54439d94bc5" /><Relationship Type="http://schemas.openxmlformats.org/officeDocument/2006/relationships/notesMaster" Target="/ppt/notesMasters/notesMaster1.xml" Id="R9a90e0a413d34df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6876169c6004af7" /><Relationship Type="http://schemas.openxmlformats.org/officeDocument/2006/relationships/notesMaster" Target="/ppt/notesMasters/notesMaster1.xml" Id="R371ae0de77e2422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0e5ca95110b4436" /><Relationship Type="http://schemas.openxmlformats.org/officeDocument/2006/relationships/notesMaster" Target="/ppt/notesMasters/notesMaster1.xml" Id="R5685fbb9cd45498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ef4a692a8df4b99" /><Relationship Type="http://schemas.openxmlformats.org/officeDocument/2006/relationships/notesMaster" Target="/ppt/notesMasters/notesMaster1.xml" Id="R8b2b6c000920403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d5863818e46404a" /><Relationship Type="http://schemas.openxmlformats.org/officeDocument/2006/relationships/notesMaster" Target="/ppt/notesMasters/notesMaster1.xml" Id="R93a88cbfe89f41a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8d2a463c48f4f7b" /><Relationship Type="http://schemas.openxmlformats.org/officeDocument/2006/relationships/notesMaster" Target="/ppt/notesMasters/notesMaster1.xml" Id="R5512227609d440b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62d5d795b1f44a4" /><Relationship Type="http://schemas.openxmlformats.org/officeDocument/2006/relationships/notesMaster" Target="/ppt/notesMasters/notesMaster1.xml" Id="R6b65274bc18d47c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12b9349e57b4097" /><Relationship Type="http://schemas.openxmlformats.org/officeDocument/2006/relationships/notesMaster" Target="/ppt/notesMasters/notesMaster1.xml" Id="R69a7e52e3eb94a7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df2db7dd5b14922" /><Relationship Type="http://schemas.openxmlformats.org/officeDocument/2006/relationships/notesMaster" Target="/ppt/notesMasters/notesMaster1.xml" Id="Reae79d2bd08a448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3edf7ceb71d4a77" /><Relationship Type="http://schemas.openxmlformats.org/officeDocument/2006/relationships/notesMaster" Target="/ppt/notesMasters/notesMaster1.xml" Id="Re537912d711b41d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5a02df5d94941d2" /><Relationship Type="http://schemas.openxmlformats.org/officeDocument/2006/relationships/notesMaster" Target="/ppt/notesMasters/notesMaster1.xml" Id="Ra1d3fe20a6954c5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be786434b044597" /><Relationship Type="http://schemas.openxmlformats.org/officeDocument/2006/relationships/notesMaster" Target="/ppt/notesMasters/notesMaster1.xml" Id="R344468917a464019"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2ef3c88d622495f" /><Relationship Type="http://schemas.openxmlformats.org/officeDocument/2006/relationships/notesMaster" Target="/ppt/notesMasters/notesMaster1.xml" Id="Rf04154f57ac24c7f"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cb0e4b927d3d4f7f" /><Relationship Type="http://schemas.openxmlformats.org/officeDocument/2006/relationships/notesMaster" Target="/ppt/notesMasters/notesMaster1.xml" Id="Ra5d4eff0d22b4ef3"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3507f9235174dc7" /><Relationship Type="http://schemas.openxmlformats.org/officeDocument/2006/relationships/notesMaster" Target="/ppt/notesMasters/notesMaster1.xml" Id="R0112ce3139e64a3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e3c847148c83439b" /><Relationship Type="http://schemas.openxmlformats.org/officeDocument/2006/relationships/notesMaster" Target="/ppt/notesMasters/notesMaster1.xml" Id="R61fc40b91edb453e"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d4946cb8367040b3" /><Relationship Type="http://schemas.openxmlformats.org/officeDocument/2006/relationships/notesMaster" Target="/ppt/notesMasters/notesMaster1.xml" Id="R83f290ccdfc4408d"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466111b5725d463a" /><Relationship Type="http://schemas.openxmlformats.org/officeDocument/2006/relationships/notesMaster" Target="/ppt/notesMasters/notesMaster1.xml" Id="R3cf476f1eb8c47ae"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810109ebcfef4519" /><Relationship Type="http://schemas.openxmlformats.org/officeDocument/2006/relationships/notesMaster" Target="/ppt/notesMasters/notesMaster1.xml" Id="R212ccd66ac5d49d7"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9ed3777a284b494e" /><Relationship Type="http://schemas.openxmlformats.org/officeDocument/2006/relationships/notesMaster" Target="/ppt/notesMasters/notesMaster1.xml" Id="R7cc8e5c9bb2c4f2b"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c34f89fa352c4a55" /><Relationship Type="http://schemas.openxmlformats.org/officeDocument/2006/relationships/notesMaster" Target="/ppt/notesMasters/notesMaster1.xml" Id="R486b8a189e5e4e54"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a7a73938cace4a54" /><Relationship Type="http://schemas.openxmlformats.org/officeDocument/2006/relationships/notesMaster" Target="/ppt/notesMasters/notesMaster1.xml" Id="R289533c3c884415b"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9b4a7c6c30c94986" /><Relationship Type="http://schemas.openxmlformats.org/officeDocument/2006/relationships/notesMaster" Target="/ppt/notesMasters/notesMaster1.xml" Id="R5b51e76ef0d74350"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2c51256e82404d91" /><Relationship Type="http://schemas.openxmlformats.org/officeDocument/2006/relationships/notesMaster" Target="/ppt/notesMasters/notesMaster1.xml" Id="Rab6ece4993df466a"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cca99462511c4db2" /><Relationship Type="http://schemas.openxmlformats.org/officeDocument/2006/relationships/notesMaster" Target="/ppt/notesMasters/notesMaster1.xml" Id="Rba62d4dff667455d"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202b9d1b054046c7" /><Relationship Type="http://schemas.openxmlformats.org/officeDocument/2006/relationships/notesMaster" Target="/ppt/notesMasters/notesMaster1.xml" Id="R88242c4452104446"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e877638f940c45ec" /><Relationship Type="http://schemas.openxmlformats.org/officeDocument/2006/relationships/notesMaster" Target="/ppt/notesMasters/notesMaster1.xml" Id="R410f9ab393d546e5"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b4940bc7b0a943b7" /><Relationship Type="http://schemas.openxmlformats.org/officeDocument/2006/relationships/notesMaster" Target="/ppt/notesMasters/notesMaster1.xml" Id="R130e538a41dc405a"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850f5bd015fa47e4" /><Relationship Type="http://schemas.openxmlformats.org/officeDocument/2006/relationships/notesMaster" Target="/ppt/notesMasters/notesMaster1.xml" Id="R00b0aa5a3e694abe"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4b91acae4f964da3" /><Relationship Type="http://schemas.openxmlformats.org/officeDocument/2006/relationships/notesMaster" Target="/ppt/notesMasters/notesMaster1.xml" Id="Ra1b1b5bffc864786"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a1ab947df7cd4e44" /><Relationship Type="http://schemas.openxmlformats.org/officeDocument/2006/relationships/notesMaster" Target="/ppt/notesMasters/notesMaster1.xml" Id="R712fab33e7124528"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24572a701a564c9f" /><Relationship Type="http://schemas.openxmlformats.org/officeDocument/2006/relationships/notesMaster" Target="/ppt/notesMasters/notesMaster1.xml" Id="R8decf24b898845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Title state. A greeting, nothing more.</a:t>
            </a:r>
          </a:p>
          <a:p xmlns:a="http://schemas.openxmlformats.org/drawingml/2006/main">
            <a:r>
              <a:t/>
            </a:r>
          </a:p>
          <a:p xmlns:a="http://schemas.openxmlformats.org/drawingml/2006/main">
            <a:r>
              <a:rPr b="0"/>
              <a:t>In June 2025, Andrej Karpathy put the whole problem in one line.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1"/>
              <a:t>"Demo is works.any(), product is works.all()."</a:t>
            </a:r>
          </a:p>
          <a:p xmlns:a="http://schemas.openxmlformats.org/drawingml/2006/main">
            <a:r>
              <a:t/>
            </a:r>
          </a:p>
          <a:p xmlns:a="http://schemas.openxmlformats.org/drawingml/2006/main">
            <a:r>
              <a:rPr b="1"/>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rPr b="1"/>
              <a:t>You have probably seen your coding agent do something impressive this week.</a:t>
            </a:r>
            <a:r>
              <a:rPr b="0"/>
              <a:t> That experience is the starting point for this talk.</a:t>
            </a:r>
          </a:p>
          <a:p xmlns:a="http://schemas.openxmlformats.org/drawingml/2006/main">
            <a:r>
              <a:t/>
            </a:r>
          </a:p>
          <a:p xmlns:a="http://schemas.openxmlformats.org/drawingml/2006/main">
            <a:r>
              <a:rPr b="1"/>
              <a:t>The distance between those two calls is what this talk is about.</a:t>
            </a:r>
            <a:r>
              <a:rPr b="0"/>
              <a:t> It is the distance between using AI and engineering it.</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Title state. A greeting, nothing more.</a:t>
            </a:r>
          </a:p>
          <a:p xmlns:a="http://schemas.openxmlformats.org/drawingml/2006/main">
            <a:r>
              <a:t/>
            </a:r>
          </a:p>
          <a:p xmlns:a="http://schemas.openxmlformats.org/drawingml/2006/main">
            <a:r>
              <a:rPr b="0"/>
              <a:t>In June 2025, Andrej Karpathy put the whole problem in one line.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1"/>
              <a:t>"Demo is works.any(), product is works.all()."</a:t>
            </a:r>
          </a:p>
          <a:p xmlns:a="http://schemas.openxmlformats.org/drawingml/2006/main">
            <a:r>
              <a:t/>
            </a:r>
          </a:p>
          <a:p xmlns:a="http://schemas.openxmlformats.org/drawingml/2006/main">
            <a:r>
              <a:rPr b="1"/>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rPr b="1"/>
              <a:t>You have probably seen your coding agent do something impressive this week.</a:t>
            </a:r>
            <a:r>
              <a:rPr b="0"/>
              <a:t> That experience is the starting point for this talk.</a:t>
            </a:r>
          </a:p>
          <a:p xmlns:a="http://schemas.openxmlformats.org/drawingml/2006/main">
            <a:r>
              <a:t/>
            </a:r>
          </a:p>
          <a:p xmlns:a="http://schemas.openxmlformats.org/drawingml/2006/main">
            <a:r>
              <a:rPr b="1"/>
              <a:t>The distance between those two calls is what this talk is about.</a:t>
            </a:r>
            <a:r>
              <a:rPr b="0"/>
              <a:t> It is the distance between using AI and engineering it.</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Using AI makes you an AI-enabled software engineer. Engineering systems that depend on AI makes you an AI engineer.</a:t>
            </a:r>
          </a:p>
          <a:p xmlns:a="http://schemas.openxmlformats.org/drawingml/2006/main">
            <a:r>
              <a:t/>
            </a:r>
          </a:p>
          <a:p xmlns:a="http://schemas.openxmlformats.org/drawingml/2006/main">
            <a:r>
              <a:rPr b="1"/>
              <a:t>This talk focuses on building products around foundation models.</a:t>
            </a:r>
            <a:r>
              <a:rPr b="0"/>
              <a:t> Your software engineering skills are the foundation. The additional responsibility is measuring and controlling model-dependent behavior.</a:t>
            </a:r>
          </a:p>
          <a:p xmlns:a="http://schemas.openxmlformats.org/drawingml/2006/main">
            <a:r>
              <a:t/>
            </a:r>
          </a:p>
          <a:p xmlns:a="http://schemas.openxmlformats.org/drawingml/2006/main">
            <a:r>
              <a:rPr b="0"/>
              <a:t>ML engineers typically focus on models and the pipelines that produce them. AI engineers typically focus on products around models. The roles overlap, including adaptation and fine-tuning.</a:t>
            </a:r>
          </a:p>
          <a:p xmlns:a="http://schemas.openxmlformats.org/drawingml/2006/main">
            <a:r>
              <a:t/>
            </a:r>
          </a:p>
          <a:p xmlns:a="http://schemas.openxmlformats.org/drawingml/2006/main">
            <a:r>
              <a:rPr b="1"/>
              <a:t>Owner means the engineer or team accountable for the delivered product's behavior and operating limits.</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comparison is about where the model-dependent behavior lives.</a:t>
            </a:r>
            <a:r>
              <a:rPr b="0"/>
              <a:t>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rPr b="1"/>
              <a:t>You design the checks, approval steps, and failure handling.</a:t>
            </a:r>
            <a:r>
              <a:rPr b="0"/>
              <a:t> Human review can be part of either system. Your team owns the product's behavior and operating limits.</a:t>
            </a:r>
          </a:p>
          <a:p xmlns:a="http://schemas.openxmlformats.org/drawingml/2006/main">
            <a:r>
              <a:t/>
            </a:r>
          </a:p>
          <a:p xmlns:a="http://schemas.openxmlformats.org/drawingml/2006/main">
            <a:r>
              <a:rPr b="0"/>
              <a:t>Separately, Anthropic distinguishes workflows on predefined code paths from agents with model-selected actions. </a:t>
            </a:r>
            <a:r>
              <a:rPr b="1"/>
              <a:t>An agent adds model-selected actions to control flow. Ordinary code can still enforce permissions, limits, and other guarantees.</a:t>
            </a:r>
            <a:r>
              <a:rPr b="0"/>
              <a:t> That is why we will examine the system around the model.</a:t>
            </a:r>
          </a:p>
          <a:p xmlns:a="http://schemas.openxmlformats.org/drawingml/2006/main">
            <a:r>
              <a:t/>
            </a:r>
          </a:p>
          <a:p xmlns:a="http://schemas.openxmlformats.org/drawingml/2006/main">
            <a:r>
              <a:rPr b="0"/>
              <a:t>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rPr b="0"/>
              <a:t>Shankar and colleagues studied how grading outputs helps people refine evaluation criteria. </a:t>
            </a:r>
            <a:r>
              <a:rPr b="1"/>
              <a:t>Watching failures can expose missing requirements.</a:t>
            </a:r>
            <a:r>
              <a:rPr b="0"/>
              <a:t> Some checks are known from the start; others improve as we learn.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1"/>
              <a:t>Using AI changes how you build. Engineering AI changes what you are responsible for.</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comparison is about where the model-dependent behavior lives.</a:t>
            </a:r>
            <a:r>
              <a:rPr b="0"/>
              <a:t>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rPr b="1"/>
              <a:t>You design the checks, approval steps, and failure handling.</a:t>
            </a:r>
            <a:r>
              <a:rPr b="0"/>
              <a:t> Human review can be part of either system. Your team owns the product's behavior and operating limits.</a:t>
            </a:r>
          </a:p>
          <a:p xmlns:a="http://schemas.openxmlformats.org/drawingml/2006/main">
            <a:r>
              <a:t/>
            </a:r>
          </a:p>
          <a:p xmlns:a="http://schemas.openxmlformats.org/drawingml/2006/main">
            <a:r>
              <a:rPr b="0"/>
              <a:t>Separately, Anthropic distinguishes workflows on predefined code paths from agents with model-selected actions. </a:t>
            </a:r>
            <a:r>
              <a:rPr b="1"/>
              <a:t>An agent adds model-selected actions to control flow. Ordinary code can still enforce permissions, limits, and other guarantees.</a:t>
            </a:r>
            <a:r>
              <a:rPr b="0"/>
              <a:t> That is why we will examine the system around the model.</a:t>
            </a:r>
          </a:p>
          <a:p xmlns:a="http://schemas.openxmlformats.org/drawingml/2006/main">
            <a:r>
              <a:t/>
            </a:r>
          </a:p>
          <a:p xmlns:a="http://schemas.openxmlformats.org/drawingml/2006/main">
            <a:r>
              <a:rPr b="0"/>
              <a:t>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rPr b="0"/>
              <a:t>Shankar and colleagues studied how grading outputs helps people refine evaluation criteria. </a:t>
            </a:r>
            <a:r>
              <a:rPr b="1"/>
              <a:t>Watching failures can expose missing requirements.</a:t>
            </a:r>
            <a:r>
              <a:rPr b="0"/>
              <a:t> Some checks are known from the start; others improve as we learn.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1"/>
              <a:t>Using AI changes how you build. Engineering AI changes what you are responsible for.</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things to leave with. </a:t>
            </a:r>
            <a:r>
              <a:rPr b="1"/>
              <a:t>A conceptual map of the discipline. An honest sense of how much there is. And a roadmap for making the transition.</a:t>
            </a:r>
          </a:p>
          <a:p xmlns:a="http://schemas.openxmlformats.org/drawingml/2006/main">
            <a:r>
              <a:t/>
            </a:r>
          </a:p>
          <a:p xmlns:a="http://schemas.openxmlformats.org/drawingml/2006/main">
            <a:r>
              <a:rPr b="0"/>
              <a:t>The agenda. The map, two minutes. Six areas, twenty-three minutes: models, context and knowledge, tools, orchestration, verification and evals, and operating it. The transition, five minutes. Then fifteen minutes for your questions.</a:t>
            </a:r>
          </a:p>
          <a:p xmlns:a="http://schemas.openxmlformats.org/drawingml/2006/main">
            <a:r>
              <a:t/>
            </a:r>
          </a:p>
          <a:p xmlns:a="http://schemas.openxmlformats.org/drawingml/2006/main">
            <a:r>
              <a:rPr b="1"/>
              <a:t>For each area: When you are the user, including what someone engineered, then When you are the owner.</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for a moment.</a:t>
            </a:r>
          </a:p>
          <a:p xmlns:a="http://schemas.openxmlformats.org/drawingml/2006/main">
            <a:r>
              <a:t/>
            </a:r>
          </a:p>
          <a:p xmlns:a="http://schemas.openxmlformats.org/drawingml/2006/main">
            <a:r>
              <a:rPr b="1"/>
              <a:t>Let's open up the tool you used this morning.</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At the center, an agent is a model plus a harness. The line that stuck this spring: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What is a harness? OpenAI's August 2026 definition. An agent "needs a way to understand a task, maintain context over time, inspect relevant information, call tools, expose progress, handle failures, request human approval when necessary, and return a useful result. That surrounding execution system is the harness."</a:t>
            </a:r>
          </a:p>
          <a:p xmlns:a="http://schemas.openxmlformats.org/drawingml/2006/main">
            <a:r>
              <a:t/>
            </a:r>
          </a:p>
          <a:p xmlns:a="http://schemas.openxmlformats.org/drawingml/2006/main">
            <a:r>
              <a:rPr b="1"/>
              <a:t>Four layers.</a:t>
            </a:r>
            <a:r>
              <a:rPr b="0"/>
              <a:t> The model, which decides what to do.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The platform services 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And the services that let you learn from and control many runs: observability, evaluations, governance.</a:t>
            </a:r>
          </a:p>
          <a:p xmlns:a="http://schemas.openxmlformats.org/drawingml/2006/main">
            <a:r>
              <a:t/>
            </a:r>
          </a:p>
          <a:p xmlns:a="http://schemas.openxmlformats.org/drawingml/2006/main">
            <a:r>
              <a:rPr b="0"/>
              <a:t>Full brightness. "Harness engineering" is probably the phrase you have heard most since spring. It maps onto this picture. </a:t>
            </a:r>
            <a:r>
              <a:rPr b="1"/>
              <a:t>Every box on it exists inside the coding agent you used this morning. Someone built each one. We are going to take six of them apart.</a:t>
            </a:r>
          </a:p>
          <a:p xmlns:a="http://schemas.openxmlformats.org/drawingml/2006/main">
            <a:r>
              <a:t/>
            </a:r>
          </a:p>
          <a:p xmlns:a="http://schemas.openxmlformats.org/drawingml/2006/main">
            <a:r>
              <a:rPr b="0"/>
              <a:t>For each: When you are the user, what someone engineered, and what changes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At the center, an agent is a model plus a harness. The line that stuck this spring: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What is a harness? OpenAI's August 2026 definition. An agent "needs a way to understand a task, maintain context over time, inspect relevant information, call tools, expose progress, handle failures, request human approval when necessary, and return a useful result. That surrounding execution system is the harness."</a:t>
            </a:r>
          </a:p>
          <a:p xmlns:a="http://schemas.openxmlformats.org/drawingml/2006/main">
            <a:r>
              <a:t/>
            </a:r>
          </a:p>
          <a:p xmlns:a="http://schemas.openxmlformats.org/drawingml/2006/main">
            <a:r>
              <a:rPr b="1"/>
              <a:t>Four layers.</a:t>
            </a:r>
            <a:r>
              <a:rPr b="0"/>
              <a:t> The model, which decides what to do.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The platform services 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And the services that let you learn from and control many runs: observability, evaluations, governance.</a:t>
            </a:r>
          </a:p>
          <a:p xmlns:a="http://schemas.openxmlformats.org/drawingml/2006/main">
            <a:r>
              <a:t/>
            </a:r>
          </a:p>
          <a:p xmlns:a="http://schemas.openxmlformats.org/drawingml/2006/main">
            <a:r>
              <a:rPr b="0"/>
              <a:t>Full brightness. "Harness engineering" is probably the phrase you have heard most since spring. It maps onto this picture. </a:t>
            </a:r>
            <a:r>
              <a:rPr b="1"/>
              <a:t>Every box on it exists inside the coding agent you used this morning. Someone built each one. We are going to take six of them apart.</a:t>
            </a:r>
          </a:p>
          <a:p xmlns:a="http://schemas.openxmlformats.org/drawingml/2006/main">
            <a:r>
              <a:t/>
            </a:r>
          </a:p>
          <a:p xmlns:a="http://schemas.openxmlformats.org/drawingml/2006/main">
            <a:r>
              <a:rPr b="0"/>
              <a:t>For each: When you are the user, what someone engineered, and what changes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At the center, an agent is a model plus a harness. The line that stuck this spring: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What is a harness? OpenAI's August 2026 definition. An agent "needs a way to understand a task, maintain context over time, inspect relevant information, call tools, expose progress, handle failures, request human approval when necessary, and return a useful result. That surrounding execution system is the harness."</a:t>
            </a:r>
          </a:p>
          <a:p xmlns:a="http://schemas.openxmlformats.org/drawingml/2006/main">
            <a:r>
              <a:t/>
            </a:r>
          </a:p>
          <a:p xmlns:a="http://schemas.openxmlformats.org/drawingml/2006/main">
            <a:r>
              <a:rPr b="1"/>
              <a:t>Four layers.</a:t>
            </a:r>
            <a:r>
              <a:rPr b="0"/>
              <a:t> The model, which decides what to do.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The platform services 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And the services that let you learn from and control many runs: observability, evaluations, governance.</a:t>
            </a:r>
          </a:p>
          <a:p xmlns:a="http://schemas.openxmlformats.org/drawingml/2006/main">
            <a:r>
              <a:t/>
            </a:r>
          </a:p>
          <a:p xmlns:a="http://schemas.openxmlformats.org/drawingml/2006/main">
            <a:r>
              <a:rPr b="0"/>
              <a:t>Full brightness. "Harness engineering" is probably the phrase you have heard most since spring. It maps onto this picture. </a:t>
            </a:r>
            <a:r>
              <a:rPr b="1"/>
              <a:t>Every box on it exists inside the coding agent you used this morning. Someone built each one. We are going to take six of them apart.</a:t>
            </a:r>
          </a:p>
          <a:p xmlns:a="http://schemas.openxmlformats.org/drawingml/2006/main">
            <a:r>
              <a:t/>
            </a:r>
          </a:p>
          <a:p xmlns:a="http://schemas.openxmlformats.org/drawingml/2006/main">
            <a:r>
              <a:rPr b="0"/>
              <a:t>For each: When you are the user, what someone engineered, and what changes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At the center, an agent is a model plus a harness. The line that stuck this spring: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What is a harness? OpenAI's August 2026 definition. An agent "needs a way to understand a task, maintain context over time, inspect relevant information, call tools, expose progress, handle failures, request human approval when necessary, and return a useful result. That surrounding execution system is the harness."</a:t>
            </a:r>
          </a:p>
          <a:p xmlns:a="http://schemas.openxmlformats.org/drawingml/2006/main">
            <a:r>
              <a:t/>
            </a:r>
          </a:p>
          <a:p xmlns:a="http://schemas.openxmlformats.org/drawingml/2006/main">
            <a:r>
              <a:rPr b="1"/>
              <a:t>Four layers.</a:t>
            </a:r>
            <a:r>
              <a:rPr b="0"/>
              <a:t> The model, which decides what to do.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The platform services 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And the services that let you learn from and control many runs: observability, evaluations, governance.</a:t>
            </a:r>
          </a:p>
          <a:p xmlns:a="http://schemas.openxmlformats.org/drawingml/2006/main">
            <a:r>
              <a:t/>
            </a:r>
          </a:p>
          <a:p xmlns:a="http://schemas.openxmlformats.org/drawingml/2006/main">
            <a:r>
              <a:rPr b="0"/>
              <a:t>Full brightness. "Harness engineering" is probably the phrase you have heard most since spring. It maps onto this picture. </a:t>
            </a:r>
            <a:r>
              <a:rPr b="1"/>
              <a:t>Every box on it exists inside the coding agent you used this morning. Someone built each one. We are going to take six of them apart.</a:t>
            </a:r>
          </a:p>
          <a:p xmlns:a="http://schemas.openxmlformats.org/drawingml/2006/main">
            <a:r>
              <a:t/>
            </a:r>
          </a:p>
          <a:p xmlns:a="http://schemas.openxmlformats.org/drawingml/2006/main">
            <a:r>
              <a:rPr b="0"/>
              <a:t>For each: When you are the user, what someone engineered, and what changes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At the center, an agent is a model plus a harness. The line that stuck this spring: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What is a harness? OpenAI's August 2026 definition. An agent "needs a way to understand a task, maintain context over time, inspect relevant information, call tools, expose progress, handle failures, request human approval when necessary, and return a useful result. That surrounding execution system is the harness."</a:t>
            </a:r>
          </a:p>
          <a:p xmlns:a="http://schemas.openxmlformats.org/drawingml/2006/main">
            <a:r>
              <a:t/>
            </a:r>
          </a:p>
          <a:p xmlns:a="http://schemas.openxmlformats.org/drawingml/2006/main">
            <a:r>
              <a:rPr b="1"/>
              <a:t>Four layers.</a:t>
            </a:r>
            <a:r>
              <a:rPr b="0"/>
              <a:t> The model, which decides what to do.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The platform services 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And the services that let you learn from and control many runs: observability, evaluations, governance.</a:t>
            </a:r>
          </a:p>
          <a:p xmlns:a="http://schemas.openxmlformats.org/drawingml/2006/main">
            <a:r>
              <a:t/>
            </a:r>
          </a:p>
          <a:p xmlns:a="http://schemas.openxmlformats.org/drawingml/2006/main">
            <a:r>
              <a:rPr b="0"/>
              <a:t>Full brightness. "Harness engineering" is probably the phrase you have heard most since spring. It maps onto this picture. </a:t>
            </a:r>
            <a:r>
              <a:rPr b="1"/>
              <a:t>Every box on it exists inside the coding agent you used this morning. Someone built each one. We are going to take six of them apart.</a:t>
            </a:r>
          </a:p>
          <a:p xmlns:a="http://schemas.openxmlformats.org/drawingml/2006/main">
            <a:r>
              <a:t/>
            </a:r>
          </a:p>
          <a:p xmlns:a="http://schemas.openxmlformats.org/drawingml/2006/main">
            <a:r>
              <a:rPr b="0"/>
              <a:t>For each: When you are the user, what someone engineered, and what changes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At the center, an agent is a model plus a harness. The line that stuck this spring: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What is a harness? OpenAI's August 2026 definition. An agent "needs a way to understand a task, maintain context over time, inspect relevant information, call tools, expose progress, handle failures, request human approval when necessary, and return a useful result. That surrounding execution system is the harness."</a:t>
            </a:r>
          </a:p>
          <a:p xmlns:a="http://schemas.openxmlformats.org/drawingml/2006/main">
            <a:r>
              <a:t/>
            </a:r>
          </a:p>
          <a:p xmlns:a="http://schemas.openxmlformats.org/drawingml/2006/main">
            <a:r>
              <a:rPr b="1"/>
              <a:t>Four layers.</a:t>
            </a:r>
            <a:r>
              <a:rPr b="0"/>
              <a:t> The model, which decides what to do.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The platform services 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And the services that let you learn from and control many runs: observability, evaluations, governance.</a:t>
            </a:r>
          </a:p>
          <a:p xmlns:a="http://schemas.openxmlformats.org/drawingml/2006/main">
            <a:r>
              <a:t/>
            </a:r>
          </a:p>
          <a:p xmlns:a="http://schemas.openxmlformats.org/drawingml/2006/main">
            <a:r>
              <a:rPr b="0"/>
              <a:t>Full brightness. "Harness engineering" is probably the phrase you have heard most since spring. It maps onto this picture. </a:t>
            </a:r>
            <a:r>
              <a:rPr b="1"/>
              <a:t>Every box on it exists inside the coding agent you used this morning. Someone built each one. We are going to take six of them apart.</a:t>
            </a:r>
          </a:p>
          <a:p xmlns:a="http://schemas.openxmlformats.org/drawingml/2006/main">
            <a:r>
              <a:t/>
            </a:r>
          </a:p>
          <a:p xmlns:a="http://schemas.openxmlformats.org/drawingml/2006/main">
            <a:r>
              <a:rPr b="0"/>
              <a:t>For each: When you are the user, what someone engineered, and what changes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model picker exposes a choice. Devin Desktop shows reasoning effort; Codex's /model can set it too. </a:t>
            </a:r>
            <a:r>
              <a:rPr b="1"/>
              <a:t>Reasoning effort is a cost and latency dial.</a:t>
            </a:r>
            <a:r>
              <a:rPr b="0"/>
              <a:t> Codex can configure a different effort for planning and a different model for subagents.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The provider manages defaults, model-specific tuning, failover, price changes, and retirement handling.</a:t>
            </a:r>
            <a:r>
              <a:rPr b="0"/>
              <a:t> These are responsibilities behind the picker.</a:t>
            </a:r>
          </a:p>
          <a:p xmlns:a="http://schemas.openxmlformats.org/drawingml/2006/main">
            <a:r>
              <a:t/>
            </a:r>
          </a:p>
          <a:p xmlns:a="http://schemas.openxmlformats.org/drawingml/2006/main">
            <a:r>
              <a:rPr b="0"/>
              <a:t>Callout. </a:t>
            </a:r>
            <a:r>
              <a:rPr b="1"/>
              <a:t>Model retirement creates migration work.</a:t>
            </a:r>
            <a:r>
              <a:rPr b="0"/>
              <a:t> A retirement record does not tell us how every coding-tool provider migrated every user or whether a change was silent.</a:t>
            </a:r>
          </a:p>
          <a:p xmlns:a="http://schemas.openxmlformats.org/drawingml/2006/main">
            <a:r>
              <a:t/>
            </a:r>
          </a:p>
          <a:p xmlns:a="http://schemas.openxmlformats.org/drawingml/2006/main">
            <a:r>
              <a:rPr b="0"/>
              <a:t>Advance to the owner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model picker exposes a choice. Devin Desktop shows reasoning effort; Codex's /model can set it too. </a:t>
            </a:r>
            <a:r>
              <a:rPr b="1"/>
              <a:t>Reasoning effort is a cost and latency dial.</a:t>
            </a:r>
            <a:r>
              <a:rPr b="0"/>
              <a:t> Codex can configure a different effort for planning and a different model for subagents.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The provider manages defaults, model-specific tuning, failover, price changes, and retirement handling.</a:t>
            </a:r>
            <a:r>
              <a:rPr b="0"/>
              <a:t> These are responsibilities behind the picker.</a:t>
            </a:r>
          </a:p>
          <a:p xmlns:a="http://schemas.openxmlformats.org/drawingml/2006/main">
            <a:r>
              <a:t/>
            </a:r>
          </a:p>
          <a:p xmlns:a="http://schemas.openxmlformats.org/drawingml/2006/main">
            <a:r>
              <a:rPr b="0"/>
              <a:t>Callout. </a:t>
            </a:r>
            <a:r>
              <a:rPr b="1"/>
              <a:t>Model retirement creates migration work.</a:t>
            </a:r>
            <a:r>
              <a:rPr b="0"/>
              <a:t> A retirement record does not tell us how every coding-tool provider migrated every user or whether a change was silent.</a:t>
            </a:r>
          </a:p>
          <a:p xmlns:a="http://schemas.openxmlformats.org/drawingml/2006/main">
            <a:r>
              <a:t/>
            </a:r>
          </a:p>
          <a:p xmlns:a="http://schemas.openxmlformats.org/drawingml/2006/main">
            <a:r>
              <a:rPr b="0"/>
              <a:t>Advance to the owner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When you are the owner, the model is a component you select, measure, and replace.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Select for capability on your tasks, cost per completed task, p95 latency, context, tool use, and data residency.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Measure your product on representative cases under its operating conditions.</a:t>
            </a:r>
            <a:r>
              <a:rPr b="0"/>
              <a:t> Public benchmarks use a different population and harness.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Pinned version: controlled migration and lifecycle management. Moving alias: automatic updates and regression monitoring.</a:t>
            </a:r>
            <a:r>
              <a:rPr b="0"/>
              <a:t> A snapshot controls one source of variation. Prompts, tools, retrieval, and the environment also affect behavior. On prime/composite classification with step-by-step prompting, the March and June 2023 GPT-4 versions scored 84% and 51%. Changed instruction following partly explains the result. This is not overall quality or a pinned snapshot changing internally.</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LangChain compared three configurations across 145 tasks. </a:t>
            </a:r>
            <a:r>
              <a:rPr b="1"/>
              <a:t>Read accuracy and cost together.</a:t>
            </a:r>
            <a:r>
              <a:rPr b="0"/>
              <a:t> Frontier-only scored 86%, routed 80%, and small-only 77.7%. The router selected frontier for 7% of agent calls, excluding judge calls. Its 2.3-point gain over small-only was below observed variation of about 2.7 points. Selection ranged from 4.1% to 9.1%. The cost-per-completed-task drop is about 72%; the article's 74% uses total cost. </a:t>
            </a:r>
            <a:r>
              <a:rPr b="1"/>
              <a:t>Which configuration meets your product's quality requirement?</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A hardcoded model ID with no eval suite behind it.</a:t>
            </a:r>
            <a:r>
              <a:rPr b="0"/>
              <a:t> That leaves you choosing a replacement without evidence.</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When you are the owner, the model is a component you select, measure, and replace.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Select for capability on your tasks, cost per completed task, p95 latency, context, tool use, and data residency.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Measure your product on representative cases under its operating conditions.</a:t>
            </a:r>
            <a:r>
              <a:rPr b="0"/>
              <a:t> Public benchmarks use a different population and harness.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Pinned version: controlled migration and lifecycle management. Moving alias: automatic updates and regression monitoring.</a:t>
            </a:r>
            <a:r>
              <a:rPr b="0"/>
              <a:t> A snapshot controls one source of variation. Prompts, tools, retrieval, and the environment also affect behavior. On prime/composite classification with step-by-step prompting, the March and June 2023 GPT-4 versions scored 84% and 51%. Changed instruction following partly explains the result. This is not overall quality or a pinned snapshot changing internally.</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LangChain compared three configurations across 145 tasks. </a:t>
            </a:r>
            <a:r>
              <a:rPr b="1"/>
              <a:t>Read accuracy and cost together.</a:t>
            </a:r>
            <a:r>
              <a:rPr b="0"/>
              <a:t> Frontier-only scored 86%, routed 80%, and small-only 77.7%. The router selected frontier for 7% of agent calls, excluding judge calls. Its 2.3-point gain over small-only was below observed variation of about 2.7 points. Selection ranged from 4.1% to 9.1%. The cost-per-completed-task drop is about 72%; the article's 74% uses total cost. </a:t>
            </a:r>
            <a:r>
              <a:rPr b="1"/>
              <a:t>Which configuration meets your product's quality requirement?</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A hardcoded model ID with no eval suite behind it.</a:t>
            </a:r>
            <a:r>
              <a:rPr b="0"/>
              <a:t> That leaves you choosing a replacement without evidence.</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When you are the owner, the model is a component you select, measure, and replace.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Select for capability on your tasks, cost per completed task, p95 latency, context, tool use, and data residency.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Measure your product on representative cases under its operating conditions.</a:t>
            </a:r>
            <a:r>
              <a:rPr b="0"/>
              <a:t> Public benchmarks use a different population and harness.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Pinned version: controlled migration and lifecycle management. Moving alias: automatic updates and regression monitoring.</a:t>
            </a:r>
            <a:r>
              <a:rPr b="0"/>
              <a:t> A snapshot controls one source of variation. Prompts, tools, retrieval, and the environment also affect behavior. On prime/composite classification with step-by-step prompting, the March and June 2023 GPT-4 versions scored 84% and 51%. Changed instruction following partly explains the result. This is not overall quality or a pinned snapshot changing internally.</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LangChain compared three configurations across 145 tasks. </a:t>
            </a:r>
            <a:r>
              <a:rPr b="1"/>
              <a:t>Read accuracy and cost together.</a:t>
            </a:r>
            <a:r>
              <a:rPr b="0"/>
              <a:t> Frontier-only scored 86%, routed 80%, and small-only 77.7%. The router selected frontier for 7% of agent calls, excluding judge calls. Its 2.3-point gain over small-only was below observed variation of about 2.7 points. Selection ranged from 4.1% to 9.1%. The cost-per-completed-task drop is about 72%; the article's 74% uses total cost. </a:t>
            </a:r>
            <a:r>
              <a:rPr b="1"/>
              <a:t>Which configuration meets your product's quality requirement?</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A hardcoded model ID with no eval suite behind it.</a:t>
            </a:r>
            <a:r>
              <a:rPr b="0"/>
              <a:t> That leaves you choosing a replacement without evidence.</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When you are the owner, the model is a component you select, measure, and replace.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Select for capability on your tasks, cost per completed task, p95 latency, context, tool use, and data residency.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Measure your product on representative cases under its operating conditions.</a:t>
            </a:r>
            <a:r>
              <a:rPr b="0"/>
              <a:t> Public benchmarks use a different population and harness.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Pinned version: controlled migration and lifecycle management. Moving alias: automatic updates and regression monitoring.</a:t>
            </a:r>
            <a:r>
              <a:rPr b="0"/>
              <a:t> A snapshot controls one source of variation. Prompts, tools, retrieval, and the environment also affect behavior. On prime/composite classification with step-by-step prompting, the March and June 2023 GPT-4 versions scored 84% and 51%. Changed instruction following partly explains the result. This is not overall quality or a pinned snapshot changing internally.</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LangChain compared three configurations across 145 tasks. </a:t>
            </a:r>
            <a:r>
              <a:rPr b="1"/>
              <a:t>Read accuracy and cost together.</a:t>
            </a:r>
            <a:r>
              <a:rPr b="0"/>
              <a:t> Frontier-only scored 86%, routed 80%, and small-only 77.7%. The router selected frontier for 7% of agent calls, excluding judge calls. Its 2.3-point gain over small-only was below observed variation of about 2.7 points. Selection ranged from 4.1% to 9.1%. The cost-per-completed-task drop is about 72%; the article's 74% uses total cost. </a:t>
            </a:r>
            <a:r>
              <a:rPr b="1"/>
              <a:t>Which configuration meets your product's quality requirement?</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A hardcoded model ID with no eval suite behind it.</a:t>
            </a:r>
            <a:r>
              <a:rPr b="0"/>
              <a:t> That leaves you choosing a replacement without evidence.</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Anthropic calls context </a:t>
            </a:r>
            <a:r>
              <a:rPr b="1"/>
              <a:t>a finite resource with diminishing marginal returns</a:t>
            </a:r>
            <a:r>
              <a:rPr b="0"/>
              <a:t>.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provider engineered instructions, compaction, memory, and retrieval. </a:t>
            </a:r>
            <a:r>
              <a:rPr b="1"/>
              <a:t>RAG means retrieving relevant external information and supplying it to the model.</a:t>
            </a:r>
            <a:r>
              <a:rPr b="0"/>
              <a:t>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Caching is another context decision. Manus reported about a hundred input tokens per output token, with a tenfold cached-input price gap in its July 2025 example. These are that team's experience and prices. </a:t>
            </a:r>
            <a:r>
              <a:rPr b="1"/>
              <a:t>Preserve stable prompt prefixes when useful. Measure the savings, and update context or tool access when correctness or authorization requires it.</a:t>
            </a:r>
            <a:r>
              <a:rPr b="0"/>
              <a:t> A stale policy is not acceptable just because it improves cache hits.</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Anthropic calls context </a:t>
            </a:r>
            <a:r>
              <a:rPr b="1"/>
              <a:t>a finite resource with diminishing marginal returns</a:t>
            </a:r>
            <a:r>
              <a:rPr b="0"/>
              <a:t>.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provider engineered instructions, compaction, memory, and retrieval. </a:t>
            </a:r>
            <a:r>
              <a:rPr b="1"/>
              <a:t>RAG means retrieving relevant external information and supplying it to the model.</a:t>
            </a:r>
            <a:r>
              <a:rPr b="0"/>
              <a:t>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Caching is another context decision. Manus reported about a hundred input tokens per output token, with a tenfold cached-input price gap in its July 2025 example. These are that team's experience and prices. </a:t>
            </a:r>
            <a:r>
              <a:rPr b="1"/>
              <a:t>Preserve stable prompt prefixes when useful. Measure the savings, and update context or tool access when correctness or authorization requires it.</a:t>
            </a:r>
            <a:r>
              <a:rPr b="0"/>
              <a:t> A stale policy is not acceptable just because it improves cache hits.</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Anthropic calls context </a:t>
            </a:r>
            <a:r>
              <a:rPr b="1"/>
              <a:t>a finite resource with diminishing marginal returns</a:t>
            </a:r>
            <a:r>
              <a:rPr b="0"/>
              <a:t>.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provider engineered instructions, compaction, memory, and retrieval. </a:t>
            </a:r>
            <a:r>
              <a:rPr b="1"/>
              <a:t>RAG means retrieving relevant external information and supplying it to the model.</a:t>
            </a:r>
            <a:r>
              <a:rPr b="0"/>
              <a:t>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Caching is another context decision. Manus reported about a hundred input tokens per output token, with a tenfold cached-input price gap in its July 2025 example. These are that team's experience and prices. </a:t>
            </a:r>
            <a:r>
              <a:rPr b="1"/>
              <a:t>Preserve stable prompt prefixes when useful. Measure the savings, and update context or tool access when correctness or authorization requires it.</a:t>
            </a:r>
            <a:r>
              <a:rPr b="0"/>
              <a:t> A stale policy is not acceptable just because it improves cache hits.</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Anthropic calls context </a:t>
            </a:r>
            <a:r>
              <a:rPr b="1"/>
              <a:t>a finite resource with diminishing marginal returns</a:t>
            </a:r>
            <a:r>
              <a:rPr b="0"/>
              <a:t>.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provider engineered instructions, compaction, memory, and retrieval. </a:t>
            </a:r>
            <a:r>
              <a:rPr b="1"/>
              <a:t>RAG means retrieving relevant external information and supplying it to the model.</a:t>
            </a:r>
            <a:r>
              <a:rPr b="0"/>
              <a:t>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Caching is another context decision. Manus reported about a hundred input tokens per output token, with a tenfold cached-input price gap in its July 2025 example. These are that team's experience and prices. </a:t>
            </a:r>
            <a:r>
              <a:rPr b="1"/>
              <a:t>Preserve stable prompt prefixes when useful. Measure the savings, and update context or tool access when correctness or authorization requires it.</a:t>
            </a:r>
            <a:r>
              <a:rPr b="0"/>
              <a:t> A stale policy is not acceptable just because it improves cache hits.</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What goes in the window: instructions, examples, retrieved knowledge, session state, memory, tool results. Each has a relevance, a freshness, a provenance, and a size.</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vendor chose your context budget, your compaction policy, your memory convention, and your retrieval strategy. </a:t>
            </a:r>
            <a:r>
              <a:rPr b="1"/>
              <a:t>You own all four now.</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Customer-facing raises the stakes, because the context now holds another person's data. </a:t>
            </a:r>
            <a:r>
              <a:rPr b="1"/>
              <a:t>A compaction that drops a constraint can produce a wrong answer. Memory exposed to the wrong user or tenant is a breach.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The pitfall: </a:t>
            </a:r>
            <a:r>
              <a:rPr b="1"/>
              <a:t>adding context instead of curating it.</a:t>
            </a:r>
            <a:r>
              <a:rPr b="0"/>
              <a:t> A big window is not permission to fill it.</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What goes in the window: instructions, examples, retrieved knowledge, session state, memory, tool results. Each has a relevance, a freshness, a provenance, and a size.</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vendor chose your context budget, your compaction policy, your memory convention, and your retrieval strategy. </a:t>
            </a:r>
            <a:r>
              <a:rPr b="1"/>
              <a:t>You own all four now.</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Customer-facing raises the stakes, because the context now holds another person's data. </a:t>
            </a:r>
            <a:r>
              <a:rPr b="1"/>
              <a:t>A compaction that drops a constraint can produce a wrong answer. Memory exposed to the wrong user or tenant is a breach.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The pitfall: </a:t>
            </a:r>
            <a:r>
              <a:rPr b="1"/>
              <a:t>adding context instead of curating it.</a:t>
            </a:r>
            <a:r>
              <a:rPr b="0"/>
              <a:t> A big window is not permission to fill it.</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MCP configuration connects tools. The permission prompt exposes a policy choice. Codex and Devin provide sandbox and approval settings. A model can recommend approving a command, but </a:t>
            </a:r>
            <a:r>
              <a:rPr b="1"/>
              <a:t>that recommendation does not establish permission</a:t>
            </a:r>
            <a:r>
              <a:rPr b="0"/>
              <a: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tool is a contract between code and a model caller.</a:t>
            </a:r>
            <a:r>
              <a:rPr b="0"/>
              <a:t> Evaluate granularity for the task. A scheduling tool can consolidate several operations, but consolidation is an option to test. Namespace related tools. </a:t>
            </a:r>
            <a:r>
              <a:rPr b="1"/>
              <a:t>Return meaningful names alongside stable IDs needed to act.</a:t>
            </a:r>
            <a:r>
              <a:rPr b="0"/>
              <a:t> Two customers may share a name. Offer concise and detailed payloads where useful.</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MCP configuration connects tools. The permission prompt exposes a policy choice. Codex and Devin provide sandbox and approval settings. A model can recommend approving a command, but </a:t>
            </a:r>
            <a:r>
              <a:rPr b="1"/>
              <a:t>that recommendation does not establish permission</a:t>
            </a:r>
            <a:r>
              <a:rPr b="0"/>
              <a: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tool is a contract between code and a model caller.</a:t>
            </a:r>
            <a:r>
              <a:rPr b="0"/>
              <a:t> Evaluate granularity for the task. A scheduling tool can consolidate several operations, but consolidation is an option to test. Namespace related tools. </a:t>
            </a:r>
            <a:r>
              <a:rPr b="1"/>
              <a:t>Return meaningful names alongside stable IDs needed to act.</a:t>
            </a:r>
            <a:r>
              <a:rPr b="0"/>
              <a:t> Two customers may share a name. Offer concise and detailed payloads where useful.</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MCP configuration connects tools. The permission prompt exposes a policy choice. Codex and Devin provide sandbox and approval settings. A model can recommend approving a command, but </a:t>
            </a:r>
            <a:r>
              <a:rPr b="1"/>
              <a:t>that recommendation does not establish permission</a:t>
            </a:r>
            <a:r>
              <a:rPr b="0"/>
              <a: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tool is a contract between code and a model caller.</a:t>
            </a:r>
            <a:r>
              <a:rPr b="0"/>
              <a:t> Evaluate granularity for the task. A scheduling tool can consolidate several operations, but consolidation is an option to test. Namespace related tools. </a:t>
            </a:r>
            <a:r>
              <a:rPr b="1"/>
              <a:t>Return meaningful names alongside stable IDs needed to act.</a:t>
            </a:r>
            <a:r>
              <a:rPr b="0"/>
              <a:t> Two customers may share a name. Offer concise and detailed payloads where useful.</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 write descriptions and evaluate task fit. You build the gate.</a:t>
            </a:r>
            <a:r>
              <a:rPr b="0"/>
              <a:t> Payload detail, granularity, and failure handling are your decisions.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Scoped reads need access enforcement. Reversible changes need validation and recovery. Consequential actions need policy authorization or approval. </a:t>
            </a:r>
            <a:r>
              <a:rPr b="1"/>
              <a:t>Authorization applies to every category and is enforced outside the model. A model recommendation does not establish permission.</a:t>
            </a:r>
            <a:r>
              <a:rPr b="0"/>
              <a:t> Approval may be human, async, or an enforced policy.</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Legit Security demonstrated CamoLeak: hidden pull-request instructions exfiltrated private data through image URLs. Separately, The Hacker News reported Koi's audit: 341 malicious skills among 2,857. That is secondary reporting, not an independently checked audit here.</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Copying the API surface without evaluating task fit.</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 write descriptions and evaluate task fit. You build the gate.</a:t>
            </a:r>
            <a:r>
              <a:rPr b="0"/>
              <a:t> Payload detail, granularity, and failure handling are your decisions.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Scoped reads need access enforcement. Reversible changes need validation and recovery. Consequential actions need policy authorization or approval. </a:t>
            </a:r>
            <a:r>
              <a:rPr b="1"/>
              <a:t>Authorization applies to every category and is enforced outside the model. A model recommendation does not establish permission.</a:t>
            </a:r>
            <a:r>
              <a:rPr b="0"/>
              <a:t> Approval may be human, async, or an enforced policy.</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Legit Security demonstrated CamoLeak: hidden pull-request instructions exfiltrated private data through image URLs. Separately, The Hacker News reported Koi's audit: 341 malicious skills among 2,857. That is secondary reporting, not an independently checked audit here.</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Copying the API surface without evaluating task fit.</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Workflows are LLMs and tools on predefined code paths. Agents direct their own. </a:t>
            </a:r>
            <a:r>
              <a:rPr b="1"/>
              <a:t>Start with the workflow.</a:t>
            </a:r>
            <a:r>
              <a:rPr b="0"/>
              <a:t> Five patterns cover most of it: chaining, routing, parallelization, orchestrator and workers, evaluator and optimizer.</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You own the loop.</a:t>
            </a:r>
            <a:r>
              <a:rPr b="0"/>
              <a:t> Stopping conditions, starting with a maximum number of iterations. State and resume. Retries. Escalation to a human as a tool call. Routing between a planner and cheap workers. The compaction trigger. And the budgets: tokens, actions, latency. Twelve-factor agents says it in four lines: own your prompts, own your context window, own your control flow, contact humans with tool calls.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Customer-facing: a human is waiting. Latency is a product requirement. </a:t>
            </a:r>
            <a:r>
              <a:rPr b="1"/>
              <a:t>An unbounded loop is an outage.</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The pitfall: </a:t>
            </a:r>
            <a:r>
              <a:rPr b="1"/>
              <a:t>multi-agent orchestration before a workflow was tried.</a:t>
            </a:r>
            <a:r>
              <a:rPr b="0"/>
              <a:t> Separately, Gartner's June 2025 forecast predicted over 40% of agentic projects canceled by end of 2027, citing cost, unclear value, and inadequate controls. </a:t>
            </a:r>
            <a:r>
              <a:rPr b="1"/>
              <a:t>That forecast does not establish that multi-agent architecture causes cancellations.</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Workflows are LLMs and tools on predefined code paths. Agents direct their own. </a:t>
            </a:r>
            <a:r>
              <a:rPr b="1"/>
              <a:t>Start with the workflow.</a:t>
            </a:r>
            <a:r>
              <a:rPr b="0"/>
              <a:t> Five patterns cover most of it: chaining, routing, parallelization, orchestrator and workers, evaluator and optimizer.</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You own the loop.</a:t>
            </a:r>
            <a:r>
              <a:rPr b="0"/>
              <a:t> Stopping conditions, starting with a maximum number of iterations. State and resume. Retries. Escalation to a human as a tool call. Routing between a planner and cheap workers. The compaction trigger. And the budgets: tokens, actions, latency. Twelve-factor agents says it in four lines: own your prompts, own your context window, own your control flow, contact humans with tool calls.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Customer-facing: a human is waiting. Latency is a product requirement. </a:t>
            </a:r>
            <a:r>
              <a:rPr b="1"/>
              <a:t>An unbounded loop is an outage.</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The pitfall: </a:t>
            </a:r>
            <a:r>
              <a:rPr b="1"/>
              <a:t>multi-agent orchestration before a workflow was tried.</a:t>
            </a:r>
            <a:r>
              <a:rPr b="0"/>
              <a:t> Separately, Gartner's June 2025 forecast predicted over 40% of agentic projects canceled by end of 2027, citing cost, unclear value, and inadequate controls. </a:t>
            </a:r>
            <a:r>
              <a:rPr b="1"/>
              <a:t>That forecast does not establish that multi-agent architecture causes cancellations.</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Workflows are LLMs and tools on predefined code paths. Agents direct their own. </a:t>
            </a:r>
            <a:r>
              <a:rPr b="1"/>
              <a:t>Start with the workflow.</a:t>
            </a:r>
            <a:r>
              <a:rPr b="0"/>
              <a:t> Five patterns cover most of it: chaining, routing, parallelization, orchestrator and workers, evaluator and optimizer.</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You own the loop.</a:t>
            </a:r>
            <a:r>
              <a:rPr b="0"/>
              <a:t> Stopping conditions, starting with a maximum number of iterations. State and resume. Retries. Escalation to a human as a tool call. Routing between a planner and cheap workers. The compaction trigger. And the budgets: tokens, actions, latency. Twelve-factor agents says it in four lines: own your prompts, own your context window, own your control flow, contact humans with tool calls.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Customer-facing: a human is waiting. Latency is a product requirement. </a:t>
            </a:r>
            <a:r>
              <a:rPr b="1"/>
              <a:t>An unbounded loop is an outage.</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The pitfall: </a:t>
            </a:r>
            <a:r>
              <a:rPr b="1"/>
              <a:t>multi-agent orchestration before a workflow was tried.</a:t>
            </a:r>
            <a:r>
              <a:rPr b="0"/>
              <a:t> Separately, Gartner's June 2025 forecast predicted over 40% of agentic projects canceled by end of 2027, citing cost, unclear value, and inadequate controls. </a:t>
            </a:r>
            <a:r>
              <a:rPr b="1"/>
              <a:t>That forecast does not establish that multi-agent architecture causes cancellations.</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Here is an illustrative grader. The agent says a flight is booked. Look for a reservation matching the requested traveler and itinerary. No matching reservation means the result check fails. Separately inspect required approvals and access constraints. Those matter. An arbitrary sequence of tool calls does not define success.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flight-booking illustration.</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Here is an illustrative grader. The agent says a flight is booked. Look for a reservation matching the requested traveler and itinerary. No matching reservation means the result check fails. Separately inspect required approvals and access constraints. Those matter. An arbitrary sequence of tool calls does not define success.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flight-booking illustration.</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Here is an illustrative grader. The agent says a flight is booked. Look for a reservation matching the requested traveler and itinerary. No matching reservation means the result check fails. Separately inspect required approvals and access constraints. Those matter. An arbitrary sequence of tool calls does not define success.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flight-booking illustration.</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Here is an illustrative grader. The agent says a flight is booked. Look for a reservation matching the requested traveler and itinerary. No matching reservation means the result check fails. Separately inspect required approvals and access constraints. Those matter. An arbitrary sequence of tool calls does not define success.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flight-booking illustration.</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Here is an illustrative grader. The agent says a flight is booked. Look for a reservation matching the requested traveler and itinerary. No matching reservation means the result check fails. Separately inspect required approvals and access constraints. Those matter. An arbitrary sequence of tool calls does not define success.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flight-booking illustration.</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 must define the checks your domain needs.</a:t>
            </a:r>
            <a:r>
              <a:rPr b="0"/>
              <a:t> Refund limits, duplicate actions, account ownership, and ledger state may be directly checkable. Other qualities, such as faithfulness, may need expert judgment.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Build the verifier. Measure behavior across representative cases and repeated trials. Keep regression checks running and sample production traffic as the system changes.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Your eval suite gives evidence for a migration decision.</a:t>
            </a:r>
            <a:r>
              <a:rPr b="0"/>
              <a:t> The time and confidence depend on the task, sample size, and deployment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A generic judge instead of error analysis. Trusting the success claim without checking the result.</a:t>
            </a:r>
          </a:p>
          <a:p xmlns:a="http://schemas.openxmlformats.org/drawingml/2006/main">
            <a:r>
              <a:t/>
            </a:r>
          </a:p>
          <a:p xmlns:a="http://schemas.openxmlformats.org/drawingml/2006/main">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 must define the checks your domain needs.</a:t>
            </a:r>
            <a:r>
              <a:rPr b="0"/>
              <a:t> Refund limits, duplicate actions, account ownership, and ledger state may be directly checkable. Other qualities, such as faithfulness, may need expert judgment.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Build the verifier. Measure behavior across representative cases and repeated trials. Keep regression checks running and sample production traffic as the system changes.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Your eval suite gives evidence for a migration decision.</a:t>
            </a:r>
            <a:r>
              <a:rPr b="0"/>
              <a:t> The time and confidence depend on the task, sample size, and deployment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A generic judge instead of error analysis. Trusting the success claim without checking the result.</a:t>
            </a:r>
          </a:p>
          <a:p xmlns:a="http://schemas.openxmlformats.org/drawingml/2006/main">
            <a:r>
              <a:t/>
            </a:r>
          </a:p>
          <a:p xmlns:a="http://schemas.openxmlformats.org/drawingml/2006/main">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 own the approval process.</a:t>
            </a:r>
            <a:r>
              <a:rPr b="0"/>
              <a:t> It can include a person approving now, an async workflow, or an enforced policy. The sandbox becomes infrastructure. The audit trail supports accountability. Disclosure duties depend on the product's role and scope.</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The lethal trifecta, assembled one integration at a time.</a:t>
            </a:r>
            <a:r>
              <a:rPr b="0"/>
              <a:t> Count capabilities. A web fetch can already communicate externally. One integration can supply multiple corners. Break or constrain the exfiltration path.</a:t>
            </a:r>
          </a:p>
          <a:p xmlns:a="http://schemas.openxmlformats.org/drawingml/2006/main">
            <a:r>
              <a:t/>
            </a:r>
          </a:p>
          <a:p xmlns:a="http://schemas.openxmlformats.org/drawingml/2006/main">
            <a:r>
              <a:rPr b="1"/>
              <a:t>When you are the owner, its answer is your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That is the map. Every box on it is something you can engineer, because most of it is engineering you already know how to do.</a:t>
            </a:r>
          </a:p>
          <a:p xmlns:a="http://schemas.openxmlformats.org/drawingml/2006/main">
            <a:r>
              <a:t/>
            </a:r>
          </a:p>
          <a:p xmlns:a="http://schemas.openxmlformats.org/drawingml/2006/main">
            <a:r>
              <a:rPr b="0"/>
              <a:t>Advance to slide 20, the Section 3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 own the approval process.</a:t>
            </a:r>
            <a:r>
              <a:rPr b="0"/>
              <a:t> It can include a person approving now, an async workflow, or an enforced policy. The sandbox becomes infrastructure. The audit trail supports accountability. Disclosure duties depend on the product's role and scope.</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The lethal trifecta, assembled one integration at a time.</a:t>
            </a:r>
            <a:r>
              <a:rPr b="0"/>
              <a:t> Count capabilities. A web fetch can already communicate externally. One integration can supply multiple corners. Break or constrain the exfiltration path.</a:t>
            </a:r>
          </a:p>
          <a:p xmlns:a="http://schemas.openxmlformats.org/drawingml/2006/main">
            <a:r>
              <a:t/>
            </a:r>
          </a:p>
          <a:p xmlns:a="http://schemas.openxmlformats.org/drawingml/2006/main">
            <a:r>
              <a:rPr b="1"/>
              <a:t>When you are the owner, its answer is your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That is the map. Every box on it is something you can engineer, because most of it is engineering you already know how to do.</a:t>
            </a:r>
          </a:p>
          <a:p xmlns:a="http://schemas.openxmlformats.org/drawingml/2006/main">
            <a:r>
              <a:t/>
            </a:r>
          </a:p>
          <a:p xmlns:a="http://schemas.openxmlformats.org/drawingml/2006/main">
            <a:r>
              <a:rPr b="0"/>
              <a:t>Advance to slide 20, the Section 3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Everything in the last twenty-five minutes was engineering. </a:t>
            </a:r>
            <a:r>
              <a:rPr b="1"/>
              <a:t>Most of it is engineering you already do.</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20.</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20.</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 Let them read it.</a:t>
            </a:r>
          </a:p>
          <a:p xmlns:a="http://schemas.openxmlformats.org/drawingml/2006/main">
            <a:r>
              <a:t/>
            </a:r>
          </a:p>
          <a:p xmlns:a="http://schemas.openxmlformats.org/drawingml/2006/main">
            <a:r>
              <a:rPr b="0"/>
              <a:t>You have seen all six.</a:t>
            </a:r>
          </a:p>
          <a:p xmlns:a="http://schemas.openxmlformats.org/drawingml/2006/main">
            <a:r>
              <a:t/>
            </a:r>
          </a:p>
          <a:p xmlns:a="http://schemas.openxmlformats.org/drawingml/2006/main">
            <a:r>
              <a:rPr b="1"/>
              <a:t>Every one is a symptom of the same thing: treating the demo as the product.</a:t>
            </a:r>
            <a:r>
              <a:rPr b="0"/>
              <a:t> works.any() shipped as works.all().</a:t>
            </a:r>
          </a:p>
          <a:p xmlns:a="http://schemas.openxmlformats.org/drawingml/2006/main">
            <a:r>
              <a:t/>
            </a:r>
          </a:p>
          <a:p xmlns:a="http://schemas.openxmlformats.org/drawingml/2006/main">
            <a:r>
              <a:rPr b="0"/>
              <a:t>One more that is not on the map: reaching for a framework before understanding the loop. Anthropic's warning is that frameworks "create extra layers of abstraction that can obscure the underlying prompts and responses." Learn the loop first.</a:t>
            </a:r>
          </a:p>
          <a:p xmlns:a="http://schemas.openxmlformats.org/drawingml/2006/main">
            <a:r>
              <a:t/>
            </a:r>
          </a:p>
          <a:p xmlns:a="http://schemas.openxmlformats.org/drawingml/2006/main">
            <a:r>
              <a:rPr b="1"/>
              <a:t>Every pitfall on this list is a demo mistaken for a product.</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On Monday, review twenty to fifty outputs of whatever AI feature you are closest to, by hand.</a:t>
            </a:r>
            <a:r>
              <a:rPr b="0"/>
              <a:t> Write down what is wrong with each one. That is your first eval. Do it before any infrastructure.</a:t>
            </a:r>
          </a:p>
          <a:p xmlns:a="http://schemas.openxmlformats.org/drawingml/2006/main">
            <a:r>
              <a:t/>
            </a:r>
          </a:p>
          <a:p xmlns:a="http://schemas.openxmlformats.org/drawingml/2006/main">
            <a:r>
              <a:rPr b="1"/>
              <a:t>Start constrained. A single model call with retrieval and examples. Then a workflow on predefined code paths. Add a loop only when it demonstrably improves outcomes.</a:t>
            </a:r>
          </a:p>
          <a:p xmlns:a="http://schemas.openxmlformats.org/drawingml/2006/main">
            <a:r>
              <a:t/>
            </a:r>
          </a:p>
          <a:p xmlns:a="http://schemas.openxmlformats.org/drawingml/2006/main">
            <a:r>
              <a:rPr b="0"/>
              <a:t>Own the harness. Your prompts, your context window, your control flow. Learn the loop before you adopt a framework for it, so the framework is a convenience you can evaluate, not a black box you depend on.</a:t>
            </a:r>
          </a:p>
          <a:p xmlns:a="http://schemas.openxmlformats.org/drawingml/2006/main">
            <a:r>
              <a:t/>
            </a:r>
          </a:p>
          <a:p xmlns:a="http://schemas.openxmlformats.org/drawingml/2006/main">
            <a:r>
              <a:rPr b="1"/>
              <a:t>Add autonomy as your evals earn it.</a:t>
            </a:r>
            <a:r>
              <a:rPr b="0"/>
              <a:t> Every step up is paid for by a check that catches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On the slide, the shape of Mitchell Hashimoto's own year: six steps, each earned by the last.</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25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On Monday, review twenty to fifty outputs of whatever AI feature you are closest to, by hand.</a:t>
            </a:r>
            <a:r>
              <a:rPr b="0"/>
              <a:t> Write down what is wrong with each one. That is your first eval. Do it before any infrastructure.</a:t>
            </a:r>
          </a:p>
          <a:p xmlns:a="http://schemas.openxmlformats.org/drawingml/2006/main">
            <a:r>
              <a:t/>
            </a:r>
          </a:p>
          <a:p xmlns:a="http://schemas.openxmlformats.org/drawingml/2006/main">
            <a:r>
              <a:rPr b="1"/>
              <a:t>Start constrained. A single model call with retrieval and examples. Then a workflow on predefined code paths. Add a loop only when it demonstrably improves outcomes.</a:t>
            </a:r>
          </a:p>
          <a:p xmlns:a="http://schemas.openxmlformats.org/drawingml/2006/main">
            <a:r>
              <a:t/>
            </a:r>
          </a:p>
          <a:p xmlns:a="http://schemas.openxmlformats.org/drawingml/2006/main">
            <a:r>
              <a:rPr b="0"/>
              <a:t>Own the harness. Your prompts, your context window, your control flow. Learn the loop before you adopt a framework for it, so the framework is a convenience you can evaluate, not a black box you depend on.</a:t>
            </a:r>
          </a:p>
          <a:p xmlns:a="http://schemas.openxmlformats.org/drawingml/2006/main">
            <a:r>
              <a:t/>
            </a:r>
          </a:p>
          <a:p xmlns:a="http://schemas.openxmlformats.org/drawingml/2006/main">
            <a:r>
              <a:rPr b="1"/>
              <a:t>Add autonomy as your evals earn it.</a:t>
            </a:r>
            <a:r>
              <a:rPr b="0"/>
              <a:t> Every step up is paid for by a check that catches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On the slide, the shape of Mitchell Hashimoto's own year: six steps, each earned by the last.</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25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We have fifteen minutes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27077e3b474bc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269bc75ef5334e5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0fd0abdbcaa9410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9A4138B0-FEE3-4A83-B132-F9458AE1B3DC}"/>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5acdb86d77746d8" /><Relationship Type="http://schemas.openxmlformats.org/officeDocument/2006/relationships/slideLayout" Target="/ppt/slideLayouts/slideLayout1.xml" Id="R0300abbdb62d4bba"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f764391ecd574d7f" /><Relationship Type="http://schemas.openxmlformats.org/officeDocument/2006/relationships/slideLayout" Target="/ppt/slideLayouts/slideLayout2.xml" Id="R234f27050f154b81" /><Relationship Type="http://schemas.openxmlformats.org/officeDocument/2006/relationships/slideLayout" Target="/ppt/slideLayouts/slideLayout3.xml" Id="Raaede2001f5c415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00abbdb62d4bba"/>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234f27050f154b81"/>
    <p:sldLayoutId xmlns:r="http://schemas.openxmlformats.org/officeDocument/2006/relationships" id="2147483652" r:id="Raaede2001f5c4152"/>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a70c045c10044685" /><Relationship Type="http://schemas.openxmlformats.org/officeDocument/2006/relationships/notesSlide" Target="/ppt/notesSlides/notesSlide1.xml" Id="R322bd24d042d41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ae7e32f80ba4448" /><Relationship Type="http://schemas.openxmlformats.org/officeDocument/2006/relationships/notesSlide" Target="/ppt/notesSlides/notesSlide2.xml" Id="R19c36e3e43d34d1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668d84079ba24b70" /><Relationship Type="http://schemas.openxmlformats.org/officeDocument/2006/relationships/image" Target="/ppt/media/image.png" Id="R23ae673b580845da" /><Relationship Type="http://schemas.openxmlformats.org/officeDocument/2006/relationships/notesSlide" Target="/ppt/notesSlides/notesSlide3.xml" Id="Rfa9551ce0cf84a79"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d49fd3b23d174344" /><Relationship Type="http://schemas.openxmlformats.org/officeDocument/2006/relationships/notesSlide" Target="/ppt/notesSlides/notesSlide4.xml" Id="R35ef632f4e894278"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30759cbdd00d4537" /><Relationship Type="http://schemas.openxmlformats.org/officeDocument/2006/relationships/notesSlide" Target="/ppt/notesSlides/notesSlide5.xml" Id="R25ad64def70543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751fc01f05f1442a" /><Relationship Type="http://schemas.openxmlformats.org/officeDocument/2006/relationships/notesSlide" Target="/ppt/notesSlides/notesSlide6.xml" Id="Rd6c9abff009b4b38"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da560325cbfb40a1" /><Relationship Type="http://schemas.openxmlformats.org/officeDocument/2006/relationships/notesSlide" Target="/ppt/notesSlides/notesSlide7.xml" Id="Rd894928fc6fe479c"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2d72a57353f84c9a" /><Relationship Type="http://schemas.openxmlformats.org/officeDocument/2006/relationships/notesSlide" Target="/ppt/notesSlides/notesSlide8.xml" Id="Rdf652267184a40b1"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3953f686c9ea4845" /><Relationship Type="http://schemas.openxmlformats.org/officeDocument/2006/relationships/image" Target="/ppt/media/image2.png" Id="Ra30c508eeb0c4573" /><Relationship Type="http://schemas.openxmlformats.org/officeDocument/2006/relationships/notesSlide" Target="/ppt/notesSlides/notesSlide9.xml" Id="R60ab23429a164a3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515a710048bd4d12" /><Relationship Type="http://schemas.openxmlformats.org/officeDocument/2006/relationships/image" Target="/ppt/media/image3.png" Id="Rfc0067fd35a64a03" /><Relationship Type="http://schemas.openxmlformats.org/officeDocument/2006/relationships/notesSlide" Target="/ppt/notesSlides/notesSlide10.xml" Id="R54c81b0ce4044c9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66069dcb2805422e" /><Relationship Type="http://schemas.openxmlformats.org/officeDocument/2006/relationships/image" Target="/ppt/media/image4.png" Id="Re7f3c9377bf84aca" /><Relationship Type="http://schemas.openxmlformats.org/officeDocument/2006/relationships/notesSlide" Target="/ppt/notesSlides/notesSlide11.xml" Id="Ra862e64d48324db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946078c1785e4ce0" /><Relationship Type="http://schemas.openxmlformats.org/officeDocument/2006/relationships/image" Target="/ppt/media/image5.png" Id="R1fd3435da4e8449c" /><Relationship Type="http://schemas.openxmlformats.org/officeDocument/2006/relationships/notesSlide" Target="/ppt/notesSlides/notesSlide12.xml" Id="Ra39f8464721649f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d858c3e5f0054fda" /><Relationship Type="http://schemas.openxmlformats.org/officeDocument/2006/relationships/image" Target="/ppt/media/image6.png" Id="R1b8da36384ed4e75" /><Relationship Type="http://schemas.openxmlformats.org/officeDocument/2006/relationships/notesSlide" Target="/ppt/notesSlides/notesSlide13.xml" Id="R630fa7456e934b3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8d0893ec7c03445e" /><Relationship Type="http://schemas.openxmlformats.org/officeDocument/2006/relationships/image" Target="/ppt/media/image7.png" Id="Rbb77d589b6c24f6e" /><Relationship Type="http://schemas.openxmlformats.org/officeDocument/2006/relationships/notesSlide" Target="/ppt/notesSlides/notesSlide14.xml" Id="R16383d83a6eb4fa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198e415a3ae3484d" /><Relationship Type="http://schemas.openxmlformats.org/officeDocument/2006/relationships/notesSlide" Target="/ppt/notesSlides/notesSlide15.xml" Id="R21d4e99530e24c7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628aff80b2524b91" /><Relationship Type="http://schemas.openxmlformats.org/officeDocument/2006/relationships/image" Target="/ppt/media/image8.png" Id="R582d13168f6c4e43" /><Relationship Type="http://schemas.openxmlformats.org/officeDocument/2006/relationships/notesSlide" Target="/ppt/notesSlides/notesSlide16.xml" Id="Rf182ec7ee937468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67b6ba85b72e460e" /><Relationship Type="http://schemas.openxmlformats.org/officeDocument/2006/relationships/image" Target="/ppt/media/image9.png" Id="Rb8582a1aba464ed4" /><Relationship Type="http://schemas.openxmlformats.org/officeDocument/2006/relationships/notesSlide" Target="/ppt/notesSlides/notesSlide17.xml" Id="Rb19895bf9a54482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7323790105b64429" /><Relationship Type="http://schemas.openxmlformats.org/officeDocument/2006/relationships/image" Target="/ppt/media/image9.png" Id="Rf920dd84844f4653" /><Relationship Type="http://schemas.openxmlformats.org/officeDocument/2006/relationships/notesSlide" Target="/ppt/notesSlides/notesSlide18.xml" Id="R662e86ef297240b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2ec041699dd845cc" /><Relationship Type="http://schemas.openxmlformats.org/officeDocument/2006/relationships/image" Target="/ppt/media/image9.png" Id="Re3172eb1fd0346c0" /><Relationship Type="http://schemas.openxmlformats.org/officeDocument/2006/relationships/notesSlide" Target="/ppt/notesSlides/notesSlide19.xml" Id="R8d06e9fe46dd4f2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fc13b1f40c004efc" /><Relationship Type="http://schemas.openxmlformats.org/officeDocument/2006/relationships/image" Target="/ppt/media/image9.png" Id="R2365d436ae1e44fb" /><Relationship Type="http://schemas.openxmlformats.org/officeDocument/2006/relationships/notesSlide" Target="/ppt/notesSlides/notesSlide20.xml" Id="R02c0952f26984dd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64654527322945a5" /><Relationship Type="http://schemas.openxmlformats.org/officeDocument/2006/relationships/notesSlide" Target="/ppt/notesSlides/notesSlide21.xml" Id="R24b54cd780954ed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31fd55e10c37440c" /><Relationship Type="http://schemas.openxmlformats.org/officeDocument/2006/relationships/image" Target="/ppt/media/image10.png" Id="Rb6437afcd7054021" /><Relationship Type="http://schemas.openxmlformats.org/officeDocument/2006/relationships/notesSlide" Target="/ppt/notesSlides/notesSlide22.xml" Id="Rd495159dee18462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b0d9bda0ebff4bde" /><Relationship Type="http://schemas.openxmlformats.org/officeDocument/2006/relationships/image" Target="/ppt/media/image10.png" Id="R73cd758bcb5c49dc" /><Relationship Type="http://schemas.openxmlformats.org/officeDocument/2006/relationships/notesSlide" Target="/ppt/notesSlides/notesSlide23.xml" Id="R59bfc206283e4f4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fc44dc38ccac4fe1" /><Relationship Type="http://schemas.openxmlformats.org/officeDocument/2006/relationships/image" Target="/ppt/media/image10.png" Id="R628099156d9e4c93" /><Relationship Type="http://schemas.openxmlformats.org/officeDocument/2006/relationships/notesSlide" Target="/ppt/notesSlides/notesSlide24.xml" Id="R94d6693386f44d7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98b00a57c6114f3f" /><Relationship Type="http://schemas.openxmlformats.org/officeDocument/2006/relationships/image" Target="/ppt/media/image11.png" Id="R54ddcd6183be4e73" /><Relationship Type="http://schemas.openxmlformats.org/officeDocument/2006/relationships/notesSlide" Target="/ppt/notesSlides/notesSlide25.xml" Id="R2f9995a77b41489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f45e98195d0e4d68" /><Relationship Type="http://schemas.openxmlformats.org/officeDocument/2006/relationships/image" Target="/ppt/media/image11.png" Id="Rfda03d75aa74405e" /><Relationship Type="http://schemas.openxmlformats.org/officeDocument/2006/relationships/notesSlide" Target="/ppt/notesSlides/notesSlide26.xml" Id="R86d20415dc07473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7e99d3f4bce643ac" /><Relationship Type="http://schemas.openxmlformats.org/officeDocument/2006/relationships/notesSlide" Target="/ppt/notesSlides/notesSlide27.xml" Id="Rd42ac262cdbe469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3308e9adb3c74f71" /><Relationship Type="http://schemas.openxmlformats.org/officeDocument/2006/relationships/image" Target="/ppt/media/image12.png" Id="R1248417e39764856" /><Relationship Type="http://schemas.openxmlformats.org/officeDocument/2006/relationships/notesSlide" Target="/ppt/notesSlides/notesSlide28.xml" Id="R2859793449f7490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b0a8fb8e4cf54452" /><Relationship Type="http://schemas.openxmlformats.org/officeDocument/2006/relationships/image" Target="/ppt/media/image12.png" Id="R9907e4f2c8aa47c5" /><Relationship Type="http://schemas.openxmlformats.org/officeDocument/2006/relationships/notesSlide" Target="/ppt/notesSlides/notesSlide29.xml" Id="R252244de56d7400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db797dbb21cb4149" /><Relationship Type="http://schemas.openxmlformats.org/officeDocument/2006/relationships/image" Target="/ppt/media/image13.png" Id="R34924d0a709645fb" /><Relationship Type="http://schemas.openxmlformats.org/officeDocument/2006/relationships/notesSlide" Target="/ppt/notesSlides/notesSlide30.xml" Id="Rd0c653ba0f2a429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7b4a1e451a6547e9" /><Relationship Type="http://schemas.openxmlformats.org/officeDocument/2006/relationships/image" Target="/ppt/media/image13.png" Id="R2de33b90702d45f7" /><Relationship Type="http://schemas.openxmlformats.org/officeDocument/2006/relationships/notesSlide" Target="/ppt/notesSlides/notesSlide31.xml" Id="R89cc083b9ca3436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49ef31de351d4d1d" /><Relationship Type="http://schemas.openxmlformats.org/officeDocument/2006/relationships/notesSlide" Target="/ppt/notesSlides/notesSlide32.xml" Id="R5f66e73bbe2447a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b3c10cee112a49eb" /><Relationship Type="http://schemas.openxmlformats.org/officeDocument/2006/relationships/image" Target="/ppt/media/image14.png" Id="R259f9f2454bb4033" /><Relationship Type="http://schemas.openxmlformats.org/officeDocument/2006/relationships/notesSlide" Target="/ppt/notesSlides/notesSlide33.xml" Id="Rd633e03f03b741f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37094f4f767545d3" /><Relationship Type="http://schemas.openxmlformats.org/officeDocument/2006/relationships/image" Target="/ppt/media/image14.png" Id="R556948c4e2434054" /><Relationship Type="http://schemas.openxmlformats.org/officeDocument/2006/relationships/notesSlide" Target="/ppt/notesSlides/notesSlide34.xml" Id="Reb141ac0dd4a4ca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9ac106decdb140d4" /><Relationship Type="http://schemas.openxmlformats.org/officeDocument/2006/relationships/image" Target="/ppt/media/image14.png" Id="R6f67da64da944784" /><Relationship Type="http://schemas.openxmlformats.org/officeDocument/2006/relationships/notesSlide" Target="/ppt/notesSlides/notesSlide35.xml" Id="Rb78e606ad7504e9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76be38a210e84975" /><Relationship Type="http://schemas.openxmlformats.org/officeDocument/2006/relationships/image" Target="/ppt/media/image14.png" Id="R88d5a63a90ba4c30" /><Relationship Type="http://schemas.openxmlformats.org/officeDocument/2006/relationships/notesSlide" Target="/ppt/notesSlides/notesSlide36.xml" Id="R22708540bc2e4fb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fd7547f228f44659" /><Relationship Type="http://schemas.openxmlformats.org/officeDocument/2006/relationships/image" Target="/ppt/media/image15.png" Id="R19fd7353f19e477f" /><Relationship Type="http://schemas.openxmlformats.org/officeDocument/2006/relationships/notesSlide" Target="/ppt/notesSlides/notesSlide37.xml" Id="Rf26062510255458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611a475356fe4130" /><Relationship Type="http://schemas.openxmlformats.org/officeDocument/2006/relationships/image" Target="/ppt/media/image15.png" Id="R072181f2b98943a4" /><Relationship Type="http://schemas.openxmlformats.org/officeDocument/2006/relationships/notesSlide" Target="/ppt/notesSlides/notesSlide38.xml" Id="R851fb8e97cc249d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37cab0c696034aa7" /><Relationship Type="http://schemas.openxmlformats.org/officeDocument/2006/relationships/image" Target="/ppt/media/image15.png" Id="R1453752909e6400d" /><Relationship Type="http://schemas.openxmlformats.org/officeDocument/2006/relationships/notesSlide" Target="/ppt/notesSlides/notesSlide39.xml" Id="Rc545ca39861f422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16c18293a26e4a5e" /><Relationship Type="http://schemas.openxmlformats.org/officeDocument/2006/relationships/notesSlide" Target="/ppt/notesSlides/notesSlide40.xml" Id="R907b118da9ea499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d26d900506c14b21" /><Relationship Type="http://schemas.openxmlformats.org/officeDocument/2006/relationships/image" Target="/ppt/media/image16.png" Id="R0e2dd8c015984907" /><Relationship Type="http://schemas.openxmlformats.org/officeDocument/2006/relationships/notesSlide" Target="/ppt/notesSlides/notesSlide41.xml" Id="R32dfb790689f4476"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0a57de8e14e945cf" /><Relationship Type="http://schemas.openxmlformats.org/officeDocument/2006/relationships/image" Target="/ppt/media/image16.png" Id="R1c0316025be74379" /><Relationship Type="http://schemas.openxmlformats.org/officeDocument/2006/relationships/notesSlide" Target="/ppt/notesSlides/notesSlide42.xml" Id="R6eb331876d8e46f5"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3dbcea2a2fde4f9c" /><Relationship Type="http://schemas.openxmlformats.org/officeDocument/2006/relationships/image" Target="/ppt/media/image16.png" Id="Ra4830f37f21944b8" /><Relationship Type="http://schemas.openxmlformats.org/officeDocument/2006/relationships/notesSlide" Target="/ppt/notesSlides/notesSlide43.xml" Id="R2904e2ac6f3845a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1b9586888dbb4fc9" /><Relationship Type="http://schemas.openxmlformats.org/officeDocument/2006/relationships/image" Target="/ppt/media/image16.png" Id="R82cfcfabaf944f81" /><Relationship Type="http://schemas.openxmlformats.org/officeDocument/2006/relationships/notesSlide" Target="/ppt/notesSlides/notesSlide44.xml" Id="R1c4c673838a0407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4195ce5daeae47a1" /><Relationship Type="http://schemas.openxmlformats.org/officeDocument/2006/relationships/image" Target="/ppt/media/image17.png" Id="Rfa695df1973648d5" /><Relationship Type="http://schemas.openxmlformats.org/officeDocument/2006/relationships/notesSlide" Target="/ppt/notesSlides/notesSlide45.xml" Id="R12ee2e86e1ff458a"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bf1f61e327064919" /><Relationship Type="http://schemas.openxmlformats.org/officeDocument/2006/relationships/image" Target="/ppt/media/image17.png" Id="R809ce99b38bf4892" /><Relationship Type="http://schemas.openxmlformats.org/officeDocument/2006/relationships/notesSlide" Target="/ppt/notesSlides/notesSlide46.xml" Id="Reda8f24022974fc3"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d1ba48b6ae554d54" /><Relationship Type="http://schemas.openxmlformats.org/officeDocument/2006/relationships/notesSlide" Target="/ppt/notesSlides/notesSlide47.xml" Id="Rbf1dac3f1a02431c"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03f22fde9b7b4738" /><Relationship Type="http://schemas.openxmlformats.org/officeDocument/2006/relationships/image" Target="/ppt/media/image18.png" Id="R4d8451381cf44084" /><Relationship Type="http://schemas.openxmlformats.org/officeDocument/2006/relationships/notesSlide" Target="/ppt/notesSlides/notesSlide48.xml" Id="Re05e473d7df64474"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834d306d54b244f5" /><Relationship Type="http://schemas.openxmlformats.org/officeDocument/2006/relationships/image" Target="/ppt/media/image18.png" Id="R15bacb27e3e84be3" /><Relationship Type="http://schemas.openxmlformats.org/officeDocument/2006/relationships/notesSlide" Target="/ppt/notesSlides/notesSlide49.xml" Id="R5f07a18ef3994257"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9478b25aa7a547ea" /><Relationship Type="http://schemas.openxmlformats.org/officeDocument/2006/relationships/image" Target="/ppt/media/image18.png" Id="Rc4d4bde6dd3f44ce" /><Relationship Type="http://schemas.openxmlformats.org/officeDocument/2006/relationships/notesSlide" Target="/ppt/notesSlides/notesSlide50.xml" Id="Rcaaa837157bc45b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16f1d138845a4b20" /><Relationship Type="http://schemas.openxmlformats.org/officeDocument/2006/relationships/image" Target="/ppt/media/image18.png" Id="R4e045bf8ec824871" /><Relationship Type="http://schemas.openxmlformats.org/officeDocument/2006/relationships/notesSlide" Target="/ppt/notesSlides/notesSlide51.xml" Id="Rf98b1e1f41f54010"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b01110a3e2064fc6" /><Relationship Type="http://schemas.openxmlformats.org/officeDocument/2006/relationships/image" Target="/ppt/media/image19.png" Id="R5d678736d55c4c92" /><Relationship Type="http://schemas.openxmlformats.org/officeDocument/2006/relationships/notesSlide" Target="/ppt/notesSlides/notesSlide52.xml" Id="Rb4476814452848b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81aa8217f0f2493d" /><Relationship Type="http://schemas.openxmlformats.org/officeDocument/2006/relationships/image" Target="/ppt/media/image20.png" Id="R71648a2f7a6a4ac8" /><Relationship Type="http://schemas.openxmlformats.org/officeDocument/2006/relationships/notesSlide" Target="/ppt/notesSlides/notesSlide53.xml" Id="R97ee8d9593624832"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c3e45876be9b4683" /><Relationship Type="http://schemas.openxmlformats.org/officeDocument/2006/relationships/notesSlide" Target="/ppt/notesSlides/notesSlide54.xml" Id="R4650cc5092774628" /></Relationships>
</file>

<file path=ppt/slides/_rels/slide55.xml.rels>&#65279;<?xml version="1.0" encoding="utf-8"?><Relationships xmlns="http://schemas.openxmlformats.org/package/2006/relationships"><Relationship Type="http://schemas.openxmlformats.org/officeDocument/2006/relationships/slideLayout" Target="/ppt/slideLayouts/slideLayout2.xml" Id="Rbd2fb901ef1241a7" /><Relationship Type="http://schemas.openxmlformats.org/officeDocument/2006/relationships/image" Target="/ppt/media/image21.png" Id="R785b76c3b0e34bfb" /><Relationship Type="http://schemas.openxmlformats.org/officeDocument/2006/relationships/notesSlide" Target="/ppt/notesSlides/notesSlide55.xml" Id="Rb9e0ce31be93499e" /></Relationships>
</file>

<file path=ppt/slides/_rels/slide56.xml.rels>&#65279;<?xml version="1.0" encoding="utf-8"?><Relationships xmlns="http://schemas.openxmlformats.org/package/2006/relationships"><Relationship Type="http://schemas.openxmlformats.org/officeDocument/2006/relationships/slideLayout" Target="/ppt/slideLayouts/slideLayout2.xml" Id="R111b6c6371474731" /><Relationship Type="http://schemas.openxmlformats.org/officeDocument/2006/relationships/image" Target="/ppt/media/image21.png" Id="R7b20fc60ddb44c1c" /><Relationship Type="http://schemas.openxmlformats.org/officeDocument/2006/relationships/notesSlide" Target="/ppt/notesSlides/notesSlide56.xml" Id="R5a7c50749685407a" /></Relationships>
</file>

<file path=ppt/slides/_rels/slide57.xml.rels>&#65279;<?xml version="1.0" encoding="utf-8"?><Relationships xmlns="http://schemas.openxmlformats.org/package/2006/relationships"><Relationship Type="http://schemas.openxmlformats.org/officeDocument/2006/relationships/slideLayout" Target="/ppt/slideLayouts/slideLayout2.xml" Id="R786bfcdc49e34736" /><Relationship Type="http://schemas.openxmlformats.org/officeDocument/2006/relationships/image" Target="/ppt/media/image22.png" Id="R0ac14bbcfb8a4b74" /><Relationship Type="http://schemas.openxmlformats.org/officeDocument/2006/relationships/notesSlide" Target="/ppt/notesSlides/notesSlide57.xml" Id="R6f22a8f5da7640ad" /></Relationships>
</file>

<file path=ppt/slides/_rels/slide58.xml.rels>&#65279;<?xml version="1.0" encoding="utf-8"?><Relationships xmlns="http://schemas.openxmlformats.org/package/2006/relationships"><Relationship Type="http://schemas.openxmlformats.org/officeDocument/2006/relationships/slideLayout" Target="/ppt/slideLayouts/slideLayout2.xml" Id="R17d4fb71fb994bc0" /><Relationship Type="http://schemas.openxmlformats.org/officeDocument/2006/relationships/image" Target="/ppt/media/image23.png" Id="R6f38ff49e89c4e0e" /><Relationship Type="http://schemas.openxmlformats.org/officeDocument/2006/relationships/notesSlide" Target="/ppt/notesSlides/notesSlide58.xml" Id="R319268cc0c934548" /></Relationships>
</file>

<file path=ppt/slides/_rels/slide59.xml.rels>&#65279;<?xml version="1.0" encoding="utf-8"?><Relationships xmlns="http://schemas.openxmlformats.org/package/2006/relationships"><Relationship Type="http://schemas.openxmlformats.org/officeDocument/2006/relationships/slideLayout" Target="/ppt/slideLayouts/slideLayout2.xml" Id="Rb308170fc02244cd" /><Relationship Type="http://schemas.openxmlformats.org/officeDocument/2006/relationships/image" Target="/ppt/media/image23.png" Id="R67ac66d09997475c" /><Relationship Type="http://schemas.openxmlformats.org/officeDocument/2006/relationships/notesSlide" Target="/ppt/notesSlides/notesSlide59.xml" Id="R46c9c1dcbf7543c2" /></Relationships>
</file>

<file path=ppt/slides/_rels/slide60.xml.rels>&#65279;<?xml version="1.0" encoding="utf-8"?><Relationships xmlns="http://schemas.openxmlformats.org/package/2006/relationships"><Relationship Type="http://schemas.openxmlformats.org/officeDocument/2006/relationships/slideLayout" Target="/ppt/slideLayouts/slideLayout2.xml" Id="R4276d82b4ad44a48" /><Relationship Type="http://schemas.openxmlformats.org/officeDocument/2006/relationships/notesSlide" Target="/ppt/notesSlides/notesSlide60.xml" Id="Rc03e58a36b87484c" /></Relationships>
</file>

<file path=ppt/slides/_rels/slide61.xml.rels>&#65279;<?xml version="1.0" encoding="utf-8"?><Relationships xmlns="http://schemas.openxmlformats.org/package/2006/relationships"><Relationship Type="http://schemas.openxmlformats.org/officeDocument/2006/relationships/slideLayout" Target="/ppt/slideLayouts/slideLayout2.xml" Id="Rc8d7efa681474229" /><Relationship Type="http://schemas.openxmlformats.org/officeDocument/2006/relationships/image" Target="/ppt/media/image24.png" Id="R019a96e6e197406f" /><Relationship Type="http://schemas.openxmlformats.org/officeDocument/2006/relationships/notesSlide" Target="/ppt/notesSlides/notesSlide61.xml" Id="R2663dea73549455b" /></Relationships>
</file>

<file path=ppt/slides/_rels/slide62.xml.rels>&#65279;<?xml version="1.0" encoding="utf-8"?><Relationships xmlns="http://schemas.openxmlformats.org/package/2006/relationships"><Relationship Type="http://schemas.openxmlformats.org/officeDocument/2006/relationships/slideLayout" Target="/ppt/slideLayouts/slideLayout2.xml" Id="R5458ee06d2ec4976" /><Relationship Type="http://schemas.openxmlformats.org/officeDocument/2006/relationships/image" Target="/ppt/media/image24.png" Id="R5e673cc086f54402" /><Relationship Type="http://schemas.openxmlformats.org/officeDocument/2006/relationships/notesSlide" Target="/ppt/notesSlides/notesSlide62.xml" Id="R91969df22cab489b" /></Relationships>
</file>

<file path=ppt/slides/_rels/slide63.xml.rels>&#65279;<?xml version="1.0" encoding="utf-8"?><Relationships xmlns="http://schemas.openxmlformats.org/package/2006/relationships"><Relationship Type="http://schemas.openxmlformats.org/officeDocument/2006/relationships/slideLayout" Target="/ppt/slideLayouts/slideLayout2.xml" Id="R78f2d7f381d74c46" /><Relationship Type="http://schemas.openxmlformats.org/officeDocument/2006/relationships/notesSlide" Target="/ppt/notesSlides/notesSlide63.xml" Id="Rc0d02260ac934bb5" /></Relationships>
</file>

<file path=ppt/slides/_rels/slide64.xml.rels>&#65279;<?xml version="1.0" encoding="utf-8"?><Relationships xmlns="http://schemas.openxmlformats.org/package/2006/relationships"><Relationship Type="http://schemas.openxmlformats.org/officeDocument/2006/relationships/slideLayout" Target="/ppt/slideLayouts/slideLayout2.xml" Id="R39e49927134245df" /><Relationship Type="http://schemas.openxmlformats.org/officeDocument/2006/relationships/notesSlide" Target="/ppt/notesSlides/notesSlide64.xml" Id="R594170cdb0644f8e"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5EE48DF8-0A01-4A66-BE7D-E1C3EEB3607D}"/>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4D2C4CBB-E507-42E9-8C53-C03624A40F0F}"/>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2B0F726B-C6E5-4F93-A0D4-33F3AB81C9D0}"/>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BC5AE4E8-31C4-4245-82E1-D1BFF20CFAF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2768182301"/>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4">
            <a:extLst xmlns:a="http://schemas.openxmlformats.org/drawingml/2006/main">
              <a:ext uri="{FF2B5EF4-FFF2-40B4-BE49-F238E27FC236}">
                <a16:creationId xmlns:a16="http://schemas.microsoft.com/office/drawing/2014/main" id="{8ADCDAD5-5FEA-48F4-826E-FBCCBE7E5888}"/>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6" name="01-text-5">
            <a:extLst xmlns:a="http://schemas.openxmlformats.org/drawingml/2006/main">
              <a:ext uri="{FF2B5EF4-FFF2-40B4-BE49-F238E27FC236}">
                <a16:creationId xmlns:a16="http://schemas.microsoft.com/office/drawing/2014/main" id="{B9131760-FFEC-4322-9109-F514667CD11F}"/>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7" name="narrative-number">
            <a:extLst xmlns:a="http://schemas.openxmlformats.org/drawingml/2006/main">
              <a:ext uri="{FF2B5EF4-FFF2-40B4-BE49-F238E27FC236}">
                <a16:creationId xmlns:a16="http://schemas.microsoft.com/office/drawing/2014/main" id="{FDAFDAE1-91BD-444E-A613-EAD8F5B5B99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2069350226"/>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5" name="02-image-1"/>
          <p:cNvPicPr>
            <a:picLocks xmlns:a="http://schemas.openxmlformats.org/drawingml/2006/main" noChangeAspect="1"/>
          </p:cNvPicPr>
          <p:nvPr/>
        </p:nvPicPr>
        <p:blipFill>
          <a:blip xmlns:r="http://schemas.openxmlformats.org/officeDocument/2006/relationships" xmlns:a="http://schemas.openxmlformats.org/drawingml/2006/main" r:embed="R23ae673b580845da"/>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9" name="02-text-2">
            <a:extLst xmlns:a="http://schemas.openxmlformats.org/drawingml/2006/main">
              <a:ext uri="{FF2B5EF4-FFF2-40B4-BE49-F238E27FC236}">
                <a16:creationId xmlns:a16="http://schemas.microsoft.com/office/drawing/2014/main" id="{5B200DB2-D031-452E-9743-9DC65EC23EDD}"/>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10" name="02-text-3">
            <a:extLst xmlns:a="http://schemas.openxmlformats.org/drawingml/2006/main">
              <a:ext uri="{FF2B5EF4-FFF2-40B4-BE49-F238E27FC236}">
                <a16:creationId xmlns:a16="http://schemas.microsoft.com/office/drawing/2014/main" id="{E9197768-3B37-48B9-AD9F-24D6A011B115}"/>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11" name="02-text-4">
            <a:extLst xmlns:a="http://schemas.openxmlformats.org/drawingml/2006/main">
              <a:ext uri="{FF2B5EF4-FFF2-40B4-BE49-F238E27FC236}">
                <a16:creationId xmlns:a16="http://schemas.microsoft.com/office/drawing/2014/main" id="{E560AD78-038A-4EF9-9A73-08D7C698DFB8}"/>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12" name="02-text-5">
            <a:extLst xmlns:a="http://schemas.openxmlformats.org/drawingml/2006/main">
              <a:ext uri="{FF2B5EF4-FFF2-40B4-BE49-F238E27FC236}">
                <a16:creationId xmlns:a16="http://schemas.microsoft.com/office/drawing/2014/main" id="{F6361870-703A-4CBD-AFF6-D8293CDE0CBB}"/>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3" name="02-text-6">
            <a:extLst xmlns:a="http://schemas.openxmlformats.org/drawingml/2006/main">
              <a:ext uri="{FF2B5EF4-FFF2-40B4-BE49-F238E27FC236}">
                <a16:creationId xmlns:a16="http://schemas.microsoft.com/office/drawing/2014/main" id="{F4670419-053A-4915-8B26-1ADBE1F4741C}"/>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4" name="narrative-number">
            <a:extLst xmlns:a="http://schemas.openxmlformats.org/drawingml/2006/main">
              <a:ext uri="{FF2B5EF4-FFF2-40B4-BE49-F238E27FC236}">
                <a16:creationId xmlns:a16="http://schemas.microsoft.com/office/drawing/2014/main" id="{F7486FDA-F175-4076-AE17-3909A64956C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863777728"/>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 name="03-text-1">
            <a:extLst xmlns:a="http://schemas.openxmlformats.org/drawingml/2006/main">
              <a:ext uri="{FF2B5EF4-FFF2-40B4-BE49-F238E27FC236}">
                <a16:creationId xmlns:a16="http://schemas.microsoft.com/office/drawing/2014/main" id="{6B7373BB-8341-409B-A50C-1CF9DB0E8765}"/>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16" name="03-text-2">
            <a:extLst xmlns:a="http://schemas.openxmlformats.org/drawingml/2006/main">
              <a:ext uri="{FF2B5EF4-FFF2-40B4-BE49-F238E27FC236}">
                <a16:creationId xmlns:a16="http://schemas.microsoft.com/office/drawing/2014/main" id="{F8AA968C-E99A-4F85-80B7-07A30043BA9F}"/>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17" name="narrative-number">
            <a:extLst xmlns:a="http://schemas.openxmlformats.org/drawingml/2006/main">
              <a:ext uri="{FF2B5EF4-FFF2-40B4-BE49-F238E27FC236}">
                <a16:creationId xmlns:a16="http://schemas.microsoft.com/office/drawing/2014/main" id="{A760B200-89A2-470A-B198-C41E9338551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2860883838"/>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20" name="04-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in your development</a:t>
                      </a:r>
                    </a:p>
                    <a:p>
                      <a:pPr>
                        <a:lnSpc>
                          <a:spcPct val="125000"/>
                        </a:lnSpc>
                        <a:buNone/>
                      </a:pPr>
                      <a:r>
                        <a:rPr sz="2400" b="1">
                          <a:solidFill>
                            <a:srgbClr val="F948BE"/>
                          </a:solidFill>
                          <a:latin typeface="Helvetica"/>
                          <a:ea typeface="Helvetica"/>
                          <a:cs typeface="Helvetica"/>
                        </a:rPr>
                        <a:t>workflow</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You use model output to help</a:t>
                      </a:r>
                    </a:p>
                    <a:p>
                      <a:pPr>
                        <a:lnSpc>
                          <a:spcPct val="125000"/>
                        </a:lnSpc>
                        <a:buNone/>
                      </a:pPr>
                      <a:r>
                        <a:rPr sz="2000" b="0">
                          <a:solidFill>
                            <a:srgbClr val="FFFCF5"/>
                          </a:solidFill>
                          <a:latin typeface="Helvetica"/>
                          <a:ea typeface="Helvetica"/>
                          <a:cs typeface="Helvetica"/>
                        </a:rPr>
                        <a:t>build an artifact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Users depend on model output or</a:t>
                      </a:r>
                    </a:p>
                    <a:p>
                      <a:pPr>
                        <a:lnSpc>
                          <a:spcPct val="125000"/>
                        </a:lnSpc>
                        <a:buNone/>
                      </a:pPr>
                      <a:r>
                        <a:rPr sz="2000" b="0">
                          <a:solidFill>
                            <a:srgbClr val="FFFCF5"/>
                          </a:solidFill>
                          <a:latin typeface="Helvetica"/>
                          <a:ea typeface="Helvetica"/>
                          <a:cs typeface="Helvetica"/>
                        </a:rPr>
                        <a:t>decisions during operation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decide what to accept and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design checks, approval steps,</a:t>
                      </a:r>
                    </a:p>
                    <a:p>
                      <a:pPr>
                        <a:lnSpc>
                          <a:spcPct val="125000"/>
                        </a:lnSpc>
                        <a:buNone/>
                      </a:pPr>
                      <a:r>
                        <a:rPr sz="2000" b="0">
                          <a:solidFill>
                            <a:srgbClr val="FFFCF5"/>
                          </a:solidFill>
                          <a:latin typeface="Helvetica"/>
                          <a:ea typeface="Helvetica"/>
                          <a:cs typeface="Helvetica"/>
                        </a:rPr>
                        <a:t>and failure handling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product's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9" name="narrative-number">
            <a:extLst xmlns:a="http://schemas.openxmlformats.org/drawingml/2006/main">
              <a:ext uri="{FF2B5EF4-FFF2-40B4-BE49-F238E27FC236}">
                <a16:creationId xmlns:a16="http://schemas.microsoft.com/office/drawing/2014/main" id="{FD5C29D1-A5C8-499A-98E3-7A779A66451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163664747"/>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 name="04-text-2">
            <a:extLst xmlns:a="http://schemas.openxmlformats.org/drawingml/2006/main">
              <a:ext uri="{FF2B5EF4-FFF2-40B4-BE49-F238E27FC236}">
                <a16:creationId xmlns:a16="http://schemas.microsoft.com/office/drawing/2014/main" id="{3543619B-BD8E-4EB5-9BF9-F5977391690C}"/>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21" name="04-text-3">
            <a:extLst xmlns:a="http://schemas.openxmlformats.org/drawingml/2006/main">
              <a:ext uri="{FF2B5EF4-FFF2-40B4-BE49-F238E27FC236}">
                <a16:creationId xmlns:a16="http://schemas.microsoft.com/office/drawing/2014/main" id="{358E3533-9357-442F-99DD-EBC34F3E9DB9}"/>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22" name="04-text-4">
            <a:extLst xmlns:a="http://schemas.openxmlformats.org/drawingml/2006/main">
              <a:ext uri="{FF2B5EF4-FFF2-40B4-BE49-F238E27FC236}">
                <a16:creationId xmlns:a16="http://schemas.microsoft.com/office/drawing/2014/main" id="{8FFFE788-C4D7-402E-9EBF-253B3C065FB8}"/>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23" name="04-text-5">
            <a:extLst xmlns:a="http://schemas.openxmlformats.org/drawingml/2006/main">
              <a:ext uri="{FF2B5EF4-FFF2-40B4-BE49-F238E27FC236}">
                <a16:creationId xmlns:a16="http://schemas.microsoft.com/office/drawing/2014/main" id="{C62E7AF2-B0C1-47A5-954B-9670942DFE2E}"/>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24" name="04-text-6">
            <a:extLst xmlns:a="http://schemas.openxmlformats.org/drawingml/2006/main">
              <a:ext uri="{FF2B5EF4-FFF2-40B4-BE49-F238E27FC236}">
                <a16:creationId xmlns:a16="http://schemas.microsoft.com/office/drawing/2014/main" id="{2C4D32AE-A605-4CC7-8080-84F4BC0B8AAE}"/>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25" name="04-text-7">
            <a:extLst xmlns:a="http://schemas.openxmlformats.org/drawingml/2006/main">
              <a:ext uri="{FF2B5EF4-FFF2-40B4-BE49-F238E27FC236}">
                <a16:creationId xmlns:a16="http://schemas.microsoft.com/office/drawing/2014/main" id="{BF479619-17CD-444D-9122-7DFFA8BC1E9F}"/>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26" name="04-text-8">
            <a:extLst xmlns:a="http://schemas.openxmlformats.org/drawingml/2006/main">
              <a:ext uri="{FF2B5EF4-FFF2-40B4-BE49-F238E27FC236}">
                <a16:creationId xmlns:a16="http://schemas.microsoft.com/office/drawing/2014/main" id="{3B4B2A43-EC99-49C0-BCE7-3E93FAD523CE}"/>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27" name="narrative-number">
            <a:extLst xmlns:a="http://schemas.openxmlformats.org/drawingml/2006/main">
              <a:ext uri="{FF2B5EF4-FFF2-40B4-BE49-F238E27FC236}">
                <a16:creationId xmlns:a16="http://schemas.microsoft.com/office/drawing/2014/main" id="{2583E916-A547-483B-AE3D-8799CCC8FCF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2586399999"/>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 name="05-text-1">
            <a:extLst xmlns:a="http://schemas.openxmlformats.org/drawingml/2006/main">
              <a:ext uri="{FF2B5EF4-FFF2-40B4-BE49-F238E27FC236}">
                <a16:creationId xmlns:a16="http://schemas.microsoft.com/office/drawing/2014/main" id="{5BDFA272-810F-449C-A4C2-E0DA6F2236DF}"/>
              </a:ext>
            </a:extLst>
          </p:cNvPr>
          <p:cNvSpPr>
            <a:spLocks xmlns:a="http://schemas.openxmlformats.org/drawingml/2006/main"/>
          </p:cNvSpPr>
          <p:nvPr/>
        </p:nvSpPr>
        <p:spPr>
          <a:xfrm xmlns:a="http://schemas.openxmlformats.org/drawingml/2006/main">
            <a:off x="6096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You will leave with</a:t>
            </a:r>
          </a:p>
        </p:txBody>
      </p:sp>
      <p:sp>
        <p:nvSpPr>
          <p:cNvPr id="29" name="05-text-2">
            <a:extLst xmlns:a="http://schemas.openxmlformats.org/drawingml/2006/main">
              <a:ext uri="{FF2B5EF4-FFF2-40B4-BE49-F238E27FC236}">
                <a16:creationId xmlns:a16="http://schemas.microsoft.com/office/drawing/2014/main" id="{75254F27-10E7-4B68-92C0-A1847C2B14D2}"/>
              </a:ext>
            </a:extLst>
          </p:cNvPr>
          <p:cNvSpPr>
            <a:spLocks xmlns:a="http://schemas.openxmlformats.org/drawingml/2006/main"/>
          </p:cNvSpPr>
          <p:nvPr/>
        </p:nvSpPr>
        <p:spPr>
          <a:xfrm xmlns:a="http://schemas.openxmlformats.org/drawingml/2006/main">
            <a:off x="62484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Agenda</a:t>
            </a:r>
          </a:p>
        </p:txBody>
      </p:sp>
      <p:sp>
        <p:nvSpPr>
          <p:cNvPr id="30" name="05-text-3">
            <a:extLst xmlns:a="http://schemas.openxmlformats.org/drawingml/2006/main">
              <a:ext uri="{FF2B5EF4-FFF2-40B4-BE49-F238E27FC236}">
                <a16:creationId xmlns:a16="http://schemas.microsoft.com/office/drawing/2014/main" id="{BB0FD6FD-6906-43EE-90A5-3EF1AAE9ABF3}"/>
              </a:ext>
            </a:extLst>
          </p:cNvPr>
          <p:cNvSpPr>
            <a:spLocks xmlns:a="http://schemas.openxmlformats.org/drawingml/2006/main"/>
          </p:cNvSpPr>
          <p:nvPr/>
        </p:nvSpPr>
        <p:spPr>
          <a:xfrm xmlns:a="http://schemas.openxmlformats.org/drawingml/2006/main">
            <a:off x="609600" y="173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31" name="05-text-4">
            <a:extLst xmlns:a="http://schemas.openxmlformats.org/drawingml/2006/main">
              <a:ext uri="{FF2B5EF4-FFF2-40B4-BE49-F238E27FC236}">
                <a16:creationId xmlns:a16="http://schemas.microsoft.com/office/drawing/2014/main" id="{9382964C-BA47-45C7-9855-639C881AE258}"/>
              </a:ext>
            </a:extLst>
          </p:cNvPr>
          <p:cNvSpPr>
            <a:spLocks xmlns:a="http://schemas.openxmlformats.org/drawingml/2006/main"/>
          </p:cNvSpPr>
          <p:nvPr/>
        </p:nvSpPr>
        <p:spPr>
          <a:xfrm xmlns:a="http://schemas.openxmlformats.org/drawingml/2006/main">
            <a:off x="1117600" y="173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conceptual map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discipline.</a:t>
            </a:r>
          </a:p>
        </p:txBody>
      </p:sp>
      <p:sp>
        <p:nvSpPr>
          <p:cNvPr id="32" name="05-text-5">
            <a:extLst xmlns:a="http://schemas.openxmlformats.org/drawingml/2006/main">
              <a:ext uri="{FF2B5EF4-FFF2-40B4-BE49-F238E27FC236}">
                <a16:creationId xmlns:a16="http://schemas.microsoft.com/office/drawing/2014/main" id="{CB35782B-743E-4870-862D-2EBB882C0DA0}"/>
              </a:ext>
            </a:extLst>
          </p:cNvPr>
          <p:cNvSpPr>
            <a:spLocks xmlns:a="http://schemas.openxmlformats.org/drawingml/2006/main"/>
          </p:cNvSpPr>
          <p:nvPr/>
        </p:nvSpPr>
        <p:spPr>
          <a:xfrm xmlns:a="http://schemas.openxmlformats.org/drawingml/2006/main">
            <a:off x="609600" y="300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33" name="05-text-6">
            <a:extLst xmlns:a="http://schemas.openxmlformats.org/drawingml/2006/main">
              <a:ext uri="{FF2B5EF4-FFF2-40B4-BE49-F238E27FC236}">
                <a16:creationId xmlns:a16="http://schemas.microsoft.com/office/drawing/2014/main" id="{244C5766-4ADC-4B10-A3F4-C6F23B0AA806}"/>
              </a:ext>
            </a:extLst>
          </p:cNvPr>
          <p:cNvSpPr>
            <a:spLocks xmlns:a="http://schemas.openxmlformats.org/drawingml/2006/main"/>
          </p:cNvSpPr>
          <p:nvPr/>
        </p:nvSpPr>
        <p:spPr>
          <a:xfrm xmlns:a="http://schemas.openxmlformats.org/drawingml/2006/main">
            <a:off x="1117600" y="300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 honest sense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much there is.</a:t>
            </a:r>
          </a:p>
        </p:txBody>
      </p:sp>
      <p:sp>
        <p:nvSpPr>
          <p:cNvPr id="34" name="05-text-7">
            <a:extLst xmlns:a="http://schemas.openxmlformats.org/drawingml/2006/main">
              <a:ext uri="{FF2B5EF4-FFF2-40B4-BE49-F238E27FC236}">
                <a16:creationId xmlns:a16="http://schemas.microsoft.com/office/drawing/2014/main" id="{58F93098-A2B6-4A4E-9C09-6E59F77EB68D}"/>
              </a:ext>
            </a:extLst>
          </p:cNvPr>
          <p:cNvSpPr>
            <a:spLocks xmlns:a="http://schemas.openxmlformats.org/drawingml/2006/main"/>
          </p:cNvSpPr>
          <p:nvPr/>
        </p:nvSpPr>
        <p:spPr>
          <a:xfrm xmlns:a="http://schemas.openxmlformats.org/drawingml/2006/main">
            <a:off x="609600" y="427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35" name="05-text-8">
            <a:extLst xmlns:a="http://schemas.openxmlformats.org/drawingml/2006/main">
              <a:ext uri="{FF2B5EF4-FFF2-40B4-BE49-F238E27FC236}">
                <a16:creationId xmlns:a16="http://schemas.microsoft.com/office/drawing/2014/main" id="{6BD0F60B-CA09-485D-B0DD-18E3F5E454F3}"/>
              </a:ext>
            </a:extLst>
          </p:cNvPr>
          <p:cNvSpPr>
            <a:spLocks xmlns:a="http://schemas.openxmlformats.org/drawingml/2006/main"/>
          </p:cNvSpPr>
          <p:nvPr/>
        </p:nvSpPr>
        <p:spPr>
          <a:xfrm xmlns:a="http://schemas.openxmlformats.org/drawingml/2006/main">
            <a:off x="1117600" y="427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roadmap for making</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36" name="05-text-9">
            <a:extLst xmlns:a="http://schemas.openxmlformats.org/drawingml/2006/main">
              <a:ext uri="{FF2B5EF4-FFF2-40B4-BE49-F238E27FC236}">
                <a16:creationId xmlns:a16="http://schemas.microsoft.com/office/drawing/2014/main" id="{CCF3A3F0-0AC4-4CCB-AB47-A8BEAF38140B}"/>
              </a:ext>
            </a:extLst>
          </p:cNvPr>
          <p:cNvSpPr>
            <a:spLocks xmlns:a="http://schemas.openxmlformats.org/drawingml/2006/main"/>
          </p:cNvSpPr>
          <p:nvPr/>
        </p:nvSpPr>
        <p:spPr>
          <a:xfrm xmlns:a="http://schemas.openxmlformats.org/drawingml/2006/main">
            <a:off x="6248400" y="1739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map.</a:t>
            </a:r>
          </a:p>
        </p:txBody>
      </p:sp>
      <p:sp>
        <p:nvSpPr>
          <p:cNvPr id="37" name="05-text-10">
            <a:extLst xmlns:a="http://schemas.openxmlformats.org/drawingml/2006/main">
              <a:ext uri="{FF2B5EF4-FFF2-40B4-BE49-F238E27FC236}">
                <a16:creationId xmlns:a16="http://schemas.microsoft.com/office/drawing/2014/main" id="{9FC500D4-41E1-47DA-924F-62720517C1F2}"/>
              </a:ext>
            </a:extLst>
          </p:cNvPr>
          <p:cNvSpPr>
            <a:spLocks xmlns:a="http://schemas.openxmlformats.org/drawingml/2006/main"/>
          </p:cNvSpPr>
          <p:nvPr/>
        </p:nvSpPr>
        <p:spPr>
          <a:xfrm xmlns:a="http://schemas.openxmlformats.org/drawingml/2006/main">
            <a:off x="10185400" y="1739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 min</a:t>
            </a:r>
          </a:p>
        </p:txBody>
      </p:sp>
      <p:sp>
        <p:nvSpPr>
          <p:cNvPr id="38" name="05-text-11">
            <a:extLst xmlns:a="http://schemas.openxmlformats.org/drawingml/2006/main">
              <a:ext uri="{FF2B5EF4-FFF2-40B4-BE49-F238E27FC236}">
                <a16:creationId xmlns:a16="http://schemas.microsoft.com/office/drawing/2014/main" id="{4CEBB833-C231-4B6E-AFEA-08BAE9886BD4}"/>
              </a:ext>
            </a:extLst>
          </p:cNvPr>
          <p:cNvSpPr>
            <a:spLocks xmlns:a="http://schemas.openxmlformats.org/drawingml/2006/main"/>
          </p:cNvSpPr>
          <p:nvPr/>
        </p:nvSpPr>
        <p:spPr>
          <a:xfrm xmlns:a="http://schemas.openxmlformats.org/drawingml/2006/main">
            <a:off x="6248400" y="2628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Six areas.</a:t>
            </a:r>
          </a:p>
        </p:txBody>
      </p:sp>
      <p:sp>
        <p:nvSpPr>
          <p:cNvPr id="39" name="05-text-12">
            <a:extLst xmlns:a="http://schemas.openxmlformats.org/drawingml/2006/main">
              <a:ext uri="{FF2B5EF4-FFF2-40B4-BE49-F238E27FC236}">
                <a16:creationId xmlns:a16="http://schemas.microsoft.com/office/drawing/2014/main" id="{3328E4A3-A0F7-4921-885E-BECA4B0645D5}"/>
              </a:ext>
            </a:extLst>
          </p:cNvPr>
          <p:cNvSpPr>
            <a:spLocks xmlns:a="http://schemas.openxmlformats.org/drawingml/2006/main"/>
          </p:cNvSpPr>
          <p:nvPr/>
        </p:nvSpPr>
        <p:spPr>
          <a:xfrm xmlns:a="http://schemas.openxmlformats.org/drawingml/2006/main">
            <a:off x="10185400" y="2628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23 min</a:t>
            </a:r>
          </a:p>
        </p:txBody>
      </p:sp>
      <p:sp>
        <p:nvSpPr>
          <p:cNvPr id="40" name="05-text-13">
            <a:extLst xmlns:a="http://schemas.openxmlformats.org/drawingml/2006/main">
              <a:ext uri="{FF2B5EF4-FFF2-40B4-BE49-F238E27FC236}">
                <a16:creationId xmlns:a16="http://schemas.microsoft.com/office/drawing/2014/main" id="{1E6D0850-C23F-43AD-AF99-12D2D5FBC612}"/>
              </a:ext>
            </a:extLst>
          </p:cNvPr>
          <p:cNvSpPr>
            <a:spLocks xmlns:a="http://schemas.openxmlformats.org/drawingml/2006/main"/>
          </p:cNvSpPr>
          <p:nvPr/>
        </p:nvSpPr>
        <p:spPr>
          <a:xfrm xmlns:a="http://schemas.openxmlformats.org/drawingml/2006/main">
            <a:off x="6248400" y="4343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41" name="05-text-14">
            <a:extLst xmlns:a="http://schemas.openxmlformats.org/drawingml/2006/main">
              <a:ext uri="{FF2B5EF4-FFF2-40B4-BE49-F238E27FC236}">
                <a16:creationId xmlns:a16="http://schemas.microsoft.com/office/drawing/2014/main" id="{9DE1B78D-EB39-4214-B837-01A72E468CC7}"/>
              </a:ext>
            </a:extLst>
          </p:cNvPr>
          <p:cNvSpPr>
            <a:spLocks xmlns:a="http://schemas.openxmlformats.org/drawingml/2006/main"/>
          </p:cNvSpPr>
          <p:nvPr/>
        </p:nvSpPr>
        <p:spPr>
          <a:xfrm xmlns:a="http://schemas.openxmlformats.org/drawingml/2006/main">
            <a:off x="10185400" y="4343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5 min</a:t>
            </a:r>
          </a:p>
        </p:txBody>
      </p:sp>
      <p:sp>
        <p:nvSpPr>
          <p:cNvPr id="42" name="05-text-15">
            <a:extLst xmlns:a="http://schemas.openxmlformats.org/drawingml/2006/main">
              <a:ext uri="{FF2B5EF4-FFF2-40B4-BE49-F238E27FC236}">
                <a16:creationId xmlns:a16="http://schemas.microsoft.com/office/drawing/2014/main" id="{8D8261B3-0513-4BE2-BB6C-8127D8EBC5AC}"/>
              </a:ext>
            </a:extLst>
          </p:cNvPr>
          <p:cNvSpPr>
            <a:spLocks xmlns:a="http://schemas.openxmlformats.org/drawingml/2006/main"/>
          </p:cNvSpPr>
          <p:nvPr/>
        </p:nvSpPr>
        <p:spPr>
          <a:xfrm xmlns:a="http://schemas.openxmlformats.org/drawingml/2006/main">
            <a:off x="6248400" y="5232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Your questions.</a:t>
            </a:r>
          </a:p>
        </p:txBody>
      </p:sp>
      <p:sp>
        <p:nvSpPr>
          <p:cNvPr id="43" name="05-text-16">
            <a:extLst xmlns:a="http://schemas.openxmlformats.org/drawingml/2006/main">
              <a:ext uri="{FF2B5EF4-FFF2-40B4-BE49-F238E27FC236}">
                <a16:creationId xmlns:a16="http://schemas.microsoft.com/office/drawing/2014/main" id="{6F209181-5485-4EAC-8997-F5A8026109B1}"/>
              </a:ext>
            </a:extLst>
          </p:cNvPr>
          <p:cNvSpPr>
            <a:spLocks xmlns:a="http://schemas.openxmlformats.org/drawingml/2006/main"/>
          </p:cNvSpPr>
          <p:nvPr/>
        </p:nvSpPr>
        <p:spPr>
          <a:xfrm xmlns:a="http://schemas.openxmlformats.org/drawingml/2006/main">
            <a:off x="10185400" y="5232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15 min</a:t>
            </a:r>
          </a:p>
        </p:txBody>
      </p:sp>
      <p:sp>
        <p:nvSpPr>
          <p:cNvPr id="44" name="05-text-17">
            <a:extLst xmlns:a="http://schemas.openxmlformats.org/drawingml/2006/main">
              <a:ext uri="{FF2B5EF4-FFF2-40B4-BE49-F238E27FC236}">
                <a16:creationId xmlns:a16="http://schemas.microsoft.com/office/drawing/2014/main" id="{CFAD1953-6E9A-4A32-851D-F01C48E516BF}"/>
              </a:ext>
            </a:extLst>
          </p:cNvPr>
          <p:cNvSpPr>
            <a:spLocks xmlns:a="http://schemas.openxmlformats.org/drawingml/2006/main"/>
          </p:cNvSpPr>
          <p:nvPr/>
        </p:nvSpPr>
        <p:spPr>
          <a:xfrm xmlns:a="http://schemas.openxmlformats.org/drawingml/2006/main">
            <a:off x="6502400" y="3149600"/>
            <a:ext cx="5080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1064F8"/>
                </a:solidFill>
                <a:latin typeface="Helvetica"/>
                <a:ea typeface="Helvetica"/>
                <a:cs typeface="Helvetica"/>
              </a:rPr>
              <a:t>Models</a:t>
            </a:r>
            <a:r>
              <a:rPr b="0">
                <a:solidFill>
                  <a:srgbClr val="ADACA9"/>
                </a:solidFill>
                <a:latin typeface="Helvetica"/>
                <a:ea typeface="Helvetica"/>
                <a:cs typeface="Helvetica"/>
              </a:rPr>
              <a:t> · </a:t>
            </a:r>
            <a:r>
              <a:rPr b="0">
                <a:solidFill>
                  <a:srgbClr val="F948BE"/>
                </a:solidFill>
                <a:latin typeface="Helvetica"/>
                <a:ea typeface="Helvetica"/>
                <a:cs typeface="Helvetica"/>
              </a:rPr>
              <a:t>Context and knowledge</a:t>
            </a:r>
            <a:r>
              <a:rPr b="0">
                <a:solidFill>
                  <a:srgbClr val="ADACA9"/>
                </a:solidFill>
                <a:latin typeface="Helvetica"/>
                <a:ea typeface="Helvetica"/>
                <a:cs typeface="Helvetica"/>
              </a:rPr>
              <a:t> · </a:t>
            </a:r>
            <a:r>
              <a:rPr b="0">
                <a:solidFill>
                  <a:srgbClr val="F948BE"/>
                </a:solidFill>
                <a:latin typeface="Helvetica"/>
                <a:ea typeface="Helvetica"/>
                <a:cs typeface="Helvetica"/>
              </a:rPr>
              <a:t>Tools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948BE"/>
                </a:solidFill>
                <a:latin typeface="Helvetica"/>
                <a:ea typeface="Helvetica"/>
                <a:cs typeface="Helvetica"/>
              </a:rPr>
              <a:t>Orchestration</a:t>
            </a:r>
            <a:r>
              <a:rPr b="0">
                <a:solidFill>
                  <a:srgbClr val="ADACA9"/>
                </a:solidFill>
                <a:latin typeface="Helvetica"/>
                <a:ea typeface="Helvetica"/>
                <a:cs typeface="Helvetica"/>
              </a:rPr>
              <a:t> · </a:t>
            </a:r>
            <a:r>
              <a:rPr b="0">
                <a:solidFill>
                  <a:srgbClr val="01B66D"/>
                </a:solidFill>
                <a:latin typeface="Helvetica"/>
                <a:ea typeface="Helvetica"/>
                <a:cs typeface="Helvetica"/>
              </a:rPr>
              <a:t>Verification and evals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DAD00"/>
                </a:solidFill>
                <a:latin typeface="Helvetica"/>
                <a:ea typeface="Helvetica"/>
                <a:cs typeface="Helvetica"/>
              </a:rPr>
              <a:t>Operating it</a:t>
            </a:r>
          </a:p>
        </p:txBody>
      </p:sp>
      <p:sp>
        <p:nvSpPr>
          <p:cNvPr id="45" name="05-text-18">
            <a:extLst xmlns:a="http://schemas.openxmlformats.org/drawingml/2006/main">
              <a:ext uri="{FF2B5EF4-FFF2-40B4-BE49-F238E27FC236}">
                <a16:creationId xmlns:a16="http://schemas.microsoft.com/office/drawing/2014/main" id="{B2E733BD-A1EF-4ADD-A990-67E26A4CE639}"/>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When you are the user · What someone engineered · When you are the owner</a:t>
            </a:r>
          </a:p>
        </p:txBody>
      </p:sp>
      <p:sp>
        <p:nvSpPr>
          <p:cNvPr id="46" name="narrative-number">
            <a:extLst xmlns:a="http://schemas.openxmlformats.org/drawingml/2006/main">
              <a:ext uri="{FF2B5EF4-FFF2-40B4-BE49-F238E27FC236}">
                <a16:creationId xmlns:a16="http://schemas.microsoft.com/office/drawing/2014/main" id="{9598F729-533E-4E9F-95A4-9731E6ADFB3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4120268471"/>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 name="section-label">
            <a:extLst xmlns:a="http://schemas.openxmlformats.org/drawingml/2006/main">
              <a:ext uri="{FF2B5EF4-FFF2-40B4-BE49-F238E27FC236}">
                <a16:creationId xmlns:a16="http://schemas.microsoft.com/office/drawing/2014/main" id="{45C0C4BD-7943-4E44-9C80-30ECDF23EC1F}"/>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48" name="section-rule">
            <a:extLst xmlns:a="http://schemas.openxmlformats.org/drawingml/2006/main">
              <a:ext uri="{FF2B5EF4-FFF2-40B4-BE49-F238E27FC236}">
                <a16:creationId xmlns:a16="http://schemas.microsoft.com/office/drawing/2014/main" id="{AC673A92-AFC4-44D4-B348-B60D0E64D3C2}"/>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 name="section-title">
            <a:extLst xmlns:a="http://schemas.openxmlformats.org/drawingml/2006/main">
              <a:ext uri="{FF2B5EF4-FFF2-40B4-BE49-F238E27FC236}">
                <a16:creationId xmlns:a16="http://schemas.microsoft.com/office/drawing/2014/main" id="{D017A098-D19A-48F9-B0FE-8C9019AE42F9}"/>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0" name="narrative-number">
            <a:extLst xmlns:a="http://schemas.openxmlformats.org/drawingml/2006/main">
              <a:ext uri="{FF2B5EF4-FFF2-40B4-BE49-F238E27FC236}">
                <a16:creationId xmlns:a16="http://schemas.microsoft.com/office/drawing/2014/main" id="{723AFAA1-7D03-4BCD-9E34-8F356C9917B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2452449609"/>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3" name="07-image-1"/>
          <p:cNvPicPr>
            <a:picLocks xmlns:a="http://schemas.openxmlformats.org/drawingml/2006/main" noChangeAspect="1"/>
          </p:cNvPicPr>
          <p:nvPr/>
        </p:nvPicPr>
        <p:blipFill>
          <a:blip xmlns:r="http://schemas.openxmlformats.org/officeDocument/2006/relationships" xmlns:a="http://schemas.openxmlformats.org/drawingml/2006/main" r:embed="Ra30c508eeb0c457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2" name="narrative-number">
            <a:extLst xmlns:a="http://schemas.openxmlformats.org/drawingml/2006/main">
              <a:ext uri="{FF2B5EF4-FFF2-40B4-BE49-F238E27FC236}">
                <a16:creationId xmlns:a16="http://schemas.microsoft.com/office/drawing/2014/main" id="{64986600-F3FF-47D0-A96E-30D1E077987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905476674"/>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5" name="07-image-2"/>
          <p:cNvPicPr>
            <a:picLocks xmlns:a="http://schemas.openxmlformats.org/drawingml/2006/main" noChangeAspect="1"/>
          </p:cNvPicPr>
          <p:nvPr/>
        </p:nvPicPr>
        <p:blipFill>
          <a:blip xmlns:r="http://schemas.openxmlformats.org/officeDocument/2006/relationships" xmlns:a="http://schemas.openxmlformats.org/drawingml/2006/main" r:embed="Rfc0067fd35a64a0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4" name="narrative-number">
            <a:extLst xmlns:a="http://schemas.openxmlformats.org/drawingml/2006/main">
              <a:ext uri="{FF2B5EF4-FFF2-40B4-BE49-F238E27FC236}">
                <a16:creationId xmlns:a16="http://schemas.microsoft.com/office/drawing/2014/main" id="{3EE4519F-0FFA-4915-BE92-610E5195035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563314616"/>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7" name="07-image-3"/>
          <p:cNvPicPr>
            <a:picLocks xmlns:a="http://schemas.openxmlformats.org/drawingml/2006/main" noChangeAspect="1"/>
          </p:cNvPicPr>
          <p:nvPr/>
        </p:nvPicPr>
        <p:blipFill>
          <a:blip xmlns:r="http://schemas.openxmlformats.org/officeDocument/2006/relationships" xmlns:a="http://schemas.openxmlformats.org/drawingml/2006/main" r:embed="Re7f3c9377bf84ac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6" name="narrative-number">
            <a:extLst xmlns:a="http://schemas.openxmlformats.org/drawingml/2006/main">
              <a:ext uri="{FF2B5EF4-FFF2-40B4-BE49-F238E27FC236}">
                <a16:creationId xmlns:a16="http://schemas.microsoft.com/office/drawing/2014/main" id="{D3EC1A65-0331-4331-AC01-716F48C7E7C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737359303"/>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9" name="07-image-4"/>
          <p:cNvPicPr>
            <a:picLocks xmlns:a="http://schemas.openxmlformats.org/drawingml/2006/main" noChangeAspect="1"/>
          </p:cNvPicPr>
          <p:nvPr/>
        </p:nvPicPr>
        <p:blipFill>
          <a:blip xmlns:r="http://schemas.openxmlformats.org/officeDocument/2006/relationships" xmlns:a="http://schemas.openxmlformats.org/drawingml/2006/main" r:embed="R1fd3435da4e8449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8" name="narrative-number">
            <a:extLst xmlns:a="http://schemas.openxmlformats.org/drawingml/2006/main">
              <a:ext uri="{FF2B5EF4-FFF2-40B4-BE49-F238E27FC236}">
                <a16:creationId xmlns:a16="http://schemas.microsoft.com/office/drawing/2014/main" id="{3D491F8F-CC52-43E3-811D-1B8BF6E99D4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839973225"/>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7-image-5"/>
          <p:cNvPicPr>
            <a:picLocks xmlns:a="http://schemas.openxmlformats.org/drawingml/2006/main" noChangeAspect="1"/>
          </p:cNvPicPr>
          <p:nvPr/>
        </p:nvPicPr>
        <p:blipFill>
          <a:blip xmlns:r="http://schemas.openxmlformats.org/officeDocument/2006/relationships" xmlns:a="http://schemas.openxmlformats.org/drawingml/2006/main" r:embed="R1b8da36384ed4e7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F4C40268-9661-4DE6-93B2-907C88B6597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305742672"/>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7-image-6"/>
          <p:cNvPicPr>
            <a:picLocks xmlns:a="http://schemas.openxmlformats.org/drawingml/2006/main" noChangeAspect="1"/>
          </p:cNvPicPr>
          <p:nvPr/>
        </p:nvPicPr>
        <p:blipFill>
          <a:blip xmlns:r="http://schemas.openxmlformats.org/officeDocument/2006/relationships" xmlns:a="http://schemas.openxmlformats.org/drawingml/2006/main" r:embed="Rbb77d589b6c24f6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F8AA78EC-2ECE-4586-B7B0-A1D3861959A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613305179"/>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3" name="!!area-header">
            <a:extLst xmlns:a="http://schemas.openxmlformats.org/drawingml/2006/main">
              <a:ext uri="{FF2B5EF4-FFF2-40B4-BE49-F238E27FC236}">
                <a16:creationId xmlns:a16="http://schemas.microsoft.com/office/drawing/2014/main" id="{849A701C-9A68-4AAD-8F62-4D26849A960E}"/>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64" name="!!area-name">
            <a:extLst xmlns:a="http://schemas.openxmlformats.org/drawingml/2006/main">
              <a:ext uri="{FF2B5EF4-FFF2-40B4-BE49-F238E27FC236}">
                <a16:creationId xmlns:a16="http://schemas.microsoft.com/office/drawing/2014/main" id="{0453DBBA-EDD8-4E1A-8BED-6A8AA77DA2C7}"/>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65" name="!!area-beat">
            <a:extLst xmlns:a="http://schemas.openxmlformats.org/drawingml/2006/main">
              <a:ext uri="{FF2B5EF4-FFF2-40B4-BE49-F238E27FC236}">
                <a16:creationId xmlns:a16="http://schemas.microsoft.com/office/drawing/2014/main" id="{110F38E3-8858-45BD-8BE8-EB1B4DF4EFA9}"/>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When you are the user</a:t>
            </a:r>
          </a:p>
        </p:txBody>
      </p:sp>
      <p:sp>
        <p:nvSpPr>
          <p:cNvPr id="66" name="header-divider">
            <a:extLst xmlns:a="http://schemas.openxmlformats.org/drawingml/2006/main">
              <a:ext uri="{FF2B5EF4-FFF2-40B4-BE49-F238E27FC236}">
                <a16:creationId xmlns:a16="http://schemas.microsoft.com/office/drawing/2014/main" id="{D3B1BED3-8432-46B5-8E44-27744CB336E0}"/>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7" name="!!screenshot-Devin Desktop">
            <a:extLst xmlns:a="http://schemas.openxmlformats.org/drawingml/2006/main">
              <a:ext uri="{FF2B5EF4-FFF2-40B4-BE49-F238E27FC236}">
                <a16:creationId xmlns:a16="http://schemas.microsoft.com/office/drawing/2014/main" id="{C94721E2-091C-4447-9895-FC2AE22A87CB}"/>
              </a:ext>
            </a:extLst>
          </p:cNvPr>
          <p:cNvSpPr>
            <a:spLocks xmlns:a="http://schemas.openxmlformats.org/drawingml/2006/main"/>
          </p:cNvSpPr>
          <p:nvPr/>
        </p:nvSpPr>
        <p:spPr>
          <a:xfrm xmlns:a="http://schemas.openxmlformats.org/drawingml/2006/main">
            <a:off x="609600" y="2082800"/>
            <a:ext cx="72136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68" name="08-text-1">
            <a:extLst xmlns:a="http://schemas.openxmlformats.org/drawingml/2006/main">
              <a:ext uri="{FF2B5EF4-FFF2-40B4-BE49-F238E27FC236}">
                <a16:creationId xmlns:a16="http://schemas.microsoft.com/office/drawing/2014/main" id="{2C8FAD4D-A4B0-4F1D-8060-AAE3EB89769C}"/>
              </a:ext>
            </a:extLst>
          </p:cNvPr>
          <p:cNvSpPr>
            <a:spLocks xmlns:a="http://schemas.openxmlformats.org/drawingml/2006/main"/>
          </p:cNvSpPr>
          <p:nvPr/>
        </p:nvSpPr>
        <p:spPr>
          <a:xfrm xmlns:a="http://schemas.openxmlformats.org/drawingml/2006/main">
            <a:off x="812800" y="2781300"/>
            <a:ext cx="6807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69" name="08-text-2">
            <a:extLst xmlns:a="http://schemas.openxmlformats.org/drawingml/2006/main">
              <a:ext uri="{FF2B5EF4-FFF2-40B4-BE49-F238E27FC236}">
                <a16:creationId xmlns:a16="http://schemas.microsoft.com/office/drawing/2014/main" id="{04763EED-4397-4DD1-BCD6-2195D396158C}"/>
              </a:ext>
            </a:extLst>
          </p:cNvPr>
          <p:cNvSpPr>
            <a:spLocks xmlns:a="http://schemas.openxmlformats.org/drawingml/2006/main"/>
          </p:cNvSpPr>
          <p:nvPr/>
        </p:nvSpPr>
        <p:spPr>
          <a:xfrm xmlns:a="http://schemas.openxmlformats.org/drawingml/2006/main">
            <a:off x="812800" y="3302000"/>
            <a:ext cx="68072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Devin Desktop model picker</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Reasoning-effort slider visible</a:t>
            </a:r>
          </a:p>
        </p:txBody>
      </p:sp>
      <p:sp>
        <p:nvSpPr>
          <p:cNvPr id="70" name="!!screenshot-Codex CLI">
            <a:extLst xmlns:a="http://schemas.openxmlformats.org/drawingml/2006/main">
              <a:ext uri="{FF2B5EF4-FFF2-40B4-BE49-F238E27FC236}">
                <a16:creationId xmlns:a16="http://schemas.microsoft.com/office/drawing/2014/main" id="{D0EB665B-209F-47CB-87B1-B71BF3641CC2}"/>
              </a:ext>
            </a:extLst>
          </p:cNvPr>
          <p:cNvSpPr>
            <a:spLocks xmlns:a="http://schemas.openxmlformats.org/drawingml/2006/main"/>
          </p:cNvSpPr>
          <p:nvPr/>
        </p:nvSpPr>
        <p:spPr>
          <a:xfrm xmlns:a="http://schemas.openxmlformats.org/drawingml/2006/main">
            <a:off x="8128000" y="2082800"/>
            <a:ext cx="34544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71" name="08-text-3">
            <a:extLst xmlns:a="http://schemas.openxmlformats.org/drawingml/2006/main">
              <a:ext uri="{FF2B5EF4-FFF2-40B4-BE49-F238E27FC236}">
                <a16:creationId xmlns:a16="http://schemas.microsoft.com/office/drawing/2014/main" id="{66691A78-F4E5-43FF-AE3E-93EE45CCC5C0}"/>
              </a:ext>
            </a:extLst>
          </p:cNvPr>
          <p:cNvSpPr>
            <a:spLocks xmlns:a="http://schemas.openxmlformats.org/drawingml/2006/main"/>
          </p:cNvSpPr>
          <p:nvPr/>
        </p:nvSpPr>
        <p:spPr>
          <a:xfrm xmlns:a="http://schemas.openxmlformats.org/drawingml/2006/main">
            <a:off x="8331200" y="2781300"/>
            <a:ext cx="3048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72" name="08-text-4">
            <a:extLst xmlns:a="http://schemas.openxmlformats.org/drawingml/2006/main">
              <a:ext uri="{FF2B5EF4-FFF2-40B4-BE49-F238E27FC236}">
                <a16:creationId xmlns:a16="http://schemas.microsoft.com/office/drawing/2014/main" id="{BF2606D4-27DC-407B-8E74-F846F79F862B}"/>
              </a:ext>
            </a:extLst>
          </p:cNvPr>
          <p:cNvSpPr>
            <a:spLocks xmlns:a="http://schemas.openxmlformats.org/drawingml/2006/main"/>
          </p:cNvSpPr>
          <p:nvPr/>
        </p:nvSpPr>
        <p:spPr>
          <a:xfrm xmlns:a="http://schemas.openxmlformats.org/drawingml/2006/main">
            <a:off x="8331200" y="3302000"/>
            <a:ext cx="30480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Codex /model picker</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Reasoning effort choices</a:t>
            </a:r>
          </a:p>
        </p:txBody>
      </p:sp>
      <p:sp>
        <p:nvSpPr>
          <p:cNvPr id="73" name="08-text-5">
            <a:extLst xmlns:a="http://schemas.openxmlformats.org/drawingml/2006/main">
              <a:ext uri="{FF2B5EF4-FFF2-40B4-BE49-F238E27FC236}">
                <a16:creationId xmlns:a16="http://schemas.microsoft.com/office/drawing/2014/main" id="{9A7CE9DC-42BA-4128-92AB-8AB42899905F}"/>
              </a:ext>
            </a:extLst>
          </p:cNvPr>
          <p:cNvSpPr>
            <a:spLocks xmlns:a="http://schemas.openxmlformats.org/drawingml/2006/main"/>
          </p:cNvSpPr>
          <p:nvPr/>
        </p:nvSpPr>
        <p:spPr>
          <a:xfrm xmlns:a="http://schemas.openxmlformats.org/drawingml/2006/main">
            <a:off x="609600" y="55880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Devin Desktop, the model picker</a:t>
            </a:r>
          </a:p>
        </p:txBody>
      </p:sp>
      <p:sp>
        <p:nvSpPr>
          <p:cNvPr id="74" name="08-text-6">
            <a:extLst xmlns:a="http://schemas.openxmlformats.org/drawingml/2006/main">
              <a:ext uri="{FF2B5EF4-FFF2-40B4-BE49-F238E27FC236}">
                <a16:creationId xmlns:a16="http://schemas.microsoft.com/office/drawing/2014/main" id="{F7928D11-8C33-4FA5-AD14-82F7AAE2F2E6}"/>
              </a:ext>
            </a:extLst>
          </p:cNvPr>
          <p:cNvSpPr>
            <a:spLocks xmlns:a="http://schemas.openxmlformats.org/drawingml/2006/main"/>
          </p:cNvSpPr>
          <p:nvPr/>
        </p:nvSpPr>
        <p:spPr>
          <a:xfrm xmlns:a="http://schemas.openxmlformats.org/drawingml/2006/main">
            <a:off x="8128000" y="55880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Codex, </a:t>
            </a:r>
            <a:r>
              <a:rPr b="0">
                <a:solidFill>
                  <a:srgbClr val="FFFCF5"/>
                </a:solidFill>
                <a:latin typeface="Consolas"/>
                <a:ea typeface="Consolas"/>
                <a:cs typeface="Consolas"/>
              </a:rPr>
              <a:t>/model</a:t>
            </a:r>
          </a:p>
        </p:txBody>
      </p:sp>
      <p:sp>
        <p:nvSpPr>
          <p:cNvPr id="75" name="narrative-number">
            <a:extLst xmlns:a="http://schemas.openxmlformats.org/drawingml/2006/main">
              <a:ext uri="{FF2B5EF4-FFF2-40B4-BE49-F238E27FC236}">
                <a16:creationId xmlns:a16="http://schemas.microsoft.com/office/drawing/2014/main" id="{BB62352A-076F-464E-8E44-596B4FF98B6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2744334854"/>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6" name="!!area-name">
            <a:extLst xmlns:a="http://schemas.openxmlformats.org/drawingml/2006/main">
              <a:ext uri="{FF2B5EF4-FFF2-40B4-BE49-F238E27FC236}">
                <a16:creationId xmlns:a16="http://schemas.microsoft.com/office/drawing/2014/main" id="{D6C64B70-17AB-4843-B20D-E5DEB95A8F4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user</a:t>
            </a:r>
          </a:p>
        </p:txBody>
      </p:sp>
      <p:pic>
        <p:nvPicPr>
          <p:cNvPr id="94" name="mini-map"/>
          <p:cNvPicPr>
            <a:picLocks xmlns:a="http://schemas.openxmlformats.org/drawingml/2006/main" noChangeAspect="1"/>
          </p:cNvPicPr>
          <p:nvPr/>
        </p:nvPicPr>
        <p:blipFill>
          <a:blip xmlns:r="http://schemas.openxmlformats.org/officeDocument/2006/relationships" xmlns:a="http://schemas.openxmlformats.org/drawingml/2006/main" r:embed="R582d13168f6c4e4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8" name="header-divider">
            <a:extLst xmlns:a="http://schemas.openxmlformats.org/drawingml/2006/main">
              <a:ext uri="{FF2B5EF4-FFF2-40B4-BE49-F238E27FC236}">
                <a16:creationId xmlns:a16="http://schemas.microsoft.com/office/drawing/2014/main" id="{4DF84BAE-C77D-49F6-B129-DABC797E9DA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9" name="!!screenshot-Devin Desktop">
            <a:extLst xmlns:a="http://schemas.openxmlformats.org/drawingml/2006/main">
              <a:ext uri="{FF2B5EF4-FFF2-40B4-BE49-F238E27FC236}">
                <a16:creationId xmlns:a16="http://schemas.microsoft.com/office/drawing/2014/main" id="{826472EC-C0E6-4CE4-BD1F-35DFD6C2A03F}"/>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80" name="08b-text-1">
            <a:extLst xmlns:a="http://schemas.openxmlformats.org/drawingml/2006/main">
              <a:ext uri="{FF2B5EF4-FFF2-40B4-BE49-F238E27FC236}">
                <a16:creationId xmlns:a16="http://schemas.microsoft.com/office/drawing/2014/main" id="{EBECD235-050D-4CF8-ADEA-A1021A0AD6CA}"/>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81" name="08b-text-2">
            <a:extLst xmlns:a="http://schemas.openxmlformats.org/drawingml/2006/main">
              <a:ext uri="{FF2B5EF4-FFF2-40B4-BE49-F238E27FC236}">
                <a16:creationId xmlns:a16="http://schemas.microsoft.com/office/drawing/2014/main" id="{D0343C5D-1F9F-4BD5-9356-BDDC01E5F4CB}"/>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Devin Desktop</a:t>
            </a:r>
          </a:p>
        </p:txBody>
      </p:sp>
      <p:sp>
        <p:nvSpPr>
          <p:cNvPr id="82" name="!!screenshot-Codex CLI">
            <a:extLst xmlns:a="http://schemas.openxmlformats.org/drawingml/2006/main">
              <a:ext uri="{FF2B5EF4-FFF2-40B4-BE49-F238E27FC236}">
                <a16:creationId xmlns:a16="http://schemas.microsoft.com/office/drawing/2014/main" id="{116E6DC2-B8E3-4EA1-9C73-C61FB4A7B151}"/>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83" name="08b-text-3">
            <a:extLst xmlns:a="http://schemas.openxmlformats.org/drawingml/2006/main">
              <a:ext uri="{FF2B5EF4-FFF2-40B4-BE49-F238E27FC236}">
                <a16:creationId xmlns:a16="http://schemas.microsoft.com/office/drawing/2014/main" id="{16F6F410-5E61-4CB9-918E-DD5650A6EF4D}"/>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84" name="08b-text-4">
            <a:extLst xmlns:a="http://schemas.openxmlformats.org/drawingml/2006/main">
              <a:ext uri="{FF2B5EF4-FFF2-40B4-BE49-F238E27FC236}">
                <a16:creationId xmlns:a16="http://schemas.microsoft.com/office/drawing/2014/main" id="{48E90B29-C983-403D-A6B1-4CBAEE3894E0}"/>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Codex CLI</a:t>
            </a:r>
          </a:p>
        </p:txBody>
      </p:sp>
      <p:sp>
        <p:nvSpPr>
          <p:cNvPr id="85" name="08b-text-5">
            <a:extLst xmlns:a="http://schemas.openxmlformats.org/drawingml/2006/main">
              <a:ext uri="{FF2B5EF4-FFF2-40B4-BE49-F238E27FC236}">
                <a16:creationId xmlns:a16="http://schemas.microsoft.com/office/drawing/2014/main" id="{98B2C9D0-4C09-4F3E-9F5E-54F73D0BA1F4}"/>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Provider responsibilities behind the picker:</a:t>
            </a:r>
          </a:p>
        </p:txBody>
      </p:sp>
      <p:sp>
        <p:nvSpPr>
          <p:cNvPr id="86" name="08b-text-6">
            <a:extLst xmlns:a="http://schemas.openxmlformats.org/drawingml/2006/main">
              <a:ext uri="{FF2B5EF4-FFF2-40B4-BE49-F238E27FC236}">
                <a16:creationId xmlns:a16="http://schemas.microsoft.com/office/drawing/2014/main" id="{F4C15987-6983-4A74-9A58-ED2E0077C63D}"/>
              </a:ext>
            </a:extLst>
          </p:cNvPr>
          <p:cNvSpPr>
            <a:spLocks xmlns:a="http://schemas.openxmlformats.org/drawingml/2006/main"/>
          </p:cNvSpPr>
          <p:nvPr/>
        </p:nvSpPr>
        <p:spPr>
          <a:xfrm xmlns:a="http://schemas.openxmlformats.org/drawingml/2006/main">
            <a:off x="609600" y="29845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Defaults.</a:t>
            </a:r>
          </a:p>
        </p:txBody>
      </p:sp>
      <p:sp>
        <p:nvSpPr>
          <p:cNvPr id="87" name="08b-text-7">
            <a:extLst xmlns:a="http://schemas.openxmlformats.org/drawingml/2006/main">
              <a:ext uri="{FF2B5EF4-FFF2-40B4-BE49-F238E27FC236}">
                <a16:creationId xmlns:a16="http://schemas.microsoft.com/office/drawing/2014/main" id="{86ED0547-8000-4A70-B1CD-C618212EB3BC}"/>
              </a:ext>
            </a:extLst>
          </p:cNvPr>
          <p:cNvSpPr>
            <a:spLocks xmlns:a="http://schemas.openxmlformats.org/drawingml/2006/main"/>
          </p:cNvSpPr>
          <p:nvPr/>
        </p:nvSpPr>
        <p:spPr>
          <a:xfrm xmlns:a="http://schemas.openxmlformats.org/drawingml/2006/main">
            <a:off x="609600" y="34544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Model-specific prompt and tool tuning.</a:t>
            </a:r>
          </a:p>
        </p:txBody>
      </p:sp>
      <p:sp>
        <p:nvSpPr>
          <p:cNvPr id="88" name="08b-text-8">
            <a:extLst xmlns:a="http://schemas.openxmlformats.org/drawingml/2006/main">
              <a:ext uri="{FF2B5EF4-FFF2-40B4-BE49-F238E27FC236}">
                <a16:creationId xmlns:a16="http://schemas.microsoft.com/office/drawing/2014/main" id="{AC593D4C-54F9-40BC-A71C-2A1A4B67170E}"/>
              </a:ext>
            </a:extLst>
          </p:cNvPr>
          <p:cNvSpPr>
            <a:spLocks xmlns:a="http://schemas.openxmlformats.org/drawingml/2006/main"/>
          </p:cNvSpPr>
          <p:nvPr/>
        </p:nvSpPr>
        <p:spPr>
          <a:xfrm xmlns:a="http://schemas.openxmlformats.org/drawingml/2006/main">
            <a:off x="609600" y="39243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Failover.</a:t>
            </a:r>
          </a:p>
        </p:txBody>
      </p:sp>
      <p:sp>
        <p:nvSpPr>
          <p:cNvPr id="89" name="08b-text-9">
            <a:extLst xmlns:a="http://schemas.openxmlformats.org/drawingml/2006/main">
              <a:ext uri="{FF2B5EF4-FFF2-40B4-BE49-F238E27FC236}">
                <a16:creationId xmlns:a16="http://schemas.microsoft.com/office/drawing/2014/main" id="{9A2C9674-3E55-4928-BE4A-19F59C161BB9}"/>
              </a:ext>
            </a:extLst>
          </p:cNvPr>
          <p:cNvSpPr>
            <a:spLocks xmlns:a="http://schemas.openxmlformats.org/drawingml/2006/main"/>
          </p:cNvSpPr>
          <p:nvPr/>
        </p:nvSpPr>
        <p:spPr>
          <a:xfrm xmlns:a="http://schemas.openxmlformats.org/drawingml/2006/main">
            <a:off x="609600" y="43942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Price-change handling.</a:t>
            </a:r>
          </a:p>
        </p:txBody>
      </p:sp>
      <p:sp>
        <p:nvSpPr>
          <p:cNvPr id="90" name="08b-text-10">
            <a:extLst xmlns:a="http://schemas.openxmlformats.org/drawingml/2006/main">
              <a:ext uri="{FF2B5EF4-FFF2-40B4-BE49-F238E27FC236}">
                <a16:creationId xmlns:a16="http://schemas.microsoft.com/office/drawing/2014/main" id="{68574420-CE0E-4277-A3B4-EB99C73F2D40}"/>
              </a:ext>
            </a:extLst>
          </p:cNvPr>
          <p:cNvSpPr>
            <a:spLocks xmlns:a="http://schemas.openxmlformats.org/drawingml/2006/main"/>
          </p:cNvSpPr>
          <p:nvPr/>
        </p:nvSpPr>
        <p:spPr>
          <a:xfrm xmlns:a="http://schemas.openxmlformats.org/drawingml/2006/main">
            <a:off x="609600" y="48641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Retirement handling.</a:t>
            </a:r>
          </a:p>
        </p:txBody>
      </p:sp>
      <p:sp>
        <p:nvSpPr>
          <p:cNvPr id="91" name="08b-text-11">
            <a:extLst xmlns:a="http://schemas.openxmlformats.org/drawingml/2006/main">
              <a:ext uri="{FF2B5EF4-FFF2-40B4-BE49-F238E27FC236}">
                <a16:creationId xmlns:a16="http://schemas.microsoft.com/office/drawing/2014/main" id="{11227A7C-1979-4738-8068-601F138D599F}"/>
              </a:ext>
            </a:extLst>
          </p:cNvPr>
          <p:cNvSpPr>
            <a:spLocks xmlns:a="http://schemas.openxmlformats.org/drawingml/2006/main"/>
          </p:cNvSpPr>
          <p:nvPr/>
        </p:nvSpPr>
        <p:spPr>
          <a:xfrm xmlns:a="http://schemas.openxmlformats.org/drawingml/2006/main">
            <a:off x="609600" y="57150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Model retirement creates migration work.</a:t>
            </a:r>
          </a:p>
        </p:txBody>
      </p:sp>
      <p:sp>
        <p:nvSpPr>
          <p:cNvPr id="92" name="narrative-number">
            <a:extLst xmlns:a="http://schemas.openxmlformats.org/drawingml/2006/main">
              <a:ext uri="{FF2B5EF4-FFF2-40B4-BE49-F238E27FC236}">
                <a16:creationId xmlns:a16="http://schemas.microsoft.com/office/drawing/2014/main" id="{F969C3CF-D657-4DA2-89E4-E108FB2171B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2804549111"/>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3" name="!!area-name">
            <a:extLst xmlns:a="http://schemas.openxmlformats.org/drawingml/2006/main">
              <a:ext uri="{FF2B5EF4-FFF2-40B4-BE49-F238E27FC236}">
                <a16:creationId xmlns:a16="http://schemas.microsoft.com/office/drawing/2014/main" id="{C9B90135-D875-4099-91D8-A660E2A65C8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14" name="mini-map"/>
          <p:cNvPicPr>
            <a:picLocks xmlns:a="http://schemas.openxmlformats.org/drawingml/2006/main" noChangeAspect="1"/>
          </p:cNvPicPr>
          <p:nvPr/>
        </p:nvPicPr>
        <p:blipFill>
          <a:blip xmlns:r="http://schemas.openxmlformats.org/officeDocument/2006/relationships" xmlns:a="http://schemas.openxmlformats.org/drawingml/2006/main" r:embed="Rb8582a1aba464ed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5" name="slide-title">
            <a:extLst xmlns:a="http://schemas.openxmlformats.org/drawingml/2006/main">
              <a:ext uri="{FF2B5EF4-FFF2-40B4-BE49-F238E27FC236}">
                <a16:creationId xmlns:a16="http://schemas.microsoft.com/office/drawing/2014/main" id="{A3FDB7D1-1327-48D1-BEA4-4BAF60612AF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is a component you select,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measure, and replace.</a:t>
            </a:r>
          </a:p>
        </p:txBody>
      </p:sp>
      <p:sp>
        <p:nvSpPr>
          <p:cNvPr id="96" name="header-divider">
            <a:extLst xmlns:a="http://schemas.openxmlformats.org/drawingml/2006/main">
              <a:ext uri="{FF2B5EF4-FFF2-40B4-BE49-F238E27FC236}">
                <a16:creationId xmlns:a16="http://schemas.microsoft.com/office/drawing/2014/main" id="{2D0329C1-5AA3-46FB-99D6-37831EDCE1B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7" name="09-text-1">
            <a:extLst xmlns:a="http://schemas.openxmlformats.org/drawingml/2006/main">
              <a:ext uri="{FF2B5EF4-FFF2-40B4-BE49-F238E27FC236}">
                <a16:creationId xmlns:a16="http://schemas.microsoft.com/office/drawing/2014/main" id="{06971763-1778-47D2-A622-2D6E6477E3D3}"/>
              </a:ext>
            </a:extLst>
          </p:cNvPr>
          <p:cNvSpPr>
            <a:spLocks xmlns:a="http://schemas.openxmlformats.org/drawingml/2006/main"/>
          </p:cNvSpPr>
          <p:nvPr/>
        </p:nvSpPr>
        <p:spPr>
          <a:xfrm xmlns:a="http://schemas.openxmlformats.org/drawingml/2006/main">
            <a:off x="609600" y="2489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a:t>
            </a:r>
          </a:p>
        </p:txBody>
      </p:sp>
      <p:sp>
        <p:nvSpPr>
          <p:cNvPr id="98" name="09-shape-2">
            <a:extLst xmlns:a="http://schemas.openxmlformats.org/drawingml/2006/main">
              <a:ext uri="{FF2B5EF4-FFF2-40B4-BE49-F238E27FC236}">
                <a16:creationId xmlns:a16="http://schemas.microsoft.com/office/drawing/2014/main" id="{F988AC8A-9DD9-45D4-A44D-4CD0568CED06}"/>
              </a:ext>
            </a:extLst>
          </p:cNvPr>
          <p:cNvSpPr>
            <a:spLocks xmlns:a="http://schemas.openxmlformats.org/drawingml/2006/main"/>
          </p:cNvSpPr>
          <p:nvPr/>
        </p:nvSpPr>
        <p:spPr>
          <a:xfrm xmlns:a="http://schemas.openxmlformats.org/drawingml/2006/main">
            <a:off x="2489200" y="2438400"/>
            <a:ext cx="30099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99" name="09-text-3">
            <a:extLst xmlns:a="http://schemas.openxmlformats.org/drawingml/2006/main">
              <a:ext uri="{FF2B5EF4-FFF2-40B4-BE49-F238E27FC236}">
                <a16:creationId xmlns:a16="http://schemas.microsoft.com/office/drawing/2014/main" id="{C39F5DBC-DD62-4302-8A95-83F019E71BCF}"/>
              </a:ext>
            </a:extLst>
          </p:cNvPr>
          <p:cNvSpPr>
            <a:spLocks xmlns:a="http://schemas.openxmlformats.org/drawingml/2006/main"/>
          </p:cNvSpPr>
          <p:nvPr/>
        </p:nvSpPr>
        <p:spPr>
          <a:xfrm xmlns:a="http://schemas.openxmlformats.org/drawingml/2006/main">
            <a:off x="2641600" y="2476500"/>
            <a:ext cx="2705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Capability on your tasks</a:t>
            </a:r>
          </a:p>
        </p:txBody>
      </p:sp>
      <p:sp>
        <p:nvSpPr>
          <p:cNvPr id="100" name="09-shape-4">
            <a:extLst xmlns:a="http://schemas.openxmlformats.org/drawingml/2006/main">
              <a:ext uri="{FF2B5EF4-FFF2-40B4-BE49-F238E27FC236}">
                <a16:creationId xmlns:a16="http://schemas.microsoft.com/office/drawing/2014/main" id="{4F19F98D-9D84-4DB9-AE90-89FD6DB6C91F}"/>
              </a:ext>
            </a:extLst>
          </p:cNvPr>
          <p:cNvSpPr>
            <a:spLocks xmlns:a="http://schemas.openxmlformats.org/drawingml/2006/main"/>
          </p:cNvSpPr>
          <p:nvPr/>
        </p:nvSpPr>
        <p:spPr>
          <a:xfrm xmlns:a="http://schemas.openxmlformats.org/drawingml/2006/main">
            <a:off x="5600700" y="2438400"/>
            <a:ext cx="30480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01" name="09-text-5">
            <a:extLst xmlns:a="http://schemas.openxmlformats.org/drawingml/2006/main">
              <a:ext uri="{FF2B5EF4-FFF2-40B4-BE49-F238E27FC236}">
                <a16:creationId xmlns:a16="http://schemas.microsoft.com/office/drawing/2014/main" id="{A6DF573D-C662-46F1-960A-79C5BC8F8553}"/>
              </a:ext>
            </a:extLst>
          </p:cNvPr>
          <p:cNvSpPr>
            <a:spLocks xmlns:a="http://schemas.openxmlformats.org/drawingml/2006/main"/>
          </p:cNvSpPr>
          <p:nvPr/>
        </p:nvSpPr>
        <p:spPr>
          <a:xfrm xmlns:a="http://schemas.openxmlformats.org/drawingml/2006/main">
            <a:off x="5753100" y="2476500"/>
            <a:ext cx="274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task</a:t>
            </a:r>
          </a:p>
        </p:txBody>
      </p:sp>
      <p:sp>
        <p:nvSpPr>
          <p:cNvPr id="102" name="09-shape-6">
            <a:extLst xmlns:a="http://schemas.openxmlformats.org/drawingml/2006/main">
              <a:ext uri="{FF2B5EF4-FFF2-40B4-BE49-F238E27FC236}">
                <a16:creationId xmlns:a16="http://schemas.microsoft.com/office/drawing/2014/main" id="{E887C8FC-067C-454B-876A-3EC6305224BB}"/>
              </a:ext>
            </a:extLst>
          </p:cNvPr>
          <p:cNvSpPr>
            <a:spLocks xmlns:a="http://schemas.openxmlformats.org/drawingml/2006/main"/>
          </p:cNvSpPr>
          <p:nvPr/>
        </p:nvSpPr>
        <p:spPr>
          <a:xfrm xmlns:a="http://schemas.openxmlformats.org/drawingml/2006/main">
            <a:off x="8750300" y="2438400"/>
            <a:ext cx="19812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03" name="09-text-7">
            <a:extLst xmlns:a="http://schemas.openxmlformats.org/drawingml/2006/main">
              <a:ext uri="{FF2B5EF4-FFF2-40B4-BE49-F238E27FC236}">
                <a16:creationId xmlns:a16="http://schemas.microsoft.com/office/drawing/2014/main" id="{9C845DDA-79FD-4129-AB82-AF11E9428539}"/>
              </a:ext>
            </a:extLst>
          </p:cNvPr>
          <p:cNvSpPr>
            <a:spLocks xmlns:a="http://schemas.openxmlformats.org/drawingml/2006/main"/>
          </p:cNvSpPr>
          <p:nvPr/>
        </p:nvSpPr>
        <p:spPr>
          <a:xfrm xmlns:a="http://schemas.openxmlformats.org/drawingml/2006/main">
            <a:off x="8902700" y="2476500"/>
            <a:ext cx="1676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Latency at p95</a:t>
            </a:r>
          </a:p>
        </p:txBody>
      </p:sp>
      <p:sp>
        <p:nvSpPr>
          <p:cNvPr id="104" name="09-shape-8">
            <a:extLst xmlns:a="http://schemas.openxmlformats.org/drawingml/2006/main">
              <a:ext uri="{FF2B5EF4-FFF2-40B4-BE49-F238E27FC236}">
                <a16:creationId xmlns:a16="http://schemas.microsoft.com/office/drawing/2014/main" id="{262C2F21-C6E6-40B0-B18C-1043305AF58B}"/>
              </a:ext>
            </a:extLst>
          </p:cNvPr>
          <p:cNvSpPr>
            <a:spLocks xmlns:a="http://schemas.openxmlformats.org/drawingml/2006/main"/>
          </p:cNvSpPr>
          <p:nvPr/>
        </p:nvSpPr>
        <p:spPr>
          <a:xfrm xmlns:a="http://schemas.openxmlformats.org/drawingml/2006/main">
            <a:off x="2489200" y="2959100"/>
            <a:ext cx="21082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05" name="09-text-9">
            <a:extLst xmlns:a="http://schemas.openxmlformats.org/drawingml/2006/main">
              <a:ext uri="{FF2B5EF4-FFF2-40B4-BE49-F238E27FC236}">
                <a16:creationId xmlns:a16="http://schemas.microsoft.com/office/drawing/2014/main" id="{58292A97-86A0-4FB7-9C3E-7907DC6838AF}"/>
              </a:ext>
            </a:extLst>
          </p:cNvPr>
          <p:cNvSpPr>
            <a:spLocks xmlns:a="http://schemas.openxmlformats.org/drawingml/2006/main"/>
          </p:cNvSpPr>
          <p:nvPr/>
        </p:nvSpPr>
        <p:spPr>
          <a:xfrm xmlns:a="http://schemas.openxmlformats.org/drawingml/2006/main">
            <a:off x="2641600" y="2997200"/>
            <a:ext cx="180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window</a:t>
            </a:r>
          </a:p>
        </p:txBody>
      </p:sp>
      <p:sp>
        <p:nvSpPr>
          <p:cNvPr id="106" name="09-shape-10">
            <a:extLst xmlns:a="http://schemas.openxmlformats.org/drawingml/2006/main">
              <a:ext uri="{FF2B5EF4-FFF2-40B4-BE49-F238E27FC236}">
                <a16:creationId xmlns:a16="http://schemas.microsoft.com/office/drawing/2014/main" id="{8B3286D0-E8D5-4128-A525-AE30F35A6576}"/>
              </a:ext>
            </a:extLst>
          </p:cNvPr>
          <p:cNvSpPr>
            <a:spLocks xmlns:a="http://schemas.openxmlformats.org/drawingml/2006/main"/>
          </p:cNvSpPr>
          <p:nvPr/>
        </p:nvSpPr>
        <p:spPr>
          <a:xfrm xmlns:a="http://schemas.openxmlformats.org/drawingml/2006/main">
            <a:off x="4699000" y="2959100"/>
            <a:ext cx="2324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07" name="09-text-11">
            <a:extLst xmlns:a="http://schemas.openxmlformats.org/drawingml/2006/main">
              <a:ext uri="{FF2B5EF4-FFF2-40B4-BE49-F238E27FC236}">
                <a16:creationId xmlns:a16="http://schemas.microsoft.com/office/drawing/2014/main" id="{3384C86F-35FB-4478-8C0B-8688420AD5E3}"/>
              </a:ext>
            </a:extLst>
          </p:cNvPr>
          <p:cNvSpPr>
            <a:spLocks xmlns:a="http://schemas.openxmlformats.org/drawingml/2006/main"/>
          </p:cNvSpPr>
          <p:nvPr/>
        </p:nvSpPr>
        <p:spPr>
          <a:xfrm xmlns:a="http://schemas.openxmlformats.org/drawingml/2006/main">
            <a:off x="4851400" y="2997200"/>
            <a:ext cx="2019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Tool-use reliability</a:t>
            </a:r>
          </a:p>
        </p:txBody>
      </p:sp>
      <p:sp>
        <p:nvSpPr>
          <p:cNvPr id="108" name="09-shape-12">
            <a:extLst xmlns:a="http://schemas.openxmlformats.org/drawingml/2006/main">
              <a:ext uri="{FF2B5EF4-FFF2-40B4-BE49-F238E27FC236}">
                <a16:creationId xmlns:a16="http://schemas.microsoft.com/office/drawing/2014/main" id="{E187889C-B13D-4445-AFCC-ADEEAEEC6940}"/>
              </a:ext>
            </a:extLst>
          </p:cNvPr>
          <p:cNvSpPr>
            <a:spLocks xmlns:a="http://schemas.openxmlformats.org/drawingml/2006/main"/>
          </p:cNvSpPr>
          <p:nvPr/>
        </p:nvSpPr>
        <p:spPr>
          <a:xfrm xmlns:a="http://schemas.openxmlformats.org/drawingml/2006/main">
            <a:off x="7124700" y="2959100"/>
            <a:ext cx="20066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09" name="09-text-13">
            <a:extLst xmlns:a="http://schemas.openxmlformats.org/drawingml/2006/main">
              <a:ext uri="{FF2B5EF4-FFF2-40B4-BE49-F238E27FC236}">
                <a16:creationId xmlns:a16="http://schemas.microsoft.com/office/drawing/2014/main" id="{BC437331-D4E1-4FEB-8E01-0BC90A3F1716}"/>
              </a:ext>
            </a:extLst>
          </p:cNvPr>
          <p:cNvSpPr>
            <a:spLocks xmlns:a="http://schemas.openxmlformats.org/drawingml/2006/main"/>
          </p:cNvSpPr>
          <p:nvPr/>
        </p:nvSpPr>
        <p:spPr>
          <a:xfrm xmlns:a="http://schemas.openxmlformats.org/drawingml/2006/main">
            <a:off x="7277100" y="2997200"/>
            <a:ext cx="1701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Data residency</a:t>
            </a:r>
          </a:p>
        </p:txBody>
      </p:sp>
      <p:sp>
        <p:nvSpPr>
          <p:cNvPr id="110" name="09-text-14">
            <a:extLst xmlns:a="http://schemas.openxmlformats.org/drawingml/2006/main">
              <a:ext uri="{FF2B5EF4-FFF2-40B4-BE49-F238E27FC236}">
                <a16:creationId xmlns:a16="http://schemas.microsoft.com/office/drawing/2014/main" id="{EB5410B6-8E0F-4A6E-B6C7-CFB6D9EA2462}"/>
              </a:ext>
            </a:extLst>
          </p:cNvPr>
          <p:cNvSpPr>
            <a:spLocks xmlns:a="http://schemas.openxmlformats.org/drawingml/2006/main"/>
          </p:cNvSpPr>
          <p:nvPr/>
        </p:nvSpPr>
        <p:spPr>
          <a:xfrm xmlns:a="http://schemas.openxmlformats.org/drawingml/2006/main">
            <a:off x="609600" y="38100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Measure</a:t>
            </a:r>
          </a:p>
        </p:txBody>
      </p:sp>
      <p:sp>
        <p:nvSpPr>
          <p:cNvPr id="111" name="09-text-15">
            <a:extLst xmlns:a="http://schemas.openxmlformats.org/drawingml/2006/main">
              <a:ext uri="{FF2B5EF4-FFF2-40B4-BE49-F238E27FC236}">
                <a16:creationId xmlns:a16="http://schemas.microsoft.com/office/drawing/2014/main" id="{8EB09718-74D8-4F20-8176-112B5F2D82AD}"/>
              </a:ext>
            </a:extLst>
          </p:cNvPr>
          <p:cNvSpPr>
            <a:spLocks xmlns:a="http://schemas.openxmlformats.org/drawingml/2006/main"/>
          </p:cNvSpPr>
          <p:nvPr/>
        </p:nvSpPr>
        <p:spPr>
          <a:xfrm xmlns:a="http://schemas.openxmlformats.org/drawingml/2006/main">
            <a:off x="2489200" y="3759200"/>
            <a:ext cx="9093200" cy="82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Benchmarks use their task population and harness.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Measure your product on representative cases.</a:t>
            </a:r>
          </a:p>
        </p:txBody>
      </p:sp>
      <p:sp>
        <p:nvSpPr>
          <p:cNvPr id="112" name="narrative-number">
            <a:extLst xmlns:a="http://schemas.openxmlformats.org/drawingml/2006/main">
              <a:ext uri="{FF2B5EF4-FFF2-40B4-BE49-F238E27FC236}">
                <a16:creationId xmlns:a16="http://schemas.microsoft.com/office/drawing/2014/main" id="{D3930FB2-B6CD-4863-AEDF-C1E33C67763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20975158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98"/>
                                        </p:tgtEl>
                                        <p:attrNameLst>
                                          <p:attrName>style.visibility</p:attrName>
                                        </p:attrNameLst>
                                      </p:cBhvr>
                                      <p:to>
                                        <p:strVal val="visible"/>
                                      </p:to>
                                    </p:set>
                                    <p:animEffect transition="in" filter="fade">
                                      <p:cBhvr>
                                        <p:cTn id="9" dur="200" fill="hold"/>
                                        <p:tgtEl>
                                          <p:spTgt spid="98"/>
                                        </p:tgtEl>
                                      </p:cBhvr>
                                    </p:animEffect>
                                  </p:childTnLst>
                                </p:cTn>
                              </p:par>
                              <p:par>
                                <p:cTn id="10" presetID="10" presetClass="entr" presetSubtype="0" fill="hold" nodeType="withEffect">
                                  <p:stCondLst>
                                    <p:cond delay="0"/>
                                  </p:stCondLst>
                                  <p:childTnLst>
                                    <p:set>
                                      <p:cBhvr>
                                        <p:cTn id="11" dur="1" fill="hold">
                                          <p:stCondLst>
                                            <p:cond delay="0"/>
                                          </p:stCondLst>
                                        </p:cTn>
                                        <p:tgtEl>
                                          <p:spTgt spid="99"/>
                                        </p:tgtEl>
                                        <p:attrNameLst>
                                          <p:attrName>style.visibility</p:attrName>
                                        </p:attrNameLst>
                                      </p:cBhvr>
                                      <p:to>
                                        <p:strVal val="visible"/>
                                      </p:to>
                                    </p:set>
                                    <p:animEffect transition="in" filter="fade">
                                      <p:cBhvr>
                                        <p:cTn id="12" dur="200" fill="hold"/>
                                        <p:tgtEl>
                                          <p:spTgt spid="99"/>
                                        </p:tgtEl>
                                      </p:cBhvr>
                                    </p:animEffect>
                                  </p:childTnLst>
                                </p:cTn>
                              </p:par>
                              <p:par>
                                <p:cTn id="13" presetID="10" presetClass="entr" presetSubtype="0" fill="hold" nodeType="withEffect">
                                  <p:stCondLst>
                                    <p:cond delay="0"/>
                                  </p:stCondLst>
                                  <p:childTnLst>
                                    <p:set>
                                      <p:cBhvr>
                                        <p:cTn id="14" dur="1" fill="hold">
                                          <p:stCondLst>
                                            <p:cond delay="0"/>
                                          </p:stCondLst>
                                        </p:cTn>
                                        <p:tgtEl>
                                          <p:spTgt spid="100"/>
                                        </p:tgtEl>
                                        <p:attrNameLst>
                                          <p:attrName>style.visibility</p:attrName>
                                        </p:attrNameLst>
                                      </p:cBhvr>
                                      <p:to>
                                        <p:strVal val="visible"/>
                                      </p:to>
                                    </p:set>
                                    <p:animEffect transition="in" filter="fade">
                                      <p:cBhvr>
                                        <p:cTn id="15" dur="200" fill="hold"/>
                                        <p:tgtEl>
                                          <p:spTgt spid="100"/>
                                        </p:tgtEl>
                                      </p:cBhvr>
                                    </p:animEffect>
                                  </p:childTnLst>
                                </p:cTn>
                              </p:par>
                              <p:par>
                                <p:cTn id="16" presetID="10" presetClass="entr" presetSubtype="0" fill="hold" nodeType="withEffect">
                                  <p:stCondLst>
                                    <p:cond delay="0"/>
                                  </p:stCondLst>
                                  <p:childTnLst>
                                    <p:set>
                                      <p:cBhvr>
                                        <p:cTn id="17" dur="1" fill="hold">
                                          <p:stCondLst>
                                            <p:cond delay="0"/>
                                          </p:stCondLst>
                                        </p:cTn>
                                        <p:tgtEl>
                                          <p:spTgt spid="101"/>
                                        </p:tgtEl>
                                        <p:attrNameLst>
                                          <p:attrName>style.visibility</p:attrName>
                                        </p:attrNameLst>
                                      </p:cBhvr>
                                      <p:to>
                                        <p:strVal val="visible"/>
                                      </p:to>
                                    </p:set>
                                    <p:animEffect transition="in" filter="fade">
                                      <p:cBhvr>
                                        <p:cTn id="18" dur="200" fill="hold"/>
                                        <p:tgtEl>
                                          <p:spTgt spid="101"/>
                                        </p:tgtEl>
                                      </p:cBhvr>
                                    </p:animEffect>
                                  </p:childTnLst>
                                </p:cTn>
                              </p:par>
                              <p:par>
                                <p:cTn id="19" presetID="10" presetClass="entr" presetSubtype="0" fill="hold" nodeType="withEffect">
                                  <p:stCondLst>
                                    <p:cond delay="0"/>
                                  </p:stCondLst>
                                  <p:childTnLst>
                                    <p:set>
                                      <p:cBhvr>
                                        <p:cTn id="20" dur="1" fill="hold">
                                          <p:stCondLst>
                                            <p:cond delay="0"/>
                                          </p:stCondLst>
                                        </p:cTn>
                                        <p:tgtEl>
                                          <p:spTgt spid="102"/>
                                        </p:tgtEl>
                                        <p:attrNameLst>
                                          <p:attrName>style.visibility</p:attrName>
                                        </p:attrNameLst>
                                      </p:cBhvr>
                                      <p:to>
                                        <p:strVal val="visible"/>
                                      </p:to>
                                    </p:set>
                                    <p:animEffect transition="in" filter="fade">
                                      <p:cBhvr>
                                        <p:cTn id="21" dur="200" fill="hold"/>
                                        <p:tgtEl>
                                          <p:spTgt spid="102"/>
                                        </p:tgtEl>
                                      </p:cBhvr>
                                    </p:animEffect>
                                  </p:childTnLst>
                                </p:cTn>
                              </p:par>
                              <p:par>
                                <p:cTn id="22" presetID="10" presetClass="entr" presetSubtype="0" fill="hold" nodeType="withEffect">
                                  <p:stCondLst>
                                    <p:cond delay="0"/>
                                  </p:stCondLst>
                                  <p:childTnLst>
                                    <p:set>
                                      <p:cBhvr>
                                        <p:cTn id="23" dur="1" fill="hold">
                                          <p:stCondLst>
                                            <p:cond delay="0"/>
                                          </p:stCondLst>
                                        </p:cTn>
                                        <p:tgtEl>
                                          <p:spTgt spid="103"/>
                                        </p:tgtEl>
                                        <p:attrNameLst>
                                          <p:attrName>style.visibility</p:attrName>
                                        </p:attrNameLst>
                                      </p:cBhvr>
                                      <p:to>
                                        <p:strVal val="visible"/>
                                      </p:to>
                                    </p:set>
                                    <p:animEffect transition="in" filter="fade">
                                      <p:cBhvr>
                                        <p:cTn id="24" dur="200" fill="hold"/>
                                        <p:tgtEl>
                                          <p:spTgt spid="103"/>
                                        </p:tgtEl>
                                      </p:cBhvr>
                                    </p:animEffect>
                                  </p:childTnLst>
                                </p:cTn>
                              </p:par>
                              <p:par>
                                <p:cTn id="25" presetID="10" presetClass="entr" presetSubtype="0" fill="hold" nodeType="withEffect">
                                  <p:stCondLst>
                                    <p:cond delay="0"/>
                                  </p:stCondLst>
                                  <p:childTnLst>
                                    <p:set>
                                      <p:cBhvr>
                                        <p:cTn id="26" dur="1" fill="hold">
                                          <p:stCondLst>
                                            <p:cond delay="0"/>
                                          </p:stCondLst>
                                        </p:cTn>
                                        <p:tgtEl>
                                          <p:spTgt spid="104"/>
                                        </p:tgtEl>
                                        <p:attrNameLst>
                                          <p:attrName>style.visibility</p:attrName>
                                        </p:attrNameLst>
                                      </p:cBhvr>
                                      <p:to>
                                        <p:strVal val="visible"/>
                                      </p:to>
                                    </p:set>
                                    <p:animEffect transition="in" filter="fade">
                                      <p:cBhvr>
                                        <p:cTn id="27" dur="200" fill="hold"/>
                                        <p:tgtEl>
                                          <p:spTgt spid="104"/>
                                        </p:tgtEl>
                                      </p:cBhvr>
                                    </p:animEffect>
                                  </p:childTnLst>
                                </p:cTn>
                              </p:par>
                              <p:par>
                                <p:cTn id="28" presetID="10" presetClass="entr" presetSubtype="0" fill="hold" nodeType="withEffect">
                                  <p:stCondLst>
                                    <p:cond delay="0"/>
                                  </p:stCondLst>
                                  <p:childTnLst>
                                    <p:set>
                                      <p:cBhvr>
                                        <p:cTn id="29" dur="1" fill="hold">
                                          <p:stCondLst>
                                            <p:cond delay="0"/>
                                          </p:stCondLst>
                                        </p:cTn>
                                        <p:tgtEl>
                                          <p:spTgt spid="105"/>
                                        </p:tgtEl>
                                        <p:attrNameLst>
                                          <p:attrName>style.visibility</p:attrName>
                                        </p:attrNameLst>
                                      </p:cBhvr>
                                      <p:to>
                                        <p:strVal val="visible"/>
                                      </p:to>
                                    </p:set>
                                    <p:animEffect transition="in" filter="fade">
                                      <p:cBhvr>
                                        <p:cTn id="30" dur="200" fill="hold"/>
                                        <p:tgtEl>
                                          <p:spTgt spid="105"/>
                                        </p:tgtEl>
                                      </p:cBhvr>
                                    </p:animEffect>
                                  </p:childTnLst>
                                </p:cTn>
                              </p:par>
                              <p:par>
                                <p:cTn id="31" presetID="10" presetClass="entr" presetSubtype="0" fill="hold" nodeType="withEffect">
                                  <p:stCondLst>
                                    <p:cond delay="0"/>
                                  </p:stCondLst>
                                  <p:childTnLst>
                                    <p:set>
                                      <p:cBhvr>
                                        <p:cTn id="32" dur="1" fill="hold">
                                          <p:stCondLst>
                                            <p:cond delay="0"/>
                                          </p:stCondLst>
                                        </p:cTn>
                                        <p:tgtEl>
                                          <p:spTgt spid="106"/>
                                        </p:tgtEl>
                                        <p:attrNameLst>
                                          <p:attrName>style.visibility</p:attrName>
                                        </p:attrNameLst>
                                      </p:cBhvr>
                                      <p:to>
                                        <p:strVal val="visible"/>
                                      </p:to>
                                    </p:set>
                                    <p:animEffect transition="in" filter="fade">
                                      <p:cBhvr>
                                        <p:cTn id="33" dur="200" fill="hold"/>
                                        <p:tgtEl>
                                          <p:spTgt spid="106"/>
                                        </p:tgtEl>
                                      </p:cBhvr>
                                    </p:animEffect>
                                  </p:childTnLst>
                                </p:cTn>
                              </p:par>
                              <p:par>
                                <p:cTn id="34" presetID="10" presetClass="entr" presetSubtype="0" fill="hold" nodeType="withEffect">
                                  <p:stCondLst>
                                    <p:cond delay="0"/>
                                  </p:stCondLst>
                                  <p:childTnLst>
                                    <p:set>
                                      <p:cBhvr>
                                        <p:cTn id="35" dur="1" fill="hold">
                                          <p:stCondLst>
                                            <p:cond delay="0"/>
                                          </p:stCondLst>
                                        </p:cTn>
                                        <p:tgtEl>
                                          <p:spTgt spid="107"/>
                                        </p:tgtEl>
                                        <p:attrNameLst>
                                          <p:attrName>style.visibility</p:attrName>
                                        </p:attrNameLst>
                                      </p:cBhvr>
                                      <p:to>
                                        <p:strVal val="visible"/>
                                      </p:to>
                                    </p:set>
                                    <p:animEffect transition="in" filter="fade">
                                      <p:cBhvr>
                                        <p:cTn id="36" dur="200" fill="hold"/>
                                        <p:tgtEl>
                                          <p:spTgt spid="107"/>
                                        </p:tgtEl>
                                      </p:cBhvr>
                                    </p:animEffect>
                                  </p:childTnLst>
                                </p:cTn>
                              </p:par>
                              <p:par>
                                <p:cTn id="37" presetID="10" presetClass="entr" presetSubtype="0" fill="hold" nodeType="withEffect">
                                  <p:stCondLst>
                                    <p:cond delay="0"/>
                                  </p:stCondLst>
                                  <p:childTnLst>
                                    <p:set>
                                      <p:cBhvr>
                                        <p:cTn id="38" dur="1" fill="hold">
                                          <p:stCondLst>
                                            <p:cond delay="0"/>
                                          </p:stCondLst>
                                        </p:cTn>
                                        <p:tgtEl>
                                          <p:spTgt spid="108"/>
                                        </p:tgtEl>
                                        <p:attrNameLst>
                                          <p:attrName>style.visibility</p:attrName>
                                        </p:attrNameLst>
                                      </p:cBhvr>
                                      <p:to>
                                        <p:strVal val="visible"/>
                                      </p:to>
                                    </p:set>
                                    <p:animEffect transition="in" filter="fade">
                                      <p:cBhvr>
                                        <p:cTn id="39" dur="200" fill="hold"/>
                                        <p:tgtEl>
                                          <p:spTgt spid="108"/>
                                        </p:tgtEl>
                                      </p:cBhvr>
                                    </p:animEffect>
                                  </p:childTnLst>
                                </p:cTn>
                              </p:par>
                              <p:par>
                                <p:cTn id="40" presetID="10" presetClass="entr" presetSubtype="0" fill="hold" nodeType="withEffect">
                                  <p:stCondLst>
                                    <p:cond delay="0"/>
                                  </p:stCondLst>
                                  <p:childTnLst>
                                    <p:set>
                                      <p:cBhvr>
                                        <p:cTn id="41" dur="1" fill="hold">
                                          <p:stCondLst>
                                            <p:cond delay="0"/>
                                          </p:stCondLst>
                                        </p:cTn>
                                        <p:tgtEl>
                                          <p:spTgt spid="109"/>
                                        </p:tgtEl>
                                        <p:attrNameLst>
                                          <p:attrName>style.visibility</p:attrName>
                                        </p:attrNameLst>
                                      </p:cBhvr>
                                      <p:to>
                                        <p:strVal val="visible"/>
                                      </p:to>
                                    </p:set>
                                    <p:animEffect transition="in" filter="fade">
                                      <p:cBhvr>
                                        <p:cTn id="42" dur="200" fill="hold"/>
                                        <p:tgtEl>
                                          <p:spTgt spid="109"/>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3" name="!!area-name">
            <a:extLst xmlns:a="http://schemas.openxmlformats.org/drawingml/2006/main">
              <a:ext uri="{FF2B5EF4-FFF2-40B4-BE49-F238E27FC236}">
                <a16:creationId xmlns:a16="http://schemas.microsoft.com/office/drawing/2014/main" id="{0A8EABFD-BC12-4D6F-B701-AF111BDB885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29" name="mini-map"/>
          <p:cNvPicPr>
            <a:picLocks xmlns:a="http://schemas.openxmlformats.org/drawingml/2006/main" noChangeAspect="1"/>
          </p:cNvPicPr>
          <p:nvPr/>
        </p:nvPicPr>
        <p:blipFill>
          <a:blip xmlns:r="http://schemas.openxmlformats.org/officeDocument/2006/relationships" xmlns:a="http://schemas.openxmlformats.org/drawingml/2006/main" r:embed="Rf920dd84844f465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5" name="slide-title">
            <a:extLst xmlns:a="http://schemas.openxmlformats.org/drawingml/2006/main">
              <a:ext uri="{FF2B5EF4-FFF2-40B4-BE49-F238E27FC236}">
                <a16:creationId xmlns:a16="http://schemas.microsoft.com/office/drawing/2014/main" id="{22A6B5EA-6337-4494-AD23-676F61BCC6B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is a component you select,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measure, and replace.</a:t>
            </a:r>
          </a:p>
        </p:txBody>
      </p:sp>
      <p:sp>
        <p:nvSpPr>
          <p:cNvPr id="116" name="header-divider">
            <a:extLst xmlns:a="http://schemas.openxmlformats.org/drawingml/2006/main">
              <a:ext uri="{FF2B5EF4-FFF2-40B4-BE49-F238E27FC236}">
                <a16:creationId xmlns:a16="http://schemas.microsoft.com/office/drawing/2014/main" id="{BA9AB94B-2D07-491A-84A0-4437EAA86C4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17" name="09-text-16">
            <a:extLst xmlns:a="http://schemas.openxmlformats.org/drawingml/2006/main">
              <a:ext uri="{FF2B5EF4-FFF2-40B4-BE49-F238E27FC236}">
                <a16:creationId xmlns:a16="http://schemas.microsoft.com/office/drawing/2014/main" id="{2037B840-68B1-4B28-B1DF-AA259C5DB7A5}"/>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Replace</a:t>
            </a:r>
          </a:p>
        </p:txBody>
      </p:sp>
      <p:sp>
        <p:nvSpPr>
          <p:cNvPr id="118" name="09-shape-17">
            <a:extLst xmlns:a="http://schemas.openxmlformats.org/drawingml/2006/main">
              <a:ext uri="{FF2B5EF4-FFF2-40B4-BE49-F238E27FC236}">
                <a16:creationId xmlns:a16="http://schemas.microsoft.com/office/drawing/2014/main" id="{20D8880F-9B53-461A-819B-1F2A6044E9DB}"/>
              </a:ext>
            </a:extLst>
          </p:cNvPr>
          <p:cNvSpPr>
            <a:spLocks xmlns:a="http://schemas.openxmlformats.org/drawingml/2006/main"/>
          </p:cNvSpPr>
          <p:nvPr/>
        </p:nvSpPr>
        <p:spPr>
          <a:xfrm xmlns:a="http://schemas.openxmlformats.org/drawingml/2006/main">
            <a:off x="609600" y="2895600"/>
            <a:ext cx="5334000" cy="1397000"/>
          </a:xfrm>
          <a:prstGeom xmlns:a="http://schemas.openxmlformats.org/drawingml/2006/main" prst="roundRect">
            <a:avLst>
              <a:gd name="adj" fmla="val 7273"/>
            </a:avLst>
          </a:prstGeom>
          <a:solidFill xmlns:a="http://schemas.openxmlformats.org/drawingml/2006/main">
            <a:srgbClr val="13223F"/>
          </a:solidFill>
          <a:ln xmlns:a="http://schemas.openxmlformats.org/drawingml/2006/main" w="25400">
            <a:solidFill>
              <a:srgbClr val="1064F8"/>
            </a:solidFill>
          </a:ln>
        </p:spPr>
      </p:sp>
      <p:sp>
        <p:nvSpPr>
          <p:cNvPr id="119" name="09-text-18">
            <a:extLst xmlns:a="http://schemas.openxmlformats.org/drawingml/2006/main">
              <a:ext uri="{FF2B5EF4-FFF2-40B4-BE49-F238E27FC236}">
                <a16:creationId xmlns:a16="http://schemas.microsoft.com/office/drawing/2014/main" id="{EAC140F1-F5A6-40ED-B6D2-31C5B5ADD542}"/>
              </a:ext>
            </a:extLst>
          </p:cNvPr>
          <p:cNvSpPr>
            <a:spLocks xmlns:a="http://schemas.openxmlformats.org/drawingml/2006/main"/>
          </p:cNvSpPr>
          <p:nvPr/>
        </p:nvSpPr>
        <p:spPr>
          <a:xfrm xmlns:a="http://schemas.openxmlformats.org/drawingml/2006/main">
            <a:off x="812800" y="3048000"/>
            <a:ext cx="4927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Pinned version</a:t>
            </a:r>
          </a:p>
        </p:txBody>
      </p:sp>
      <p:sp>
        <p:nvSpPr>
          <p:cNvPr id="120" name="09-text-19">
            <a:extLst xmlns:a="http://schemas.openxmlformats.org/drawingml/2006/main">
              <a:ext uri="{FF2B5EF4-FFF2-40B4-BE49-F238E27FC236}">
                <a16:creationId xmlns:a16="http://schemas.microsoft.com/office/drawing/2014/main" id="{1AC883AF-3E6B-4260-8941-CAC62C61ECA5}"/>
              </a:ext>
            </a:extLst>
          </p:cNvPr>
          <p:cNvSpPr>
            <a:spLocks xmlns:a="http://schemas.openxmlformats.org/drawingml/2006/main"/>
          </p:cNvSpPr>
          <p:nvPr/>
        </p:nvSpPr>
        <p:spPr>
          <a:xfrm xmlns:a="http://schemas.openxmlformats.org/drawingml/2006/main">
            <a:off x="812800" y="3505200"/>
            <a:ext cx="49276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Controlled migration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lifecycle management.</a:t>
            </a:r>
          </a:p>
        </p:txBody>
      </p:sp>
      <p:sp>
        <p:nvSpPr>
          <p:cNvPr id="121" name="09-shape-20">
            <a:extLst xmlns:a="http://schemas.openxmlformats.org/drawingml/2006/main">
              <a:ext uri="{FF2B5EF4-FFF2-40B4-BE49-F238E27FC236}">
                <a16:creationId xmlns:a16="http://schemas.microsoft.com/office/drawing/2014/main" id="{7FE683AE-38E4-4CF3-BC7A-4BB2444A26C8}"/>
              </a:ext>
            </a:extLst>
          </p:cNvPr>
          <p:cNvSpPr>
            <a:spLocks xmlns:a="http://schemas.openxmlformats.org/drawingml/2006/main"/>
          </p:cNvSpPr>
          <p:nvPr/>
        </p:nvSpPr>
        <p:spPr>
          <a:xfrm xmlns:a="http://schemas.openxmlformats.org/drawingml/2006/main">
            <a:off x="6248400" y="2895600"/>
            <a:ext cx="5334000" cy="1397000"/>
          </a:xfrm>
          <a:prstGeom xmlns:a="http://schemas.openxmlformats.org/drawingml/2006/main" prst="roundRect">
            <a:avLst>
              <a:gd name="adj" fmla="val 7273"/>
            </a:avLst>
          </a:prstGeom>
          <a:solidFill xmlns:a="http://schemas.openxmlformats.org/drawingml/2006/main">
            <a:srgbClr val="13223F"/>
          </a:solidFill>
          <a:ln xmlns:a="http://schemas.openxmlformats.org/drawingml/2006/main" w="25400">
            <a:solidFill>
              <a:srgbClr val="1064F8"/>
            </a:solidFill>
          </a:ln>
        </p:spPr>
      </p:sp>
      <p:sp>
        <p:nvSpPr>
          <p:cNvPr id="122" name="09-text-21">
            <a:extLst xmlns:a="http://schemas.openxmlformats.org/drawingml/2006/main">
              <a:ext uri="{FF2B5EF4-FFF2-40B4-BE49-F238E27FC236}">
                <a16:creationId xmlns:a16="http://schemas.microsoft.com/office/drawing/2014/main" id="{C7006DE2-9FC1-421A-9263-2479AC7ACB2E}"/>
              </a:ext>
            </a:extLst>
          </p:cNvPr>
          <p:cNvSpPr>
            <a:spLocks xmlns:a="http://schemas.openxmlformats.org/drawingml/2006/main"/>
          </p:cNvSpPr>
          <p:nvPr/>
        </p:nvSpPr>
        <p:spPr>
          <a:xfrm xmlns:a="http://schemas.openxmlformats.org/drawingml/2006/main">
            <a:off x="6451600" y="3048000"/>
            <a:ext cx="4927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Moving alias</a:t>
            </a:r>
          </a:p>
        </p:txBody>
      </p:sp>
      <p:sp>
        <p:nvSpPr>
          <p:cNvPr id="123" name="09-text-22">
            <a:extLst xmlns:a="http://schemas.openxmlformats.org/drawingml/2006/main">
              <a:ext uri="{FF2B5EF4-FFF2-40B4-BE49-F238E27FC236}">
                <a16:creationId xmlns:a16="http://schemas.microsoft.com/office/drawing/2014/main" id="{85E05E34-9628-4F7F-8E78-B60206199B24}"/>
              </a:ext>
            </a:extLst>
          </p:cNvPr>
          <p:cNvSpPr>
            <a:spLocks xmlns:a="http://schemas.openxmlformats.org/drawingml/2006/main"/>
          </p:cNvSpPr>
          <p:nvPr/>
        </p:nvSpPr>
        <p:spPr>
          <a:xfrm xmlns:a="http://schemas.openxmlformats.org/drawingml/2006/main">
            <a:off x="6451600" y="3505200"/>
            <a:ext cx="49276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Automatic updates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regression monitoring.</a:t>
            </a:r>
          </a:p>
        </p:txBody>
      </p:sp>
      <p:sp>
        <p:nvSpPr>
          <p:cNvPr id="124" name="09-text-23">
            <a:extLst xmlns:a="http://schemas.openxmlformats.org/drawingml/2006/main">
              <a:ext uri="{FF2B5EF4-FFF2-40B4-BE49-F238E27FC236}">
                <a16:creationId xmlns:a16="http://schemas.microsoft.com/office/drawing/2014/main" id="{64DA4A60-F2F2-4D98-8B8A-CB79D1132ABD}"/>
              </a:ext>
            </a:extLst>
          </p:cNvPr>
          <p:cNvSpPr>
            <a:spLocks xmlns:a="http://schemas.openxmlformats.org/drawingml/2006/main"/>
          </p:cNvSpPr>
          <p:nvPr/>
        </p:nvSpPr>
        <p:spPr>
          <a:xfrm xmlns:a="http://schemas.openxmlformats.org/drawingml/2006/main">
            <a:off x="609600" y="4445000"/>
            <a:ext cx="109728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snapshot controls one source of variation. Prompts, tools, retrieval,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the environment also affect behavior.</a:t>
            </a:r>
          </a:p>
        </p:txBody>
      </p:sp>
      <p:sp>
        <p:nvSpPr>
          <p:cNvPr id="125" name="09-text-24">
            <a:extLst xmlns:a="http://schemas.openxmlformats.org/drawingml/2006/main">
              <a:ext uri="{FF2B5EF4-FFF2-40B4-BE49-F238E27FC236}">
                <a16:creationId xmlns:a16="http://schemas.microsoft.com/office/drawing/2014/main" id="{79F825E4-4379-4C74-83E2-D16EDE488DCE}"/>
              </a:ext>
            </a:extLst>
          </p:cNvPr>
          <p:cNvSpPr>
            <a:spLocks xmlns:a="http://schemas.openxmlformats.org/drawingml/2006/main"/>
          </p:cNvSpPr>
          <p:nvPr/>
        </p:nvSpPr>
        <p:spPr>
          <a:xfrm xmlns:a="http://schemas.openxmlformats.org/drawingml/2006/main">
            <a:off x="609600" y="5207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GPT-4 prime/composite task, step-by-step prompting: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84% in March 2023, 51% in June 2023.</a:t>
            </a:r>
          </a:p>
        </p:txBody>
      </p:sp>
      <p:sp>
        <p:nvSpPr>
          <p:cNvPr id="126" name="09-text-25">
            <a:extLst xmlns:a="http://schemas.openxmlformats.org/drawingml/2006/main">
              <a:ext uri="{FF2B5EF4-FFF2-40B4-BE49-F238E27FC236}">
                <a16:creationId xmlns:a16="http://schemas.microsoft.com/office/drawing/2014/main" id="{361485F5-E4A7-4AB5-AF67-29BAFBB682B9}"/>
              </a:ext>
            </a:extLst>
          </p:cNvPr>
          <p:cNvSpPr>
            <a:spLocks xmlns:a="http://schemas.openxmlformats.org/drawingml/2006/main"/>
          </p:cNvSpPr>
          <p:nvPr/>
        </p:nvSpPr>
        <p:spPr>
          <a:xfrm xmlns:a="http://schemas.openxmlformats.org/drawingml/2006/main">
            <a:off x="609600" y="5943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Chen, Zaharia, Zou, revised 2023 paper. Task-specific, not overall model quality.</a:t>
            </a:r>
          </a:p>
        </p:txBody>
      </p:sp>
      <p:sp>
        <p:nvSpPr>
          <p:cNvPr id="127" name="narrative-number">
            <a:extLst xmlns:a="http://schemas.openxmlformats.org/drawingml/2006/main">
              <a:ext uri="{FF2B5EF4-FFF2-40B4-BE49-F238E27FC236}">
                <a16:creationId xmlns:a16="http://schemas.microsoft.com/office/drawing/2014/main" id="{4ACE853C-696B-4681-BD8D-4229A45915A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273153402"/>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8" name="!!area-name">
            <a:extLst xmlns:a="http://schemas.openxmlformats.org/drawingml/2006/main">
              <a:ext uri="{FF2B5EF4-FFF2-40B4-BE49-F238E27FC236}">
                <a16:creationId xmlns:a16="http://schemas.microsoft.com/office/drawing/2014/main" id="{826D6656-D749-4A9A-85C1-EDBBF046632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39" name="mini-map"/>
          <p:cNvPicPr>
            <a:picLocks xmlns:a="http://schemas.openxmlformats.org/drawingml/2006/main" noChangeAspect="1"/>
          </p:cNvPicPr>
          <p:nvPr/>
        </p:nvPicPr>
        <p:blipFill>
          <a:blip xmlns:r="http://schemas.openxmlformats.org/officeDocument/2006/relationships" xmlns:a="http://schemas.openxmlformats.org/drawingml/2006/main" r:embed="Re3172eb1fd0346c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0" name="slide-title">
            <a:extLst xmlns:a="http://schemas.openxmlformats.org/drawingml/2006/main">
              <a:ext uri="{FF2B5EF4-FFF2-40B4-BE49-F238E27FC236}">
                <a16:creationId xmlns:a16="http://schemas.microsoft.com/office/drawing/2014/main" id="{15553158-51E9-46D0-B7E8-75C23DDCFDD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is a component you select,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measure, and replace.</a:t>
            </a:r>
          </a:p>
        </p:txBody>
      </p:sp>
      <p:sp>
        <p:nvSpPr>
          <p:cNvPr id="131" name="header-divider">
            <a:extLst xmlns:a="http://schemas.openxmlformats.org/drawingml/2006/main">
              <a:ext uri="{FF2B5EF4-FFF2-40B4-BE49-F238E27FC236}">
                <a16:creationId xmlns:a16="http://schemas.microsoft.com/office/drawing/2014/main" id="{2C45006C-EB7E-4E99-AC5D-695DA3EFDAD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2" name="09-text-26">
            <a:extLst xmlns:a="http://schemas.openxmlformats.org/drawingml/2006/main">
              <a:ext uri="{FF2B5EF4-FFF2-40B4-BE49-F238E27FC236}">
                <a16:creationId xmlns:a16="http://schemas.microsoft.com/office/drawing/2014/main" id="{F7A7447F-DA81-49C1-A2EE-B56EB529AB35}"/>
              </a:ext>
            </a:extLst>
          </p:cNvPr>
          <p:cNvSpPr>
            <a:spLocks xmlns:a="http://schemas.openxmlformats.org/drawingml/2006/main"/>
          </p:cNvSpPr>
          <p:nvPr/>
        </p:nvSpPr>
        <p:spPr>
          <a:xfrm xmlns:a="http://schemas.openxmlformats.org/drawingml/2006/main">
            <a:off x="609600" y="24384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Route</a:t>
            </a:r>
          </a:p>
        </p:txBody>
      </p:sp>
      <p:sp>
        <p:nvSpPr>
          <p:cNvPr id="133" name="09-text-27">
            <a:extLst xmlns:a="http://schemas.openxmlformats.org/drawingml/2006/main">
              <a:ext uri="{FF2B5EF4-FFF2-40B4-BE49-F238E27FC236}">
                <a16:creationId xmlns:a16="http://schemas.microsoft.com/office/drawing/2014/main" id="{F42F9A98-5FCE-4D59-8DDE-AFC4CB7FF0FF}"/>
              </a:ext>
            </a:extLst>
          </p:cNvPr>
          <p:cNvSpPr>
            <a:spLocks xmlns:a="http://schemas.openxmlformats.org/drawingml/2006/main"/>
          </p:cNvSpPr>
          <p:nvPr/>
        </p:nvSpPr>
        <p:spPr>
          <a:xfrm xmlns:a="http://schemas.openxmlformats.org/drawingml/2006/main">
            <a:off x="2489200" y="24384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LangChain, August 11, 2026 · 145 tasks · 7% frontier selection · judge calls excluded</a:t>
            </a:r>
          </a:p>
        </p:txBody>
      </p:sp>
      <p:graphicFrame>
        <p:nvGraphicFramePr>
          <p:cNvPr id="144" name="09-table-28"/>
          <p:cNvGraphicFramePr/>
          <p:nvPr/>
        </p:nvGraphicFramePr>
        <p:xfrm>
          <a:off xmlns:a="http://schemas.openxmlformats.org/drawingml/2006/main" x="609600" y="2921000"/>
          <a:ext xmlns:a="http://schemas.openxmlformats.org/drawingml/2006/main" cx="10972800" cy="1854200"/>
        </p:xfrm>
        <a:graphic xmlns:a="http://schemas.openxmlformats.org/drawingml/2006/main">
          <a:graphicData uri="http://schemas.openxmlformats.org/drawingml/2006/table">
            <a:tbl>
              <a:tblPr firstRow="0" firstCol="0" lastCol="0" bandRow="0" bandCol="0"/>
              <a:tblGrid>
                <a:gridCol w="4572000"/>
                <a:gridCol w="2286000"/>
                <a:gridCol w="4114800"/>
              </a:tblGrid>
              <a:tr h="635000">
                <a:tc>
                  <a:txBody>
                    <a:bodyPr>
                      <a:noAutofit/>
                    </a:bodyPr>
                    <a:lstStyle/>
                    <a:p>
                      <a:pPr>
                        <a:lnSpc>
                          <a:spcPct val="125000"/>
                        </a:lnSpc>
                        <a:buNone/>
                      </a:pPr>
                      <a:r>
                        <a:rPr sz="2000" b="1">
                          <a:solidFill>
                            <a:srgbClr val="1064F8"/>
                          </a:solidFill>
                          <a:latin typeface="Helvetica"/>
                          <a:ea typeface="Helvetica"/>
                          <a:cs typeface="Helvetica"/>
                        </a:rPr>
                        <a:t>Configuration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Accuracy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Cost per</a:t>
                      </a:r>
                    </a:p>
                    <a:p>
                      <a:pPr>
                        <a:lnSpc>
                          <a:spcPct val="125000"/>
                        </a:lnSpc>
                        <a:buNone/>
                      </a:pPr>
                      <a:r>
                        <a:rPr sz="2000" b="1">
                          <a:solidFill>
                            <a:srgbClr val="1064F8"/>
                          </a:solidFill>
                          <a:latin typeface="Helvetica"/>
                          <a:ea typeface="Helvetica"/>
                          <a:cs typeface="Helvetica"/>
                        </a:rPr>
                        <a:t>completed task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Frontier only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86.0%</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$0.092</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Routed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80.0%</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$0.026</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Small model only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77.7%</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$0.006</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35" name="09-text-29">
            <a:extLst xmlns:a="http://schemas.openxmlformats.org/drawingml/2006/main">
              <a:ext uri="{FF2B5EF4-FFF2-40B4-BE49-F238E27FC236}">
                <a16:creationId xmlns:a16="http://schemas.microsoft.com/office/drawing/2014/main" id="{7CA6E02E-4CF8-4B99-AC65-FF7BD350ED2A}"/>
              </a:ext>
            </a:extLst>
          </p:cNvPr>
          <p:cNvSpPr>
            <a:spLocks xmlns:a="http://schemas.openxmlformats.org/drawingml/2006/main"/>
          </p:cNvSpPr>
          <p:nvPr/>
        </p:nvSpPr>
        <p:spPr>
          <a:xfrm xmlns:a="http://schemas.openxmlformats.org/drawingml/2006/main">
            <a:off x="609600" y="4902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Run variation: about 2.7 points. Routed gain over small-only: 2.3 points.</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Frontier selection: 4.1% to 9.1% across five runs.</a:t>
            </a:r>
          </a:p>
        </p:txBody>
      </p:sp>
      <p:sp>
        <p:nvSpPr>
          <p:cNvPr id="136" name="09-text-30">
            <a:extLst xmlns:a="http://schemas.openxmlformats.org/drawingml/2006/main">
              <a:ext uri="{FF2B5EF4-FFF2-40B4-BE49-F238E27FC236}">
                <a16:creationId xmlns:a16="http://schemas.microsoft.com/office/drawing/2014/main" id="{B5BC8F2F-F217-4D6C-ACA3-2529DB3D95FF}"/>
              </a:ext>
            </a:extLst>
          </p:cNvPr>
          <p:cNvSpPr>
            <a:spLocks xmlns:a="http://schemas.openxmlformats.org/drawingml/2006/main"/>
          </p:cNvSpPr>
          <p:nvPr/>
        </p:nvSpPr>
        <p:spPr>
          <a:xfrm xmlns:a="http://schemas.openxmlformats.org/drawingml/2006/main">
            <a:off x="609600" y="5562600"/>
            <a:ext cx="109728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About 72% lower cost per completed task; article: 74% lower total cost.</a:t>
            </a:r>
          </a:p>
        </p:txBody>
      </p:sp>
      <p:sp>
        <p:nvSpPr>
          <p:cNvPr id="137" name="narrative-number">
            <a:extLst xmlns:a="http://schemas.openxmlformats.org/drawingml/2006/main">
              <a:ext uri="{FF2B5EF4-FFF2-40B4-BE49-F238E27FC236}">
                <a16:creationId xmlns:a16="http://schemas.microsoft.com/office/drawing/2014/main" id="{1C661B4A-D039-42DC-83BC-A74C09E4296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533478525"/>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8" name="!!area-name">
            <a:extLst xmlns:a="http://schemas.openxmlformats.org/drawingml/2006/main">
              <a:ext uri="{FF2B5EF4-FFF2-40B4-BE49-F238E27FC236}">
                <a16:creationId xmlns:a16="http://schemas.microsoft.com/office/drawing/2014/main" id="{720FE816-B0C0-456D-BF98-AE33AB712BD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49" name="mini-map"/>
          <p:cNvPicPr>
            <a:picLocks xmlns:a="http://schemas.openxmlformats.org/drawingml/2006/main" noChangeAspect="1"/>
          </p:cNvPicPr>
          <p:nvPr/>
        </p:nvPicPr>
        <p:blipFill>
          <a:blip xmlns:r="http://schemas.openxmlformats.org/officeDocument/2006/relationships" xmlns:a="http://schemas.openxmlformats.org/drawingml/2006/main" r:embed="R2365d436ae1e44f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0" name="slide-title">
            <a:extLst xmlns:a="http://schemas.openxmlformats.org/drawingml/2006/main">
              <a:ext uri="{FF2B5EF4-FFF2-40B4-BE49-F238E27FC236}">
                <a16:creationId xmlns:a16="http://schemas.microsoft.com/office/drawing/2014/main" id="{E622E63E-074F-483B-B061-6E05EE193E1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is a component you select,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measure, and replace.</a:t>
            </a:r>
          </a:p>
        </p:txBody>
      </p:sp>
      <p:sp>
        <p:nvSpPr>
          <p:cNvPr id="141" name="header-divider">
            <a:extLst xmlns:a="http://schemas.openxmlformats.org/drawingml/2006/main">
              <a:ext uri="{FF2B5EF4-FFF2-40B4-BE49-F238E27FC236}">
                <a16:creationId xmlns:a16="http://schemas.microsoft.com/office/drawing/2014/main" id="{F1DC8B05-27A0-4B9A-AEC9-965777E7632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2" name="09-text-31">
            <a:extLst xmlns:a="http://schemas.openxmlformats.org/drawingml/2006/main">
              <a:ext uri="{FF2B5EF4-FFF2-40B4-BE49-F238E27FC236}">
                <a16:creationId xmlns:a16="http://schemas.microsoft.com/office/drawing/2014/main" id="{42CFB8A2-AEEC-48B9-98C5-E5B07BBD2365}"/>
              </a:ext>
            </a:extLst>
          </p:cNvPr>
          <p:cNvSpPr>
            <a:spLocks xmlns:a="http://schemas.openxmlformats.org/drawingml/2006/main"/>
          </p:cNvSpPr>
          <p:nvPr/>
        </p:nvSpPr>
        <p:spPr>
          <a:xfrm xmlns:a="http://schemas.openxmlformats.org/drawingml/2006/main">
            <a:off x="609600" y="24384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Which configuration meets your product's quality requirement?</a:t>
            </a:r>
          </a:p>
        </p:txBody>
      </p:sp>
      <p:sp>
        <p:nvSpPr>
          <p:cNvPr id="143" name="09-shape-32">
            <a:extLst xmlns:a="http://schemas.openxmlformats.org/drawingml/2006/main">
              <a:ext uri="{FF2B5EF4-FFF2-40B4-BE49-F238E27FC236}">
                <a16:creationId xmlns:a16="http://schemas.microsoft.com/office/drawing/2014/main" id="{47781374-B6B9-4B76-90DA-EAB8A9CA73F2}"/>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144" name="09-shape-33">
            <a:extLst xmlns:a="http://schemas.openxmlformats.org/drawingml/2006/main">
              <a:ext uri="{FF2B5EF4-FFF2-40B4-BE49-F238E27FC236}">
                <a16:creationId xmlns:a16="http://schemas.microsoft.com/office/drawing/2014/main" id="{8AE1ADE8-FC1C-44A4-AE3C-3E5F054E31ED}"/>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145" name="09-text-34">
            <a:extLst xmlns:a="http://schemas.openxmlformats.org/drawingml/2006/main">
              <a:ext uri="{FF2B5EF4-FFF2-40B4-BE49-F238E27FC236}">
                <a16:creationId xmlns:a16="http://schemas.microsoft.com/office/drawing/2014/main" id="{6FB6A2E1-0730-49A4-853F-10D1F1A7B8B7}"/>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Pitfall</a:t>
            </a:r>
          </a:p>
        </p:txBody>
      </p:sp>
      <p:sp>
        <p:nvSpPr>
          <p:cNvPr id="146" name="09-text-35">
            <a:extLst xmlns:a="http://schemas.openxmlformats.org/drawingml/2006/main">
              <a:ext uri="{FF2B5EF4-FFF2-40B4-BE49-F238E27FC236}">
                <a16:creationId xmlns:a16="http://schemas.microsoft.com/office/drawing/2014/main" id="{9F57B55E-08F5-4A19-B6D1-06EE27ABC5EB}"/>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hardcoded model ID with no eval suite behind it.</a:t>
            </a:r>
          </a:p>
        </p:txBody>
      </p:sp>
      <p:sp>
        <p:nvSpPr>
          <p:cNvPr id="147" name="narrative-number">
            <a:extLst xmlns:a="http://schemas.openxmlformats.org/drawingml/2006/main">
              <a:ext uri="{FF2B5EF4-FFF2-40B4-BE49-F238E27FC236}">
                <a16:creationId xmlns:a16="http://schemas.microsoft.com/office/drawing/2014/main" id="{DDF80262-D066-498B-8B53-BDC5BA77C79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638925438"/>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8" name="!!area-header">
            <a:extLst xmlns:a="http://schemas.openxmlformats.org/drawingml/2006/main">
              <a:ext uri="{FF2B5EF4-FFF2-40B4-BE49-F238E27FC236}">
                <a16:creationId xmlns:a16="http://schemas.microsoft.com/office/drawing/2014/main" id="{A713DC56-F102-4738-A401-D61D983EFA09}"/>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49" name="!!area-name">
            <a:extLst xmlns:a="http://schemas.openxmlformats.org/drawingml/2006/main">
              <a:ext uri="{FF2B5EF4-FFF2-40B4-BE49-F238E27FC236}">
                <a16:creationId xmlns:a16="http://schemas.microsoft.com/office/drawing/2014/main" id="{EB8EB229-C587-4C9C-97D1-1F86E3DB529E}"/>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Context and knowledge</a:t>
            </a:r>
          </a:p>
        </p:txBody>
      </p:sp>
      <p:sp>
        <p:nvSpPr>
          <p:cNvPr id="150" name="!!area-beat">
            <a:extLst xmlns:a="http://schemas.openxmlformats.org/drawingml/2006/main">
              <a:ext uri="{FF2B5EF4-FFF2-40B4-BE49-F238E27FC236}">
                <a16:creationId xmlns:a16="http://schemas.microsoft.com/office/drawing/2014/main" id="{3340726B-812A-45F5-B586-B3BF8B6F87DC}"/>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151" name="header-divider">
            <a:extLst xmlns:a="http://schemas.openxmlformats.org/drawingml/2006/main">
              <a:ext uri="{FF2B5EF4-FFF2-40B4-BE49-F238E27FC236}">
                <a16:creationId xmlns:a16="http://schemas.microsoft.com/office/drawing/2014/main" id="{096E8CEB-999C-4E25-B385-D827B39CFA45}"/>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2" name="!!screenshot-AGENTS.md">
            <a:extLst xmlns:a="http://schemas.openxmlformats.org/drawingml/2006/main">
              <a:ext uri="{FF2B5EF4-FFF2-40B4-BE49-F238E27FC236}">
                <a16:creationId xmlns:a16="http://schemas.microsoft.com/office/drawing/2014/main" id="{680F5A56-6EF2-40C2-98EE-170FA41E50DD}"/>
              </a:ext>
            </a:extLst>
          </p:cNvPr>
          <p:cNvSpPr>
            <a:spLocks xmlns:a="http://schemas.openxmlformats.org/drawingml/2006/main"/>
          </p:cNvSpPr>
          <p:nvPr/>
        </p:nvSpPr>
        <p:spPr>
          <a:xfrm xmlns:a="http://schemas.openxmlformats.org/drawingml/2006/main">
            <a:off x="609600" y="2082800"/>
            <a:ext cx="53340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153" name="10-text-1">
            <a:extLst xmlns:a="http://schemas.openxmlformats.org/drawingml/2006/main">
              <a:ext uri="{FF2B5EF4-FFF2-40B4-BE49-F238E27FC236}">
                <a16:creationId xmlns:a16="http://schemas.microsoft.com/office/drawing/2014/main" id="{D33A271E-2797-42C5-AAD1-35C2C2A4E29E}"/>
              </a:ext>
            </a:extLst>
          </p:cNvPr>
          <p:cNvSpPr>
            <a:spLocks xmlns:a="http://schemas.openxmlformats.org/drawingml/2006/main"/>
          </p:cNvSpPr>
          <p:nvPr/>
        </p:nvSpPr>
        <p:spPr>
          <a:xfrm xmlns:a="http://schemas.openxmlformats.org/drawingml/2006/main">
            <a:off x="8128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54" name="10-text-2">
            <a:extLst xmlns:a="http://schemas.openxmlformats.org/drawingml/2006/main">
              <a:ext uri="{FF2B5EF4-FFF2-40B4-BE49-F238E27FC236}">
                <a16:creationId xmlns:a16="http://schemas.microsoft.com/office/drawing/2014/main" id="{7F15C3BC-707E-4A51-A445-8C9BC65964A8}"/>
              </a:ext>
            </a:extLst>
          </p:cNvPr>
          <p:cNvSpPr>
            <a:spLocks xmlns:a="http://schemas.openxmlformats.org/drawingml/2006/main"/>
          </p:cNvSpPr>
          <p:nvPr/>
        </p:nvSpPr>
        <p:spPr>
          <a:xfrm xmlns:a="http://schemas.openxmlformats.org/drawingml/2006/main">
            <a:off x="8128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AGENTS.md</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10 to 15 lines</a:t>
            </a:r>
          </a:p>
        </p:txBody>
      </p:sp>
      <p:sp>
        <p:nvSpPr>
          <p:cNvPr id="155" name="!!screenshot-Codex CLI">
            <a:extLst xmlns:a="http://schemas.openxmlformats.org/drawingml/2006/main">
              <a:ext uri="{FF2B5EF4-FFF2-40B4-BE49-F238E27FC236}">
                <a16:creationId xmlns:a16="http://schemas.microsoft.com/office/drawing/2014/main" id="{CC5499B9-C6AB-48AB-B84C-A1CCCF10F3B0}"/>
              </a:ext>
            </a:extLst>
          </p:cNvPr>
          <p:cNvSpPr>
            <a:spLocks xmlns:a="http://schemas.openxmlformats.org/drawingml/2006/main"/>
          </p:cNvSpPr>
          <p:nvPr/>
        </p:nvSpPr>
        <p:spPr>
          <a:xfrm xmlns:a="http://schemas.openxmlformats.org/drawingml/2006/main">
            <a:off x="6248400" y="2082800"/>
            <a:ext cx="53340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156" name="10-text-3">
            <a:extLst xmlns:a="http://schemas.openxmlformats.org/drawingml/2006/main">
              <a:ext uri="{FF2B5EF4-FFF2-40B4-BE49-F238E27FC236}">
                <a16:creationId xmlns:a16="http://schemas.microsoft.com/office/drawing/2014/main" id="{B7D22ECD-EACD-4A51-A1E2-4B2052349297}"/>
              </a:ext>
            </a:extLst>
          </p:cNvPr>
          <p:cNvSpPr>
            <a:spLocks xmlns:a="http://schemas.openxmlformats.org/drawingml/2006/main"/>
          </p:cNvSpPr>
          <p:nvPr/>
        </p:nvSpPr>
        <p:spPr>
          <a:xfrm xmlns:a="http://schemas.openxmlformats.org/drawingml/2006/main">
            <a:off x="64516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57" name="10-text-4">
            <a:extLst xmlns:a="http://schemas.openxmlformats.org/drawingml/2006/main">
              <a:ext uri="{FF2B5EF4-FFF2-40B4-BE49-F238E27FC236}">
                <a16:creationId xmlns:a16="http://schemas.microsoft.com/office/drawing/2014/main" id="{EAD1E94F-409E-49AC-A4E0-9FEE4198F91E}"/>
              </a:ext>
            </a:extLst>
          </p:cNvPr>
          <p:cNvSpPr>
            <a:spLocks xmlns:a="http://schemas.openxmlformats.org/drawingml/2006/main"/>
          </p:cNvSpPr>
          <p:nvPr/>
        </p:nvSpPr>
        <p:spPr>
          <a:xfrm xmlns:a="http://schemas.openxmlformats.org/drawingml/2006/main">
            <a:off x="64516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Codex /compact notice</a:t>
            </a:r>
          </a:p>
        </p:txBody>
      </p:sp>
      <p:sp>
        <p:nvSpPr>
          <p:cNvPr id="158" name="10-text-5">
            <a:extLst xmlns:a="http://schemas.openxmlformats.org/drawingml/2006/main">
              <a:ext uri="{FF2B5EF4-FFF2-40B4-BE49-F238E27FC236}">
                <a16:creationId xmlns:a16="http://schemas.microsoft.com/office/drawing/2014/main" id="{0621E22D-9C67-4DF1-B6A0-D75C9C88A237}"/>
              </a:ext>
            </a:extLst>
          </p:cNvPr>
          <p:cNvSpPr>
            <a:spLocks xmlns:a="http://schemas.openxmlformats.org/drawingml/2006/main"/>
          </p:cNvSpPr>
          <p:nvPr/>
        </p:nvSpPr>
        <p:spPr>
          <a:xfrm xmlns:a="http://schemas.openxmlformats.org/drawingml/2006/main">
            <a:off x="609600" y="5588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AGENTS.md</a:t>
            </a:r>
          </a:p>
        </p:txBody>
      </p:sp>
      <p:sp>
        <p:nvSpPr>
          <p:cNvPr id="159" name="10-text-6">
            <a:extLst xmlns:a="http://schemas.openxmlformats.org/drawingml/2006/main">
              <a:ext uri="{FF2B5EF4-FFF2-40B4-BE49-F238E27FC236}">
                <a16:creationId xmlns:a16="http://schemas.microsoft.com/office/drawing/2014/main" id="{3730E8BB-878E-4D88-8036-284165AE247A}"/>
              </a:ext>
            </a:extLst>
          </p:cNvPr>
          <p:cNvSpPr>
            <a:spLocks xmlns:a="http://schemas.openxmlformats.org/drawingml/2006/main"/>
          </p:cNvSpPr>
          <p:nvPr/>
        </p:nvSpPr>
        <p:spPr>
          <a:xfrm xmlns:a="http://schemas.openxmlformats.org/drawingml/2006/main">
            <a:off x="6248400" y="5588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/compact</a:t>
            </a:r>
          </a:p>
        </p:txBody>
      </p:sp>
      <p:sp>
        <p:nvSpPr>
          <p:cNvPr id="160" name="narrative-number">
            <a:extLst xmlns:a="http://schemas.openxmlformats.org/drawingml/2006/main">
              <a:ext uri="{FF2B5EF4-FFF2-40B4-BE49-F238E27FC236}">
                <a16:creationId xmlns:a16="http://schemas.microsoft.com/office/drawing/2014/main" id="{F58752A3-9CC5-44D4-A767-3261EC31054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1564524132"/>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1" name="!!area-name">
            <a:extLst xmlns:a="http://schemas.openxmlformats.org/drawingml/2006/main">
              <a:ext uri="{FF2B5EF4-FFF2-40B4-BE49-F238E27FC236}">
                <a16:creationId xmlns:a16="http://schemas.microsoft.com/office/drawing/2014/main" id="{D551AE2F-90A2-4554-B947-C9DDC9B1CF0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user</a:t>
            </a:r>
          </a:p>
        </p:txBody>
      </p:sp>
      <p:pic>
        <p:nvPicPr>
          <p:cNvPr id="175" name="mini-map"/>
          <p:cNvPicPr>
            <a:picLocks xmlns:a="http://schemas.openxmlformats.org/drawingml/2006/main" noChangeAspect="1"/>
          </p:cNvPicPr>
          <p:nvPr/>
        </p:nvPicPr>
        <p:blipFill>
          <a:blip xmlns:r="http://schemas.openxmlformats.org/officeDocument/2006/relationships" xmlns:a="http://schemas.openxmlformats.org/drawingml/2006/main" r:embed="Rb6437afcd705402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3" name="header-divider">
            <a:extLst xmlns:a="http://schemas.openxmlformats.org/drawingml/2006/main">
              <a:ext uri="{FF2B5EF4-FFF2-40B4-BE49-F238E27FC236}">
                <a16:creationId xmlns:a16="http://schemas.microsoft.com/office/drawing/2014/main" id="{29482C33-9EF4-4C7A-B237-A56652B862D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4" name="!!screenshot-AGENTS.md">
            <a:extLst xmlns:a="http://schemas.openxmlformats.org/drawingml/2006/main">
              <a:ext uri="{FF2B5EF4-FFF2-40B4-BE49-F238E27FC236}">
                <a16:creationId xmlns:a16="http://schemas.microsoft.com/office/drawing/2014/main" id="{F4F91228-ED1C-47E4-951B-0BF124F7A7C3}"/>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65" name="10b-text-1">
            <a:extLst xmlns:a="http://schemas.openxmlformats.org/drawingml/2006/main">
              <a:ext uri="{FF2B5EF4-FFF2-40B4-BE49-F238E27FC236}">
                <a16:creationId xmlns:a16="http://schemas.microsoft.com/office/drawing/2014/main" id="{B679E663-4C6E-47D1-8E69-0D56F4541C17}"/>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66" name="10b-text-2">
            <a:extLst xmlns:a="http://schemas.openxmlformats.org/drawingml/2006/main">
              <a:ext uri="{FF2B5EF4-FFF2-40B4-BE49-F238E27FC236}">
                <a16:creationId xmlns:a16="http://schemas.microsoft.com/office/drawing/2014/main" id="{BE7E4C10-2AFF-4638-B621-F1E77DAE96E4}"/>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AGENTS.md</a:t>
            </a:r>
          </a:p>
        </p:txBody>
      </p:sp>
      <p:sp>
        <p:nvSpPr>
          <p:cNvPr id="167" name="!!screenshot-Codex CLI">
            <a:extLst xmlns:a="http://schemas.openxmlformats.org/drawingml/2006/main">
              <a:ext uri="{FF2B5EF4-FFF2-40B4-BE49-F238E27FC236}">
                <a16:creationId xmlns:a16="http://schemas.microsoft.com/office/drawing/2014/main" id="{B8105C59-391C-4822-9A20-8E4AC1893633}"/>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68" name="10b-text-3">
            <a:extLst xmlns:a="http://schemas.openxmlformats.org/drawingml/2006/main">
              <a:ext uri="{FF2B5EF4-FFF2-40B4-BE49-F238E27FC236}">
                <a16:creationId xmlns:a16="http://schemas.microsoft.com/office/drawing/2014/main" id="{A6CF042A-1592-4A26-808E-8A6C66CB491F}"/>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69" name="10b-text-4">
            <a:extLst xmlns:a="http://schemas.openxmlformats.org/drawingml/2006/main">
              <a:ext uri="{FF2B5EF4-FFF2-40B4-BE49-F238E27FC236}">
                <a16:creationId xmlns:a16="http://schemas.microsoft.com/office/drawing/2014/main" id="{99896695-35D5-480A-8829-E6E1F31B9C91}"/>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/compact</a:t>
            </a:r>
          </a:p>
        </p:txBody>
      </p:sp>
      <p:sp>
        <p:nvSpPr>
          <p:cNvPr id="170" name="10b-text-5">
            <a:extLst xmlns:a="http://schemas.openxmlformats.org/drawingml/2006/main">
              <a:ext uri="{FF2B5EF4-FFF2-40B4-BE49-F238E27FC236}">
                <a16:creationId xmlns:a16="http://schemas.microsoft.com/office/drawing/2014/main" id="{9E9AA455-34F3-4768-911D-9231416FA97D}"/>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context fails:</a:t>
            </a:r>
          </a:p>
        </p:txBody>
      </p:sp>
      <p:sp>
        <p:nvSpPr>
          <p:cNvPr id="171" name="10b-text-6">
            <a:extLst xmlns:a="http://schemas.openxmlformats.org/drawingml/2006/main">
              <a:ext uri="{FF2B5EF4-FFF2-40B4-BE49-F238E27FC236}">
                <a16:creationId xmlns:a16="http://schemas.microsoft.com/office/drawing/2014/main" id="{D911331A-1CC2-487D-B7D6-B67F94855C1B}"/>
              </a:ext>
            </a:extLst>
          </p:cNvPr>
          <p:cNvSpPr>
            <a:spLocks xmlns:a="http://schemas.openxmlformats.org/drawingml/2006/main"/>
          </p:cNvSpPr>
          <p:nvPr/>
        </p:nvSpPr>
        <p:spPr>
          <a:xfrm xmlns:a="http://schemas.openxmlformats.org/drawingml/2006/main">
            <a:off x="609600" y="292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Poisoning · Distraction · Confusion · Clash</a:t>
            </a:r>
          </a:p>
        </p:txBody>
      </p:sp>
      <p:sp>
        <p:nvSpPr>
          <p:cNvPr id="172" name="10b-text-7">
            <a:extLst xmlns:a="http://schemas.openxmlformats.org/drawingml/2006/main">
              <a:ext uri="{FF2B5EF4-FFF2-40B4-BE49-F238E27FC236}">
                <a16:creationId xmlns:a16="http://schemas.microsoft.com/office/drawing/2014/main" id="{D47493F7-ADDD-4FBC-B194-D2DEA106DAB9}"/>
              </a:ext>
            </a:extLst>
          </p:cNvPr>
          <p:cNvSpPr>
            <a:spLocks xmlns:a="http://schemas.openxmlformats.org/drawingml/2006/main"/>
          </p:cNvSpPr>
          <p:nvPr/>
        </p:nvSpPr>
        <p:spPr>
          <a:xfrm xmlns:a="http://schemas.openxmlformats.org/drawingml/2006/main">
            <a:off x="609600" y="370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18 models tested. Performance degrades as input grows, on simple tasks.</a:t>
            </a:r>
          </a:p>
        </p:txBody>
      </p:sp>
      <p:sp>
        <p:nvSpPr>
          <p:cNvPr id="173" name="narrative-number">
            <a:extLst xmlns:a="http://schemas.openxmlformats.org/drawingml/2006/main">
              <a:ext uri="{FF2B5EF4-FFF2-40B4-BE49-F238E27FC236}">
                <a16:creationId xmlns:a16="http://schemas.microsoft.com/office/drawing/2014/main" id="{4BDCDBC3-79B3-49FA-BF75-3AF1FC35366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2428794323"/>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4" name="!!area-name">
            <a:extLst xmlns:a="http://schemas.openxmlformats.org/drawingml/2006/main">
              <a:ext uri="{FF2B5EF4-FFF2-40B4-BE49-F238E27FC236}">
                <a16:creationId xmlns:a16="http://schemas.microsoft.com/office/drawing/2014/main" id="{55F17235-0657-4660-8A13-0BB2A289DF8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user</a:t>
            </a:r>
          </a:p>
        </p:txBody>
      </p:sp>
      <p:pic>
        <p:nvPicPr>
          <p:cNvPr id="189" name="mini-map"/>
          <p:cNvPicPr>
            <a:picLocks xmlns:a="http://schemas.openxmlformats.org/drawingml/2006/main" noChangeAspect="1"/>
          </p:cNvPicPr>
          <p:nvPr/>
        </p:nvPicPr>
        <p:blipFill>
          <a:blip xmlns:r="http://schemas.openxmlformats.org/officeDocument/2006/relationships" xmlns:a="http://schemas.openxmlformats.org/drawingml/2006/main" r:embed="R73cd758bcb5c49d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6" name="header-divider">
            <a:extLst xmlns:a="http://schemas.openxmlformats.org/drawingml/2006/main">
              <a:ext uri="{FF2B5EF4-FFF2-40B4-BE49-F238E27FC236}">
                <a16:creationId xmlns:a16="http://schemas.microsoft.com/office/drawing/2014/main" id="{2C60A417-DDC6-4148-8756-503A6A07A38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77" name="!!screenshot-AGENTS.md">
            <a:extLst xmlns:a="http://schemas.openxmlformats.org/drawingml/2006/main">
              <a:ext uri="{FF2B5EF4-FFF2-40B4-BE49-F238E27FC236}">
                <a16:creationId xmlns:a16="http://schemas.microsoft.com/office/drawing/2014/main" id="{05920EFB-A991-4B9E-90A6-27841A68D760}"/>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78" name="10b-text-1">
            <a:extLst xmlns:a="http://schemas.openxmlformats.org/drawingml/2006/main">
              <a:ext uri="{FF2B5EF4-FFF2-40B4-BE49-F238E27FC236}">
                <a16:creationId xmlns:a16="http://schemas.microsoft.com/office/drawing/2014/main" id="{1C0A3F65-8750-49E1-83C1-CA34107F917D}"/>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79" name="10b-text-2">
            <a:extLst xmlns:a="http://schemas.openxmlformats.org/drawingml/2006/main">
              <a:ext uri="{FF2B5EF4-FFF2-40B4-BE49-F238E27FC236}">
                <a16:creationId xmlns:a16="http://schemas.microsoft.com/office/drawing/2014/main" id="{4DD2D338-55E5-4F7E-A286-4E81095A53F9}"/>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AGENTS.md</a:t>
            </a:r>
          </a:p>
        </p:txBody>
      </p:sp>
      <p:sp>
        <p:nvSpPr>
          <p:cNvPr id="180" name="!!screenshot-Codex CLI">
            <a:extLst xmlns:a="http://schemas.openxmlformats.org/drawingml/2006/main">
              <a:ext uri="{FF2B5EF4-FFF2-40B4-BE49-F238E27FC236}">
                <a16:creationId xmlns:a16="http://schemas.microsoft.com/office/drawing/2014/main" id="{84540E41-17B9-4DAE-ADFE-22A51FEDBEB7}"/>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81" name="10b-text-3">
            <a:extLst xmlns:a="http://schemas.openxmlformats.org/drawingml/2006/main">
              <a:ext uri="{FF2B5EF4-FFF2-40B4-BE49-F238E27FC236}">
                <a16:creationId xmlns:a16="http://schemas.microsoft.com/office/drawing/2014/main" id="{00BED328-EF4A-4E6E-BC84-38DCB2EEB9EF}"/>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82" name="10b-text-4">
            <a:extLst xmlns:a="http://schemas.openxmlformats.org/drawingml/2006/main">
              <a:ext uri="{FF2B5EF4-FFF2-40B4-BE49-F238E27FC236}">
                <a16:creationId xmlns:a16="http://schemas.microsoft.com/office/drawing/2014/main" id="{5FF95CB7-0814-40B1-B2D1-D1B2C27CA90B}"/>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/compact</a:t>
            </a:r>
          </a:p>
        </p:txBody>
      </p:sp>
      <p:sp>
        <p:nvSpPr>
          <p:cNvPr id="183" name="10b-text-8">
            <a:extLst xmlns:a="http://schemas.openxmlformats.org/drawingml/2006/main">
              <a:ext uri="{FF2B5EF4-FFF2-40B4-BE49-F238E27FC236}">
                <a16:creationId xmlns:a16="http://schemas.microsoft.com/office/drawing/2014/main" id="{53233CE9-3959-4E1D-BB12-A31D7F7633E4}"/>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someone engineered:</a:t>
            </a:r>
          </a:p>
        </p:txBody>
      </p:sp>
      <p:sp>
        <p:nvSpPr>
          <p:cNvPr id="184" name="10b-text-9">
            <a:extLst xmlns:a="http://schemas.openxmlformats.org/drawingml/2006/main">
              <a:ext uri="{FF2B5EF4-FFF2-40B4-BE49-F238E27FC236}">
                <a16:creationId xmlns:a16="http://schemas.microsoft.com/office/drawing/2014/main" id="{45C67E07-7DE9-41A2-AA47-B335AF9B60B4}"/>
              </a:ext>
            </a:extLst>
          </p:cNvPr>
          <p:cNvSpPr>
            <a:spLocks xmlns:a="http://schemas.openxmlformats.org/drawingml/2006/main"/>
          </p:cNvSpPr>
          <p:nvPr/>
        </p:nvSpPr>
        <p:spPr>
          <a:xfrm xmlns:a="http://schemas.openxmlformats.org/drawingml/2006/main">
            <a:off x="609600" y="2997200"/>
            <a:ext cx="109728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system prompt · A compaction policy · A memory convention</a:t>
            </a:r>
          </a:p>
        </p:txBody>
      </p:sp>
      <p:sp>
        <p:nvSpPr>
          <p:cNvPr id="185" name="10b-text-10">
            <a:extLst xmlns:a="http://schemas.openxmlformats.org/drawingml/2006/main">
              <a:ext uri="{FF2B5EF4-FFF2-40B4-BE49-F238E27FC236}">
                <a16:creationId xmlns:a16="http://schemas.microsoft.com/office/drawing/2014/main" id="{2EFF2117-D7EC-434D-ADBE-A0C016038F65}"/>
              </a:ext>
            </a:extLst>
          </p:cNvPr>
          <p:cNvSpPr>
            <a:spLocks xmlns:a="http://schemas.openxmlformats.org/drawingml/2006/main"/>
          </p:cNvSpPr>
          <p:nvPr/>
        </p:nvSpPr>
        <p:spPr>
          <a:xfrm xmlns:a="http://schemas.openxmlformats.org/drawingml/2006/main">
            <a:off x="609600" y="36322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RAG retrieves relevant external information</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supplies it to the model.</a:t>
            </a:r>
          </a:p>
        </p:txBody>
      </p:sp>
      <p:sp>
        <p:nvSpPr>
          <p:cNvPr id="186" name="10b-text-11">
            <a:extLst xmlns:a="http://schemas.openxmlformats.org/drawingml/2006/main">
              <a:ext uri="{FF2B5EF4-FFF2-40B4-BE49-F238E27FC236}">
                <a16:creationId xmlns:a16="http://schemas.microsoft.com/office/drawing/2014/main" id="{47092C05-3366-4D42-B708-33D6105E07E7}"/>
              </a:ext>
            </a:extLst>
          </p:cNvPr>
          <p:cNvSpPr>
            <a:spLocks xmlns:a="http://schemas.openxmlformats.org/drawingml/2006/main"/>
          </p:cNvSpPr>
          <p:nvPr/>
        </p:nvSpPr>
        <p:spPr>
          <a:xfrm xmlns:a="http://schemas.openxmlformats.org/drawingml/2006/main">
            <a:off x="609600" y="4749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retrieval for the data and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Grep · File reads · Embeddings · Hybrid retrieval</a:t>
            </a:r>
          </a:p>
        </p:txBody>
      </p:sp>
      <p:sp>
        <p:nvSpPr>
          <p:cNvPr id="187" name="narrative-number">
            <a:extLst xmlns:a="http://schemas.openxmlformats.org/drawingml/2006/main">
              <a:ext uri="{FF2B5EF4-FFF2-40B4-BE49-F238E27FC236}">
                <a16:creationId xmlns:a16="http://schemas.microsoft.com/office/drawing/2014/main" id="{606FE0E3-0604-4558-A9EF-733C4E332A4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1766616401"/>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8" name="!!area-name">
            <a:extLst xmlns:a="http://schemas.openxmlformats.org/drawingml/2006/main">
              <a:ext uri="{FF2B5EF4-FFF2-40B4-BE49-F238E27FC236}">
                <a16:creationId xmlns:a16="http://schemas.microsoft.com/office/drawing/2014/main" id="{939089EA-C1C5-4935-9507-79A25CD0F9E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user</a:t>
            </a:r>
          </a:p>
        </p:txBody>
      </p:sp>
      <p:pic>
        <p:nvPicPr>
          <p:cNvPr id="202" name="mini-map"/>
          <p:cNvPicPr>
            <a:picLocks xmlns:a="http://schemas.openxmlformats.org/drawingml/2006/main" noChangeAspect="1"/>
          </p:cNvPicPr>
          <p:nvPr/>
        </p:nvPicPr>
        <p:blipFill>
          <a:blip xmlns:r="http://schemas.openxmlformats.org/officeDocument/2006/relationships" xmlns:a="http://schemas.openxmlformats.org/drawingml/2006/main" r:embed="R628099156d9e4c9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0" name="header-divider">
            <a:extLst xmlns:a="http://schemas.openxmlformats.org/drawingml/2006/main">
              <a:ext uri="{FF2B5EF4-FFF2-40B4-BE49-F238E27FC236}">
                <a16:creationId xmlns:a16="http://schemas.microsoft.com/office/drawing/2014/main" id="{036FDA53-C9AD-4C8A-BDA0-A211316660E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1" name="!!screenshot-AGENTS.md">
            <a:extLst xmlns:a="http://schemas.openxmlformats.org/drawingml/2006/main">
              <a:ext uri="{FF2B5EF4-FFF2-40B4-BE49-F238E27FC236}">
                <a16:creationId xmlns:a16="http://schemas.microsoft.com/office/drawing/2014/main" id="{6D1065BE-7245-44CF-AB16-8824DC53A4EE}"/>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92" name="10b-text-1">
            <a:extLst xmlns:a="http://schemas.openxmlformats.org/drawingml/2006/main">
              <a:ext uri="{FF2B5EF4-FFF2-40B4-BE49-F238E27FC236}">
                <a16:creationId xmlns:a16="http://schemas.microsoft.com/office/drawing/2014/main" id="{25D9573E-45BC-4743-B7C2-F4316BF5A6BE}"/>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93" name="10b-text-2">
            <a:extLst xmlns:a="http://schemas.openxmlformats.org/drawingml/2006/main">
              <a:ext uri="{FF2B5EF4-FFF2-40B4-BE49-F238E27FC236}">
                <a16:creationId xmlns:a16="http://schemas.microsoft.com/office/drawing/2014/main" id="{0D89D616-B7C9-4703-99B2-AB2AD87D713A}"/>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AGENTS.md</a:t>
            </a:r>
          </a:p>
        </p:txBody>
      </p:sp>
      <p:sp>
        <p:nvSpPr>
          <p:cNvPr id="194" name="!!screenshot-Codex CLI">
            <a:extLst xmlns:a="http://schemas.openxmlformats.org/drawingml/2006/main">
              <a:ext uri="{FF2B5EF4-FFF2-40B4-BE49-F238E27FC236}">
                <a16:creationId xmlns:a16="http://schemas.microsoft.com/office/drawing/2014/main" id="{033CDF43-4C11-4A7A-B8CC-FB73E279EC17}"/>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95" name="10b-text-3">
            <a:extLst xmlns:a="http://schemas.openxmlformats.org/drawingml/2006/main">
              <a:ext uri="{FF2B5EF4-FFF2-40B4-BE49-F238E27FC236}">
                <a16:creationId xmlns:a16="http://schemas.microsoft.com/office/drawing/2014/main" id="{9C92FE43-7364-45DF-9FDA-C22419580F4A}"/>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96" name="10b-text-4">
            <a:extLst xmlns:a="http://schemas.openxmlformats.org/drawingml/2006/main">
              <a:ext uri="{FF2B5EF4-FFF2-40B4-BE49-F238E27FC236}">
                <a16:creationId xmlns:a16="http://schemas.microsoft.com/office/drawing/2014/main" id="{644DAC88-1D12-4889-AFE7-505D220E975D}"/>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/compact</a:t>
            </a:r>
          </a:p>
        </p:txBody>
      </p:sp>
      <p:sp>
        <p:nvSpPr>
          <p:cNvPr id="197" name="10b-text-12">
            <a:extLst xmlns:a="http://schemas.openxmlformats.org/drawingml/2006/main">
              <a:ext uri="{FF2B5EF4-FFF2-40B4-BE49-F238E27FC236}">
                <a16:creationId xmlns:a16="http://schemas.microsoft.com/office/drawing/2014/main" id="{A82F94C9-515D-4C68-B0D8-3E1BB3621CE5}"/>
              </a:ext>
            </a:extLst>
          </p:cNvPr>
          <p:cNvSpPr>
            <a:spLocks xmlns:a="http://schemas.openxmlformats.org/drawingml/2006/main"/>
          </p:cNvSpPr>
          <p:nvPr/>
        </p:nvSpPr>
        <p:spPr>
          <a:xfrm xmlns:a="http://schemas.openxmlformats.org/drawingml/2006/main">
            <a:off x="609600" y="24384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Preserve useful stable prefixes.</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Measure cache savings.</a:t>
            </a:r>
          </a:p>
        </p:txBody>
      </p:sp>
      <p:sp>
        <p:nvSpPr>
          <p:cNvPr id="198" name="10b-text-13">
            <a:extLst xmlns:a="http://schemas.openxmlformats.org/drawingml/2006/main">
              <a:ext uri="{FF2B5EF4-FFF2-40B4-BE49-F238E27FC236}">
                <a16:creationId xmlns:a16="http://schemas.microsoft.com/office/drawing/2014/main" id="{05090C1B-0E2C-4E2A-A819-926F052A65E8}"/>
              </a:ext>
            </a:extLst>
          </p:cNvPr>
          <p:cNvSpPr>
            <a:spLocks xmlns:a="http://schemas.openxmlformats.org/drawingml/2006/main"/>
          </p:cNvSpPr>
          <p:nvPr/>
        </p:nvSpPr>
        <p:spPr>
          <a:xfrm xmlns:a="http://schemas.openxmlformats.org/drawingml/2006/main">
            <a:off x="609600" y="3886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Update context and tool access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correctness and authorization.</a:t>
            </a:r>
          </a:p>
        </p:txBody>
      </p:sp>
      <p:sp>
        <p:nvSpPr>
          <p:cNvPr id="199" name="10b-text-14">
            <a:extLst xmlns:a="http://schemas.openxmlformats.org/drawingml/2006/main">
              <a:ext uri="{FF2B5EF4-FFF2-40B4-BE49-F238E27FC236}">
                <a16:creationId xmlns:a16="http://schemas.microsoft.com/office/drawing/2014/main" id="{B92BC552-DE71-4A56-99E0-B89A9EFFAFFA}"/>
              </a:ext>
            </a:extLst>
          </p:cNvPr>
          <p:cNvSpPr>
            <a:spLocks xmlns:a="http://schemas.openxmlformats.org/drawingml/2006/main"/>
          </p:cNvSpPr>
          <p:nvPr/>
        </p:nvSpPr>
        <p:spPr>
          <a:xfrm xmlns:a="http://schemas.openxmlformats.org/drawingml/2006/main">
            <a:off x="609600" y="53340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Manus, July 2025: reported 100:1 input/output; $0.30 cached vs $3 uncached</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per million input tokens in its pricing example.</a:t>
            </a:r>
          </a:p>
        </p:txBody>
      </p:sp>
      <p:sp>
        <p:nvSpPr>
          <p:cNvPr id="200" name="narrative-number">
            <a:extLst xmlns:a="http://schemas.openxmlformats.org/drawingml/2006/main">
              <a:ext uri="{FF2B5EF4-FFF2-40B4-BE49-F238E27FC236}">
                <a16:creationId xmlns:a16="http://schemas.microsoft.com/office/drawing/2014/main" id="{DC7DD63A-B678-4E5B-AA64-860479683FA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3822827147"/>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1" name="!!area-name">
            <a:extLst xmlns:a="http://schemas.openxmlformats.org/drawingml/2006/main">
              <a:ext uri="{FF2B5EF4-FFF2-40B4-BE49-F238E27FC236}">
                <a16:creationId xmlns:a16="http://schemas.microsoft.com/office/drawing/2014/main" id="{C89328C9-CF90-4FE1-9521-DA2F674AFA4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231" name="mini-map"/>
          <p:cNvPicPr>
            <a:picLocks xmlns:a="http://schemas.openxmlformats.org/drawingml/2006/main" noChangeAspect="1"/>
          </p:cNvPicPr>
          <p:nvPr/>
        </p:nvPicPr>
        <p:blipFill>
          <a:blip xmlns:r="http://schemas.openxmlformats.org/officeDocument/2006/relationships" xmlns:a="http://schemas.openxmlformats.org/drawingml/2006/main" r:embed="R54ddcd6183be4e7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03" name="slide-title">
            <a:extLst xmlns:a="http://schemas.openxmlformats.org/drawingml/2006/main">
              <a:ext uri="{FF2B5EF4-FFF2-40B4-BE49-F238E27FC236}">
                <a16:creationId xmlns:a16="http://schemas.microsoft.com/office/drawing/2014/main" id="{E0204744-0891-44C0-9960-B792ED46EF1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Every token in the window is now</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your decision.</a:t>
            </a:r>
          </a:p>
        </p:txBody>
      </p:sp>
      <p:sp>
        <p:nvSpPr>
          <p:cNvPr id="204" name="header-divider">
            <a:extLst xmlns:a="http://schemas.openxmlformats.org/drawingml/2006/main">
              <a:ext uri="{FF2B5EF4-FFF2-40B4-BE49-F238E27FC236}">
                <a16:creationId xmlns:a16="http://schemas.microsoft.com/office/drawing/2014/main" id="{3F04B524-EDBC-4763-9483-894EB022703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5" name="11-shape-1">
            <a:extLst xmlns:a="http://schemas.openxmlformats.org/drawingml/2006/main">
              <a:ext uri="{FF2B5EF4-FFF2-40B4-BE49-F238E27FC236}">
                <a16:creationId xmlns:a16="http://schemas.microsoft.com/office/drawing/2014/main" id="{CC5A7776-0D70-4C61-872D-20A197EE27F7}"/>
              </a:ext>
            </a:extLst>
          </p:cNvPr>
          <p:cNvSpPr>
            <a:spLocks xmlns:a="http://schemas.openxmlformats.org/drawingml/2006/main"/>
          </p:cNvSpPr>
          <p:nvPr/>
        </p:nvSpPr>
        <p:spPr>
          <a:xfrm xmlns:a="http://schemas.openxmlformats.org/drawingml/2006/main">
            <a:off x="609600" y="2590800"/>
            <a:ext cx="10972800" cy="1498600"/>
          </a:xfrm>
          <a:prstGeom xmlns:a="http://schemas.openxmlformats.org/drawingml/2006/main" prst="roundRect">
            <a:avLst>
              <a:gd name="adj" fmla="val 5085"/>
            </a:avLst>
          </a:prstGeom>
          <a:noFill xmlns:a="http://schemas.openxmlformats.org/drawingml/2006/main"/>
          <a:ln xmlns:a="http://schemas.openxmlformats.org/drawingml/2006/main" w="25400">
            <a:solidFill>
              <a:srgbClr val="F948BE"/>
            </a:solidFill>
          </a:ln>
        </p:spPr>
      </p:sp>
      <p:sp>
        <p:nvSpPr>
          <p:cNvPr id="206" name="11-shape-2">
            <a:extLst xmlns:a="http://schemas.openxmlformats.org/drawingml/2006/main">
              <a:ext uri="{FF2B5EF4-FFF2-40B4-BE49-F238E27FC236}">
                <a16:creationId xmlns:a16="http://schemas.microsoft.com/office/drawing/2014/main" id="{DBA929CD-3222-40C3-AC9E-4B47AE2A3DAA}"/>
              </a:ext>
            </a:extLst>
          </p:cNvPr>
          <p:cNvSpPr>
            <a:spLocks xmlns:a="http://schemas.openxmlformats.org/drawingml/2006/main"/>
          </p:cNvSpPr>
          <p:nvPr/>
        </p:nvSpPr>
        <p:spPr>
          <a:xfrm xmlns:a="http://schemas.openxmlformats.org/drawingml/2006/main">
            <a:off x="812800" y="2438400"/>
            <a:ext cx="1397000" cy="279400"/>
          </a:xfrm>
          <a:prstGeom xmlns:a="http://schemas.openxmlformats.org/drawingml/2006/main" prst="rect">
            <a:avLst/>
          </a:prstGeom>
          <a:solidFill xmlns:a="http://schemas.openxmlformats.org/drawingml/2006/main">
            <a:srgbClr val="14161C"/>
          </a:solidFill>
          <a:ln xmlns:a="http://schemas.openxmlformats.org/drawingml/2006/main" w="0">
            <a:noFill/>
          </a:ln>
        </p:spPr>
      </p:sp>
      <p:sp>
        <p:nvSpPr>
          <p:cNvPr id="207" name="11-text-3">
            <a:extLst xmlns:a="http://schemas.openxmlformats.org/drawingml/2006/main">
              <a:ext uri="{FF2B5EF4-FFF2-40B4-BE49-F238E27FC236}">
                <a16:creationId xmlns:a16="http://schemas.microsoft.com/office/drawing/2014/main" id="{1E45DAA4-3E48-424B-A46F-510999BA4192}"/>
              </a:ext>
            </a:extLst>
          </p:cNvPr>
          <p:cNvSpPr>
            <a:spLocks xmlns:a="http://schemas.openxmlformats.org/drawingml/2006/main"/>
          </p:cNvSpPr>
          <p:nvPr/>
        </p:nvSpPr>
        <p:spPr>
          <a:xfrm xmlns:a="http://schemas.openxmlformats.org/drawingml/2006/main">
            <a:off x="914400" y="24384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the window</a:t>
            </a:r>
          </a:p>
        </p:txBody>
      </p:sp>
      <p:sp>
        <p:nvSpPr>
          <p:cNvPr id="208" name="11-shape-4">
            <a:extLst xmlns:a="http://schemas.openxmlformats.org/drawingml/2006/main">
              <a:ext uri="{FF2B5EF4-FFF2-40B4-BE49-F238E27FC236}">
                <a16:creationId xmlns:a16="http://schemas.microsoft.com/office/drawing/2014/main" id="{BCD389C6-37BB-42E9-B9F6-F2405F1EB04B}"/>
              </a:ext>
            </a:extLst>
          </p:cNvPr>
          <p:cNvSpPr>
            <a:spLocks xmlns:a="http://schemas.openxmlformats.org/drawingml/2006/main"/>
          </p:cNvSpPr>
          <p:nvPr/>
        </p:nvSpPr>
        <p:spPr>
          <a:xfrm xmlns:a="http://schemas.openxmlformats.org/drawingml/2006/main">
            <a:off x="762000" y="28448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209" name="11-text-5">
            <a:extLst xmlns:a="http://schemas.openxmlformats.org/drawingml/2006/main">
              <a:ext uri="{FF2B5EF4-FFF2-40B4-BE49-F238E27FC236}">
                <a16:creationId xmlns:a16="http://schemas.microsoft.com/office/drawing/2014/main" id="{B64C42F1-B677-4843-A61D-28424C0B4E40}"/>
              </a:ext>
            </a:extLst>
          </p:cNvPr>
          <p:cNvSpPr>
            <a:spLocks xmlns:a="http://schemas.openxmlformats.org/drawingml/2006/main"/>
          </p:cNvSpPr>
          <p:nvPr/>
        </p:nvSpPr>
        <p:spPr>
          <a:xfrm xmlns:a="http://schemas.openxmlformats.org/drawingml/2006/main">
            <a:off x="965200" y="29972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a:t>
            </a:r>
          </a:p>
        </p:txBody>
      </p:sp>
      <p:sp>
        <p:nvSpPr>
          <p:cNvPr id="210" name="11-shape-6">
            <a:extLst xmlns:a="http://schemas.openxmlformats.org/drawingml/2006/main">
              <a:ext uri="{FF2B5EF4-FFF2-40B4-BE49-F238E27FC236}">
                <a16:creationId xmlns:a16="http://schemas.microsoft.com/office/drawing/2014/main" id="{3496434A-5346-48D6-8C49-F7E09672B614}"/>
              </a:ext>
            </a:extLst>
          </p:cNvPr>
          <p:cNvSpPr>
            <a:spLocks xmlns:a="http://schemas.openxmlformats.org/drawingml/2006/main"/>
          </p:cNvSpPr>
          <p:nvPr/>
        </p:nvSpPr>
        <p:spPr>
          <a:xfrm xmlns:a="http://schemas.openxmlformats.org/drawingml/2006/main">
            <a:off x="2565400" y="28448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211" name="11-text-7">
            <a:extLst xmlns:a="http://schemas.openxmlformats.org/drawingml/2006/main">
              <a:ext uri="{FF2B5EF4-FFF2-40B4-BE49-F238E27FC236}">
                <a16:creationId xmlns:a16="http://schemas.microsoft.com/office/drawing/2014/main" id="{B5E2ADBB-2128-44A0-BC3A-894B0AC83438}"/>
              </a:ext>
            </a:extLst>
          </p:cNvPr>
          <p:cNvSpPr>
            <a:spLocks xmlns:a="http://schemas.openxmlformats.org/drawingml/2006/main"/>
          </p:cNvSpPr>
          <p:nvPr/>
        </p:nvSpPr>
        <p:spPr>
          <a:xfrm xmlns:a="http://schemas.openxmlformats.org/drawingml/2006/main">
            <a:off x="2768600" y="29972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Examples</a:t>
            </a:r>
          </a:p>
        </p:txBody>
      </p:sp>
      <p:sp>
        <p:nvSpPr>
          <p:cNvPr id="212" name="11-shape-8">
            <a:extLst xmlns:a="http://schemas.openxmlformats.org/drawingml/2006/main">
              <a:ext uri="{FF2B5EF4-FFF2-40B4-BE49-F238E27FC236}">
                <a16:creationId xmlns:a16="http://schemas.microsoft.com/office/drawing/2014/main" id="{BFCFB7CA-3D3A-4E45-96C4-DE01F41EC9A6}"/>
              </a:ext>
            </a:extLst>
          </p:cNvPr>
          <p:cNvSpPr>
            <a:spLocks xmlns:a="http://schemas.openxmlformats.org/drawingml/2006/main"/>
          </p:cNvSpPr>
          <p:nvPr/>
        </p:nvSpPr>
        <p:spPr>
          <a:xfrm xmlns:a="http://schemas.openxmlformats.org/drawingml/2006/main">
            <a:off x="4368800" y="28448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213" name="11-text-9">
            <a:extLst xmlns:a="http://schemas.openxmlformats.org/drawingml/2006/main">
              <a:ext uri="{FF2B5EF4-FFF2-40B4-BE49-F238E27FC236}">
                <a16:creationId xmlns:a16="http://schemas.microsoft.com/office/drawing/2014/main" id="{5F86D028-1F54-44B5-8192-31E13DB416B6}"/>
              </a:ext>
            </a:extLst>
          </p:cNvPr>
          <p:cNvSpPr>
            <a:spLocks xmlns:a="http://schemas.openxmlformats.org/drawingml/2006/main"/>
          </p:cNvSpPr>
          <p:nvPr/>
        </p:nvSpPr>
        <p:spPr>
          <a:xfrm xmlns:a="http://schemas.openxmlformats.org/drawingml/2006/main">
            <a:off x="4572000" y="29972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knowledge</a:t>
            </a:r>
          </a:p>
        </p:txBody>
      </p:sp>
      <p:sp>
        <p:nvSpPr>
          <p:cNvPr id="214" name="11-shape-10">
            <a:extLst xmlns:a="http://schemas.openxmlformats.org/drawingml/2006/main">
              <a:ext uri="{FF2B5EF4-FFF2-40B4-BE49-F238E27FC236}">
                <a16:creationId xmlns:a16="http://schemas.microsoft.com/office/drawing/2014/main" id="{67CA2D5E-BE17-485C-82AA-CD347E2B64D2}"/>
              </a:ext>
            </a:extLst>
          </p:cNvPr>
          <p:cNvSpPr>
            <a:spLocks xmlns:a="http://schemas.openxmlformats.org/drawingml/2006/main"/>
          </p:cNvSpPr>
          <p:nvPr/>
        </p:nvSpPr>
        <p:spPr>
          <a:xfrm xmlns:a="http://schemas.openxmlformats.org/drawingml/2006/main">
            <a:off x="6172200" y="28448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215" name="11-text-11">
            <a:extLst xmlns:a="http://schemas.openxmlformats.org/drawingml/2006/main">
              <a:ext uri="{FF2B5EF4-FFF2-40B4-BE49-F238E27FC236}">
                <a16:creationId xmlns:a16="http://schemas.microsoft.com/office/drawing/2014/main" id="{80CFB523-B52E-4C4F-BB58-FD1A64D5C3D1}"/>
              </a:ext>
            </a:extLst>
          </p:cNvPr>
          <p:cNvSpPr>
            <a:spLocks xmlns:a="http://schemas.openxmlformats.org/drawingml/2006/main"/>
          </p:cNvSpPr>
          <p:nvPr/>
        </p:nvSpPr>
        <p:spPr>
          <a:xfrm xmlns:a="http://schemas.openxmlformats.org/drawingml/2006/main">
            <a:off x="6375400" y="29972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Session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state</a:t>
            </a:r>
          </a:p>
        </p:txBody>
      </p:sp>
      <p:sp>
        <p:nvSpPr>
          <p:cNvPr id="216" name="11-shape-12">
            <a:extLst xmlns:a="http://schemas.openxmlformats.org/drawingml/2006/main">
              <a:ext uri="{FF2B5EF4-FFF2-40B4-BE49-F238E27FC236}">
                <a16:creationId xmlns:a16="http://schemas.microsoft.com/office/drawing/2014/main" id="{B8987C6E-77D4-4961-B6DC-493BAF92F2C5}"/>
              </a:ext>
            </a:extLst>
          </p:cNvPr>
          <p:cNvSpPr>
            <a:spLocks xmlns:a="http://schemas.openxmlformats.org/drawingml/2006/main"/>
          </p:cNvSpPr>
          <p:nvPr/>
        </p:nvSpPr>
        <p:spPr>
          <a:xfrm xmlns:a="http://schemas.openxmlformats.org/drawingml/2006/main">
            <a:off x="7975600" y="28448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217" name="11-text-13">
            <a:extLst xmlns:a="http://schemas.openxmlformats.org/drawingml/2006/main">
              <a:ext uri="{FF2B5EF4-FFF2-40B4-BE49-F238E27FC236}">
                <a16:creationId xmlns:a16="http://schemas.microsoft.com/office/drawing/2014/main" id="{2AB3505F-92FB-4A69-BDD6-997EE98F72D4}"/>
              </a:ext>
            </a:extLst>
          </p:cNvPr>
          <p:cNvSpPr>
            <a:spLocks xmlns:a="http://schemas.openxmlformats.org/drawingml/2006/main"/>
          </p:cNvSpPr>
          <p:nvPr/>
        </p:nvSpPr>
        <p:spPr>
          <a:xfrm xmlns:a="http://schemas.openxmlformats.org/drawingml/2006/main">
            <a:off x="8178800" y="29972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Memory</a:t>
            </a:r>
          </a:p>
        </p:txBody>
      </p:sp>
      <p:sp>
        <p:nvSpPr>
          <p:cNvPr id="218" name="11-shape-14">
            <a:extLst xmlns:a="http://schemas.openxmlformats.org/drawingml/2006/main">
              <a:ext uri="{FF2B5EF4-FFF2-40B4-BE49-F238E27FC236}">
                <a16:creationId xmlns:a16="http://schemas.microsoft.com/office/drawing/2014/main" id="{F271F7BC-D23B-4391-BDC1-2D29DEF03C2B}"/>
              </a:ext>
            </a:extLst>
          </p:cNvPr>
          <p:cNvSpPr>
            <a:spLocks xmlns:a="http://schemas.openxmlformats.org/drawingml/2006/main"/>
          </p:cNvSpPr>
          <p:nvPr/>
        </p:nvSpPr>
        <p:spPr>
          <a:xfrm xmlns:a="http://schemas.openxmlformats.org/drawingml/2006/main">
            <a:off x="9779000" y="28448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219" name="11-text-15">
            <a:extLst xmlns:a="http://schemas.openxmlformats.org/drawingml/2006/main">
              <a:ext uri="{FF2B5EF4-FFF2-40B4-BE49-F238E27FC236}">
                <a16:creationId xmlns:a16="http://schemas.microsoft.com/office/drawing/2014/main" id="{81978C4B-074F-487C-8B8F-85787EB8DF78}"/>
              </a:ext>
            </a:extLst>
          </p:cNvPr>
          <p:cNvSpPr>
            <a:spLocks xmlns:a="http://schemas.openxmlformats.org/drawingml/2006/main"/>
          </p:cNvSpPr>
          <p:nvPr/>
        </p:nvSpPr>
        <p:spPr>
          <a:xfrm xmlns:a="http://schemas.openxmlformats.org/drawingml/2006/main">
            <a:off x="9982200" y="29972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results</a:t>
            </a:r>
          </a:p>
        </p:txBody>
      </p:sp>
      <p:sp>
        <p:nvSpPr>
          <p:cNvPr id="220" name="11-text-16">
            <a:extLst xmlns:a="http://schemas.openxmlformats.org/drawingml/2006/main">
              <a:ext uri="{FF2B5EF4-FFF2-40B4-BE49-F238E27FC236}">
                <a16:creationId xmlns:a16="http://schemas.microsoft.com/office/drawing/2014/main" id="{D3F6298A-C397-4E9A-AE58-2A6347258E44}"/>
              </a:ext>
            </a:extLst>
          </p:cNvPr>
          <p:cNvSpPr>
            <a:spLocks xmlns:a="http://schemas.openxmlformats.org/drawingml/2006/main"/>
          </p:cNvSpPr>
          <p:nvPr/>
        </p:nvSpPr>
        <p:spPr>
          <a:xfrm xmlns:a="http://schemas.openxmlformats.org/drawingml/2006/main">
            <a:off x="609600" y="4241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Each has a relevance, a freshness, a provenance, and a size.</a:t>
            </a:r>
          </a:p>
        </p:txBody>
      </p:sp>
      <p:sp>
        <p:nvSpPr>
          <p:cNvPr id="221" name="11-shape-17">
            <a:extLst xmlns:a="http://schemas.openxmlformats.org/drawingml/2006/main">
              <a:ext uri="{FF2B5EF4-FFF2-40B4-BE49-F238E27FC236}">
                <a16:creationId xmlns:a16="http://schemas.microsoft.com/office/drawing/2014/main" id="{BB3ADB06-4DD0-4A17-9902-6B46C0ADF38E}"/>
              </a:ext>
            </a:extLst>
          </p:cNvPr>
          <p:cNvSpPr>
            <a:spLocks xmlns:a="http://schemas.openxmlformats.org/drawingml/2006/main"/>
          </p:cNvSpPr>
          <p:nvPr/>
        </p:nvSpPr>
        <p:spPr>
          <a:xfrm xmlns:a="http://schemas.openxmlformats.org/drawingml/2006/main">
            <a:off x="609600" y="4762500"/>
            <a:ext cx="20320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22" name="11-text-18">
            <a:extLst xmlns:a="http://schemas.openxmlformats.org/drawingml/2006/main">
              <a:ext uri="{FF2B5EF4-FFF2-40B4-BE49-F238E27FC236}">
                <a16:creationId xmlns:a16="http://schemas.microsoft.com/office/drawing/2014/main" id="{74AD4C24-FE3E-4E76-BEE9-D0FE661A3625}"/>
              </a:ext>
            </a:extLst>
          </p:cNvPr>
          <p:cNvSpPr>
            <a:spLocks xmlns:a="http://schemas.openxmlformats.org/drawingml/2006/main"/>
          </p:cNvSpPr>
          <p:nvPr/>
        </p:nvSpPr>
        <p:spPr>
          <a:xfrm xmlns:a="http://schemas.openxmlformats.org/drawingml/2006/main">
            <a:off x="762000" y="4800600"/>
            <a:ext cx="172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budget</a:t>
            </a:r>
          </a:p>
        </p:txBody>
      </p:sp>
      <p:sp>
        <p:nvSpPr>
          <p:cNvPr id="223" name="11-shape-19">
            <a:extLst xmlns:a="http://schemas.openxmlformats.org/drawingml/2006/main">
              <a:ext uri="{FF2B5EF4-FFF2-40B4-BE49-F238E27FC236}">
                <a16:creationId xmlns:a16="http://schemas.microsoft.com/office/drawing/2014/main" id="{C4198A56-24D3-4D3F-A4BC-15E0C33824C4}"/>
              </a:ext>
            </a:extLst>
          </p:cNvPr>
          <p:cNvSpPr>
            <a:spLocks xmlns:a="http://schemas.openxmlformats.org/drawingml/2006/main"/>
          </p:cNvSpPr>
          <p:nvPr/>
        </p:nvSpPr>
        <p:spPr>
          <a:xfrm xmlns:a="http://schemas.openxmlformats.org/drawingml/2006/main">
            <a:off x="2743200" y="4762500"/>
            <a:ext cx="23876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24" name="11-text-20">
            <a:extLst xmlns:a="http://schemas.openxmlformats.org/drawingml/2006/main">
              <a:ext uri="{FF2B5EF4-FFF2-40B4-BE49-F238E27FC236}">
                <a16:creationId xmlns:a16="http://schemas.microsoft.com/office/drawing/2014/main" id="{D61DEA21-87D5-4649-8995-DD0578FD8454}"/>
              </a:ext>
            </a:extLst>
          </p:cNvPr>
          <p:cNvSpPr>
            <a:spLocks xmlns:a="http://schemas.openxmlformats.org/drawingml/2006/main"/>
          </p:cNvSpPr>
          <p:nvPr/>
        </p:nvSpPr>
        <p:spPr>
          <a:xfrm xmlns:a="http://schemas.openxmlformats.org/drawingml/2006/main">
            <a:off x="2895600" y="4800600"/>
            <a:ext cx="208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Compaction policy</a:t>
            </a:r>
          </a:p>
        </p:txBody>
      </p:sp>
      <p:sp>
        <p:nvSpPr>
          <p:cNvPr id="225" name="11-shape-21">
            <a:extLst xmlns:a="http://schemas.openxmlformats.org/drawingml/2006/main">
              <a:ext uri="{FF2B5EF4-FFF2-40B4-BE49-F238E27FC236}">
                <a16:creationId xmlns:a16="http://schemas.microsoft.com/office/drawing/2014/main" id="{0F106CB8-5C58-42C4-9DB1-E92DD267F53A}"/>
              </a:ext>
            </a:extLst>
          </p:cNvPr>
          <p:cNvSpPr>
            <a:spLocks xmlns:a="http://schemas.openxmlformats.org/drawingml/2006/main"/>
          </p:cNvSpPr>
          <p:nvPr/>
        </p:nvSpPr>
        <p:spPr>
          <a:xfrm xmlns:a="http://schemas.openxmlformats.org/drawingml/2006/main">
            <a:off x="5232400" y="4762500"/>
            <a:ext cx="25273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26" name="11-text-22">
            <a:extLst xmlns:a="http://schemas.openxmlformats.org/drawingml/2006/main">
              <a:ext uri="{FF2B5EF4-FFF2-40B4-BE49-F238E27FC236}">
                <a16:creationId xmlns:a16="http://schemas.microsoft.com/office/drawing/2014/main" id="{659372DA-41D4-4454-BF24-211A8D22E16C}"/>
              </a:ext>
            </a:extLst>
          </p:cNvPr>
          <p:cNvSpPr>
            <a:spLocks xmlns:a="http://schemas.openxmlformats.org/drawingml/2006/main"/>
          </p:cNvSpPr>
          <p:nvPr/>
        </p:nvSpPr>
        <p:spPr>
          <a:xfrm xmlns:a="http://schemas.openxmlformats.org/drawingml/2006/main">
            <a:off x="5384800" y="4800600"/>
            <a:ext cx="222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Memory convention</a:t>
            </a:r>
          </a:p>
        </p:txBody>
      </p:sp>
      <p:sp>
        <p:nvSpPr>
          <p:cNvPr id="227" name="11-shape-23">
            <a:extLst xmlns:a="http://schemas.openxmlformats.org/drawingml/2006/main">
              <a:ext uri="{FF2B5EF4-FFF2-40B4-BE49-F238E27FC236}">
                <a16:creationId xmlns:a16="http://schemas.microsoft.com/office/drawing/2014/main" id="{C8DD3465-644B-4E06-A9F5-92525D68C44E}"/>
              </a:ext>
            </a:extLst>
          </p:cNvPr>
          <p:cNvSpPr>
            <a:spLocks xmlns:a="http://schemas.openxmlformats.org/drawingml/2006/main"/>
          </p:cNvSpPr>
          <p:nvPr/>
        </p:nvSpPr>
        <p:spPr>
          <a:xfrm xmlns:a="http://schemas.openxmlformats.org/drawingml/2006/main">
            <a:off x="7861300" y="4762500"/>
            <a:ext cx="22860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28" name="11-text-24">
            <a:extLst xmlns:a="http://schemas.openxmlformats.org/drawingml/2006/main">
              <a:ext uri="{FF2B5EF4-FFF2-40B4-BE49-F238E27FC236}">
                <a16:creationId xmlns:a16="http://schemas.microsoft.com/office/drawing/2014/main" id="{687187FE-C6A7-4213-B648-0819128C4B24}"/>
              </a:ext>
            </a:extLst>
          </p:cNvPr>
          <p:cNvSpPr>
            <a:spLocks xmlns:a="http://schemas.openxmlformats.org/drawingml/2006/main"/>
          </p:cNvSpPr>
          <p:nvPr/>
        </p:nvSpPr>
        <p:spPr>
          <a:xfrm xmlns:a="http://schemas.openxmlformats.org/drawingml/2006/main">
            <a:off x="8013700" y="4800600"/>
            <a:ext cx="1981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strategy</a:t>
            </a:r>
          </a:p>
        </p:txBody>
      </p:sp>
      <p:sp>
        <p:nvSpPr>
          <p:cNvPr id="229" name="narrative-number">
            <a:extLst xmlns:a="http://schemas.openxmlformats.org/drawingml/2006/main">
              <a:ext uri="{FF2B5EF4-FFF2-40B4-BE49-F238E27FC236}">
                <a16:creationId xmlns:a16="http://schemas.microsoft.com/office/drawing/2014/main" id="{E3ECB3E6-C3BF-4ABC-8E9F-70A123B971F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252850088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7"/>
                                        </p:tgtEl>
                                        <p:attrNameLst>
                                          <p:attrName>style.visibility</p:attrName>
                                        </p:attrNameLst>
                                      </p:cBhvr>
                                      <p:to>
                                        <p:strVal val="visible"/>
                                      </p:to>
                                    </p:set>
                                  </p:childTnLst>
                                </p:cTn>
                              </p:par>
                              <p:par>
                                <p:cTn id="11" presetID="10" presetClass="entr" presetSubtype="0" fill="hold" nodeType="withEffect">
                                  <p:stCondLst>
                                    <p:cond delay="0"/>
                                  </p:stCondLst>
                                  <p:childTnLst>
                                    <p:set>
                                      <p:cBhvr>
                                        <p:cTn id="12" dur="1" fill="hold">
                                          <p:stCondLst>
                                            <p:cond delay="0"/>
                                          </p:stCondLst>
                                        </p:cTn>
                                        <p:tgtEl>
                                          <p:spTgt spid="208"/>
                                        </p:tgtEl>
                                        <p:attrNameLst>
                                          <p:attrName>style.visibility</p:attrName>
                                        </p:attrNameLst>
                                      </p:cBhvr>
                                      <p:to>
                                        <p:strVal val="visible"/>
                                      </p:to>
                                    </p:set>
                                    <p:animEffect transition="in" filter="fade">
                                      <p:cBhvr>
                                        <p:cTn id="13" dur="200" fill="hold"/>
                                        <p:tgtEl>
                                          <p:spTgt spid="208"/>
                                        </p:tgtEl>
                                      </p:cBhvr>
                                    </p:animEffect>
                                  </p:childTnLst>
                                </p:cTn>
                              </p:par>
                              <p:par>
                                <p:cTn id="14" presetID="10" presetClass="entr" presetSubtype="0" fill="hold" nodeType="withEffect">
                                  <p:stCondLst>
                                    <p:cond delay="0"/>
                                  </p:stCondLst>
                                  <p:childTnLst>
                                    <p:set>
                                      <p:cBhvr>
                                        <p:cTn id="15" dur="1" fill="hold">
                                          <p:stCondLst>
                                            <p:cond delay="0"/>
                                          </p:stCondLst>
                                        </p:cTn>
                                        <p:tgtEl>
                                          <p:spTgt spid="209"/>
                                        </p:tgtEl>
                                        <p:attrNameLst>
                                          <p:attrName>style.visibility</p:attrName>
                                        </p:attrNameLst>
                                      </p:cBhvr>
                                      <p:to>
                                        <p:strVal val="visible"/>
                                      </p:to>
                                    </p:set>
                                    <p:animEffect transition="in" filter="fade">
                                      <p:cBhvr>
                                        <p:cTn id="16" dur="200" fill="hold"/>
                                        <p:tgtEl>
                                          <p:spTgt spid="209"/>
                                        </p:tgtEl>
                                      </p:cBhvr>
                                    </p:animEffect>
                                  </p:childTnLst>
                                </p:cTn>
                              </p:par>
                              <p:par>
                                <p:cTn id="17" presetID="10" presetClass="entr" presetSubtype="0" fill="hold" nodeType="withEffect">
                                  <p:stCondLst>
                                    <p:cond delay="0"/>
                                  </p:stCondLst>
                                  <p:childTnLst>
                                    <p:set>
                                      <p:cBhvr>
                                        <p:cTn id="18" dur="1" fill="hold">
                                          <p:stCondLst>
                                            <p:cond delay="0"/>
                                          </p:stCondLst>
                                        </p:cTn>
                                        <p:tgtEl>
                                          <p:spTgt spid="210"/>
                                        </p:tgtEl>
                                        <p:attrNameLst>
                                          <p:attrName>style.visibility</p:attrName>
                                        </p:attrNameLst>
                                      </p:cBhvr>
                                      <p:to>
                                        <p:strVal val="visible"/>
                                      </p:to>
                                    </p:set>
                                    <p:animEffect transition="in" filter="fade">
                                      <p:cBhvr>
                                        <p:cTn id="19" dur="200" fill="hold"/>
                                        <p:tgtEl>
                                          <p:spTgt spid="210"/>
                                        </p:tgtEl>
                                      </p:cBhvr>
                                    </p:animEffect>
                                  </p:childTnLst>
                                </p:cTn>
                              </p:par>
                              <p:par>
                                <p:cTn id="20" presetID="10" presetClass="entr" presetSubtype="0" fill="hold" nodeType="withEffect">
                                  <p:stCondLst>
                                    <p:cond delay="0"/>
                                  </p:stCondLst>
                                  <p:childTnLst>
                                    <p:set>
                                      <p:cBhvr>
                                        <p:cTn id="21" dur="1" fill="hold">
                                          <p:stCondLst>
                                            <p:cond delay="0"/>
                                          </p:stCondLst>
                                        </p:cTn>
                                        <p:tgtEl>
                                          <p:spTgt spid="211"/>
                                        </p:tgtEl>
                                        <p:attrNameLst>
                                          <p:attrName>style.visibility</p:attrName>
                                        </p:attrNameLst>
                                      </p:cBhvr>
                                      <p:to>
                                        <p:strVal val="visible"/>
                                      </p:to>
                                    </p:set>
                                    <p:animEffect transition="in" filter="fade">
                                      <p:cBhvr>
                                        <p:cTn id="22" dur="200" fill="hold"/>
                                        <p:tgtEl>
                                          <p:spTgt spid="211"/>
                                        </p:tgtEl>
                                      </p:cBhvr>
                                    </p:animEffect>
                                  </p:childTnLst>
                                </p:cTn>
                              </p:par>
                              <p:par>
                                <p:cTn id="23" presetID="10" presetClass="entr" presetSubtype="0" fill="hold" nodeType="withEffect">
                                  <p:stCondLst>
                                    <p:cond delay="0"/>
                                  </p:stCondLst>
                                  <p:childTnLst>
                                    <p:set>
                                      <p:cBhvr>
                                        <p:cTn id="24" dur="1" fill="hold">
                                          <p:stCondLst>
                                            <p:cond delay="0"/>
                                          </p:stCondLst>
                                        </p:cTn>
                                        <p:tgtEl>
                                          <p:spTgt spid="212"/>
                                        </p:tgtEl>
                                        <p:attrNameLst>
                                          <p:attrName>style.visibility</p:attrName>
                                        </p:attrNameLst>
                                      </p:cBhvr>
                                      <p:to>
                                        <p:strVal val="visible"/>
                                      </p:to>
                                    </p:set>
                                    <p:animEffect transition="in" filter="fade">
                                      <p:cBhvr>
                                        <p:cTn id="25" dur="200" fill="hold"/>
                                        <p:tgtEl>
                                          <p:spTgt spid="212"/>
                                        </p:tgtEl>
                                      </p:cBhvr>
                                    </p:animEffect>
                                  </p:childTnLst>
                                </p:cTn>
                              </p:par>
                              <p:par>
                                <p:cTn id="26" presetID="10" presetClass="entr" presetSubtype="0" fill="hold" nodeType="withEffect">
                                  <p:stCondLst>
                                    <p:cond delay="0"/>
                                  </p:stCondLst>
                                  <p:childTnLst>
                                    <p:set>
                                      <p:cBhvr>
                                        <p:cTn id="27" dur="1" fill="hold">
                                          <p:stCondLst>
                                            <p:cond delay="0"/>
                                          </p:stCondLst>
                                        </p:cTn>
                                        <p:tgtEl>
                                          <p:spTgt spid="213"/>
                                        </p:tgtEl>
                                        <p:attrNameLst>
                                          <p:attrName>style.visibility</p:attrName>
                                        </p:attrNameLst>
                                      </p:cBhvr>
                                      <p:to>
                                        <p:strVal val="visible"/>
                                      </p:to>
                                    </p:set>
                                    <p:animEffect transition="in" filter="fade">
                                      <p:cBhvr>
                                        <p:cTn id="28" dur="200" fill="hold"/>
                                        <p:tgtEl>
                                          <p:spTgt spid="213"/>
                                        </p:tgtEl>
                                      </p:cBhvr>
                                    </p:animEffect>
                                  </p:childTnLst>
                                </p:cTn>
                              </p:par>
                              <p:par>
                                <p:cTn id="29" presetID="10" presetClass="entr" presetSubtype="0" fill="hold" nodeType="withEffect">
                                  <p:stCondLst>
                                    <p:cond delay="0"/>
                                  </p:stCondLst>
                                  <p:childTnLst>
                                    <p:set>
                                      <p:cBhvr>
                                        <p:cTn id="30" dur="1" fill="hold">
                                          <p:stCondLst>
                                            <p:cond delay="0"/>
                                          </p:stCondLst>
                                        </p:cTn>
                                        <p:tgtEl>
                                          <p:spTgt spid="214"/>
                                        </p:tgtEl>
                                        <p:attrNameLst>
                                          <p:attrName>style.visibility</p:attrName>
                                        </p:attrNameLst>
                                      </p:cBhvr>
                                      <p:to>
                                        <p:strVal val="visible"/>
                                      </p:to>
                                    </p:set>
                                    <p:animEffect transition="in" filter="fade">
                                      <p:cBhvr>
                                        <p:cTn id="31" dur="200" fill="hold"/>
                                        <p:tgtEl>
                                          <p:spTgt spid="214"/>
                                        </p:tgtEl>
                                      </p:cBhvr>
                                    </p:animEffect>
                                  </p:childTnLst>
                                </p:cTn>
                              </p:par>
                              <p:par>
                                <p:cTn id="32" presetID="10" presetClass="entr" presetSubtype="0" fill="hold" nodeType="withEffect">
                                  <p:stCondLst>
                                    <p:cond delay="0"/>
                                  </p:stCondLst>
                                  <p:childTnLst>
                                    <p:set>
                                      <p:cBhvr>
                                        <p:cTn id="33" dur="1" fill="hold">
                                          <p:stCondLst>
                                            <p:cond delay="0"/>
                                          </p:stCondLst>
                                        </p:cTn>
                                        <p:tgtEl>
                                          <p:spTgt spid="215"/>
                                        </p:tgtEl>
                                        <p:attrNameLst>
                                          <p:attrName>style.visibility</p:attrName>
                                        </p:attrNameLst>
                                      </p:cBhvr>
                                      <p:to>
                                        <p:strVal val="visible"/>
                                      </p:to>
                                    </p:set>
                                    <p:animEffect transition="in" filter="fade">
                                      <p:cBhvr>
                                        <p:cTn id="34" dur="200" fill="hold"/>
                                        <p:tgtEl>
                                          <p:spTgt spid="215"/>
                                        </p:tgtEl>
                                      </p:cBhvr>
                                    </p:animEffect>
                                  </p:childTnLst>
                                </p:cTn>
                              </p:par>
                              <p:par>
                                <p:cTn id="35" presetID="10" presetClass="entr" presetSubtype="0" fill="hold" nodeType="withEffect">
                                  <p:stCondLst>
                                    <p:cond delay="0"/>
                                  </p:stCondLst>
                                  <p:childTnLst>
                                    <p:set>
                                      <p:cBhvr>
                                        <p:cTn id="36" dur="1" fill="hold">
                                          <p:stCondLst>
                                            <p:cond delay="0"/>
                                          </p:stCondLst>
                                        </p:cTn>
                                        <p:tgtEl>
                                          <p:spTgt spid="216"/>
                                        </p:tgtEl>
                                        <p:attrNameLst>
                                          <p:attrName>style.visibility</p:attrName>
                                        </p:attrNameLst>
                                      </p:cBhvr>
                                      <p:to>
                                        <p:strVal val="visible"/>
                                      </p:to>
                                    </p:set>
                                    <p:animEffect transition="in" filter="fade">
                                      <p:cBhvr>
                                        <p:cTn id="37" dur="200" fill="hold"/>
                                        <p:tgtEl>
                                          <p:spTgt spid="216"/>
                                        </p:tgtEl>
                                      </p:cBhvr>
                                    </p:animEffect>
                                  </p:childTnLst>
                                </p:cTn>
                              </p:par>
                              <p:par>
                                <p:cTn id="38" presetID="10" presetClass="entr" presetSubtype="0" fill="hold" nodeType="withEffect">
                                  <p:stCondLst>
                                    <p:cond delay="0"/>
                                  </p:stCondLst>
                                  <p:childTnLst>
                                    <p:set>
                                      <p:cBhvr>
                                        <p:cTn id="39" dur="1" fill="hold">
                                          <p:stCondLst>
                                            <p:cond delay="0"/>
                                          </p:stCondLst>
                                        </p:cTn>
                                        <p:tgtEl>
                                          <p:spTgt spid="217"/>
                                        </p:tgtEl>
                                        <p:attrNameLst>
                                          <p:attrName>style.visibility</p:attrName>
                                        </p:attrNameLst>
                                      </p:cBhvr>
                                      <p:to>
                                        <p:strVal val="visible"/>
                                      </p:to>
                                    </p:set>
                                    <p:animEffect transition="in" filter="fade">
                                      <p:cBhvr>
                                        <p:cTn id="40" dur="200" fill="hold"/>
                                        <p:tgtEl>
                                          <p:spTgt spid="217"/>
                                        </p:tgtEl>
                                      </p:cBhvr>
                                    </p:animEffect>
                                  </p:childTnLst>
                                </p:cTn>
                              </p:par>
                              <p:par>
                                <p:cTn id="41" presetID="10" presetClass="entr" presetSubtype="0" fill="hold" nodeType="withEffect">
                                  <p:stCondLst>
                                    <p:cond delay="0"/>
                                  </p:stCondLst>
                                  <p:childTnLst>
                                    <p:set>
                                      <p:cBhvr>
                                        <p:cTn id="42" dur="1" fill="hold">
                                          <p:stCondLst>
                                            <p:cond delay="0"/>
                                          </p:stCondLst>
                                        </p:cTn>
                                        <p:tgtEl>
                                          <p:spTgt spid="218"/>
                                        </p:tgtEl>
                                        <p:attrNameLst>
                                          <p:attrName>style.visibility</p:attrName>
                                        </p:attrNameLst>
                                      </p:cBhvr>
                                      <p:to>
                                        <p:strVal val="visible"/>
                                      </p:to>
                                    </p:set>
                                    <p:animEffect transition="in" filter="fade">
                                      <p:cBhvr>
                                        <p:cTn id="43" dur="200" fill="hold"/>
                                        <p:tgtEl>
                                          <p:spTgt spid="218"/>
                                        </p:tgtEl>
                                      </p:cBhvr>
                                    </p:animEffect>
                                  </p:childTnLst>
                                </p:cTn>
                              </p:par>
                              <p:par>
                                <p:cTn id="44" presetID="10" presetClass="entr" presetSubtype="0" fill="hold" nodeType="withEffect">
                                  <p:stCondLst>
                                    <p:cond delay="0"/>
                                  </p:stCondLst>
                                  <p:childTnLst>
                                    <p:set>
                                      <p:cBhvr>
                                        <p:cTn id="45" dur="1" fill="hold">
                                          <p:stCondLst>
                                            <p:cond delay="0"/>
                                          </p:stCondLst>
                                        </p:cTn>
                                        <p:tgtEl>
                                          <p:spTgt spid="219"/>
                                        </p:tgtEl>
                                        <p:attrNameLst>
                                          <p:attrName>style.visibility</p:attrName>
                                        </p:attrNameLst>
                                      </p:cBhvr>
                                      <p:to>
                                        <p:strVal val="visible"/>
                                      </p:to>
                                    </p:set>
                                    <p:animEffect transition="in" filter="fade">
                                      <p:cBhvr>
                                        <p:cTn id="46" dur="200" fill="hold"/>
                                        <p:tgtEl>
                                          <p:spTgt spid="219"/>
                                        </p:tgtEl>
                                      </p:cBhvr>
                                    </p:animEffect>
                                  </p:childTnLst>
                                </p:cTn>
                              </p:par>
                              <p:par>
                                <p:cTn id="47" presetID="1" presetClass="entr" presetSubtype="0" fill="hold" nodeType="withEffect">
                                  <p:stCondLst>
                                    <p:cond delay="0"/>
                                  </p:stCondLst>
                                  <p:childTnLst>
                                    <p:set>
                                      <p:cBhvr>
                                        <p:cTn id="48" dur="1" fill="hold">
                                          <p:stCondLst>
                                            <p:cond delay="0"/>
                                          </p:stCondLst>
                                        </p:cTn>
                                        <p:tgtEl>
                                          <p:spTgt spid="22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221"/>
                                        </p:tgtEl>
                                        <p:attrNameLst>
                                          <p:attrName>style.visibility</p:attrName>
                                        </p:attrNameLst>
                                      </p:cBhvr>
                                      <p:to>
                                        <p:strVal val="visible"/>
                                      </p:to>
                                    </p:set>
                                    <p:animEffect transition="in" filter="fade">
                                      <p:cBhvr>
                                        <p:cTn id="53" dur="200" fill="hold"/>
                                        <p:tgtEl>
                                          <p:spTgt spid="221"/>
                                        </p:tgtEl>
                                      </p:cBhvr>
                                    </p:animEffect>
                                  </p:childTnLst>
                                </p:cTn>
                              </p:par>
                              <p:par>
                                <p:cTn id="54" presetID="10" presetClass="entr" presetSubtype="0" fill="hold" nodeType="withEffect">
                                  <p:stCondLst>
                                    <p:cond delay="0"/>
                                  </p:stCondLst>
                                  <p:childTnLst>
                                    <p:set>
                                      <p:cBhvr>
                                        <p:cTn id="55" dur="1" fill="hold">
                                          <p:stCondLst>
                                            <p:cond delay="0"/>
                                          </p:stCondLst>
                                        </p:cTn>
                                        <p:tgtEl>
                                          <p:spTgt spid="222"/>
                                        </p:tgtEl>
                                        <p:attrNameLst>
                                          <p:attrName>style.visibility</p:attrName>
                                        </p:attrNameLst>
                                      </p:cBhvr>
                                      <p:to>
                                        <p:strVal val="visible"/>
                                      </p:to>
                                    </p:set>
                                    <p:animEffect transition="in" filter="fade">
                                      <p:cBhvr>
                                        <p:cTn id="56" dur="200" fill="hold"/>
                                        <p:tgtEl>
                                          <p:spTgt spid="222"/>
                                        </p:tgtEl>
                                      </p:cBhvr>
                                    </p:animEffect>
                                  </p:childTnLst>
                                </p:cTn>
                              </p:par>
                              <p:par>
                                <p:cTn id="57" presetID="10" presetClass="entr" presetSubtype="0" fill="hold" nodeType="withEffect">
                                  <p:stCondLst>
                                    <p:cond delay="0"/>
                                  </p:stCondLst>
                                  <p:childTnLst>
                                    <p:set>
                                      <p:cBhvr>
                                        <p:cTn id="58" dur="1" fill="hold">
                                          <p:stCondLst>
                                            <p:cond delay="0"/>
                                          </p:stCondLst>
                                        </p:cTn>
                                        <p:tgtEl>
                                          <p:spTgt spid="223"/>
                                        </p:tgtEl>
                                        <p:attrNameLst>
                                          <p:attrName>style.visibility</p:attrName>
                                        </p:attrNameLst>
                                      </p:cBhvr>
                                      <p:to>
                                        <p:strVal val="visible"/>
                                      </p:to>
                                    </p:set>
                                    <p:animEffect transition="in" filter="fade">
                                      <p:cBhvr>
                                        <p:cTn id="59" dur="200" fill="hold"/>
                                        <p:tgtEl>
                                          <p:spTgt spid="223"/>
                                        </p:tgtEl>
                                      </p:cBhvr>
                                    </p:animEffect>
                                  </p:childTnLst>
                                </p:cTn>
                              </p:par>
                              <p:par>
                                <p:cTn id="60" presetID="10" presetClass="entr" presetSubtype="0" fill="hold" nodeType="withEffect">
                                  <p:stCondLst>
                                    <p:cond delay="0"/>
                                  </p:stCondLst>
                                  <p:childTnLst>
                                    <p:set>
                                      <p:cBhvr>
                                        <p:cTn id="61" dur="1" fill="hold">
                                          <p:stCondLst>
                                            <p:cond delay="0"/>
                                          </p:stCondLst>
                                        </p:cTn>
                                        <p:tgtEl>
                                          <p:spTgt spid="224"/>
                                        </p:tgtEl>
                                        <p:attrNameLst>
                                          <p:attrName>style.visibility</p:attrName>
                                        </p:attrNameLst>
                                      </p:cBhvr>
                                      <p:to>
                                        <p:strVal val="visible"/>
                                      </p:to>
                                    </p:set>
                                    <p:animEffect transition="in" filter="fade">
                                      <p:cBhvr>
                                        <p:cTn id="62" dur="200" fill="hold"/>
                                        <p:tgtEl>
                                          <p:spTgt spid="224"/>
                                        </p:tgtEl>
                                      </p:cBhvr>
                                    </p:animEffect>
                                  </p:childTnLst>
                                </p:cTn>
                              </p:par>
                              <p:par>
                                <p:cTn id="63" presetID="10" presetClass="entr" presetSubtype="0" fill="hold" nodeType="withEffect">
                                  <p:stCondLst>
                                    <p:cond delay="0"/>
                                  </p:stCondLst>
                                  <p:childTnLst>
                                    <p:set>
                                      <p:cBhvr>
                                        <p:cTn id="64" dur="1" fill="hold">
                                          <p:stCondLst>
                                            <p:cond delay="0"/>
                                          </p:stCondLst>
                                        </p:cTn>
                                        <p:tgtEl>
                                          <p:spTgt spid="225"/>
                                        </p:tgtEl>
                                        <p:attrNameLst>
                                          <p:attrName>style.visibility</p:attrName>
                                        </p:attrNameLst>
                                      </p:cBhvr>
                                      <p:to>
                                        <p:strVal val="visible"/>
                                      </p:to>
                                    </p:set>
                                    <p:animEffect transition="in" filter="fade">
                                      <p:cBhvr>
                                        <p:cTn id="65" dur="200" fill="hold"/>
                                        <p:tgtEl>
                                          <p:spTgt spid="225"/>
                                        </p:tgtEl>
                                      </p:cBhvr>
                                    </p:animEffect>
                                  </p:childTnLst>
                                </p:cTn>
                              </p:par>
                              <p:par>
                                <p:cTn id="66" presetID="10" presetClass="entr" presetSubtype="0" fill="hold" nodeType="withEffect">
                                  <p:stCondLst>
                                    <p:cond delay="0"/>
                                  </p:stCondLst>
                                  <p:childTnLst>
                                    <p:set>
                                      <p:cBhvr>
                                        <p:cTn id="67" dur="1" fill="hold">
                                          <p:stCondLst>
                                            <p:cond delay="0"/>
                                          </p:stCondLst>
                                        </p:cTn>
                                        <p:tgtEl>
                                          <p:spTgt spid="226"/>
                                        </p:tgtEl>
                                        <p:attrNameLst>
                                          <p:attrName>style.visibility</p:attrName>
                                        </p:attrNameLst>
                                      </p:cBhvr>
                                      <p:to>
                                        <p:strVal val="visible"/>
                                      </p:to>
                                    </p:set>
                                    <p:animEffect transition="in" filter="fade">
                                      <p:cBhvr>
                                        <p:cTn id="68" dur="200" fill="hold"/>
                                        <p:tgtEl>
                                          <p:spTgt spid="226"/>
                                        </p:tgtEl>
                                      </p:cBhvr>
                                    </p:animEffect>
                                  </p:childTnLst>
                                </p:cTn>
                              </p:par>
                              <p:par>
                                <p:cTn id="69" presetID="10" presetClass="entr" presetSubtype="0" fill="hold" nodeType="withEffect">
                                  <p:stCondLst>
                                    <p:cond delay="0"/>
                                  </p:stCondLst>
                                  <p:childTnLst>
                                    <p:set>
                                      <p:cBhvr>
                                        <p:cTn id="70" dur="1" fill="hold">
                                          <p:stCondLst>
                                            <p:cond delay="0"/>
                                          </p:stCondLst>
                                        </p:cTn>
                                        <p:tgtEl>
                                          <p:spTgt spid="227"/>
                                        </p:tgtEl>
                                        <p:attrNameLst>
                                          <p:attrName>style.visibility</p:attrName>
                                        </p:attrNameLst>
                                      </p:cBhvr>
                                      <p:to>
                                        <p:strVal val="visible"/>
                                      </p:to>
                                    </p:set>
                                    <p:animEffect transition="in" filter="fade">
                                      <p:cBhvr>
                                        <p:cTn id="71" dur="200" fill="hold"/>
                                        <p:tgtEl>
                                          <p:spTgt spid="227"/>
                                        </p:tgtEl>
                                      </p:cBhvr>
                                    </p:animEffect>
                                  </p:childTnLst>
                                </p:cTn>
                              </p:par>
                              <p:par>
                                <p:cTn id="72" presetID="10" presetClass="entr" presetSubtype="0" fill="hold" nodeType="withEffect">
                                  <p:stCondLst>
                                    <p:cond delay="0"/>
                                  </p:stCondLst>
                                  <p:childTnLst>
                                    <p:set>
                                      <p:cBhvr>
                                        <p:cTn id="73" dur="1" fill="hold">
                                          <p:stCondLst>
                                            <p:cond delay="0"/>
                                          </p:stCondLst>
                                        </p:cTn>
                                        <p:tgtEl>
                                          <p:spTgt spid="228"/>
                                        </p:tgtEl>
                                        <p:attrNameLst>
                                          <p:attrName>style.visibility</p:attrName>
                                        </p:attrNameLst>
                                      </p:cBhvr>
                                      <p:to>
                                        <p:strVal val="visible"/>
                                      </p:to>
                                    </p:set>
                                    <p:animEffect transition="in" filter="fade">
                                      <p:cBhvr>
                                        <p:cTn id="74" dur="200" fill="hold"/>
                                        <p:tgtEl>
                                          <p:spTgt spid="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0" name="!!area-name">
            <a:extLst xmlns:a="http://schemas.openxmlformats.org/drawingml/2006/main">
              <a:ext uri="{FF2B5EF4-FFF2-40B4-BE49-F238E27FC236}">
                <a16:creationId xmlns:a16="http://schemas.microsoft.com/office/drawing/2014/main" id="{F4D3E7F5-F8E1-4FC0-9CC2-BD73372B2AA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241" name="mini-map"/>
          <p:cNvPicPr>
            <a:picLocks xmlns:a="http://schemas.openxmlformats.org/drawingml/2006/main" noChangeAspect="1"/>
          </p:cNvPicPr>
          <p:nvPr/>
        </p:nvPicPr>
        <p:blipFill>
          <a:blip xmlns:r="http://schemas.openxmlformats.org/officeDocument/2006/relationships" xmlns:a="http://schemas.openxmlformats.org/drawingml/2006/main" r:embed="Rfda03d75aa74405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2" name="slide-title">
            <a:extLst xmlns:a="http://schemas.openxmlformats.org/drawingml/2006/main">
              <a:ext uri="{FF2B5EF4-FFF2-40B4-BE49-F238E27FC236}">
                <a16:creationId xmlns:a16="http://schemas.microsoft.com/office/drawing/2014/main" id="{BD8CE084-96D9-49D8-9C86-55AA5D56F45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Every token in the window is now</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your decision.</a:t>
            </a:r>
          </a:p>
        </p:txBody>
      </p:sp>
      <p:sp>
        <p:nvSpPr>
          <p:cNvPr id="233" name="header-divider">
            <a:extLst xmlns:a="http://schemas.openxmlformats.org/drawingml/2006/main">
              <a:ext uri="{FF2B5EF4-FFF2-40B4-BE49-F238E27FC236}">
                <a16:creationId xmlns:a16="http://schemas.microsoft.com/office/drawing/2014/main" id="{CCF6315B-1E54-4826-BAEA-D9BF205EDA5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4" name="11-text-25">
            <a:extLst xmlns:a="http://schemas.openxmlformats.org/drawingml/2006/main">
              <a:ext uri="{FF2B5EF4-FFF2-40B4-BE49-F238E27FC236}">
                <a16:creationId xmlns:a16="http://schemas.microsoft.com/office/drawing/2014/main" id="{BF9146C4-6F47-43F1-B026-D222014D8EBF}"/>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compaction that drops a constraint can produce a wrong answer.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Memory exposed to the wrong user or tenant is a breach.</a:t>
            </a:r>
          </a:p>
        </p:txBody>
      </p:sp>
      <p:sp>
        <p:nvSpPr>
          <p:cNvPr id="235" name="11-shape-26">
            <a:extLst xmlns:a="http://schemas.openxmlformats.org/drawingml/2006/main">
              <a:ext uri="{FF2B5EF4-FFF2-40B4-BE49-F238E27FC236}">
                <a16:creationId xmlns:a16="http://schemas.microsoft.com/office/drawing/2014/main" id="{2D476681-9CB0-4AE4-B59F-76E85AD0B2A0}"/>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236" name="11-shape-27">
            <a:extLst xmlns:a="http://schemas.openxmlformats.org/drawingml/2006/main">
              <a:ext uri="{FF2B5EF4-FFF2-40B4-BE49-F238E27FC236}">
                <a16:creationId xmlns:a16="http://schemas.microsoft.com/office/drawing/2014/main" id="{7613DEDC-CD2E-4E30-843A-1A860997530E}"/>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37" name="11-text-28">
            <a:extLst xmlns:a="http://schemas.openxmlformats.org/drawingml/2006/main">
              <a:ext uri="{FF2B5EF4-FFF2-40B4-BE49-F238E27FC236}">
                <a16:creationId xmlns:a16="http://schemas.microsoft.com/office/drawing/2014/main" id="{47A9AD84-3E7E-4697-BA6F-126E06DAB971}"/>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238" name="11-text-29">
            <a:extLst xmlns:a="http://schemas.openxmlformats.org/drawingml/2006/main">
              <a:ext uri="{FF2B5EF4-FFF2-40B4-BE49-F238E27FC236}">
                <a16:creationId xmlns:a16="http://schemas.microsoft.com/office/drawing/2014/main" id="{180D6FE4-720A-4E08-BBC2-F2967000C181}"/>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
        <p:nvSpPr>
          <p:cNvPr id="239" name="narrative-number">
            <a:extLst xmlns:a="http://schemas.openxmlformats.org/drawingml/2006/main">
              <a:ext uri="{FF2B5EF4-FFF2-40B4-BE49-F238E27FC236}">
                <a16:creationId xmlns:a16="http://schemas.microsoft.com/office/drawing/2014/main" id="{A235C32F-490D-49F0-B133-6ED9B24BD95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311776902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5"/>
                                        </p:tgtEl>
                                        <p:attrNameLst>
                                          <p:attrName>style.visibility</p:attrName>
                                        </p:attrNameLst>
                                      </p:cBhvr>
                                      <p:to>
                                        <p:strVal val="visible"/>
                                      </p:to>
                                    </p:set>
                                    <p:animEffect transition="in" filter="fade">
                                      <p:cBhvr>
                                        <p:cTn id="7" dur="300" fill="hold"/>
                                        <p:tgtEl>
                                          <p:spTgt spid="235"/>
                                        </p:tgtEl>
                                      </p:cBhvr>
                                    </p:animEffect>
                                  </p:childTnLst>
                                </p:cTn>
                              </p:par>
                              <p:par>
                                <p:cTn id="8" presetID="10" presetClass="entr" presetSubtype="0" fill="hold" nodeType="withEffect">
                                  <p:stCondLst>
                                    <p:cond delay="0"/>
                                  </p:stCondLst>
                                  <p:childTnLst>
                                    <p:set>
                                      <p:cBhvr>
                                        <p:cTn id="9" dur="1" fill="hold">
                                          <p:stCondLst>
                                            <p:cond delay="0"/>
                                          </p:stCondLst>
                                        </p:cTn>
                                        <p:tgtEl>
                                          <p:spTgt spid="236"/>
                                        </p:tgtEl>
                                        <p:attrNameLst>
                                          <p:attrName>style.visibility</p:attrName>
                                        </p:attrNameLst>
                                      </p:cBhvr>
                                      <p:to>
                                        <p:strVal val="visible"/>
                                      </p:to>
                                    </p:set>
                                    <p:animEffect transition="in" filter="fade">
                                      <p:cBhvr>
                                        <p:cTn id="10" dur="300" fill="hold"/>
                                        <p:tgtEl>
                                          <p:spTgt spid="236"/>
                                        </p:tgtEl>
                                      </p:cBhvr>
                                    </p:animEffect>
                                  </p:childTnLst>
                                </p:cTn>
                              </p:par>
                              <p:par>
                                <p:cTn id="11" presetID="10" presetClass="entr" presetSubtype="0" fill="hold" nodeType="withEffect">
                                  <p:stCondLst>
                                    <p:cond delay="0"/>
                                  </p:stCondLst>
                                  <p:childTnLst>
                                    <p:set>
                                      <p:cBhvr>
                                        <p:cTn id="12" dur="1" fill="hold">
                                          <p:stCondLst>
                                            <p:cond delay="0"/>
                                          </p:stCondLst>
                                        </p:cTn>
                                        <p:tgtEl>
                                          <p:spTgt spid="237"/>
                                        </p:tgtEl>
                                        <p:attrNameLst>
                                          <p:attrName>style.visibility</p:attrName>
                                        </p:attrNameLst>
                                      </p:cBhvr>
                                      <p:to>
                                        <p:strVal val="visible"/>
                                      </p:to>
                                    </p:set>
                                    <p:animEffect transition="in" filter="fade">
                                      <p:cBhvr>
                                        <p:cTn id="13" dur="300" fill="hold"/>
                                        <p:tgtEl>
                                          <p:spTgt spid="237"/>
                                        </p:tgtEl>
                                      </p:cBhvr>
                                    </p:animEffect>
                                  </p:childTnLst>
                                </p:cTn>
                              </p:par>
                              <p:par>
                                <p:cTn id="14" presetID="10" presetClass="entr" presetSubtype="0" fill="hold" nodeType="withEffect">
                                  <p:stCondLst>
                                    <p:cond delay="0"/>
                                  </p:stCondLst>
                                  <p:childTnLst>
                                    <p:set>
                                      <p:cBhvr>
                                        <p:cTn id="15" dur="1" fill="hold">
                                          <p:stCondLst>
                                            <p:cond delay="0"/>
                                          </p:stCondLst>
                                        </p:cTn>
                                        <p:tgtEl>
                                          <p:spTgt spid="238"/>
                                        </p:tgtEl>
                                        <p:attrNameLst>
                                          <p:attrName>style.visibility</p:attrName>
                                        </p:attrNameLst>
                                      </p:cBhvr>
                                      <p:to>
                                        <p:strVal val="visible"/>
                                      </p:to>
                                    </p:set>
                                    <p:animEffect transition="in" filter="fade">
                                      <p:cBhvr>
                                        <p:cTn id="16" dur="300" fill="hold"/>
                                        <p:tgtEl>
                                          <p:spTgt spid="2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0" name="!!area-header">
            <a:extLst xmlns:a="http://schemas.openxmlformats.org/drawingml/2006/main">
              <a:ext uri="{FF2B5EF4-FFF2-40B4-BE49-F238E27FC236}">
                <a16:creationId xmlns:a16="http://schemas.microsoft.com/office/drawing/2014/main" id="{6DA89E1E-62F5-49DD-8C80-758CDFB4514A}"/>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41" name="!!area-name">
            <a:extLst xmlns:a="http://schemas.openxmlformats.org/drawingml/2006/main">
              <a:ext uri="{FF2B5EF4-FFF2-40B4-BE49-F238E27FC236}">
                <a16:creationId xmlns:a16="http://schemas.microsoft.com/office/drawing/2014/main" id="{3B053557-6032-4506-B925-45A3363EED05}"/>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Tools and extensibility</a:t>
            </a:r>
          </a:p>
        </p:txBody>
      </p:sp>
      <p:sp>
        <p:nvSpPr>
          <p:cNvPr id="242" name="!!area-beat">
            <a:extLst xmlns:a="http://schemas.openxmlformats.org/drawingml/2006/main">
              <a:ext uri="{FF2B5EF4-FFF2-40B4-BE49-F238E27FC236}">
                <a16:creationId xmlns:a16="http://schemas.microsoft.com/office/drawing/2014/main" id="{6B4F0A88-AE10-4823-800E-015199A7145D}"/>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243" name="header-divider">
            <a:extLst xmlns:a="http://schemas.openxmlformats.org/drawingml/2006/main">
              <a:ext uri="{FF2B5EF4-FFF2-40B4-BE49-F238E27FC236}">
                <a16:creationId xmlns:a16="http://schemas.microsoft.com/office/drawing/2014/main" id="{33366021-7B56-430C-A653-401197189257}"/>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4" name="!!screenshot-MCP configuration">
            <a:extLst xmlns:a="http://schemas.openxmlformats.org/drawingml/2006/main">
              <a:ext uri="{FF2B5EF4-FFF2-40B4-BE49-F238E27FC236}">
                <a16:creationId xmlns:a16="http://schemas.microsoft.com/office/drawing/2014/main" id="{C3961686-266C-41F6-A582-DC112AEAA869}"/>
              </a:ext>
            </a:extLst>
          </p:cNvPr>
          <p:cNvSpPr>
            <a:spLocks xmlns:a="http://schemas.openxmlformats.org/drawingml/2006/main"/>
          </p:cNvSpPr>
          <p:nvPr/>
        </p:nvSpPr>
        <p:spPr>
          <a:xfrm xmlns:a="http://schemas.openxmlformats.org/drawingml/2006/main">
            <a:off x="609600" y="2082800"/>
            <a:ext cx="5334000" cy="2870200"/>
          </a:xfrm>
          <a:prstGeom xmlns:a="http://schemas.openxmlformats.org/drawingml/2006/main" prst="roundRect">
            <a:avLst>
              <a:gd name="adj" fmla="val 1770"/>
            </a:avLst>
          </a:prstGeom>
          <a:solidFill xmlns:a="http://schemas.openxmlformats.org/drawingml/2006/main">
            <a:srgbClr val="303236"/>
          </a:solidFill>
          <a:ln xmlns:a="http://schemas.openxmlformats.org/drawingml/2006/main" w="12700">
            <a:solidFill>
              <a:srgbClr val="4C4D50"/>
            </a:solidFill>
          </a:ln>
        </p:spPr>
      </p:sp>
      <p:sp>
        <p:nvSpPr>
          <p:cNvPr id="245" name="12-text-1">
            <a:extLst xmlns:a="http://schemas.openxmlformats.org/drawingml/2006/main">
              <a:ext uri="{FF2B5EF4-FFF2-40B4-BE49-F238E27FC236}">
                <a16:creationId xmlns:a16="http://schemas.microsoft.com/office/drawing/2014/main" id="{A06594CC-16EC-4EDF-AF51-A3D3A56A8E1E}"/>
              </a:ext>
            </a:extLst>
          </p:cNvPr>
          <p:cNvSpPr>
            <a:spLocks xmlns:a="http://schemas.openxmlformats.org/drawingml/2006/main"/>
          </p:cNvSpPr>
          <p:nvPr/>
        </p:nvSpPr>
        <p:spPr>
          <a:xfrm xmlns:a="http://schemas.openxmlformats.org/drawingml/2006/main">
            <a:off x="8128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246" name="12-text-2">
            <a:extLst xmlns:a="http://schemas.openxmlformats.org/drawingml/2006/main">
              <a:ext uri="{FF2B5EF4-FFF2-40B4-BE49-F238E27FC236}">
                <a16:creationId xmlns:a16="http://schemas.microsoft.com/office/drawing/2014/main" id="{12259742-F662-43DC-85C2-03CC5064FEFF}"/>
              </a:ext>
            </a:extLst>
          </p:cNvPr>
          <p:cNvSpPr>
            <a:spLocks xmlns:a="http://schemas.openxmlformats.org/drawingml/2006/main"/>
          </p:cNvSpPr>
          <p:nvPr/>
        </p:nvSpPr>
        <p:spPr>
          <a:xfrm xmlns:a="http://schemas.openxmlformats.org/drawingml/2006/main">
            <a:off x="8128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MCP server configuration</a:t>
            </a:r>
          </a:p>
        </p:txBody>
      </p:sp>
      <p:sp>
        <p:nvSpPr>
          <p:cNvPr id="247" name="!!screenshot-The permission prompt">
            <a:extLst xmlns:a="http://schemas.openxmlformats.org/drawingml/2006/main">
              <a:ext uri="{FF2B5EF4-FFF2-40B4-BE49-F238E27FC236}">
                <a16:creationId xmlns:a16="http://schemas.microsoft.com/office/drawing/2014/main" id="{C6EABB2D-0D5C-49B4-AC86-217D286A51F6}"/>
              </a:ext>
            </a:extLst>
          </p:cNvPr>
          <p:cNvSpPr>
            <a:spLocks xmlns:a="http://schemas.openxmlformats.org/drawingml/2006/main"/>
          </p:cNvSpPr>
          <p:nvPr/>
        </p:nvSpPr>
        <p:spPr>
          <a:xfrm xmlns:a="http://schemas.openxmlformats.org/drawingml/2006/main">
            <a:off x="6248400" y="2082800"/>
            <a:ext cx="5334000" cy="2870200"/>
          </a:xfrm>
          <a:prstGeom xmlns:a="http://schemas.openxmlformats.org/drawingml/2006/main" prst="roundRect">
            <a:avLst>
              <a:gd name="adj" fmla="val 1770"/>
            </a:avLst>
          </a:prstGeom>
          <a:solidFill xmlns:a="http://schemas.openxmlformats.org/drawingml/2006/main">
            <a:srgbClr val="303236"/>
          </a:solidFill>
          <a:ln xmlns:a="http://schemas.openxmlformats.org/drawingml/2006/main" w="12700">
            <a:solidFill>
              <a:srgbClr val="4C4D50"/>
            </a:solidFill>
          </a:ln>
        </p:spPr>
      </p:sp>
      <p:sp>
        <p:nvSpPr>
          <p:cNvPr id="248" name="12-text-3">
            <a:extLst xmlns:a="http://schemas.openxmlformats.org/drawingml/2006/main">
              <a:ext uri="{FF2B5EF4-FFF2-40B4-BE49-F238E27FC236}">
                <a16:creationId xmlns:a16="http://schemas.microsoft.com/office/drawing/2014/main" id="{0934D7F9-2B65-4090-B221-728F8D4AE87C}"/>
              </a:ext>
            </a:extLst>
          </p:cNvPr>
          <p:cNvSpPr>
            <a:spLocks xmlns:a="http://schemas.openxmlformats.org/drawingml/2006/main"/>
          </p:cNvSpPr>
          <p:nvPr/>
        </p:nvSpPr>
        <p:spPr>
          <a:xfrm xmlns:a="http://schemas.openxmlformats.org/drawingml/2006/main">
            <a:off x="64516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249" name="12-text-4">
            <a:extLst xmlns:a="http://schemas.openxmlformats.org/drawingml/2006/main">
              <a:ext uri="{FF2B5EF4-FFF2-40B4-BE49-F238E27FC236}">
                <a16:creationId xmlns:a16="http://schemas.microsoft.com/office/drawing/2014/main" id="{31DF594F-B0F0-47ED-916A-630E0B609312}"/>
              </a:ext>
            </a:extLst>
          </p:cNvPr>
          <p:cNvSpPr>
            <a:spLocks xmlns:a="http://schemas.openxmlformats.org/drawingml/2006/main"/>
          </p:cNvSpPr>
          <p:nvPr/>
        </p:nvSpPr>
        <p:spPr>
          <a:xfrm xmlns:a="http://schemas.openxmlformats.org/drawingml/2006/main">
            <a:off x="64516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Live shell-command approval prompt</a:t>
            </a:r>
          </a:p>
        </p:txBody>
      </p:sp>
      <p:sp>
        <p:nvSpPr>
          <p:cNvPr id="250" name="12-text-5">
            <a:extLst xmlns:a="http://schemas.openxmlformats.org/drawingml/2006/main">
              <a:ext uri="{FF2B5EF4-FFF2-40B4-BE49-F238E27FC236}">
                <a16:creationId xmlns:a16="http://schemas.microsoft.com/office/drawing/2014/main" id="{98FA0AFF-3864-46ED-95CC-E6E8959244EF}"/>
              </a:ext>
            </a:extLst>
          </p:cNvPr>
          <p:cNvSpPr>
            <a:spLocks xmlns:a="http://schemas.openxmlformats.org/drawingml/2006/main"/>
          </p:cNvSpPr>
          <p:nvPr/>
        </p:nvSpPr>
        <p:spPr>
          <a:xfrm xmlns:a="http://schemas.openxmlformats.org/drawingml/2006/main">
            <a:off x="609600" y="5054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Codex, </a:t>
            </a:r>
            <a:r>
              <a:rPr b="0">
                <a:solidFill>
                  <a:srgbClr val="FFFCF5"/>
                </a:solidFill>
                <a:latin typeface="Consolas"/>
                <a:ea typeface="Consolas"/>
                <a:cs typeface="Consolas"/>
              </a:rPr>
              <a:t>config.toml</a:t>
            </a:r>
          </a:p>
        </p:txBody>
      </p:sp>
      <p:sp>
        <p:nvSpPr>
          <p:cNvPr id="251" name="12-text-6">
            <a:extLst xmlns:a="http://schemas.openxmlformats.org/drawingml/2006/main">
              <a:ext uri="{FF2B5EF4-FFF2-40B4-BE49-F238E27FC236}">
                <a16:creationId xmlns:a16="http://schemas.microsoft.com/office/drawing/2014/main" id="{54D89BF1-109B-4BF6-9EAB-5429806CB5F8}"/>
              </a:ext>
            </a:extLst>
          </p:cNvPr>
          <p:cNvSpPr>
            <a:spLocks xmlns:a="http://schemas.openxmlformats.org/drawingml/2006/main"/>
          </p:cNvSpPr>
          <p:nvPr/>
        </p:nvSpPr>
        <p:spPr>
          <a:xfrm xmlns:a="http://schemas.openxmlformats.org/drawingml/2006/main">
            <a:off x="6248400" y="5054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Shell command approval</a:t>
            </a:r>
          </a:p>
        </p:txBody>
      </p:sp>
      <p:sp>
        <p:nvSpPr>
          <p:cNvPr id="252" name="12-text-7">
            <a:extLst xmlns:a="http://schemas.openxmlformats.org/drawingml/2006/main">
              <a:ext uri="{FF2B5EF4-FFF2-40B4-BE49-F238E27FC236}">
                <a16:creationId xmlns:a16="http://schemas.microsoft.com/office/drawing/2014/main" id="{06D2A91A-7B32-4382-8149-A26EC5AD9897}"/>
              </a:ext>
            </a:extLst>
          </p:cNvPr>
          <p:cNvSpPr>
            <a:spLocks xmlns:a="http://schemas.openxmlformats.org/drawingml/2006/main"/>
          </p:cNvSpPr>
          <p:nvPr/>
        </p:nvSpPr>
        <p:spPr>
          <a:xfrm xmlns:a="http://schemas.openxmlformats.org/drawingml/2006/main">
            <a:off x="609600" y="5511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Codex sandbox: read-only · workspace-write · full access</a:t>
            </a:r>
          </a:p>
        </p:txBody>
      </p:sp>
      <p:sp>
        <p:nvSpPr>
          <p:cNvPr id="253" name="12-text-8">
            <a:extLst xmlns:a="http://schemas.openxmlformats.org/drawingml/2006/main">
              <a:ext uri="{FF2B5EF4-FFF2-40B4-BE49-F238E27FC236}">
                <a16:creationId xmlns:a16="http://schemas.microsoft.com/office/drawing/2014/main" id="{C1E3E7D0-8C74-4FB0-ABF7-0D4F14B256CE}"/>
              </a:ext>
            </a:extLst>
          </p:cNvPr>
          <p:cNvSpPr>
            <a:spLocks xmlns:a="http://schemas.openxmlformats.org/drawingml/2006/main"/>
          </p:cNvSpPr>
          <p:nvPr/>
        </p:nvSpPr>
        <p:spPr>
          <a:xfrm xmlns:a="http://schemas.openxmlformats.org/drawingml/2006/main">
            <a:off x="609600" y="5918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Devin CLI modes: Normal · Accept Edits · Smart · Bypass · Autonomous</a:t>
            </a:r>
          </a:p>
        </p:txBody>
      </p:sp>
      <p:sp>
        <p:nvSpPr>
          <p:cNvPr id="254" name="narrative-number">
            <a:extLst xmlns:a="http://schemas.openxmlformats.org/drawingml/2006/main">
              <a:ext uri="{FF2B5EF4-FFF2-40B4-BE49-F238E27FC236}">
                <a16:creationId xmlns:a16="http://schemas.microsoft.com/office/drawing/2014/main" id="{DDC2E022-45E0-4D73-A632-95BB2B3B62C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127557574"/>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5" name="!!area-name">
            <a:extLst xmlns:a="http://schemas.openxmlformats.org/drawingml/2006/main">
              <a:ext uri="{FF2B5EF4-FFF2-40B4-BE49-F238E27FC236}">
                <a16:creationId xmlns:a16="http://schemas.microsoft.com/office/drawing/2014/main" id="{F7BC5615-FD3A-4AC3-AF6B-350933ADE06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user</a:t>
            </a:r>
          </a:p>
        </p:txBody>
      </p:sp>
      <p:pic>
        <p:nvPicPr>
          <p:cNvPr id="271" name="mini-map"/>
          <p:cNvPicPr>
            <a:picLocks xmlns:a="http://schemas.openxmlformats.org/drawingml/2006/main" noChangeAspect="1"/>
          </p:cNvPicPr>
          <p:nvPr/>
        </p:nvPicPr>
        <p:blipFill>
          <a:blip xmlns:r="http://schemas.openxmlformats.org/officeDocument/2006/relationships" xmlns:a="http://schemas.openxmlformats.org/drawingml/2006/main" r:embed="R1248417e3976485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7" name="header-divider">
            <a:extLst xmlns:a="http://schemas.openxmlformats.org/drawingml/2006/main">
              <a:ext uri="{FF2B5EF4-FFF2-40B4-BE49-F238E27FC236}">
                <a16:creationId xmlns:a16="http://schemas.microsoft.com/office/drawing/2014/main" id="{B50BED1A-285C-4D75-877A-2E496425E6B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58" name="!!screenshot-MCP configuration">
            <a:extLst xmlns:a="http://schemas.openxmlformats.org/drawingml/2006/main">
              <a:ext uri="{FF2B5EF4-FFF2-40B4-BE49-F238E27FC236}">
                <a16:creationId xmlns:a16="http://schemas.microsoft.com/office/drawing/2014/main" id="{DD29D7F5-1BCA-41FE-8BAE-7AADF66A636F}"/>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59" name="12b-text-1">
            <a:extLst xmlns:a="http://schemas.openxmlformats.org/drawingml/2006/main">
              <a:ext uri="{FF2B5EF4-FFF2-40B4-BE49-F238E27FC236}">
                <a16:creationId xmlns:a16="http://schemas.microsoft.com/office/drawing/2014/main" id="{407E1B2A-9973-4D67-B5A7-C63BEEBF7754}"/>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60" name="12b-text-2">
            <a:extLst xmlns:a="http://schemas.openxmlformats.org/drawingml/2006/main">
              <a:ext uri="{FF2B5EF4-FFF2-40B4-BE49-F238E27FC236}">
                <a16:creationId xmlns:a16="http://schemas.microsoft.com/office/drawing/2014/main" id="{FA224380-2BB8-4FE5-AB94-00909BA2C9E4}"/>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MCP config</a:t>
            </a:r>
          </a:p>
        </p:txBody>
      </p:sp>
      <p:sp>
        <p:nvSpPr>
          <p:cNvPr id="261" name="!!screenshot-The permission prompt">
            <a:extLst xmlns:a="http://schemas.openxmlformats.org/drawingml/2006/main">
              <a:ext uri="{FF2B5EF4-FFF2-40B4-BE49-F238E27FC236}">
                <a16:creationId xmlns:a16="http://schemas.microsoft.com/office/drawing/2014/main" id="{FB458184-429E-496B-A65E-659FF7133EED}"/>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62" name="12b-text-3">
            <a:extLst xmlns:a="http://schemas.openxmlformats.org/drawingml/2006/main">
              <a:ext uri="{FF2B5EF4-FFF2-40B4-BE49-F238E27FC236}">
                <a16:creationId xmlns:a16="http://schemas.microsoft.com/office/drawing/2014/main" id="{48A6855B-E0A0-48F9-9A80-7B5B458B962F}"/>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63" name="12b-text-4">
            <a:extLst xmlns:a="http://schemas.openxmlformats.org/drawingml/2006/main">
              <a:ext uri="{FF2B5EF4-FFF2-40B4-BE49-F238E27FC236}">
                <a16:creationId xmlns:a16="http://schemas.microsoft.com/office/drawing/2014/main" id="{6C2A3149-9A10-4D4F-9424-4EE72504990B}"/>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Approval</a:t>
            </a:r>
          </a:p>
        </p:txBody>
      </p:sp>
      <p:sp>
        <p:nvSpPr>
          <p:cNvPr id="264" name="12b-text-5">
            <a:extLst xmlns:a="http://schemas.openxmlformats.org/drawingml/2006/main">
              <a:ext uri="{FF2B5EF4-FFF2-40B4-BE49-F238E27FC236}">
                <a16:creationId xmlns:a16="http://schemas.microsoft.com/office/drawing/2014/main" id="{4CA46F29-B80F-4F23-B285-219FF39829B2}"/>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Design the tool for the caller:</a:t>
            </a:r>
          </a:p>
        </p:txBody>
      </p:sp>
      <p:sp>
        <p:nvSpPr>
          <p:cNvPr id="265" name="12b-text-6">
            <a:extLst xmlns:a="http://schemas.openxmlformats.org/drawingml/2006/main">
              <a:ext uri="{FF2B5EF4-FFF2-40B4-BE49-F238E27FC236}">
                <a16:creationId xmlns:a16="http://schemas.microsoft.com/office/drawing/2014/main" id="{2353F069-6F19-4E19-BF50-B7CAE5D8CEBA}"/>
              </a:ext>
            </a:extLst>
          </p:cNvPr>
          <p:cNvSpPr>
            <a:spLocks xmlns:a="http://schemas.openxmlformats.org/drawingml/2006/main"/>
          </p:cNvSpPr>
          <p:nvPr/>
        </p:nvSpPr>
        <p:spPr>
          <a:xfrm xmlns:a="http://schemas.openxmlformats.org/drawingml/2006/main">
            <a:off x="609600" y="29972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Consider consolidation for the task. One </a:t>
            </a:r>
            <a:r>
              <a:rPr b="0">
                <a:solidFill>
                  <a:srgbClr val="1064F8"/>
                </a:solidFill>
                <a:latin typeface="Consolas"/>
                <a:ea typeface="Consolas"/>
                <a:cs typeface="Consolas"/>
              </a:rPr>
              <a:t>schedule_event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can combine several API operations.</a:t>
            </a:r>
          </a:p>
        </p:txBody>
      </p:sp>
      <p:sp>
        <p:nvSpPr>
          <p:cNvPr id="266" name="12b-text-7">
            <a:extLst xmlns:a="http://schemas.openxmlformats.org/drawingml/2006/main">
              <a:ext uri="{FF2B5EF4-FFF2-40B4-BE49-F238E27FC236}">
                <a16:creationId xmlns:a16="http://schemas.microsoft.com/office/drawing/2014/main" id="{E7A9898C-B367-4503-B3BB-65AC5E27C8EF}"/>
              </a:ext>
            </a:extLst>
          </p:cNvPr>
          <p:cNvSpPr>
            <a:spLocks xmlns:a="http://schemas.openxmlformats.org/drawingml/2006/main"/>
          </p:cNvSpPr>
          <p:nvPr/>
        </p:nvSpPr>
        <p:spPr>
          <a:xfrm xmlns:a="http://schemas.openxmlformats.org/drawingml/2006/main">
            <a:off x="609600" y="39370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Namespace. Prefix versus suffix moved the evals.</a:t>
            </a:r>
          </a:p>
        </p:txBody>
      </p:sp>
      <p:sp>
        <p:nvSpPr>
          <p:cNvPr id="267" name="12b-text-8">
            <a:extLst xmlns:a="http://schemas.openxmlformats.org/drawingml/2006/main">
              <a:ext uri="{FF2B5EF4-FFF2-40B4-BE49-F238E27FC236}">
                <a16:creationId xmlns:a16="http://schemas.microsoft.com/office/drawing/2014/main" id="{7870BE6F-32C8-4AFC-A214-6D0BC4C80901}"/>
              </a:ext>
            </a:extLst>
          </p:cNvPr>
          <p:cNvSpPr>
            <a:spLocks xmlns:a="http://schemas.openxmlformats.org/drawingml/2006/main"/>
          </p:cNvSpPr>
          <p:nvPr/>
        </p:nvSpPr>
        <p:spPr>
          <a:xfrm xmlns:a="http://schemas.openxmlformats.org/drawingml/2006/main">
            <a:off x="609600" y="44958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Return meaningful names alongside stable IDs needed to act.</a:t>
            </a:r>
          </a:p>
        </p:txBody>
      </p:sp>
      <p:sp>
        <p:nvSpPr>
          <p:cNvPr id="268" name="12b-text-9">
            <a:extLst xmlns:a="http://schemas.openxmlformats.org/drawingml/2006/main">
              <a:ext uri="{FF2B5EF4-FFF2-40B4-BE49-F238E27FC236}">
                <a16:creationId xmlns:a16="http://schemas.microsoft.com/office/drawing/2014/main" id="{00C04912-429B-40D2-BB71-CF52FD0070E4}"/>
              </a:ext>
            </a:extLst>
          </p:cNvPr>
          <p:cNvSpPr>
            <a:spLocks xmlns:a="http://schemas.openxmlformats.org/drawingml/2006/main"/>
          </p:cNvSpPr>
          <p:nvPr/>
        </p:nvSpPr>
        <p:spPr>
          <a:xfrm xmlns:a="http://schemas.openxmlformats.org/drawingml/2006/main">
            <a:off x="609600" y="50546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Offer concise or detailed results: 72 tokens versus 206</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 Anthropic's example.</a:t>
            </a:r>
          </a:p>
        </p:txBody>
      </p:sp>
      <p:sp>
        <p:nvSpPr>
          <p:cNvPr id="269" name="narrative-number">
            <a:extLst xmlns:a="http://schemas.openxmlformats.org/drawingml/2006/main">
              <a:ext uri="{FF2B5EF4-FFF2-40B4-BE49-F238E27FC236}">
                <a16:creationId xmlns:a16="http://schemas.microsoft.com/office/drawing/2014/main" id="{06DCC956-BEB2-4175-BDF5-61137C21C15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3958748038"/>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0" name="!!area-name">
            <a:extLst xmlns:a="http://schemas.openxmlformats.org/drawingml/2006/main">
              <a:ext uri="{FF2B5EF4-FFF2-40B4-BE49-F238E27FC236}">
                <a16:creationId xmlns:a16="http://schemas.microsoft.com/office/drawing/2014/main" id="{1A59208D-B406-4FDD-A3AC-D58420A0FF7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user</a:t>
            </a:r>
          </a:p>
        </p:txBody>
      </p:sp>
      <p:pic>
        <p:nvPicPr>
          <p:cNvPr id="284" name="mini-map"/>
          <p:cNvPicPr>
            <a:picLocks xmlns:a="http://schemas.openxmlformats.org/drawingml/2006/main" noChangeAspect="1"/>
          </p:cNvPicPr>
          <p:nvPr/>
        </p:nvPicPr>
        <p:blipFill>
          <a:blip xmlns:r="http://schemas.openxmlformats.org/officeDocument/2006/relationships" xmlns:a="http://schemas.openxmlformats.org/drawingml/2006/main" r:embed="R9907e4f2c8aa47c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2" name="header-divider">
            <a:extLst xmlns:a="http://schemas.openxmlformats.org/drawingml/2006/main">
              <a:ext uri="{FF2B5EF4-FFF2-40B4-BE49-F238E27FC236}">
                <a16:creationId xmlns:a16="http://schemas.microsoft.com/office/drawing/2014/main" id="{7FE27C44-EBCE-421C-8AE6-CB69DD7E27F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3" name="!!screenshot-MCP configuration">
            <a:extLst xmlns:a="http://schemas.openxmlformats.org/drawingml/2006/main">
              <a:ext uri="{FF2B5EF4-FFF2-40B4-BE49-F238E27FC236}">
                <a16:creationId xmlns:a16="http://schemas.microsoft.com/office/drawing/2014/main" id="{3D6564B9-0749-40C9-809C-52AC194CEE35}"/>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74" name="12b-text-1">
            <a:extLst xmlns:a="http://schemas.openxmlformats.org/drawingml/2006/main">
              <a:ext uri="{FF2B5EF4-FFF2-40B4-BE49-F238E27FC236}">
                <a16:creationId xmlns:a16="http://schemas.microsoft.com/office/drawing/2014/main" id="{17611E7E-2244-48ED-9EFF-E2E2497D3AC6}"/>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75" name="12b-text-2">
            <a:extLst xmlns:a="http://schemas.openxmlformats.org/drawingml/2006/main">
              <a:ext uri="{FF2B5EF4-FFF2-40B4-BE49-F238E27FC236}">
                <a16:creationId xmlns:a16="http://schemas.microsoft.com/office/drawing/2014/main" id="{7E69D493-ECE3-42A6-93FA-1A70D37D34FB}"/>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MCP config</a:t>
            </a:r>
          </a:p>
        </p:txBody>
      </p:sp>
      <p:sp>
        <p:nvSpPr>
          <p:cNvPr id="276" name="!!screenshot-The permission prompt">
            <a:extLst xmlns:a="http://schemas.openxmlformats.org/drawingml/2006/main">
              <a:ext uri="{FF2B5EF4-FFF2-40B4-BE49-F238E27FC236}">
                <a16:creationId xmlns:a16="http://schemas.microsoft.com/office/drawing/2014/main" id="{9FF9B2E7-035F-4537-8035-420DE0A5F522}"/>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77" name="12b-text-3">
            <a:extLst xmlns:a="http://schemas.openxmlformats.org/drawingml/2006/main">
              <a:ext uri="{FF2B5EF4-FFF2-40B4-BE49-F238E27FC236}">
                <a16:creationId xmlns:a16="http://schemas.microsoft.com/office/drawing/2014/main" id="{7A9A4EBA-3397-4846-9A73-8EEECF45B5FD}"/>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78" name="12b-text-4">
            <a:extLst xmlns:a="http://schemas.openxmlformats.org/drawingml/2006/main">
              <a:ext uri="{FF2B5EF4-FFF2-40B4-BE49-F238E27FC236}">
                <a16:creationId xmlns:a16="http://schemas.microsoft.com/office/drawing/2014/main" id="{15304F03-5EF7-4ADB-8FC9-17476D2BB5FA}"/>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Approval</a:t>
            </a:r>
          </a:p>
        </p:txBody>
      </p:sp>
      <p:sp>
        <p:nvSpPr>
          <p:cNvPr id="279" name="12b-text-10">
            <a:extLst xmlns:a="http://schemas.openxmlformats.org/drawingml/2006/main">
              <a:ext uri="{FF2B5EF4-FFF2-40B4-BE49-F238E27FC236}">
                <a16:creationId xmlns:a16="http://schemas.microsoft.com/office/drawing/2014/main" id="{76DEF409-90CD-4CF9-88CB-96292FA6EA88}"/>
              </a:ext>
            </a:extLst>
          </p:cNvPr>
          <p:cNvSpPr>
            <a:spLocks xmlns:a="http://schemas.openxmlformats.org/drawingml/2006/main"/>
          </p:cNvSpPr>
          <p:nvPr/>
        </p:nvSpPr>
        <p:spPr>
          <a:xfrm xmlns:a="http://schemas.openxmlformats.org/drawingml/2006/main">
            <a:off x="609600" y="24384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Tool-description refinements improved</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Claude Sonnet 3.5 on SWE-bench Verified.</a:t>
            </a:r>
          </a:p>
        </p:txBody>
      </p:sp>
      <p:sp>
        <p:nvSpPr>
          <p:cNvPr id="280" name="12b-text-11">
            <a:extLst xmlns:a="http://schemas.openxmlformats.org/drawingml/2006/main">
              <a:ext uri="{FF2B5EF4-FFF2-40B4-BE49-F238E27FC236}">
                <a16:creationId xmlns:a16="http://schemas.microsoft.com/office/drawing/2014/main" id="{531AF33C-6C99-4BC7-B746-DCA440768485}"/>
              </a:ext>
            </a:extLst>
          </p:cNvPr>
          <p:cNvSpPr>
            <a:spLocks xmlns:a="http://schemas.openxmlformats.org/drawingml/2006/main"/>
          </p:cNvSpPr>
          <p:nvPr/>
        </p:nvSpPr>
        <p:spPr>
          <a:xfrm xmlns:a="http://schemas.openxmlformats.org/drawingml/2006/main">
            <a:off x="609600" y="3860800"/>
            <a:ext cx="10972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Anthropic's five-server example: about 55,000 tokens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before the first message. Tool search reduced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definition overhead by 85%.</a:t>
            </a:r>
          </a:p>
        </p:txBody>
      </p:sp>
      <p:sp>
        <p:nvSpPr>
          <p:cNvPr id="281" name="12b-text-12">
            <a:extLst xmlns:a="http://schemas.openxmlformats.org/drawingml/2006/main">
              <a:ext uri="{FF2B5EF4-FFF2-40B4-BE49-F238E27FC236}">
                <a16:creationId xmlns:a16="http://schemas.microsoft.com/office/drawing/2014/main" id="{8D407BDE-0745-4FCE-A8FC-F342634EBB0F}"/>
              </a:ext>
            </a:extLst>
          </p:cNvPr>
          <p:cNvSpPr>
            <a:spLocks xmlns:a="http://schemas.openxmlformats.org/drawingml/2006/main"/>
          </p:cNvSpPr>
          <p:nvPr/>
        </p:nvSpPr>
        <p:spPr>
          <a:xfrm xmlns:a="http://schemas.openxmlformats.org/drawingml/2006/main">
            <a:off x="609600" y="5689600"/>
            <a:ext cx="109728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The protocol's floor: no token passthrough · minimal scopes · consent before local commands</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 sandboxed execution</a:t>
            </a:r>
          </a:p>
        </p:txBody>
      </p:sp>
      <p:sp>
        <p:nvSpPr>
          <p:cNvPr id="282" name="narrative-number">
            <a:extLst xmlns:a="http://schemas.openxmlformats.org/drawingml/2006/main">
              <a:ext uri="{FF2B5EF4-FFF2-40B4-BE49-F238E27FC236}">
                <a16:creationId xmlns:a16="http://schemas.microsoft.com/office/drawing/2014/main" id="{ABA15AD5-64A3-49B4-B55C-7779F22F80B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28257908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3" name="!!area-name">
            <a:extLst xmlns:a="http://schemas.openxmlformats.org/drawingml/2006/main">
              <a:ext uri="{FF2B5EF4-FFF2-40B4-BE49-F238E27FC236}">
                <a16:creationId xmlns:a16="http://schemas.microsoft.com/office/drawing/2014/main" id="{3D1099E6-B10D-403D-BCDF-BE72A9C1D1B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308" name="mini-map"/>
          <p:cNvPicPr>
            <a:picLocks xmlns:a="http://schemas.openxmlformats.org/drawingml/2006/main" noChangeAspect="1"/>
          </p:cNvPicPr>
          <p:nvPr/>
        </p:nvPicPr>
        <p:blipFill>
          <a:blip xmlns:r="http://schemas.openxmlformats.org/officeDocument/2006/relationships" xmlns:a="http://schemas.openxmlformats.org/drawingml/2006/main" r:embed="R34924d0a709645f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5" name="slide-title">
            <a:extLst xmlns:a="http://schemas.openxmlformats.org/drawingml/2006/main">
              <a:ext uri="{FF2B5EF4-FFF2-40B4-BE49-F238E27FC236}">
                <a16:creationId xmlns:a16="http://schemas.microsoft.com/office/drawing/2014/main" id="{EDC3CA3A-FB7B-424A-898A-5DC592E3C26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write the contract.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build the gate.</a:t>
            </a:r>
          </a:p>
        </p:txBody>
      </p:sp>
      <p:sp>
        <p:nvSpPr>
          <p:cNvPr id="286" name="header-divider">
            <a:extLst xmlns:a="http://schemas.openxmlformats.org/drawingml/2006/main">
              <a:ext uri="{FF2B5EF4-FFF2-40B4-BE49-F238E27FC236}">
                <a16:creationId xmlns:a16="http://schemas.microsoft.com/office/drawing/2014/main" id="{E7842947-CDA5-43A1-BC2D-FB1FD306405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7" name="13-shape-1">
            <a:extLst xmlns:a="http://schemas.openxmlformats.org/drawingml/2006/main">
              <a:ext uri="{FF2B5EF4-FFF2-40B4-BE49-F238E27FC236}">
                <a16:creationId xmlns:a16="http://schemas.microsoft.com/office/drawing/2014/main" id="{FE611E09-D73C-4CAA-97F0-C9098A801D38}"/>
              </a:ext>
            </a:extLst>
          </p:cNvPr>
          <p:cNvSpPr>
            <a:spLocks xmlns:a="http://schemas.openxmlformats.org/drawingml/2006/main"/>
          </p:cNvSpPr>
          <p:nvPr/>
        </p:nvSpPr>
        <p:spPr>
          <a:xfrm xmlns:a="http://schemas.openxmlformats.org/drawingml/2006/main">
            <a:off x="609600" y="2438400"/>
            <a:ext cx="3962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88" name="13-text-2">
            <a:extLst xmlns:a="http://schemas.openxmlformats.org/drawingml/2006/main">
              <a:ext uri="{FF2B5EF4-FFF2-40B4-BE49-F238E27FC236}">
                <a16:creationId xmlns:a16="http://schemas.microsoft.com/office/drawing/2014/main" id="{C97DC736-146E-4826-B2F8-3A3693BF4B40}"/>
              </a:ext>
            </a:extLst>
          </p:cNvPr>
          <p:cNvSpPr>
            <a:spLocks xmlns:a="http://schemas.openxmlformats.org/drawingml/2006/main"/>
          </p:cNvSpPr>
          <p:nvPr/>
        </p:nvSpPr>
        <p:spPr>
          <a:xfrm xmlns:a="http://schemas.openxmlformats.org/drawingml/2006/main">
            <a:off x="762000" y="2476500"/>
            <a:ext cx="365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descriptions, and their evals</a:t>
            </a:r>
          </a:p>
        </p:txBody>
      </p:sp>
      <p:sp>
        <p:nvSpPr>
          <p:cNvPr id="289" name="13-shape-3">
            <a:extLst xmlns:a="http://schemas.openxmlformats.org/drawingml/2006/main">
              <a:ext uri="{FF2B5EF4-FFF2-40B4-BE49-F238E27FC236}">
                <a16:creationId xmlns:a16="http://schemas.microsoft.com/office/drawing/2014/main" id="{6EE59633-4AC6-4989-8B29-8A50D02748EC}"/>
              </a:ext>
            </a:extLst>
          </p:cNvPr>
          <p:cNvSpPr>
            <a:spLocks xmlns:a="http://schemas.openxmlformats.org/drawingml/2006/main"/>
          </p:cNvSpPr>
          <p:nvPr/>
        </p:nvSpPr>
        <p:spPr>
          <a:xfrm xmlns:a="http://schemas.openxmlformats.org/drawingml/2006/main">
            <a:off x="4673600" y="2438400"/>
            <a:ext cx="18415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90" name="13-text-4">
            <a:extLst xmlns:a="http://schemas.openxmlformats.org/drawingml/2006/main">
              <a:ext uri="{FF2B5EF4-FFF2-40B4-BE49-F238E27FC236}">
                <a16:creationId xmlns:a16="http://schemas.microsoft.com/office/drawing/2014/main" id="{222616CC-ECFD-4280-AD4C-38BC108FD807}"/>
              </a:ext>
            </a:extLst>
          </p:cNvPr>
          <p:cNvSpPr>
            <a:spLocks xmlns:a="http://schemas.openxmlformats.org/drawingml/2006/main"/>
          </p:cNvSpPr>
          <p:nvPr/>
        </p:nvSpPr>
        <p:spPr>
          <a:xfrm xmlns:a="http://schemas.openxmlformats.org/drawingml/2006/main">
            <a:off x="4826000" y="2476500"/>
            <a:ext cx="1536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verbosity</a:t>
            </a:r>
          </a:p>
        </p:txBody>
      </p:sp>
      <p:sp>
        <p:nvSpPr>
          <p:cNvPr id="291" name="13-shape-5">
            <a:extLst xmlns:a="http://schemas.openxmlformats.org/drawingml/2006/main">
              <a:ext uri="{FF2B5EF4-FFF2-40B4-BE49-F238E27FC236}">
                <a16:creationId xmlns:a16="http://schemas.microsoft.com/office/drawing/2014/main" id="{63D086B2-EBCB-4C68-97AE-EEC949424BE6}"/>
              </a:ext>
            </a:extLst>
          </p:cNvPr>
          <p:cNvSpPr>
            <a:spLocks xmlns:a="http://schemas.openxmlformats.org/drawingml/2006/main"/>
          </p:cNvSpPr>
          <p:nvPr/>
        </p:nvSpPr>
        <p:spPr>
          <a:xfrm xmlns:a="http://schemas.openxmlformats.org/drawingml/2006/main">
            <a:off x="6616700" y="2438400"/>
            <a:ext cx="27432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92" name="13-text-6">
            <a:extLst xmlns:a="http://schemas.openxmlformats.org/drawingml/2006/main">
              <a:ext uri="{FF2B5EF4-FFF2-40B4-BE49-F238E27FC236}">
                <a16:creationId xmlns:a16="http://schemas.microsoft.com/office/drawing/2014/main" id="{C055B3EF-07CA-4E71-9027-B7235D581379}"/>
              </a:ext>
            </a:extLst>
          </p:cNvPr>
          <p:cNvSpPr>
            <a:spLocks xmlns:a="http://schemas.openxmlformats.org/drawingml/2006/main"/>
          </p:cNvSpPr>
          <p:nvPr/>
        </p:nvSpPr>
        <p:spPr>
          <a:xfrm xmlns:a="http://schemas.openxmlformats.org/drawingml/2006/main">
            <a:off x="6769100" y="2476500"/>
            <a:ext cx="2438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action categories</a:t>
            </a:r>
          </a:p>
        </p:txBody>
      </p:sp>
      <p:sp>
        <p:nvSpPr>
          <p:cNvPr id="293" name="13-shape-7">
            <a:extLst xmlns:a="http://schemas.openxmlformats.org/drawingml/2006/main">
              <a:ext uri="{FF2B5EF4-FFF2-40B4-BE49-F238E27FC236}">
                <a16:creationId xmlns:a16="http://schemas.microsoft.com/office/drawing/2014/main" id="{F596DD07-9170-4977-B29E-E41AF52FA735}"/>
              </a:ext>
            </a:extLst>
          </p:cNvPr>
          <p:cNvSpPr>
            <a:spLocks xmlns:a="http://schemas.openxmlformats.org/drawingml/2006/main"/>
          </p:cNvSpPr>
          <p:nvPr/>
        </p:nvSpPr>
        <p:spPr>
          <a:xfrm xmlns:a="http://schemas.openxmlformats.org/drawingml/2006/main">
            <a:off x="9461500" y="2438400"/>
            <a:ext cx="1308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94" name="13-text-8">
            <a:extLst xmlns:a="http://schemas.openxmlformats.org/drawingml/2006/main">
              <a:ext uri="{FF2B5EF4-FFF2-40B4-BE49-F238E27FC236}">
                <a16:creationId xmlns:a16="http://schemas.microsoft.com/office/drawing/2014/main" id="{FAB16CC4-08A0-4740-809A-CA607308FE5D}"/>
              </a:ext>
            </a:extLst>
          </p:cNvPr>
          <p:cNvSpPr>
            <a:spLocks xmlns:a="http://schemas.openxmlformats.org/drawingml/2006/main"/>
          </p:cNvSpPr>
          <p:nvPr/>
        </p:nvSpPr>
        <p:spPr>
          <a:xfrm xmlns:a="http://schemas.openxmlformats.org/drawingml/2006/main">
            <a:off x="9613900" y="2476500"/>
            <a:ext cx="1003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gate</a:t>
            </a:r>
          </a:p>
        </p:txBody>
      </p:sp>
      <p:sp>
        <p:nvSpPr>
          <p:cNvPr id="295" name="13-shape-9">
            <a:extLst xmlns:a="http://schemas.openxmlformats.org/drawingml/2006/main">
              <a:ext uri="{FF2B5EF4-FFF2-40B4-BE49-F238E27FC236}">
                <a16:creationId xmlns:a16="http://schemas.microsoft.com/office/drawing/2014/main" id="{11A60AF3-E641-45E1-AFE6-86B52DE38970}"/>
              </a:ext>
            </a:extLst>
          </p:cNvPr>
          <p:cNvSpPr>
            <a:spLocks xmlns:a="http://schemas.openxmlformats.org/drawingml/2006/main"/>
          </p:cNvSpPr>
          <p:nvPr/>
        </p:nvSpPr>
        <p:spPr>
          <a:xfrm xmlns:a="http://schemas.openxmlformats.org/drawingml/2006/main">
            <a:off x="609600" y="3022600"/>
            <a:ext cx="3454400" cy="1879600"/>
          </a:xfrm>
          <a:prstGeom xmlns:a="http://schemas.openxmlformats.org/drawingml/2006/main" prst="roundRect">
            <a:avLst>
              <a:gd name="adj" fmla="val 5405"/>
            </a:avLst>
          </a:prstGeom>
          <a:solidFill xmlns:a="http://schemas.openxmlformats.org/drawingml/2006/main">
            <a:srgbClr val="2B1B2C"/>
          </a:solidFill>
          <a:ln xmlns:a="http://schemas.openxmlformats.org/drawingml/2006/main" w="25400">
            <a:solidFill>
              <a:srgbClr val="F948BE"/>
            </a:solidFill>
          </a:ln>
        </p:spPr>
      </p:sp>
      <p:sp>
        <p:nvSpPr>
          <p:cNvPr id="296" name="13-text-10">
            <a:extLst xmlns:a="http://schemas.openxmlformats.org/drawingml/2006/main">
              <a:ext uri="{FF2B5EF4-FFF2-40B4-BE49-F238E27FC236}">
                <a16:creationId xmlns:a16="http://schemas.microsoft.com/office/drawing/2014/main" id="{9BDDE300-8BA4-4235-9E32-A676F8A5895E}"/>
              </a:ext>
            </a:extLst>
          </p:cNvPr>
          <p:cNvSpPr>
            <a:spLocks xmlns:a="http://schemas.openxmlformats.org/drawingml/2006/main"/>
          </p:cNvSpPr>
          <p:nvPr/>
        </p:nvSpPr>
        <p:spPr>
          <a:xfrm xmlns:a="http://schemas.openxmlformats.org/drawingml/2006/main">
            <a:off x="812800" y="3175000"/>
            <a:ext cx="3048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Scoped reads</a:t>
            </a:r>
          </a:p>
        </p:txBody>
      </p:sp>
      <p:sp>
        <p:nvSpPr>
          <p:cNvPr id="297" name="13-text-11">
            <a:extLst xmlns:a="http://schemas.openxmlformats.org/drawingml/2006/main">
              <a:ext uri="{FF2B5EF4-FFF2-40B4-BE49-F238E27FC236}">
                <a16:creationId xmlns:a16="http://schemas.microsoft.com/office/drawing/2014/main" id="{9C152AD2-77EB-4EE8-8C0E-3A29ACCCF2E3}"/>
              </a:ext>
            </a:extLst>
          </p:cNvPr>
          <p:cNvSpPr>
            <a:spLocks xmlns:a="http://schemas.openxmlformats.org/drawingml/2006/main"/>
          </p:cNvSpPr>
          <p:nvPr/>
        </p:nvSpPr>
        <p:spPr>
          <a:xfrm xmlns:a="http://schemas.openxmlformats.org/drawingml/2006/main">
            <a:off x="812800" y="3860800"/>
            <a:ext cx="3048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access policy</a:t>
            </a:r>
          </a:p>
        </p:txBody>
      </p:sp>
      <p:sp>
        <p:nvSpPr>
          <p:cNvPr id="298" name="13-shape-12">
            <a:extLst xmlns:a="http://schemas.openxmlformats.org/drawingml/2006/main">
              <a:ext uri="{FF2B5EF4-FFF2-40B4-BE49-F238E27FC236}">
                <a16:creationId xmlns:a16="http://schemas.microsoft.com/office/drawing/2014/main" id="{1413491F-F77C-462A-8FDC-26933C5371DB}"/>
              </a:ext>
            </a:extLst>
          </p:cNvPr>
          <p:cNvSpPr>
            <a:spLocks xmlns:a="http://schemas.openxmlformats.org/drawingml/2006/main"/>
          </p:cNvSpPr>
          <p:nvPr/>
        </p:nvSpPr>
        <p:spPr>
          <a:xfrm xmlns:a="http://schemas.openxmlformats.org/drawingml/2006/main">
            <a:off x="4368800" y="3022600"/>
            <a:ext cx="3454400" cy="1879600"/>
          </a:xfrm>
          <a:prstGeom xmlns:a="http://schemas.openxmlformats.org/drawingml/2006/main" prst="roundRect">
            <a:avLst>
              <a:gd name="adj" fmla="val 5405"/>
            </a:avLst>
          </a:prstGeom>
          <a:solidFill xmlns:a="http://schemas.openxmlformats.org/drawingml/2006/main">
            <a:srgbClr val="2B1B2C"/>
          </a:solidFill>
          <a:ln xmlns:a="http://schemas.openxmlformats.org/drawingml/2006/main" w="25400">
            <a:solidFill>
              <a:srgbClr val="F948BE"/>
            </a:solidFill>
          </a:ln>
        </p:spPr>
      </p:sp>
      <p:sp>
        <p:nvSpPr>
          <p:cNvPr id="299" name="13-text-13">
            <a:extLst xmlns:a="http://schemas.openxmlformats.org/drawingml/2006/main">
              <a:ext uri="{FF2B5EF4-FFF2-40B4-BE49-F238E27FC236}">
                <a16:creationId xmlns:a16="http://schemas.microsoft.com/office/drawing/2014/main" id="{6691CA0B-4057-4EDD-AFCC-BAFBDBF5205C}"/>
              </a:ext>
            </a:extLst>
          </p:cNvPr>
          <p:cNvSpPr>
            <a:spLocks xmlns:a="http://schemas.openxmlformats.org/drawingml/2006/main"/>
          </p:cNvSpPr>
          <p:nvPr/>
        </p:nvSpPr>
        <p:spPr>
          <a:xfrm xmlns:a="http://schemas.openxmlformats.org/drawingml/2006/main">
            <a:off x="4572000" y="3175000"/>
            <a:ext cx="3048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Reversible changes</a:t>
            </a:r>
          </a:p>
        </p:txBody>
      </p:sp>
      <p:sp>
        <p:nvSpPr>
          <p:cNvPr id="300" name="13-text-14">
            <a:extLst xmlns:a="http://schemas.openxmlformats.org/drawingml/2006/main">
              <a:ext uri="{FF2B5EF4-FFF2-40B4-BE49-F238E27FC236}">
                <a16:creationId xmlns:a16="http://schemas.microsoft.com/office/drawing/2014/main" id="{ACCEE172-9380-41BC-95F8-0BF8BE59AEC4}"/>
              </a:ext>
            </a:extLst>
          </p:cNvPr>
          <p:cNvSpPr>
            <a:spLocks xmlns:a="http://schemas.openxmlformats.org/drawingml/2006/main"/>
          </p:cNvSpPr>
          <p:nvPr/>
        </p:nvSpPr>
        <p:spPr>
          <a:xfrm xmlns:a="http://schemas.openxmlformats.org/drawingml/2006/main">
            <a:off x="4572000" y="3860800"/>
            <a:ext cx="3048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Validate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support recovery</a:t>
            </a:r>
          </a:p>
        </p:txBody>
      </p:sp>
      <p:sp>
        <p:nvSpPr>
          <p:cNvPr id="301" name="13-shape-15">
            <a:extLst xmlns:a="http://schemas.openxmlformats.org/drawingml/2006/main">
              <a:ext uri="{FF2B5EF4-FFF2-40B4-BE49-F238E27FC236}">
                <a16:creationId xmlns:a16="http://schemas.microsoft.com/office/drawing/2014/main" id="{D1982F26-E0E2-45AC-AB77-6D9DBE012CB9}"/>
              </a:ext>
            </a:extLst>
          </p:cNvPr>
          <p:cNvSpPr>
            <a:spLocks xmlns:a="http://schemas.openxmlformats.org/drawingml/2006/main"/>
          </p:cNvSpPr>
          <p:nvPr/>
        </p:nvSpPr>
        <p:spPr>
          <a:xfrm xmlns:a="http://schemas.openxmlformats.org/drawingml/2006/main">
            <a:off x="8128000" y="3022600"/>
            <a:ext cx="3454400" cy="1879600"/>
          </a:xfrm>
          <a:prstGeom xmlns:a="http://schemas.openxmlformats.org/drawingml/2006/main" prst="roundRect">
            <a:avLst>
              <a:gd name="adj" fmla="val 5405"/>
            </a:avLst>
          </a:prstGeom>
          <a:solidFill xmlns:a="http://schemas.openxmlformats.org/drawingml/2006/main">
            <a:srgbClr val="2B1B2C"/>
          </a:solidFill>
          <a:ln xmlns:a="http://schemas.openxmlformats.org/drawingml/2006/main" w="25400">
            <a:solidFill>
              <a:srgbClr val="F948BE"/>
            </a:solidFill>
          </a:ln>
        </p:spPr>
      </p:sp>
      <p:sp>
        <p:nvSpPr>
          <p:cNvPr id="302" name="13-text-16">
            <a:extLst xmlns:a="http://schemas.openxmlformats.org/drawingml/2006/main">
              <a:ext uri="{FF2B5EF4-FFF2-40B4-BE49-F238E27FC236}">
                <a16:creationId xmlns:a16="http://schemas.microsoft.com/office/drawing/2014/main" id="{6F1260CB-DA85-4888-8B4B-76AE6543B87D}"/>
              </a:ext>
            </a:extLst>
          </p:cNvPr>
          <p:cNvSpPr>
            <a:spLocks xmlns:a="http://schemas.openxmlformats.org/drawingml/2006/main"/>
          </p:cNvSpPr>
          <p:nvPr/>
        </p:nvSpPr>
        <p:spPr>
          <a:xfrm xmlns:a="http://schemas.openxmlformats.org/drawingml/2006/main">
            <a:off x="8331200" y="3175000"/>
            <a:ext cx="3048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Consequential actions</a:t>
            </a:r>
          </a:p>
        </p:txBody>
      </p:sp>
      <p:sp>
        <p:nvSpPr>
          <p:cNvPr id="303" name="13-text-17">
            <a:extLst xmlns:a="http://schemas.openxmlformats.org/drawingml/2006/main">
              <a:ext uri="{FF2B5EF4-FFF2-40B4-BE49-F238E27FC236}">
                <a16:creationId xmlns:a16="http://schemas.microsoft.com/office/drawing/2014/main" id="{BB5D31D2-8FAF-427C-9945-C57558CB4880}"/>
              </a:ext>
            </a:extLst>
          </p:cNvPr>
          <p:cNvSpPr>
            <a:spLocks xmlns:a="http://schemas.openxmlformats.org/drawingml/2006/main"/>
          </p:cNvSpPr>
          <p:nvPr/>
        </p:nvSpPr>
        <p:spPr>
          <a:xfrm xmlns:a="http://schemas.openxmlformats.org/drawingml/2006/main">
            <a:off x="8331200" y="3860800"/>
            <a:ext cx="3048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 policy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authorization or approval</a:t>
            </a:r>
          </a:p>
        </p:txBody>
      </p:sp>
      <p:sp>
        <p:nvSpPr>
          <p:cNvPr id="304" name="13-text-18">
            <a:extLst xmlns:a="http://schemas.openxmlformats.org/drawingml/2006/main">
              <a:ext uri="{FF2B5EF4-FFF2-40B4-BE49-F238E27FC236}">
                <a16:creationId xmlns:a16="http://schemas.microsoft.com/office/drawing/2014/main" id="{105F0E6D-F5E0-4B68-A90B-ABC8DFC7C31F}"/>
              </a:ext>
            </a:extLst>
          </p:cNvPr>
          <p:cNvSpPr>
            <a:spLocks xmlns:a="http://schemas.openxmlformats.org/drawingml/2006/main"/>
          </p:cNvSpPr>
          <p:nvPr/>
        </p:nvSpPr>
        <p:spPr>
          <a:xfrm xmlns:a="http://schemas.openxmlformats.org/drawingml/2006/main">
            <a:off x="609600" y="5080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Authorization applies to every category. Enforce it outside the model.</a:t>
            </a:r>
          </a:p>
        </p:txBody>
      </p:sp>
      <p:sp>
        <p:nvSpPr>
          <p:cNvPr id="305" name="13-text-19">
            <a:extLst xmlns:a="http://schemas.openxmlformats.org/drawingml/2006/main">
              <a:ext uri="{FF2B5EF4-FFF2-40B4-BE49-F238E27FC236}">
                <a16:creationId xmlns:a16="http://schemas.microsoft.com/office/drawing/2014/main" id="{69B80175-E654-47DA-97E1-D77B3D1BE20D}"/>
              </a:ext>
            </a:extLst>
          </p:cNvPr>
          <p:cNvSpPr>
            <a:spLocks xmlns:a="http://schemas.openxmlformats.org/drawingml/2006/main"/>
          </p:cNvSpPr>
          <p:nvPr/>
        </p:nvSpPr>
        <p:spPr>
          <a:xfrm xmlns:a="http://schemas.openxmlformats.org/drawingml/2006/main">
            <a:off x="609600" y="5562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 model's approval recommendation does not establish permission.</a:t>
            </a:r>
          </a:p>
        </p:txBody>
      </p:sp>
      <p:sp>
        <p:nvSpPr>
          <p:cNvPr id="306" name="narrative-number">
            <a:extLst xmlns:a="http://schemas.openxmlformats.org/drawingml/2006/main">
              <a:ext uri="{FF2B5EF4-FFF2-40B4-BE49-F238E27FC236}">
                <a16:creationId xmlns:a16="http://schemas.microsoft.com/office/drawing/2014/main" id="{DFAF1300-EE99-4E94-8A6E-AE94CAE0F2A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309698800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7"/>
                                        </p:tgtEl>
                                        <p:attrNameLst>
                                          <p:attrName>style.visibility</p:attrName>
                                        </p:attrNameLst>
                                      </p:cBhvr>
                                      <p:to>
                                        <p:strVal val="visible"/>
                                      </p:to>
                                    </p:set>
                                    <p:animEffect transition="in" filter="fade">
                                      <p:cBhvr>
                                        <p:cTn id="7" dur="200" fill="hold"/>
                                        <p:tgtEl>
                                          <p:spTgt spid="287"/>
                                        </p:tgtEl>
                                      </p:cBhvr>
                                    </p:animEffect>
                                  </p:childTnLst>
                                </p:cTn>
                              </p:par>
                              <p:par>
                                <p:cTn id="8" presetID="10" presetClass="entr" presetSubtype="0" fill="hold" nodeType="withEffect">
                                  <p:stCondLst>
                                    <p:cond delay="0"/>
                                  </p:stCondLst>
                                  <p:childTnLst>
                                    <p:set>
                                      <p:cBhvr>
                                        <p:cTn id="9" dur="1" fill="hold">
                                          <p:stCondLst>
                                            <p:cond delay="0"/>
                                          </p:stCondLst>
                                        </p:cTn>
                                        <p:tgtEl>
                                          <p:spTgt spid="288"/>
                                        </p:tgtEl>
                                        <p:attrNameLst>
                                          <p:attrName>style.visibility</p:attrName>
                                        </p:attrNameLst>
                                      </p:cBhvr>
                                      <p:to>
                                        <p:strVal val="visible"/>
                                      </p:to>
                                    </p:set>
                                    <p:animEffect transition="in" filter="fade">
                                      <p:cBhvr>
                                        <p:cTn id="10" dur="200" fill="hold"/>
                                        <p:tgtEl>
                                          <p:spTgt spid="288"/>
                                        </p:tgtEl>
                                      </p:cBhvr>
                                    </p:animEffect>
                                  </p:childTnLst>
                                </p:cTn>
                              </p:par>
                              <p:par>
                                <p:cTn id="11" presetID="10" presetClass="entr" presetSubtype="0" fill="hold" nodeType="withEffect">
                                  <p:stCondLst>
                                    <p:cond delay="0"/>
                                  </p:stCondLst>
                                  <p:childTnLst>
                                    <p:set>
                                      <p:cBhvr>
                                        <p:cTn id="12" dur="1" fill="hold">
                                          <p:stCondLst>
                                            <p:cond delay="0"/>
                                          </p:stCondLst>
                                        </p:cTn>
                                        <p:tgtEl>
                                          <p:spTgt spid="289"/>
                                        </p:tgtEl>
                                        <p:attrNameLst>
                                          <p:attrName>style.visibility</p:attrName>
                                        </p:attrNameLst>
                                      </p:cBhvr>
                                      <p:to>
                                        <p:strVal val="visible"/>
                                      </p:to>
                                    </p:set>
                                    <p:animEffect transition="in" filter="fade">
                                      <p:cBhvr>
                                        <p:cTn id="13" dur="200" fill="hold"/>
                                        <p:tgtEl>
                                          <p:spTgt spid="289"/>
                                        </p:tgtEl>
                                      </p:cBhvr>
                                    </p:animEffect>
                                  </p:childTnLst>
                                </p:cTn>
                              </p:par>
                              <p:par>
                                <p:cTn id="14" presetID="10" presetClass="entr" presetSubtype="0" fill="hold" nodeType="withEffect">
                                  <p:stCondLst>
                                    <p:cond delay="0"/>
                                  </p:stCondLst>
                                  <p:childTnLst>
                                    <p:set>
                                      <p:cBhvr>
                                        <p:cTn id="15" dur="1" fill="hold">
                                          <p:stCondLst>
                                            <p:cond delay="0"/>
                                          </p:stCondLst>
                                        </p:cTn>
                                        <p:tgtEl>
                                          <p:spTgt spid="290"/>
                                        </p:tgtEl>
                                        <p:attrNameLst>
                                          <p:attrName>style.visibility</p:attrName>
                                        </p:attrNameLst>
                                      </p:cBhvr>
                                      <p:to>
                                        <p:strVal val="visible"/>
                                      </p:to>
                                    </p:set>
                                    <p:animEffect transition="in" filter="fade">
                                      <p:cBhvr>
                                        <p:cTn id="16" dur="200" fill="hold"/>
                                        <p:tgtEl>
                                          <p:spTgt spid="290"/>
                                        </p:tgtEl>
                                      </p:cBhvr>
                                    </p:animEffect>
                                  </p:childTnLst>
                                </p:cTn>
                              </p:par>
                              <p:par>
                                <p:cTn id="17" presetID="10" presetClass="entr" presetSubtype="0" fill="hold" nodeType="withEffect">
                                  <p:stCondLst>
                                    <p:cond delay="0"/>
                                  </p:stCondLst>
                                  <p:childTnLst>
                                    <p:set>
                                      <p:cBhvr>
                                        <p:cTn id="18" dur="1" fill="hold">
                                          <p:stCondLst>
                                            <p:cond delay="0"/>
                                          </p:stCondLst>
                                        </p:cTn>
                                        <p:tgtEl>
                                          <p:spTgt spid="291"/>
                                        </p:tgtEl>
                                        <p:attrNameLst>
                                          <p:attrName>style.visibility</p:attrName>
                                        </p:attrNameLst>
                                      </p:cBhvr>
                                      <p:to>
                                        <p:strVal val="visible"/>
                                      </p:to>
                                    </p:set>
                                    <p:animEffect transition="in" filter="fade">
                                      <p:cBhvr>
                                        <p:cTn id="19" dur="200" fill="hold"/>
                                        <p:tgtEl>
                                          <p:spTgt spid="291"/>
                                        </p:tgtEl>
                                      </p:cBhvr>
                                    </p:animEffect>
                                  </p:childTnLst>
                                </p:cTn>
                              </p:par>
                              <p:par>
                                <p:cTn id="20" presetID="10" presetClass="entr" presetSubtype="0" fill="hold" nodeType="withEffect">
                                  <p:stCondLst>
                                    <p:cond delay="0"/>
                                  </p:stCondLst>
                                  <p:childTnLst>
                                    <p:set>
                                      <p:cBhvr>
                                        <p:cTn id="21" dur="1" fill="hold">
                                          <p:stCondLst>
                                            <p:cond delay="0"/>
                                          </p:stCondLst>
                                        </p:cTn>
                                        <p:tgtEl>
                                          <p:spTgt spid="292"/>
                                        </p:tgtEl>
                                        <p:attrNameLst>
                                          <p:attrName>style.visibility</p:attrName>
                                        </p:attrNameLst>
                                      </p:cBhvr>
                                      <p:to>
                                        <p:strVal val="visible"/>
                                      </p:to>
                                    </p:set>
                                    <p:animEffect transition="in" filter="fade">
                                      <p:cBhvr>
                                        <p:cTn id="22" dur="200" fill="hold"/>
                                        <p:tgtEl>
                                          <p:spTgt spid="292"/>
                                        </p:tgtEl>
                                      </p:cBhvr>
                                    </p:animEffect>
                                  </p:childTnLst>
                                </p:cTn>
                              </p:par>
                              <p:par>
                                <p:cTn id="23" presetID="10" presetClass="entr" presetSubtype="0" fill="hold" nodeType="withEffect">
                                  <p:stCondLst>
                                    <p:cond delay="0"/>
                                  </p:stCondLst>
                                  <p:childTnLst>
                                    <p:set>
                                      <p:cBhvr>
                                        <p:cTn id="24" dur="1" fill="hold">
                                          <p:stCondLst>
                                            <p:cond delay="0"/>
                                          </p:stCondLst>
                                        </p:cTn>
                                        <p:tgtEl>
                                          <p:spTgt spid="293"/>
                                        </p:tgtEl>
                                        <p:attrNameLst>
                                          <p:attrName>style.visibility</p:attrName>
                                        </p:attrNameLst>
                                      </p:cBhvr>
                                      <p:to>
                                        <p:strVal val="visible"/>
                                      </p:to>
                                    </p:set>
                                    <p:animEffect transition="in" filter="fade">
                                      <p:cBhvr>
                                        <p:cTn id="25" dur="200" fill="hold"/>
                                        <p:tgtEl>
                                          <p:spTgt spid="293"/>
                                        </p:tgtEl>
                                      </p:cBhvr>
                                    </p:animEffect>
                                  </p:childTnLst>
                                </p:cTn>
                              </p:par>
                              <p:par>
                                <p:cTn id="26" presetID="10" presetClass="entr" presetSubtype="0" fill="hold" nodeType="withEffect">
                                  <p:stCondLst>
                                    <p:cond delay="0"/>
                                  </p:stCondLst>
                                  <p:childTnLst>
                                    <p:set>
                                      <p:cBhvr>
                                        <p:cTn id="27" dur="1" fill="hold">
                                          <p:stCondLst>
                                            <p:cond delay="0"/>
                                          </p:stCondLst>
                                        </p:cTn>
                                        <p:tgtEl>
                                          <p:spTgt spid="294"/>
                                        </p:tgtEl>
                                        <p:attrNameLst>
                                          <p:attrName>style.visibility</p:attrName>
                                        </p:attrNameLst>
                                      </p:cBhvr>
                                      <p:to>
                                        <p:strVal val="visible"/>
                                      </p:to>
                                    </p:set>
                                    <p:animEffect transition="in" filter="fade">
                                      <p:cBhvr>
                                        <p:cTn id="28" dur="200" fill="hold"/>
                                        <p:tgtEl>
                                          <p:spTgt spid="29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95"/>
                                        </p:tgtEl>
                                        <p:attrNameLst>
                                          <p:attrName>style.visibility</p:attrName>
                                        </p:attrNameLst>
                                      </p:cBhvr>
                                      <p:to>
                                        <p:strVal val="visible"/>
                                      </p:to>
                                    </p:set>
                                    <p:animEffect transition="in" filter="fade">
                                      <p:cBhvr>
                                        <p:cTn id="33" dur="200" fill="hold"/>
                                        <p:tgtEl>
                                          <p:spTgt spid="295"/>
                                        </p:tgtEl>
                                      </p:cBhvr>
                                    </p:animEffect>
                                  </p:childTnLst>
                                </p:cTn>
                              </p:par>
                              <p:par>
                                <p:cTn id="34" presetID="10" presetClass="entr" presetSubtype="0" fill="hold" nodeType="withEffect">
                                  <p:stCondLst>
                                    <p:cond delay="0"/>
                                  </p:stCondLst>
                                  <p:childTnLst>
                                    <p:set>
                                      <p:cBhvr>
                                        <p:cTn id="35" dur="1" fill="hold">
                                          <p:stCondLst>
                                            <p:cond delay="0"/>
                                          </p:stCondLst>
                                        </p:cTn>
                                        <p:tgtEl>
                                          <p:spTgt spid="296"/>
                                        </p:tgtEl>
                                        <p:attrNameLst>
                                          <p:attrName>style.visibility</p:attrName>
                                        </p:attrNameLst>
                                      </p:cBhvr>
                                      <p:to>
                                        <p:strVal val="visible"/>
                                      </p:to>
                                    </p:set>
                                    <p:animEffect transition="in" filter="fade">
                                      <p:cBhvr>
                                        <p:cTn id="36" dur="200" fill="hold"/>
                                        <p:tgtEl>
                                          <p:spTgt spid="296"/>
                                        </p:tgtEl>
                                      </p:cBhvr>
                                    </p:animEffect>
                                  </p:childTnLst>
                                </p:cTn>
                              </p:par>
                              <p:par>
                                <p:cTn id="37" presetID="10" presetClass="entr" presetSubtype="0" fill="hold" nodeType="withEffect">
                                  <p:stCondLst>
                                    <p:cond delay="0"/>
                                  </p:stCondLst>
                                  <p:childTnLst>
                                    <p:set>
                                      <p:cBhvr>
                                        <p:cTn id="38" dur="1" fill="hold">
                                          <p:stCondLst>
                                            <p:cond delay="0"/>
                                          </p:stCondLst>
                                        </p:cTn>
                                        <p:tgtEl>
                                          <p:spTgt spid="297"/>
                                        </p:tgtEl>
                                        <p:attrNameLst>
                                          <p:attrName>style.visibility</p:attrName>
                                        </p:attrNameLst>
                                      </p:cBhvr>
                                      <p:to>
                                        <p:strVal val="visible"/>
                                      </p:to>
                                    </p:set>
                                    <p:animEffect transition="in" filter="fade">
                                      <p:cBhvr>
                                        <p:cTn id="39" dur="200" fill="hold"/>
                                        <p:tgtEl>
                                          <p:spTgt spid="297"/>
                                        </p:tgtEl>
                                      </p:cBhvr>
                                    </p:animEffect>
                                  </p:childTnLst>
                                </p:cTn>
                              </p:par>
                              <p:par>
                                <p:cTn id="40" presetID="10" presetClass="entr" presetSubtype="0" fill="hold" nodeType="withEffect">
                                  <p:stCondLst>
                                    <p:cond delay="0"/>
                                  </p:stCondLst>
                                  <p:childTnLst>
                                    <p:set>
                                      <p:cBhvr>
                                        <p:cTn id="41" dur="1" fill="hold">
                                          <p:stCondLst>
                                            <p:cond delay="0"/>
                                          </p:stCondLst>
                                        </p:cTn>
                                        <p:tgtEl>
                                          <p:spTgt spid="298"/>
                                        </p:tgtEl>
                                        <p:attrNameLst>
                                          <p:attrName>style.visibility</p:attrName>
                                        </p:attrNameLst>
                                      </p:cBhvr>
                                      <p:to>
                                        <p:strVal val="visible"/>
                                      </p:to>
                                    </p:set>
                                    <p:animEffect transition="in" filter="fade">
                                      <p:cBhvr>
                                        <p:cTn id="42" dur="200" fill="hold"/>
                                        <p:tgtEl>
                                          <p:spTgt spid="298"/>
                                        </p:tgtEl>
                                      </p:cBhvr>
                                    </p:animEffect>
                                  </p:childTnLst>
                                </p:cTn>
                              </p:par>
                              <p:par>
                                <p:cTn id="43" presetID="10" presetClass="entr" presetSubtype="0" fill="hold" nodeType="withEffect">
                                  <p:stCondLst>
                                    <p:cond delay="0"/>
                                  </p:stCondLst>
                                  <p:childTnLst>
                                    <p:set>
                                      <p:cBhvr>
                                        <p:cTn id="44" dur="1" fill="hold">
                                          <p:stCondLst>
                                            <p:cond delay="0"/>
                                          </p:stCondLst>
                                        </p:cTn>
                                        <p:tgtEl>
                                          <p:spTgt spid="299"/>
                                        </p:tgtEl>
                                        <p:attrNameLst>
                                          <p:attrName>style.visibility</p:attrName>
                                        </p:attrNameLst>
                                      </p:cBhvr>
                                      <p:to>
                                        <p:strVal val="visible"/>
                                      </p:to>
                                    </p:set>
                                    <p:animEffect transition="in" filter="fade">
                                      <p:cBhvr>
                                        <p:cTn id="45" dur="200" fill="hold"/>
                                        <p:tgtEl>
                                          <p:spTgt spid="299"/>
                                        </p:tgtEl>
                                      </p:cBhvr>
                                    </p:animEffect>
                                  </p:childTnLst>
                                </p:cTn>
                              </p:par>
                              <p:par>
                                <p:cTn id="46" presetID="10" presetClass="entr" presetSubtype="0" fill="hold" nodeType="withEffect">
                                  <p:stCondLst>
                                    <p:cond delay="0"/>
                                  </p:stCondLst>
                                  <p:childTnLst>
                                    <p:set>
                                      <p:cBhvr>
                                        <p:cTn id="47" dur="1" fill="hold">
                                          <p:stCondLst>
                                            <p:cond delay="0"/>
                                          </p:stCondLst>
                                        </p:cTn>
                                        <p:tgtEl>
                                          <p:spTgt spid="300"/>
                                        </p:tgtEl>
                                        <p:attrNameLst>
                                          <p:attrName>style.visibility</p:attrName>
                                        </p:attrNameLst>
                                      </p:cBhvr>
                                      <p:to>
                                        <p:strVal val="visible"/>
                                      </p:to>
                                    </p:set>
                                    <p:animEffect transition="in" filter="fade">
                                      <p:cBhvr>
                                        <p:cTn id="48" dur="200" fill="hold"/>
                                        <p:tgtEl>
                                          <p:spTgt spid="300"/>
                                        </p:tgtEl>
                                      </p:cBhvr>
                                    </p:animEffect>
                                  </p:childTnLst>
                                </p:cTn>
                              </p:par>
                              <p:par>
                                <p:cTn id="49" presetID="10" presetClass="entr" presetSubtype="0" fill="hold" nodeType="withEffect">
                                  <p:stCondLst>
                                    <p:cond delay="0"/>
                                  </p:stCondLst>
                                  <p:childTnLst>
                                    <p:set>
                                      <p:cBhvr>
                                        <p:cTn id="50" dur="1" fill="hold">
                                          <p:stCondLst>
                                            <p:cond delay="0"/>
                                          </p:stCondLst>
                                        </p:cTn>
                                        <p:tgtEl>
                                          <p:spTgt spid="301"/>
                                        </p:tgtEl>
                                        <p:attrNameLst>
                                          <p:attrName>style.visibility</p:attrName>
                                        </p:attrNameLst>
                                      </p:cBhvr>
                                      <p:to>
                                        <p:strVal val="visible"/>
                                      </p:to>
                                    </p:set>
                                    <p:animEffect transition="in" filter="fade">
                                      <p:cBhvr>
                                        <p:cTn id="51" dur="200" fill="hold"/>
                                        <p:tgtEl>
                                          <p:spTgt spid="301"/>
                                        </p:tgtEl>
                                      </p:cBhvr>
                                    </p:animEffect>
                                  </p:childTnLst>
                                </p:cTn>
                              </p:par>
                              <p:par>
                                <p:cTn id="52" presetID="10" presetClass="entr" presetSubtype="0" fill="hold" nodeType="withEffect">
                                  <p:stCondLst>
                                    <p:cond delay="0"/>
                                  </p:stCondLst>
                                  <p:childTnLst>
                                    <p:set>
                                      <p:cBhvr>
                                        <p:cTn id="53" dur="1" fill="hold">
                                          <p:stCondLst>
                                            <p:cond delay="0"/>
                                          </p:stCondLst>
                                        </p:cTn>
                                        <p:tgtEl>
                                          <p:spTgt spid="302"/>
                                        </p:tgtEl>
                                        <p:attrNameLst>
                                          <p:attrName>style.visibility</p:attrName>
                                        </p:attrNameLst>
                                      </p:cBhvr>
                                      <p:to>
                                        <p:strVal val="visible"/>
                                      </p:to>
                                    </p:set>
                                    <p:animEffect transition="in" filter="fade">
                                      <p:cBhvr>
                                        <p:cTn id="54" dur="200" fill="hold"/>
                                        <p:tgtEl>
                                          <p:spTgt spid="302"/>
                                        </p:tgtEl>
                                      </p:cBhvr>
                                    </p:animEffect>
                                  </p:childTnLst>
                                </p:cTn>
                              </p:par>
                              <p:par>
                                <p:cTn id="55" presetID="10" presetClass="entr" presetSubtype="0" fill="hold" nodeType="withEffect">
                                  <p:stCondLst>
                                    <p:cond delay="0"/>
                                  </p:stCondLst>
                                  <p:childTnLst>
                                    <p:set>
                                      <p:cBhvr>
                                        <p:cTn id="56" dur="1" fill="hold">
                                          <p:stCondLst>
                                            <p:cond delay="0"/>
                                          </p:stCondLst>
                                        </p:cTn>
                                        <p:tgtEl>
                                          <p:spTgt spid="303"/>
                                        </p:tgtEl>
                                        <p:attrNameLst>
                                          <p:attrName>style.visibility</p:attrName>
                                        </p:attrNameLst>
                                      </p:cBhvr>
                                      <p:to>
                                        <p:strVal val="visible"/>
                                      </p:to>
                                    </p:set>
                                    <p:animEffect transition="in" filter="fade">
                                      <p:cBhvr>
                                        <p:cTn id="57" dur="200" fill="hold"/>
                                        <p:tgtEl>
                                          <p:spTgt spid="303"/>
                                        </p:tgtEl>
                                      </p:cBhvr>
                                    </p:animEffect>
                                  </p:childTnLst>
                                </p:cTn>
                              </p:par>
                              <p:par>
                                <p:cTn id="58" presetID="1" presetClass="entr" presetSubtype="0" fill="hold" nodeType="withEffect">
                                  <p:stCondLst>
                                    <p:cond delay="0"/>
                                  </p:stCondLst>
                                  <p:childTnLst>
                                    <p:set>
                                      <p:cBhvr>
                                        <p:cTn id="59" dur="1" fill="hold">
                                          <p:stCondLst>
                                            <p:cond delay="0"/>
                                          </p:stCondLst>
                                        </p:cTn>
                                        <p:tgtEl>
                                          <p:spTgt spid="304"/>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3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7" name="!!area-name">
            <a:extLst xmlns:a="http://schemas.openxmlformats.org/drawingml/2006/main">
              <a:ext uri="{FF2B5EF4-FFF2-40B4-BE49-F238E27FC236}">
                <a16:creationId xmlns:a16="http://schemas.microsoft.com/office/drawing/2014/main" id="{54AD3DBC-E4DB-40CB-A2CE-10ABE5353CF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323" name="mini-map"/>
          <p:cNvPicPr>
            <a:picLocks xmlns:a="http://schemas.openxmlformats.org/drawingml/2006/main" noChangeAspect="1"/>
          </p:cNvPicPr>
          <p:nvPr/>
        </p:nvPicPr>
        <p:blipFill>
          <a:blip xmlns:r="http://schemas.openxmlformats.org/officeDocument/2006/relationships" xmlns:a="http://schemas.openxmlformats.org/drawingml/2006/main" r:embed="R2de33b90702d45f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9" name="slide-title">
            <a:extLst xmlns:a="http://schemas.openxmlformats.org/drawingml/2006/main">
              <a:ext uri="{FF2B5EF4-FFF2-40B4-BE49-F238E27FC236}">
                <a16:creationId xmlns:a16="http://schemas.microsoft.com/office/drawing/2014/main" id="{7061ED59-88F1-4891-9F2C-040764E4DE6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write the contract.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build the gate.</a:t>
            </a:r>
          </a:p>
        </p:txBody>
      </p:sp>
      <p:sp>
        <p:nvSpPr>
          <p:cNvPr id="310" name="header-divider">
            <a:extLst xmlns:a="http://schemas.openxmlformats.org/drawingml/2006/main">
              <a:ext uri="{FF2B5EF4-FFF2-40B4-BE49-F238E27FC236}">
                <a16:creationId xmlns:a16="http://schemas.microsoft.com/office/drawing/2014/main" id="{E8D3F879-8A34-444C-9F32-029408FC73F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1" name="13-shape-20">
            <a:extLst xmlns:a="http://schemas.openxmlformats.org/drawingml/2006/main">
              <a:ext uri="{FF2B5EF4-FFF2-40B4-BE49-F238E27FC236}">
                <a16:creationId xmlns:a16="http://schemas.microsoft.com/office/drawing/2014/main" id="{C910FA96-D946-4E17-A10B-4E2CD908ACB8}"/>
              </a:ext>
            </a:extLst>
          </p:cNvPr>
          <p:cNvSpPr>
            <a:spLocks xmlns:a="http://schemas.openxmlformats.org/drawingml/2006/main"/>
          </p:cNvSpPr>
          <p:nvPr/>
        </p:nvSpPr>
        <p:spPr>
          <a:xfrm xmlns:a="http://schemas.openxmlformats.org/drawingml/2006/main">
            <a:off x="609600" y="2438400"/>
            <a:ext cx="10972800" cy="1778000"/>
          </a:xfrm>
          <a:prstGeom xmlns:a="http://schemas.openxmlformats.org/drawingml/2006/main" prst="roundRect">
            <a:avLst>
              <a:gd name="adj" fmla="val 5714"/>
            </a:avLst>
          </a:prstGeom>
          <a:solidFill xmlns:a="http://schemas.openxmlformats.org/drawingml/2006/main">
            <a:srgbClr val="303236"/>
          </a:solidFill>
          <a:ln xmlns:a="http://schemas.openxmlformats.org/drawingml/2006/main" w="0">
            <a:noFill/>
          </a:ln>
        </p:spPr>
      </p:sp>
      <p:sp>
        <p:nvSpPr>
          <p:cNvPr id="312" name="13-text-21">
            <a:extLst xmlns:a="http://schemas.openxmlformats.org/drawingml/2006/main">
              <a:ext uri="{FF2B5EF4-FFF2-40B4-BE49-F238E27FC236}">
                <a16:creationId xmlns:a16="http://schemas.microsoft.com/office/drawing/2014/main" id="{295D2D08-E8C9-49ED-966D-85EB4E9A6827}"/>
              </a:ext>
            </a:extLst>
          </p:cNvPr>
          <p:cNvSpPr>
            <a:spLocks xmlns:a="http://schemas.openxmlformats.org/drawingml/2006/main"/>
          </p:cNvSpPr>
          <p:nvPr/>
        </p:nvSpPr>
        <p:spPr>
          <a:xfrm xmlns:a="http://schemas.openxmlformats.org/drawingml/2006/main">
            <a:off x="812800" y="2590800"/>
            <a:ext cx="1056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CamoLeak, October 2025.</a:t>
            </a:r>
          </a:p>
        </p:txBody>
      </p:sp>
      <p:sp>
        <p:nvSpPr>
          <p:cNvPr id="313" name="13-text-22">
            <a:extLst xmlns:a="http://schemas.openxmlformats.org/drawingml/2006/main">
              <a:ext uri="{FF2B5EF4-FFF2-40B4-BE49-F238E27FC236}">
                <a16:creationId xmlns:a16="http://schemas.microsoft.com/office/drawing/2014/main" id="{F0701280-358A-4F0F-B1A0-935744213D4C}"/>
              </a:ext>
            </a:extLst>
          </p:cNvPr>
          <p:cNvSpPr>
            <a:spLocks xmlns:a="http://schemas.openxmlformats.org/drawingml/2006/main"/>
          </p:cNvSpPr>
          <p:nvPr/>
        </p:nvSpPr>
        <p:spPr>
          <a:xfrm xmlns:a="http://schemas.openxmlformats.org/drawingml/2006/main">
            <a:off x="812800" y="2971800"/>
            <a:ext cx="10566400" cy="109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Researcher-demonstrated vulnerability: hidden pull-request instructions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exfiltrated private repository data through image URLs. CVSS 9.6.</a:t>
            </a:r>
          </a:p>
        </p:txBody>
      </p:sp>
      <p:sp>
        <p:nvSpPr>
          <p:cNvPr id="314" name="13-shape-23">
            <a:extLst xmlns:a="http://schemas.openxmlformats.org/drawingml/2006/main">
              <a:ext uri="{FF2B5EF4-FFF2-40B4-BE49-F238E27FC236}">
                <a16:creationId xmlns:a16="http://schemas.microsoft.com/office/drawing/2014/main" id="{EBAC2077-70AB-49AB-BC75-14446ED7FB79}"/>
              </a:ext>
            </a:extLst>
          </p:cNvPr>
          <p:cNvSpPr>
            <a:spLocks xmlns:a="http://schemas.openxmlformats.org/drawingml/2006/main"/>
          </p:cNvSpPr>
          <p:nvPr/>
        </p:nvSpPr>
        <p:spPr>
          <a:xfrm xmlns:a="http://schemas.openxmlformats.org/drawingml/2006/main">
            <a:off x="609600" y="4419600"/>
            <a:ext cx="10972800" cy="1371600"/>
          </a:xfrm>
          <a:prstGeom xmlns:a="http://schemas.openxmlformats.org/drawingml/2006/main" prst="roundRect">
            <a:avLst>
              <a:gd name="adj" fmla="val 7407"/>
            </a:avLst>
          </a:prstGeom>
          <a:solidFill xmlns:a="http://schemas.openxmlformats.org/drawingml/2006/main">
            <a:srgbClr val="303236"/>
          </a:solidFill>
          <a:ln xmlns:a="http://schemas.openxmlformats.org/drawingml/2006/main" w="0">
            <a:noFill/>
          </a:ln>
        </p:spPr>
      </p:sp>
      <p:sp>
        <p:nvSpPr>
          <p:cNvPr id="315" name="13-text-24">
            <a:extLst xmlns:a="http://schemas.openxmlformats.org/drawingml/2006/main">
              <a:ext uri="{FF2B5EF4-FFF2-40B4-BE49-F238E27FC236}">
                <a16:creationId xmlns:a16="http://schemas.microsoft.com/office/drawing/2014/main" id="{B2B14997-3E35-4187-BC9F-313AC8E93156}"/>
              </a:ext>
            </a:extLst>
          </p:cNvPr>
          <p:cNvSpPr>
            <a:spLocks xmlns:a="http://schemas.openxmlformats.org/drawingml/2006/main"/>
          </p:cNvSpPr>
          <p:nvPr/>
        </p:nvSpPr>
        <p:spPr>
          <a:xfrm xmlns:a="http://schemas.openxmlformats.org/drawingml/2006/main">
            <a:off x="812800" y="4572000"/>
            <a:ext cx="1056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ClawHub, February 2026.</a:t>
            </a:r>
          </a:p>
        </p:txBody>
      </p:sp>
      <p:sp>
        <p:nvSpPr>
          <p:cNvPr id="316" name="13-text-25">
            <a:extLst xmlns:a="http://schemas.openxmlformats.org/drawingml/2006/main">
              <a:ext uri="{FF2B5EF4-FFF2-40B4-BE49-F238E27FC236}">
                <a16:creationId xmlns:a16="http://schemas.microsoft.com/office/drawing/2014/main" id="{3169E390-8EE0-4AF5-990C-93158C967772}"/>
              </a:ext>
            </a:extLst>
          </p:cNvPr>
          <p:cNvSpPr>
            <a:spLocks xmlns:a="http://schemas.openxmlformats.org/drawingml/2006/main"/>
          </p:cNvSpPr>
          <p:nvPr/>
        </p:nvSpPr>
        <p:spPr>
          <a:xfrm xmlns:a="http://schemas.openxmlformats.org/drawingml/2006/main">
            <a:off x="812800" y="4953000"/>
            <a:ext cx="10566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Koi audit via The Hacker News: 341 of 2,857 skills were malicious.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Secondary report.</a:t>
            </a:r>
          </a:p>
        </p:txBody>
      </p:sp>
      <p:sp>
        <p:nvSpPr>
          <p:cNvPr id="317" name="13-shape-26">
            <a:extLst xmlns:a="http://schemas.openxmlformats.org/drawingml/2006/main">
              <a:ext uri="{FF2B5EF4-FFF2-40B4-BE49-F238E27FC236}">
                <a16:creationId xmlns:a16="http://schemas.microsoft.com/office/drawing/2014/main" id="{ABF40E49-6B7B-431F-8D71-C74011AB9C05}"/>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318" name="13-shape-27">
            <a:extLst xmlns:a="http://schemas.openxmlformats.org/drawingml/2006/main">
              <a:ext uri="{FF2B5EF4-FFF2-40B4-BE49-F238E27FC236}">
                <a16:creationId xmlns:a16="http://schemas.microsoft.com/office/drawing/2014/main" id="{7D691ED8-D94B-4081-9400-076D62C41BD3}"/>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319" name="13-text-28">
            <a:extLst xmlns:a="http://schemas.openxmlformats.org/drawingml/2006/main">
              <a:ext uri="{FF2B5EF4-FFF2-40B4-BE49-F238E27FC236}">
                <a16:creationId xmlns:a16="http://schemas.microsoft.com/office/drawing/2014/main" id="{6D864936-F5E1-4B3F-A520-90B49D6D10EF}"/>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320" name="13-text-29">
            <a:extLst xmlns:a="http://schemas.openxmlformats.org/drawingml/2006/main">
              <a:ext uri="{FF2B5EF4-FFF2-40B4-BE49-F238E27FC236}">
                <a16:creationId xmlns:a16="http://schemas.microsoft.com/office/drawing/2014/main" id="{21C17C90-E335-45AA-9EAE-84B546E50ACC}"/>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321" name="narrative-number">
            <a:extLst xmlns:a="http://schemas.openxmlformats.org/drawingml/2006/main">
              <a:ext uri="{FF2B5EF4-FFF2-40B4-BE49-F238E27FC236}">
                <a16:creationId xmlns:a16="http://schemas.microsoft.com/office/drawing/2014/main" id="{18D32526-9412-426A-89DF-C7E6BA0667D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196401275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7"/>
                                        </p:tgtEl>
                                        <p:attrNameLst>
                                          <p:attrName>style.visibility</p:attrName>
                                        </p:attrNameLst>
                                      </p:cBhvr>
                                      <p:to>
                                        <p:strVal val="visible"/>
                                      </p:to>
                                    </p:set>
                                    <p:animEffect transition="in" filter="fade">
                                      <p:cBhvr>
                                        <p:cTn id="7" dur="300" fill="hold"/>
                                        <p:tgtEl>
                                          <p:spTgt spid="317"/>
                                        </p:tgtEl>
                                      </p:cBhvr>
                                    </p:animEffect>
                                  </p:childTnLst>
                                </p:cTn>
                              </p:par>
                              <p:par>
                                <p:cTn id="8" presetID="10" presetClass="entr" presetSubtype="0" fill="hold" nodeType="withEffect">
                                  <p:stCondLst>
                                    <p:cond delay="0"/>
                                  </p:stCondLst>
                                  <p:childTnLst>
                                    <p:set>
                                      <p:cBhvr>
                                        <p:cTn id="9" dur="1" fill="hold">
                                          <p:stCondLst>
                                            <p:cond delay="0"/>
                                          </p:stCondLst>
                                        </p:cTn>
                                        <p:tgtEl>
                                          <p:spTgt spid="318"/>
                                        </p:tgtEl>
                                        <p:attrNameLst>
                                          <p:attrName>style.visibility</p:attrName>
                                        </p:attrNameLst>
                                      </p:cBhvr>
                                      <p:to>
                                        <p:strVal val="visible"/>
                                      </p:to>
                                    </p:set>
                                    <p:animEffect transition="in" filter="fade">
                                      <p:cBhvr>
                                        <p:cTn id="10" dur="300" fill="hold"/>
                                        <p:tgtEl>
                                          <p:spTgt spid="318"/>
                                        </p:tgtEl>
                                      </p:cBhvr>
                                    </p:animEffect>
                                  </p:childTnLst>
                                </p:cTn>
                              </p:par>
                              <p:par>
                                <p:cTn id="11" presetID="10" presetClass="entr" presetSubtype="0" fill="hold" nodeType="withEffect">
                                  <p:stCondLst>
                                    <p:cond delay="0"/>
                                  </p:stCondLst>
                                  <p:childTnLst>
                                    <p:set>
                                      <p:cBhvr>
                                        <p:cTn id="12" dur="1" fill="hold">
                                          <p:stCondLst>
                                            <p:cond delay="0"/>
                                          </p:stCondLst>
                                        </p:cTn>
                                        <p:tgtEl>
                                          <p:spTgt spid="319"/>
                                        </p:tgtEl>
                                        <p:attrNameLst>
                                          <p:attrName>style.visibility</p:attrName>
                                        </p:attrNameLst>
                                      </p:cBhvr>
                                      <p:to>
                                        <p:strVal val="visible"/>
                                      </p:to>
                                    </p:set>
                                    <p:animEffect transition="in" filter="fade">
                                      <p:cBhvr>
                                        <p:cTn id="13" dur="300" fill="hold"/>
                                        <p:tgtEl>
                                          <p:spTgt spid="319"/>
                                        </p:tgtEl>
                                      </p:cBhvr>
                                    </p:animEffect>
                                  </p:childTnLst>
                                </p:cTn>
                              </p:par>
                              <p:par>
                                <p:cTn id="14" presetID="10" presetClass="entr" presetSubtype="0" fill="hold" nodeType="withEffect">
                                  <p:stCondLst>
                                    <p:cond delay="0"/>
                                  </p:stCondLst>
                                  <p:childTnLst>
                                    <p:set>
                                      <p:cBhvr>
                                        <p:cTn id="15" dur="1" fill="hold">
                                          <p:stCondLst>
                                            <p:cond delay="0"/>
                                          </p:stCondLst>
                                        </p:cTn>
                                        <p:tgtEl>
                                          <p:spTgt spid="320"/>
                                        </p:tgtEl>
                                        <p:attrNameLst>
                                          <p:attrName>style.visibility</p:attrName>
                                        </p:attrNameLst>
                                      </p:cBhvr>
                                      <p:to>
                                        <p:strVal val="visible"/>
                                      </p:to>
                                    </p:set>
                                    <p:animEffect transition="in" filter="fade">
                                      <p:cBhvr>
                                        <p:cTn id="16" dur="300" fill="hold"/>
                                        <p:tgtEl>
                                          <p:spTgt spid="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2" name="!!area-header">
            <a:extLst xmlns:a="http://schemas.openxmlformats.org/drawingml/2006/main">
              <a:ext uri="{FF2B5EF4-FFF2-40B4-BE49-F238E27FC236}">
                <a16:creationId xmlns:a16="http://schemas.microsoft.com/office/drawing/2014/main" id="{CE034A1A-AD71-483E-B26A-84C5DB011419}"/>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323" name="!!area-name">
            <a:extLst xmlns:a="http://schemas.openxmlformats.org/drawingml/2006/main">
              <a:ext uri="{FF2B5EF4-FFF2-40B4-BE49-F238E27FC236}">
                <a16:creationId xmlns:a16="http://schemas.microsoft.com/office/drawing/2014/main" id="{554CE307-A529-486B-9E4B-278C79E3B9DA}"/>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324" name="!!area-beat">
            <a:extLst xmlns:a="http://schemas.openxmlformats.org/drawingml/2006/main">
              <a:ext uri="{FF2B5EF4-FFF2-40B4-BE49-F238E27FC236}">
                <a16:creationId xmlns:a16="http://schemas.microsoft.com/office/drawing/2014/main" id="{67AD0EF5-2EAF-4484-AB45-EA3E7734B486}"/>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325" name="header-divider">
            <a:extLst xmlns:a="http://schemas.openxmlformats.org/drawingml/2006/main">
              <a:ext uri="{FF2B5EF4-FFF2-40B4-BE49-F238E27FC236}">
                <a16:creationId xmlns:a16="http://schemas.microsoft.com/office/drawing/2014/main" id="{6BD3A297-3A75-42BB-BDA6-0A47D9756B15}"/>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6" name="14-shape-1">
            <a:extLst xmlns:a="http://schemas.openxmlformats.org/drawingml/2006/main">
              <a:ext uri="{FF2B5EF4-FFF2-40B4-BE49-F238E27FC236}">
                <a16:creationId xmlns:a16="http://schemas.microsoft.com/office/drawing/2014/main" id="{B5216597-63BC-47AE-B167-A2EC9367A2F8}"/>
              </a:ext>
            </a:extLst>
          </p:cNvPr>
          <p:cNvSpPr>
            <a:spLocks xmlns:a="http://schemas.openxmlformats.org/drawingml/2006/main"/>
          </p:cNvSpPr>
          <p:nvPr/>
        </p:nvSpPr>
        <p:spPr>
          <a:xfrm xmlns:a="http://schemas.openxmlformats.org/drawingml/2006/main">
            <a:off x="609600" y="2082800"/>
            <a:ext cx="10033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327" name="14-text-2">
            <a:extLst xmlns:a="http://schemas.openxmlformats.org/drawingml/2006/main">
              <a:ext uri="{FF2B5EF4-FFF2-40B4-BE49-F238E27FC236}">
                <a16:creationId xmlns:a16="http://schemas.microsoft.com/office/drawing/2014/main" id="{19BD805C-FEB9-4E82-B1C9-424A282C68F6}"/>
              </a:ext>
            </a:extLst>
          </p:cNvPr>
          <p:cNvSpPr>
            <a:spLocks xmlns:a="http://schemas.openxmlformats.org/drawingml/2006/main"/>
          </p:cNvSpPr>
          <p:nvPr/>
        </p:nvSpPr>
        <p:spPr>
          <a:xfrm xmlns:a="http://schemas.openxmlformats.org/drawingml/2006/main">
            <a:off x="762000" y="2120900"/>
            <a:ext cx="69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/plan</a:t>
            </a:r>
          </a:p>
        </p:txBody>
      </p:sp>
      <p:sp>
        <p:nvSpPr>
          <p:cNvPr id="328" name="14-shape-3">
            <a:extLst xmlns:a="http://schemas.openxmlformats.org/drawingml/2006/main">
              <a:ext uri="{FF2B5EF4-FFF2-40B4-BE49-F238E27FC236}">
                <a16:creationId xmlns:a16="http://schemas.microsoft.com/office/drawing/2014/main" id="{406F8499-5C82-482A-A9F0-2615A8F28761}"/>
              </a:ext>
            </a:extLst>
          </p:cNvPr>
          <p:cNvSpPr>
            <a:spLocks xmlns:a="http://schemas.openxmlformats.org/drawingml/2006/main"/>
          </p:cNvSpPr>
          <p:nvPr/>
        </p:nvSpPr>
        <p:spPr>
          <a:xfrm xmlns:a="http://schemas.openxmlformats.org/drawingml/2006/main">
            <a:off x="1714500" y="2082800"/>
            <a:ext cx="14859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329" name="14-text-4">
            <a:extLst xmlns:a="http://schemas.openxmlformats.org/drawingml/2006/main">
              <a:ext uri="{FF2B5EF4-FFF2-40B4-BE49-F238E27FC236}">
                <a16:creationId xmlns:a16="http://schemas.microsoft.com/office/drawing/2014/main" id="{927C28FB-A0FA-4B6B-B798-A38B03B88CEF}"/>
              </a:ext>
            </a:extLst>
          </p:cNvPr>
          <p:cNvSpPr>
            <a:spLocks xmlns:a="http://schemas.openxmlformats.org/drawingml/2006/main"/>
          </p:cNvSpPr>
          <p:nvPr/>
        </p:nvSpPr>
        <p:spPr>
          <a:xfrm xmlns:a="http://schemas.openxmlformats.org/drawingml/2006/main">
            <a:off x="1866900" y="2120900"/>
            <a:ext cx="1181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subagents</a:t>
            </a:r>
          </a:p>
        </p:txBody>
      </p:sp>
      <p:sp>
        <p:nvSpPr>
          <p:cNvPr id="330" name="14-shape-5">
            <a:extLst xmlns:a="http://schemas.openxmlformats.org/drawingml/2006/main">
              <a:ext uri="{FF2B5EF4-FFF2-40B4-BE49-F238E27FC236}">
                <a16:creationId xmlns:a16="http://schemas.microsoft.com/office/drawing/2014/main" id="{08844878-6E1E-43D1-A4B7-FB5B131C2E6A}"/>
              </a:ext>
            </a:extLst>
          </p:cNvPr>
          <p:cNvSpPr>
            <a:spLocks xmlns:a="http://schemas.openxmlformats.org/drawingml/2006/main"/>
          </p:cNvSpPr>
          <p:nvPr/>
        </p:nvSpPr>
        <p:spPr>
          <a:xfrm xmlns:a="http://schemas.openxmlformats.org/drawingml/2006/main">
            <a:off x="3302000" y="2082800"/>
            <a:ext cx="9906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331" name="14-text-6">
            <a:extLst xmlns:a="http://schemas.openxmlformats.org/drawingml/2006/main">
              <a:ext uri="{FF2B5EF4-FFF2-40B4-BE49-F238E27FC236}">
                <a16:creationId xmlns:a16="http://schemas.microsoft.com/office/drawing/2014/main" id="{4B3688B0-8B2E-4E28-893E-7812DB6BCC5F}"/>
              </a:ext>
            </a:extLst>
          </p:cNvPr>
          <p:cNvSpPr>
            <a:spLocks xmlns:a="http://schemas.openxmlformats.org/drawingml/2006/main"/>
          </p:cNvSpPr>
          <p:nvPr/>
        </p:nvSpPr>
        <p:spPr>
          <a:xfrm xmlns:a="http://schemas.openxmlformats.org/drawingml/2006/main">
            <a:off x="3454400" y="2120900"/>
            <a:ext cx="685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hooks</a:t>
            </a:r>
          </a:p>
        </p:txBody>
      </p:sp>
      <p:sp>
        <p:nvSpPr>
          <p:cNvPr id="332" name="14-shape-7">
            <a:extLst xmlns:a="http://schemas.openxmlformats.org/drawingml/2006/main">
              <a:ext uri="{FF2B5EF4-FFF2-40B4-BE49-F238E27FC236}">
                <a16:creationId xmlns:a16="http://schemas.microsoft.com/office/drawing/2014/main" id="{F4F516F0-1B79-4FBD-BAB0-384711B9A6D6}"/>
              </a:ext>
            </a:extLst>
          </p:cNvPr>
          <p:cNvSpPr>
            <a:spLocks xmlns:a="http://schemas.openxmlformats.org/drawingml/2006/main"/>
          </p:cNvSpPr>
          <p:nvPr/>
        </p:nvSpPr>
        <p:spPr>
          <a:xfrm xmlns:a="http://schemas.openxmlformats.org/drawingml/2006/main">
            <a:off x="4394200" y="2082800"/>
            <a:ext cx="14224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333" name="14-text-8">
            <a:extLst xmlns:a="http://schemas.openxmlformats.org/drawingml/2006/main">
              <a:ext uri="{FF2B5EF4-FFF2-40B4-BE49-F238E27FC236}">
                <a16:creationId xmlns:a16="http://schemas.microsoft.com/office/drawing/2014/main" id="{14DCC455-0B84-46CD-8EA1-146CF3FA1B8C}"/>
              </a:ext>
            </a:extLst>
          </p:cNvPr>
          <p:cNvSpPr>
            <a:spLocks xmlns:a="http://schemas.openxmlformats.org/drawingml/2006/main"/>
          </p:cNvSpPr>
          <p:nvPr/>
        </p:nvSpPr>
        <p:spPr>
          <a:xfrm xmlns:a="http://schemas.openxmlformats.org/drawingml/2006/main">
            <a:off x="4546600" y="2120900"/>
            <a:ext cx="111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/compact</a:t>
            </a:r>
          </a:p>
        </p:txBody>
      </p:sp>
      <p:sp>
        <p:nvSpPr>
          <p:cNvPr id="334" name="14-shape-9">
            <a:extLst xmlns:a="http://schemas.openxmlformats.org/drawingml/2006/main">
              <a:ext uri="{FF2B5EF4-FFF2-40B4-BE49-F238E27FC236}">
                <a16:creationId xmlns:a16="http://schemas.microsoft.com/office/drawing/2014/main" id="{61678903-06CA-4F15-BC3A-168599DBE9FA}"/>
              </a:ext>
            </a:extLst>
          </p:cNvPr>
          <p:cNvSpPr>
            <a:spLocks xmlns:a="http://schemas.openxmlformats.org/drawingml/2006/main"/>
          </p:cNvSpPr>
          <p:nvPr/>
        </p:nvSpPr>
        <p:spPr>
          <a:xfrm xmlns:a="http://schemas.openxmlformats.org/drawingml/2006/main">
            <a:off x="5918200" y="2082800"/>
            <a:ext cx="12827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335" name="14-text-10">
            <a:extLst xmlns:a="http://schemas.openxmlformats.org/drawingml/2006/main">
              <a:ext uri="{FF2B5EF4-FFF2-40B4-BE49-F238E27FC236}">
                <a16:creationId xmlns:a16="http://schemas.microsoft.com/office/drawing/2014/main" id="{194416BC-5D1D-466F-AB37-0F0EAE2CEE22}"/>
              </a:ext>
            </a:extLst>
          </p:cNvPr>
          <p:cNvSpPr>
            <a:spLocks xmlns:a="http://schemas.openxmlformats.org/drawingml/2006/main"/>
          </p:cNvSpPr>
          <p:nvPr/>
        </p:nvSpPr>
        <p:spPr>
          <a:xfrm xmlns:a="http://schemas.openxmlformats.org/drawingml/2006/main">
            <a:off x="6070600" y="2120900"/>
            <a:ext cx="977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/resume</a:t>
            </a:r>
          </a:p>
        </p:txBody>
      </p:sp>
      <p:sp>
        <p:nvSpPr>
          <p:cNvPr id="336" name="14-shape-11">
            <a:extLst xmlns:a="http://schemas.openxmlformats.org/drawingml/2006/main">
              <a:ext uri="{FF2B5EF4-FFF2-40B4-BE49-F238E27FC236}">
                <a16:creationId xmlns:a16="http://schemas.microsoft.com/office/drawing/2014/main" id="{AA144712-DBEF-46A7-AC70-02D64AA0B3FD}"/>
              </a:ext>
            </a:extLst>
          </p:cNvPr>
          <p:cNvSpPr>
            <a:spLocks xmlns:a="http://schemas.openxmlformats.org/drawingml/2006/main"/>
          </p:cNvSpPr>
          <p:nvPr/>
        </p:nvSpPr>
        <p:spPr>
          <a:xfrm xmlns:a="http://schemas.openxmlformats.org/drawingml/2006/main">
            <a:off x="7302500" y="2082800"/>
            <a:ext cx="10033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337" name="14-text-12">
            <a:extLst xmlns:a="http://schemas.openxmlformats.org/drawingml/2006/main">
              <a:ext uri="{FF2B5EF4-FFF2-40B4-BE49-F238E27FC236}">
                <a16:creationId xmlns:a16="http://schemas.microsoft.com/office/drawing/2014/main" id="{5E73B0EC-836C-47B8-8C43-7D359C2C9713}"/>
              </a:ext>
            </a:extLst>
          </p:cNvPr>
          <p:cNvSpPr>
            <a:spLocks xmlns:a="http://schemas.openxmlformats.org/drawingml/2006/main"/>
          </p:cNvSpPr>
          <p:nvPr/>
        </p:nvSpPr>
        <p:spPr>
          <a:xfrm xmlns:a="http://schemas.openxmlformats.org/drawingml/2006/main">
            <a:off x="7454900" y="2120900"/>
            <a:ext cx="69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/fork</a:t>
            </a:r>
          </a:p>
        </p:txBody>
      </p:sp>
      <p:sp>
        <p:nvSpPr>
          <p:cNvPr id="338" name="14-text-13">
            <a:extLst xmlns:a="http://schemas.openxmlformats.org/drawingml/2006/main">
              <a:ext uri="{FF2B5EF4-FFF2-40B4-BE49-F238E27FC236}">
                <a16:creationId xmlns:a16="http://schemas.microsoft.com/office/drawing/2014/main" id="{A3135D38-B9CE-4F57-8E8E-F2DEA8A575C4}"/>
              </a:ext>
            </a:extLst>
          </p:cNvPr>
          <p:cNvSpPr>
            <a:spLocks xmlns:a="http://schemas.openxmlformats.org/drawingml/2006/main"/>
          </p:cNvSpPr>
          <p:nvPr/>
        </p:nvSpPr>
        <p:spPr>
          <a:xfrm xmlns:a="http://schemas.openxmlformats.org/drawingml/2006/main">
            <a:off x="3810000" y="3022600"/>
            <a:ext cx="4572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gather context</a:t>
            </a:r>
          </a:p>
        </p:txBody>
      </p:sp>
      <p:sp>
        <p:nvSpPr>
          <p:cNvPr id="339" name="14-text-14">
            <a:extLst xmlns:a="http://schemas.openxmlformats.org/drawingml/2006/main">
              <a:ext uri="{FF2B5EF4-FFF2-40B4-BE49-F238E27FC236}">
                <a16:creationId xmlns:a16="http://schemas.microsoft.com/office/drawing/2014/main" id="{D0E4CB84-8B36-4F03-BEA2-1593B5D74086}"/>
              </a:ext>
            </a:extLst>
          </p:cNvPr>
          <p:cNvSpPr>
            <a:spLocks xmlns:a="http://schemas.openxmlformats.org/drawingml/2006/main"/>
          </p:cNvSpPr>
          <p:nvPr/>
        </p:nvSpPr>
        <p:spPr>
          <a:xfrm xmlns:a="http://schemas.openxmlformats.org/drawingml/2006/main">
            <a:off x="7289800" y="48133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take action</a:t>
            </a:r>
          </a:p>
        </p:txBody>
      </p:sp>
      <p:sp>
        <p:nvSpPr>
          <p:cNvPr id="340" name="14-text-15">
            <a:extLst xmlns:a="http://schemas.openxmlformats.org/drawingml/2006/main">
              <a:ext uri="{FF2B5EF4-FFF2-40B4-BE49-F238E27FC236}">
                <a16:creationId xmlns:a16="http://schemas.microsoft.com/office/drawing/2014/main" id="{462F0F6E-ACA5-4156-B350-99A9B9EC1BD2}"/>
              </a:ext>
            </a:extLst>
          </p:cNvPr>
          <p:cNvSpPr>
            <a:spLocks xmlns:a="http://schemas.openxmlformats.org/drawingml/2006/main"/>
          </p:cNvSpPr>
          <p:nvPr/>
        </p:nvSpPr>
        <p:spPr>
          <a:xfrm xmlns:a="http://schemas.openxmlformats.org/drawingml/2006/main">
            <a:off x="2260600" y="4813300"/>
            <a:ext cx="2286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341" name="14-line-17">
            <a:extLst xmlns:a="http://schemas.openxmlformats.org/drawingml/2006/main">
              <a:ext uri="{FF2B5EF4-FFF2-40B4-BE49-F238E27FC236}">
                <a16:creationId xmlns:a16="http://schemas.microsoft.com/office/drawing/2014/main" id="{C4EBBC91-3816-4ECD-8514-85B68E9D6BB4}"/>
              </a:ext>
            </a:extLst>
          </p:cNvPr>
          <p:cNvSpPr>
            <a:spLocks xmlns:a="http://schemas.openxmlformats.org/drawingml/2006/main"/>
          </p:cNvSpPr>
          <p:nvPr/>
        </p:nvSpPr>
        <p:spPr>
          <a:xfrm xmlns:a="http://schemas.openxmlformats.org/drawingml/2006/main" flipH="0" flipV="0">
            <a:off x="7035800" y="3556000"/>
            <a:ext cx="1028700" cy="8509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42" name="14-line-19">
            <a:extLst xmlns:a="http://schemas.openxmlformats.org/drawingml/2006/main">
              <a:ext uri="{FF2B5EF4-FFF2-40B4-BE49-F238E27FC236}">
                <a16:creationId xmlns:a16="http://schemas.microsoft.com/office/drawing/2014/main" id="{393AB5A6-F347-4972-B816-41D0CEC97217}"/>
              </a:ext>
            </a:extLst>
          </p:cNvPr>
          <p:cNvSpPr>
            <a:spLocks xmlns:a="http://schemas.openxmlformats.org/drawingml/2006/main"/>
          </p:cNvSpPr>
          <p:nvPr/>
        </p:nvSpPr>
        <p:spPr>
          <a:xfrm xmlns:a="http://schemas.openxmlformats.org/drawingml/2006/main" flipH="1" flipV="0">
            <a:off x="4597400" y="5092700"/>
            <a:ext cx="2565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43" name="14-line-21">
            <a:extLst xmlns:a="http://schemas.openxmlformats.org/drawingml/2006/main">
              <a:ext uri="{FF2B5EF4-FFF2-40B4-BE49-F238E27FC236}">
                <a16:creationId xmlns:a16="http://schemas.microsoft.com/office/drawing/2014/main" id="{521DA442-9133-4127-B47D-85E214D51FF4}"/>
              </a:ext>
            </a:extLst>
          </p:cNvPr>
          <p:cNvSpPr>
            <a:spLocks xmlns:a="http://schemas.openxmlformats.org/drawingml/2006/main"/>
          </p:cNvSpPr>
          <p:nvPr/>
        </p:nvSpPr>
        <p:spPr>
          <a:xfrm xmlns:a="http://schemas.openxmlformats.org/drawingml/2006/main" flipH="0" flipV="1">
            <a:off x="3644900" y="3556000"/>
            <a:ext cx="1270000" cy="8890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44" name="narrative-number">
            <a:extLst xmlns:a="http://schemas.openxmlformats.org/drawingml/2006/main">
              <a:ext uri="{FF2B5EF4-FFF2-40B4-BE49-F238E27FC236}">
                <a16:creationId xmlns:a16="http://schemas.microsoft.com/office/drawing/2014/main" id="{E8B906A8-5EC8-48B9-9CA8-E5C584D9368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1907078724"/>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5" name="!!area-name">
            <a:extLst xmlns:a="http://schemas.openxmlformats.org/drawingml/2006/main">
              <a:ext uri="{FF2B5EF4-FFF2-40B4-BE49-F238E27FC236}">
                <a16:creationId xmlns:a16="http://schemas.microsoft.com/office/drawing/2014/main" id="{B7C6B27A-1098-4F80-A494-9D4FA6DBEF5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357" name="mini-map"/>
          <p:cNvPicPr>
            <a:picLocks xmlns:a="http://schemas.openxmlformats.org/drawingml/2006/main" noChangeAspect="1"/>
          </p:cNvPicPr>
          <p:nvPr/>
        </p:nvPicPr>
        <p:blipFill>
          <a:blip xmlns:r="http://schemas.openxmlformats.org/officeDocument/2006/relationships" xmlns:a="http://schemas.openxmlformats.org/drawingml/2006/main" r:embed="R259f9f2454bb403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7" name="header-divider">
            <a:extLst xmlns:a="http://schemas.openxmlformats.org/drawingml/2006/main">
              <a:ext uri="{FF2B5EF4-FFF2-40B4-BE49-F238E27FC236}">
                <a16:creationId xmlns:a16="http://schemas.microsoft.com/office/drawing/2014/main" id="{EAD3C26E-34F5-4DC2-B207-67E31E54D3B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8" name="14b-text-1">
            <a:extLst xmlns:a="http://schemas.openxmlformats.org/drawingml/2006/main">
              <a:ext uri="{FF2B5EF4-FFF2-40B4-BE49-F238E27FC236}">
                <a16:creationId xmlns:a16="http://schemas.microsoft.com/office/drawing/2014/main" id="{919FC0DC-7511-4D7E-8933-BC115CEE0650}"/>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349" name="14b-text-2">
            <a:extLst xmlns:a="http://schemas.openxmlformats.org/drawingml/2006/main">
              <a:ext uri="{FF2B5EF4-FFF2-40B4-BE49-F238E27FC236}">
                <a16:creationId xmlns:a16="http://schemas.microsoft.com/office/drawing/2014/main" id="{FAFE7037-DB25-4A7F-990D-68192164AABB}"/>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The loop's decisions:</a:t>
            </a:r>
          </a:p>
        </p:txBody>
      </p:sp>
      <p:sp>
        <p:nvSpPr>
          <p:cNvPr id="350" name="14b-text-3">
            <a:extLst xmlns:a="http://schemas.openxmlformats.org/drawingml/2006/main">
              <a:ext uri="{FF2B5EF4-FFF2-40B4-BE49-F238E27FC236}">
                <a16:creationId xmlns:a16="http://schemas.microsoft.com/office/drawing/2014/main" id="{1E2AE8CF-23A4-4ABF-9E98-A479359C35FF}"/>
              </a:ext>
            </a:extLst>
          </p:cNvPr>
          <p:cNvSpPr>
            <a:spLocks xmlns:a="http://schemas.openxmlformats.org/drawingml/2006/main"/>
          </p:cNvSpPr>
          <p:nvPr/>
        </p:nvSpPr>
        <p:spPr>
          <a:xfrm xmlns:a="http://schemas.openxmlformats.org/drawingml/2006/main">
            <a:off x="609600" y="29718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stop.</a:t>
            </a:r>
          </a:p>
        </p:txBody>
      </p:sp>
      <p:sp>
        <p:nvSpPr>
          <p:cNvPr id="351" name="14b-text-4">
            <a:extLst xmlns:a="http://schemas.openxmlformats.org/drawingml/2006/main">
              <a:ext uri="{FF2B5EF4-FFF2-40B4-BE49-F238E27FC236}">
                <a16:creationId xmlns:a16="http://schemas.microsoft.com/office/drawing/2014/main" id="{1CA73DD2-64AD-42FB-88AF-6C57BD3CA8C8}"/>
              </a:ext>
            </a:extLst>
          </p:cNvPr>
          <p:cNvSpPr>
            <a:spLocks xmlns:a="http://schemas.openxmlformats.org/drawingml/2006/main"/>
          </p:cNvSpPr>
          <p:nvPr/>
        </p:nvSpPr>
        <p:spPr>
          <a:xfrm xmlns:a="http://schemas.openxmlformats.org/drawingml/2006/main">
            <a:off x="609600" y="35814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carries between turns.</a:t>
            </a:r>
          </a:p>
        </p:txBody>
      </p:sp>
      <p:sp>
        <p:nvSpPr>
          <p:cNvPr id="352" name="14b-text-5">
            <a:extLst xmlns:a="http://schemas.openxmlformats.org/drawingml/2006/main">
              <a:ext uri="{FF2B5EF4-FFF2-40B4-BE49-F238E27FC236}">
                <a16:creationId xmlns:a16="http://schemas.microsoft.com/office/drawing/2014/main" id="{C8A91C18-5B68-44D8-88F7-9B3636619641}"/>
              </a:ext>
            </a:extLst>
          </p:cNvPr>
          <p:cNvSpPr>
            <a:spLocks xmlns:a="http://schemas.openxmlformats.org/drawingml/2006/main"/>
          </p:cNvSpPr>
          <p:nvPr/>
        </p:nvSpPr>
        <p:spPr>
          <a:xfrm xmlns:a="http://schemas.openxmlformats.org/drawingml/2006/main">
            <a:off x="609600" y="419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compact.</a:t>
            </a:r>
          </a:p>
        </p:txBody>
      </p:sp>
      <p:sp>
        <p:nvSpPr>
          <p:cNvPr id="353" name="14b-text-6">
            <a:extLst xmlns:a="http://schemas.openxmlformats.org/drawingml/2006/main">
              <a:ext uri="{FF2B5EF4-FFF2-40B4-BE49-F238E27FC236}">
                <a16:creationId xmlns:a16="http://schemas.microsoft.com/office/drawing/2014/main" id="{0E05551E-EE45-4AB3-97EB-258A490B6167}"/>
              </a:ext>
            </a:extLst>
          </p:cNvPr>
          <p:cNvSpPr>
            <a:spLocks xmlns:a="http://schemas.openxmlformats.org/drawingml/2006/main"/>
          </p:cNvSpPr>
          <p:nvPr/>
        </p:nvSpPr>
        <p:spPr>
          <a:xfrm xmlns:a="http://schemas.openxmlformats.org/drawingml/2006/main">
            <a:off x="609600" y="4800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spawn a subagent, and what to hand it.</a:t>
            </a:r>
          </a:p>
        </p:txBody>
      </p:sp>
      <p:sp>
        <p:nvSpPr>
          <p:cNvPr id="354" name="14b-text-7">
            <a:extLst xmlns:a="http://schemas.openxmlformats.org/drawingml/2006/main">
              <a:ext uri="{FF2B5EF4-FFF2-40B4-BE49-F238E27FC236}">
                <a16:creationId xmlns:a16="http://schemas.microsoft.com/office/drawing/2014/main" id="{8BDF89E2-FCEF-486C-9A86-915E300ABA05}"/>
              </a:ext>
            </a:extLst>
          </p:cNvPr>
          <p:cNvSpPr>
            <a:spLocks xmlns:a="http://schemas.openxmlformats.org/drawingml/2006/main"/>
          </p:cNvSpPr>
          <p:nvPr/>
        </p:nvSpPr>
        <p:spPr>
          <a:xfrm xmlns:a="http://schemas.openxmlformats.org/drawingml/2006/main">
            <a:off x="609600" y="5410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Where a hook fires.</a:t>
            </a:r>
          </a:p>
        </p:txBody>
      </p:sp>
      <p:sp>
        <p:nvSpPr>
          <p:cNvPr id="355" name="narrative-number">
            <a:extLst xmlns:a="http://schemas.openxmlformats.org/drawingml/2006/main">
              <a:ext uri="{FF2B5EF4-FFF2-40B4-BE49-F238E27FC236}">
                <a16:creationId xmlns:a16="http://schemas.microsoft.com/office/drawing/2014/main" id="{02BCC9B8-C84A-48E8-9AC0-9ABF5563D73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108496295"/>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6" name="!!area-name">
            <a:extLst xmlns:a="http://schemas.openxmlformats.org/drawingml/2006/main">
              <a:ext uri="{FF2B5EF4-FFF2-40B4-BE49-F238E27FC236}">
                <a16:creationId xmlns:a16="http://schemas.microsoft.com/office/drawing/2014/main" id="{9AC9B740-77F9-4BE4-9A50-589E8B46CE5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365" name="mini-map"/>
          <p:cNvPicPr>
            <a:picLocks xmlns:a="http://schemas.openxmlformats.org/drawingml/2006/main" noChangeAspect="1"/>
          </p:cNvPicPr>
          <p:nvPr/>
        </p:nvPicPr>
        <p:blipFill>
          <a:blip xmlns:r="http://schemas.openxmlformats.org/officeDocument/2006/relationships" xmlns:a="http://schemas.openxmlformats.org/drawingml/2006/main" r:embed="R556948c4e243405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8" name="header-divider">
            <a:extLst xmlns:a="http://schemas.openxmlformats.org/drawingml/2006/main">
              <a:ext uri="{FF2B5EF4-FFF2-40B4-BE49-F238E27FC236}">
                <a16:creationId xmlns:a16="http://schemas.microsoft.com/office/drawing/2014/main" id="{217DB5D4-824F-4F47-8A65-E3EFF199B0A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9" name="14b-text-1">
            <a:extLst xmlns:a="http://schemas.openxmlformats.org/drawingml/2006/main">
              <a:ext uri="{FF2B5EF4-FFF2-40B4-BE49-F238E27FC236}">
                <a16:creationId xmlns:a16="http://schemas.microsoft.com/office/drawing/2014/main" id="{33D8C521-94D7-462E-A2CC-0446D5C870B0}"/>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360" name="14b-text-8">
            <a:extLst xmlns:a="http://schemas.openxmlformats.org/drawingml/2006/main">
              <a:ext uri="{FF2B5EF4-FFF2-40B4-BE49-F238E27FC236}">
                <a16:creationId xmlns:a16="http://schemas.microsoft.com/office/drawing/2014/main" id="{7A844BAD-0749-40AF-B390-96A53AD991AF}"/>
              </a:ext>
            </a:extLst>
          </p:cNvPr>
          <p:cNvSpPr>
            <a:spLocks xmlns:a="http://schemas.openxmlformats.org/drawingml/2006/main"/>
          </p:cNvSpPr>
          <p:nvPr/>
        </p:nvSpPr>
        <p:spPr>
          <a:xfrm xmlns:a="http://schemas.openxmlformats.org/drawingml/2006/main">
            <a:off x="609600" y="2438400"/>
            <a:ext cx="10972800" cy="210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 great harness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beats a great model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a bad harness."</a:t>
            </a:r>
          </a:p>
        </p:txBody>
      </p:sp>
      <p:sp>
        <p:nvSpPr>
          <p:cNvPr id="361" name="14b-text-9">
            <a:extLst xmlns:a="http://schemas.openxmlformats.org/drawingml/2006/main">
              <a:ext uri="{FF2B5EF4-FFF2-40B4-BE49-F238E27FC236}">
                <a16:creationId xmlns:a16="http://schemas.microsoft.com/office/drawing/2014/main" id="{608F671E-FEAE-4ED9-A68D-65BC4FF0AF01}"/>
              </a:ext>
            </a:extLst>
          </p:cNvPr>
          <p:cNvSpPr>
            <a:spLocks xmlns:a="http://schemas.openxmlformats.org/drawingml/2006/main"/>
          </p:cNvSpPr>
          <p:nvPr/>
        </p:nvSpPr>
        <p:spPr>
          <a:xfrm xmlns:a="http://schemas.openxmlformats.org/drawingml/2006/main">
            <a:off x="609600" y="4572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Addy Osmani, April 2026</a:t>
            </a:r>
          </a:p>
        </p:txBody>
      </p:sp>
      <p:sp>
        <p:nvSpPr>
          <p:cNvPr id="362" name="14b-text-10">
            <a:extLst xmlns:a="http://schemas.openxmlformats.org/drawingml/2006/main">
              <a:ext uri="{FF2B5EF4-FFF2-40B4-BE49-F238E27FC236}">
                <a16:creationId xmlns:a16="http://schemas.microsoft.com/office/drawing/2014/main" id="{C6405420-363E-41FD-A9A8-3AABD9DC20DD}"/>
              </a:ext>
            </a:extLst>
          </p:cNvPr>
          <p:cNvSpPr>
            <a:spLocks xmlns:a="http://schemas.openxmlformats.org/drawingml/2006/main"/>
          </p:cNvSpPr>
          <p:nvPr/>
        </p:nvSpPr>
        <p:spPr>
          <a:xfrm xmlns:a="http://schemas.openxmlformats.org/drawingml/2006/main">
            <a:off x="609600" y="5105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Same model, better loop: 13% to 38% on ARC-AGI-3,</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 six times fewer output tokens.</a:t>
            </a:r>
          </a:p>
        </p:txBody>
      </p:sp>
      <p:sp>
        <p:nvSpPr>
          <p:cNvPr id="363" name="narrative-number">
            <a:extLst xmlns:a="http://schemas.openxmlformats.org/drawingml/2006/main">
              <a:ext uri="{FF2B5EF4-FFF2-40B4-BE49-F238E27FC236}">
                <a16:creationId xmlns:a16="http://schemas.microsoft.com/office/drawing/2014/main" id="{5A1FAE0A-F976-4A14-92AC-95C4B52F1F1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2109286592"/>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4" name="!!area-name">
            <a:extLst xmlns:a="http://schemas.openxmlformats.org/drawingml/2006/main">
              <a:ext uri="{FF2B5EF4-FFF2-40B4-BE49-F238E27FC236}">
                <a16:creationId xmlns:a16="http://schemas.microsoft.com/office/drawing/2014/main" id="{1FD61964-AC84-456A-9BD6-C72521AC0F7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372" name="mini-map"/>
          <p:cNvPicPr>
            <a:picLocks xmlns:a="http://schemas.openxmlformats.org/drawingml/2006/main" noChangeAspect="1"/>
          </p:cNvPicPr>
          <p:nvPr/>
        </p:nvPicPr>
        <p:blipFill>
          <a:blip xmlns:r="http://schemas.openxmlformats.org/officeDocument/2006/relationships" xmlns:a="http://schemas.openxmlformats.org/drawingml/2006/main" r:embed="R6f67da64da94478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6" name="header-divider">
            <a:extLst xmlns:a="http://schemas.openxmlformats.org/drawingml/2006/main">
              <a:ext uri="{FF2B5EF4-FFF2-40B4-BE49-F238E27FC236}">
                <a16:creationId xmlns:a16="http://schemas.microsoft.com/office/drawing/2014/main" id="{3CE99F12-D366-43D7-AF6A-2C16EB8DDFE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7" name="14b-text-1">
            <a:extLst xmlns:a="http://schemas.openxmlformats.org/drawingml/2006/main">
              <a:ext uri="{FF2B5EF4-FFF2-40B4-BE49-F238E27FC236}">
                <a16:creationId xmlns:a16="http://schemas.microsoft.com/office/drawing/2014/main" id="{4C5B96D3-8D22-49F9-A56A-0A792B4EC004}"/>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368" name="14b-text-11">
            <a:extLst xmlns:a="http://schemas.openxmlformats.org/drawingml/2006/main">
              <a:ext uri="{FF2B5EF4-FFF2-40B4-BE49-F238E27FC236}">
                <a16:creationId xmlns:a16="http://schemas.microsoft.com/office/drawing/2014/main" id="{456AC07B-1527-4B31-BCC9-CBB79D7F355B}"/>
              </a:ext>
            </a:extLst>
          </p:cNvPr>
          <p:cNvSpPr>
            <a:spLocks xmlns:a="http://schemas.openxmlformats.org/drawingml/2006/main"/>
          </p:cNvSpPr>
          <p:nvPr/>
        </p:nvSpPr>
        <p:spPr>
          <a:xfrm xmlns:a="http://schemas.openxmlformats.org/drawingml/2006/main">
            <a:off x="609600" y="2438400"/>
            <a:ext cx="10972800" cy="195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Over-ambition:</a:t>
            </a:r>
            <a:r>
              <a:rPr b="0">
                <a:solidFill>
                  <a:srgbClr val="FFFCF5"/>
                </a:solidFill>
                <a:latin typeface="Helvetica"/>
                <a:ea typeface="Helvetica"/>
                <a:cs typeface="Helvetica"/>
              </a:rPr>
              <a:t> try to one-shot the whole app.</a:t>
            </a:r>
          </a:p>
          <a:p xmlns:a="http://schemas.openxmlformats.org/drawingml/2006/main">
            <a:pPr algn="l">
              <a:lnSpc>
                <a:spcPct val="125000"/>
              </a:lnSpc>
              <a:defRPr sz="2400" b="0">
                <a:solidFill>
                  <a:srgbClr val="FFFCF5"/>
                </a:solidFill>
                <a:latin typeface="Helvetica"/>
                <a:ea typeface="Helvetica"/>
                <a:cs typeface="Helvetica"/>
              </a:defRPr>
            </a:pPr>
          </a:p>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Premature completion:</a:t>
            </a:r>
            <a:r>
              <a:rPr b="0">
                <a:solidFill>
                  <a:srgbClr val="FFFCF5"/>
                </a:solidFill>
                <a:latin typeface="Helvetica"/>
                <a:ea typeface="Helvetica"/>
                <a:cs typeface="Helvetica"/>
              </a:rPr>
              <a:t> see progress, declare the job done.</a:t>
            </a:r>
          </a:p>
        </p:txBody>
      </p:sp>
      <p:sp>
        <p:nvSpPr>
          <p:cNvPr id="369" name="14b-text-12">
            <a:extLst xmlns:a="http://schemas.openxmlformats.org/drawingml/2006/main">
              <a:ext uri="{FF2B5EF4-FFF2-40B4-BE49-F238E27FC236}">
                <a16:creationId xmlns:a16="http://schemas.microsoft.com/office/drawing/2014/main" id="{F2F5BE9F-DEB1-4B12-98BE-56A41D68ABC3}"/>
              </a:ext>
            </a:extLst>
          </p:cNvPr>
          <p:cNvSpPr>
            <a:spLocks xmlns:a="http://schemas.openxmlformats.org/drawingml/2006/main"/>
          </p:cNvSpPr>
          <p:nvPr/>
        </p:nvSpPr>
        <p:spPr>
          <a:xfrm xmlns:a="http://schemas.openxmlformats.org/drawingml/2006/main">
            <a:off x="609600" y="4572000"/>
            <a:ext cx="109728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fix: an initializer, a feature list, a progress file,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feature per session, and protected acceptance criteria.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Faulty or obsolete tests may change through review.</a:t>
            </a:r>
          </a:p>
        </p:txBody>
      </p:sp>
      <p:sp>
        <p:nvSpPr>
          <p:cNvPr id="370" name="narrative-number">
            <a:extLst xmlns:a="http://schemas.openxmlformats.org/drawingml/2006/main">
              <a:ext uri="{FF2B5EF4-FFF2-40B4-BE49-F238E27FC236}">
                <a16:creationId xmlns:a16="http://schemas.microsoft.com/office/drawing/2014/main" id="{0BA3CC87-AD4C-4711-8717-4A99A278209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103163744"/>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1" name="!!area-name">
            <a:extLst xmlns:a="http://schemas.openxmlformats.org/drawingml/2006/main">
              <a:ext uri="{FF2B5EF4-FFF2-40B4-BE49-F238E27FC236}">
                <a16:creationId xmlns:a16="http://schemas.microsoft.com/office/drawing/2014/main" id="{3FC98BBB-BE60-4545-9B4D-606478CBF5D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381" name="mini-map"/>
          <p:cNvPicPr>
            <a:picLocks xmlns:a="http://schemas.openxmlformats.org/drawingml/2006/main" noChangeAspect="1"/>
          </p:cNvPicPr>
          <p:nvPr/>
        </p:nvPicPr>
        <p:blipFill>
          <a:blip xmlns:r="http://schemas.openxmlformats.org/officeDocument/2006/relationships" xmlns:a="http://schemas.openxmlformats.org/drawingml/2006/main" r:embed="R88d5a63a90ba4c3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3" name="header-divider">
            <a:extLst xmlns:a="http://schemas.openxmlformats.org/drawingml/2006/main">
              <a:ext uri="{FF2B5EF4-FFF2-40B4-BE49-F238E27FC236}">
                <a16:creationId xmlns:a16="http://schemas.microsoft.com/office/drawing/2014/main" id="{BF8D4911-6CE3-4811-88C2-747774FDEB6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4" name="14b-text-1">
            <a:extLst xmlns:a="http://schemas.openxmlformats.org/drawingml/2006/main">
              <a:ext uri="{FF2B5EF4-FFF2-40B4-BE49-F238E27FC236}">
                <a16:creationId xmlns:a16="http://schemas.microsoft.com/office/drawing/2014/main" id="{AFD46B2D-CFA0-4BC2-AB2A-F9C12B00A521}"/>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375" name="14b-text-13">
            <a:extLst xmlns:a="http://schemas.openxmlformats.org/drawingml/2006/main">
              <a:ext uri="{FF2B5EF4-FFF2-40B4-BE49-F238E27FC236}">
                <a16:creationId xmlns:a16="http://schemas.microsoft.com/office/drawing/2014/main" id="{5B4C966A-784F-4C76-A0FA-4270CCF81B66}"/>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Internal research eval: </a:t>
            </a:r>
            <a:r>
              <a:rPr b="1">
                <a:solidFill>
                  <a:srgbClr val="FFFCF5"/>
                </a:solidFill>
                <a:latin typeface="Helvetica"/>
                <a:ea typeface="Helvetica"/>
                <a:cs typeface="Helvetica"/>
              </a:rPr>
              <a:t>90.2% improvement</a:t>
            </a:r>
          </a:p>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over the single-agent research system.</a:t>
            </a:r>
          </a:p>
        </p:txBody>
      </p:sp>
      <p:sp>
        <p:nvSpPr>
          <p:cNvPr id="376" name="14b-text-14">
            <a:extLst xmlns:a="http://schemas.openxmlformats.org/drawingml/2006/main">
              <a:ext uri="{FF2B5EF4-FFF2-40B4-BE49-F238E27FC236}">
                <a16:creationId xmlns:a16="http://schemas.microsoft.com/office/drawing/2014/main" id="{BB9653AA-B656-4717-9F1A-B27194EB2B73}"/>
              </a:ext>
            </a:extLst>
          </p:cNvPr>
          <p:cNvSpPr>
            <a:spLocks xmlns:a="http://schemas.openxmlformats.org/drawingml/2006/main"/>
          </p:cNvSpPr>
          <p:nvPr/>
        </p:nvSpPr>
        <p:spPr>
          <a:xfrm xmlns:a="http://schemas.openxmlformats.org/drawingml/2006/main">
            <a:off x="609600" y="37338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Separate token comparison:</a:t>
            </a:r>
          </a:p>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multi-agent systems used about </a:t>
            </a:r>
            <a:r>
              <a:rPr b="1">
                <a:solidFill>
                  <a:srgbClr val="FFFCF5"/>
                </a:solidFill>
                <a:latin typeface="Helvetica"/>
                <a:ea typeface="Helvetica"/>
                <a:cs typeface="Helvetica"/>
              </a:rPr>
              <a:t>15x chat tokens</a:t>
            </a:r>
            <a:r>
              <a:rPr b="0">
                <a:solidFill>
                  <a:srgbClr val="FFFCF5"/>
                </a:solidFill>
                <a:latin typeface="Helvetica"/>
                <a:ea typeface="Helvetica"/>
                <a:cs typeface="Helvetica"/>
              </a:rPr>
              <a:t>.</a:t>
            </a:r>
          </a:p>
        </p:txBody>
      </p:sp>
      <p:sp>
        <p:nvSpPr>
          <p:cNvPr id="377" name="14b-text-15">
            <a:extLst xmlns:a="http://schemas.openxmlformats.org/drawingml/2006/main">
              <a:ext uri="{FF2B5EF4-FFF2-40B4-BE49-F238E27FC236}">
                <a16:creationId xmlns:a16="http://schemas.microsoft.com/office/drawing/2014/main" id="{74209463-A8F5-46BE-A7D7-5794664ACFC0}"/>
              </a:ext>
            </a:extLst>
          </p:cNvPr>
          <p:cNvSpPr>
            <a:spLocks xmlns:a="http://schemas.openxmlformats.org/drawingml/2006/main"/>
          </p:cNvSpPr>
          <p:nvPr/>
        </p:nvSpPr>
        <p:spPr>
          <a:xfrm xmlns:a="http://schemas.openxmlformats.org/drawingml/2006/main">
            <a:off x="609600" y="52070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Poor fit when agents need shared context.</a:t>
            </a:r>
          </a:p>
        </p:txBody>
      </p:sp>
      <p:sp>
        <p:nvSpPr>
          <p:cNvPr id="378" name="14b-text-16">
            <a:extLst xmlns:a="http://schemas.openxmlformats.org/drawingml/2006/main">
              <a:ext uri="{FF2B5EF4-FFF2-40B4-BE49-F238E27FC236}">
                <a16:creationId xmlns:a16="http://schemas.microsoft.com/office/drawing/2014/main" id="{26485A66-CC33-415E-B508-9CB2CEDB05BA}"/>
              </a:ext>
            </a:extLst>
          </p:cNvPr>
          <p:cNvSpPr>
            <a:spLocks xmlns:a="http://schemas.openxmlformats.org/drawingml/2006/main"/>
          </p:cNvSpPr>
          <p:nvPr/>
        </p:nvSpPr>
        <p:spPr>
          <a:xfrm xmlns:a="http://schemas.openxmlformats.org/drawingml/2006/main">
            <a:off x="609600" y="5816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Anthropic, June 13, 2025</a:t>
            </a:r>
          </a:p>
        </p:txBody>
      </p:sp>
      <p:sp>
        <p:nvSpPr>
          <p:cNvPr id="379" name="narrative-number">
            <a:extLst xmlns:a="http://schemas.openxmlformats.org/drawingml/2006/main">
              <a:ext uri="{FF2B5EF4-FFF2-40B4-BE49-F238E27FC236}">
                <a16:creationId xmlns:a16="http://schemas.microsoft.com/office/drawing/2014/main" id="{EC874492-81AC-40A4-B047-2D71D5ADAAD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1050239835"/>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0" name="!!area-name">
            <a:extLst xmlns:a="http://schemas.openxmlformats.org/drawingml/2006/main">
              <a:ext uri="{FF2B5EF4-FFF2-40B4-BE49-F238E27FC236}">
                <a16:creationId xmlns:a16="http://schemas.microsoft.com/office/drawing/2014/main" id="{6B4F54BB-C70C-4B51-AFBE-B615314BEC7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397" name="mini-map"/>
          <p:cNvPicPr>
            <a:picLocks xmlns:a="http://schemas.openxmlformats.org/drawingml/2006/main" noChangeAspect="1"/>
          </p:cNvPicPr>
          <p:nvPr/>
        </p:nvPicPr>
        <p:blipFill>
          <a:blip xmlns:r="http://schemas.openxmlformats.org/officeDocument/2006/relationships" xmlns:a="http://schemas.openxmlformats.org/drawingml/2006/main" r:embed="R19fd7353f19e477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2" name="slide-title">
            <a:extLst xmlns:a="http://schemas.openxmlformats.org/drawingml/2006/main">
              <a:ext uri="{FF2B5EF4-FFF2-40B4-BE49-F238E27FC236}">
                <a16:creationId xmlns:a16="http://schemas.microsoft.com/office/drawing/2014/main" id="{92A4413C-F68D-45C9-9FDF-BF1FBC5DBA3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383" name="header-divider">
            <a:extLst xmlns:a="http://schemas.openxmlformats.org/drawingml/2006/main">
              <a:ext uri="{FF2B5EF4-FFF2-40B4-BE49-F238E27FC236}">
                <a16:creationId xmlns:a16="http://schemas.microsoft.com/office/drawing/2014/main" id="{0692DAED-5FE3-4F37-AA69-0039DE54CB4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00" name="15-table-1"/>
          <p:cNvGraphicFramePr/>
          <p:nvPr/>
        </p:nvGraphicFramePr>
        <p:xfrm>
          <a:off xmlns:a="http://schemas.openxmlformats.org/drawingml/2006/main" x="609600" y="24384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5334000"/>
                <a:gridCol w="304800"/>
                <a:gridCol w="5334000"/>
              </a:tblGrid>
              <a:tr h="508000">
                <a:tc>
                  <a:txBody>
                    <a:bodyPr>
                      <a:noAutofit/>
                    </a:bodyPr>
                    <a:lstStyle/>
                    <a:p>
                      <a:pPr>
                        <a:lnSpc>
                          <a:spcPct val="125000"/>
                        </a:lnSpc>
                        <a:buNone/>
                      </a:pPr>
                      <a:r>
                        <a:rPr sz="2400" b="1">
                          <a:solidFill>
                            <a:srgbClr val="F948BE"/>
                          </a:solidFill>
                          <a:latin typeface="Helvetica"/>
                          <a:ea typeface="Helvetica"/>
                          <a:cs typeface="Helvetica"/>
                        </a:rPr>
                        <a:t>Workflows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Agents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63600">
                <a:tc>
                  <a:txBody>
                    <a:bodyPr>
                      <a:noAutofit/>
                    </a:bodyPr>
                    <a:lstStyle/>
                    <a:p>
                      <a:pPr>
                        <a:lnSpc>
                          <a:spcPct val="125000"/>
                        </a:lnSpc>
                        <a:buNone/>
                      </a:pPr>
                      <a:r>
                        <a:rPr sz="2000" b="0">
                          <a:solidFill>
                            <a:srgbClr val="FFFCF5"/>
                          </a:solidFill>
                          <a:latin typeface="Helvetica"/>
                          <a:ea typeface="Helvetica"/>
                          <a:cs typeface="Helvetica"/>
                        </a:rPr>
                        <a:t>LLMs and tools on predefined code paths.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LLMs that direct their own process.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385" name="15-shape-2">
            <a:extLst xmlns:a="http://schemas.openxmlformats.org/drawingml/2006/main">
              <a:ext uri="{FF2B5EF4-FFF2-40B4-BE49-F238E27FC236}">
                <a16:creationId xmlns:a16="http://schemas.microsoft.com/office/drawing/2014/main" id="{62E132C1-048E-40FE-A4E5-F402D67930CE}"/>
              </a:ext>
            </a:extLst>
          </p:cNvPr>
          <p:cNvSpPr>
            <a:spLocks xmlns:a="http://schemas.openxmlformats.org/drawingml/2006/main"/>
          </p:cNvSpPr>
          <p:nvPr/>
        </p:nvSpPr>
        <p:spPr>
          <a:xfrm xmlns:a="http://schemas.openxmlformats.org/drawingml/2006/main">
            <a:off x="609600" y="4140200"/>
            <a:ext cx="1308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386" name="15-text-3">
            <a:extLst xmlns:a="http://schemas.openxmlformats.org/drawingml/2006/main">
              <a:ext uri="{FF2B5EF4-FFF2-40B4-BE49-F238E27FC236}">
                <a16:creationId xmlns:a16="http://schemas.microsoft.com/office/drawing/2014/main" id="{DFBBAE36-7183-457F-A81D-7715070423FC}"/>
              </a:ext>
            </a:extLst>
          </p:cNvPr>
          <p:cNvSpPr>
            <a:spLocks xmlns:a="http://schemas.openxmlformats.org/drawingml/2006/main"/>
          </p:cNvSpPr>
          <p:nvPr/>
        </p:nvSpPr>
        <p:spPr>
          <a:xfrm xmlns:a="http://schemas.openxmlformats.org/drawingml/2006/main">
            <a:off x="762000" y="4178300"/>
            <a:ext cx="1003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Chaining</a:t>
            </a:r>
          </a:p>
        </p:txBody>
      </p:sp>
      <p:sp>
        <p:nvSpPr>
          <p:cNvPr id="387" name="15-shape-4">
            <a:extLst xmlns:a="http://schemas.openxmlformats.org/drawingml/2006/main">
              <a:ext uri="{FF2B5EF4-FFF2-40B4-BE49-F238E27FC236}">
                <a16:creationId xmlns:a16="http://schemas.microsoft.com/office/drawing/2014/main" id="{FA403881-70FE-46B2-AA52-73934EC70CD8}"/>
              </a:ext>
            </a:extLst>
          </p:cNvPr>
          <p:cNvSpPr>
            <a:spLocks xmlns:a="http://schemas.openxmlformats.org/drawingml/2006/main"/>
          </p:cNvSpPr>
          <p:nvPr/>
        </p:nvSpPr>
        <p:spPr>
          <a:xfrm xmlns:a="http://schemas.openxmlformats.org/drawingml/2006/main">
            <a:off x="2019300" y="4140200"/>
            <a:ext cx="1181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388" name="15-text-5">
            <a:extLst xmlns:a="http://schemas.openxmlformats.org/drawingml/2006/main">
              <a:ext uri="{FF2B5EF4-FFF2-40B4-BE49-F238E27FC236}">
                <a16:creationId xmlns:a16="http://schemas.microsoft.com/office/drawing/2014/main" id="{602641E8-8AC0-4511-B4E0-38DFFC1CAC5C}"/>
              </a:ext>
            </a:extLst>
          </p:cNvPr>
          <p:cNvSpPr>
            <a:spLocks xmlns:a="http://schemas.openxmlformats.org/drawingml/2006/main"/>
          </p:cNvSpPr>
          <p:nvPr/>
        </p:nvSpPr>
        <p:spPr>
          <a:xfrm xmlns:a="http://schemas.openxmlformats.org/drawingml/2006/main">
            <a:off x="2171700" y="4178300"/>
            <a:ext cx="876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Routing</a:t>
            </a:r>
          </a:p>
        </p:txBody>
      </p:sp>
      <p:sp>
        <p:nvSpPr>
          <p:cNvPr id="389" name="15-shape-6">
            <a:extLst xmlns:a="http://schemas.openxmlformats.org/drawingml/2006/main">
              <a:ext uri="{FF2B5EF4-FFF2-40B4-BE49-F238E27FC236}">
                <a16:creationId xmlns:a16="http://schemas.microsoft.com/office/drawing/2014/main" id="{A5F889D3-78BB-4C96-BAC5-DAC45F6274BE}"/>
              </a:ext>
            </a:extLst>
          </p:cNvPr>
          <p:cNvSpPr>
            <a:spLocks xmlns:a="http://schemas.openxmlformats.org/drawingml/2006/main"/>
          </p:cNvSpPr>
          <p:nvPr/>
        </p:nvSpPr>
        <p:spPr>
          <a:xfrm xmlns:a="http://schemas.openxmlformats.org/drawingml/2006/main">
            <a:off x="3302000" y="4140200"/>
            <a:ext cx="18923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390" name="15-text-7">
            <a:extLst xmlns:a="http://schemas.openxmlformats.org/drawingml/2006/main">
              <a:ext uri="{FF2B5EF4-FFF2-40B4-BE49-F238E27FC236}">
                <a16:creationId xmlns:a16="http://schemas.microsoft.com/office/drawing/2014/main" id="{BAD66B50-9E92-42BF-AD24-3B75644E291C}"/>
              </a:ext>
            </a:extLst>
          </p:cNvPr>
          <p:cNvSpPr>
            <a:spLocks xmlns:a="http://schemas.openxmlformats.org/drawingml/2006/main"/>
          </p:cNvSpPr>
          <p:nvPr/>
        </p:nvSpPr>
        <p:spPr>
          <a:xfrm xmlns:a="http://schemas.openxmlformats.org/drawingml/2006/main">
            <a:off x="3454400" y="4178300"/>
            <a:ext cx="158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Parallelization</a:t>
            </a:r>
          </a:p>
        </p:txBody>
      </p:sp>
      <p:sp>
        <p:nvSpPr>
          <p:cNvPr id="391" name="15-shape-8">
            <a:extLst xmlns:a="http://schemas.openxmlformats.org/drawingml/2006/main">
              <a:ext uri="{FF2B5EF4-FFF2-40B4-BE49-F238E27FC236}">
                <a16:creationId xmlns:a16="http://schemas.microsoft.com/office/drawing/2014/main" id="{78D2D177-E12D-4092-A872-A4447597A533}"/>
              </a:ext>
            </a:extLst>
          </p:cNvPr>
          <p:cNvSpPr>
            <a:spLocks xmlns:a="http://schemas.openxmlformats.org/drawingml/2006/main"/>
          </p:cNvSpPr>
          <p:nvPr/>
        </p:nvSpPr>
        <p:spPr>
          <a:xfrm xmlns:a="http://schemas.openxmlformats.org/drawingml/2006/main">
            <a:off x="5295900" y="4140200"/>
            <a:ext cx="31750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392" name="15-text-9">
            <a:extLst xmlns:a="http://schemas.openxmlformats.org/drawingml/2006/main">
              <a:ext uri="{FF2B5EF4-FFF2-40B4-BE49-F238E27FC236}">
                <a16:creationId xmlns:a16="http://schemas.microsoft.com/office/drawing/2014/main" id="{0B67E8DE-6545-4629-A0DC-C5B3A3513DEE}"/>
              </a:ext>
            </a:extLst>
          </p:cNvPr>
          <p:cNvSpPr>
            <a:spLocks xmlns:a="http://schemas.openxmlformats.org/drawingml/2006/main"/>
          </p:cNvSpPr>
          <p:nvPr/>
        </p:nvSpPr>
        <p:spPr>
          <a:xfrm xmlns:a="http://schemas.openxmlformats.org/drawingml/2006/main">
            <a:off x="5448300" y="4178300"/>
            <a:ext cx="2870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Orchestrator and workers</a:t>
            </a:r>
          </a:p>
        </p:txBody>
      </p:sp>
      <p:sp>
        <p:nvSpPr>
          <p:cNvPr id="393" name="15-shape-10">
            <a:extLst xmlns:a="http://schemas.openxmlformats.org/drawingml/2006/main">
              <a:ext uri="{FF2B5EF4-FFF2-40B4-BE49-F238E27FC236}">
                <a16:creationId xmlns:a16="http://schemas.microsoft.com/office/drawing/2014/main" id="{A32DA424-B4EA-4B88-90CC-08E794BFEB32}"/>
              </a:ext>
            </a:extLst>
          </p:cNvPr>
          <p:cNvSpPr>
            <a:spLocks xmlns:a="http://schemas.openxmlformats.org/drawingml/2006/main"/>
          </p:cNvSpPr>
          <p:nvPr/>
        </p:nvSpPr>
        <p:spPr>
          <a:xfrm xmlns:a="http://schemas.openxmlformats.org/drawingml/2006/main">
            <a:off x="8572500" y="4140200"/>
            <a:ext cx="29845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394" name="15-text-11">
            <a:extLst xmlns:a="http://schemas.openxmlformats.org/drawingml/2006/main">
              <a:ext uri="{FF2B5EF4-FFF2-40B4-BE49-F238E27FC236}">
                <a16:creationId xmlns:a16="http://schemas.microsoft.com/office/drawing/2014/main" id="{0ACDB63A-AECC-410A-86F9-B8D5D7552874}"/>
              </a:ext>
            </a:extLst>
          </p:cNvPr>
          <p:cNvSpPr>
            <a:spLocks xmlns:a="http://schemas.openxmlformats.org/drawingml/2006/main"/>
          </p:cNvSpPr>
          <p:nvPr/>
        </p:nvSpPr>
        <p:spPr>
          <a:xfrm xmlns:a="http://schemas.openxmlformats.org/drawingml/2006/main">
            <a:off x="8724900" y="4178300"/>
            <a:ext cx="2679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Evaluator and optimizer</a:t>
            </a:r>
          </a:p>
        </p:txBody>
      </p:sp>
      <p:sp>
        <p:nvSpPr>
          <p:cNvPr id="395" name="narrative-number">
            <a:extLst xmlns:a="http://schemas.openxmlformats.org/drawingml/2006/main">
              <a:ext uri="{FF2B5EF4-FFF2-40B4-BE49-F238E27FC236}">
                <a16:creationId xmlns:a16="http://schemas.microsoft.com/office/drawing/2014/main" id="{4A8D099B-18AF-4D5D-8657-D7DD2DDDE52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266379344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0"/>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385"/>
                                        </p:tgtEl>
                                        <p:attrNameLst>
                                          <p:attrName>style.visibility</p:attrName>
                                        </p:attrNameLst>
                                      </p:cBhvr>
                                      <p:to>
                                        <p:strVal val="visible"/>
                                      </p:to>
                                    </p:set>
                                    <p:animEffect transition="in" filter="fade">
                                      <p:cBhvr>
                                        <p:cTn id="9" dur="200" fill="hold"/>
                                        <p:tgtEl>
                                          <p:spTgt spid="385"/>
                                        </p:tgtEl>
                                      </p:cBhvr>
                                    </p:animEffect>
                                  </p:childTnLst>
                                </p:cTn>
                              </p:par>
                              <p:par>
                                <p:cTn id="10" presetID="10" presetClass="entr" presetSubtype="0" fill="hold" nodeType="withEffect">
                                  <p:stCondLst>
                                    <p:cond delay="0"/>
                                  </p:stCondLst>
                                  <p:childTnLst>
                                    <p:set>
                                      <p:cBhvr>
                                        <p:cTn id="11" dur="1" fill="hold">
                                          <p:stCondLst>
                                            <p:cond delay="0"/>
                                          </p:stCondLst>
                                        </p:cTn>
                                        <p:tgtEl>
                                          <p:spTgt spid="386"/>
                                        </p:tgtEl>
                                        <p:attrNameLst>
                                          <p:attrName>style.visibility</p:attrName>
                                        </p:attrNameLst>
                                      </p:cBhvr>
                                      <p:to>
                                        <p:strVal val="visible"/>
                                      </p:to>
                                    </p:set>
                                    <p:animEffect transition="in" filter="fade">
                                      <p:cBhvr>
                                        <p:cTn id="12" dur="200" fill="hold"/>
                                        <p:tgtEl>
                                          <p:spTgt spid="386"/>
                                        </p:tgtEl>
                                      </p:cBhvr>
                                    </p:animEffect>
                                  </p:childTnLst>
                                </p:cTn>
                              </p:par>
                              <p:par>
                                <p:cTn id="13" presetID="10" presetClass="entr" presetSubtype="0" fill="hold" nodeType="withEffect">
                                  <p:stCondLst>
                                    <p:cond delay="0"/>
                                  </p:stCondLst>
                                  <p:childTnLst>
                                    <p:set>
                                      <p:cBhvr>
                                        <p:cTn id="14" dur="1" fill="hold">
                                          <p:stCondLst>
                                            <p:cond delay="0"/>
                                          </p:stCondLst>
                                        </p:cTn>
                                        <p:tgtEl>
                                          <p:spTgt spid="387"/>
                                        </p:tgtEl>
                                        <p:attrNameLst>
                                          <p:attrName>style.visibility</p:attrName>
                                        </p:attrNameLst>
                                      </p:cBhvr>
                                      <p:to>
                                        <p:strVal val="visible"/>
                                      </p:to>
                                    </p:set>
                                    <p:animEffect transition="in" filter="fade">
                                      <p:cBhvr>
                                        <p:cTn id="15" dur="200" fill="hold"/>
                                        <p:tgtEl>
                                          <p:spTgt spid="387"/>
                                        </p:tgtEl>
                                      </p:cBhvr>
                                    </p:animEffect>
                                  </p:childTnLst>
                                </p:cTn>
                              </p:par>
                              <p:par>
                                <p:cTn id="16" presetID="10" presetClass="entr" presetSubtype="0" fill="hold" nodeType="withEffect">
                                  <p:stCondLst>
                                    <p:cond delay="0"/>
                                  </p:stCondLst>
                                  <p:childTnLst>
                                    <p:set>
                                      <p:cBhvr>
                                        <p:cTn id="17" dur="1" fill="hold">
                                          <p:stCondLst>
                                            <p:cond delay="0"/>
                                          </p:stCondLst>
                                        </p:cTn>
                                        <p:tgtEl>
                                          <p:spTgt spid="388"/>
                                        </p:tgtEl>
                                        <p:attrNameLst>
                                          <p:attrName>style.visibility</p:attrName>
                                        </p:attrNameLst>
                                      </p:cBhvr>
                                      <p:to>
                                        <p:strVal val="visible"/>
                                      </p:to>
                                    </p:set>
                                    <p:animEffect transition="in" filter="fade">
                                      <p:cBhvr>
                                        <p:cTn id="18" dur="200" fill="hold"/>
                                        <p:tgtEl>
                                          <p:spTgt spid="388"/>
                                        </p:tgtEl>
                                      </p:cBhvr>
                                    </p:animEffect>
                                  </p:childTnLst>
                                </p:cTn>
                              </p:par>
                              <p:par>
                                <p:cTn id="19" presetID="10" presetClass="entr" presetSubtype="0" fill="hold" nodeType="withEffect">
                                  <p:stCondLst>
                                    <p:cond delay="0"/>
                                  </p:stCondLst>
                                  <p:childTnLst>
                                    <p:set>
                                      <p:cBhvr>
                                        <p:cTn id="20" dur="1" fill="hold">
                                          <p:stCondLst>
                                            <p:cond delay="0"/>
                                          </p:stCondLst>
                                        </p:cTn>
                                        <p:tgtEl>
                                          <p:spTgt spid="389"/>
                                        </p:tgtEl>
                                        <p:attrNameLst>
                                          <p:attrName>style.visibility</p:attrName>
                                        </p:attrNameLst>
                                      </p:cBhvr>
                                      <p:to>
                                        <p:strVal val="visible"/>
                                      </p:to>
                                    </p:set>
                                    <p:animEffect transition="in" filter="fade">
                                      <p:cBhvr>
                                        <p:cTn id="21" dur="200" fill="hold"/>
                                        <p:tgtEl>
                                          <p:spTgt spid="389"/>
                                        </p:tgtEl>
                                      </p:cBhvr>
                                    </p:animEffect>
                                  </p:childTnLst>
                                </p:cTn>
                              </p:par>
                              <p:par>
                                <p:cTn id="22" presetID="10" presetClass="entr" presetSubtype="0" fill="hold" nodeType="withEffect">
                                  <p:stCondLst>
                                    <p:cond delay="0"/>
                                  </p:stCondLst>
                                  <p:childTnLst>
                                    <p:set>
                                      <p:cBhvr>
                                        <p:cTn id="23" dur="1" fill="hold">
                                          <p:stCondLst>
                                            <p:cond delay="0"/>
                                          </p:stCondLst>
                                        </p:cTn>
                                        <p:tgtEl>
                                          <p:spTgt spid="390"/>
                                        </p:tgtEl>
                                        <p:attrNameLst>
                                          <p:attrName>style.visibility</p:attrName>
                                        </p:attrNameLst>
                                      </p:cBhvr>
                                      <p:to>
                                        <p:strVal val="visible"/>
                                      </p:to>
                                    </p:set>
                                    <p:animEffect transition="in" filter="fade">
                                      <p:cBhvr>
                                        <p:cTn id="24" dur="200" fill="hold"/>
                                        <p:tgtEl>
                                          <p:spTgt spid="390"/>
                                        </p:tgtEl>
                                      </p:cBhvr>
                                    </p:animEffect>
                                  </p:childTnLst>
                                </p:cTn>
                              </p:par>
                              <p:par>
                                <p:cTn id="25" presetID="10" presetClass="entr" presetSubtype="0" fill="hold" nodeType="withEffect">
                                  <p:stCondLst>
                                    <p:cond delay="0"/>
                                  </p:stCondLst>
                                  <p:childTnLst>
                                    <p:set>
                                      <p:cBhvr>
                                        <p:cTn id="26" dur="1" fill="hold">
                                          <p:stCondLst>
                                            <p:cond delay="0"/>
                                          </p:stCondLst>
                                        </p:cTn>
                                        <p:tgtEl>
                                          <p:spTgt spid="391"/>
                                        </p:tgtEl>
                                        <p:attrNameLst>
                                          <p:attrName>style.visibility</p:attrName>
                                        </p:attrNameLst>
                                      </p:cBhvr>
                                      <p:to>
                                        <p:strVal val="visible"/>
                                      </p:to>
                                    </p:set>
                                    <p:animEffect transition="in" filter="fade">
                                      <p:cBhvr>
                                        <p:cTn id="27" dur="200" fill="hold"/>
                                        <p:tgtEl>
                                          <p:spTgt spid="391"/>
                                        </p:tgtEl>
                                      </p:cBhvr>
                                    </p:animEffect>
                                  </p:childTnLst>
                                </p:cTn>
                              </p:par>
                              <p:par>
                                <p:cTn id="28" presetID="10" presetClass="entr" presetSubtype="0" fill="hold" nodeType="withEffect">
                                  <p:stCondLst>
                                    <p:cond delay="0"/>
                                  </p:stCondLst>
                                  <p:childTnLst>
                                    <p:set>
                                      <p:cBhvr>
                                        <p:cTn id="29" dur="1" fill="hold">
                                          <p:stCondLst>
                                            <p:cond delay="0"/>
                                          </p:stCondLst>
                                        </p:cTn>
                                        <p:tgtEl>
                                          <p:spTgt spid="392"/>
                                        </p:tgtEl>
                                        <p:attrNameLst>
                                          <p:attrName>style.visibility</p:attrName>
                                        </p:attrNameLst>
                                      </p:cBhvr>
                                      <p:to>
                                        <p:strVal val="visible"/>
                                      </p:to>
                                    </p:set>
                                    <p:animEffect transition="in" filter="fade">
                                      <p:cBhvr>
                                        <p:cTn id="30" dur="200" fill="hold"/>
                                        <p:tgtEl>
                                          <p:spTgt spid="392"/>
                                        </p:tgtEl>
                                      </p:cBhvr>
                                    </p:animEffect>
                                  </p:childTnLst>
                                </p:cTn>
                              </p:par>
                              <p:par>
                                <p:cTn id="31" presetID="10" presetClass="entr" presetSubtype="0" fill="hold" nodeType="withEffect">
                                  <p:stCondLst>
                                    <p:cond delay="0"/>
                                  </p:stCondLst>
                                  <p:childTnLst>
                                    <p:set>
                                      <p:cBhvr>
                                        <p:cTn id="32" dur="1" fill="hold">
                                          <p:stCondLst>
                                            <p:cond delay="0"/>
                                          </p:stCondLst>
                                        </p:cTn>
                                        <p:tgtEl>
                                          <p:spTgt spid="393"/>
                                        </p:tgtEl>
                                        <p:attrNameLst>
                                          <p:attrName>style.visibility</p:attrName>
                                        </p:attrNameLst>
                                      </p:cBhvr>
                                      <p:to>
                                        <p:strVal val="visible"/>
                                      </p:to>
                                    </p:set>
                                    <p:animEffect transition="in" filter="fade">
                                      <p:cBhvr>
                                        <p:cTn id="33" dur="200" fill="hold"/>
                                        <p:tgtEl>
                                          <p:spTgt spid="393"/>
                                        </p:tgtEl>
                                      </p:cBhvr>
                                    </p:animEffect>
                                  </p:childTnLst>
                                </p:cTn>
                              </p:par>
                              <p:par>
                                <p:cTn id="34" presetID="10" presetClass="entr" presetSubtype="0" fill="hold" nodeType="withEffect">
                                  <p:stCondLst>
                                    <p:cond delay="0"/>
                                  </p:stCondLst>
                                  <p:childTnLst>
                                    <p:set>
                                      <p:cBhvr>
                                        <p:cTn id="35" dur="1" fill="hold">
                                          <p:stCondLst>
                                            <p:cond delay="0"/>
                                          </p:stCondLst>
                                        </p:cTn>
                                        <p:tgtEl>
                                          <p:spTgt spid="394"/>
                                        </p:tgtEl>
                                        <p:attrNameLst>
                                          <p:attrName>style.visibility</p:attrName>
                                        </p:attrNameLst>
                                      </p:cBhvr>
                                      <p:to>
                                        <p:strVal val="visible"/>
                                      </p:to>
                                    </p:set>
                                    <p:animEffect transition="in" filter="fade">
                                      <p:cBhvr>
                                        <p:cTn id="36" dur="200" fill="hold"/>
                                        <p:tgtEl>
                                          <p:spTgt spid="3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6" name="!!area-name">
            <a:extLst xmlns:a="http://schemas.openxmlformats.org/drawingml/2006/main">
              <a:ext uri="{FF2B5EF4-FFF2-40B4-BE49-F238E27FC236}">
                <a16:creationId xmlns:a16="http://schemas.microsoft.com/office/drawing/2014/main" id="{C505B75B-FEDF-47CC-9BC3-BF143301D58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405" name="mini-map"/>
          <p:cNvPicPr>
            <a:picLocks xmlns:a="http://schemas.openxmlformats.org/drawingml/2006/main" noChangeAspect="1"/>
          </p:cNvPicPr>
          <p:nvPr/>
        </p:nvPicPr>
        <p:blipFill>
          <a:blip xmlns:r="http://schemas.openxmlformats.org/officeDocument/2006/relationships" xmlns:a="http://schemas.openxmlformats.org/drawingml/2006/main" r:embed="R072181f2b98943a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8" name="slide-title">
            <a:extLst xmlns:a="http://schemas.openxmlformats.org/drawingml/2006/main">
              <a:ext uri="{FF2B5EF4-FFF2-40B4-BE49-F238E27FC236}">
                <a16:creationId xmlns:a16="http://schemas.microsoft.com/office/drawing/2014/main" id="{50A36164-3CBE-43F7-A4AE-294D482A323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399" name="header-divider">
            <a:extLst xmlns:a="http://schemas.openxmlformats.org/drawingml/2006/main">
              <a:ext uri="{FF2B5EF4-FFF2-40B4-BE49-F238E27FC236}">
                <a16:creationId xmlns:a16="http://schemas.microsoft.com/office/drawing/2014/main" id="{AE69E9FB-6A57-449B-BA84-0B5A96603B5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0" name="15-text-12">
            <a:extLst xmlns:a="http://schemas.openxmlformats.org/drawingml/2006/main">
              <a:ext uri="{FF2B5EF4-FFF2-40B4-BE49-F238E27FC236}">
                <a16:creationId xmlns:a16="http://schemas.microsoft.com/office/drawing/2014/main" id="{753EDF77-CB62-43DF-B7BA-3931D5E309F0}"/>
              </a:ext>
            </a:extLst>
          </p:cNvPr>
          <p:cNvSpPr>
            <a:spLocks xmlns:a="http://schemas.openxmlformats.org/drawingml/2006/main"/>
          </p:cNvSpPr>
          <p:nvPr/>
        </p:nvSpPr>
        <p:spPr>
          <a:xfrm xmlns:a="http://schemas.openxmlformats.org/drawingml/2006/main">
            <a:off x="609600" y="2438400"/>
            <a:ext cx="10972800" cy="1193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loop · Stopping conditions · State and resume · Retries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Escalation as a tool call · Planner-to-worker routing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compaction trigger · Budgets: tokens, actions, latency</a:t>
            </a:r>
          </a:p>
        </p:txBody>
      </p:sp>
      <p:sp>
        <p:nvSpPr>
          <p:cNvPr id="401" name="15-text-13">
            <a:extLst xmlns:a="http://schemas.openxmlformats.org/drawingml/2006/main">
              <a:ext uri="{FF2B5EF4-FFF2-40B4-BE49-F238E27FC236}">
                <a16:creationId xmlns:a16="http://schemas.microsoft.com/office/drawing/2014/main" id="{DB51D8E0-7C7C-4ED0-A9E4-DDED1A3A44A1}"/>
              </a:ext>
            </a:extLst>
          </p:cNvPr>
          <p:cNvSpPr>
            <a:spLocks xmlns:a="http://schemas.openxmlformats.org/drawingml/2006/main"/>
          </p:cNvSpPr>
          <p:nvPr/>
        </p:nvSpPr>
        <p:spPr>
          <a:xfrm xmlns:a="http://schemas.openxmlformats.org/drawingml/2006/main">
            <a:off x="609600" y="39116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Own your prompts. Own your context window.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Own your control flow. Contact humans with tool calls.</a:t>
            </a:r>
          </a:p>
        </p:txBody>
      </p:sp>
      <p:sp>
        <p:nvSpPr>
          <p:cNvPr id="402" name="15-text-14">
            <a:extLst xmlns:a="http://schemas.openxmlformats.org/drawingml/2006/main">
              <a:ext uri="{FF2B5EF4-FFF2-40B4-BE49-F238E27FC236}">
                <a16:creationId xmlns:a16="http://schemas.microsoft.com/office/drawing/2014/main" id="{A0497093-AD5A-40C9-85D7-E20B26DBE215}"/>
              </a:ext>
            </a:extLst>
          </p:cNvPr>
          <p:cNvSpPr>
            <a:spLocks xmlns:a="http://schemas.openxmlformats.org/drawingml/2006/main"/>
          </p:cNvSpPr>
          <p:nvPr/>
        </p:nvSpPr>
        <p:spPr>
          <a:xfrm xmlns:a="http://schemas.openxmlformats.org/drawingml/2006/main">
            <a:off x="609600" y="4699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12-Factor Agents, Dex Horthy</a:t>
            </a:r>
          </a:p>
        </p:txBody>
      </p:sp>
      <p:sp>
        <p:nvSpPr>
          <p:cNvPr id="403" name="narrative-number">
            <a:extLst xmlns:a="http://schemas.openxmlformats.org/drawingml/2006/main">
              <a:ext uri="{FF2B5EF4-FFF2-40B4-BE49-F238E27FC236}">
                <a16:creationId xmlns:a16="http://schemas.microsoft.com/office/drawing/2014/main" id="{F2DF30F2-3B44-45FB-BF20-716AC13AA1F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3182453264"/>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4" name="!!area-name">
            <a:extLst xmlns:a="http://schemas.openxmlformats.org/drawingml/2006/main">
              <a:ext uri="{FF2B5EF4-FFF2-40B4-BE49-F238E27FC236}">
                <a16:creationId xmlns:a16="http://schemas.microsoft.com/office/drawing/2014/main" id="{347E973B-911F-4D27-9E4F-44BE0FD5725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416" name="mini-map"/>
          <p:cNvPicPr>
            <a:picLocks xmlns:a="http://schemas.openxmlformats.org/drawingml/2006/main" noChangeAspect="1"/>
          </p:cNvPicPr>
          <p:nvPr/>
        </p:nvPicPr>
        <p:blipFill>
          <a:blip xmlns:r="http://schemas.openxmlformats.org/officeDocument/2006/relationships" xmlns:a="http://schemas.openxmlformats.org/drawingml/2006/main" r:embed="R1453752909e6400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6" name="slide-title">
            <a:extLst xmlns:a="http://schemas.openxmlformats.org/drawingml/2006/main">
              <a:ext uri="{FF2B5EF4-FFF2-40B4-BE49-F238E27FC236}">
                <a16:creationId xmlns:a16="http://schemas.microsoft.com/office/drawing/2014/main" id="{F7601F0A-1686-4231-9533-0A58C95A8DF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407" name="header-divider">
            <a:extLst xmlns:a="http://schemas.openxmlformats.org/drawingml/2006/main">
              <a:ext uri="{FF2B5EF4-FFF2-40B4-BE49-F238E27FC236}">
                <a16:creationId xmlns:a16="http://schemas.microsoft.com/office/drawing/2014/main" id="{5C0F847D-5521-47E4-843A-2DE3E637C89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8" name="15-text-15">
            <a:extLst xmlns:a="http://schemas.openxmlformats.org/drawingml/2006/main">
              <a:ext uri="{FF2B5EF4-FFF2-40B4-BE49-F238E27FC236}">
                <a16:creationId xmlns:a16="http://schemas.microsoft.com/office/drawing/2014/main" id="{7737041D-C14B-4722-836D-CB8BE678BDD6}"/>
              </a:ext>
            </a:extLst>
          </p:cNvPr>
          <p:cNvSpPr>
            <a:spLocks xmlns:a="http://schemas.openxmlformats.org/drawingml/2006/main"/>
          </p:cNvSpPr>
          <p:nvPr/>
        </p:nvSpPr>
        <p:spPr>
          <a:xfrm xmlns:a="http://schemas.openxmlformats.org/drawingml/2006/main">
            <a:off x="609600" y="2438400"/>
            <a:ext cx="109728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human is waiting. Latency is a product requirement.</a:t>
            </a:r>
          </a:p>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An unbounded loop is an outage.</a:t>
            </a:r>
          </a:p>
        </p:txBody>
      </p:sp>
      <p:sp>
        <p:nvSpPr>
          <p:cNvPr id="409" name="15-shape-16">
            <a:extLst xmlns:a="http://schemas.openxmlformats.org/drawingml/2006/main">
              <a:ext uri="{FF2B5EF4-FFF2-40B4-BE49-F238E27FC236}">
                <a16:creationId xmlns:a16="http://schemas.microsoft.com/office/drawing/2014/main" id="{73CAD6EA-151B-4AA1-9815-EDF5961FD168}"/>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10" name="15-shape-17">
            <a:extLst xmlns:a="http://schemas.openxmlformats.org/drawingml/2006/main">
              <a:ext uri="{FF2B5EF4-FFF2-40B4-BE49-F238E27FC236}">
                <a16:creationId xmlns:a16="http://schemas.microsoft.com/office/drawing/2014/main" id="{413862A5-3EAA-4513-A3EA-D67B49D6E838}"/>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11" name="15-text-18">
            <a:extLst xmlns:a="http://schemas.openxmlformats.org/drawingml/2006/main">
              <a:ext uri="{FF2B5EF4-FFF2-40B4-BE49-F238E27FC236}">
                <a16:creationId xmlns:a16="http://schemas.microsoft.com/office/drawing/2014/main" id="{A351AEE0-A1BA-4559-92D3-4D8BA64E735A}"/>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412" name="15-text-19">
            <a:extLst xmlns:a="http://schemas.openxmlformats.org/drawingml/2006/main">
              <a:ext uri="{FF2B5EF4-FFF2-40B4-BE49-F238E27FC236}">
                <a16:creationId xmlns:a16="http://schemas.microsoft.com/office/drawing/2014/main" id="{5502E884-3E1E-4D27-A605-89E9F9B13D78}"/>
              </a:ext>
            </a:extLst>
          </p:cNvPr>
          <p:cNvSpPr>
            <a:spLocks xmlns:a="http://schemas.openxmlformats.org/drawingml/2006/main"/>
          </p:cNvSpPr>
          <p:nvPr/>
        </p:nvSpPr>
        <p:spPr>
          <a:xfrm xmlns:a="http://schemas.openxmlformats.org/drawingml/2006/main">
            <a:off x="2489200" y="5740400"/>
            <a:ext cx="909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413" name="15-text-20">
            <a:extLst xmlns:a="http://schemas.openxmlformats.org/drawingml/2006/main">
              <a:ext uri="{FF2B5EF4-FFF2-40B4-BE49-F238E27FC236}">
                <a16:creationId xmlns:a16="http://schemas.microsoft.com/office/drawing/2014/main" id="{692B104C-3A94-4478-A616-D9155BE7A114}"/>
              </a:ext>
            </a:extLst>
          </p:cNvPr>
          <p:cNvSpPr>
            <a:spLocks xmlns:a="http://schemas.openxmlformats.org/drawingml/2006/main"/>
          </p:cNvSpPr>
          <p:nvPr/>
        </p:nvSpPr>
        <p:spPr>
          <a:xfrm xmlns:a="http://schemas.openxmlformats.org/drawingml/2006/main">
            <a:off x="2489200" y="6172200"/>
            <a:ext cx="9093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Gartner forecast, June 2025: over 40% canceled by end of 2027.</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Cited risks: cost, unclear value, inadequate controls.</a:t>
            </a:r>
          </a:p>
        </p:txBody>
      </p:sp>
      <p:sp>
        <p:nvSpPr>
          <p:cNvPr id="414" name="narrative-number">
            <a:extLst xmlns:a="http://schemas.openxmlformats.org/drawingml/2006/main">
              <a:ext uri="{FF2B5EF4-FFF2-40B4-BE49-F238E27FC236}">
                <a16:creationId xmlns:a16="http://schemas.microsoft.com/office/drawing/2014/main" id="{9708F309-D4EA-4E05-8D29-B635256DE5B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226552753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9"/>
                                        </p:tgtEl>
                                        <p:attrNameLst>
                                          <p:attrName>style.visibility</p:attrName>
                                        </p:attrNameLst>
                                      </p:cBhvr>
                                      <p:to>
                                        <p:strVal val="visible"/>
                                      </p:to>
                                    </p:set>
                                    <p:animEffect transition="in" filter="fade">
                                      <p:cBhvr>
                                        <p:cTn id="7" dur="300" fill="hold"/>
                                        <p:tgtEl>
                                          <p:spTgt spid="409"/>
                                        </p:tgtEl>
                                      </p:cBhvr>
                                    </p:animEffect>
                                  </p:childTnLst>
                                </p:cTn>
                              </p:par>
                              <p:par>
                                <p:cTn id="8" presetID="10" presetClass="entr" presetSubtype="0" fill="hold" nodeType="withEffect">
                                  <p:stCondLst>
                                    <p:cond delay="0"/>
                                  </p:stCondLst>
                                  <p:childTnLst>
                                    <p:set>
                                      <p:cBhvr>
                                        <p:cTn id="9" dur="1" fill="hold">
                                          <p:stCondLst>
                                            <p:cond delay="0"/>
                                          </p:stCondLst>
                                        </p:cTn>
                                        <p:tgtEl>
                                          <p:spTgt spid="410"/>
                                        </p:tgtEl>
                                        <p:attrNameLst>
                                          <p:attrName>style.visibility</p:attrName>
                                        </p:attrNameLst>
                                      </p:cBhvr>
                                      <p:to>
                                        <p:strVal val="visible"/>
                                      </p:to>
                                    </p:set>
                                    <p:animEffect transition="in" filter="fade">
                                      <p:cBhvr>
                                        <p:cTn id="10" dur="300" fill="hold"/>
                                        <p:tgtEl>
                                          <p:spTgt spid="410"/>
                                        </p:tgtEl>
                                      </p:cBhvr>
                                    </p:animEffect>
                                  </p:childTnLst>
                                </p:cTn>
                              </p:par>
                              <p:par>
                                <p:cTn id="11" presetID="10" presetClass="entr" presetSubtype="0" fill="hold" nodeType="withEffect">
                                  <p:stCondLst>
                                    <p:cond delay="0"/>
                                  </p:stCondLst>
                                  <p:childTnLst>
                                    <p:set>
                                      <p:cBhvr>
                                        <p:cTn id="12" dur="1" fill="hold">
                                          <p:stCondLst>
                                            <p:cond delay="0"/>
                                          </p:stCondLst>
                                        </p:cTn>
                                        <p:tgtEl>
                                          <p:spTgt spid="411"/>
                                        </p:tgtEl>
                                        <p:attrNameLst>
                                          <p:attrName>style.visibility</p:attrName>
                                        </p:attrNameLst>
                                      </p:cBhvr>
                                      <p:to>
                                        <p:strVal val="visible"/>
                                      </p:to>
                                    </p:set>
                                    <p:animEffect transition="in" filter="fade">
                                      <p:cBhvr>
                                        <p:cTn id="13" dur="300" fill="hold"/>
                                        <p:tgtEl>
                                          <p:spTgt spid="411"/>
                                        </p:tgtEl>
                                      </p:cBhvr>
                                    </p:animEffect>
                                  </p:childTnLst>
                                </p:cTn>
                              </p:par>
                              <p:par>
                                <p:cTn id="14" presetID="10" presetClass="entr" presetSubtype="0" fill="hold" nodeType="withEffect">
                                  <p:stCondLst>
                                    <p:cond delay="0"/>
                                  </p:stCondLst>
                                  <p:childTnLst>
                                    <p:set>
                                      <p:cBhvr>
                                        <p:cTn id="15" dur="1" fill="hold">
                                          <p:stCondLst>
                                            <p:cond delay="0"/>
                                          </p:stCondLst>
                                        </p:cTn>
                                        <p:tgtEl>
                                          <p:spTgt spid="412"/>
                                        </p:tgtEl>
                                        <p:attrNameLst>
                                          <p:attrName>style.visibility</p:attrName>
                                        </p:attrNameLst>
                                      </p:cBhvr>
                                      <p:to>
                                        <p:strVal val="visible"/>
                                      </p:to>
                                    </p:set>
                                    <p:animEffect transition="in" filter="fade">
                                      <p:cBhvr>
                                        <p:cTn id="16" dur="300" fill="hold"/>
                                        <p:tgtEl>
                                          <p:spTgt spid="412"/>
                                        </p:tgtEl>
                                      </p:cBhvr>
                                    </p:animEffect>
                                  </p:childTnLst>
                                </p:cTn>
                              </p:par>
                              <p:par>
                                <p:cTn id="17" presetID="1" presetClass="entr" presetSubtype="0" fill="hold" nodeType="withEffect">
                                  <p:stCondLst>
                                    <p:cond delay="0"/>
                                  </p:stCondLst>
                                  <p:childTnLst>
                                    <p:set>
                                      <p:cBhvr>
                                        <p:cTn id="18" dur="1" fill="hold">
                                          <p:stCondLst>
                                            <p:cond delay="0"/>
                                          </p:stCondLst>
                                        </p:cTn>
                                        <p:tgtEl>
                                          <p:spTgt spid="4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5" name="!!area-header">
            <a:extLst xmlns:a="http://schemas.openxmlformats.org/drawingml/2006/main">
              <a:ext uri="{FF2B5EF4-FFF2-40B4-BE49-F238E27FC236}">
                <a16:creationId xmlns:a16="http://schemas.microsoft.com/office/drawing/2014/main" id="{0F214F9E-AF40-4E0F-839B-FD242CBA9D95}"/>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16" name="!!area-name">
            <a:extLst xmlns:a="http://schemas.openxmlformats.org/drawingml/2006/main">
              <a:ext uri="{FF2B5EF4-FFF2-40B4-BE49-F238E27FC236}">
                <a16:creationId xmlns:a16="http://schemas.microsoft.com/office/drawing/2014/main" id="{4FD4CC37-ACEB-4B68-8479-3FCDEBD2B1B3}"/>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Verification and evals</a:t>
            </a:r>
          </a:p>
        </p:txBody>
      </p:sp>
      <p:sp>
        <p:nvSpPr>
          <p:cNvPr id="417" name="!!area-beat">
            <a:extLst xmlns:a="http://schemas.openxmlformats.org/drawingml/2006/main">
              <a:ext uri="{FF2B5EF4-FFF2-40B4-BE49-F238E27FC236}">
                <a16:creationId xmlns:a16="http://schemas.microsoft.com/office/drawing/2014/main" id="{FBD05ABA-6037-465C-BDDF-FF70B71997BD}"/>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18" name="header-divider">
            <a:extLst xmlns:a="http://schemas.openxmlformats.org/drawingml/2006/main">
              <a:ext uri="{FF2B5EF4-FFF2-40B4-BE49-F238E27FC236}">
                <a16:creationId xmlns:a16="http://schemas.microsoft.com/office/drawing/2014/main" id="{DEC760A3-8C77-4E30-BE25-3E213F063CBC}"/>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9" name="16-text-1">
            <a:extLst xmlns:a="http://schemas.openxmlformats.org/drawingml/2006/main">
              <a:ext uri="{FF2B5EF4-FFF2-40B4-BE49-F238E27FC236}">
                <a16:creationId xmlns:a16="http://schemas.microsoft.com/office/drawing/2014/main" id="{CBB3DDA8-432D-47E4-B56D-6D999EF5A467}"/>
              </a:ext>
            </a:extLst>
          </p:cNvPr>
          <p:cNvSpPr>
            <a:spLocks xmlns:a="http://schemas.openxmlformats.org/drawingml/2006/main"/>
          </p:cNvSpPr>
          <p:nvPr/>
        </p:nvSpPr>
        <p:spPr>
          <a:xfrm xmlns:a="http://schemas.openxmlformats.org/drawingml/2006/main">
            <a:off x="6096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write</a:t>
            </a:r>
          </a:p>
        </p:txBody>
      </p:sp>
      <p:sp>
        <p:nvSpPr>
          <p:cNvPr id="420" name="16-text-2">
            <a:extLst xmlns:a="http://schemas.openxmlformats.org/drawingml/2006/main">
              <a:ext uri="{FF2B5EF4-FFF2-40B4-BE49-F238E27FC236}">
                <a16:creationId xmlns:a16="http://schemas.microsoft.com/office/drawing/2014/main" id="{270B1D45-CF9C-4F1D-9573-B1B21038B2C8}"/>
              </a:ext>
            </a:extLst>
          </p:cNvPr>
          <p:cNvSpPr>
            <a:spLocks xmlns:a="http://schemas.openxmlformats.org/drawingml/2006/main"/>
          </p:cNvSpPr>
          <p:nvPr/>
        </p:nvSpPr>
        <p:spPr>
          <a:xfrm xmlns:a="http://schemas.openxmlformats.org/drawingml/2006/main">
            <a:off x="34290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a:t>
            </a:r>
          </a:p>
        </p:txBody>
      </p:sp>
      <p:sp>
        <p:nvSpPr>
          <p:cNvPr id="421" name="16-text-3">
            <a:extLst xmlns:a="http://schemas.openxmlformats.org/drawingml/2006/main">
              <a:ext uri="{FF2B5EF4-FFF2-40B4-BE49-F238E27FC236}">
                <a16:creationId xmlns:a16="http://schemas.microsoft.com/office/drawing/2014/main" id="{747354C2-00B1-4ED3-878C-AC6AEF42D2FB}"/>
              </a:ext>
            </a:extLst>
          </p:cNvPr>
          <p:cNvSpPr>
            <a:spLocks xmlns:a="http://schemas.openxmlformats.org/drawingml/2006/main"/>
          </p:cNvSpPr>
          <p:nvPr/>
        </p:nvSpPr>
        <p:spPr>
          <a:xfrm xmlns:a="http://schemas.openxmlformats.org/drawingml/2006/main">
            <a:off x="62484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read the failure</a:t>
            </a:r>
          </a:p>
        </p:txBody>
      </p:sp>
      <p:sp>
        <p:nvSpPr>
          <p:cNvPr id="422" name="16-text-4">
            <a:extLst xmlns:a="http://schemas.openxmlformats.org/drawingml/2006/main">
              <a:ext uri="{FF2B5EF4-FFF2-40B4-BE49-F238E27FC236}">
                <a16:creationId xmlns:a16="http://schemas.microsoft.com/office/drawing/2014/main" id="{91591E70-67F9-4B1D-868B-7CEE2EFB219E}"/>
              </a:ext>
            </a:extLst>
          </p:cNvPr>
          <p:cNvSpPr>
            <a:spLocks xmlns:a="http://schemas.openxmlformats.org/drawingml/2006/main"/>
          </p:cNvSpPr>
          <p:nvPr/>
        </p:nvSpPr>
        <p:spPr>
          <a:xfrm xmlns:a="http://schemas.openxmlformats.org/drawingml/2006/main">
            <a:off x="90678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retry</a:t>
            </a:r>
          </a:p>
        </p:txBody>
      </p:sp>
      <p:sp>
        <p:nvSpPr>
          <p:cNvPr id="423" name="16-line-6">
            <a:extLst xmlns:a="http://schemas.openxmlformats.org/drawingml/2006/main">
              <a:ext uri="{FF2B5EF4-FFF2-40B4-BE49-F238E27FC236}">
                <a16:creationId xmlns:a16="http://schemas.microsoft.com/office/drawing/2014/main" id="{4677E17B-C2EB-40B1-A322-4E34E90ECC94}"/>
              </a:ext>
            </a:extLst>
          </p:cNvPr>
          <p:cNvSpPr>
            <a:spLocks xmlns:a="http://schemas.openxmlformats.org/drawingml/2006/main"/>
          </p:cNvSpPr>
          <p:nvPr/>
        </p:nvSpPr>
        <p:spPr>
          <a:xfrm xmlns:a="http://schemas.openxmlformats.org/drawingml/2006/main" flipH="0" flipV="0">
            <a:off x="27305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24" name="16-line-8">
            <a:extLst xmlns:a="http://schemas.openxmlformats.org/drawingml/2006/main">
              <a:ext uri="{FF2B5EF4-FFF2-40B4-BE49-F238E27FC236}">
                <a16:creationId xmlns:a16="http://schemas.microsoft.com/office/drawing/2014/main" id="{74BD419D-B6C0-4421-84D2-DA2A3D13B03A}"/>
              </a:ext>
            </a:extLst>
          </p:cNvPr>
          <p:cNvSpPr>
            <a:spLocks xmlns:a="http://schemas.openxmlformats.org/drawingml/2006/main"/>
          </p:cNvSpPr>
          <p:nvPr/>
        </p:nvSpPr>
        <p:spPr>
          <a:xfrm xmlns:a="http://schemas.openxmlformats.org/drawingml/2006/main" flipH="0" flipV="0">
            <a:off x="55499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25" name="16-line-10">
            <a:extLst xmlns:a="http://schemas.openxmlformats.org/drawingml/2006/main">
              <a:ext uri="{FF2B5EF4-FFF2-40B4-BE49-F238E27FC236}">
                <a16:creationId xmlns:a16="http://schemas.microsoft.com/office/drawing/2014/main" id="{B6A053F6-C948-4861-A752-49598D39D9D1}"/>
              </a:ext>
            </a:extLst>
          </p:cNvPr>
          <p:cNvSpPr>
            <a:spLocks xmlns:a="http://schemas.openxmlformats.org/drawingml/2006/main"/>
          </p:cNvSpPr>
          <p:nvPr/>
        </p:nvSpPr>
        <p:spPr>
          <a:xfrm xmlns:a="http://schemas.openxmlformats.org/drawingml/2006/main" flipH="0" flipV="0">
            <a:off x="83693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26" name="16-text-11">
            <a:extLst xmlns:a="http://schemas.openxmlformats.org/drawingml/2006/main">
              <a:ext uri="{FF2B5EF4-FFF2-40B4-BE49-F238E27FC236}">
                <a16:creationId xmlns:a16="http://schemas.microsoft.com/office/drawing/2014/main" id="{CBF72459-89A4-41F0-ABF5-E08282A96C50}"/>
              </a:ext>
            </a:extLst>
          </p:cNvPr>
          <p:cNvSpPr>
            <a:spLocks xmlns:a="http://schemas.openxmlformats.org/drawingml/2006/main"/>
          </p:cNvSpPr>
          <p:nvPr/>
        </p:nvSpPr>
        <p:spPr>
          <a:xfrm xmlns:a="http://schemas.openxmlformats.org/drawingml/2006/main">
            <a:off x="609600" y="3581400"/>
            <a:ext cx="10972800" cy="20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"LLMs are quite happy to say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'all tests green', yet when I run them,</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there are failures."</a:t>
            </a:r>
          </a:p>
        </p:txBody>
      </p:sp>
      <p:sp>
        <p:nvSpPr>
          <p:cNvPr id="427" name="16-text-12">
            <a:extLst xmlns:a="http://schemas.openxmlformats.org/drawingml/2006/main">
              <a:ext uri="{FF2B5EF4-FFF2-40B4-BE49-F238E27FC236}">
                <a16:creationId xmlns:a16="http://schemas.microsoft.com/office/drawing/2014/main" id="{B42A6048-47E4-404A-BF5F-ED6655A94CA9}"/>
              </a:ext>
            </a:extLst>
          </p:cNvPr>
          <p:cNvSpPr>
            <a:spLocks xmlns:a="http://schemas.openxmlformats.org/drawingml/2006/main"/>
          </p:cNvSpPr>
          <p:nvPr/>
        </p:nvSpPr>
        <p:spPr>
          <a:xfrm xmlns:a="http://schemas.openxmlformats.org/drawingml/2006/main">
            <a:off x="609600" y="5765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Martin Fowler, August 2025</a:t>
            </a:r>
          </a:p>
        </p:txBody>
      </p:sp>
      <p:sp>
        <p:nvSpPr>
          <p:cNvPr id="428" name="narrative-number">
            <a:extLst xmlns:a="http://schemas.openxmlformats.org/drawingml/2006/main">
              <a:ext uri="{FF2B5EF4-FFF2-40B4-BE49-F238E27FC236}">
                <a16:creationId xmlns:a16="http://schemas.microsoft.com/office/drawing/2014/main" id="{ADAE311C-55E3-4255-BA0E-F161C5EDE6F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3226001946"/>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9" name="!!area-name">
            <a:extLst xmlns:a="http://schemas.openxmlformats.org/drawingml/2006/main">
              <a:ext uri="{FF2B5EF4-FFF2-40B4-BE49-F238E27FC236}">
                <a16:creationId xmlns:a16="http://schemas.microsoft.com/office/drawing/2014/main" id="{ECD0161A-85F9-4C30-BEA6-6A6A859E817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438" name="mini-map"/>
          <p:cNvPicPr>
            <a:picLocks xmlns:a="http://schemas.openxmlformats.org/drawingml/2006/main" noChangeAspect="1"/>
          </p:cNvPicPr>
          <p:nvPr/>
        </p:nvPicPr>
        <p:blipFill>
          <a:blip xmlns:r="http://schemas.openxmlformats.org/officeDocument/2006/relationships" xmlns:a="http://schemas.openxmlformats.org/drawingml/2006/main" r:embed="R0e2dd8c01598490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1" name="header-divider">
            <a:extLst xmlns:a="http://schemas.openxmlformats.org/drawingml/2006/main">
              <a:ext uri="{FF2B5EF4-FFF2-40B4-BE49-F238E27FC236}">
                <a16:creationId xmlns:a16="http://schemas.microsoft.com/office/drawing/2014/main" id="{A593E1A7-6C97-4F8E-941F-B239438AE85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2" name="16b-text-1">
            <a:extLst xmlns:a="http://schemas.openxmlformats.org/drawingml/2006/main">
              <a:ext uri="{FF2B5EF4-FFF2-40B4-BE49-F238E27FC236}">
                <a16:creationId xmlns:a16="http://schemas.microsoft.com/office/drawing/2014/main" id="{3A9AAF32-9690-41C9-8A5D-681C616EFA8F}"/>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433" name="16b-text-2">
            <a:extLst xmlns:a="http://schemas.openxmlformats.org/drawingml/2006/main">
              <a:ext uri="{FF2B5EF4-FFF2-40B4-BE49-F238E27FC236}">
                <a16:creationId xmlns:a16="http://schemas.microsoft.com/office/drawing/2014/main" id="{E544B2C8-7328-4EA9-A5FD-14BB4957A45B}"/>
              </a:ext>
            </a:extLst>
          </p:cNvPr>
          <p:cNvSpPr>
            <a:spLocks xmlns:a="http://schemas.openxmlformats.org/drawingml/2006/main"/>
          </p:cNvSpPr>
          <p:nvPr/>
        </p:nvSpPr>
        <p:spPr>
          <a:xfrm xmlns:a="http://schemas.openxmlformats.org/drawingml/2006/main">
            <a:off x="609600" y="243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Two complementary uses of checks. This talk's organizing model:</a:t>
            </a:r>
          </a:p>
        </p:txBody>
      </p:sp>
      <p:graphicFrame>
        <p:nvGraphicFramePr>
          <p:cNvPr id="442" name="16b-table-3"/>
          <p:cNvGraphicFramePr/>
          <p:nvPr/>
        </p:nvGraphicFramePr>
        <p:xfrm>
          <a:off xmlns:a="http://schemas.openxmlformats.org/drawingml/2006/main" x="609600" y="2921000"/>
          <a:ext xmlns:a="http://schemas.openxmlformats.org/drawingml/2006/main" cx="10972800" cy="2463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Verification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Evaluation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25500">
                <a:tc>
                  <a:txBody>
                    <a:bodyPr>
                      <a:noAutofit/>
                    </a:bodyPr>
                    <a:lstStyle/>
                    <a:p>
                      <a:pPr>
                        <a:lnSpc>
                          <a:spcPct val="125000"/>
                        </a:lnSpc>
                        <a:buNone/>
                      </a:pPr>
                      <a:r>
                        <a:rPr sz="2000" b="0">
                          <a:solidFill>
                            <a:srgbClr val="FFFCF5"/>
                          </a:solidFill>
                          <a:latin typeface="Helvetica"/>
                          <a:ea typeface="Helvetica"/>
                          <a:cs typeface="Helvetica"/>
                        </a:rPr>
                        <a:t>Check an action before accepting 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Measure behavior across</a:t>
                      </a:r>
                    </a:p>
                    <a:p>
                      <a:pPr>
                        <a:lnSpc>
                          <a:spcPct val="125000"/>
                        </a:lnSpc>
                        <a:buNone/>
                      </a:pPr>
                      <a:r>
                        <a:rPr sz="2000" b="0">
                          <a:solidFill>
                            <a:srgbClr val="FFFCF5"/>
                          </a:solidFill>
                          <a:latin typeface="Helvetica"/>
                          <a:ea typeface="Helvetica"/>
                          <a:cs typeface="Helvetica"/>
                        </a:rPr>
                        <a:t>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82600">
                <a:tc>
                  <a:txBody>
                    <a:bodyPr>
                      <a:noAutofit/>
                    </a:bodyPr>
                    <a:lstStyle/>
                    <a:p>
                      <a:pPr>
                        <a:lnSpc>
                          <a:spcPct val="125000"/>
                        </a:lnSpc>
                        <a:buNone/>
                      </a:pPr>
                      <a:r>
                        <a:rPr sz="2000" b="0">
                          <a:solidFill>
                            <a:srgbClr val="FFFCF5"/>
                          </a:solidFill>
                          <a:latin typeface="Helvetica"/>
                          <a:ea typeface="Helvetica"/>
                          <a:cs typeface="Helvetica"/>
                        </a:rPr>
                        <a:t>Inside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Outside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98500">
                <a:tc>
                  <a:txBody>
                    <a:bodyPr>
                      <a:noAutofit/>
                    </a:bodyPr>
                    <a:lstStyle/>
                    <a:p>
                      <a:pPr>
                        <a:lnSpc>
                          <a:spcPct val="125000"/>
                        </a:lnSpc>
                        <a:buNone/>
                      </a:pPr>
                      <a:r>
                        <a:rPr sz="2000" b="0">
                          <a:solidFill>
                            <a:srgbClr val="FFFCF5"/>
                          </a:solidFill>
                          <a:latin typeface="Helvetica"/>
                          <a:ea typeface="Helvetica"/>
                          <a:cs typeface="Helvetica"/>
                        </a:rPr>
                        <a:t>Rules, state checks, visual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Tasks, trials, graders, suites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35" name="16b-text-4">
            <a:extLst xmlns:a="http://schemas.openxmlformats.org/drawingml/2006/main">
              <a:ext uri="{FF2B5EF4-FFF2-40B4-BE49-F238E27FC236}">
                <a16:creationId xmlns:a16="http://schemas.microsoft.com/office/drawing/2014/main" id="{80A2D0A0-047F-43BE-AE15-5F77AE20F24E}"/>
              </a:ext>
            </a:extLst>
          </p:cNvPr>
          <p:cNvSpPr>
            <a:spLocks xmlns:a="http://schemas.openxmlformats.org/drawingml/2006/main"/>
          </p:cNvSpPr>
          <p:nvPr/>
        </p:nvSpPr>
        <p:spPr>
          <a:xfrm xmlns:a="http://schemas.openxmlformats.org/drawingml/2006/main">
            <a:off x="609600" y="5613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Graders: code · model, with expert calibration · human</a:t>
            </a:r>
          </a:p>
        </p:txBody>
      </p:sp>
      <p:sp>
        <p:nvSpPr>
          <p:cNvPr id="436" name="narrative-number">
            <a:extLst xmlns:a="http://schemas.openxmlformats.org/drawingml/2006/main">
              <a:ext uri="{FF2B5EF4-FFF2-40B4-BE49-F238E27FC236}">
                <a16:creationId xmlns:a16="http://schemas.microsoft.com/office/drawing/2014/main" id="{5AF64226-AEEF-43BF-9387-7ED8772B67C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3929099397"/>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7" name="!!area-name">
            <a:extLst xmlns:a="http://schemas.openxmlformats.org/drawingml/2006/main">
              <a:ext uri="{FF2B5EF4-FFF2-40B4-BE49-F238E27FC236}">
                <a16:creationId xmlns:a16="http://schemas.microsoft.com/office/drawing/2014/main" id="{A22E1D9D-7622-4FC5-87E2-0DF9B5CF26D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449" name="mini-map"/>
          <p:cNvPicPr>
            <a:picLocks xmlns:a="http://schemas.openxmlformats.org/drawingml/2006/main" noChangeAspect="1"/>
          </p:cNvPicPr>
          <p:nvPr/>
        </p:nvPicPr>
        <p:blipFill>
          <a:blip xmlns:r="http://schemas.openxmlformats.org/officeDocument/2006/relationships" xmlns:a="http://schemas.openxmlformats.org/drawingml/2006/main" r:embed="R1c0316025be7437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9" name="header-divider">
            <a:extLst xmlns:a="http://schemas.openxmlformats.org/drawingml/2006/main">
              <a:ext uri="{FF2B5EF4-FFF2-40B4-BE49-F238E27FC236}">
                <a16:creationId xmlns:a16="http://schemas.microsoft.com/office/drawing/2014/main" id="{18B8F81D-59ED-41B2-B3E6-35FA38EDE05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0" name="16b-text-1">
            <a:extLst xmlns:a="http://schemas.openxmlformats.org/drawingml/2006/main">
              <a:ext uri="{FF2B5EF4-FFF2-40B4-BE49-F238E27FC236}">
                <a16:creationId xmlns:a16="http://schemas.microsoft.com/office/drawing/2014/main" id="{183F351A-A9BB-4622-B7B0-DD8865259EA0}"/>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441" name="16b-text-5">
            <a:extLst xmlns:a="http://schemas.openxmlformats.org/drawingml/2006/main">
              <a:ext uri="{FF2B5EF4-FFF2-40B4-BE49-F238E27FC236}">
                <a16:creationId xmlns:a16="http://schemas.microsoft.com/office/drawing/2014/main" id="{F9944B39-CACD-41CD-8B9F-14F924363E43}"/>
              </a:ext>
            </a:extLst>
          </p:cNvPr>
          <p:cNvSpPr>
            <a:spLocks xmlns:a="http://schemas.openxmlformats.org/drawingml/2006/main"/>
          </p:cNvSpPr>
          <p:nvPr/>
        </p:nvSpPr>
        <p:spPr>
          <a:xfrm xmlns:a="http://schemas.openxmlformats.org/drawingml/2006/main">
            <a:off x="609600" y="2438400"/>
            <a:ext cx="109728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Check the result. Inspect the trace.</a:t>
            </a:r>
          </a:p>
        </p:txBody>
      </p:sp>
      <p:sp>
        <p:nvSpPr>
          <p:cNvPr id="442" name="16b-text-6">
            <a:extLst xmlns:a="http://schemas.openxmlformats.org/drawingml/2006/main">
              <a:ext uri="{FF2B5EF4-FFF2-40B4-BE49-F238E27FC236}">
                <a16:creationId xmlns:a16="http://schemas.microsoft.com/office/drawing/2014/main" id="{CB6B9060-43DF-414A-B84A-EC89CE84C55D}"/>
              </a:ext>
            </a:extLst>
          </p:cNvPr>
          <p:cNvSpPr>
            <a:spLocks xmlns:a="http://schemas.openxmlformats.org/drawingml/2006/main"/>
          </p:cNvSpPr>
          <p:nvPr/>
        </p:nvSpPr>
        <p:spPr>
          <a:xfrm xmlns:a="http://schemas.openxmlformats.org/drawingml/2006/main">
            <a:off x="609600" y="3149600"/>
            <a:ext cx="109728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flight-booking grader</a:t>
            </a:r>
          </a:p>
        </p:txBody>
      </p:sp>
      <p:sp>
        <p:nvSpPr>
          <p:cNvPr id="443" name="16b-text-7">
            <a:extLst xmlns:a="http://schemas.openxmlformats.org/drawingml/2006/main">
              <a:ext uri="{FF2B5EF4-FFF2-40B4-BE49-F238E27FC236}">
                <a16:creationId xmlns:a16="http://schemas.microsoft.com/office/drawing/2014/main" id="{A9E4D31D-8753-4AB6-876F-AB3D8D4AE6DC}"/>
              </a:ext>
            </a:extLst>
          </p:cNvPr>
          <p:cNvSpPr>
            <a:spLocks xmlns:a="http://schemas.openxmlformats.org/drawingml/2006/main"/>
          </p:cNvSpPr>
          <p:nvPr/>
        </p:nvSpPr>
        <p:spPr>
          <a:xfrm xmlns:a="http://schemas.openxmlformats.org/drawingml/2006/main">
            <a:off x="609600" y="35814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Claim: "Your flight has been booked."</a:t>
            </a:r>
          </a:p>
        </p:txBody>
      </p:sp>
      <p:sp>
        <p:nvSpPr>
          <p:cNvPr id="444" name="16b-text-8">
            <a:extLst xmlns:a="http://schemas.openxmlformats.org/drawingml/2006/main">
              <a:ext uri="{FF2B5EF4-FFF2-40B4-BE49-F238E27FC236}">
                <a16:creationId xmlns:a16="http://schemas.microsoft.com/office/drawing/2014/main" id="{ED1B2613-6F8C-4B19-90AC-B747F8B444A7}"/>
              </a:ext>
            </a:extLst>
          </p:cNvPr>
          <p:cNvSpPr>
            <a:spLocks xmlns:a="http://schemas.openxmlformats.org/drawingml/2006/main"/>
          </p:cNvSpPr>
          <p:nvPr/>
        </p:nvSpPr>
        <p:spPr>
          <a:xfrm xmlns:a="http://schemas.openxmlformats.org/drawingml/2006/main">
            <a:off x="609600" y="4191000"/>
            <a:ext cx="109728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 check: matching reservation for the requested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traveler and itinerary?</a:t>
            </a:r>
          </a:p>
        </p:txBody>
      </p:sp>
      <p:sp>
        <p:nvSpPr>
          <p:cNvPr id="445" name="16b-text-9">
            <a:extLst xmlns:a="http://schemas.openxmlformats.org/drawingml/2006/main">
              <a:ext uri="{FF2B5EF4-FFF2-40B4-BE49-F238E27FC236}">
                <a16:creationId xmlns:a16="http://schemas.microsoft.com/office/drawing/2014/main" id="{3052B8F3-0E9E-4D16-8DE8-747564B15638}"/>
              </a:ext>
            </a:extLst>
          </p:cNvPr>
          <p:cNvSpPr>
            <a:spLocks xmlns:a="http://schemas.openxmlformats.org/drawingml/2006/main"/>
          </p:cNvSpPr>
          <p:nvPr/>
        </p:nvSpPr>
        <p:spPr>
          <a:xfrm xmlns:a="http://schemas.openxmlformats.org/drawingml/2006/main">
            <a:off x="609600" y="49784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No matching reservation: FAIL</a:t>
            </a:r>
          </a:p>
        </p:txBody>
      </p:sp>
      <p:sp>
        <p:nvSpPr>
          <p:cNvPr id="446" name="16b-text-10">
            <a:extLst xmlns:a="http://schemas.openxmlformats.org/drawingml/2006/main">
              <a:ext uri="{FF2B5EF4-FFF2-40B4-BE49-F238E27FC236}">
                <a16:creationId xmlns:a16="http://schemas.microsoft.com/office/drawing/2014/main" id="{E7AF5C89-53AC-448A-9776-4BB0C39C4DA4}"/>
              </a:ext>
            </a:extLst>
          </p:cNvPr>
          <p:cNvSpPr>
            <a:spLocks xmlns:a="http://schemas.openxmlformats.org/drawingml/2006/main"/>
          </p:cNvSpPr>
          <p:nvPr/>
        </p:nvSpPr>
        <p:spPr>
          <a:xfrm xmlns:a="http://schemas.openxmlformats.org/drawingml/2006/main">
            <a:off x="609600" y="5613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Trace check: required approvals and access constraints satisfied?</a:t>
            </a:r>
          </a:p>
        </p:txBody>
      </p:sp>
      <p:sp>
        <p:nvSpPr>
          <p:cNvPr id="447" name="narrative-number">
            <a:extLst xmlns:a="http://schemas.openxmlformats.org/drawingml/2006/main">
              <a:ext uri="{FF2B5EF4-FFF2-40B4-BE49-F238E27FC236}">
                <a16:creationId xmlns:a16="http://schemas.microsoft.com/office/drawing/2014/main" id="{F6024F83-82A9-4018-A76C-0D3CBA87C33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1522697708"/>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8" name="!!area-name">
            <a:extLst xmlns:a="http://schemas.openxmlformats.org/drawingml/2006/main">
              <a:ext uri="{FF2B5EF4-FFF2-40B4-BE49-F238E27FC236}">
                <a16:creationId xmlns:a16="http://schemas.microsoft.com/office/drawing/2014/main" id="{1D22A62B-94BF-47A2-9664-7E20BE8B074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459" name="mini-map"/>
          <p:cNvPicPr>
            <a:picLocks xmlns:a="http://schemas.openxmlformats.org/drawingml/2006/main" noChangeAspect="1"/>
          </p:cNvPicPr>
          <p:nvPr/>
        </p:nvPicPr>
        <p:blipFill>
          <a:blip xmlns:r="http://schemas.openxmlformats.org/officeDocument/2006/relationships" xmlns:a="http://schemas.openxmlformats.org/drawingml/2006/main" r:embed="Ra4830f37f21944b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0" name="header-divider">
            <a:extLst xmlns:a="http://schemas.openxmlformats.org/drawingml/2006/main">
              <a:ext uri="{FF2B5EF4-FFF2-40B4-BE49-F238E27FC236}">
                <a16:creationId xmlns:a16="http://schemas.microsoft.com/office/drawing/2014/main" id="{8B67C4C1-1A4D-43B9-B9BA-DC7CFE049E7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1" name="16b-text-1">
            <a:extLst xmlns:a="http://schemas.openxmlformats.org/drawingml/2006/main">
              <a:ext uri="{FF2B5EF4-FFF2-40B4-BE49-F238E27FC236}">
                <a16:creationId xmlns:a16="http://schemas.microsoft.com/office/drawing/2014/main" id="{C8C1CB63-E5FA-424E-A9DA-785902A4D577}"/>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452" name="16b-text-11">
            <a:extLst xmlns:a="http://schemas.openxmlformats.org/drawingml/2006/main">
              <a:ext uri="{FF2B5EF4-FFF2-40B4-BE49-F238E27FC236}">
                <a16:creationId xmlns:a16="http://schemas.microsoft.com/office/drawing/2014/main" id="{40AD3717-ABD1-482D-8A98-B895F8705D82}"/>
              </a:ext>
            </a:extLst>
          </p:cNvPr>
          <p:cNvSpPr>
            <a:spLocks xmlns:a="http://schemas.openxmlformats.org/drawingml/2006/main"/>
          </p:cNvSpPr>
          <p:nvPr/>
        </p:nvSpPr>
        <p:spPr>
          <a:xfrm xmlns:a="http://schemas.openxmlformats.org/drawingml/2006/main">
            <a:off x="609600" y="24384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453" name="16b-text-12">
            <a:extLst xmlns:a="http://schemas.openxmlformats.org/drawingml/2006/main">
              <a:ext uri="{FF2B5EF4-FFF2-40B4-BE49-F238E27FC236}">
                <a16:creationId xmlns:a16="http://schemas.microsoft.com/office/drawing/2014/main" id="{11FF63AD-245F-4898-B908-10C1B96DFB6A}"/>
              </a:ext>
            </a:extLst>
          </p:cNvPr>
          <p:cNvSpPr>
            <a:spLocks xmlns:a="http://schemas.openxmlformats.org/drawingml/2006/main"/>
          </p:cNvSpPr>
          <p:nvPr/>
        </p:nvSpPr>
        <p:spPr>
          <a:xfrm xmlns:a="http://schemas.openxmlformats.org/drawingml/2006/main">
            <a:off x="4064000" y="25654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at least one of k trials succeeds.</a:t>
            </a:r>
          </a:p>
        </p:txBody>
      </p:sp>
      <p:sp>
        <p:nvSpPr>
          <p:cNvPr id="454" name="16b-text-13">
            <a:extLst xmlns:a="http://schemas.openxmlformats.org/drawingml/2006/main">
              <a:ext uri="{FF2B5EF4-FFF2-40B4-BE49-F238E27FC236}">
                <a16:creationId xmlns:a16="http://schemas.microsoft.com/office/drawing/2014/main" id="{8669D8CA-7BAE-463D-8EA1-689C1FE1DAAC}"/>
              </a:ext>
            </a:extLst>
          </p:cNvPr>
          <p:cNvSpPr>
            <a:spLocks xmlns:a="http://schemas.openxmlformats.org/drawingml/2006/main"/>
          </p:cNvSpPr>
          <p:nvPr/>
        </p:nvSpPr>
        <p:spPr>
          <a:xfrm xmlns:a="http://schemas.openxmlformats.org/drawingml/2006/main">
            <a:off x="609600" y="38354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455" name="16b-text-14">
            <a:extLst xmlns:a="http://schemas.openxmlformats.org/drawingml/2006/main">
              <a:ext uri="{FF2B5EF4-FFF2-40B4-BE49-F238E27FC236}">
                <a16:creationId xmlns:a16="http://schemas.microsoft.com/office/drawing/2014/main" id="{40E26F9B-EBAE-4FAB-AE63-73215D3A62F3}"/>
              </a:ext>
            </a:extLst>
          </p:cNvPr>
          <p:cNvSpPr>
            <a:spLocks xmlns:a="http://schemas.openxmlformats.org/drawingml/2006/main"/>
          </p:cNvSpPr>
          <p:nvPr/>
        </p:nvSpPr>
        <p:spPr>
          <a:xfrm xmlns:a="http://schemas.openxmlformats.org/drawingml/2006/main">
            <a:off x="4064000" y="39624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all k trials succeed.</a:t>
            </a:r>
          </a:p>
        </p:txBody>
      </p:sp>
      <p:sp>
        <p:nvSpPr>
          <p:cNvPr id="456" name="16b-text-15">
            <a:extLst xmlns:a="http://schemas.openxmlformats.org/drawingml/2006/main">
              <a:ext uri="{FF2B5EF4-FFF2-40B4-BE49-F238E27FC236}">
                <a16:creationId xmlns:a16="http://schemas.microsoft.com/office/drawing/2014/main" id="{FE2B2E8C-7A55-478F-A050-AEFEB943D02D}"/>
              </a:ext>
            </a:extLst>
          </p:cNvPr>
          <p:cNvSpPr>
            <a:spLocks xmlns:a="http://schemas.openxmlformats.org/drawingml/2006/main"/>
          </p:cNvSpPr>
          <p:nvPr/>
        </p:nvSpPr>
        <p:spPr>
          <a:xfrm xmlns:a="http://schemas.openxmlformats.org/drawingml/2006/main">
            <a:off x="609600" y="5168900"/>
            <a:ext cx="109728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Identical at k = 1. Opposite stories at k = 10.</a:t>
            </a:r>
          </a:p>
        </p:txBody>
      </p:sp>
      <p:sp>
        <p:nvSpPr>
          <p:cNvPr id="457" name="narrative-number">
            <a:extLst xmlns:a="http://schemas.openxmlformats.org/drawingml/2006/main">
              <a:ext uri="{FF2B5EF4-FFF2-40B4-BE49-F238E27FC236}">
                <a16:creationId xmlns:a16="http://schemas.microsoft.com/office/drawing/2014/main" id="{C869943C-5848-474B-95E7-78D76FA0577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3887552081"/>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8" name="!!area-name">
            <a:extLst xmlns:a="http://schemas.openxmlformats.org/drawingml/2006/main">
              <a:ext uri="{FF2B5EF4-FFF2-40B4-BE49-F238E27FC236}">
                <a16:creationId xmlns:a16="http://schemas.microsoft.com/office/drawing/2014/main" id="{BC425180-F141-4737-84A0-99DF2096CDE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467" name="mini-map"/>
          <p:cNvPicPr>
            <a:picLocks xmlns:a="http://schemas.openxmlformats.org/drawingml/2006/main" noChangeAspect="1"/>
          </p:cNvPicPr>
          <p:nvPr/>
        </p:nvPicPr>
        <p:blipFill>
          <a:blip xmlns:r="http://schemas.openxmlformats.org/officeDocument/2006/relationships" xmlns:a="http://schemas.openxmlformats.org/drawingml/2006/main" r:embed="R82cfcfabaf944f8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0" name="header-divider">
            <a:extLst xmlns:a="http://schemas.openxmlformats.org/drawingml/2006/main">
              <a:ext uri="{FF2B5EF4-FFF2-40B4-BE49-F238E27FC236}">
                <a16:creationId xmlns:a16="http://schemas.microsoft.com/office/drawing/2014/main" id="{08E7F75E-F576-47C2-859B-59F2A083742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1" name="16b-text-1">
            <a:extLst xmlns:a="http://schemas.openxmlformats.org/drawingml/2006/main">
              <a:ext uri="{FF2B5EF4-FFF2-40B4-BE49-F238E27FC236}">
                <a16:creationId xmlns:a16="http://schemas.microsoft.com/office/drawing/2014/main" id="{11D20F82-B4F5-4B30-99AE-2E6C7EBFF928}"/>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462" name="16b-text-16">
            <a:extLst xmlns:a="http://schemas.openxmlformats.org/drawingml/2006/main">
              <a:ext uri="{FF2B5EF4-FFF2-40B4-BE49-F238E27FC236}">
                <a16:creationId xmlns:a16="http://schemas.microsoft.com/office/drawing/2014/main" id="{7AB4E922-E891-4607-B0FA-8ACAE1C50D64}"/>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Start with </a:t>
            </a:r>
            <a:r>
              <a:rPr b="1">
                <a:solidFill>
                  <a:srgbClr val="FFFCF5"/>
                </a:solidFill>
                <a:latin typeface="Helvetica"/>
                <a:ea typeface="Helvetica"/>
                <a:cs typeface="Helvetica"/>
              </a:rPr>
              <a:t>20 to 50 tasks</a:t>
            </a:r>
            <a:r>
              <a:rPr b="0">
                <a:solidFill>
                  <a:srgbClr val="FFFCF5"/>
                </a:solidFill>
                <a:latin typeface="Helvetica"/>
                <a:ea typeface="Helvetica"/>
                <a:cs typeface="Helvetica"/>
              </a:rPr>
              <a:t> drawn from real failures.</a:t>
            </a:r>
          </a:p>
        </p:txBody>
      </p:sp>
      <p:sp>
        <p:nvSpPr>
          <p:cNvPr id="463" name="16b-text-17">
            <a:extLst xmlns:a="http://schemas.openxmlformats.org/drawingml/2006/main">
              <a:ext uri="{FF2B5EF4-FFF2-40B4-BE49-F238E27FC236}">
                <a16:creationId xmlns:a16="http://schemas.microsoft.com/office/drawing/2014/main" id="{CF4B88BD-AE70-4B00-99F2-DC3B0F49AAA7}"/>
              </a:ext>
            </a:extLst>
          </p:cNvPr>
          <p:cNvSpPr>
            <a:spLocks xmlns:a="http://schemas.openxmlformats.org/drawingml/2006/main"/>
          </p:cNvSpPr>
          <p:nvPr/>
        </p:nvSpPr>
        <p:spPr>
          <a:xfrm xmlns:a="http://schemas.openxmlformats.org/drawingml/2006/main">
            <a:off x="609600" y="36830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Read failures and refine the criteria.</a:t>
            </a:r>
          </a:p>
        </p:txBody>
      </p:sp>
      <p:sp>
        <p:nvSpPr>
          <p:cNvPr id="464" name="16b-text-18">
            <a:extLst xmlns:a="http://schemas.openxmlformats.org/drawingml/2006/main">
              <a:ext uri="{FF2B5EF4-FFF2-40B4-BE49-F238E27FC236}">
                <a16:creationId xmlns:a16="http://schemas.microsoft.com/office/drawing/2014/main" id="{4D36CB92-1466-41A8-9114-036E2B978504}"/>
              </a:ext>
            </a:extLst>
          </p:cNvPr>
          <p:cNvSpPr>
            <a:spLocks xmlns:a="http://schemas.openxmlformats.org/drawingml/2006/main"/>
          </p:cNvSpPr>
          <p:nvPr/>
        </p:nvSpPr>
        <p:spPr>
          <a:xfrm xmlns:a="http://schemas.openxmlformats.org/drawingml/2006/main">
            <a:off x="609600" y="49276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Review grader disagreements.</a:t>
            </a:r>
          </a:p>
        </p:txBody>
      </p:sp>
      <p:sp>
        <p:nvSpPr>
          <p:cNvPr id="465" name="narrative-number">
            <a:extLst xmlns:a="http://schemas.openxmlformats.org/drawingml/2006/main">
              <a:ext uri="{FF2B5EF4-FFF2-40B4-BE49-F238E27FC236}">
                <a16:creationId xmlns:a16="http://schemas.microsoft.com/office/drawing/2014/main" id="{5E16818A-EAD9-41C2-A01C-04DBF00D5B5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561086867"/>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6" name="!!area-name">
            <a:extLst xmlns:a="http://schemas.openxmlformats.org/drawingml/2006/main">
              <a:ext uri="{FF2B5EF4-FFF2-40B4-BE49-F238E27FC236}">
                <a16:creationId xmlns:a16="http://schemas.microsoft.com/office/drawing/2014/main" id="{F4F86710-FB4F-4BE1-A132-93EDFAB5E7E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474" name="mini-map"/>
          <p:cNvPicPr>
            <a:picLocks xmlns:a="http://schemas.openxmlformats.org/drawingml/2006/main" noChangeAspect="1"/>
          </p:cNvPicPr>
          <p:nvPr/>
        </p:nvPicPr>
        <p:blipFill>
          <a:blip xmlns:r="http://schemas.openxmlformats.org/officeDocument/2006/relationships" xmlns:a="http://schemas.openxmlformats.org/drawingml/2006/main" r:embed="Rfa695df1973648d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8" name="slide-title">
            <a:extLst xmlns:a="http://schemas.openxmlformats.org/drawingml/2006/main">
              <a:ext uri="{FF2B5EF4-FFF2-40B4-BE49-F238E27FC236}">
                <a16:creationId xmlns:a16="http://schemas.microsoft.com/office/drawing/2014/main" id="{F1981DF0-D168-407C-8EC2-E5E30F7A0E2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Verify one. Evaluate many.</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Keep evaluating.</a:t>
            </a:r>
          </a:p>
        </p:txBody>
      </p:sp>
      <p:sp>
        <p:nvSpPr>
          <p:cNvPr id="469" name="header-divider">
            <a:extLst xmlns:a="http://schemas.openxmlformats.org/drawingml/2006/main">
              <a:ext uri="{FF2B5EF4-FFF2-40B4-BE49-F238E27FC236}">
                <a16:creationId xmlns:a16="http://schemas.microsoft.com/office/drawing/2014/main" id="{227D76A9-A89D-4496-9B3E-72F9C31F303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0" name="17-text-1">
            <a:extLst xmlns:a="http://schemas.openxmlformats.org/drawingml/2006/main">
              <a:ext uri="{FF2B5EF4-FFF2-40B4-BE49-F238E27FC236}">
                <a16:creationId xmlns:a16="http://schemas.microsoft.com/office/drawing/2014/main" id="{18527DB2-F4CB-47EA-87DF-352B61A7E081}"/>
              </a:ext>
            </a:extLst>
          </p:cNvPr>
          <p:cNvSpPr>
            <a:spLocks xmlns:a="http://schemas.openxmlformats.org/drawingml/2006/main"/>
          </p:cNvSpPr>
          <p:nvPr/>
        </p:nvSpPr>
        <p:spPr>
          <a:xfrm xmlns:a="http://schemas.openxmlformats.org/drawingml/2006/main">
            <a:off x="609600" y="24384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must define the checks your domain needs.</a:t>
            </a:r>
          </a:p>
        </p:txBody>
      </p:sp>
      <p:sp>
        <p:nvSpPr>
          <p:cNvPr id="471" name="17-text-2">
            <a:extLst xmlns:a="http://schemas.openxmlformats.org/drawingml/2006/main">
              <a:ext uri="{FF2B5EF4-FFF2-40B4-BE49-F238E27FC236}">
                <a16:creationId xmlns:a16="http://schemas.microsoft.com/office/drawing/2014/main" id="{45EA8A35-AEE9-4C12-BA09-3E0A9E767EC0}"/>
              </a:ext>
            </a:extLst>
          </p:cNvPr>
          <p:cNvSpPr>
            <a:spLocks xmlns:a="http://schemas.openxmlformats.org/drawingml/2006/main"/>
          </p:cNvSpPr>
          <p:nvPr/>
        </p:nvSpPr>
        <p:spPr>
          <a:xfrm xmlns:a="http://schemas.openxmlformats.org/drawingml/2006/main">
            <a:off x="609600" y="37465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Refund limits · Account ownership · Ledger state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Faithfulness may need expert judgment.</a:t>
            </a:r>
          </a:p>
        </p:txBody>
      </p:sp>
      <p:sp>
        <p:nvSpPr>
          <p:cNvPr id="472" name="narrative-number">
            <a:extLst xmlns:a="http://schemas.openxmlformats.org/drawingml/2006/main">
              <a:ext uri="{FF2B5EF4-FFF2-40B4-BE49-F238E27FC236}">
                <a16:creationId xmlns:a16="http://schemas.microsoft.com/office/drawing/2014/main" id="{BEC77CE2-58FC-41F6-BA85-9ABB42673E7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303641707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3" name="!!area-name">
            <a:extLst xmlns:a="http://schemas.openxmlformats.org/drawingml/2006/main">
              <a:ext uri="{FF2B5EF4-FFF2-40B4-BE49-F238E27FC236}">
                <a16:creationId xmlns:a16="http://schemas.microsoft.com/office/drawing/2014/main" id="{CF6F8868-D3B9-4737-B6BD-6FAD87CE424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496" name="mini-map"/>
          <p:cNvPicPr>
            <a:picLocks xmlns:a="http://schemas.openxmlformats.org/drawingml/2006/main" noChangeAspect="1"/>
          </p:cNvPicPr>
          <p:nvPr/>
        </p:nvPicPr>
        <p:blipFill>
          <a:blip xmlns:r="http://schemas.openxmlformats.org/officeDocument/2006/relationships" xmlns:a="http://schemas.openxmlformats.org/drawingml/2006/main" r:embed="R809ce99b38bf489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5" name="slide-title">
            <a:extLst xmlns:a="http://schemas.openxmlformats.org/drawingml/2006/main">
              <a:ext uri="{FF2B5EF4-FFF2-40B4-BE49-F238E27FC236}">
                <a16:creationId xmlns:a16="http://schemas.microsoft.com/office/drawing/2014/main" id="{3D2FEF15-0E0D-4473-863C-F71A75E0126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Verify one. Evaluate many.</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Keep evaluating.</a:t>
            </a:r>
          </a:p>
        </p:txBody>
      </p:sp>
      <p:sp>
        <p:nvSpPr>
          <p:cNvPr id="476" name="header-divider">
            <a:extLst xmlns:a="http://schemas.openxmlformats.org/drawingml/2006/main">
              <a:ext uri="{FF2B5EF4-FFF2-40B4-BE49-F238E27FC236}">
                <a16:creationId xmlns:a16="http://schemas.microsoft.com/office/drawing/2014/main" id="{B0DEA9AF-1967-460B-8BD1-E85A330BC5F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7" name="17-shape-3">
            <a:extLst xmlns:a="http://schemas.openxmlformats.org/drawingml/2006/main">
              <a:ext uri="{FF2B5EF4-FFF2-40B4-BE49-F238E27FC236}">
                <a16:creationId xmlns:a16="http://schemas.microsoft.com/office/drawing/2014/main" id="{AE70AC9D-C856-4618-AA31-E2CC17B5721C}"/>
              </a:ext>
            </a:extLst>
          </p:cNvPr>
          <p:cNvSpPr>
            <a:spLocks xmlns:a="http://schemas.openxmlformats.org/drawingml/2006/main"/>
          </p:cNvSpPr>
          <p:nvPr/>
        </p:nvSpPr>
        <p:spPr>
          <a:xfrm xmlns:a="http://schemas.openxmlformats.org/drawingml/2006/main">
            <a:off x="609600" y="2438400"/>
            <a:ext cx="3454400" cy="2794000"/>
          </a:xfrm>
          <a:prstGeom xmlns:a="http://schemas.openxmlformats.org/drawingml/2006/main" prst="roundRect">
            <a:avLst>
              <a:gd name="adj" fmla="val 3636"/>
            </a:avLst>
          </a:prstGeom>
          <a:solidFill xmlns:a="http://schemas.openxmlformats.org/drawingml/2006/main">
            <a:srgbClr val="303236"/>
          </a:solidFill>
          <a:ln xmlns:a="http://schemas.openxmlformats.org/drawingml/2006/main" w="0">
            <a:noFill/>
          </a:ln>
        </p:spPr>
      </p:sp>
      <p:sp>
        <p:nvSpPr>
          <p:cNvPr id="478" name="17-text-4">
            <a:extLst xmlns:a="http://schemas.openxmlformats.org/drawingml/2006/main">
              <a:ext uri="{FF2B5EF4-FFF2-40B4-BE49-F238E27FC236}">
                <a16:creationId xmlns:a16="http://schemas.microsoft.com/office/drawing/2014/main" id="{203E2808-022B-4D37-8EF9-3AD14F759F6A}"/>
              </a:ext>
            </a:extLst>
          </p:cNvPr>
          <p:cNvSpPr>
            <a:spLocks xmlns:a="http://schemas.openxmlformats.org/drawingml/2006/main"/>
          </p:cNvSpPr>
          <p:nvPr/>
        </p:nvSpPr>
        <p:spPr>
          <a:xfrm xmlns:a="http://schemas.openxmlformats.org/drawingml/2006/main">
            <a:off x="812800" y="2590800"/>
            <a:ext cx="81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79" name="17-text-5">
            <a:extLst xmlns:a="http://schemas.openxmlformats.org/drawingml/2006/main">
              <a:ext uri="{FF2B5EF4-FFF2-40B4-BE49-F238E27FC236}">
                <a16:creationId xmlns:a16="http://schemas.microsoft.com/office/drawing/2014/main" id="{70F84101-BCF1-4E4A-AC9F-2DEDC7B9F091}"/>
              </a:ext>
            </a:extLst>
          </p:cNvPr>
          <p:cNvSpPr>
            <a:spLocks xmlns:a="http://schemas.openxmlformats.org/drawingml/2006/main"/>
          </p:cNvSpPr>
          <p:nvPr/>
        </p:nvSpPr>
        <p:spPr>
          <a:xfrm xmlns:a="http://schemas.openxmlformats.org/drawingml/2006/main">
            <a:off x="812800" y="340360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Build the verifier.</a:t>
            </a:r>
          </a:p>
        </p:txBody>
      </p:sp>
      <p:sp>
        <p:nvSpPr>
          <p:cNvPr id="480" name="17-text-6">
            <a:extLst xmlns:a="http://schemas.openxmlformats.org/drawingml/2006/main">
              <a:ext uri="{FF2B5EF4-FFF2-40B4-BE49-F238E27FC236}">
                <a16:creationId xmlns:a16="http://schemas.microsoft.com/office/drawing/2014/main" id="{7714217B-76EB-40ED-8453-BBF3FA5F8765}"/>
              </a:ext>
            </a:extLst>
          </p:cNvPr>
          <p:cNvSpPr>
            <a:spLocks xmlns:a="http://schemas.openxmlformats.org/drawingml/2006/main"/>
          </p:cNvSpPr>
          <p:nvPr/>
        </p:nvSpPr>
        <p:spPr>
          <a:xfrm xmlns:a="http://schemas.openxmlformats.org/drawingml/2006/main">
            <a:off x="812800" y="4191000"/>
            <a:ext cx="3048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Schema check · business rule</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database state · calibrated</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rubric · human</a:t>
            </a:r>
          </a:p>
        </p:txBody>
      </p:sp>
      <p:sp>
        <p:nvSpPr>
          <p:cNvPr id="481" name="17-shape-7">
            <a:extLst xmlns:a="http://schemas.openxmlformats.org/drawingml/2006/main">
              <a:ext uri="{FF2B5EF4-FFF2-40B4-BE49-F238E27FC236}">
                <a16:creationId xmlns:a16="http://schemas.microsoft.com/office/drawing/2014/main" id="{D7A3E13B-D8A6-40A1-B487-BC2DD76F1445}"/>
              </a:ext>
            </a:extLst>
          </p:cNvPr>
          <p:cNvSpPr>
            <a:spLocks xmlns:a="http://schemas.openxmlformats.org/drawingml/2006/main"/>
          </p:cNvSpPr>
          <p:nvPr/>
        </p:nvSpPr>
        <p:spPr>
          <a:xfrm xmlns:a="http://schemas.openxmlformats.org/drawingml/2006/main">
            <a:off x="4368800" y="2438400"/>
            <a:ext cx="3454400" cy="2794000"/>
          </a:xfrm>
          <a:prstGeom xmlns:a="http://schemas.openxmlformats.org/drawingml/2006/main" prst="roundRect">
            <a:avLst>
              <a:gd name="adj" fmla="val 3636"/>
            </a:avLst>
          </a:prstGeom>
          <a:solidFill xmlns:a="http://schemas.openxmlformats.org/drawingml/2006/main">
            <a:srgbClr val="303236"/>
          </a:solidFill>
          <a:ln xmlns:a="http://schemas.openxmlformats.org/drawingml/2006/main" w="0">
            <a:noFill/>
          </a:ln>
        </p:spPr>
      </p:sp>
      <p:sp>
        <p:nvSpPr>
          <p:cNvPr id="482" name="17-text-8">
            <a:extLst xmlns:a="http://schemas.openxmlformats.org/drawingml/2006/main">
              <a:ext uri="{FF2B5EF4-FFF2-40B4-BE49-F238E27FC236}">
                <a16:creationId xmlns:a16="http://schemas.microsoft.com/office/drawing/2014/main" id="{8E6D3B7C-3F89-4DB2-BA7B-EDEFC28ACE68}"/>
              </a:ext>
            </a:extLst>
          </p:cNvPr>
          <p:cNvSpPr>
            <a:spLocks xmlns:a="http://schemas.openxmlformats.org/drawingml/2006/main"/>
          </p:cNvSpPr>
          <p:nvPr/>
        </p:nvSpPr>
        <p:spPr>
          <a:xfrm xmlns:a="http://schemas.openxmlformats.org/drawingml/2006/main">
            <a:off x="4572000" y="2590800"/>
            <a:ext cx="81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483" name="17-text-9">
            <a:extLst xmlns:a="http://schemas.openxmlformats.org/drawingml/2006/main">
              <a:ext uri="{FF2B5EF4-FFF2-40B4-BE49-F238E27FC236}">
                <a16:creationId xmlns:a16="http://schemas.microsoft.com/office/drawing/2014/main" id="{0CF030A6-AE3E-4E6B-AAE6-23974249759A}"/>
              </a:ext>
            </a:extLst>
          </p:cNvPr>
          <p:cNvSpPr>
            <a:spLocks xmlns:a="http://schemas.openxmlformats.org/drawingml/2006/main"/>
          </p:cNvSpPr>
          <p:nvPr/>
        </p:nvSpPr>
        <p:spPr>
          <a:xfrm xmlns:a="http://schemas.openxmlformats.org/drawingml/2006/main">
            <a:off x="4572000" y="340360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Build the eval suite.</a:t>
            </a:r>
          </a:p>
        </p:txBody>
      </p:sp>
      <p:sp>
        <p:nvSpPr>
          <p:cNvPr id="484" name="17-text-10">
            <a:extLst xmlns:a="http://schemas.openxmlformats.org/drawingml/2006/main">
              <a:ext uri="{FF2B5EF4-FFF2-40B4-BE49-F238E27FC236}">
                <a16:creationId xmlns:a16="http://schemas.microsoft.com/office/drawing/2014/main" id="{1DA594D0-7D5C-434A-9A86-6B153347A047}"/>
              </a:ext>
            </a:extLst>
          </p:cNvPr>
          <p:cNvSpPr>
            <a:spLocks xmlns:a="http://schemas.openxmlformats.org/drawingml/2006/main"/>
          </p:cNvSpPr>
          <p:nvPr/>
        </p:nvSpPr>
        <p:spPr>
          <a:xfrm xmlns:a="http://schemas.openxmlformats.org/drawingml/2006/main">
            <a:off x="4572000" y="4191000"/>
            <a:ext cx="3048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Representative cases and repeated trials.</a:t>
            </a:r>
          </a:p>
        </p:txBody>
      </p:sp>
      <p:sp>
        <p:nvSpPr>
          <p:cNvPr id="485" name="17-shape-11">
            <a:extLst xmlns:a="http://schemas.openxmlformats.org/drawingml/2006/main">
              <a:ext uri="{FF2B5EF4-FFF2-40B4-BE49-F238E27FC236}">
                <a16:creationId xmlns:a16="http://schemas.microsoft.com/office/drawing/2014/main" id="{A7763368-485B-40E1-BBE3-7D862DD8C693}"/>
              </a:ext>
            </a:extLst>
          </p:cNvPr>
          <p:cNvSpPr>
            <a:spLocks xmlns:a="http://schemas.openxmlformats.org/drawingml/2006/main"/>
          </p:cNvSpPr>
          <p:nvPr/>
        </p:nvSpPr>
        <p:spPr>
          <a:xfrm xmlns:a="http://schemas.openxmlformats.org/drawingml/2006/main">
            <a:off x="8128000" y="2438400"/>
            <a:ext cx="3454400" cy="2794000"/>
          </a:xfrm>
          <a:prstGeom xmlns:a="http://schemas.openxmlformats.org/drawingml/2006/main" prst="roundRect">
            <a:avLst>
              <a:gd name="adj" fmla="val 3636"/>
            </a:avLst>
          </a:prstGeom>
          <a:solidFill xmlns:a="http://schemas.openxmlformats.org/drawingml/2006/main">
            <a:srgbClr val="303236"/>
          </a:solidFill>
          <a:ln xmlns:a="http://schemas.openxmlformats.org/drawingml/2006/main" w="0">
            <a:noFill/>
          </a:ln>
        </p:spPr>
      </p:sp>
      <p:sp>
        <p:nvSpPr>
          <p:cNvPr id="486" name="17-text-12">
            <a:extLst xmlns:a="http://schemas.openxmlformats.org/drawingml/2006/main">
              <a:ext uri="{FF2B5EF4-FFF2-40B4-BE49-F238E27FC236}">
                <a16:creationId xmlns:a16="http://schemas.microsoft.com/office/drawing/2014/main" id="{429D9105-5287-4375-8D67-2CF724DF3F37}"/>
              </a:ext>
            </a:extLst>
          </p:cNvPr>
          <p:cNvSpPr>
            <a:spLocks xmlns:a="http://schemas.openxmlformats.org/drawingml/2006/main"/>
          </p:cNvSpPr>
          <p:nvPr/>
        </p:nvSpPr>
        <p:spPr>
          <a:xfrm xmlns:a="http://schemas.openxmlformats.org/drawingml/2006/main">
            <a:off x="8331200" y="2590800"/>
            <a:ext cx="81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487" name="17-text-13">
            <a:extLst xmlns:a="http://schemas.openxmlformats.org/drawingml/2006/main">
              <a:ext uri="{FF2B5EF4-FFF2-40B4-BE49-F238E27FC236}">
                <a16:creationId xmlns:a16="http://schemas.microsoft.com/office/drawing/2014/main" id="{5AAD9CBD-6B03-455C-BD0C-7BE916DE4C4F}"/>
              </a:ext>
            </a:extLst>
          </p:cNvPr>
          <p:cNvSpPr>
            <a:spLocks xmlns:a="http://schemas.openxmlformats.org/drawingml/2006/main"/>
          </p:cNvSpPr>
          <p:nvPr/>
        </p:nvSpPr>
        <p:spPr>
          <a:xfrm xmlns:a="http://schemas.openxmlformats.org/drawingml/2006/main">
            <a:off x="8331200" y="340360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Keep running it.</a:t>
            </a:r>
          </a:p>
        </p:txBody>
      </p:sp>
      <p:sp>
        <p:nvSpPr>
          <p:cNvPr id="488" name="17-text-14">
            <a:extLst xmlns:a="http://schemas.openxmlformats.org/drawingml/2006/main">
              <a:ext uri="{FF2B5EF4-FFF2-40B4-BE49-F238E27FC236}">
                <a16:creationId xmlns:a16="http://schemas.microsoft.com/office/drawing/2014/main" id="{A3C3EA97-60E7-4805-BF08-4E17E3AF5A5C}"/>
              </a:ext>
            </a:extLst>
          </p:cNvPr>
          <p:cNvSpPr>
            <a:spLocks xmlns:a="http://schemas.openxmlformats.org/drawingml/2006/main"/>
          </p:cNvSpPr>
          <p:nvPr/>
        </p:nvSpPr>
        <p:spPr>
          <a:xfrm xmlns:a="http://schemas.openxmlformats.org/drawingml/2006/main">
            <a:off x="8331200" y="4191000"/>
            <a:ext cx="3048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Regression checks and sampled production traffic.</a:t>
            </a:r>
          </a:p>
        </p:txBody>
      </p:sp>
      <p:sp>
        <p:nvSpPr>
          <p:cNvPr id="489" name="17-text-15">
            <a:extLst xmlns:a="http://schemas.openxmlformats.org/drawingml/2006/main">
              <a:ext uri="{FF2B5EF4-FFF2-40B4-BE49-F238E27FC236}">
                <a16:creationId xmlns:a16="http://schemas.microsoft.com/office/drawing/2014/main" id="{89FBD760-8203-4C6D-8857-34D3A4985B3F}"/>
              </a:ext>
            </a:extLst>
          </p:cNvPr>
          <p:cNvSpPr>
            <a:spLocks xmlns:a="http://schemas.openxmlformats.org/drawingml/2006/main"/>
          </p:cNvSpPr>
          <p:nvPr/>
        </p:nvSpPr>
        <p:spPr>
          <a:xfrm xmlns:a="http://schemas.openxmlformats.org/drawingml/2006/main">
            <a:off x="609600" y="5435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Your eval suite gives evidence for a migration decision.</a:t>
            </a:r>
          </a:p>
        </p:txBody>
      </p:sp>
      <p:sp>
        <p:nvSpPr>
          <p:cNvPr id="490" name="17-shape-16">
            <a:extLst xmlns:a="http://schemas.openxmlformats.org/drawingml/2006/main">
              <a:ext uri="{FF2B5EF4-FFF2-40B4-BE49-F238E27FC236}">
                <a16:creationId xmlns:a16="http://schemas.microsoft.com/office/drawing/2014/main" id="{354C8E3C-8CCD-428A-A53F-347EBC452C93}"/>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91" name="17-shape-17">
            <a:extLst xmlns:a="http://schemas.openxmlformats.org/drawingml/2006/main">
              <a:ext uri="{FF2B5EF4-FFF2-40B4-BE49-F238E27FC236}">
                <a16:creationId xmlns:a16="http://schemas.microsoft.com/office/drawing/2014/main" id="{39146692-BFA8-4A92-9AEF-98FBCF9FB6BB}"/>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92" name="17-text-18">
            <a:extLst xmlns:a="http://schemas.openxmlformats.org/drawingml/2006/main">
              <a:ext uri="{FF2B5EF4-FFF2-40B4-BE49-F238E27FC236}">
                <a16:creationId xmlns:a16="http://schemas.microsoft.com/office/drawing/2014/main" id="{E25E2F21-A69A-4FF3-B762-CE0E55484283}"/>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493" name="17-text-19">
            <a:extLst xmlns:a="http://schemas.openxmlformats.org/drawingml/2006/main">
              <a:ext uri="{FF2B5EF4-FFF2-40B4-BE49-F238E27FC236}">
                <a16:creationId xmlns:a16="http://schemas.microsoft.com/office/drawing/2014/main" id="{38103CB6-498A-4716-953F-A993EAF140D1}"/>
              </a:ext>
            </a:extLst>
          </p:cNvPr>
          <p:cNvSpPr>
            <a:spLocks xmlns:a="http://schemas.openxmlformats.org/drawingml/2006/main"/>
          </p:cNvSpPr>
          <p:nvPr/>
        </p:nvSpPr>
        <p:spPr>
          <a:xfrm xmlns:a="http://schemas.openxmlformats.org/drawingml/2006/main">
            <a:off x="2489200" y="6096000"/>
            <a:ext cx="90932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494" name="narrative-number">
            <a:extLst xmlns:a="http://schemas.openxmlformats.org/drawingml/2006/main">
              <a:ext uri="{FF2B5EF4-FFF2-40B4-BE49-F238E27FC236}">
                <a16:creationId xmlns:a16="http://schemas.microsoft.com/office/drawing/2014/main" id="{93634D2C-ADBF-4E07-8572-A85B0BFF0E5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217476798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90"/>
                                        </p:tgtEl>
                                        <p:attrNameLst>
                                          <p:attrName>style.visibility</p:attrName>
                                        </p:attrNameLst>
                                      </p:cBhvr>
                                      <p:to>
                                        <p:strVal val="visible"/>
                                      </p:to>
                                    </p:set>
                                    <p:animEffect transition="in" filter="fade">
                                      <p:cBhvr>
                                        <p:cTn id="11" dur="300" fill="hold"/>
                                        <p:tgtEl>
                                          <p:spTgt spid="490"/>
                                        </p:tgtEl>
                                      </p:cBhvr>
                                    </p:animEffect>
                                  </p:childTnLst>
                                </p:cTn>
                              </p:par>
                              <p:par>
                                <p:cTn id="12" presetID="10" presetClass="entr" presetSubtype="0" fill="hold" nodeType="withEffect">
                                  <p:stCondLst>
                                    <p:cond delay="0"/>
                                  </p:stCondLst>
                                  <p:childTnLst>
                                    <p:set>
                                      <p:cBhvr>
                                        <p:cTn id="13" dur="1" fill="hold">
                                          <p:stCondLst>
                                            <p:cond delay="0"/>
                                          </p:stCondLst>
                                        </p:cTn>
                                        <p:tgtEl>
                                          <p:spTgt spid="491"/>
                                        </p:tgtEl>
                                        <p:attrNameLst>
                                          <p:attrName>style.visibility</p:attrName>
                                        </p:attrNameLst>
                                      </p:cBhvr>
                                      <p:to>
                                        <p:strVal val="visible"/>
                                      </p:to>
                                    </p:set>
                                    <p:animEffect transition="in" filter="fade">
                                      <p:cBhvr>
                                        <p:cTn id="14" dur="300" fill="hold"/>
                                        <p:tgtEl>
                                          <p:spTgt spid="491"/>
                                        </p:tgtEl>
                                      </p:cBhvr>
                                    </p:animEffect>
                                  </p:childTnLst>
                                </p:cTn>
                              </p:par>
                              <p:par>
                                <p:cTn id="15" presetID="10" presetClass="entr" presetSubtype="0" fill="hold" nodeType="withEffect">
                                  <p:stCondLst>
                                    <p:cond delay="0"/>
                                  </p:stCondLst>
                                  <p:childTnLst>
                                    <p:set>
                                      <p:cBhvr>
                                        <p:cTn id="16" dur="1" fill="hold">
                                          <p:stCondLst>
                                            <p:cond delay="0"/>
                                          </p:stCondLst>
                                        </p:cTn>
                                        <p:tgtEl>
                                          <p:spTgt spid="492"/>
                                        </p:tgtEl>
                                        <p:attrNameLst>
                                          <p:attrName>style.visibility</p:attrName>
                                        </p:attrNameLst>
                                      </p:cBhvr>
                                      <p:to>
                                        <p:strVal val="visible"/>
                                      </p:to>
                                    </p:set>
                                    <p:animEffect transition="in" filter="fade">
                                      <p:cBhvr>
                                        <p:cTn id="17" dur="300" fill="hold"/>
                                        <p:tgtEl>
                                          <p:spTgt spid="492"/>
                                        </p:tgtEl>
                                      </p:cBhvr>
                                    </p:animEffect>
                                  </p:childTnLst>
                                </p:cTn>
                              </p:par>
                              <p:par>
                                <p:cTn id="18" presetID="10" presetClass="entr" presetSubtype="0" fill="hold" nodeType="withEffect">
                                  <p:stCondLst>
                                    <p:cond delay="0"/>
                                  </p:stCondLst>
                                  <p:childTnLst>
                                    <p:set>
                                      <p:cBhvr>
                                        <p:cTn id="19" dur="1" fill="hold">
                                          <p:stCondLst>
                                            <p:cond delay="0"/>
                                          </p:stCondLst>
                                        </p:cTn>
                                        <p:tgtEl>
                                          <p:spTgt spid="493"/>
                                        </p:tgtEl>
                                        <p:attrNameLst>
                                          <p:attrName>style.visibility</p:attrName>
                                        </p:attrNameLst>
                                      </p:cBhvr>
                                      <p:to>
                                        <p:strVal val="visible"/>
                                      </p:to>
                                    </p:set>
                                    <p:animEffect transition="in" filter="fade">
                                      <p:cBhvr>
                                        <p:cTn id="20" dur="300" fill="hold"/>
                                        <p:tgtEl>
                                          <p:spTgt spid="4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5" name="!!area-header">
            <a:extLst xmlns:a="http://schemas.openxmlformats.org/drawingml/2006/main">
              <a:ext uri="{FF2B5EF4-FFF2-40B4-BE49-F238E27FC236}">
                <a16:creationId xmlns:a16="http://schemas.microsoft.com/office/drawing/2014/main" id="{DBC2B001-066D-44B5-BD97-7631D8313762}"/>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96" name="!!area-name">
            <a:extLst xmlns:a="http://schemas.openxmlformats.org/drawingml/2006/main">
              <a:ext uri="{FF2B5EF4-FFF2-40B4-BE49-F238E27FC236}">
                <a16:creationId xmlns:a16="http://schemas.microsoft.com/office/drawing/2014/main" id="{073F6E04-4C65-4AC5-85A8-8C04EE47CE27}"/>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Operating it</a:t>
            </a:r>
          </a:p>
        </p:txBody>
      </p:sp>
      <p:sp>
        <p:nvSpPr>
          <p:cNvPr id="497" name="!!area-beat">
            <a:extLst xmlns:a="http://schemas.openxmlformats.org/drawingml/2006/main">
              <a:ext uri="{FF2B5EF4-FFF2-40B4-BE49-F238E27FC236}">
                <a16:creationId xmlns:a16="http://schemas.microsoft.com/office/drawing/2014/main" id="{B65AEE29-257F-4E9D-8050-55D2FD01B052}"/>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98" name="header-divider">
            <a:extLst xmlns:a="http://schemas.openxmlformats.org/drawingml/2006/main">
              <a:ext uri="{FF2B5EF4-FFF2-40B4-BE49-F238E27FC236}">
                <a16:creationId xmlns:a16="http://schemas.microsoft.com/office/drawing/2014/main" id="{98778DA2-EF53-4A65-87D2-11496208DABA}"/>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9" name="18-shape-1">
            <a:extLst xmlns:a="http://schemas.openxmlformats.org/drawingml/2006/main">
              <a:ext uri="{FF2B5EF4-FFF2-40B4-BE49-F238E27FC236}">
                <a16:creationId xmlns:a16="http://schemas.microsoft.com/office/drawing/2014/main" id="{3FA1A3FE-6818-4182-A76F-1FD5230EB552}"/>
              </a:ext>
            </a:extLst>
          </p:cNvPr>
          <p:cNvSpPr>
            <a:spLocks xmlns:a="http://schemas.openxmlformats.org/drawingml/2006/main"/>
          </p:cNvSpPr>
          <p:nvPr/>
        </p:nvSpPr>
        <p:spPr>
          <a:xfrm xmlns:a="http://schemas.openxmlformats.org/drawingml/2006/main">
            <a:off x="609600" y="2489200"/>
            <a:ext cx="11430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500" name="18-text-2">
            <a:extLst xmlns:a="http://schemas.openxmlformats.org/drawingml/2006/main">
              <a:ext uri="{FF2B5EF4-FFF2-40B4-BE49-F238E27FC236}">
                <a16:creationId xmlns:a16="http://schemas.microsoft.com/office/drawing/2014/main" id="{23EF4E92-B236-4AD5-93F4-B1EB125A76A3}"/>
              </a:ext>
            </a:extLst>
          </p:cNvPr>
          <p:cNvSpPr>
            <a:spLocks xmlns:a="http://schemas.openxmlformats.org/drawingml/2006/main"/>
          </p:cNvSpPr>
          <p:nvPr/>
        </p:nvSpPr>
        <p:spPr>
          <a:xfrm xmlns:a="http://schemas.openxmlformats.org/drawingml/2006/main">
            <a:off x="762000" y="2527300"/>
            <a:ext cx="838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/usage</a:t>
            </a:r>
          </a:p>
        </p:txBody>
      </p:sp>
      <p:sp>
        <p:nvSpPr>
          <p:cNvPr id="501" name="18-shape-3">
            <a:extLst xmlns:a="http://schemas.openxmlformats.org/drawingml/2006/main">
              <a:ext uri="{FF2B5EF4-FFF2-40B4-BE49-F238E27FC236}">
                <a16:creationId xmlns:a16="http://schemas.microsoft.com/office/drawing/2014/main" id="{613861FB-B77D-4ECE-A294-C9FD3C243497}"/>
              </a:ext>
            </a:extLst>
          </p:cNvPr>
          <p:cNvSpPr>
            <a:spLocks xmlns:a="http://schemas.openxmlformats.org/drawingml/2006/main"/>
          </p:cNvSpPr>
          <p:nvPr/>
        </p:nvSpPr>
        <p:spPr>
          <a:xfrm xmlns:a="http://schemas.openxmlformats.org/drawingml/2006/main">
            <a:off x="1854200" y="2489200"/>
            <a:ext cx="3454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502" name="18-text-4">
            <a:extLst xmlns:a="http://schemas.openxmlformats.org/drawingml/2006/main">
              <a:ext uri="{FF2B5EF4-FFF2-40B4-BE49-F238E27FC236}">
                <a16:creationId xmlns:a16="http://schemas.microsoft.com/office/drawing/2014/main" id="{027BC8D3-4863-4293-ACE9-645893752F09}"/>
              </a:ext>
            </a:extLst>
          </p:cNvPr>
          <p:cNvSpPr>
            <a:spLocks xmlns:a="http://schemas.openxmlformats.org/drawingml/2006/main"/>
          </p:cNvSpPr>
          <p:nvPr/>
        </p:nvSpPr>
        <p:spPr>
          <a:xfrm xmlns:a="http://schemas.openxmlformats.org/drawingml/2006/main">
            <a:off x="2006600" y="2527300"/>
            <a:ext cx="314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OpenTelemetry exporter</a:t>
            </a:r>
          </a:p>
        </p:txBody>
      </p:sp>
      <p:sp>
        <p:nvSpPr>
          <p:cNvPr id="503" name="18-shape-5">
            <a:extLst xmlns:a="http://schemas.openxmlformats.org/drawingml/2006/main">
              <a:ext uri="{FF2B5EF4-FFF2-40B4-BE49-F238E27FC236}">
                <a16:creationId xmlns:a16="http://schemas.microsoft.com/office/drawing/2014/main" id="{A1CD7F84-6629-40CD-988B-4DC739D4C758}"/>
              </a:ext>
            </a:extLst>
          </p:cNvPr>
          <p:cNvSpPr>
            <a:spLocks xmlns:a="http://schemas.openxmlformats.org/drawingml/2006/main"/>
          </p:cNvSpPr>
          <p:nvPr/>
        </p:nvSpPr>
        <p:spPr>
          <a:xfrm xmlns:a="http://schemas.openxmlformats.org/drawingml/2006/main">
            <a:off x="5410200" y="2489200"/>
            <a:ext cx="1689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504" name="18-text-6">
            <a:extLst xmlns:a="http://schemas.openxmlformats.org/drawingml/2006/main">
              <a:ext uri="{FF2B5EF4-FFF2-40B4-BE49-F238E27FC236}">
                <a16:creationId xmlns:a16="http://schemas.microsoft.com/office/drawing/2014/main" id="{84F41068-E662-4749-BB6F-4F64A65DD066}"/>
              </a:ext>
            </a:extLst>
          </p:cNvPr>
          <p:cNvSpPr>
            <a:spLocks xmlns:a="http://schemas.openxmlformats.org/drawingml/2006/main"/>
          </p:cNvSpPr>
          <p:nvPr/>
        </p:nvSpPr>
        <p:spPr>
          <a:xfrm xmlns:a="http://schemas.openxmlformats.org/drawingml/2006/main">
            <a:off x="5562600" y="2527300"/>
            <a:ext cx="1384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sandbox</a:t>
            </a:r>
          </a:p>
        </p:txBody>
      </p:sp>
      <p:sp>
        <p:nvSpPr>
          <p:cNvPr id="505" name="18-shape-7">
            <a:extLst xmlns:a="http://schemas.openxmlformats.org/drawingml/2006/main">
              <a:ext uri="{FF2B5EF4-FFF2-40B4-BE49-F238E27FC236}">
                <a16:creationId xmlns:a16="http://schemas.microsoft.com/office/drawing/2014/main" id="{7482504D-D5F9-4B43-839D-98D2F32B2750}"/>
              </a:ext>
            </a:extLst>
          </p:cNvPr>
          <p:cNvSpPr>
            <a:spLocks xmlns:a="http://schemas.openxmlformats.org/drawingml/2006/main"/>
          </p:cNvSpPr>
          <p:nvPr/>
        </p:nvSpPr>
        <p:spPr>
          <a:xfrm xmlns:a="http://schemas.openxmlformats.org/drawingml/2006/main">
            <a:off x="7200900" y="2489200"/>
            <a:ext cx="2057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506" name="18-text-8">
            <a:extLst xmlns:a="http://schemas.openxmlformats.org/drawingml/2006/main">
              <a:ext uri="{FF2B5EF4-FFF2-40B4-BE49-F238E27FC236}">
                <a16:creationId xmlns:a16="http://schemas.microsoft.com/office/drawing/2014/main" id="{E8C3ECA0-4895-40A6-9163-9B53FB78A984}"/>
              </a:ext>
            </a:extLst>
          </p:cNvPr>
          <p:cNvSpPr>
            <a:spLocks xmlns:a="http://schemas.openxmlformats.org/drawingml/2006/main"/>
          </p:cNvSpPr>
          <p:nvPr/>
        </p:nvSpPr>
        <p:spPr>
          <a:xfrm xmlns:a="http://schemas.openxmlformats.org/drawingml/2006/main">
            <a:off x="7353300" y="2527300"/>
            <a:ext cx="1752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OAuth login</a:t>
            </a:r>
          </a:p>
        </p:txBody>
      </p:sp>
      <p:sp>
        <p:nvSpPr>
          <p:cNvPr id="507" name="18-text-9">
            <a:extLst xmlns:a="http://schemas.openxmlformats.org/drawingml/2006/main">
              <a:ext uri="{FF2B5EF4-FFF2-40B4-BE49-F238E27FC236}">
                <a16:creationId xmlns:a16="http://schemas.microsoft.com/office/drawing/2014/main" id="{D78589B4-E62B-4439-815C-F0457959B6B6}"/>
              </a:ext>
            </a:extLst>
          </p:cNvPr>
          <p:cNvSpPr>
            <a:spLocks xmlns:a="http://schemas.openxmlformats.org/drawingml/2006/main"/>
          </p:cNvSpPr>
          <p:nvPr/>
        </p:nvSpPr>
        <p:spPr>
          <a:xfrm xmlns:a="http://schemas.openxmlformats.org/drawingml/2006/main">
            <a:off x="609600" y="38354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And a trust and safety team you have never met.</a:t>
            </a:r>
          </a:p>
        </p:txBody>
      </p:sp>
      <p:sp>
        <p:nvSpPr>
          <p:cNvPr id="508" name="narrative-number">
            <a:extLst xmlns:a="http://schemas.openxmlformats.org/drawingml/2006/main">
              <a:ext uri="{FF2B5EF4-FFF2-40B4-BE49-F238E27FC236}">
                <a16:creationId xmlns:a16="http://schemas.microsoft.com/office/drawing/2014/main" id="{4BC0EFBC-FE8A-47D9-AF23-A661D90DDF2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635632740"/>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9" name="!!area-name">
            <a:extLst xmlns:a="http://schemas.openxmlformats.org/drawingml/2006/main">
              <a:ext uri="{FF2B5EF4-FFF2-40B4-BE49-F238E27FC236}">
                <a16:creationId xmlns:a16="http://schemas.microsoft.com/office/drawing/2014/main" id="{0BC0FF30-A9B9-4D2D-988F-4CFB0BCAE17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519" name="mini-map"/>
          <p:cNvPicPr>
            <a:picLocks xmlns:a="http://schemas.openxmlformats.org/drawingml/2006/main" noChangeAspect="1"/>
          </p:cNvPicPr>
          <p:nvPr/>
        </p:nvPicPr>
        <p:blipFill>
          <a:blip xmlns:r="http://schemas.openxmlformats.org/officeDocument/2006/relationships" xmlns:a="http://schemas.openxmlformats.org/drawingml/2006/main" r:embed="R4d8451381cf4408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1" name="header-divider">
            <a:extLst xmlns:a="http://schemas.openxmlformats.org/drawingml/2006/main">
              <a:ext uri="{FF2B5EF4-FFF2-40B4-BE49-F238E27FC236}">
                <a16:creationId xmlns:a16="http://schemas.microsoft.com/office/drawing/2014/main" id="{B770665C-8A64-4B32-8EAD-7ACB52B2614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12" name="18b-text-1">
            <a:extLst xmlns:a="http://schemas.openxmlformats.org/drawingml/2006/main">
              <a:ext uri="{FF2B5EF4-FFF2-40B4-BE49-F238E27FC236}">
                <a16:creationId xmlns:a16="http://schemas.microsoft.com/office/drawing/2014/main" id="{8F1B1FCE-829B-43AC-8B31-C8089E835823}"/>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513" name="18b-text-2">
            <a:extLst xmlns:a="http://schemas.openxmlformats.org/drawingml/2006/main">
              <a:ext uri="{FF2B5EF4-FFF2-40B4-BE49-F238E27FC236}">
                <a16:creationId xmlns:a16="http://schemas.microsoft.com/office/drawing/2014/main" id="{7F176BC6-DCA9-4052-9258-95D304A681CF}"/>
              </a:ext>
            </a:extLst>
          </p:cNvPr>
          <p:cNvSpPr>
            <a:spLocks xmlns:a="http://schemas.openxmlformats.org/drawingml/2006/main"/>
          </p:cNvSpPr>
          <p:nvPr/>
        </p:nvSpPr>
        <p:spPr>
          <a:xfrm xmlns:a="http://schemas.openxmlformats.org/drawingml/2006/main">
            <a:off x="609600" y="248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Observability</a:t>
            </a:r>
          </a:p>
        </p:txBody>
      </p:sp>
      <p:sp>
        <p:nvSpPr>
          <p:cNvPr id="514" name="18b-text-3">
            <a:extLst xmlns:a="http://schemas.openxmlformats.org/drawingml/2006/main">
              <a:ext uri="{FF2B5EF4-FFF2-40B4-BE49-F238E27FC236}">
                <a16:creationId xmlns:a16="http://schemas.microsoft.com/office/drawing/2014/main" id="{198DAC1E-AB0A-4D9E-9B25-37A9ACF86666}"/>
              </a:ext>
            </a:extLst>
          </p:cNvPr>
          <p:cNvSpPr>
            <a:spLocks xmlns:a="http://schemas.openxmlformats.org/drawingml/2006/main"/>
          </p:cNvSpPr>
          <p:nvPr/>
        </p:nvSpPr>
        <p:spPr>
          <a:xfrm xmlns:a="http://schemas.openxmlformats.org/drawingml/2006/main">
            <a:off x="2489200" y="243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task · p95 and p99 tokens · cache hit rate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loop iterations · tool failures</a:t>
            </a:r>
          </a:p>
        </p:txBody>
      </p:sp>
      <p:sp>
        <p:nvSpPr>
          <p:cNvPr id="515" name="18b-text-4">
            <a:extLst xmlns:a="http://schemas.openxmlformats.org/drawingml/2006/main">
              <a:ext uri="{FF2B5EF4-FFF2-40B4-BE49-F238E27FC236}">
                <a16:creationId xmlns:a16="http://schemas.microsoft.com/office/drawing/2014/main" id="{BB39DED3-CDDF-49E6-94D4-9EE2955292B7}"/>
              </a:ext>
            </a:extLst>
          </p:cNvPr>
          <p:cNvSpPr>
            <a:spLocks xmlns:a="http://schemas.openxmlformats.org/drawingml/2006/main"/>
          </p:cNvSpPr>
          <p:nvPr/>
        </p:nvSpPr>
        <p:spPr>
          <a:xfrm xmlns:a="http://schemas.openxmlformats.org/drawingml/2006/main">
            <a:off x="609600" y="3733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Guardrails</a:t>
            </a:r>
          </a:p>
        </p:txBody>
      </p:sp>
      <p:sp>
        <p:nvSpPr>
          <p:cNvPr id="516" name="18b-text-5">
            <a:extLst xmlns:a="http://schemas.openxmlformats.org/drawingml/2006/main">
              <a:ext uri="{FF2B5EF4-FFF2-40B4-BE49-F238E27FC236}">
                <a16:creationId xmlns:a16="http://schemas.microsoft.com/office/drawing/2014/main" id="{CBDE4C7C-0717-4801-B8D7-E3FA04305FF8}"/>
              </a:ext>
            </a:extLst>
          </p:cNvPr>
          <p:cNvSpPr>
            <a:spLocks xmlns:a="http://schemas.openxmlformats.org/drawingml/2006/main"/>
          </p:cNvSpPr>
          <p:nvPr/>
        </p:nvSpPr>
        <p:spPr>
          <a:xfrm xmlns:a="http://schemas.openxmlformats.org/drawingml/2006/main">
            <a:off x="2489200" y="3683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classification · provenance · sandboxing · validation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circuit breakers · approvals · least privilege</a:t>
            </a:r>
          </a:p>
        </p:txBody>
      </p:sp>
      <p:sp>
        <p:nvSpPr>
          <p:cNvPr id="517" name="narrative-number">
            <a:extLst xmlns:a="http://schemas.openxmlformats.org/drawingml/2006/main">
              <a:ext uri="{FF2B5EF4-FFF2-40B4-BE49-F238E27FC236}">
                <a16:creationId xmlns:a16="http://schemas.microsoft.com/office/drawing/2014/main" id="{870F3125-541D-4794-8CBC-ED361519C59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4100583373"/>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8" name="!!area-name">
            <a:extLst xmlns:a="http://schemas.openxmlformats.org/drawingml/2006/main">
              <a:ext uri="{FF2B5EF4-FFF2-40B4-BE49-F238E27FC236}">
                <a16:creationId xmlns:a16="http://schemas.microsoft.com/office/drawing/2014/main" id="{1C22845D-3C3B-46DC-A707-23B1D1796C0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533" name="mini-map"/>
          <p:cNvPicPr>
            <a:picLocks xmlns:a="http://schemas.openxmlformats.org/drawingml/2006/main" noChangeAspect="1"/>
          </p:cNvPicPr>
          <p:nvPr/>
        </p:nvPicPr>
        <p:blipFill>
          <a:blip xmlns:r="http://schemas.openxmlformats.org/officeDocument/2006/relationships" xmlns:a="http://schemas.openxmlformats.org/drawingml/2006/main" r:embed="R15bacb27e3e84be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20" name="header-divider">
            <a:extLst xmlns:a="http://schemas.openxmlformats.org/drawingml/2006/main">
              <a:ext uri="{FF2B5EF4-FFF2-40B4-BE49-F238E27FC236}">
                <a16:creationId xmlns:a16="http://schemas.microsoft.com/office/drawing/2014/main" id="{48145940-31C5-4D02-AF9A-28913F5FA55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21" name="18b-text-1">
            <a:extLst xmlns:a="http://schemas.openxmlformats.org/drawingml/2006/main">
              <a:ext uri="{FF2B5EF4-FFF2-40B4-BE49-F238E27FC236}">
                <a16:creationId xmlns:a16="http://schemas.microsoft.com/office/drawing/2014/main" id="{7F7A6615-0906-47AF-8237-F2B78C4D9C8A}"/>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522" name="18b-text-10">
            <a:extLst xmlns:a="http://schemas.openxmlformats.org/drawingml/2006/main">
              <a:ext uri="{FF2B5EF4-FFF2-40B4-BE49-F238E27FC236}">
                <a16:creationId xmlns:a16="http://schemas.microsoft.com/office/drawing/2014/main" id="{DBE1B5A9-829F-439D-B3DB-D387DF424E9E}"/>
              </a:ext>
            </a:extLst>
          </p:cNvPr>
          <p:cNvSpPr>
            <a:spLocks xmlns:a="http://schemas.openxmlformats.org/drawingml/2006/main"/>
          </p:cNvSpPr>
          <p:nvPr/>
        </p:nvSpPr>
        <p:spPr>
          <a:xfrm xmlns:a="http://schemas.openxmlformats.org/drawingml/2006/main">
            <a:off x="609600" y="24384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Security</a:t>
            </a:r>
          </a:p>
        </p:txBody>
      </p:sp>
      <p:sp>
        <p:nvSpPr>
          <p:cNvPr id="523" name="18b-line-12">
            <a:extLst xmlns:a="http://schemas.openxmlformats.org/drawingml/2006/main">
              <a:ext uri="{FF2B5EF4-FFF2-40B4-BE49-F238E27FC236}">
                <a16:creationId xmlns:a16="http://schemas.microsoft.com/office/drawing/2014/main" id="{C63B2DBB-0CBD-4934-8BA4-251052AB0D4D}"/>
              </a:ext>
            </a:extLst>
          </p:cNvPr>
          <p:cNvSpPr>
            <a:spLocks xmlns:a="http://schemas.openxmlformats.org/drawingml/2006/main"/>
          </p:cNvSpPr>
          <p:nvPr/>
        </p:nvSpPr>
        <p:spPr>
          <a:xfrm xmlns:a="http://schemas.openxmlformats.org/drawingml/2006/main" flipH="0" flipV="0">
            <a:off x="3378200" y="3429000"/>
            <a:ext cx="1803400" cy="1524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24" name="18b-line-14">
            <a:extLst xmlns:a="http://schemas.openxmlformats.org/drawingml/2006/main">
              <a:ext uri="{FF2B5EF4-FFF2-40B4-BE49-F238E27FC236}">
                <a16:creationId xmlns:a16="http://schemas.microsoft.com/office/drawing/2014/main" id="{4998CABD-F4D8-4843-AE59-2616DDA9646C}"/>
              </a:ext>
            </a:extLst>
          </p:cNvPr>
          <p:cNvSpPr>
            <a:spLocks xmlns:a="http://schemas.openxmlformats.org/drawingml/2006/main"/>
          </p:cNvSpPr>
          <p:nvPr/>
        </p:nvSpPr>
        <p:spPr>
          <a:xfrm xmlns:a="http://schemas.openxmlformats.org/drawingml/2006/main" flipH="1" flipV="0">
            <a:off x="1574800" y="4953000"/>
            <a:ext cx="3606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25" name="18b-line-16">
            <a:extLst xmlns:a="http://schemas.openxmlformats.org/drawingml/2006/main">
              <a:ext uri="{FF2B5EF4-FFF2-40B4-BE49-F238E27FC236}">
                <a16:creationId xmlns:a16="http://schemas.microsoft.com/office/drawing/2014/main" id="{3BE76640-D991-4623-B67B-97308D011A67}"/>
              </a:ext>
            </a:extLst>
          </p:cNvPr>
          <p:cNvSpPr>
            <a:spLocks xmlns:a="http://schemas.openxmlformats.org/drawingml/2006/main"/>
          </p:cNvSpPr>
          <p:nvPr/>
        </p:nvSpPr>
        <p:spPr>
          <a:xfrm xmlns:a="http://schemas.openxmlformats.org/drawingml/2006/main" flipH="0" flipV="1">
            <a:off x="1574800" y="3429000"/>
            <a:ext cx="1803400" cy="1524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26" name="18b-text-17">
            <a:extLst xmlns:a="http://schemas.openxmlformats.org/drawingml/2006/main">
              <a:ext uri="{FF2B5EF4-FFF2-40B4-BE49-F238E27FC236}">
                <a16:creationId xmlns:a16="http://schemas.microsoft.com/office/drawing/2014/main" id="{91CBBEC4-373F-46D9-BC8C-6A3D2E63D434}"/>
              </a:ext>
            </a:extLst>
          </p:cNvPr>
          <p:cNvSpPr>
            <a:spLocks xmlns:a="http://schemas.openxmlformats.org/drawingml/2006/main"/>
          </p:cNvSpPr>
          <p:nvPr/>
        </p:nvSpPr>
        <p:spPr>
          <a:xfrm xmlns:a="http://schemas.openxmlformats.org/drawingml/2006/main">
            <a:off x="2667000" y="3022600"/>
            <a:ext cx="1676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527" name="18b-text-18">
            <a:extLst xmlns:a="http://schemas.openxmlformats.org/drawingml/2006/main">
              <a:ext uri="{FF2B5EF4-FFF2-40B4-BE49-F238E27FC236}">
                <a16:creationId xmlns:a16="http://schemas.microsoft.com/office/drawing/2014/main" id="{E56805E2-1047-4EC6-B78B-1C53546818E5}"/>
              </a:ext>
            </a:extLst>
          </p:cNvPr>
          <p:cNvSpPr>
            <a:spLocks xmlns:a="http://schemas.openxmlformats.org/drawingml/2006/main"/>
          </p:cNvSpPr>
          <p:nvPr/>
        </p:nvSpPr>
        <p:spPr>
          <a:xfrm xmlns:a="http://schemas.openxmlformats.org/drawingml/2006/main">
            <a:off x="609600" y="5207000"/>
            <a:ext cx="264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528" name="18b-text-19">
            <a:extLst xmlns:a="http://schemas.openxmlformats.org/drawingml/2006/main">
              <a:ext uri="{FF2B5EF4-FFF2-40B4-BE49-F238E27FC236}">
                <a16:creationId xmlns:a16="http://schemas.microsoft.com/office/drawing/2014/main" id="{C8DC1B3D-7801-4DF8-ADBF-25788CA2C930}"/>
              </a:ext>
            </a:extLst>
          </p:cNvPr>
          <p:cNvSpPr>
            <a:spLocks xmlns:a="http://schemas.openxmlformats.org/drawingml/2006/main"/>
          </p:cNvSpPr>
          <p:nvPr/>
        </p:nvSpPr>
        <p:spPr>
          <a:xfrm xmlns:a="http://schemas.openxmlformats.org/drawingml/2006/main">
            <a:off x="3657600" y="5207000"/>
            <a:ext cx="2590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
        <p:nvSpPr>
          <p:cNvPr id="529" name="18b-text-20">
            <a:extLst xmlns:a="http://schemas.openxmlformats.org/drawingml/2006/main">
              <a:ext uri="{FF2B5EF4-FFF2-40B4-BE49-F238E27FC236}">
                <a16:creationId xmlns:a16="http://schemas.microsoft.com/office/drawing/2014/main" id="{08EE2693-406D-4A9E-AB64-E27C81ADF5D6}"/>
              </a:ext>
            </a:extLst>
          </p:cNvPr>
          <p:cNvSpPr>
            <a:spLocks xmlns:a="http://schemas.openxmlformats.org/drawingml/2006/main"/>
          </p:cNvSpPr>
          <p:nvPr/>
        </p:nvSpPr>
        <p:spPr>
          <a:xfrm xmlns:a="http://schemas.openxmlformats.org/drawingml/2006/main">
            <a:off x="6248400" y="3683000"/>
            <a:ext cx="53340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Together: exfiltration risk.</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Break or constrain the path.</a:t>
            </a:r>
          </a:p>
        </p:txBody>
      </p:sp>
      <p:sp>
        <p:nvSpPr>
          <p:cNvPr id="530" name="18b-text-21">
            <a:extLst xmlns:a="http://schemas.openxmlformats.org/drawingml/2006/main">
              <a:ext uri="{FF2B5EF4-FFF2-40B4-BE49-F238E27FC236}">
                <a16:creationId xmlns:a16="http://schemas.microsoft.com/office/drawing/2014/main" id="{A6E7CB41-8428-4372-BE70-3EBCA3FF7CA1}"/>
              </a:ext>
            </a:extLst>
          </p:cNvPr>
          <p:cNvSpPr>
            <a:spLocks xmlns:a="http://schemas.openxmlformats.org/drawingml/2006/main"/>
          </p:cNvSpPr>
          <p:nvPr/>
        </p:nvSpPr>
        <p:spPr>
          <a:xfrm xmlns:a="http://schemas.openxmlformats.org/drawingml/2006/main">
            <a:off x="6248400" y="4953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Simon Willison, June 2025</a:t>
            </a:r>
          </a:p>
        </p:txBody>
      </p:sp>
      <p:sp>
        <p:nvSpPr>
          <p:cNvPr id="531" name="narrative-number">
            <a:extLst xmlns:a="http://schemas.openxmlformats.org/drawingml/2006/main">
              <a:ext uri="{FF2B5EF4-FFF2-40B4-BE49-F238E27FC236}">
                <a16:creationId xmlns:a16="http://schemas.microsoft.com/office/drawing/2014/main" id="{F3D38140-5B1E-4610-99C7-39C3D286BE2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822610173"/>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32" name="!!area-name">
            <a:extLst xmlns:a="http://schemas.openxmlformats.org/drawingml/2006/main">
              <a:ext uri="{FF2B5EF4-FFF2-40B4-BE49-F238E27FC236}">
                <a16:creationId xmlns:a16="http://schemas.microsoft.com/office/drawing/2014/main" id="{1BC413D6-B596-49CF-A379-DD4255E1AC8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542" name="mini-map"/>
          <p:cNvPicPr>
            <a:picLocks xmlns:a="http://schemas.openxmlformats.org/drawingml/2006/main" noChangeAspect="1"/>
          </p:cNvPicPr>
          <p:nvPr/>
        </p:nvPicPr>
        <p:blipFill>
          <a:blip xmlns:r="http://schemas.openxmlformats.org/officeDocument/2006/relationships" xmlns:a="http://schemas.openxmlformats.org/drawingml/2006/main" r:embed="Rc4d4bde6dd3f44c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34" name="header-divider">
            <a:extLst xmlns:a="http://schemas.openxmlformats.org/drawingml/2006/main">
              <a:ext uri="{FF2B5EF4-FFF2-40B4-BE49-F238E27FC236}">
                <a16:creationId xmlns:a16="http://schemas.microsoft.com/office/drawing/2014/main" id="{37C6CBFF-96C0-4034-8A21-C74A5AE1F96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5" name="18b-text-1">
            <a:extLst xmlns:a="http://schemas.openxmlformats.org/drawingml/2006/main">
              <a:ext uri="{FF2B5EF4-FFF2-40B4-BE49-F238E27FC236}">
                <a16:creationId xmlns:a16="http://schemas.microsoft.com/office/drawing/2014/main" id="{D26CFF75-31B7-4272-A35B-923D3BB6212C}"/>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536" name="18b-text-6">
            <a:extLst xmlns:a="http://schemas.openxmlformats.org/drawingml/2006/main">
              <a:ext uri="{FF2B5EF4-FFF2-40B4-BE49-F238E27FC236}">
                <a16:creationId xmlns:a16="http://schemas.microsoft.com/office/drawing/2014/main" id="{BA167A8C-FEA8-417D-B83A-C5FED3D96F19}"/>
              </a:ext>
            </a:extLst>
          </p:cNvPr>
          <p:cNvSpPr>
            <a:spLocks xmlns:a="http://schemas.openxmlformats.org/drawingml/2006/main"/>
          </p:cNvSpPr>
          <p:nvPr/>
        </p:nvSpPr>
        <p:spPr>
          <a:xfrm xmlns:a="http://schemas.openxmlformats.org/drawingml/2006/main">
            <a:off x="609600" y="248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Identity</a:t>
            </a:r>
          </a:p>
        </p:txBody>
      </p:sp>
      <p:sp>
        <p:nvSpPr>
          <p:cNvPr id="537" name="18b-text-7">
            <a:extLst xmlns:a="http://schemas.openxmlformats.org/drawingml/2006/main">
              <a:ext uri="{FF2B5EF4-FFF2-40B4-BE49-F238E27FC236}">
                <a16:creationId xmlns:a16="http://schemas.microsoft.com/office/drawing/2014/main" id="{48F498CE-4EF3-41A6-A52E-F0C773689416}"/>
              </a:ext>
            </a:extLst>
          </p:cNvPr>
          <p:cNvSpPr>
            <a:spLocks xmlns:a="http://schemas.openxmlformats.org/drawingml/2006/main"/>
          </p:cNvSpPr>
          <p:nvPr/>
        </p:nvSpPr>
        <p:spPr>
          <a:xfrm xmlns:a="http://schemas.openxmlformats.org/drawingml/2006/main">
            <a:off x="2489200" y="243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Design pattern: workload identity with short-lived delegation.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Requirements: no token passthrough; minimal scopes.</a:t>
            </a:r>
          </a:p>
        </p:txBody>
      </p:sp>
      <p:sp>
        <p:nvSpPr>
          <p:cNvPr id="538" name="18b-text-8">
            <a:extLst xmlns:a="http://schemas.openxmlformats.org/drawingml/2006/main">
              <a:ext uri="{FF2B5EF4-FFF2-40B4-BE49-F238E27FC236}">
                <a16:creationId xmlns:a16="http://schemas.microsoft.com/office/drawing/2014/main" id="{92AF8481-E315-4D58-ACFD-FFCC867C874C}"/>
              </a:ext>
            </a:extLst>
          </p:cNvPr>
          <p:cNvSpPr>
            <a:spLocks xmlns:a="http://schemas.openxmlformats.org/drawingml/2006/main"/>
          </p:cNvSpPr>
          <p:nvPr/>
        </p:nvSpPr>
        <p:spPr>
          <a:xfrm xmlns:a="http://schemas.openxmlformats.org/drawingml/2006/main">
            <a:off x="609600" y="3860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Governance</a:t>
            </a:r>
          </a:p>
        </p:txBody>
      </p:sp>
      <p:sp>
        <p:nvSpPr>
          <p:cNvPr id="539" name="18b-text-9">
            <a:extLst xmlns:a="http://schemas.openxmlformats.org/drawingml/2006/main">
              <a:ext uri="{FF2B5EF4-FFF2-40B4-BE49-F238E27FC236}">
                <a16:creationId xmlns:a16="http://schemas.microsoft.com/office/drawing/2014/main" id="{7E2C6D1E-139C-4068-9054-0432ABFC81C5}"/>
              </a:ext>
            </a:extLst>
          </p:cNvPr>
          <p:cNvSpPr>
            <a:spLocks xmlns:a="http://schemas.openxmlformats.org/drawingml/2006/main"/>
          </p:cNvSpPr>
          <p:nvPr/>
        </p:nvSpPr>
        <p:spPr>
          <a:xfrm xmlns:a="http://schemas.openxmlformats.org/drawingml/2006/main">
            <a:off x="2489200" y="3810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EU AI Act Article 50: disclosure duties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covered direct AI interactions.</a:t>
            </a:r>
          </a:p>
        </p:txBody>
      </p:sp>
      <p:sp>
        <p:nvSpPr>
          <p:cNvPr id="540" name="narrative-number">
            <a:extLst xmlns:a="http://schemas.openxmlformats.org/drawingml/2006/main">
              <a:ext uri="{FF2B5EF4-FFF2-40B4-BE49-F238E27FC236}">
                <a16:creationId xmlns:a16="http://schemas.microsoft.com/office/drawing/2014/main" id="{F5A82CD7-1C12-476E-B425-FA3B45642A8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403411814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41" name="!!area-name">
            <a:extLst xmlns:a="http://schemas.openxmlformats.org/drawingml/2006/main">
              <a:ext uri="{FF2B5EF4-FFF2-40B4-BE49-F238E27FC236}">
                <a16:creationId xmlns:a16="http://schemas.microsoft.com/office/drawing/2014/main" id="{62491DF3-1B18-4BDC-8B53-975867FE877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550" name="mini-map"/>
          <p:cNvPicPr>
            <a:picLocks xmlns:a="http://schemas.openxmlformats.org/drawingml/2006/main" noChangeAspect="1"/>
          </p:cNvPicPr>
          <p:nvPr/>
        </p:nvPicPr>
        <p:blipFill>
          <a:blip xmlns:r="http://schemas.openxmlformats.org/officeDocument/2006/relationships" xmlns:a="http://schemas.openxmlformats.org/drawingml/2006/main" r:embed="R4e045bf8ec82487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43" name="header-divider">
            <a:extLst xmlns:a="http://schemas.openxmlformats.org/drawingml/2006/main">
              <a:ext uri="{FF2B5EF4-FFF2-40B4-BE49-F238E27FC236}">
                <a16:creationId xmlns:a16="http://schemas.microsoft.com/office/drawing/2014/main" id="{1765A414-3387-43DB-A970-BBBA193AEB0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44" name="18b-text-1">
            <a:extLst xmlns:a="http://schemas.openxmlformats.org/drawingml/2006/main">
              <a:ext uri="{FF2B5EF4-FFF2-40B4-BE49-F238E27FC236}">
                <a16:creationId xmlns:a16="http://schemas.microsoft.com/office/drawing/2014/main" id="{A6BA77F2-EBFB-4D05-A967-43ACAAD26D39}"/>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545" name="18b-text-22">
            <a:extLst xmlns:a="http://schemas.openxmlformats.org/drawingml/2006/main">
              <a:ext uri="{FF2B5EF4-FFF2-40B4-BE49-F238E27FC236}">
                <a16:creationId xmlns:a16="http://schemas.microsoft.com/office/drawing/2014/main" id="{6D3B75F1-0410-438E-B112-6812055A84F4}"/>
              </a:ext>
            </a:extLst>
          </p:cNvPr>
          <p:cNvSpPr>
            <a:spLocks xmlns:a="http://schemas.openxmlformats.org/drawingml/2006/main"/>
          </p:cNvSpPr>
          <p:nvPr/>
        </p:nvSpPr>
        <p:spPr>
          <a:xfrm xmlns:a="http://schemas.openxmlformats.org/drawingml/2006/main">
            <a:off x="609600" y="2438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EchoLeak, June 2025.</a:t>
            </a:r>
            <a:r>
              <a:rPr b="0">
                <a:solidFill>
                  <a:srgbClr val="FFFCF5"/>
                </a:solidFill>
                <a:latin typeface="Helvetica"/>
                <a:ea typeface="Helvetica"/>
                <a:cs typeface="Helvetica"/>
              </a:rPr>
              <a:t> Researcher-demonstrated vulnerability.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evidence of exploitation reported.</a:t>
            </a:r>
          </a:p>
        </p:txBody>
      </p:sp>
      <p:sp>
        <p:nvSpPr>
          <p:cNvPr id="546" name="18b-text-23">
            <a:extLst xmlns:a="http://schemas.openxmlformats.org/drawingml/2006/main">
              <a:ext uri="{FF2B5EF4-FFF2-40B4-BE49-F238E27FC236}">
                <a16:creationId xmlns:a16="http://schemas.microsoft.com/office/drawing/2014/main" id="{A76AED8D-C26E-42E4-AA70-9AC6735A2F53}"/>
              </a:ext>
            </a:extLst>
          </p:cNvPr>
          <p:cNvSpPr>
            <a:spLocks xmlns:a="http://schemas.openxmlformats.org/drawingml/2006/main"/>
          </p:cNvSpPr>
          <p:nvPr/>
        </p:nvSpPr>
        <p:spPr>
          <a:xfrm xmlns:a="http://schemas.openxmlformats.org/drawingml/2006/main">
            <a:off x="609600" y="3581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Replit, July 2025.</a:t>
            </a:r>
            <a:r>
              <a:rPr b="0">
                <a:solidFill>
                  <a:srgbClr val="FFFCF5"/>
                </a:solidFill>
                <a:latin typeface="Helvetica"/>
                <a:ea typeface="Helvetica"/>
                <a:cs typeface="Helvetica"/>
              </a:rPr>
              <a:t> Reported production database deletion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during a code freeze. Fortune / AI Incident Database.</a:t>
            </a:r>
          </a:p>
        </p:txBody>
      </p:sp>
      <p:sp>
        <p:nvSpPr>
          <p:cNvPr id="547" name="18b-text-24">
            <a:extLst xmlns:a="http://schemas.openxmlformats.org/drawingml/2006/main">
              <a:ext uri="{FF2B5EF4-FFF2-40B4-BE49-F238E27FC236}">
                <a16:creationId xmlns:a16="http://schemas.microsoft.com/office/drawing/2014/main" id="{7896482A-24CF-41BC-A9F4-A99CCDBF81D9}"/>
              </a:ext>
            </a:extLst>
          </p:cNvPr>
          <p:cNvSpPr>
            <a:spLocks xmlns:a="http://schemas.openxmlformats.org/drawingml/2006/main"/>
          </p:cNvSpPr>
          <p:nvPr/>
        </p:nvSpPr>
        <p:spPr>
          <a:xfrm xmlns:a="http://schemas.openxmlformats.org/drawingml/2006/main">
            <a:off x="609600" y="4724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Moffatt v. Air Canada, February 2024.</a:t>
            </a:r>
            <a:r>
              <a:rPr b="0">
                <a:solidFill>
                  <a:srgbClr val="FFFCF5"/>
                </a:solidFill>
                <a:latin typeface="Helvetica"/>
                <a:ea typeface="Helvetica"/>
                <a:cs typeface="Helvetica"/>
              </a:rPr>
              <a:t> Reported liability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misleading chatbot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McCarthy Tétrault, secondary commentary.</a:t>
            </a:r>
          </a:p>
        </p:txBody>
      </p:sp>
      <p:sp>
        <p:nvSpPr>
          <p:cNvPr id="548" name="narrative-number">
            <a:extLst xmlns:a="http://schemas.openxmlformats.org/drawingml/2006/main">
              <a:ext uri="{FF2B5EF4-FFF2-40B4-BE49-F238E27FC236}">
                <a16:creationId xmlns:a16="http://schemas.microsoft.com/office/drawing/2014/main" id="{74573A0A-3962-4B0F-948C-1819A45ACDB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721746093"/>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49" name="!!area-name">
            <a:extLst xmlns:a="http://schemas.openxmlformats.org/drawingml/2006/main">
              <a:ext uri="{FF2B5EF4-FFF2-40B4-BE49-F238E27FC236}">
                <a16:creationId xmlns:a16="http://schemas.microsoft.com/office/drawing/2014/main" id="{B68A9AB5-9982-475A-BAA7-27D692724CA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owner</a:t>
            </a:r>
          </a:p>
        </p:txBody>
      </p:sp>
      <p:pic>
        <p:nvPicPr>
          <p:cNvPr id="566" name="mini-map"/>
          <p:cNvPicPr>
            <a:picLocks xmlns:a="http://schemas.openxmlformats.org/drawingml/2006/main" noChangeAspect="1"/>
          </p:cNvPicPr>
          <p:nvPr/>
        </p:nvPicPr>
        <p:blipFill>
          <a:blip xmlns:r="http://schemas.openxmlformats.org/officeDocument/2006/relationships" xmlns:a="http://schemas.openxmlformats.org/drawingml/2006/main" r:embed="R5d678736d55c4c9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51" name="slide-title">
            <a:extLst xmlns:a="http://schemas.openxmlformats.org/drawingml/2006/main">
              <a:ext uri="{FF2B5EF4-FFF2-40B4-BE49-F238E27FC236}">
                <a16:creationId xmlns:a16="http://schemas.microsoft.com/office/drawing/2014/main" id="{C75E67DE-9373-4222-903A-5FA730565A2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own the approval process.</a:t>
            </a:r>
          </a:p>
        </p:txBody>
      </p:sp>
      <p:sp>
        <p:nvSpPr>
          <p:cNvPr id="552" name="header-divider">
            <a:extLst xmlns:a="http://schemas.openxmlformats.org/drawingml/2006/main">
              <a:ext uri="{FF2B5EF4-FFF2-40B4-BE49-F238E27FC236}">
                <a16:creationId xmlns:a16="http://schemas.microsoft.com/office/drawing/2014/main" id="{04DC0AA2-F498-4964-A024-F870F1FF938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69" name="19-table-1"/>
          <p:cNvGraphicFramePr/>
          <p:nvPr/>
        </p:nvGraphicFramePr>
        <p:xfrm>
          <a:off xmlns:a="http://schemas.openxmlformats.org/drawingml/2006/main" x="609600" y="2438400"/>
          <a:ext xmlns:a="http://schemas.openxmlformats.org/drawingml/2006/main" cx="10972800" cy="29591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FDAD00"/>
                          </a:solidFill>
                          <a:latin typeface="Helvetica"/>
                          <a:ea typeface="Helvetica"/>
                          <a:cs typeface="Helvetica"/>
                        </a:rPr>
                        <a:t>In the coding agent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DAD00"/>
                          </a:solidFill>
                          <a:latin typeface="Helvetica"/>
                          <a:ea typeface="Helvetica"/>
                          <a:cs typeface="Helvetica"/>
                        </a:rPr>
                        <a:t>In your deployment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98500">
                <a:tc>
                  <a:txBody>
                    <a:bodyPr>
                      <a:noAutofit/>
                    </a:bodyPr>
                    <a:lstStyle/>
                    <a:p>
                      <a:pPr>
                        <a:lnSpc>
                          <a:spcPct val="125000"/>
                        </a:lnSpc>
                        <a:buNone/>
                      </a:pPr>
                      <a:r>
                        <a:rPr sz="2000" b="0">
                          <a:solidFill>
                            <a:srgbClr val="FFFCF5"/>
                          </a:solidFill>
                          <a:latin typeface="Helvetica"/>
                          <a:ea typeface="Helvetica"/>
                          <a:cs typeface="Helvetica"/>
                        </a:rPr>
                        <a:t>The approval prompt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Human approval, async workflow,</a:t>
                      </a:r>
                    </a:p>
                    <a:p>
                      <a:pPr>
                        <a:lnSpc>
                          <a:spcPct val="125000"/>
                        </a:lnSpc>
                        <a:buNone/>
                      </a:pPr>
                      <a:r>
                        <a:rPr sz="2000" b="0">
                          <a:solidFill>
                            <a:srgbClr val="FFFCF5"/>
                          </a:solidFill>
                          <a:latin typeface="Helvetica"/>
                          <a:ea typeface="Helvetica"/>
                          <a:cs typeface="Helvetica"/>
                        </a:rPr>
                        <a:t>or enforced policy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The sandbox</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infrastructure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The audit log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accountability record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90600">
                <a:tc>
                  <a:txBody>
                    <a:bodyPr>
                      <a:noAutofit/>
                    </a:bodyPr>
                    <a:lstStyle/>
                    <a:p>
                      <a:pPr>
                        <a:lnSpc>
                          <a:spcPct val="125000"/>
                        </a:lnSpc>
                        <a:buNone/>
                      </a:pPr>
                      <a:r>
                        <a:rPr sz="2000" b="0">
                          <a:solidFill>
                            <a:srgbClr val="FFFCF5"/>
                          </a:solidFill>
                          <a:latin typeface="Helvetica"/>
                          <a:ea typeface="Helvetica"/>
                          <a:cs typeface="Helvetica"/>
                        </a:rPr>
                        <a:t>A vendor's disclosure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EU AI Act Article 50: disclosure duties</a:t>
                      </a:r>
                    </a:p>
                    <a:p>
                      <a:pPr>
                        <a:lnSpc>
                          <a:spcPct val="125000"/>
                        </a:lnSpc>
                        <a:buNone/>
                      </a:pPr>
                      <a:r>
                        <a:rPr sz="2000" b="0">
                          <a:solidFill>
                            <a:srgbClr val="FFFCF5"/>
                          </a:solidFill>
                          <a:latin typeface="Helvetica"/>
                          <a:ea typeface="Helvetica"/>
                          <a:cs typeface="Helvetica"/>
                        </a:rPr>
                        <a:t>for covered direct AI interactions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54" name="19-shape-2">
            <a:extLst xmlns:a="http://schemas.openxmlformats.org/drawingml/2006/main">
              <a:ext uri="{FF2B5EF4-FFF2-40B4-BE49-F238E27FC236}">
                <a16:creationId xmlns:a16="http://schemas.microsoft.com/office/drawing/2014/main" id="{299A13F9-244C-4E12-A50B-496782AAEFFE}"/>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5" name="19-shape-3">
            <a:extLst xmlns:a="http://schemas.openxmlformats.org/drawingml/2006/main">
              <a:ext uri="{FF2B5EF4-FFF2-40B4-BE49-F238E27FC236}">
                <a16:creationId xmlns:a16="http://schemas.microsoft.com/office/drawing/2014/main" id="{C5CDDBCF-E0C4-40DF-902A-14AA725903A2}"/>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56" name="19-text-4">
            <a:extLst xmlns:a="http://schemas.openxmlformats.org/drawingml/2006/main">
              <a:ext uri="{FF2B5EF4-FFF2-40B4-BE49-F238E27FC236}">
                <a16:creationId xmlns:a16="http://schemas.microsoft.com/office/drawing/2014/main" id="{04367653-24F3-45AD-AA10-B14ADEBC8CBA}"/>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557" name="19-text-5">
            <a:extLst xmlns:a="http://schemas.openxmlformats.org/drawingml/2006/main">
              <a:ext uri="{FF2B5EF4-FFF2-40B4-BE49-F238E27FC236}">
                <a16:creationId xmlns:a16="http://schemas.microsoft.com/office/drawing/2014/main" id="{EECB6EDF-3D91-4221-B4FF-EE43D0017796}"/>
              </a:ext>
            </a:extLst>
          </p:cNvPr>
          <p:cNvSpPr>
            <a:spLocks xmlns:a="http://schemas.openxmlformats.org/drawingml/2006/main"/>
          </p:cNvSpPr>
          <p:nvPr/>
        </p:nvSpPr>
        <p:spPr>
          <a:xfrm xmlns:a="http://schemas.openxmlformats.org/drawingml/2006/main">
            <a:off x="2489200" y="5803900"/>
            <a:ext cx="49530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558" name="19-line-7">
            <a:extLst xmlns:a="http://schemas.openxmlformats.org/drawingml/2006/main">
              <a:ext uri="{FF2B5EF4-FFF2-40B4-BE49-F238E27FC236}">
                <a16:creationId xmlns:a16="http://schemas.microsoft.com/office/drawing/2014/main" id="{AF643738-1A07-4CED-8B01-7D632A31C8F8}"/>
              </a:ext>
            </a:extLst>
          </p:cNvPr>
          <p:cNvSpPr>
            <a:spLocks xmlns:a="http://schemas.openxmlformats.org/drawingml/2006/main"/>
          </p:cNvSpPr>
          <p:nvPr/>
        </p:nvSpPr>
        <p:spPr>
          <a:xfrm xmlns:a="http://schemas.openxmlformats.org/drawingml/2006/main" flipH="0" flipV="0">
            <a:off x="9042400" y="5918200"/>
            <a:ext cx="10160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59" name="19-line-9">
            <a:extLst xmlns:a="http://schemas.openxmlformats.org/drawingml/2006/main">
              <a:ext uri="{FF2B5EF4-FFF2-40B4-BE49-F238E27FC236}">
                <a16:creationId xmlns:a16="http://schemas.microsoft.com/office/drawing/2014/main" id="{CBC16C02-5DC6-41AA-9090-1956EF5D84DD}"/>
              </a:ext>
            </a:extLst>
          </p:cNvPr>
          <p:cNvSpPr>
            <a:spLocks xmlns:a="http://schemas.openxmlformats.org/drawingml/2006/main"/>
          </p:cNvSpPr>
          <p:nvPr/>
        </p:nvSpPr>
        <p:spPr>
          <a:xfrm xmlns:a="http://schemas.openxmlformats.org/drawingml/2006/main" flipH="1" flipV="0">
            <a:off x="8077200" y="6223000"/>
            <a:ext cx="19812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60" name="19-line-11">
            <a:extLst xmlns:a="http://schemas.openxmlformats.org/drawingml/2006/main">
              <a:ext uri="{FF2B5EF4-FFF2-40B4-BE49-F238E27FC236}">
                <a16:creationId xmlns:a16="http://schemas.microsoft.com/office/drawing/2014/main" id="{7E98704C-F1EC-4F3D-912E-2E3381DC7421}"/>
              </a:ext>
            </a:extLst>
          </p:cNvPr>
          <p:cNvSpPr>
            <a:spLocks xmlns:a="http://schemas.openxmlformats.org/drawingml/2006/main"/>
          </p:cNvSpPr>
          <p:nvPr/>
        </p:nvSpPr>
        <p:spPr>
          <a:xfrm xmlns:a="http://schemas.openxmlformats.org/drawingml/2006/main" flipH="0" flipV="1">
            <a:off x="8077200" y="5918200"/>
            <a:ext cx="9652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61" name="19-text-12">
            <a:extLst xmlns:a="http://schemas.openxmlformats.org/drawingml/2006/main">
              <a:ext uri="{FF2B5EF4-FFF2-40B4-BE49-F238E27FC236}">
                <a16:creationId xmlns:a16="http://schemas.microsoft.com/office/drawing/2014/main" id="{D81EDD70-8F31-4986-8022-CE720C83FEBF}"/>
              </a:ext>
            </a:extLst>
          </p:cNvPr>
          <p:cNvSpPr>
            <a:spLocks xmlns:a="http://schemas.openxmlformats.org/drawingml/2006/main"/>
          </p:cNvSpPr>
          <p:nvPr/>
        </p:nvSpPr>
        <p:spPr>
          <a:xfrm xmlns:a="http://schemas.openxmlformats.org/drawingml/2006/main">
            <a:off x="8432800" y="5638800"/>
            <a:ext cx="18415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562" name="19-text-13">
            <a:extLst xmlns:a="http://schemas.openxmlformats.org/drawingml/2006/main">
              <a:ext uri="{FF2B5EF4-FFF2-40B4-BE49-F238E27FC236}">
                <a16:creationId xmlns:a16="http://schemas.microsoft.com/office/drawing/2014/main" id="{131F88B9-DC3C-4FD7-9926-D14231292848}"/>
              </a:ext>
            </a:extLst>
          </p:cNvPr>
          <p:cNvSpPr>
            <a:spLocks xmlns:a="http://schemas.openxmlformats.org/drawingml/2006/main"/>
          </p:cNvSpPr>
          <p:nvPr/>
        </p:nvSpPr>
        <p:spPr>
          <a:xfrm xmlns:a="http://schemas.openxmlformats.org/drawingml/2006/main">
            <a:off x="7061200" y="6426200"/>
            <a:ext cx="1981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563" name="19-text-14">
            <a:extLst xmlns:a="http://schemas.openxmlformats.org/drawingml/2006/main">
              <a:ext uri="{FF2B5EF4-FFF2-40B4-BE49-F238E27FC236}">
                <a16:creationId xmlns:a16="http://schemas.microsoft.com/office/drawing/2014/main" id="{2DFB5472-B156-416B-B3F7-6DAA76D4E284}"/>
              </a:ext>
            </a:extLst>
          </p:cNvPr>
          <p:cNvSpPr>
            <a:spLocks xmlns:a="http://schemas.openxmlformats.org/drawingml/2006/main"/>
          </p:cNvSpPr>
          <p:nvPr/>
        </p:nvSpPr>
        <p:spPr>
          <a:xfrm xmlns:a="http://schemas.openxmlformats.org/drawingml/2006/main">
            <a:off x="9093200" y="6426200"/>
            <a:ext cx="2489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
        <p:nvSpPr>
          <p:cNvPr id="564" name="narrative-number">
            <a:extLst xmlns:a="http://schemas.openxmlformats.org/drawingml/2006/main">
              <a:ext uri="{FF2B5EF4-FFF2-40B4-BE49-F238E27FC236}">
                <a16:creationId xmlns:a16="http://schemas.microsoft.com/office/drawing/2014/main" id="{E47533D0-5876-427A-80F7-9D5BAB7E668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337112373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54"/>
                                        </p:tgtEl>
                                        <p:attrNameLst>
                                          <p:attrName>style.visibility</p:attrName>
                                        </p:attrNameLst>
                                      </p:cBhvr>
                                      <p:to>
                                        <p:strVal val="visible"/>
                                      </p:to>
                                    </p:set>
                                    <p:animEffect transition="in" filter="fade">
                                      <p:cBhvr>
                                        <p:cTn id="7" dur="300" fill="hold"/>
                                        <p:tgtEl>
                                          <p:spTgt spid="554"/>
                                        </p:tgtEl>
                                      </p:cBhvr>
                                    </p:animEffect>
                                  </p:childTnLst>
                                </p:cTn>
                              </p:par>
                              <p:par>
                                <p:cTn id="8" presetID="10" presetClass="entr" presetSubtype="0" fill="hold" nodeType="withEffect">
                                  <p:stCondLst>
                                    <p:cond delay="0"/>
                                  </p:stCondLst>
                                  <p:childTnLst>
                                    <p:set>
                                      <p:cBhvr>
                                        <p:cTn id="9" dur="1" fill="hold">
                                          <p:stCondLst>
                                            <p:cond delay="0"/>
                                          </p:stCondLst>
                                        </p:cTn>
                                        <p:tgtEl>
                                          <p:spTgt spid="555"/>
                                        </p:tgtEl>
                                        <p:attrNameLst>
                                          <p:attrName>style.visibility</p:attrName>
                                        </p:attrNameLst>
                                      </p:cBhvr>
                                      <p:to>
                                        <p:strVal val="visible"/>
                                      </p:to>
                                    </p:set>
                                    <p:animEffect transition="in" filter="fade">
                                      <p:cBhvr>
                                        <p:cTn id="10" dur="300" fill="hold"/>
                                        <p:tgtEl>
                                          <p:spTgt spid="555"/>
                                        </p:tgtEl>
                                      </p:cBhvr>
                                    </p:animEffect>
                                  </p:childTnLst>
                                </p:cTn>
                              </p:par>
                              <p:par>
                                <p:cTn id="11" presetID="10" presetClass="entr" presetSubtype="0" fill="hold" nodeType="withEffect">
                                  <p:stCondLst>
                                    <p:cond delay="0"/>
                                  </p:stCondLst>
                                  <p:childTnLst>
                                    <p:set>
                                      <p:cBhvr>
                                        <p:cTn id="12" dur="1" fill="hold">
                                          <p:stCondLst>
                                            <p:cond delay="0"/>
                                          </p:stCondLst>
                                        </p:cTn>
                                        <p:tgtEl>
                                          <p:spTgt spid="556"/>
                                        </p:tgtEl>
                                        <p:attrNameLst>
                                          <p:attrName>style.visibility</p:attrName>
                                        </p:attrNameLst>
                                      </p:cBhvr>
                                      <p:to>
                                        <p:strVal val="visible"/>
                                      </p:to>
                                    </p:set>
                                    <p:animEffect transition="in" filter="fade">
                                      <p:cBhvr>
                                        <p:cTn id="13" dur="300" fill="hold"/>
                                        <p:tgtEl>
                                          <p:spTgt spid="556"/>
                                        </p:tgtEl>
                                      </p:cBhvr>
                                    </p:animEffect>
                                  </p:childTnLst>
                                </p:cTn>
                              </p:par>
                              <p:par>
                                <p:cTn id="14" presetID="10" presetClass="entr" presetSubtype="0" fill="hold" nodeType="withEffect">
                                  <p:stCondLst>
                                    <p:cond delay="0"/>
                                  </p:stCondLst>
                                  <p:childTnLst>
                                    <p:set>
                                      <p:cBhvr>
                                        <p:cTn id="15" dur="1" fill="hold">
                                          <p:stCondLst>
                                            <p:cond delay="0"/>
                                          </p:stCondLst>
                                        </p:cTn>
                                        <p:tgtEl>
                                          <p:spTgt spid="557"/>
                                        </p:tgtEl>
                                        <p:attrNameLst>
                                          <p:attrName>style.visibility</p:attrName>
                                        </p:attrNameLst>
                                      </p:cBhvr>
                                      <p:to>
                                        <p:strVal val="visible"/>
                                      </p:to>
                                    </p:set>
                                    <p:animEffect transition="in" filter="fade">
                                      <p:cBhvr>
                                        <p:cTn id="16" dur="300" fill="hold"/>
                                        <p:tgtEl>
                                          <p:spTgt spid="557"/>
                                        </p:tgtEl>
                                      </p:cBhvr>
                                    </p:animEffect>
                                  </p:childTnLst>
                                </p:cTn>
                              </p:par>
                              <p:par>
                                <p:cTn id="17" presetID="1" presetClass="entr" presetSubtype="0" fill="hold" nodeType="withEffect">
                                  <p:stCondLst>
                                    <p:cond delay="0"/>
                                  </p:stCondLst>
                                  <p:childTnLst>
                                    <p:set>
                                      <p:cBhvr>
                                        <p:cTn id="18" dur="1" fill="hold">
                                          <p:stCondLst>
                                            <p:cond delay="0"/>
                                          </p:stCondLst>
                                        </p:cTn>
                                        <p:tgtEl>
                                          <p:spTgt spid="55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5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6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6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6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67" name="19b-image-1"/>
          <p:cNvPicPr>
            <a:picLocks xmlns:a="http://schemas.openxmlformats.org/drawingml/2006/main" noChangeAspect="1"/>
          </p:cNvPicPr>
          <p:nvPr/>
        </p:nvPicPr>
        <p:blipFill>
          <a:blip xmlns:r="http://schemas.openxmlformats.org/officeDocument/2006/relationships" xmlns:a="http://schemas.openxmlformats.org/drawingml/2006/main" r:embed="R71648a2f7a6a4ac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66" name="narrative-number">
            <a:extLst xmlns:a="http://schemas.openxmlformats.org/drawingml/2006/main">
              <a:ext uri="{FF2B5EF4-FFF2-40B4-BE49-F238E27FC236}">
                <a16:creationId xmlns:a16="http://schemas.microsoft.com/office/drawing/2014/main" id="{370B7E2D-F228-458D-BC69-8A3A4659973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2035826284"/>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67" name="section-label">
            <a:extLst xmlns:a="http://schemas.openxmlformats.org/drawingml/2006/main">
              <a:ext uri="{FF2B5EF4-FFF2-40B4-BE49-F238E27FC236}">
                <a16:creationId xmlns:a16="http://schemas.microsoft.com/office/drawing/2014/main" id="{6B383B03-5AD5-438A-A72D-5DC11C6A91A2}"/>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568" name="section-rule">
            <a:extLst xmlns:a="http://schemas.openxmlformats.org/drawingml/2006/main">
              <a:ext uri="{FF2B5EF4-FFF2-40B4-BE49-F238E27FC236}">
                <a16:creationId xmlns:a16="http://schemas.microsoft.com/office/drawing/2014/main" id="{B3F1788D-B895-40E7-8D14-B7E0A1B4E125}"/>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69" name="section-title">
            <a:extLst xmlns:a="http://schemas.openxmlformats.org/drawingml/2006/main">
              <a:ext uri="{FF2B5EF4-FFF2-40B4-BE49-F238E27FC236}">
                <a16:creationId xmlns:a16="http://schemas.microsoft.com/office/drawing/2014/main" id="{A238316A-6D0F-4BFE-B8BA-1A35A529B7FB}"/>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570" name="narrative-number">
            <a:extLst xmlns:a="http://schemas.openxmlformats.org/drawingml/2006/main">
              <a:ext uri="{FF2B5EF4-FFF2-40B4-BE49-F238E27FC236}">
                <a16:creationId xmlns:a16="http://schemas.microsoft.com/office/drawing/2014/main" id="{88CAC31A-5A67-46EB-AA1B-C391D94C923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3343688016"/>
      </p:ext>
    </p:extLst>
  </p:cSld>
</p:sld>
</file>

<file path=ppt/slides/slide5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71" name="!!area-name">
            <a:extLst xmlns:a="http://schemas.openxmlformats.org/drawingml/2006/main">
              <a:ext uri="{FF2B5EF4-FFF2-40B4-BE49-F238E27FC236}">
                <a16:creationId xmlns:a16="http://schemas.microsoft.com/office/drawing/2014/main" id="{64E519D6-60D6-4162-8EEC-472A44200E8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78" name="mini-map"/>
          <p:cNvPicPr>
            <a:picLocks xmlns:a="http://schemas.openxmlformats.org/drawingml/2006/main" noChangeAspect="1"/>
          </p:cNvPicPr>
          <p:nvPr/>
        </p:nvPicPr>
        <p:blipFill>
          <a:blip xmlns:r="http://schemas.openxmlformats.org/officeDocument/2006/relationships" xmlns:a="http://schemas.openxmlformats.org/drawingml/2006/main" r:embed="R785b76c3b0e34bf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73" name="slide-title">
            <a:extLst xmlns:a="http://schemas.openxmlformats.org/drawingml/2006/main">
              <a:ext uri="{FF2B5EF4-FFF2-40B4-BE49-F238E27FC236}">
                <a16:creationId xmlns:a16="http://schemas.microsoft.com/office/drawing/2014/main" id="{969CB6A6-2BCF-4054-A55B-785EC4BD08E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74" name="header-divider">
            <a:extLst xmlns:a="http://schemas.openxmlformats.org/drawingml/2006/main">
              <a:ext uri="{FF2B5EF4-FFF2-40B4-BE49-F238E27FC236}">
                <a16:creationId xmlns:a16="http://schemas.microsoft.com/office/drawing/2014/main" id="{388C2377-2366-4B97-90C2-65EE40C7CB4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81" name="21-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You already do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It becomes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Harness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Tool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Eval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with a new schema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Least privilege for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Operations: cost, latency,</a:t>
                      </a:r>
                    </a:p>
                    <a:p>
                      <a:pPr>
                        <a:lnSpc>
                          <a:spcPct val="125000"/>
                        </a:lnSpc>
                        <a:buNone/>
                      </a:pPr>
                      <a:r>
                        <a:rPr sz="2000" b="0">
                          <a:solidFill>
                            <a:srgbClr val="FFFCF5"/>
                          </a:solidFill>
                          <a:latin typeface="Helvetica"/>
                          <a:ea typeface="Helvetica"/>
                          <a:cs typeface="Helvetica"/>
                        </a:rPr>
                        <a:t>incidents, rollback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in tokens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76" name="narrative-number">
            <a:extLst xmlns:a="http://schemas.openxmlformats.org/drawingml/2006/main">
              <a:ext uri="{FF2B5EF4-FFF2-40B4-BE49-F238E27FC236}">
                <a16:creationId xmlns:a16="http://schemas.microsoft.com/office/drawing/2014/main" id="{42CFBB7A-B9ED-40F5-A5F1-B59CF19AF08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4097171100"/>
      </p:ext>
    </p:extLst>
  </p:cSld>
</p:sld>
</file>

<file path=ppt/slides/slide5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77" name="!!area-name">
            <a:extLst xmlns:a="http://schemas.openxmlformats.org/drawingml/2006/main">
              <a:ext uri="{FF2B5EF4-FFF2-40B4-BE49-F238E27FC236}">
                <a16:creationId xmlns:a16="http://schemas.microsoft.com/office/drawing/2014/main" id="{89C9B47F-2C77-4496-A619-3F66859C2A6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86" name="mini-map"/>
          <p:cNvPicPr>
            <a:picLocks xmlns:a="http://schemas.openxmlformats.org/drawingml/2006/main" noChangeAspect="1"/>
          </p:cNvPicPr>
          <p:nvPr/>
        </p:nvPicPr>
        <p:blipFill>
          <a:blip xmlns:r="http://schemas.openxmlformats.org/officeDocument/2006/relationships" xmlns:a="http://schemas.openxmlformats.org/drawingml/2006/main" r:embed="R7b20fc60ddb44c1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79" name="slide-title">
            <a:extLst xmlns:a="http://schemas.openxmlformats.org/drawingml/2006/main">
              <a:ext uri="{FF2B5EF4-FFF2-40B4-BE49-F238E27FC236}">
                <a16:creationId xmlns:a16="http://schemas.microsoft.com/office/drawing/2014/main" id="{29A99DE7-23E7-4329-B131-1FE5050D785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80" name="header-divider">
            <a:extLst xmlns:a="http://schemas.openxmlformats.org/drawingml/2006/main">
              <a:ext uri="{FF2B5EF4-FFF2-40B4-BE49-F238E27FC236}">
                <a16:creationId xmlns:a16="http://schemas.microsoft.com/office/drawing/2014/main" id="{A4992955-FF7D-424A-BED5-F1D9E2E8730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81" name="21-text-2">
            <a:extLst xmlns:a="http://schemas.openxmlformats.org/drawingml/2006/main">
              <a:ext uri="{FF2B5EF4-FFF2-40B4-BE49-F238E27FC236}">
                <a16:creationId xmlns:a16="http://schemas.microsoft.com/office/drawing/2014/main" id="{5C506E96-893F-455E-8612-E72581CEEF6D}"/>
              </a:ext>
            </a:extLst>
          </p:cNvPr>
          <p:cNvSpPr>
            <a:spLocks xmlns:a="http://schemas.openxmlformats.org/drawingml/2006/main"/>
          </p:cNvSpPr>
          <p:nvPr/>
        </p:nvSpPr>
        <p:spPr>
          <a:xfrm xmlns:a="http://schemas.openxmlformats.org/drawingml/2006/main">
            <a:off x="609600" y="243840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Engineers at incident.io, Sentry, Elsevier, and others crossed over in months, not years.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twenty-five-year veteran: about two months.</a:t>
            </a:r>
          </a:p>
        </p:txBody>
      </p:sp>
      <p:sp>
        <p:nvSpPr>
          <p:cNvPr id="582" name="21-text-3">
            <a:extLst xmlns:a="http://schemas.openxmlformats.org/drawingml/2006/main">
              <a:ext uri="{FF2B5EF4-FFF2-40B4-BE49-F238E27FC236}">
                <a16:creationId xmlns:a16="http://schemas.microsoft.com/office/drawing/2014/main" id="{F4BB41D4-0D01-4BF3-A515-3DCBE085DF9C}"/>
              </a:ext>
            </a:extLst>
          </p:cNvPr>
          <p:cNvSpPr>
            <a:spLocks xmlns:a="http://schemas.openxmlformats.org/drawingml/2006/main"/>
          </p:cNvSpPr>
          <p:nvPr/>
        </p:nvSpPr>
        <p:spPr>
          <a:xfrm xmlns:a="http://schemas.openxmlformats.org/drawingml/2006/main">
            <a:off x="609600" y="4165600"/>
            <a:ext cx="109728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experienced engineers who know how to break problems down, AI tools are an incredible force multiplier."</a:t>
            </a:r>
          </a:p>
        </p:txBody>
      </p:sp>
      <p:sp>
        <p:nvSpPr>
          <p:cNvPr id="583" name="21-text-4">
            <a:extLst xmlns:a="http://schemas.openxmlformats.org/drawingml/2006/main">
              <a:ext uri="{FF2B5EF4-FFF2-40B4-BE49-F238E27FC236}">
                <a16:creationId xmlns:a16="http://schemas.microsoft.com/office/drawing/2014/main" id="{726D4118-50D9-440E-8B84-C10C83F39546}"/>
              </a:ext>
            </a:extLst>
          </p:cNvPr>
          <p:cNvSpPr>
            <a:spLocks xmlns:a="http://schemas.openxmlformats.org/drawingml/2006/main"/>
          </p:cNvSpPr>
          <p:nvPr/>
        </p:nvSpPr>
        <p:spPr>
          <a:xfrm xmlns:a="http://schemas.openxmlformats.org/drawingml/2006/main">
            <a:off x="609600" y="5664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Matt Morgis, Elsevier, via The Pragmatic Engineer, March 2025</a:t>
            </a:r>
          </a:p>
        </p:txBody>
      </p:sp>
      <p:sp>
        <p:nvSpPr>
          <p:cNvPr id="584" name="narrative-number">
            <a:extLst xmlns:a="http://schemas.openxmlformats.org/drawingml/2006/main">
              <a:ext uri="{FF2B5EF4-FFF2-40B4-BE49-F238E27FC236}">
                <a16:creationId xmlns:a16="http://schemas.microsoft.com/office/drawing/2014/main" id="{B6AB4744-A258-4D7B-B5C7-A0F1241BC03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4088579363"/>
      </p:ext>
    </p:extLst>
  </p:cSld>
</p:sld>
</file>

<file path=ppt/slides/slide5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85" name="!!area-name">
            <a:extLst xmlns:a="http://schemas.openxmlformats.org/drawingml/2006/main">
              <a:ext uri="{FF2B5EF4-FFF2-40B4-BE49-F238E27FC236}">
                <a16:creationId xmlns:a16="http://schemas.microsoft.com/office/drawing/2014/main" id="{872A5CCE-4461-419F-9D7D-953352638D3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601" name="mini-map"/>
          <p:cNvPicPr>
            <a:picLocks xmlns:a="http://schemas.openxmlformats.org/drawingml/2006/main" noChangeAspect="1"/>
          </p:cNvPicPr>
          <p:nvPr/>
        </p:nvPicPr>
        <p:blipFill>
          <a:blip xmlns:r="http://schemas.openxmlformats.org/officeDocument/2006/relationships" xmlns:a="http://schemas.openxmlformats.org/drawingml/2006/main" r:embed="R0ac14bbcfb8a4b7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87" name="slide-title">
            <a:extLst xmlns:a="http://schemas.openxmlformats.org/drawingml/2006/main">
              <a:ext uri="{FF2B5EF4-FFF2-40B4-BE49-F238E27FC236}">
                <a16:creationId xmlns:a16="http://schemas.microsoft.com/office/drawing/2014/main" id="{BAEBAA1F-4A1B-4D9A-AEAA-D35D6F0FC0C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is new</a:t>
            </a:r>
          </a:p>
        </p:txBody>
      </p:sp>
      <p:sp>
        <p:nvSpPr>
          <p:cNvPr id="588" name="header-divider">
            <a:extLst xmlns:a="http://schemas.openxmlformats.org/drawingml/2006/main">
              <a:ext uri="{FF2B5EF4-FFF2-40B4-BE49-F238E27FC236}">
                <a16:creationId xmlns:a16="http://schemas.microsoft.com/office/drawing/2014/main" id="{FE5377B9-BDF3-4D95-A791-1A790F8CD9D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89" name="22-text-1">
            <a:extLst xmlns:a="http://schemas.openxmlformats.org/drawingml/2006/main">
              <a:ext uri="{FF2B5EF4-FFF2-40B4-BE49-F238E27FC236}">
                <a16:creationId xmlns:a16="http://schemas.microsoft.com/office/drawing/2014/main" id="{A872B2CE-97C5-4519-B4D7-34C6E126C108}"/>
              </a:ext>
            </a:extLst>
          </p:cNvPr>
          <p:cNvSpPr>
            <a:spLocks xmlns:a="http://schemas.openxmlformats.org/drawingml/2006/main"/>
          </p:cNvSpPr>
          <p:nvPr/>
        </p:nvSpPr>
        <p:spPr>
          <a:xfrm xmlns:a="http://schemas.openxmlformats.org/drawingml/2006/main">
            <a:off x="609600" y="4216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Prompt engineering</a:t>
            </a:r>
          </a:p>
        </p:txBody>
      </p:sp>
      <p:sp>
        <p:nvSpPr>
          <p:cNvPr id="590" name="22-line-3">
            <a:extLst xmlns:a="http://schemas.openxmlformats.org/drawingml/2006/main">
              <a:ext uri="{FF2B5EF4-FFF2-40B4-BE49-F238E27FC236}">
                <a16:creationId xmlns:a16="http://schemas.microsoft.com/office/drawing/2014/main" id="{827D7A4C-0DB7-4D20-B6C5-8C140C919F6A}"/>
              </a:ext>
            </a:extLst>
          </p:cNvPr>
          <p:cNvSpPr>
            <a:spLocks xmlns:a="http://schemas.openxmlformats.org/drawingml/2006/main"/>
          </p:cNvSpPr>
          <p:nvPr/>
        </p:nvSpPr>
        <p:spPr>
          <a:xfrm xmlns:a="http://schemas.openxmlformats.org/drawingml/2006/main" flipH="0" flipV="0">
            <a:off x="609600" y="4699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91" name="22-text-4">
            <a:extLst xmlns:a="http://schemas.openxmlformats.org/drawingml/2006/main">
              <a:ext uri="{FF2B5EF4-FFF2-40B4-BE49-F238E27FC236}">
                <a16:creationId xmlns:a16="http://schemas.microsoft.com/office/drawing/2014/main" id="{1955C250-6801-417D-9C6C-EB2940C1EFD8}"/>
              </a:ext>
            </a:extLst>
          </p:cNvPr>
          <p:cNvSpPr>
            <a:spLocks xmlns:a="http://schemas.openxmlformats.org/drawingml/2006/main"/>
          </p:cNvSpPr>
          <p:nvPr/>
        </p:nvSpPr>
        <p:spPr>
          <a:xfrm xmlns:a="http://schemas.openxmlformats.org/drawingml/2006/main">
            <a:off x="609600" y="4851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2023</a:t>
            </a:r>
          </a:p>
        </p:txBody>
      </p:sp>
      <p:sp>
        <p:nvSpPr>
          <p:cNvPr id="592" name="22-text-5">
            <a:extLst xmlns:a="http://schemas.openxmlformats.org/drawingml/2006/main">
              <a:ext uri="{FF2B5EF4-FFF2-40B4-BE49-F238E27FC236}">
                <a16:creationId xmlns:a16="http://schemas.microsoft.com/office/drawing/2014/main" id="{8BDA9E36-B399-43A1-9717-68A4EF67FACB}"/>
              </a:ext>
            </a:extLst>
          </p:cNvPr>
          <p:cNvSpPr>
            <a:spLocks xmlns:a="http://schemas.openxmlformats.org/drawingml/2006/main"/>
          </p:cNvSpPr>
          <p:nvPr/>
        </p:nvSpPr>
        <p:spPr>
          <a:xfrm xmlns:a="http://schemas.openxmlformats.org/drawingml/2006/main">
            <a:off x="4368800" y="3327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593" name="22-line-7">
            <a:extLst xmlns:a="http://schemas.openxmlformats.org/drawingml/2006/main">
              <a:ext uri="{FF2B5EF4-FFF2-40B4-BE49-F238E27FC236}">
                <a16:creationId xmlns:a16="http://schemas.microsoft.com/office/drawing/2014/main" id="{01E2E360-FE55-47D7-BD2F-9AC8DCCC9157}"/>
              </a:ext>
            </a:extLst>
          </p:cNvPr>
          <p:cNvSpPr>
            <a:spLocks xmlns:a="http://schemas.openxmlformats.org/drawingml/2006/main"/>
          </p:cNvSpPr>
          <p:nvPr/>
        </p:nvSpPr>
        <p:spPr>
          <a:xfrm xmlns:a="http://schemas.openxmlformats.org/drawingml/2006/main" flipH="0" flipV="0">
            <a:off x="4368800" y="3810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94" name="22-text-8">
            <a:extLst xmlns:a="http://schemas.openxmlformats.org/drawingml/2006/main">
              <a:ext uri="{FF2B5EF4-FFF2-40B4-BE49-F238E27FC236}">
                <a16:creationId xmlns:a16="http://schemas.microsoft.com/office/drawing/2014/main" id="{6C6CA422-8D02-4098-B3B9-29AF09B9D6DE}"/>
              </a:ext>
            </a:extLst>
          </p:cNvPr>
          <p:cNvSpPr>
            <a:spLocks xmlns:a="http://schemas.openxmlformats.org/drawingml/2006/main"/>
          </p:cNvSpPr>
          <p:nvPr/>
        </p:nvSpPr>
        <p:spPr>
          <a:xfrm xmlns:a="http://schemas.openxmlformats.org/drawingml/2006/main">
            <a:off x="4368800" y="3962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2025</a:t>
            </a:r>
          </a:p>
        </p:txBody>
      </p:sp>
      <p:sp>
        <p:nvSpPr>
          <p:cNvPr id="595" name="22-text-9">
            <a:extLst xmlns:a="http://schemas.openxmlformats.org/drawingml/2006/main">
              <a:ext uri="{FF2B5EF4-FFF2-40B4-BE49-F238E27FC236}">
                <a16:creationId xmlns:a16="http://schemas.microsoft.com/office/drawing/2014/main" id="{22678E99-AAEB-4698-85E5-6A344E892DD6}"/>
              </a:ext>
            </a:extLst>
          </p:cNvPr>
          <p:cNvSpPr>
            <a:spLocks xmlns:a="http://schemas.openxmlformats.org/drawingml/2006/main"/>
          </p:cNvSpPr>
          <p:nvPr/>
        </p:nvSpPr>
        <p:spPr>
          <a:xfrm xmlns:a="http://schemas.openxmlformats.org/drawingml/2006/main">
            <a:off x="8128000" y="2438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engineering</a:t>
            </a:r>
          </a:p>
        </p:txBody>
      </p:sp>
      <p:sp>
        <p:nvSpPr>
          <p:cNvPr id="596" name="22-line-11">
            <a:extLst xmlns:a="http://schemas.openxmlformats.org/drawingml/2006/main">
              <a:ext uri="{FF2B5EF4-FFF2-40B4-BE49-F238E27FC236}">
                <a16:creationId xmlns:a16="http://schemas.microsoft.com/office/drawing/2014/main" id="{12D6FEE8-9BAE-4D50-BA3F-EA8EF95949DF}"/>
              </a:ext>
            </a:extLst>
          </p:cNvPr>
          <p:cNvSpPr>
            <a:spLocks xmlns:a="http://schemas.openxmlformats.org/drawingml/2006/main"/>
          </p:cNvSpPr>
          <p:nvPr/>
        </p:nvSpPr>
        <p:spPr>
          <a:xfrm xmlns:a="http://schemas.openxmlformats.org/drawingml/2006/main" flipH="0" flipV="0">
            <a:off x="8128000" y="2921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97" name="22-text-12">
            <a:extLst xmlns:a="http://schemas.openxmlformats.org/drawingml/2006/main">
              <a:ext uri="{FF2B5EF4-FFF2-40B4-BE49-F238E27FC236}">
                <a16:creationId xmlns:a16="http://schemas.microsoft.com/office/drawing/2014/main" id="{2142F288-FDE9-4DBA-A1C0-6CB4FCD32B22}"/>
              </a:ext>
            </a:extLst>
          </p:cNvPr>
          <p:cNvSpPr>
            <a:spLocks xmlns:a="http://schemas.openxmlformats.org/drawingml/2006/main"/>
          </p:cNvSpPr>
          <p:nvPr/>
        </p:nvSpPr>
        <p:spPr>
          <a:xfrm xmlns:a="http://schemas.openxmlformats.org/drawingml/2006/main">
            <a:off x="8128000" y="3073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2026</a:t>
            </a:r>
          </a:p>
        </p:txBody>
      </p:sp>
      <p:sp>
        <p:nvSpPr>
          <p:cNvPr id="598" name="22-text-13">
            <a:extLst xmlns:a="http://schemas.openxmlformats.org/drawingml/2006/main">
              <a:ext uri="{FF2B5EF4-FFF2-40B4-BE49-F238E27FC236}">
                <a16:creationId xmlns:a16="http://schemas.microsoft.com/office/drawing/2014/main" id="{7EB8C354-E1DA-46CE-8A28-8FCF25808342}"/>
              </a:ext>
            </a:extLst>
          </p:cNvPr>
          <p:cNvSpPr>
            <a:spLocks xmlns:a="http://schemas.openxmlformats.org/drawingml/2006/main"/>
          </p:cNvSpPr>
          <p:nvPr/>
        </p:nvSpPr>
        <p:spPr>
          <a:xfrm xmlns:a="http://schemas.openxmlformats.org/drawingml/2006/main">
            <a:off x="609600" y="5613400"/>
            <a:ext cx="10972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Each one absorbs the last.</a:t>
            </a:r>
          </a:p>
        </p:txBody>
      </p:sp>
      <p:sp>
        <p:nvSpPr>
          <p:cNvPr id="599" name="narrative-number">
            <a:extLst xmlns:a="http://schemas.openxmlformats.org/drawingml/2006/main">
              <a:ext uri="{FF2B5EF4-FFF2-40B4-BE49-F238E27FC236}">
                <a16:creationId xmlns:a16="http://schemas.microsoft.com/office/drawing/2014/main" id="{8C82FAFC-CAAC-4E17-A9CA-8EFB7A2378F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259617385"/>
      </p:ext>
    </p:extLst>
  </p:cSld>
</p:sld>
</file>

<file path=ppt/slides/slide5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00" name="!!area-name">
            <a:extLst xmlns:a="http://schemas.openxmlformats.org/drawingml/2006/main">
              <a:ext uri="{FF2B5EF4-FFF2-40B4-BE49-F238E27FC236}">
                <a16:creationId xmlns:a16="http://schemas.microsoft.com/office/drawing/2014/main" id="{14890D9B-BF03-49F7-9DEA-9218AAFC77E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613" name="mini-map"/>
          <p:cNvPicPr>
            <a:picLocks xmlns:a="http://schemas.openxmlformats.org/drawingml/2006/main" noChangeAspect="1"/>
          </p:cNvPicPr>
          <p:nvPr/>
        </p:nvPicPr>
        <p:blipFill>
          <a:blip xmlns:r="http://schemas.openxmlformats.org/officeDocument/2006/relationships" xmlns:a="http://schemas.openxmlformats.org/drawingml/2006/main" r:embed="R6f38ff49e89c4e0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602" name="header-divider">
            <a:extLst xmlns:a="http://schemas.openxmlformats.org/drawingml/2006/main">
              <a:ext uri="{FF2B5EF4-FFF2-40B4-BE49-F238E27FC236}">
                <a16:creationId xmlns:a16="http://schemas.microsoft.com/office/drawing/2014/main" id="{8BE65E2E-F1A8-454B-8106-0D1164FAD10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03" name="22b-text-1">
            <a:extLst xmlns:a="http://schemas.openxmlformats.org/drawingml/2006/main">
              <a:ext uri="{FF2B5EF4-FFF2-40B4-BE49-F238E27FC236}">
                <a16:creationId xmlns:a16="http://schemas.microsoft.com/office/drawing/2014/main" id="{D661DD06-D14B-49F9-96A7-ECCB4F984D72}"/>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604" name="22b-text-2">
            <a:extLst xmlns:a="http://schemas.openxmlformats.org/drawingml/2006/main">
              <a:ext uri="{FF2B5EF4-FFF2-40B4-BE49-F238E27FC236}">
                <a16:creationId xmlns:a16="http://schemas.microsoft.com/office/drawing/2014/main" id="{A7CCF28C-8333-451C-B970-DD90E881C88A}"/>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behavior intuition. Informed by reading outputs.</a:t>
            </a:r>
          </a:p>
        </p:txBody>
      </p:sp>
      <p:sp>
        <p:nvSpPr>
          <p:cNvPr id="605" name="22b-text-3">
            <a:extLst xmlns:a="http://schemas.openxmlformats.org/drawingml/2006/main">
              <a:ext uri="{FF2B5EF4-FFF2-40B4-BE49-F238E27FC236}">
                <a16:creationId xmlns:a16="http://schemas.microsoft.com/office/drawing/2014/main" id="{04A0835F-781C-486F-91D8-9BE8D706434D}"/>
              </a:ext>
            </a:extLst>
          </p:cNvPr>
          <p:cNvSpPr>
            <a:spLocks xmlns:a="http://schemas.openxmlformats.org/drawingml/2006/main"/>
          </p:cNvSpPr>
          <p:nvPr/>
        </p:nvSpPr>
        <p:spPr>
          <a:xfrm xmlns:a="http://schemas.openxmlformats.org/drawingml/2006/main">
            <a:off x="609600" y="297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606" name="22b-text-4">
            <a:extLst xmlns:a="http://schemas.openxmlformats.org/drawingml/2006/main">
              <a:ext uri="{FF2B5EF4-FFF2-40B4-BE49-F238E27FC236}">
                <a16:creationId xmlns:a16="http://schemas.microsoft.com/office/drawing/2014/main" id="{F4B3D5A1-F92B-456B-A751-BFCFFB538FBB}"/>
              </a:ext>
            </a:extLst>
          </p:cNvPr>
          <p:cNvSpPr>
            <a:spLocks xmlns:a="http://schemas.openxmlformats.org/drawingml/2006/main"/>
          </p:cNvSpPr>
          <p:nvPr/>
        </p:nvSpPr>
        <p:spPr>
          <a:xfrm xmlns:a="http://schemas.openxmlformats.org/drawingml/2006/main">
            <a:off x="609600" y="3505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 design, for a caller that reads the description every time.</a:t>
            </a:r>
          </a:p>
        </p:txBody>
      </p:sp>
      <p:sp>
        <p:nvSpPr>
          <p:cNvPr id="607" name="22b-text-5">
            <a:extLst xmlns:a="http://schemas.openxmlformats.org/drawingml/2006/main">
              <a:ext uri="{FF2B5EF4-FFF2-40B4-BE49-F238E27FC236}">
                <a16:creationId xmlns:a16="http://schemas.microsoft.com/office/drawing/2014/main" id="{0A7C6DBA-2D03-4227-AB41-D49C499662AA}"/>
              </a:ext>
            </a:extLst>
          </p:cNvPr>
          <p:cNvSpPr>
            <a:spLocks xmlns:a="http://schemas.openxmlformats.org/drawingml/2006/main"/>
          </p:cNvSpPr>
          <p:nvPr/>
        </p:nvSpPr>
        <p:spPr>
          <a:xfrm xmlns:a="http://schemas.openxmlformats.org/drawingml/2006/main">
            <a:off x="609600" y="4038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and loop design.</a:t>
            </a:r>
          </a:p>
        </p:txBody>
      </p:sp>
      <p:sp>
        <p:nvSpPr>
          <p:cNvPr id="608" name="22b-text-6">
            <a:extLst xmlns:a="http://schemas.openxmlformats.org/drawingml/2006/main">
              <a:ext uri="{FF2B5EF4-FFF2-40B4-BE49-F238E27FC236}">
                <a16:creationId xmlns:a16="http://schemas.microsoft.com/office/drawing/2014/main" id="{9611D175-E371-4C48-A9B5-58AB370AE192}"/>
              </a:ext>
            </a:extLst>
          </p:cNvPr>
          <p:cNvSpPr>
            <a:spLocks xmlns:a="http://schemas.openxmlformats.org/drawingml/2006/main"/>
          </p:cNvSpPr>
          <p:nvPr/>
        </p:nvSpPr>
        <p:spPr>
          <a:xfrm xmlns:a="http://schemas.openxmlformats.org/drawingml/2006/main">
            <a:off x="609600" y="457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Evals and error analysis.</a:t>
            </a:r>
          </a:p>
        </p:txBody>
      </p:sp>
      <p:sp>
        <p:nvSpPr>
          <p:cNvPr id="609" name="22b-text-7">
            <a:extLst xmlns:a="http://schemas.openxmlformats.org/drawingml/2006/main">
              <a:ext uri="{FF2B5EF4-FFF2-40B4-BE49-F238E27FC236}">
                <a16:creationId xmlns:a16="http://schemas.microsoft.com/office/drawing/2014/main" id="{00451C1A-998B-4627-92F1-20E97821F46D}"/>
              </a:ext>
            </a:extLst>
          </p:cNvPr>
          <p:cNvSpPr>
            <a:spLocks xmlns:a="http://schemas.openxmlformats.org/drawingml/2006/main"/>
          </p:cNvSpPr>
          <p:nvPr/>
        </p:nvSpPr>
        <p:spPr>
          <a:xfrm xmlns:a="http://schemas.openxmlformats.org/drawingml/2006/main">
            <a:off x="609600" y="5105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AI security. The attack surface is the model's reasoning.</a:t>
            </a:r>
          </a:p>
        </p:txBody>
      </p:sp>
      <p:sp>
        <p:nvSpPr>
          <p:cNvPr id="610" name="22b-text-8">
            <a:extLst xmlns:a="http://schemas.openxmlformats.org/drawingml/2006/main">
              <a:ext uri="{FF2B5EF4-FFF2-40B4-BE49-F238E27FC236}">
                <a16:creationId xmlns:a16="http://schemas.microsoft.com/office/drawing/2014/main" id="{707C0AC8-D018-49CB-9AA9-B8ACCDD4EC5A}"/>
              </a:ext>
            </a:extLst>
          </p:cNvPr>
          <p:cNvSpPr>
            <a:spLocks xmlns:a="http://schemas.openxmlformats.org/drawingml/2006/main"/>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and latency as design constraints.</a:t>
            </a:r>
          </a:p>
        </p:txBody>
      </p:sp>
      <p:sp>
        <p:nvSpPr>
          <p:cNvPr id="611" name="narrative-number">
            <a:extLst xmlns:a="http://schemas.openxmlformats.org/drawingml/2006/main">
              <a:ext uri="{FF2B5EF4-FFF2-40B4-BE49-F238E27FC236}">
                <a16:creationId xmlns:a16="http://schemas.microsoft.com/office/drawing/2014/main" id="{081DABAF-13B1-4E52-94F2-B7FC5DB816C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799424991"/>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5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12" name="!!area-name">
            <a:extLst xmlns:a="http://schemas.openxmlformats.org/drawingml/2006/main">
              <a:ext uri="{FF2B5EF4-FFF2-40B4-BE49-F238E27FC236}">
                <a16:creationId xmlns:a16="http://schemas.microsoft.com/office/drawing/2014/main" id="{A981BF5C-1871-4C03-8741-08C3AE19DFD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620" name="mini-map"/>
          <p:cNvPicPr>
            <a:picLocks xmlns:a="http://schemas.openxmlformats.org/drawingml/2006/main" noChangeAspect="1"/>
          </p:cNvPicPr>
          <p:nvPr/>
        </p:nvPicPr>
        <p:blipFill>
          <a:blip xmlns:r="http://schemas.openxmlformats.org/officeDocument/2006/relationships" xmlns:a="http://schemas.openxmlformats.org/drawingml/2006/main" r:embed="R67ac66d09997475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614" name="header-divider">
            <a:extLst xmlns:a="http://schemas.openxmlformats.org/drawingml/2006/main">
              <a:ext uri="{FF2B5EF4-FFF2-40B4-BE49-F238E27FC236}">
                <a16:creationId xmlns:a16="http://schemas.microsoft.com/office/drawing/2014/main" id="{C3B3717A-5CBA-4E1F-AE2C-06E16B10368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15" name="22b-text-1">
            <a:extLst xmlns:a="http://schemas.openxmlformats.org/drawingml/2006/main">
              <a:ext uri="{FF2B5EF4-FFF2-40B4-BE49-F238E27FC236}">
                <a16:creationId xmlns:a16="http://schemas.microsoft.com/office/drawing/2014/main" id="{8ED4F907-FFB1-4C26-9EB9-CDC350FC40B7}"/>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616" name="22b-text-9">
            <a:extLst xmlns:a="http://schemas.openxmlformats.org/drawingml/2006/main">
              <a:ext uri="{FF2B5EF4-FFF2-40B4-BE49-F238E27FC236}">
                <a16:creationId xmlns:a16="http://schemas.microsoft.com/office/drawing/2014/main" id="{D8D89776-D0BC-4E93-8C44-EDBD14E83B8A}"/>
              </a:ext>
            </a:extLst>
          </p:cNvPr>
          <p:cNvSpPr>
            <a:spLocks xmlns:a="http://schemas.openxmlformats.org/drawingml/2006/main"/>
          </p:cNvSpPr>
          <p:nvPr/>
        </p:nvSpPr>
        <p:spPr>
          <a:xfrm xmlns:a="http://schemas.openxmlformats.org/drawingml/2006/main">
            <a:off x="609600" y="2438400"/>
            <a:ext cx="10972800" cy="269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"Getting comfortable with evaluations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iterating on non-deterministic</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outputs is the biggest challenge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most devs have."</a:t>
            </a:r>
          </a:p>
        </p:txBody>
      </p:sp>
      <p:sp>
        <p:nvSpPr>
          <p:cNvPr id="617" name="22b-text-10">
            <a:extLst xmlns:a="http://schemas.openxmlformats.org/drawingml/2006/main">
              <a:ext uri="{FF2B5EF4-FFF2-40B4-BE49-F238E27FC236}">
                <a16:creationId xmlns:a16="http://schemas.microsoft.com/office/drawing/2014/main" id="{32E7C6AE-7613-4218-B8FF-DAA41B0382EB}"/>
              </a:ext>
            </a:extLst>
          </p:cNvPr>
          <p:cNvSpPr>
            <a:spLocks xmlns:a="http://schemas.openxmlformats.org/drawingml/2006/main"/>
          </p:cNvSpPr>
          <p:nvPr/>
        </p:nvSpPr>
        <p:spPr>
          <a:xfrm xmlns:a="http://schemas.openxmlformats.org/drawingml/2006/main">
            <a:off x="609600" y="5435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Ross McNairn, Wordsmith, via The Pragmatic Engineer, March 2025</a:t>
            </a:r>
          </a:p>
        </p:txBody>
      </p:sp>
      <p:sp>
        <p:nvSpPr>
          <p:cNvPr id="618" name="narrative-number">
            <a:extLst xmlns:a="http://schemas.openxmlformats.org/drawingml/2006/main">
              <a:ext uri="{FF2B5EF4-FFF2-40B4-BE49-F238E27FC236}">
                <a16:creationId xmlns:a16="http://schemas.microsoft.com/office/drawing/2014/main" id="{3CBBF92E-C697-4886-AD6A-8763FB25256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45056897"/>
      </p:ext>
    </p:extLst>
  </p:cSld>
</p:sld>
</file>

<file path=ppt/slides/slide6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19" name="!!area-name">
            <a:extLst xmlns:a="http://schemas.openxmlformats.org/drawingml/2006/main">
              <a:ext uri="{FF2B5EF4-FFF2-40B4-BE49-F238E27FC236}">
                <a16:creationId xmlns:a16="http://schemas.microsoft.com/office/drawing/2014/main" id="{D6282F74-2F6E-491F-AEE5-A99ACE529E26}"/>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620" name="header-divider">
            <a:extLst xmlns:a="http://schemas.openxmlformats.org/drawingml/2006/main">
              <a:ext uri="{FF2B5EF4-FFF2-40B4-BE49-F238E27FC236}">
                <a16:creationId xmlns:a16="http://schemas.microsoft.com/office/drawing/2014/main" id="{65DC62E5-55F5-4360-8629-CE8E497E325B}"/>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21" name="23-shape-1">
            <a:extLst xmlns:a="http://schemas.openxmlformats.org/drawingml/2006/main">
              <a:ext uri="{FF2B5EF4-FFF2-40B4-BE49-F238E27FC236}">
                <a16:creationId xmlns:a16="http://schemas.microsoft.com/office/drawing/2014/main" id="{2445F883-0CEB-4406-AAA7-9237EE9EB11B}"/>
              </a:ext>
            </a:extLst>
          </p:cNvPr>
          <p:cNvSpPr>
            <a:spLocks xmlns:a="http://schemas.openxmlformats.org/drawingml/2006/main"/>
          </p:cNvSpPr>
          <p:nvPr/>
        </p:nvSpPr>
        <p:spPr>
          <a:xfrm xmlns:a="http://schemas.openxmlformats.org/drawingml/2006/main">
            <a:off x="0" y="12700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622" name="23-shape-2">
            <a:extLst xmlns:a="http://schemas.openxmlformats.org/drawingml/2006/main">
              <a:ext uri="{FF2B5EF4-FFF2-40B4-BE49-F238E27FC236}">
                <a16:creationId xmlns:a16="http://schemas.microsoft.com/office/drawing/2014/main" id="{ADA43217-B8E1-4459-8804-0C3FBF5F388C}"/>
              </a:ext>
            </a:extLst>
          </p:cNvPr>
          <p:cNvSpPr>
            <a:spLocks xmlns:a="http://schemas.openxmlformats.org/drawingml/2006/main"/>
          </p:cNvSpPr>
          <p:nvPr/>
        </p:nvSpPr>
        <p:spPr>
          <a:xfrm xmlns:a="http://schemas.openxmlformats.org/drawingml/2006/main">
            <a:off x="0" y="1270000"/>
            <a:ext cx="3454400" cy="7112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623" name="23-text-3">
            <a:extLst xmlns:a="http://schemas.openxmlformats.org/drawingml/2006/main">
              <a:ext uri="{FF2B5EF4-FFF2-40B4-BE49-F238E27FC236}">
                <a16:creationId xmlns:a16="http://schemas.microsoft.com/office/drawing/2014/main" id="{AE97522F-0AD7-4830-A17C-D40E1E7D2E8A}"/>
              </a:ext>
            </a:extLst>
          </p:cNvPr>
          <p:cNvSpPr>
            <a:spLocks xmlns:a="http://schemas.openxmlformats.org/drawingml/2006/main"/>
          </p:cNvSpPr>
          <p:nvPr/>
        </p:nvSpPr>
        <p:spPr>
          <a:xfrm xmlns:a="http://schemas.openxmlformats.org/drawingml/2006/main">
            <a:off x="609600" y="14224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624" name="23-text-4">
            <a:extLst xmlns:a="http://schemas.openxmlformats.org/drawingml/2006/main">
              <a:ext uri="{FF2B5EF4-FFF2-40B4-BE49-F238E27FC236}">
                <a16:creationId xmlns:a16="http://schemas.microsoft.com/office/drawing/2014/main" id="{CBE87E01-BDA1-47CE-B95D-0ED51AD9FC1F}"/>
              </a:ext>
            </a:extLst>
          </p:cNvPr>
          <p:cNvSpPr>
            <a:spLocks xmlns:a="http://schemas.openxmlformats.org/drawingml/2006/main"/>
          </p:cNvSpPr>
          <p:nvPr/>
        </p:nvSpPr>
        <p:spPr>
          <a:xfrm xmlns:a="http://schemas.openxmlformats.org/drawingml/2006/main">
            <a:off x="3759200" y="13081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hardcoded model ID with no eval suite behind it.</a:t>
            </a:r>
          </a:p>
        </p:txBody>
      </p:sp>
      <p:sp>
        <p:nvSpPr>
          <p:cNvPr id="625" name="23-shape-5">
            <a:extLst xmlns:a="http://schemas.openxmlformats.org/drawingml/2006/main">
              <a:ext uri="{FF2B5EF4-FFF2-40B4-BE49-F238E27FC236}">
                <a16:creationId xmlns:a16="http://schemas.microsoft.com/office/drawing/2014/main" id="{A16543AB-FC0C-440C-A02E-08996D6EC0F6}"/>
              </a:ext>
            </a:extLst>
          </p:cNvPr>
          <p:cNvSpPr>
            <a:spLocks xmlns:a="http://schemas.openxmlformats.org/drawingml/2006/main"/>
          </p:cNvSpPr>
          <p:nvPr/>
        </p:nvSpPr>
        <p:spPr>
          <a:xfrm xmlns:a="http://schemas.openxmlformats.org/drawingml/2006/main">
            <a:off x="0" y="20701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626" name="23-shape-6">
            <a:extLst xmlns:a="http://schemas.openxmlformats.org/drawingml/2006/main">
              <a:ext uri="{FF2B5EF4-FFF2-40B4-BE49-F238E27FC236}">
                <a16:creationId xmlns:a16="http://schemas.microsoft.com/office/drawing/2014/main" id="{38406979-E8DC-40BD-87A1-386EB459D776}"/>
              </a:ext>
            </a:extLst>
          </p:cNvPr>
          <p:cNvSpPr>
            <a:spLocks xmlns:a="http://schemas.openxmlformats.org/drawingml/2006/main"/>
          </p:cNvSpPr>
          <p:nvPr/>
        </p:nvSpPr>
        <p:spPr>
          <a:xfrm xmlns:a="http://schemas.openxmlformats.org/drawingml/2006/main">
            <a:off x="0" y="20701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627" name="23-text-7">
            <a:extLst xmlns:a="http://schemas.openxmlformats.org/drawingml/2006/main">
              <a:ext uri="{FF2B5EF4-FFF2-40B4-BE49-F238E27FC236}">
                <a16:creationId xmlns:a16="http://schemas.microsoft.com/office/drawing/2014/main" id="{C3855B09-1C0A-4D82-B70D-8516289EC8C0}"/>
              </a:ext>
            </a:extLst>
          </p:cNvPr>
          <p:cNvSpPr>
            <a:spLocks xmlns:a="http://schemas.openxmlformats.org/drawingml/2006/main"/>
          </p:cNvSpPr>
          <p:nvPr/>
        </p:nvSpPr>
        <p:spPr>
          <a:xfrm xmlns:a="http://schemas.openxmlformats.org/drawingml/2006/main">
            <a:off x="609600" y="22225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p:txBody>
      </p:sp>
      <p:sp>
        <p:nvSpPr>
          <p:cNvPr id="628" name="23-text-8">
            <a:extLst xmlns:a="http://schemas.openxmlformats.org/drawingml/2006/main">
              <a:ext uri="{FF2B5EF4-FFF2-40B4-BE49-F238E27FC236}">
                <a16:creationId xmlns:a16="http://schemas.microsoft.com/office/drawing/2014/main" id="{74C02199-32CB-482A-A2A0-FCC965E9307A}"/>
              </a:ext>
            </a:extLst>
          </p:cNvPr>
          <p:cNvSpPr>
            <a:spLocks xmlns:a="http://schemas.openxmlformats.org/drawingml/2006/main"/>
          </p:cNvSpPr>
          <p:nvPr/>
        </p:nvSpPr>
        <p:spPr>
          <a:xfrm xmlns:a="http://schemas.openxmlformats.org/drawingml/2006/main">
            <a:off x="3759200" y="21082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
        <p:nvSpPr>
          <p:cNvPr id="629" name="23-shape-9">
            <a:extLst xmlns:a="http://schemas.openxmlformats.org/drawingml/2006/main">
              <a:ext uri="{FF2B5EF4-FFF2-40B4-BE49-F238E27FC236}">
                <a16:creationId xmlns:a16="http://schemas.microsoft.com/office/drawing/2014/main" id="{2D2DD23F-DD6B-43C2-8BA8-68B7FAC2CACE}"/>
              </a:ext>
            </a:extLst>
          </p:cNvPr>
          <p:cNvSpPr>
            <a:spLocks xmlns:a="http://schemas.openxmlformats.org/drawingml/2006/main"/>
          </p:cNvSpPr>
          <p:nvPr/>
        </p:nvSpPr>
        <p:spPr>
          <a:xfrm xmlns:a="http://schemas.openxmlformats.org/drawingml/2006/main">
            <a:off x="0" y="28702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630" name="23-shape-10">
            <a:extLst xmlns:a="http://schemas.openxmlformats.org/drawingml/2006/main">
              <a:ext uri="{FF2B5EF4-FFF2-40B4-BE49-F238E27FC236}">
                <a16:creationId xmlns:a16="http://schemas.microsoft.com/office/drawing/2014/main" id="{F725BB91-3162-4FC3-8862-90295C3C6B67}"/>
              </a:ext>
            </a:extLst>
          </p:cNvPr>
          <p:cNvSpPr>
            <a:spLocks xmlns:a="http://schemas.openxmlformats.org/drawingml/2006/main"/>
          </p:cNvSpPr>
          <p:nvPr/>
        </p:nvSpPr>
        <p:spPr>
          <a:xfrm xmlns:a="http://schemas.openxmlformats.org/drawingml/2006/main">
            <a:off x="0" y="28702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631" name="23-text-11">
            <a:extLst xmlns:a="http://schemas.openxmlformats.org/drawingml/2006/main">
              <a:ext uri="{FF2B5EF4-FFF2-40B4-BE49-F238E27FC236}">
                <a16:creationId xmlns:a16="http://schemas.microsoft.com/office/drawing/2014/main" id="{A0D74A4D-94CC-4DD7-A174-28FA30E47479}"/>
              </a:ext>
            </a:extLst>
          </p:cNvPr>
          <p:cNvSpPr>
            <a:spLocks xmlns:a="http://schemas.openxmlformats.org/drawingml/2006/main"/>
          </p:cNvSpPr>
          <p:nvPr/>
        </p:nvSpPr>
        <p:spPr>
          <a:xfrm xmlns:a="http://schemas.openxmlformats.org/drawingml/2006/main">
            <a:off x="609600" y="30226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a:t>
            </a:r>
          </a:p>
        </p:txBody>
      </p:sp>
      <p:sp>
        <p:nvSpPr>
          <p:cNvPr id="632" name="23-text-12">
            <a:extLst xmlns:a="http://schemas.openxmlformats.org/drawingml/2006/main">
              <a:ext uri="{FF2B5EF4-FFF2-40B4-BE49-F238E27FC236}">
                <a16:creationId xmlns:a16="http://schemas.microsoft.com/office/drawing/2014/main" id="{8EE9BAC3-1707-4D14-A693-62BE967CC149}"/>
              </a:ext>
            </a:extLst>
          </p:cNvPr>
          <p:cNvSpPr>
            <a:spLocks xmlns:a="http://schemas.openxmlformats.org/drawingml/2006/main"/>
          </p:cNvSpPr>
          <p:nvPr/>
        </p:nvSpPr>
        <p:spPr>
          <a:xfrm xmlns:a="http://schemas.openxmlformats.org/drawingml/2006/main">
            <a:off x="3759200" y="29083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633" name="23-shape-13">
            <a:extLst xmlns:a="http://schemas.openxmlformats.org/drawingml/2006/main">
              <a:ext uri="{FF2B5EF4-FFF2-40B4-BE49-F238E27FC236}">
                <a16:creationId xmlns:a16="http://schemas.microsoft.com/office/drawing/2014/main" id="{AFDF2836-80A2-4EDB-BED8-51B5CAAAA86A}"/>
              </a:ext>
            </a:extLst>
          </p:cNvPr>
          <p:cNvSpPr>
            <a:spLocks xmlns:a="http://schemas.openxmlformats.org/drawingml/2006/main"/>
          </p:cNvSpPr>
          <p:nvPr/>
        </p:nvSpPr>
        <p:spPr>
          <a:xfrm xmlns:a="http://schemas.openxmlformats.org/drawingml/2006/main">
            <a:off x="0" y="36703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634" name="23-shape-14">
            <a:extLst xmlns:a="http://schemas.openxmlformats.org/drawingml/2006/main">
              <a:ext uri="{FF2B5EF4-FFF2-40B4-BE49-F238E27FC236}">
                <a16:creationId xmlns:a16="http://schemas.microsoft.com/office/drawing/2014/main" id="{C423018C-B9B4-4414-B2D6-6996F11696B2}"/>
              </a:ext>
            </a:extLst>
          </p:cNvPr>
          <p:cNvSpPr>
            <a:spLocks xmlns:a="http://schemas.openxmlformats.org/drawingml/2006/main"/>
          </p:cNvSpPr>
          <p:nvPr/>
        </p:nvSpPr>
        <p:spPr>
          <a:xfrm xmlns:a="http://schemas.openxmlformats.org/drawingml/2006/main">
            <a:off x="0" y="36703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635" name="23-text-15">
            <a:extLst xmlns:a="http://schemas.openxmlformats.org/drawingml/2006/main">
              <a:ext uri="{FF2B5EF4-FFF2-40B4-BE49-F238E27FC236}">
                <a16:creationId xmlns:a16="http://schemas.microsoft.com/office/drawing/2014/main" id="{7239E6FD-FEA6-4718-891F-6A7D5A3D5FC5}"/>
              </a:ext>
            </a:extLst>
          </p:cNvPr>
          <p:cNvSpPr>
            <a:spLocks xmlns:a="http://schemas.openxmlformats.org/drawingml/2006/main"/>
          </p:cNvSpPr>
          <p:nvPr/>
        </p:nvSpPr>
        <p:spPr>
          <a:xfrm xmlns:a="http://schemas.openxmlformats.org/drawingml/2006/main">
            <a:off x="609600" y="38227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636" name="23-text-16">
            <a:extLst xmlns:a="http://schemas.openxmlformats.org/drawingml/2006/main">
              <a:ext uri="{FF2B5EF4-FFF2-40B4-BE49-F238E27FC236}">
                <a16:creationId xmlns:a16="http://schemas.microsoft.com/office/drawing/2014/main" id="{5843CCFB-364E-4633-9885-4DA9A895BE56}"/>
              </a:ext>
            </a:extLst>
          </p:cNvPr>
          <p:cNvSpPr>
            <a:spLocks xmlns:a="http://schemas.openxmlformats.org/drawingml/2006/main"/>
          </p:cNvSpPr>
          <p:nvPr/>
        </p:nvSpPr>
        <p:spPr>
          <a:xfrm xmlns:a="http://schemas.openxmlformats.org/drawingml/2006/main">
            <a:off x="3759200" y="37084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637" name="23-shape-17">
            <a:extLst xmlns:a="http://schemas.openxmlformats.org/drawingml/2006/main">
              <a:ext uri="{FF2B5EF4-FFF2-40B4-BE49-F238E27FC236}">
                <a16:creationId xmlns:a16="http://schemas.microsoft.com/office/drawing/2014/main" id="{213E8DF0-9919-4087-9093-EE164D45AC63}"/>
              </a:ext>
            </a:extLst>
          </p:cNvPr>
          <p:cNvSpPr>
            <a:spLocks xmlns:a="http://schemas.openxmlformats.org/drawingml/2006/main"/>
          </p:cNvSpPr>
          <p:nvPr/>
        </p:nvSpPr>
        <p:spPr>
          <a:xfrm xmlns:a="http://schemas.openxmlformats.org/drawingml/2006/main">
            <a:off x="0" y="4470400"/>
            <a:ext cx="12192000" cy="965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638" name="23-shape-18">
            <a:extLst xmlns:a="http://schemas.openxmlformats.org/drawingml/2006/main">
              <a:ext uri="{FF2B5EF4-FFF2-40B4-BE49-F238E27FC236}">
                <a16:creationId xmlns:a16="http://schemas.microsoft.com/office/drawing/2014/main" id="{A8422B7A-C62E-40B1-9A6D-571543E20D4E}"/>
              </a:ext>
            </a:extLst>
          </p:cNvPr>
          <p:cNvSpPr>
            <a:spLocks xmlns:a="http://schemas.openxmlformats.org/drawingml/2006/main"/>
          </p:cNvSpPr>
          <p:nvPr/>
        </p:nvSpPr>
        <p:spPr>
          <a:xfrm xmlns:a="http://schemas.openxmlformats.org/drawingml/2006/main">
            <a:off x="0" y="4470400"/>
            <a:ext cx="3454400" cy="9652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639" name="23-text-19">
            <a:extLst xmlns:a="http://schemas.openxmlformats.org/drawingml/2006/main">
              <a:ext uri="{FF2B5EF4-FFF2-40B4-BE49-F238E27FC236}">
                <a16:creationId xmlns:a16="http://schemas.microsoft.com/office/drawing/2014/main" id="{BEC33FD9-A6D6-4BE1-AEF9-FC077A307AA2}"/>
              </a:ext>
            </a:extLst>
          </p:cNvPr>
          <p:cNvSpPr>
            <a:spLocks xmlns:a="http://schemas.openxmlformats.org/drawingml/2006/main"/>
          </p:cNvSpPr>
          <p:nvPr/>
        </p:nvSpPr>
        <p:spPr>
          <a:xfrm xmlns:a="http://schemas.openxmlformats.org/drawingml/2006/main">
            <a:off x="609600" y="47498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Evals</a:t>
            </a:r>
          </a:p>
        </p:txBody>
      </p:sp>
      <p:sp>
        <p:nvSpPr>
          <p:cNvPr id="640" name="23-text-20">
            <a:extLst xmlns:a="http://schemas.openxmlformats.org/drawingml/2006/main">
              <a:ext uri="{FF2B5EF4-FFF2-40B4-BE49-F238E27FC236}">
                <a16:creationId xmlns:a16="http://schemas.microsoft.com/office/drawing/2014/main" id="{D670F234-0A77-400B-A856-67670ED400DF}"/>
              </a:ext>
            </a:extLst>
          </p:cNvPr>
          <p:cNvSpPr>
            <a:spLocks xmlns:a="http://schemas.openxmlformats.org/drawingml/2006/main"/>
          </p:cNvSpPr>
          <p:nvPr/>
        </p:nvSpPr>
        <p:spPr>
          <a:xfrm xmlns:a="http://schemas.openxmlformats.org/drawingml/2006/main">
            <a:off x="3759200" y="4508500"/>
            <a:ext cx="78232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641" name="23-shape-21">
            <a:extLst xmlns:a="http://schemas.openxmlformats.org/drawingml/2006/main">
              <a:ext uri="{FF2B5EF4-FFF2-40B4-BE49-F238E27FC236}">
                <a16:creationId xmlns:a16="http://schemas.microsoft.com/office/drawing/2014/main" id="{18142828-8151-44D5-881D-065C30CAE668}"/>
              </a:ext>
            </a:extLst>
          </p:cNvPr>
          <p:cNvSpPr>
            <a:spLocks xmlns:a="http://schemas.openxmlformats.org/drawingml/2006/main"/>
          </p:cNvSpPr>
          <p:nvPr/>
        </p:nvSpPr>
        <p:spPr>
          <a:xfrm xmlns:a="http://schemas.openxmlformats.org/drawingml/2006/main">
            <a:off x="0" y="55245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642" name="23-shape-22">
            <a:extLst xmlns:a="http://schemas.openxmlformats.org/drawingml/2006/main">
              <a:ext uri="{FF2B5EF4-FFF2-40B4-BE49-F238E27FC236}">
                <a16:creationId xmlns:a16="http://schemas.microsoft.com/office/drawing/2014/main" id="{1C77AC44-0C99-421C-9870-23AAE9907B07}"/>
              </a:ext>
            </a:extLst>
          </p:cNvPr>
          <p:cNvSpPr>
            <a:spLocks xmlns:a="http://schemas.openxmlformats.org/drawingml/2006/main"/>
          </p:cNvSpPr>
          <p:nvPr/>
        </p:nvSpPr>
        <p:spPr>
          <a:xfrm xmlns:a="http://schemas.openxmlformats.org/drawingml/2006/main">
            <a:off x="0" y="5524500"/>
            <a:ext cx="3454400" cy="711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643" name="23-text-23">
            <a:extLst xmlns:a="http://schemas.openxmlformats.org/drawingml/2006/main">
              <a:ext uri="{FF2B5EF4-FFF2-40B4-BE49-F238E27FC236}">
                <a16:creationId xmlns:a16="http://schemas.microsoft.com/office/drawing/2014/main" id="{506AAF6B-F130-4FE7-85E8-25224A13F729}"/>
              </a:ext>
            </a:extLst>
          </p:cNvPr>
          <p:cNvSpPr>
            <a:spLocks xmlns:a="http://schemas.openxmlformats.org/drawingml/2006/main"/>
          </p:cNvSpPr>
          <p:nvPr/>
        </p:nvSpPr>
        <p:spPr>
          <a:xfrm xmlns:a="http://schemas.openxmlformats.org/drawingml/2006/main">
            <a:off x="609600" y="56769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Operating</a:t>
            </a:r>
          </a:p>
        </p:txBody>
      </p:sp>
      <p:sp>
        <p:nvSpPr>
          <p:cNvPr id="644" name="23-text-24">
            <a:extLst xmlns:a="http://schemas.openxmlformats.org/drawingml/2006/main">
              <a:ext uri="{FF2B5EF4-FFF2-40B4-BE49-F238E27FC236}">
                <a16:creationId xmlns:a16="http://schemas.microsoft.com/office/drawing/2014/main" id="{CC093F52-2B09-476A-BDAD-ECFDEA5F393B}"/>
              </a:ext>
            </a:extLst>
          </p:cNvPr>
          <p:cNvSpPr>
            <a:spLocks xmlns:a="http://schemas.openxmlformats.org/drawingml/2006/main"/>
          </p:cNvSpPr>
          <p:nvPr/>
        </p:nvSpPr>
        <p:spPr>
          <a:xfrm xmlns:a="http://schemas.openxmlformats.org/drawingml/2006/main">
            <a:off x="3759200" y="55626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645" name="narrative-number">
            <a:extLst xmlns:a="http://schemas.openxmlformats.org/drawingml/2006/main">
              <a:ext uri="{FF2B5EF4-FFF2-40B4-BE49-F238E27FC236}">
                <a16:creationId xmlns:a16="http://schemas.microsoft.com/office/drawing/2014/main" id="{40003822-6E4E-4863-8288-E05A179590C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2484162551"/>
      </p:ext>
    </p:extLst>
  </p:cSld>
</p:sld>
</file>

<file path=ppt/slides/slide6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46" name="!!area-name">
            <a:extLst xmlns:a="http://schemas.openxmlformats.org/drawingml/2006/main">
              <a:ext uri="{FF2B5EF4-FFF2-40B4-BE49-F238E27FC236}">
                <a16:creationId xmlns:a16="http://schemas.microsoft.com/office/drawing/2014/main" id="{D883E0E4-71B0-47C3-89C2-CD1013EA255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664" name="mini-map"/>
          <p:cNvPicPr>
            <a:picLocks xmlns:a="http://schemas.openxmlformats.org/drawingml/2006/main" noChangeAspect="1"/>
          </p:cNvPicPr>
          <p:nvPr/>
        </p:nvPicPr>
        <p:blipFill>
          <a:blip xmlns:r="http://schemas.openxmlformats.org/officeDocument/2006/relationships" xmlns:a="http://schemas.openxmlformats.org/drawingml/2006/main" r:embed="R019a96e6e197406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648" name="slide-title">
            <a:extLst xmlns:a="http://schemas.openxmlformats.org/drawingml/2006/main">
              <a:ext uri="{FF2B5EF4-FFF2-40B4-BE49-F238E27FC236}">
                <a16:creationId xmlns:a16="http://schemas.microsoft.com/office/drawing/2014/main" id="{021002B7-8AF1-44E4-9B96-101553A3D63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649" name="header-divider">
            <a:extLst xmlns:a="http://schemas.openxmlformats.org/drawingml/2006/main">
              <a:ext uri="{FF2B5EF4-FFF2-40B4-BE49-F238E27FC236}">
                <a16:creationId xmlns:a16="http://schemas.microsoft.com/office/drawing/2014/main" id="{C683CE6E-DBA4-468C-90FE-754B68F290C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50" name="24-shape-1">
            <a:extLst xmlns:a="http://schemas.openxmlformats.org/drawingml/2006/main">
              <a:ext uri="{FF2B5EF4-FFF2-40B4-BE49-F238E27FC236}">
                <a16:creationId xmlns:a16="http://schemas.microsoft.com/office/drawing/2014/main" id="{66D81176-8FB3-4F85-9B93-4EBA48D10FC0}"/>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651" name="24-text-2">
            <a:extLst xmlns:a="http://schemas.openxmlformats.org/drawingml/2006/main">
              <a:ext uri="{FF2B5EF4-FFF2-40B4-BE49-F238E27FC236}">
                <a16:creationId xmlns:a16="http://schemas.microsoft.com/office/drawing/2014/main" id="{B5B01A07-199B-4A23-A2B0-A78E15082B7D}"/>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652" name="24-text-3">
            <a:extLst xmlns:a="http://schemas.openxmlformats.org/drawingml/2006/main">
              <a:ext uri="{FF2B5EF4-FFF2-40B4-BE49-F238E27FC236}">
                <a16:creationId xmlns:a16="http://schemas.microsoft.com/office/drawing/2014/main" id="{44B2810E-8318-4EB4-9989-51C109975978}"/>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Look before you build.</a:t>
            </a:r>
          </a:p>
        </p:txBody>
      </p:sp>
      <p:sp>
        <p:nvSpPr>
          <p:cNvPr id="653" name="24-shape-4">
            <a:extLst xmlns:a="http://schemas.openxmlformats.org/drawingml/2006/main">
              <a:ext uri="{FF2B5EF4-FFF2-40B4-BE49-F238E27FC236}">
                <a16:creationId xmlns:a16="http://schemas.microsoft.com/office/drawing/2014/main" id="{C15F580D-257F-4ABA-9996-ED01F6CD9483}"/>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654" name="24-text-5">
            <a:extLst xmlns:a="http://schemas.openxmlformats.org/drawingml/2006/main">
              <a:ext uri="{FF2B5EF4-FFF2-40B4-BE49-F238E27FC236}">
                <a16:creationId xmlns:a16="http://schemas.microsoft.com/office/drawing/2014/main" id="{1F950B52-F8AE-4ABF-9D0C-4E59C592CF9C}"/>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655" name="24-text-6">
            <a:extLst xmlns:a="http://schemas.openxmlformats.org/drawingml/2006/main">
              <a:ext uri="{FF2B5EF4-FFF2-40B4-BE49-F238E27FC236}">
                <a16:creationId xmlns:a16="http://schemas.microsoft.com/office/drawing/2014/main" id="{133AE077-F68A-430F-8206-56A65CA3E09B}"/>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constrained.</a:t>
            </a:r>
          </a:p>
        </p:txBody>
      </p:sp>
      <p:sp>
        <p:nvSpPr>
          <p:cNvPr id="656" name="24-shape-7">
            <a:extLst xmlns:a="http://schemas.openxmlformats.org/drawingml/2006/main">
              <a:ext uri="{FF2B5EF4-FFF2-40B4-BE49-F238E27FC236}">
                <a16:creationId xmlns:a16="http://schemas.microsoft.com/office/drawing/2014/main" id="{32F09626-C0C7-42BC-8FA9-B667DB217F27}"/>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657" name="24-text-8">
            <a:extLst xmlns:a="http://schemas.openxmlformats.org/drawingml/2006/main">
              <a:ext uri="{FF2B5EF4-FFF2-40B4-BE49-F238E27FC236}">
                <a16:creationId xmlns:a16="http://schemas.microsoft.com/office/drawing/2014/main" id="{015D69AA-2C9C-40FA-B803-C8FA33C7785E}"/>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658" name="24-text-9">
            <a:extLst xmlns:a="http://schemas.openxmlformats.org/drawingml/2006/main">
              <a:ext uri="{FF2B5EF4-FFF2-40B4-BE49-F238E27FC236}">
                <a16:creationId xmlns:a16="http://schemas.microsoft.com/office/drawing/2014/main" id="{1C38F028-E189-4BDB-8068-0452529A03EB}"/>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Own the harness.</a:t>
            </a:r>
          </a:p>
        </p:txBody>
      </p:sp>
      <p:sp>
        <p:nvSpPr>
          <p:cNvPr id="659" name="24-shape-10">
            <a:extLst xmlns:a="http://schemas.openxmlformats.org/drawingml/2006/main">
              <a:ext uri="{FF2B5EF4-FFF2-40B4-BE49-F238E27FC236}">
                <a16:creationId xmlns:a16="http://schemas.microsoft.com/office/drawing/2014/main" id="{104E36D9-010D-4190-A102-460542C4362E}"/>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660" name="24-text-11">
            <a:extLst xmlns:a="http://schemas.openxmlformats.org/drawingml/2006/main">
              <a:ext uri="{FF2B5EF4-FFF2-40B4-BE49-F238E27FC236}">
                <a16:creationId xmlns:a16="http://schemas.microsoft.com/office/drawing/2014/main" id="{3EAC7D52-E260-48A3-89F2-D1D2F7CF8D8A}"/>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661" name="24-text-12">
            <a:extLst xmlns:a="http://schemas.openxmlformats.org/drawingml/2006/main">
              <a:ext uri="{FF2B5EF4-FFF2-40B4-BE49-F238E27FC236}">
                <a16:creationId xmlns:a16="http://schemas.microsoft.com/office/drawing/2014/main" id="{A3ED9BA3-7B4E-4487-A40F-1D4A3262DEBA}"/>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as your evals earn it.</a:t>
            </a:r>
          </a:p>
        </p:txBody>
      </p:sp>
      <p:sp>
        <p:nvSpPr>
          <p:cNvPr id="662" name="narrative-number">
            <a:extLst xmlns:a="http://schemas.openxmlformats.org/drawingml/2006/main">
              <a:ext uri="{FF2B5EF4-FFF2-40B4-BE49-F238E27FC236}">
                <a16:creationId xmlns:a16="http://schemas.microsoft.com/office/drawing/2014/main" id="{DE1CAB27-0E9B-40CF-ADBF-C5B3B593649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1994332587"/>
      </p:ext>
    </p:extLst>
  </p:cSld>
</p:sld>
</file>

<file path=ppt/slides/slide6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63" name="!!area-name">
            <a:extLst xmlns:a="http://schemas.openxmlformats.org/drawingml/2006/main">
              <a:ext uri="{FF2B5EF4-FFF2-40B4-BE49-F238E27FC236}">
                <a16:creationId xmlns:a16="http://schemas.microsoft.com/office/drawing/2014/main" id="{4FB688DD-1494-424B-B368-3D8A8C20275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671" name="mini-map"/>
          <p:cNvPicPr>
            <a:picLocks xmlns:a="http://schemas.openxmlformats.org/drawingml/2006/main" noChangeAspect="1"/>
          </p:cNvPicPr>
          <p:nvPr/>
        </p:nvPicPr>
        <p:blipFill>
          <a:blip xmlns:r="http://schemas.openxmlformats.org/officeDocument/2006/relationships" xmlns:a="http://schemas.openxmlformats.org/drawingml/2006/main" r:embed="R5e673cc086f5440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665" name="slide-title">
            <a:extLst xmlns:a="http://schemas.openxmlformats.org/drawingml/2006/main">
              <a:ext uri="{FF2B5EF4-FFF2-40B4-BE49-F238E27FC236}">
                <a16:creationId xmlns:a16="http://schemas.microsoft.com/office/drawing/2014/main" id="{5BC6A287-E0B5-47E0-9C24-D77E5899D52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666" name="header-divider">
            <a:extLst xmlns:a="http://schemas.openxmlformats.org/drawingml/2006/main">
              <a:ext uri="{FF2B5EF4-FFF2-40B4-BE49-F238E27FC236}">
                <a16:creationId xmlns:a16="http://schemas.microsoft.com/office/drawing/2014/main" id="{CC3DF8D9-5D8C-45A7-A441-244B4A5B4FC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67" name="24-text-13">
            <a:extLst xmlns:a="http://schemas.openxmlformats.org/drawingml/2006/main">
              <a:ext uri="{FF2B5EF4-FFF2-40B4-BE49-F238E27FC236}">
                <a16:creationId xmlns:a16="http://schemas.microsoft.com/office/drawing/2014/main" id="{A67E4CA6-87B8-4415-ACF1-C77FFB81711E}"/>
              </a:ext>
            </a:extLst>
          </p:cNvPr>
          <p:cNvSpPr>
            <a:spLocks xmlns:a="http://schemas.openxmlformats.org/drawingml/2006/main"/>
          </p:cNvSpPr>
          <p:nvPr/>
        </p:nvSpPr>
        <p:spPr>
          <a:xfrm xmlns:a="http://schemas.openxmlformats.org/drawingml/2006/main">
            <a:off x="609600" y="30480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chat · reproduce manual work · background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delegate what you trust · build verification tools · continuous operation</a:t>
            </a:r>
          </a:p>
        </p:txBody>
      </p:sp>
      <p:sp>
        <p:nvSpPr>
          <p:cNvPr id="668" name="24-text-14">
            <a:extLst xmlns:a="http://schemas.openxmlformats.org/drawingml/2006/main">
              <a:ext uri="{FF2B5EF4-FFF2-40B4-BE49-F238E27FC236}">
                <a16:creationId xmlns:a16="http://schemas.microsoft.com/office/drawing/2014/main" id="{6286E7C9-4F57-4DB3-8E37-C02CBB56EE3A}"/>
              </a:ext>
            </a:extLst>
          </p:cNvPr>
          <p:cNvSpPr>
            <a:spLocks xmlns:a="http://schemas.openxmlformats.org/drawingml/2006/main"/>
          </p:cNvSpPr>
          <p:nvPr/>
        </p:nvSpPr>
        <p:spPr>
          <a:xfrm xmlns:a="http://schemas.openxmlformats.org/drawingml/2006/main">
            <a:off x="609600" y="5080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Mitchell Hashimoto, "My AI Adoption Journey," February 2026</a:t>
            </a:r>
          </a:p>
        </p:txBody>
      </p:sp>
      <p:sp>
        <p:nvSpPr>
          <p:cNvPr id="669" name="narrative-number">
            <a:extLst xmlns:a="http://schemas.openxmlformats.org/drawingml/2006/main">
              <a:ext uri="{FF2B5EF4-FFF2-40B4-BE49-F238E27FC236}">
                <a16:creationId xmlns:a16="http://schemas.microsoft.com/office/drawing/2014/main" id="{E3DF103D-859C-4B8B-BDDE-F9D4646B6AC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4058956009"/>
      </p:ext>
    </p:extLst>
  </p:cSld>
</p:sld>
</file>

<file path=ppt/slides/slide6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70" name="slide-title">
            <a:extLst xmlns:a="http://schemas.openxmlformats.org/drawingml/2006/main">
              <a:ext uri="{FF2B5EF4-FFF2-40B4-BE49-F238E27FC236}">
                <a16:creationId xmlns:a16="http://schemas.microsoft.com/office/drawing/2014/main" id="{25E2F092-7529-48CC-8CF0-C9A6BCA0A786}"/>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671" name="header-divider">
            <a:extLst xmlns:a="http://schemas.openxmlformats.org/drawingml/2006/main">
              <a:ext uri="{FF2B5EF4-FFF2-40B4-BE49-F238E27FC236}">
                <a16:creationId xmlns:a16="http://schemas.microsoft.com/office/drawing/2014/main" id="{0A28DEF3-42B6-42FF-8344-3D4E92E7B0F7}"/>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72" name="25-text-1">
            <a:extLst xmlns:a="http://schemas.openxmlformats.org/drawingml/2006/main">
              <a:ext uri="{FF2B5EF4-FFF2-40B4-BE49-F238E27FC236}">
                <a16:creationId xmlns:a16="http://schemas.microsoft.com/office/drawing/2014/main" id="{BB5DB17E-89FF-4951-987E-D8082567073F}"/>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673" name="25-text-2">
            <a:extLst xmlns:a="http://schemas.openxmlformats.org/drawingml/2006/main">
              <a:ext uri="{FF2B5EF4-FFF2-40B4-BE49-F238E27FC236}">
                <a16:creationId xmlns:a16="http://schemas.microsoft.com/office/drawing/2014/main" id="{B4A5ED0F-0667-43F2-B3D2-F71E2B2E4496}"/>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674" name="25-text-3">
            <a:extLst xmlns:a="http://schemas.openxmlformats.org/drawingml/2006/main">
              <a:ext uri="{FF2B5EF4-FFF2-40B4-BE49-F238E27FC236}">
                <a16:creationId xmlns:a16="http://schemas.microsoft.com/office/drawing/2014/main" id="{2DA6405B-EFB0-4C49-B5CE-F63BBDF6F8E8}"/>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675" name="25-text-4">
            <a:extLst xmlns:a="http://schemas.openxmlformats.org/drawingml/2006/main">
              <a:ext uri="{FF2B5EF4-FFF2-40B4-BE49-F238E27FC236}">
                <a16:creationId xmlns:a16="http://schemas.microsoft.com/office/drawing/2014/main" id="{C5F5FBA1-3B7A-42D9-8E2F-21DC07001E2D}"/>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676" name="25-text-5">
            <a:extLst xmlns:a="http://schemas.openxmlformats.org/drawingml/2006/main">
              <a:ext uri="{FF2B5EF4-FFF2-40B4-BE49-F238E27FC236}">
                <a16:creationId xmlns:a16="http://schemas.microsoft.com/office/drawing/2014/main" id="{8EFCC333-41E8-403F-869C-AD0CF9BA3953}"/>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677" name="25-text-6">
            <a:extLst xmlns:a="http://schemas.openxmlformats.org/drawingml/2006/main">
              <a:ext uri="{FF2B5EF4-FFF2-40B4-BE49-F238E27FC236}">
                <a16:creationId xmlns:a16="http://schemas.microsoft.com/office/drawing/2014/main" id="{42DF6F62-1B0E-4207-98CE-7165367196CE}"/>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678" name="25-text-7">
            <a:extLst xmlns:a="http://schemas.openxmlformats.org/drawingml/2006/main">
              <a:ext uri="{FF2B5EF4-FFF2-40B4-BE49-F238E27FC236}">
                <a16:creationId xmlns:a16="http://schemas.microsoft.com/office/drawing/2014/main" id="{45111580-70A4-4155-8878-417C1FB08744}"/>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679" name="25-text-8">
            <a:extLst xmlns:a="http://schemas.openxmlformats.org/drawingml/2006/main">
              <a:ext uri="{FF2B5EF4-FFF2-40B4-BE49-F238E27FC236}">
                <a16:creationId xmlns:a16="http://schemas.microsoft.com/office/drawing/2014/main" id="{434C26DD-6421-4D79-A806-C493E5806C1A}"/>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680" name="25-text-9">
            <a:extLst xmlns:a="http://schemas.openxmlformats.org/drawingml/2006/main">
              <a:ext uri="{FF2B5EF4-FFF2-40B4-BE49-F238E27FC236}">
                <a16:creationId xmlns:a16="http://schemas.microsoft.com/office/drawing/2014/main" id="{7B461DF8-2AC8-44FD-8D65-E652BDADF834}"/>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681" name="25-text-10">
            <a:extLst xmlns:a="http://schemas.openxmlformats.org/drawingml/2006/main">
              <a:ext uri="{FF2B5EF4-FFF2-40B4-BE49-F238E27FC236}">
                <a16:creationId xmlns:a16="http://schemas.microsoft.com/office/drawing/2014/main" id="{59171D81-6260-4C37-BAC3-569CA2A02964}"/>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682" name="25-text-11">
            <a:extLst xmlns:a="http://schemas.openxmlformats.org/drawingml/2006/main">
              <a:ext uri="{FF2B5EF4-FFF2-40B4-BE49-F238E27FC236}">
                <a16:creationId xmlns:a16="http://schemas.microsoft.com/office/drawing/2014/main" id="{BEEC2FB0-53BD-4DEC-970A-0E7CDB726E8A}"/>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683" name="25-text-12">
            <a:extLst xmlns:a="http://schemas.openxmlformats.org/drawingml/2006/main">
              <a:ext uri="{FF2B5EF4-FFF2-40B4-BE49-F238E27FC236}">
                <a16:creationId xmlns:a16="http://schemas.microsoft.com/office/drawing/2014/main" id="{6A3DCBE8-8A88-42A3-9E98-7F8ED821ECFC}"/>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684" name="narrative-number">
            <a:extLst xmlns:a="http://schemas.openxmlformats.org/drawingml/2006/main">
              <a:ext uri="{FF2B5EF4-FFF2-40B4-BE49-F238E27FC236}">
                <a16:creationId xmlns:a16="http://schemas.microsoft.com/office/drawing/2014/main" id="{8FF050CE-DE76-4F0F-B043-85CBE2690D1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3519163575"/>
      </p:ext>
    </p:extLst>
  </p:cSld>
</p:sld>
</file>

<file path=ppt/slides/slide6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85" name="26-text-1">
            <a:extLst xmlns:a="http://schemas.openxmlformats.org/drawingml/2006/main">
              <a:ext uri="{FF2B5EF4-FFF2-40B4-BE49-F238E27FC236}">
                <a16:creationId xmlns:a16="http://schemas.microsoft.com/office/drawing/2014/main" id="{F3336A9F-64C7-456A-B81D-2268E4F7C2C9}"/>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686" name="26-text-2">
            <a:extLst xmlns:a="http://schemas.openxmlformats.org/drawingml/2006/main">
              <a:ext uri="{FF2B5EF4-FFF2-40B4-BE49-F238E27FC236}">
                <a16:creationId xmlns:a16="http://schemas.microsoft.com/office/drawing/2014/main" id="{EB58FF05-C42C-4CF5-85B1-C0E7018D5AFD}"/>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687" name="26-text-3">
            <a:extLst xmlns:a="http://schemas.openxmlformats.org/drawingml/2006/main">
              <a:ext uri="{FF2B5EF4-FFF2-40B4-BE49-F238E27FC236}">
                <a16:creationId xmlns:a16="http://schemas.microsoft.com/office/drawing/2014/main" id="{0B62758E-0F28-4967-AAA3-398818A22956}"/>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688" name="narrative-number">
            <a:extLst xmlns:a="http://schemas.openxmlformats.org/drawingml/2006/main">
              <a:ext uri="{FF2B5EF4-FFF2-40B4-BE49-F238E27FC236}">
                <a16:creationId xmlns:a16="http://schemas.microsoft.com/office/drawing/2014/main" id="{A9D8C8FD-3041-4AD3-8B98-1D931B90EAA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192980810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2026-09-15T20:42:16.7460000Z</dcterms:created>
  <dcterms:modified xsi:type="dcterms:W3CDTF">2026-09-15T20:42:16.7460000Z</dcterms:modified>
</coreProperties>
</file>