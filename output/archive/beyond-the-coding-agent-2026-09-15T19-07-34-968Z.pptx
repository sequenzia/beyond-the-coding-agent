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016d30f55f4482" /><Relationship Type="http://schemas.openxmlformats.org/officeDocument/2006/relationships/extended-properties" Target="/docProps/app.xml" Id="Rc6303812281c4f09" /><Relationship Type="http://schemas.openxmlformats.org/officeDocument/2006/relationships/officeDocument" Target="/ppt/presentation.xml" Id="Rcf17cb10168d40a9"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f36adee578bb4d50"/>
    <p:sldMasterId xmlns:r="http://schemas.openxmlformats.org/officeDocument/2006/relationships" id="2147483650" r:id="Rabbd6a0bde1c444e"/>
  </p:sldMasterIdLst>
  <p:notesMasterIdLst>
    <p:notesMasterId xmlns:r="http://schemas.openxmlformats.org/officeDocument/2006/relationships" r:id="R43ec025c60804846"/>
  </p:notesMasterIdLst>
  <p:sldIdLst>
    <p:sldId xmlns:r="http://schemas.openxmlformats.org/officeDocument/2006/relationships" id="256" r:id="R709b83a68d514ab1"/>
    <p:sldId xmlns:r="http://schemas.openxmlformats.org/officeDocument/2006/relationships" id="257" r:id="Raa05aaf241644d21"/>
    <p:sldId xmlns:r="http://schemas.openxmlformats.org/officeDocument/2006/relationships" id="258" r:id="R93d9e4c6a95b4d36"/>
    <p:sldId xmlns:r="http://schemas.openxmlformats.org/officeDocument/2006/relationships" id="259" r:id="R445f3cc0f8e34f45"/>
    <p:sldId xmlns:r="http://schemas.openxmlformats.org/officeDocument/2006/relationships" id="260" r:id="R0b4e79a08d7f45d2"/>
    <p:sldId xmlns:r="http://schemas.openxmlformats.org/officeDocument/2006/relationships" id="261" r:id="R9437c8ef12554762"/>
    <p:sldId xmlns:r="http://schemas.openxmlformats.org/officeDocument/2006/relationships" id="262" r:id="Rd71b854e841849b1"/>
    <p:sldId xmlns:r="http://schemas.openxmlformats.org/officeDocument/2006/relationships" id="263" r:id="R1a33967696f84046"/>
    <p:sldId xmlns:r="http://schemas.openxmlformats.org/officeDocument/2006/relationships" id="264" r:id="R3baebbf08e094a03"/>
    <p:sldId xmlns:r="http://schemas.openxmlformats.org/officeDocument/2006/relationships" id="265" r:id="R0ce43cf2e41d4bf0"/>
    <p:sldId xmlns:r="http://schemas.openxmlformats.org/officeDocument/2006/relationships" id="266" r:id="R7bc3b373599241c7"/>
    <p:sldId xmlns:r="http://schemas.openxmlformats.org/officeDocument/2006/relationships" id="267" r:id="Rcff95cf72da84529"/>
    <p:sldId xmlns:r="http://schemas.openxmlformats.org/officeDocument/2006/relationships" id="268" r:id="Rbc8aed81eb8e4275"/>
    <p:sldId xmlns:r="http://schemas.openxmlformats.org/officeDocument/2006/relationships" id="269" r:id="Rae1fb32a8f834ac6"/>
    <p:sldId xmlns:r="http://schemas.openxmlformats.org/officeDocument/2006/relationships" id="270" r:id="R286b4bc652c748f5"/>
    <p:sldId xmlns:r="http://schemas.openxmlformats.org/officeDocument/2006/relationships" id="271" r:id="R77835a7c8195467a"/>
    <p:sldId xmlns:r="http://schemas.openxmlformats.org/officeDocument/2006/relationships" id="272" r:id="R0ab2e0f9ca304bc6"/>
    <p:sldId xmlns:r="http://schemas.openxmlformats.org/officeDocument/2006/relationships" id="273" r:id="R29583ec03fa04fbc"/>
    <p:sldId xmlns:r="http://schemas.openxmlformats.org/officeDocument/2006/relationships" id="274" r:id="R069c6c0e48d24628"/>
    <p:sldId xmlns:r="http://schemas.openxmlformats.org/officeDocument/2006/relationships" id="275" r:id="Ra846f0709a4c4853"/>
    <p:sldId xmlns:r="http://schemas.openxmlformats.org/officeDocument/2006/relationships" id="276" r:id="R04b7c8cdb935412c"/>
    <p:sldId xmlns:r="http://schemas.openxmlformats.org/officeDocument/2006/relationships" id="277" r:id="Ra846ece937d74d01"/>
    <p:sldId xmlns:r="http://schemas.openxmlformats.org/officeDocument/2006/relationships" id="278" r:id="R61dca2a82f244df5"/>
    <p:sldId xmlns:r="http://schemas.openxmlformats.org/officeDocument/2006/relationships" id="279" r:id="R6fcdb2a398814821"/>
    <p:sldId xmlns:r="http://schemas.openxmlformats.org/officeDocument/2006/relationships" id="280" r:id="Rd102f497952d49fa"/>
    <p:sldId xmlns:r="http://schemas.openxmlformats.org/officeDocument/2006/relationships" id="281" r:id="Ra7551cf1d6f941ae"/>
    <p:sldId xmlns:r="http://schemas.openxmlformats.org/officeDocument/2006/relationships" id="282" r:id="Rba8400e47859451a"/>
    <p:sldId xmlns:r="http://schemas.openxmlformats.org/officeDocument/2006/relationships" id="283" r:id="Rd3fa277a94ce4b36"/>
    <p:sldId xmlns:r="http://schemas.openxmlformats.org/officeDocument/2006/relationships" id="284" r:id="R27d3ccf56e434631"/>
    <p:sldId xmlns:r="http://schemas.openxmlformats.org/officeDocument/2006/relationships" id="285" r:id="Rf2beea1eda0f49ae"/>
    <p:sldId xmlns:r="http://schemas.openxmlformats.org/officeDocument/2006/relationships" id="286" r:id="R6efe4cfb7a3244c8"/>
    <p:sldId xmlns:r="http://schemas.openxmlformats.org/officeDocument/2006/relationships" id="287" r:id="R8391b8bc8d26456f"/>
    <p:sldId xmlns:r="http://schemas.openxmlformats.org/officeDocument/2006/relationships" id="288" r:id="Rc6bad03f46dc418e"/>
    <p:sldId xmlns:r="http://schemas.openxmlformats.org/officeDocument/2006/relationships" id="289" r:id="R6adb71984a4b4d91"/>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6c17ff027744f3" /><Relationship Type="http://schemas.openxmlformats.org/officeDocument/2006/relationships/slideMaster" Target="/ppt/slideMasters/slideMaster1.xml" Id="Rf36adee578bb4d50" /><Relationship Type="http://schemas.openxmlformats.org/officeDocument/2006/relationships/slideMaster" Target="/ppt/slideMasters/slideMaster2.xml" Id="Rabbd6a0bde1c444e" /><Relationship Type="http://schemas.openxmlformats.org/officeDocument/2006/relationships/notesMaster" Target="/ppt/notesMasters/notesMaster1.xml" Id="R43ec025c60804846" /><Relationship Type="http://schemas.openxmlformats.org/officeDocument/2006/relationships/presProps" Target="/ppt/presProps.xml" Id="Ref3e0d7e5c144c04" /><Relationship Type="http://schemas.openxmlformats.org/officeDocument/2006/relationships/tableStyles" Target="/ppt/tableStyles.xml" Id="R6d26334c95d743f6" /><Relationship Type="http://schemas.openxmlformats.org/officeDocument/2006/relationships/slide" Target="/ppt/slides/slide1.xml" Id="R709b83a68d514ab1" /><Relationship Type="http://schemas.openxmlformats.org/officeDocument/2006/relationships/slide" Target="/ppt/slides/slide2.xml" Id="Raa05aaf241644d21" /><Relationship Type="http://schemas.openxmlformats.org/officeDocument/2006/relationships/slide" Target="/ppt/slides/slide3.xml" Id="R93d9e4c6a95b4d36" /><Relationship Type="http://schemas.openxmlformats.org/officeDocument/2006/relationships/slide" Target="/ppt/slides/slide4.xml" Id="R445f3cc0f8e34f45" /><Relationship Type="http://schemas.openxmlformats.org/officeDocument/2006/relationships/slide" Target="/ppt/slides/slide5.xml" Id="R0b4e79a08d7f45d2" /><Relationship Type="http://schemas.openxmlformats.org/officeDocument/2006/relationships/slide" Target="/ppt/slides/slide6.xml" Id="R9437c8ef12554762" /><Relationship Type="http://schemas.openxmlformats.org/officeDocument/2006/relationships/slide" Target="/ppt/slides/slide7.xml" Id="Rd71b854e841849b1" /><Relationship Type="http://schemas.openxmlformats.org/officeDocument/2006/relationships/slide" Target="/ppt/slides/slide8.xml" Id="R1a33967696f84046" /><Relationship Type="http://schemas.openxmlformats.org/officeDocument/2006/relationships/slide" Target="/ppt/slides/slide9.xml" Id="R3baebbf08e094a03" /><Relationship Type="http://schemas.openxmlformats.org/officeDocument/2006/relationships/slide" Target="/ppt/slides/slide10.xml" Id="R0ce43cf2e41d4bf0" /><Relationship Type="http://schemas.openxmlformats.org/officeDocument/2006/relationships/slide" Target="/ppt/slides/slide11.xml" Id="R7bc3b373599241c7" /><Relationship Type="http://schemas.openxmlformats.org/officeDocument/2006/relationships/slide" Target="/ppt/slides/slide12.xml" Id="Rcff95cf72da84529" /><Relationship Type="http://schemas.openxmlformats.org/officeDocument/2006/relationships/slide" Target="/ppt/slides/slide13.xml" Id="Rbc8aed81eb8e4275" /><Relationship Type="http://schemas.openxmlformats.org/officeDocument/2006/relationships/slide" Target="/ppt/slides/slide14.xml" Id="Rae1fb32a8f834ac6" /><Relationship Type="http://schemas.openxmlformats.org/officeDocument/2006/relationships/slide" Target="/ppt/slides/slide15.xml" Id="R286b4bc652c748f5" /><Relationship Type="http://schemas.openxmlformats.org/officeDocument/2006/relationships/slide" Target="/ppt/slides/slide16.xml" Id="R77835a7c8195467a" /><Relationship Type="http://schemas.openxmlformats.org/officeDocument/2006/relationships/slide" Target="/ppt/slides/slide17.xml" Id="R0ab2e0f9ca304bc6" /><Relationship Type="http://schemas.openxmlformats.org/officeDocument/2006/relationships/slide" Target="/ppt/slides/slide18.xml" Id="R29583ec03fa04fbc" /><Relationship Type="http://schemas.openxmlformats.org/officeDocument/2006/relationships/slide" Target="/ppt/slides/slide19.xml" Id="R069c6c0e48d24628" /><Relationship Type="http://schemas.openxmlformats.org/officeDocument/2006/relationships/slide" Target="/ppt/slides/slide20.xml" Id="Ra846f0709a4c4853" /><Relationship Type="http://schemas.openxmlformats.org/officeDocument/2006/relationships/slide" Target="/ppt/slides/slide21.xml" Id="R04b7c8cdb935412c" /><Relationship Type="http://schemas.openxmlformats.org/officeDocument/2006/relationships/slide" Target="/ppt/slides/slide22.xml" Id="Ra846ece937d74d01" /><Relationship Type="http://schemas.openxmlformats.org/officeDocument/2006/relationships/slide" Target="/ppt/slides/slide23.xml" Id="R61dca2a82f244df5" /><Relationship Type="http://schemas.openxmlformats.org/officeDocument/2006/relationships/slide" Target="/ppt/slides/slide24.xml" Id="R6fcdb2a398814821" /><Relationship Type="http://schemas.openxmlformats.org/officeDocument/2006/relationships/slide" Target="/ppt/slides/slide25.xml" Id="Rd102f497952d49fa" /><Relationship Type="http://schemas.openxmlformats.org/officeDocument/2006/relationships/slide" Target="/ppt/slides/slide26.xml" Id="Ra7551cf1d6f941ae" /><Relationship Type="http://schemas.openxmlformats.org/officeDocument/2006/relationships/slide" Target="/ppt/slides/slide27.xml" Id="Rba8400e47859451a" /><Relationship Type="http://schemas.openxmlformats.org/officeDocument/2006/relationships/slide" Target="/ppt/slides/slide28.xml" Id="Rd3fa277a94ce4b36" /><Relationship Type="http://schemas.openxmlformats.org/officeDocument/2006/relationships/slide" Target="/ppt/slides/slide29.xml" Id="R27d3ccf56e434631" /><Relationship Type="http://schemas.openxmlformats.org/officeDocument/2006/relationships/slide" Target="/ppt/slides/slide30.xml" Id="Rf2beea1eda0f49ae" /><Relationship Type="http://schemas.openxmlformats.org/officeDocument/2006/relationships/slide" Target="/ppt/slides/slide31.xml" Id="R6efe4cfb7a3244c8" /><Relationship Type="http://schemas.openxmlformats.org/officeDocument/2006/relationships/slide" Target="/ppt/slides/slide32.xml" Id="R8391b8bc8d26456f" /><Relationship Type="http://schemas.openxmlformats.org/officeDocument/2006/relationships/slide" Target="/ppt/slides/slide33.xml" Id="Rc6bad03f46dc418e" /><Relationship Type="http://schemas.openxmlformats.org/officeDocument/2006/relationships/slide" Target="/ppt/slides/slide34.xml" Id="R6adb71984a4b4d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20f58d450da946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74b494790b43f2" /><Relationship Type="http://schemas.openxmlformats.org/officeDocument/2006/relationships/notesMaster" Target="/ppt/notesMasters/notesMaster1.xml" Id="Rfddc6d08f5d243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bb67d5b3444381" /><Relationship Type="http://schemas.openxmlformats.org/officeDocument/2006/relationships/notesMaster" Target="/ppt/notesMasters/notesMaster1.xml" Id="Ra51dbcad7f2041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5fff46f5964fab" /><Relationship Type="http://schemas.openxmlformats.org/officeDocument/2006/relationships/notesMaster" Target="/ppt/notesMasters/notesMaster1.xml" Id="Ra5a2b9a9e5d540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3496f824a94800" /><Relationship Type="http://schemas.openxmlformats.org/officeDocument/2006/relationships/notesMaster" Target="/ppt/notesMasters/notesMaster1.xml" Id="Rd194e2c3bfc941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3c1bff798b419b" /><Relationship Type="http://schemas.openxmlformats.org/officeDocument/2006/relationships/notesMaster" Target="/ppt/notesMasters/notesMaster1.xml" Id="Re154bd36636b48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9f823ccb9c44fd" /><Relationship Type="http://schemas.openxmlformats.org/officeDocument/2006/relationships/notesMaster" Target="/ppt/notesMasters/notesMaster1.xml" Id="Rce86487ee2c947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d0419ce283430c" /><Relationship Type="http://schemas.openxmlformats.org/officeDocument/2006/relationships/notesMaster" Target="/ppt/notesMasters/notesMaster1.xml" Id="Rf5b066bffe6944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970f6caed54e84" /><Relationship Type="http://schemas.openxmlformats.org/officeDocument/2006/relationships/notesMaster" Target="/ppt/notesMasters/notesMaster1.xml" Id="R97a65dfd705a4e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70d4bbb791456b" /><Relationship Type="http://schemas.openxmlformats.org/officeDocument/2006/relationships/notesMaster" Target="/ppt/notesMasters/notesMaster1.xml" Id="Rcd352c9cc30949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ba5fdea58b465d" /><Relationship Type="http://schemas.openxmlformats.org/officeDocument/2006/relationships/notesMaster" Target="/ppt/notesMasters/notesMaster1.xml" Id="Re00a6cb710e240d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365ab0983d64dcc" /><Relationship Type="http://schemas.openxmlformats.org/officeDocument/2006/relationships/notesMaster" Target="/ppt/notesMasters/notesMaster1.xml" Id="Ra18b10896a7a48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e4f8d148a9493e" /><Relationship Type="http://schemas.openxmlformats.org/officeDocument/2006/relationships/notesMaster" Target="/ppt/notesMasters/notesMaster1.xml" Id="R3d4e8e24e4ff40a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166b183744742a0" /><Relationship Type="http://schemas.openxmlformats.org/officeDocument/2006/relationships/notesMaster" Target="/ppt/notesMasters/notesMaster1.xml" Id="Reb13925fabc143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36e4eb589024255" /><Relationship Type="http://schemas.openxmlformats.org/officeDocument/2006/relationships/notesMaster" Target="/ppt/notesMasters/notesMaster1.xml" Id="R09c7c51adf8c4a0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ba33c555bc74e2e" /><Relationship Type="http://schemas.openxmlformats.org/officeDocument/2006/relationships/notesMaster" Target="/ppt/notesMasters/notesMaster1.xml" Id="R41735176bf42498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47af1199a5e42e0" /><Relationship Type="http://schemas.openxmlformats.org/officeDocument/2006/relationships/notesMaster" Target="/ppt/notesMasters/notesMaster1.xml" Id="R4c9e1657f42a492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166c5c8d864c8a" /><Relationship Type="http://schemas.openxmlformats.org/officeDocument/2006/relationships/notesMaster" Target="/ppt/notesMasters/notesMaster1.xml" Id="Rf6c408cf621f40b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2864de4993c413e" /><Relationship Type="http://schemas.openxmlformats.org/officeDocument/2006/relationships/notesMaster" Target="/ppt/notesMasters/notesMaster1.xml" Id="Rb6e75c19668b49d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457b8ba9f484224" /><Relationship Type="http://schemas.openxmlformats.org/officeDocument/2006/relationships/notesMaster" Target="/ppt/notesMasters/notesMaster1.xml" Id="R668cd482a4764da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176f3b14ddb4542" /><Relationship Type="http://schemas.openxmlformats.org/officeDocument/2006/relationships/notesMaster" Target="/ppt/notesMasters/notesMaster1.xml" Id="R668e05fedb774ee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6bd3befd5cb4eac" /><Relationship Type="http://schemas.openxmlformats.org/officeDocument/2006/relationships/notesMaster" Target="/ppt/notesMasters/notesMaster1.xml" Id="Raca2920f1946445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f62b7ac7fb043c7" /><Relationship Type="http://schemas.openxmlformats.org/officeDocument/2006/relationships/notesMaster" Target="/ppt/notesMasters/notesMaster1.xml" Id="Rc4cef55632ab441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4c7a6cef59a4606" /><Relationship Type="http://schemas.openxmlformats.org/officeDocument/2006/relationships/notesMaster" Target="/ppt/notesMasters/notesMaster1.xml" Id="R64c6a21b95dc42c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8a17e74e55747dd" /><Relationship Type="http://schemas.openxmlformats.org/officeDocument/2006/relationships/notesMaster" Target="/ppt/notesMasters/notesMaster1.xml" Id="R6da43b1050354dc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3db12b349e34d7a" /><Relationship Type="http://schemas.openxmlformats.org/officeDocument/2006/relationships/notesMaster" Target="/ppt/notesMasters/notesMaster1.xml" Id="Rfc3d68556587434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ca43d14f6174b6e" /><Relationship Type="http://schemas.openxmlformats.org/officeDocument/2006/relationships/notesMaster" Target="/ppt/notesMasters/notesMaster1.xml" Id="Rc37d407d17f8469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3224462be7c4e55" /><Relationship Type="http://schemas.openxmlformats.org/officeDocument/2006/relationships/notesMaster" Target="/ppt/notesMasters/notesMaster1.xml" Id="Rcf62dd995aa242e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9a6d83434df4302" /><Relationship Type="http://schemas.openxmlformats.org/officeDocument/2006/relationships/notesMaster" Target="/ppt/notesMasters/notesMaster1.xml" Id="R967a2ecf24fc41f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f6c7c78bb28482f" /><Relationship Type="http://schemas.openxmlformats.org/officeDocument/2006/relationships/notesMaster" Target="/ppt/notesMasters/notesMaster1.xml" Id="Rd6a23dce025d467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b34b69506dd4d03" /><Relationship Type="http://schemas.openxmlformats.org/officeDocument/2006/relationships/notesMaster" Target="/ppt/notesMasters/notesMaster1.xml" Id="R6a1c4b9ea03e466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26245805f684d96" /><Relationship Type="http://schemas.openxmlformats.org/officeDocument/2006/relationships/notesMaster" Target="/ppt/notesMasters/notesMaster1.xml" Id="Rc02d4548102c438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6866f6f735f482e" /><Relationship Type="http://schemas.openxmlformats.org/officeDocument/2006/relationships/notesMaster" Target="/ppt/notesMasters/notesMaster1.xml" Id="R44acfb7d6774428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f2b5056021142b6" /><Relationship Type="http://schemas.openxmlformats.org/officeDocument/2006/relationships/notesMaster" Target="/ppt/notesMasters/notesMaster1.xml" Id="R419ed8b29c92489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0d78968d964486e" /><Relationship Type="http://schemas.openxmlformats.org/officeDocument/2006/relationships/notesMaster" Target="/ppt/notesMasters/notesMaster1.xml" Id="R235b961d2b5547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01</a:t>
            </a:r>
          </a:p>
          <a:p xmlns:a="http://schemas.openxmlformats.org/drawingml/2006/main">
            <a:r>
              <a:t>Beat 1.1 Opener. Section 1. Time 1:00. Builds: 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Title state. A greeting, nothing more.</a:t>
            </a:r>
          </a:p>
          <a:p xmlns:a="http://schemas.openxmlformats.org/drawingml/2006/main">
            <a:r>
              <a:t/>
            </a:r>
          </a:p>
          <a:p xmlns:a="http://schemas.openxmlformats.org/drawingml/2006/main">
            <a:r>
              <a:t>In June 2025, Andrej Karpathy put the whole problem in one line.</a:t>
            </a:r>
          </a:p>
          <a:p xmlns:a="http://schemas.openxmlformats.org/drawingml/2006/main">
            <a:r>
              <a:t/>
            </a:r>
          </a:p>
          <a:p xmlns:a="http://schemas.openxmlformats.org/drawingml/2006/main">
            <a:r>
              <a:t>[0:10] Build 1.</a:t>
            </a:r>
          </a:p>
          <a:p xmlns:a="http://schemas.openxmlformats.org/drawingml/2006/main">
            <a:r>
              <a:t/>
            </a:r>
          </a:p>
          <a:p xmlns:a="http://schemas.openxmlformats.org/drawingml/2006/main">
            <a:r>
              <a:t>**"Demo is works.any(), product is works.all()."**</a:t>
            </a:r>
          </a:p>
          <a:p xmlns:a="http://schemas.openxmlformats.org/drawingml/2006/main">
            <a:r>
              <a:t/>
            </a:r>
          </a:p>
          <a:p xmlns:a="http://schemas.openxmlformats.org/drawingml/2006/main">
            <a:r>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t>[0:25] **You have probably seen your coding agent do something impressive this week.** That experience is the starting point for this talk.</a:t>
            </a:r>
          </a:p>
          <a:p xmlns:a="http://schemas.openxmlformats.org/drawingml/2006/main">
            <a:r>
              <a:t/>
            </a:r>
          </a:p>
          <a:p xmlns:a="http://schemas.openxmlformats.org/drawingml/2006/main">
            <a:r>
              <a:t>[0:40] **The distance between those two calls is what this talk is about.** It is the distance between using AI and engineering it.</a:t>
            </a:r>
          </a:p>
          <a:p xmlns:a="http://schemas.openxmlformats.org/drawingml/2006/main">
            <a:r>
              <a:t/>
            </a:r>
          </a:p>
          <a:p xmlns:a="http://schemas.openxmlformats.org/drawingml/2006/main">
            <a:r>
              <a:t>[1:00] Advance to slide 2.</a:t>
            </a:r>
          </a:p>
          <a:p xmlns:a="http://schemas.openxmlformats.org/drawingml/2006/main">
            <a:r>
              <a:t/>
            </a:r>
          </a:p>
          <a:p xmlns:a="http://schemas.openxmlformats.org/drawingml/2006/main">
            <a:r>
              <a:t>Cut first: the greeting and the final setup sentence. Never cut the intended-use and safe-failure interpretation of the metaphor.</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Karpathy, "Software Is Changing (Again)," YC AI Startup School, June 17, 2025. Research §2 in `research/section-1.md`. Marked `[primary]`, quoted verbatim from the Latent Space transcript. No `[verify]` flag.</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Conference name and date on the title state, if wanted.</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02</a:t>
            </a:r>
          </a:p>
          <a:p xmlns:a="http://schemas.openxmlformats.org/drawingml/2006/main">
            <a:r>
              <a:t>Beat 1.2 Who is talking. Section 1. Time 0:30.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Three sentences, spoken, not read.</a:t>
            </a:r>
          </a:p>
          <a:p xmlns:a="http://schemas.openxmlformats.org/drawingml/2006/main">
            <a:r>
              <a:t/>
            </a:r>
          </a:p>
          <a:p xmlns:a="http://schemas.openxmlformats.org/drawingml/2006/main">
            <a:r>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t>[0:30] Advance to slide 3.</a:t>
            </a:r>
          </a:p>
          <a:p xmlns:a="http://schemas.openxmlformats.org/drawingml/2006/main">
            <a:r>
              <a:t/>
            </a:r>
          </a:p>
          <a:p xmlns:a="http://schemas.openxmlformats.org/drawingml/2006/main">
            <a:r>
              <a:t>Backup, not spoken: eight to ten concurrent AI and ML efforts; an 85% reduction in production ML deployment time. Both are on the public site if anyone asks what "production" means.</a:t>
            </a:r>
          </a:p>
          <a:p xmlns:a="http://schemas.openxmlformats.org/drawingml/2006/main">
            <a:r>
              <a:t/>
            </a:r>
          </a:p>
          <a:p xmlns:a="http://schemas.openxmlformats.org/drawingml/2006/main">
            <a:r>
              <a:t>**[your story #1, optional].** The moment a demo you built turned out not to be the product. It must show one concrete failure where a working path was not a working system. Thirty seconds.</a:t>
            </a:r>
          </a:p>
          <a:p xmlns:a="http://schemas.openxmlformats.org/drawingml/2006/main">
            <a:r>
              <a:t/>
            </a:r>
          </a:p>
          <a:p xmlns:a="http://schemas.openxmlformats.org/drawingml/2006/main">
            <a:r>
              <a:t>Timing note: this beat is budgeted at 0:30 for the bio alone. Telling the story here needs another 0:30 from somewhere in Section 1, and no Section 1 beat has that much backup material. The story fits inside 2.5 as the evals example, either as story #2 or in place of it. Recommendation: hold it for slide 16 unless the bio can be delivered in ten seconds.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sequenzia.com, read September 14, 2026: current role since 2022; "8–10 concurrent AI/ML efforts"; "500+ engineers" reached through agentic engineering enablement; "~85% deployment-time reduction." The three lines are the presenter's own claims about the presenter and need no external citation, but they must be true as spoken.</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Story #1: here, on slide 16, or dropped.</a:t>
            </a:r>
          </a:p>
          <a:p xmlns:a="http://schemas.openxmlformats.org/drawingml/2006/main">
            <a:r>
              <a:t>- Larger photo if the template wants it above 320 pixels.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03</a:t>
            </a:r>
          </a:p>
          <a:p xmlns:a="http://schemas.openxmlformats.org/drawingml/2006/main">
            <a:r>
              <a:t>Beat 1.3 The thesis. Section 1. Time 0:45.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**Using AI makes you an AI-enabled software engineer. Engineering systems that depend on AI makes you an AI engineer.**</a:t>
            </a:r>
          </a:p>
          <a:p xmlns:a="http://schemas.openxmlformats.org/drawingml/2006/main">
            <a:r>
              <a:t/>
            </a:r>
          </a:p>
          <a:p xmlns:a="http://schemas.openxmlformats.org/drawingml/2006/main">
            <a:r>
              <a:t>[0:08] **This talk focuses on building products around foundation models.** Your software engineering skills are the foundation. The additional responsibility is measuring and controlling model-dependent behavior.</a:t>
            </a:r>
          </a:p>
          <a:p xmlns:a="http://schemas.openxmlformats.org/drawingml/2006/main">
            <a:r>
              <a:t/>
            </a:r>
          </a:p>
          <a:p xmlns:a="http://schemas.openxmlformats.org/drawingml/2006/main">
            <a:r>
              <a:t>[0:22] 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t>[0:34] **Owner means the engineer or team accountable for the delivered product's behavior and operating limits.**</a:t>
            </a:r>
          </a:p>
          <a:p xmlns:a="http://schemas.openxmlformats.org/drawingml/2006/main">
            <a:r>
              <a:t/>
            </a:r>
          </a:p>
          <a:p xmlns:a="http://schemas.openxmlformats.org/drawingml/2006/main">
            <a:r>
              <a:t>[0:45] Advance to slide 4.</a:t>
            </a:r>
          </a:p>
          <a:p xmlns:a="http://schemas.openxmlformats.org/drawingml/2006/main">
            <a:r>
              <a:t/>
            </a:r>
          </a:p>
          <a:p xmlns:a="http://schemas.openxmlformats.org/drawingml/2006/main">
            <a:r>
              <a:t>Cut first: the adaptation and fine-tuning example. Never cut the thesis, the overlap qualification, or the owner definition.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CMU SEI, AI engineering definition; Huyen, AI Engineering, 2025. Research §1 in `research/section-1.md`. Application engineering includes adaptation. Roles overlap.</a:t>
            </a:r>
          </a:p>
          <a:p xmlns:a="http://schemas.openxmlformats.org/drawingml/2006/main">
            <a:r>
              <a:t>- swyx, June 2023, remains background. The essay does not date the invention of the title.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04</a:t>
            </a:r>
          </a:p>
          <a:p xmlns:a="http://schemas.openxmlformats.org/drawingml/2006/main">
            <a:r>
              <a:t>Beat 1.4 Using AI vs engineering AI, and why it is a different discipline. Section 1. Time 1:45.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**This comparison is about where the model-dependent behavior lives.**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t>[0:18] **You design the checks, approval steps, and failure handling.** Human review can be part of either system. Your team owns the product's behavior and operating limits.</a:t>
            </a:r>
          </a:p>
          <a:p xmlns:a="http://schemas.openxmlformats.org/drawingml/2006/main">
            <a:r>
              <a:t/>
            </a:r>
          </a:p>
          <a:p xmlns:a="http://schemas.openxmlformats.org/drawingml/2006/main">
            <a:r>
              <a:t>[0:34] Separately, Anthropic distinguishes workflows on predefined code paths from agents with model-selected actions. **An agent adds model-selected actions to control flow. Ordinary code can still enforce permissions, limits, and other guarantees.** That is why we will examine the system around the model.</a:t>
            </a:r>
          </a:p>
          <a:p xmlns:a="http://schemas.openxmlformats.org/drawingml/2006/main">
            <a:r>
              <a:t/>
            </a:r>
          </a:p>
          <a:p xmlns:a="http://schemas.openxmlformats.org/drawingml/2006/main">
            <a:r>
              <a:t>[0:58] 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t>[1:12] Shankar and colleagues studied how grading outputs helps people refine evaluation criteria. **Watching failures can expose missing requirements.** Some checks are known from the start; others improve as we learn.</a:t>
            </a:r>
          </a:p>
          <a:p xmlns:a="http://schemas.openxmlformats.org/drawingml/2006/main">
            <a:r>
              <a:t/>
            </a:r>
          </a:p>
          <a:p xmlns:a="http://schemas.openxmlformats.org/drawingml/2006/main">
            <a:r>
              <a:t>[1:30] Build 2. **A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t>[1:40] **Using AI changes how you build. Engineering AI changes what you are responsible for.**</a:t>
            </a:r>
          </a:p>
          <a:p xmlns:a="http://schemas.openxmlformats.org/drawingml/2006/main">
            <a:r>
              <a:t/>
            </a:r>
          </a:p>
          <a:p xmlns:a="http://schemas.openxmlformats.org/drawingml/2006/main">
            <a:r>
              <a:t>[1:45] Advance to slide 5.</a:t>
            </a:r>
          </a:p>
          <a:p xmlns:a="http://schemas.openxmlformats.org/drawingml/2006/main">
            <a:r>
              <a:t/>
            </a:r>
          </a:p>
          <a:p xmlns:a="http://schemas.openxmlformats.org/drawingml/2006/main">
            <a:r>
              <a:t>Cut first: the row walk, then the Fowler comparison. Never cut the model-selected-actions distinction, enforceable limits, or commitments.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"Building effective agents," December 2024. Workflow and agent definitions quoted verbatim. Research §5 in `research/section-1.md`. `[primary]`.</a:t>
            </a:r>
          </a:p>
          <a:p xmlns:a="http://schemas.openxmlformats.org/drawingml/2006/main">
            <a:r>
              <a:t>- Fowler, "Some thoughts on LLMs and Software Development," August 2025. Paraphrased. His text reads "a world on non-determinism," so quote it as written or paraphrase, never "of." Research §2. `[primary]`.</a:t>
            </a:r>
          </a:p>
          <a:p xmlns:a="http://schemas.openxmlformats.org/drawingml/2006/main">
            <a:r>
              <a:t>- Shankar, Zamfirescu-Pereira, Hartmann, Parameswaran, Arawjo, "Who Validates the Validators?" UIST 2024. "Grading outputs helps users define criteria" is from the abstract. Research §3. `[primary]`.</a:t>
            </a:r>
          </a:p>
          <a:p xmlns:a="http://schemas.openxmlformats.org/drawingml/2006/main">
            <a:r>
              <a:t>- The three commitments restate the published session description in the README.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05</a:t>
            </a:r>
          </a:p>
          <a:p xmlns:a="http://schemas.openxmlformats.org/drawingml/2006/main">
            <a:r>
              <a:t>Beat 1.5 What you will leave with, and the agenda. Section 1. Time 0:45.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Three things to leave with. **A conceptual map of the discipline. An honest sense of how much there is. And a roadmap for making the transition.**</a:t>
            </a:r>
          </a:p>
          <a:p xmlns:a="http://schemas.openxmlformats.org/drawingml/2006/main">
            <a:r>
              <a:t/>
            </a:r>
          </a:p>
          <a:p xmlns:a="http://schemas.openxmlformats.org/drawingml/2006/main">
            <a:r>
              <a:t>[0:10] The agenda. The map, two minutes. Six areas, twenty-three minutes: models, context and knowledge, tools, orchestration, verification and evals, and operating it. The transition, five minutes. Then fifteen minutes for your questions.</a:t>
            </a:r>
          </a:p>
          <a:p xmlns:a="http://schemas.openxmlformats.org/drawingml/2006/main">
            <a:r>
              <a:t/>
            </a:r>
          </a:p>
          <a:p xmlns:a="http://schemas.openxmlformats.org/drawingml/2006/main">
            <a:r>
              <a:t>[0:26] **For each area: When you are the user, including what someone engineered, then When you are the owner.**</a:t>
            </a:r>
          </a:p>
          <a:p xmlns:a="http://schemas.openxmlformats.org/drawingml/2006/main">
            <a:r>
              <a:t/>
            </a:r>
          </a:p>
          <a:p xmlns:a="http://schemas.openxmlformats.org/drawingml/2006/main">
            <a:r>
              <a:t>[0:45] Advance to slide 6.</a:t>
            </a:r>
          </a:p>
          <a:p xmlns:a="http://schemas.openxmlformats.org/drawingml/2006/main">
            <a:r>
              <a:t/>
            </a:r>
          </a:p>
          <a:p xmlns:a="http://schemas.openxmlformats.org/drawingml/2006/main">
            <a:r>
              <a:t>Cuttable if short on time: reading the minutes aloud. Say "the map, six areas, the transition, then your questions" and let the slide carry the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session description in the README. The three takeaways paraphrase its closing sentence.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06</a:t>
            </a:r>
          </a:p>
          <a:p xmlns:a="http://schemas.openxmlformats.org/drawingml/2006/main">
            <a:r>
              <a:t>Beat 1.6 Transition. Section 1. Time 0:15.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Let the section title sit for a moment.</a:t>
            </a:r>
          </a:p>
          <a:p xmlns:a="http://schemas.openxmlformats.org/drawingml/2006/main">
            <a:r>
              <a:t/>
            </a:r>
          </a:p>
          <a:p xmlns:a="http://schemas.openxmlformats.org/drawingml/2006/main">
            <a:r>
              <a:t>**Let's open up the tool you used this morning.**</a:t>
            </a:r>
          </a:p>
          <a:p xmlns:a="http://schemas.openxmlformats.org/drawingml/2006/main">
            <a:r>
              <a:t/>
            </a:r>
          </a:p>
          <a:p xmlns:a="http://schemas.openxmlformats.org/drawingml/2006/main">
            <a:r>
              <a:t>[0:15] Advance to slide 7.</a:t>
            </a:r>
          </a:p>
          <a:p xmlns:a="http://schemas.openxmlformats.org/drawingml/2006/main">
            <a:r>
              <a:t/>
            </a:r>
          </a:p>
          <a:p xmlns:a="http://schemas.openxmlformats.org/drawingml/2006/main">
            <a:r>
              <a:t>The fifteen seconds is the breath between the setup and the body. If running long, shorten the pause. Never cut the bridge line.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None.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07</a:t>
            </a:r>
          </a:p>
          <a:p xmlns:a="http://schemas.openxmlformats.org/drawingml/2006/main">
            <a:r>
              <a:t>Beat 2.0 The map. Section 2. Time 2:00. Builds: 4 highlights, optional.</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Here is the whole discipline on one slide. We will walk it from the inside out.</a:t>
            </a:r>
          </a:p>
          <a:p xmlns:a="http://schemas.openxmlformats.org/drawingml/2006/main">
            <a:r>
              <a:t/>
            </a:r>
          </a:p>
          <a:p xmlns:a="http://schemas.openxmlformats.org/drawingml/2006/main">
            <a:r>
              <a:t>[0:08] Build 1, the model. At the center, an agent is a model plus a harness. The line that stuck this spring: **"If you're not the model, you're the harness."**</a:t>
            </a:r>
          </a:p>
          <a:p xmlns:a="http://schemas.openxmlformats.org/drawingml/2006/main">
            <a:r>
              <a:t/>
            </a:r>
          </a:p>
          <a:p xmlns:a="http://schemas.openxmlformats.org/drawingml/2006/main">
            <a:r>
              <a:t>[0:20] Build 2, the harness. What is a harness? OpenAI's August 2026 definition. An agent "needs a way to understand a task, maintain context over time, inspect relevant information, call tools, expose progress, handle failures, request human approval when necessary, and return a useful result. That surrounding execution system is the harness."</a:t>
            </a:r>
          </a:p>
          <a:p xmlns:a="http://schemas.openxmlformats.org/drawingml/2006/main">
            <a:r>
              <a:t/>
            </a:r>
          </a:p>
          <a:p xmlns:a="http://schemas.openxmlformats.org/drawingml/2006/main">
            <a:r>
              <a:t>[0:45] **Four layers.** The model, which decides what to do. The harness around it: instructions, context and memory, tools, orchestration, guardrails, verification.</a:t>
            </a:r>
          </a:p>
          <a:p xmlns:a="http://schemas.openxmlformats.org/drawingml/2006/main">
            <a:r>
              <a:t/>
            </a:r>
          </a:p>
          <a:p xmlns:a="http://schemas.openxmlformats.org/drawingml/2006/main">
            <a:r>
              <a:t>[1:00] Build 3, per-run services. The platform services every run draws on: identity, security, data and knowledge.</a:t>
            </a:r>
          </a:p>
          <a:p xmlns:a="http://schemas.openxmlformats.org/drawingml/2006/main">
            <a:r>
              <a:t/>
            </a:r>
          </a:p>
          <a:p xmlns:a="http://schemas.openxmlformats.org/drawingml/2006/main">
            <a:r>
              <a:t>[1:08] Build 4, across runs. And the services that let you learn from and control many runs: observability, evaluations, governance.</a:t>
            </a:r>
          </a:p>
          <a:p xmlns:a="http://schemas.openxmlformats.org/drawingml/2006/main">
            <a:r>
              <a:t/>
            </a:r>
          </a:p>
          <a:p xmlns:a="http://schemas.openxmlformats.org/drawingml/2006/main">
            <a:r>
              <a:t>[1:16] Full brightness. "Harness engineering" is probably the phrase you have heard most since spring. It maps onto this picture. **Every box on it exists inside the coding agent you used this morning. Someone built each one. We are going to take six of them apart.**</a:t>
            </a:r>
          </a:p>
          <a:p xmlns:a="http://schemas.openxmlformats.org/drawingml/2006/main">
            <a:r>
              <a:t/>
            </a:r>
          </a:p>
          <a:p xmlns:a="http://schemas.openxmlformats.org/drawingml/2006/main">
            <a:r>
              <a:t>[1:35] For each: When you are the user, what someone engineered, and what changes when you are the owner.</a:t>
            </a:r>
          </a:p>
          <a:p xmlns:a="http://schemas.openxmlformats.org/drawingml/2006/main">
            <a:r>
              <a:t/>
            </a:r>
          </a:p>
          <a:p xmlns:a="http://schemas.openxmlformats.org/drawingml/2006/main">
            <a:r>
              <a:t>[1:45] **Agent equals model plus harness. Everything that is not the model is what you engineer.**</a:t>
            </a:r>
          </a:p>
          <a:p xmlns:a="http://schemas.openxmlformats.org/drawingml/2006/main">
            <a:r>
              <a:t/>
            </a:r>
          </a:p>
          <a:p xmlns:a="http://schemas.openxmlformats.org/drawingml/2006/main">
            <a:r>
              <a:t>[2:00] Advance to slide 8.</a:t>
            </a:r>
          </a:p>
          <a:p xmlns:a="http://schemas.openxmlformats.org/drawingml/2006/main">
            <a:r>
              <a:t/>
            </a:r>
          </a:p>
          <a:p xmlns:a="http://schemas.openxmlformats.org/drawingml/2006/main">
            <a:r>
              <a:t>Optional, if there is slack: after build 4, point at the top and bottom of the run box. A goal comes in from a user, a trigger, or a schedule. The agent runs until a stopping condition is met. Who writes the stopping condition? You do. That is slide 15.</a:t>
            </a:r>
          </a:p>
          <a:p xmlns:a="http://schemas.openxmlformats.org/drawingml/2006/main">
            <a:r>
              <a:t/>
            </a:r>
          </a:p>
          <a:p xmlns:a="http://schemas.openxmlformats.org/drawingml/2006/main">
            <a:r>
              <a:t>Cuttable if short on time: none of the bold. The OpenAI definition can be shortened to its last sentence, "That surrounding execution system is the harness," with the verb list carried by the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Osmani, "Agent Harness Engineering," April 2026, quoting Viv Trivedy: "Agent = Model + Harness. If you're not the model, you're the harness." Research §0 in `research/section-2.md`. `[primary]`. The line is Trivedy's; Osmani spread it. If asked who said it, say so.</a:t>
            </a:r>
          </a:p>
          <a:p xmlns:a="http://schemas.openxmlformats.org/drawingml/2006/main">
            <a:r>
              <a:t>- OpenAI, "Codex as a platform," August 2026. Definition quoted verbatim. Research §0. `[primary]`.</a:t>
            </a:r>
          </a:p>
          <a:p xmlns:a="http://schemas.openxmlformats.org/drawingml/2006/main">
            <a:r>
              <a:t>- "Since spring" for harness engineering: OpenAI's February 2026 post, Osmani in April, OpenAI's August definition. Research §7.</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Whether the deck tool can do the four highlight builds on this image. If it imports SVG, each region can be dimmed by adjusting opacity on its group.</a:t>
            </a:r>
          </a:p>
          <a:p xmlns:a="http://schemas.openxmlformats.org/drawingml/2006/main">
            <a:r>
              <a:t>- Review the landscape SVG's colors and type against the deck template once one is chosen.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https://blog.modelcontextprotocol.io/posts/2026-07-28/</a:t>
            </a:r>
          </a:p>
          <a:p xmlns:a="http://schemas.openxmlformats.org/drawingml/2006/main">
            <a:r>
              <a:t>https://en.wikipedia.org/wiki/OpenClaw</a:t>
            </a:r>
          </a:p>
          <a:p xmlns:a="http://schemas.openxmlformats.org/drawingml/2006/main">
            <a:r>
              <a:t>https://engineering.zalando.com/posts/2026/08/agentic-engineering-at-zalando-a-snapshot.html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08</a:t>
            </a:r>
          </a:p>
          <a:p xmlns:a="http://schemas.openxmlformats.org/drawingml/2006/main">
            <a:r>
              <a:t>Beat 2.1 Models, first half. Section 2. Time 1:00 of the beat's 3:30; slide 9 takes 2:30.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model picker exposes a choice. Devin Desktop shows reasoning effort; Codex's `/model` can set it too. **Reasoning effort is a cost and latency dial.** Codex can configure a different effort for planning and a different model for subagents.</a:t>
            </a:r>
          </a:p>
          <a:p xmlns:a="http://schemas.openxmlformats.org/drawingml/2006/main">
            <a:r>
              <a:t/>
            </a:r>
          </a:p>
          <a:p xmlns:a="http://schemas.openxmlformats.org/drawingml/2006/main">
            <a:r>
              <a:t>[0:30] Build 2. **The provider manages defaults, model-specific tuning, failover, price changes, and retirement handling.** These are responsibilities behind the picker.</a:t>
            </a:r>
          </a:p>
          <a:p xmlns:a="http://schemas.openxmlformats.org/drawingml/2006/main">
            <a:r>
              <a:t/>
            </a:r>
          </a:p>
          <a:p xmlns:a="http://schemas.openxmlformats.org/drawingml/2006/main">
            <a:r>
              <a:t>[0:46] Callout. **Model retirement creates migration work.** A retirement record does not tell us how every coding-tool provider migrated every user or whether a change was silent.</a:t>
            </a:r>
          </a:p>
          <a:p xmlns:a="http://schemas.openxmlformats.org/drawingml/2006/main">
            <a:r>
              <a:t/>
            </a:r>
          </a:p>
          <a:p xmlns:a="http://schemas.openxmlformats.org/drawingml/2006/main">
            <a:r>
              <a:t>[1:00] Advance to the owner slide.</a:t>
            </a:r>
          </a:p>
          <a:p xmlns:a="http://schemas.openxmlformats.org/drawingml/2006/main">
            <a:r>
              <a:t/>
            </a:r>
          </a:p>
          <a:p xmlns:a="http://schemas.openxmlformats.org/drawingml/2006/main">
            <a:r>
              <a:t>Cut first: the config example. Never cut the provider responsibilities or the lifecycle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docs, checked September 14, 2026. Research §1 in `research/section-2.md`. The Desktop slider is the presenter's observation.</a:t>
            </a:r>
          </a:p>
          <a:p xmlns:a="http://schemas.openxmlformats.org/drawingml/2006/main">
            <a:r>
              <a:t>- Anthropic and OpenAI lifecycle pages. Research §1. Vendor records support lifecycle responsibilities, not universal silent migrations.</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 Capture and insert screenshots in a later pass.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08b</a:t>
            </a:r>
          </a:p>
          <a:p xmlns:a="http://schemas.openxmlformats.org/drawingml/2006/main">
            <a:r>
              <a:t>Beat 2.1 Models, first half. Section 2. Time 1:00 of the beat's 3:30; slide 9 takes 2:30.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model picker exposes a choice. Devin Desktop shows reasoning effort; Codex's `/model` can set it too. **Reasoning effort is a cost and latency dial.** Codex can configure a different effort for planning and a different model for subagents.</a:t>
            </a:r>
          </a:p>
          <a:p xmlns:a="http://schemas.openxmlformats.org/drawingml/2006/main">
            <a:r>
              <a:t/>
            </a:r>
          </a:p>
          <a:p xmlns:a="http://schemas.openxmlformats.org/drawingml/2006/main">
            <a:r>
              <a:t>[0:30] Build 2. **The provider manages defaults, model-specific tuning, failover, price changes, and retirement handling.** These are responsibilities behind the picker.</a:t>
            </a:r>
          </a:p>
          <a:p xmlns:a="http://schemas.openxmlformats.org/drawingml/2006/main">
            <a:r>
              <a:t/>
            </a:r>
          </a:p>
          <a:p xmlns:a="http://schemas.openxmlformats.org/drawingml/2006/main">
            <a:r>
              <a:t>[0:46] Callout. **Model retirement creates migration work.** A retirement record does not tell us how every coding-tool provider migrated every user or whether a change was silent.</a:t>
            </a:r>
          </a:p>
          <a:p xmlns:a="http://schemas.openxmlformats.org/drawingml/2006/main">
            <a:r>
              <a:t/>
            </a:r>
          </a:p>
          <a:p xmlns:a="http://schemas.openxmlformats.org/drawingml/2006/main">
            <a:r>
              <a:t>[1:00] Advance to the owner slide.</a:t>
            </a:r>
          </a:p>
          <a:p xmlns:a="http://schemas.openxmlformats.org/drawingml/2006/main">
            <a:r>
              <a:t/>
            </a:r>
          </a:p>
          <a:p xmlns:a="http://schemas.openxmlformats.org/drawingml/2006/main">
            <a:r>
              <a:t>Cut first: the config example. Never cut the provider responsibilities or the lifecycle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docs, checked September 14, 2026. Research §1 in `research/section-2.md`. The Desktop slider is the presenter's observation.</a:t>
            </a:r>
          </a:p>
          <a:p xmlns:a="http://schemas.openxmlformats.org/drawingml/2006/main">
            <a:r>
              <a:t>- Anthropic and OpenAI lifecycle pages. Research §1. Vendor records support lifecycle responsibilities, not universal silent migrations.</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 Capture and insert screenshots in a later pass.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09</a:t>
            </a:r>
          </a:p>
          <a:p xmlns:a="http://schemas.openxmlformats.org/drawingml/2006/main">
            <a:r>
              <a:t>Beat 2.1 Models, second half. Section 2. Time 2:30 of the beat's 3:30; slide 8 took 1:00.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When you are the owner, the model is a component you select, measure, and replace.</a:t>
            </a:r>
          </a:p>
          <a:p xmlns:a="http://schemas.openxmlformats.org/drawingml/2006/main">
            <a:r>
              <a:t/>
            </a:r>
          </a:p>
          <a:p xmlns:a="http://schemas.openxmlformats.org/drawingml/2006/main">
            <a:r>
              <a:t>[0:05] Build 1. Select for capability on your tasks, cost per completed task, p95 latency, context, tool use, and data residency.</a:t>
            </a:r>
          </a:p>
          <a:p xmlns:a="http://schemas.openxmlformats.org/drawingml/2006/main">
            <a:r>
              <a:t/>
            </a:r>
          </a:p>
          <a:p xmlns:a="http://schemas.openxmlformats.org/drawingml/2006/main">
            <a:r>
              <a:t>[0:23] Build 2. **Measure your product on representative cases under its operating conditions.** Public benchmarks use a different population and harness.</a:t>
            </a:r>
          </a:p>
          <a:p xmlns:a="http://schemas.openxmlformats.org/drawingml/2006/main">
            <a:r>
              <a:t/>
            </a:r>
          </a:p>
          <a:p xmlns:a="http://schemas.openxmlformats.org/drawingml/2006/main">
            <a:r>
              <a:t>[0:40] Build 3. **Pinned version: controlled migration and lifecycle management. Moving alias: automatic updates and regression monitoring.** A snapshot controls one source of variation. Prompts, tools, retrieval, and the environment also affect behavior. On prime/composite classification with step-by-step prompting, the March and June 2023 GPT-4 versions scored 84% and 51%. Changed instruction following partly explains the result. This is not overall quality or a pinned snapshot changing internally.</a:t>
            </a:r>
          </a:p>
          <a:p xmlns:a="http://schemas.openxmlformats.org/drawingml/2006/main">
            <a:r>
              <a:t/>
            </a:r>
          </a:p>
          <a:p xmlns:a="http://schemas.openxmlformats.org/drawingml/2006/main">
            <a:r>
              <a:t>[1:14] Build 4. LangChain compared three configurations across 145 tasks. **Read accuracy and cost together.** Frontier-only scored 86%, routed 80%, and small-only 77.7%. The router selected frontier for 7% of agent calls, excluding judge calls. Its 2.3-point gain over small-only was below observed variation of about 2.7 points. Selection ranged from 4.1% to 9.1%. The cost-per-completed-task drop is about 72%; the article's 74% uses total cost. **Which configuration meets your product's quality requirement?**</a:t>
            </a:r>
          </a:p>
          <a:p xmlns:a="http://schemas.openxmlformats.org/drawingml/2006/main">
            <a:r>
              <a:t/>
            </a:r>
          </a:p>
          <a:p xmlns:a="http://schemas.openxmlformats.org/drawingml/2006/main">
            <a:r>
              <a:t>[2:04] Build 5. **A hardcoded model ID with no eval suite behind it.** That leaves you choosing a replacement without evidence.</a:t>
            </a:r>
          </a:p>
          <a:p xmlns:a="http://schemas.openxmlformats.org/drawingml/2006/main">
            <a:r>
              <a:t/>
            </a:r>
          </a:p>
          <a:p xmlns:a="http://schemas.openxmlformats.org/drawingml/2006/main">
            <a:r>
              <a:t>[2:20] **The model is a versioned, expiring dependency. Treat it like one.**</a:t>
            </a:r>
          </a:p>
          <a:p xmlns:a="http://schemas.openxmlformats.org/drawingml/2006/main">
            <a:r>
              <a:t/>
            </a:r>
          </a:p>
          <a:p xmlns:a="http://schemas.openxmlformats.org/drawingml/2006/main">
            <a:r>
              <a:t>[2:30] Advance to slide 10.</a:t>
            </a:r>
          </a:p>
          <a:p xmlns:a="http://schemas.openxmlformats.org/drawingml/2006/main">
            <a:r>
              <a:t/>
            </a:r>
          </a:p>
          <a:p xmlns:a="http://schemas.openxmlformats.org/drawingml/2006/main">
            <a:r>
              <a:t>Cut first: spoken selection axes and the frontier-share range, which remain visible. Never cut the scope of the prime example, accuracy tradeoff, run-variation qualification, or product-quality question.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Chen, Zaharia, Zou, revised 2023 paper. Research §1 in `research/section-2.md`. [primary], checked in a browser September 15, 2026. Task and prompting limitations retained.</a:t>
            </a:r>
          </a:p>
          <a:p xmlns:a="http://schemas.openxmlformats.org/drawingml/2006/main">
            <a:r>
              <a:t>- LangChain, August 11, 2026. Research §1. [primary], checked September 15. Three configurations, judge-call exclusion, and observed run variation retained.</a:t>
            </a:r>
          </a:p>
          <a:p xmlns:a="http://schemas.openxmlformats.org/drawingml/2006/main">
            <a:r>
              <a:t>- Anthropic and OpenAI lifecycle pages. Research §1. A snapshot does not freeze the whole system.</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10</a:t>
            </a:r>
          </a:p>
          <a:p xmlns:a="http://schemas.openxmlformats.org/drawingml/2006/main">
            <a:r>
              <a:t>Beat 2.2 Context and knowledge, first half. Section 2. Time 2:30 of the beat's 3:30; slide 11 takes 1:00.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t>[0:26] Build 2. Anthropic calls context **a finite resource with diminishing marginal returns**.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t>[1:06] Build 3. The provider engineered instructions, compaction, memory, and retrieval. **RAG means retrieving relevant external information and supplying it to the model.**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t>[1:44] Build 4. Caching is another context decision. Manus reported about a hundred input tokens per output token, with a tenfold cached-input price gap in its July 2025 example. These are that team's experience and prices. **Preserve stable prompt prefixes when useful. Measure the savings, and update context or tool access when correctness or authorization requires it.** A stale policy is not acceptable just because it improves cache hits.</a:t>
            </a:r>
          </a:p>
          <a:p xmlns:a="http://schemas.openxmlformats.org/drawingml/2006/main">
            <a:r>
              <a:t/>
            </a:r>
          </a:p>
          <a:p xmlns:a="http://schemas.openxmlformats.org/drawingml/2006/main">
            <a:r>
              <a:t>[2:30] Advance to slide 11.</a:t>
            </a:r>
          </a:p>
          <a:p xmlns:a="http://schemas.openxmlformats.org/drawingml/2006/main">
            <a:r>
              <a:t/>
            </a:r>
          </a:p>
          <a:p xmlns:a="http://schemas.openxmlformats.org/drawingml/2006/main">
            <a:r>
              <a:t>Cut first: detailed failure definitions and the spoken 100:1 ratio. Never cut the RAG definition, task-dependent method choice, or correctness and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2025; Chroma, July 2025; Breunig, June 2025; Cognition, October 2025. Research §2 in `research/section-2.md`. Source records include evidence limitations.</a:t>
            </a:r>
          </a:p>
          <a:p xmlns:a="http://schemas.openxmlformats.org/drawingml/2006/main">
            <a:r>
              <a:t>- Manus, July 2025. Research §2. [primary], reported team experience and a particular pricing example.</a:t>
            </a:r>
          </a:p>
          <a:p xmlns:a="http://schemas.openxmlformats.org/drawingml/2006/main">
            <a:r>
              <a:t>- Codex CLI and Devin CLI docs. Research §1 and §2.</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10b</a:t>
            </a:r>
          </a:p>
          <a:p xmlns:a="http://schemas.openxmlformats.org/drawingml/2006/main">
            <a:r>
              <a:t>Beat 2.2 Context and knowledge, first half. Section 2. Time 2:30 of the beat's 3:30; slide 11 takes 1:00.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t>[0:26] Build 2. Anthropic calls context **a finite resource with diminishing marginal returns**.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t>[1:06] Build 3. The provider engineered instructions, compaction, memory, and retrieval. **RAG means retrieving relevant external information and supplying it to the model.**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t>[1:44] Build 4. Caching is another context decision. Manus reported about a hundred input tokens per output token, with a tenfold cached-input price gap in its July 2025 example. These are that team's experience and prices. **Preserve stable prompt prefixes when useful. Measure the savings, and update context or tool access when correctness or authorization requires it.** A stale policy is not acceptable just because it improves cache hits.</a:t>
            </a:r>
          </a:p>
          <a:p xmlns:a="http://schemas.openxmlformats.org/drawingml/2006/main">
            <a:r>
              <a:t/>
            </a:r>
          </a:p>
          <a:p xmlns:a="http://schemas.openxmlformats.org/drawingml/2006/main">
            <a:r>
              <a:t>[2:30] Advance to slide 11.</a:t>
            </a:r>
          </a:p>
          <a:p xmlns:a="http://schemas.openxmlformats.org/drawingml/2006/main">
            <a:r>
              <a:t/>
            </a:r>
          </a:p>
          <a:p xmlns:a="http://schemas.openxmlformats.org/drawingml/2006/main">
            <a:r>
              <a:t>Cut first: detailed failure definitions and the spoken 100:1 ratio. Never cut the RAG definition, task-dependent method choice, or correctness and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2025; Chroma, July 2025; Breunig, June 2025; Cognition, October 2025. Research §2 in `research/section-2.md`. Source records include evidence limitations.</a:t>
            </a:r>
          </a:p>
          <a:p xmlns:a="http://schemas.openxmlformats.org/drawingml/2006/main">
            <a:r>
              <a:t>- Manus, July 2025. Research §2. [primary], reported team experience and a particular pricing example.</a:t>
            </a:r>
          </a:p>
          <a:p xmlns:a="http://schemas.openxmlformats.org/drawingml/2006/main">
            <a:r>
              <a:t>- Codex CLI and Devin CLI docs. Research §1 and §2.</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11</a:t>
            </a:r>
          </a:p>
          <a:p xmlns:a="http://schemas.openxmlformats.org/drawingml/2006/main">
            <a:r>
              <a:t>Beat 2.2 Context and knowledge, second half. Section 2. Time 1:00 of the beat's 3:30; slide 10 took 2:30.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What goes in the window: instructions, examples, retrieved knowledge, session state, memory, tool results. Each has a relevance, a freshness, a provenance, and a size.</a:t>
            </a:r>
          </a:p>
          <a:p xmlns:a="http://schemas.openxmlformats.org/drawingml/2006/main">
            <a:r>
              <a:t/>
            </a:r>
          </a:p>
          <a:p xmlns:a="http://schemas.openxmlformats.org/drawingml/2006/main">
            <a:r>
              <a:t>[0:10] Build 2.</a:t>
            </a:r>
          </a:p>
          <a:p xmlns:a="http://schemas.openxmlformats.org/drawingml/2006/main">
            <a:r>
              <a:t/>
            </a:r>
          </a:p>
          <a:p xmlns:a="http://schemas.openxmlformats.org/drawingml/2006/main">
            <a:r>
              <a:t>The vendor chose your context budget, your compaction policy, your memory convention, and your retrieval strategy. **You own all four now.**</a:t>
            </a:r>
          </a:p>
          <a:p xmlns:a="http://schemas.openxmlformats.org/drawingml/2006/main">
            <a:r>
              <a:t/>
            </a:r>
          </a:p>
          <a:p xmlns:a="http://schemas.openxmlformats.org/drawingml/2006/main">
            <a:r>
              <a:t>[0:19] Build 3.</a:t>
            </a:r>
          </a:p>
          <a:p xmlns:a="http://schemas.openxmlformats.org/drawingml/2006/main">
            <a:r>
              <a:t/>
            </a:r>
          </a:p>
          <a:p xmlns:a="http://schemas.openxmlformats.org/drawingml/2006/main">
            <a:r>
              <a:t>Customer-facing raises the stakes, because the context now holds another person's data. **A compaction that drops a constraint can produce a wrong answer. Memory exposed to the wrong user or tenant is a breach.**</a:t>
            </a:r>
          </a:p>
          <a:p xmlns:a="http://schemas.openxmlformats.org/drawingml/2006/main">
            <a:r>
              <a:t/>
            </a:r>
          </a:p>
          <a:p xmlns:a="http://schemas.openxmlformats.org/drawingml/2006/main">
            <a:r>
              <a:t>[0:33] Build 4.</a:t>
            </a:r>
          </a:p>
          <a:p xmlns:a="http://schemas.openxmlformats.org/drawingml/2006/main">
            <a:r>
              <a:t/>
            </a:r>
          </a:p>
          <a:p xmlns:a="http://schemas.openxmlformats.org/drawingml/2006/main">
            <a:r>
              <a:t>The pitfall: **adding context instead of curating it.** A big window is not permission to fill it.</a:t>
            </a:r>
          </a:p>
          <a:p xmlns:a="http://schemas.openxmlformats.org/drawingml/2006/main">
            <a:r>
              <a:t/>
            </a:r>
          </a:p>
          <a:p xmlns:a="http://schemas.openxmlformats.org/drawingml/2006/main">
            <a:r>
              <a:t>[0:41] **Context is a budget, not a bucket.**</a:t>
            </a:r>
          </a:p>
          <a:p xmlns:a="http://schemas.openxmlformats.org/drawingml/2006/main">
            <a:r>
              <a:t/>
            </a:r>
          </a:p>
          <a:p xmlns:a="http://schemas.openxmlformats.org/drawingml/2006/main">
            <a:r>
              <a:t>[1:00] Advance to slide 12.</a:t>
            </a:r>
          </a:p>
          <a:p xmlns:a="http://schemas.openxmlformats.org/drawingml/2006/main">
            <a:r>
              <a:t/>
            </a:r>
          </a:p>
          <a:p xmlns:a="http://schemas.openxmlformats.org/drawingml/2006/main">
            <a:r>
              <a:t>The track runs about 0:45. The slack is for the two customer-facing sentences, which should be delivered slowly. Nothing on this slide is cuttable; it is already the short form.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six contents of the window, the four attributes, and the four things you own are the talk's own framing, drawn from Anthropic's context-engineering post and the Karpathy enumeration on slide 10. Research §2 in `research/section-2.md`.</a:t>
            </a:r>
          </a:p>
          <a:p xmlns:a="http://schemas.openxmlformats.org/drawingml/2006/main">
            <a:r>
              <a:t>- Chroma's finding, on slide 10, is the evidence behind "a big window is not permission to fill it." Research §2. `[primary]`.</a:t>
            </a:r>
          </a:p>
          <a:p xmlns:a="http://schemas.openxmlformats.org/drawingml/2006/main">
            <a:r>
              <a:t>- No new claims on this slide.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12</a:t>
            </a:r>
          </a:p>
          <a:p xmlns:a="http://schemas.openxmlformats.org/drawingml/2006/main">
            <a:r>
              <a:t>Beat 2.3 Tools and extensibility, first half. Section 2. Time 1:50 of the beat's 3:00; slide 13 takes 1:10.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MCP configuration connects tools. The permission prompt exposes a policy choice. Codex and Devin provide sandbox and approval settings. A model can recommend approving a command, but **that recommendation does not establish permission**.</a:t>
            </a:r>
          </a:p>
          <a:p xmlns:a="http://schemas.openxmlformats.org/drawingml/2006/main">
            <a:r>
              <a:t/>
            </a:r>
          </a:p>
          <a:p xmlns:a="http://schemas.openxmlformats.org/drawingml/2006/main">
            <a:r>
              <a:t>[0:32] Build 2. **A tool is a contract between code and a model caller.** Evaluate granularity for the task. A scheduling tool can consolidate several operations, but consolidation is an option to test. Namespace related tools. **Return meaningful names alongside stable IDs needed to act.** Two customers may share a name. Offer concise and detailed payloads where useful.</a:t>
            </a:r>
          </a:p>
          <a:p xmlns:a="http://schemas.openxmlformats.org/drawingml/2006/main">
            <a:r>
              <a:t/>
            </a:r>
          </a:p>
          <a:p xmlns:a="http://schemas.openxmlformats.org/drawingml/2006/main">
            <a:r>
              <a:t>[1:08] Build 3. 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t>[1:32] Build 4. 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t>[1:50] Advance to slide 13.</a:t>
            </a:r>
          </a:p>
          <a:p xmlns:a="http://schemas.openxmlformats.org/drawingml/2006/main">
            <a:r>
              <a:t/>
            </a:r>
          </a:p>
          <a:p xmlns:a="http://schemas.openxmlformats.org/drawingml/2006/main">
            <a:r>
              <a:t>Cut first: namespacing detail and the concise/detailed numbers. Never cut task fit, stable IDs, the five-server scope, or the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and November 2025. Research §3 in `research/section-2.md`. Consolidation is an option; the 55,000-token figure belongs to one five-server example.</a:t>
            </a:r>
          </a:p>
          <a:p xmlns:a="http://schemas.openxmlformats.org/drawingml/2006/main">
            <a:r>
              <a:t>- Codex CLI and Devin CLI permissions docs, checked September 14, 2026. Research §3.</a:t>
            </a:r>
          </a:p>
          <a:p xmlns:a="http://schemas.openxmlformats.org/drawingml/2006/main">
            <a:r>
              <a:t>- MCP Security Best Practices, July 2026; OWASP Excessive Agency, 2025. Research §3.</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12b</a:t>
            </a:r>
          </a:p>
          <a:p xmlns:a="http://schemas.openxmlformats.org/drawingml/2006/main">
            <a:r>
              <a:t>Beat 2.3 Tools and extensibility, first half. Section 2. Time 1:50 of the beat's 3:00; slide 13 takes 1:10.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MCP configuration connects tools. The permission prompt exposes a policy choice. Codex and Devin provide sandbox and approval settings. A model can recommend approving a command, but **that recommendation does not establish permission**.</a:t>
            </a:r>
          </a:p>
          <a:p xmlns:a="http://schemas.openxmlformats.org/drawingml/2006/main">
            <a:r>
              <a:t/>
            </a:r>
          </a:p>
          <a:p xmlns:a="http://schemas.openxmlformats.org/drawingml/2006/main">
            <a:r>
              <a:t>[0:32] Build 2. **A tool is a contract between code and a model caller.** Evaluate granularity for the task. A scheduling tool can consolidate several operations, but consolidation is an option to test. Namespace related tools. **Return meaningful names alongside stable IDs needed to act.** Two customers may share a name. Offer concise and detailed payloads where useful.</a:t>
            </a:r>
          </a:p>
          <a:p xmlns:a="http://schemas.openxmlformats.org/drawingml/2006/main">
            <a:r>
              <a:t/>
            </a:r>
          </a:p>
          <a:p xmlns:a="http://schemas.openxmlformats.org/drawingml/2006/main">
            <a:r>
              <a:t>[1:08] Build 3. 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t>[1:32] Build 4. 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t>[1:50] Advance to slide 13.</a:t>
            </a:r>
          </a:p>
          <a:p xmlns:a="http://schemas.openxmlformats.org/drawingml/2006/main">
            <a:r>
              <a:t/>
            </a:r>
          </a:p>
          <a:p xmlns:a="http://schemas.openxmlformats.org/drawingml/2006/main">
            <a:r>
              <a:t>Cut first: namespacing detail and the concise/detailed numbers. Never cut task fit, stable IDs, the five-server scope, or the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and November 2025. Research §3 in `research/section-2.md`. Consolidation is an option; the 55,000-token figure belongs to one five-server example.</a:t>
            </a:r>
          </a:p>
          <a:p xmlns:a="http://schemas.openxmlformats.org/drawingml/2006/main">
            <a:r>
              <a:t>- Codex CLI and Devin CLI permissions docs, checked September 14, 2026. Research §3.</a:t>
            </a:r>
          </a:p>
          <a:p xmlns:a="http://schemas.openxmlformats.org/drawingml/2006/main">
            <a:r>
              <a:t>- MCP Security Best Practices, July 2026; OWASP Excessive Agency, 2025. Research §3.</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13</a:t>
            </a:r>
          </a:p>
          <a:p xmlns:a="http://schemas.openxmlformats.org/drawingml/2006/main">
            <a:r>
              <a:t>Beat 2.3 Tools and extensibility, second half. Section 2. Time 1:10 of the beat's 3:00; slide 12 took 1:50.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**You write descriptions and evaluate task fit. You build the gate.** Payload detail, granularity, and failure handling are your decisions.</a:t>
            </a:r>
          </a:p>
          <a:p xmlns:a="http://schemas.openxmlformats.org/drawingml/2006/main">
            <a:r>
              <a:t/>
            </a:r>
          </a:p>
          <a:p xmlns:a="http://schemas.openxmlformats.org/drawingml/2006/main">
            <a:r>
              <a:t>[0:14] Build 2. Scoped reads need access enforcement. Reversible changes need validation and recovery. Consequential actions need policy authorization or approval. **Authorization applies to every category and is enforced outside the model. A model recommendation does not establish permission.** Approval may be human, async, or an enforced policy.</a:t>
            </a:r>
          </a:p>
          <a:p xmlns:a="http://schemas.openxmlformats.org/drawingml/2006/main">
            <a:r>
              <a:t/>
            </a:r>
          </a:p>
          <a:p xmlns:a="http://schemas.openxmlformats.org/drawingml/2006/main">
            <a:r>
              <a:t>[0:39] Build 3. Legit Security demonstrated CamoLeak: hidden pull-request instructions exfiltrated private data through image URLs. Separately, The Hacker News reported Koi's audit: 341 malicious skills among 2,857. That is secondary reporting, not an independently checked audit here.</a:t>
            </a:r>
          </a:p>
          <a:p xmlns:a="http://schemas.openxmlformats.org/drawingml/2006/main">
            <a:r>
              <a:t/>
            </a:r>
          </a:p>
          <a:p xmlns:a="http://schemas.openxmlformats.org/drawingml/2006/main">
            <a:r>
              <a:t>[0:56] Build 4. **Copying the API surface without evaluating task fit.**</a:t>
            </a:r>
          </a:p>
          <a:p xmlns:a="http://schemas.openxmlformats.org/drawingml/2006/main">
            <a:r>
              <a:t/>
            </a:r>
          </a:p>
          <a:p xmlns:a="http://schemas.openxmlformats.org/drawingml/2006/main">
            <a:r>
              <a:t>[1:02] **Design tools for a caller that reads the description every time and can still get it wrong.**</a:t>
            </a:r>
          </a:p>
          <a:p xmlns:a="http://schemas.openxmlformats.org/drawingml/2006/main">
            <a:r>
              <a:t/>
            </a:r>
          </a:p>
          <a:p xmlns:a="http://schemas.openxmlformats.org/drawingml/2006/main">
            <a:r>
              <a:t>[1:10] Advance to slide 14.</a:t>
            </a:r>
          </a:p>
          <a:p xmlns:a="http://schemas.openxmlformats.org/drawingml/2006/main">
            <a:r>
              <a:t/>
            </a:r>
          </a:p>
          <a:p xmlns:a="http://schemas.openxmlformats.org/drawingml/2006/main">
            <a:r>
              <a:t>Cut first: the payload list and spoken CVSS detail. Never cut authorization across categories, outside-model enforcement, evidence type, or pitfall.</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OWASP Excessive Agency, 2025. Research §3 in `research/section-2.md`. [primary], checked September 15, 2026. Categories are the talk's heuristic.</a:t>
            </a:r>
          </a:p>
          <a:p xmlns:a="http://schemas.openxmlformats.org/drawingml/2006/main">
            <a:r>
              <a:t>- Legit Security, October 2025. Research §3. Direct researcher demonstration, checked September 14.</a:t>
            </a:r>
          </a:p>
          <a:p xmlns:a="http://schemas.openxmlformats.org/drawingml/2006/main">
            <a:r>
              <a:t>- Koi audit via The Hacker News, February 2026. Research §3. Directly checked secondary report; underlying audit not independently checked.</a:t>
            </a:r>
          </a:p>
          <a:p xmlns:a="http://schemas.openxmlformats.org/drawingml/2006/main">
            <a:r>
              <a:t>- Anthropic tool design, September 2025. Research §3.</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14</a:t>
            </a:r>
          </a:p>
          <a:p xmlns:a="http://schemas.openxmlformats.org/drawingml/2006/main">
            <a:r>
              <a:t>Beat 2.4 Orchestration, first half. Section 2. Time 2:00 of the beat's 3:30; slide 15 takes 1:30.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Plan mode. Subagents. Hooks. Compaction. Resume and fork. Both tools have every one of them. **Underneath all of it is one loop: gather context, take action, verify, repeat.**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t>[0:26] Build 2.</a:t>
            </a:r>
          </a:p>
          <a:p xmlns:a="http://schemas.openxmlformats.org/drawingml/2006/main">
            <a:r>
              <a:t/>
            </a:r>
          </a:p>
          <a:p xmlns:a="http://schemas.openxmlformats.org/drawingml/2006/main">
            <a:r>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t>[0:46] Build 3.</a:t>
            </a:r>
          </a:p>
          <a:p xmlns:a="http://schemas.openxmlformats.org/drawingml/2006/main">
            <a:r>
              <a:t/>
            </a:r>
          </a:p>
          <a:p xmlns:a="http://schemas.openxmlformats.org/drawingml/2006/main">
            <a:r>
              <a:t>Addy Osmani's line applies most sharply here: **"A decent model with a great harness beats a great model with a bad harness."**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t>[1:10] Build 4.</a:t>
            </a:r>
          </a:p>
          <a:p xmlns:a="http://schemas.openxmlformats.org/drawingml/2006/main">
            <a:r>
              <a:t/>
            </a:r>
          </a:p>
          <a:p xmlns:a="http://schemas.openxmlformats.org/drawingml/2006/main">
            <a:r>
              <a:t>Anthropic found two failure modes in long-running agents. **Over-ambition: try to one-shot the whole app. Premature completion: a later instance sees progress and declares the job done.** The fix was engineering, not prompting. An initializer writes a feature list and a progress file. Each session does one feature with a fixed startup routine. **Protect the acceptance criteria.** Do not weaken tests merely to get a pass. Faulty or obsolete tests may change through review.</a:t>
            </a:r>
          </a:p>
          <a:p xmlns:a="http://schemas.openxmlformats.org/drawingml/2006/main">
            <a:r>
              <a:t/>
            </a:r>
          </a:p>
          <a:p xmlns:a="http://schemas.openxmlformats.org/drawingml/2006/main">
            <a:r>
              <a:t>[1:38] Build 5.</a:t>
            </a:r>
          </a:p>
          <a:p xmlns:a="http://schemas.openxmlformats.org/drawingml/2006/main">
            <a:r>
              <a:t/>
            </a:r>
          </a:p>
          <a:p xmlns:a="http://schemas.openxmlformats.org/drawingml/2006/main">
            <a:r>
              <a:t>Multi-agent, honestly. **Anthropic reported a 90.2% improvement against its single-agent research system on an internal eval. Separately, it reported about 15 times chat token use for multi-agent systems.** And it is a poor fit for work where agents need shared context or have dependencies. Anthropic names coding as the example.</a:t>
            </a:r>
          </a:p>
          <a:p xmlns:a="http://schemas.openxmlformats.org/drawingml/2006/main">
            <a:r>
              <a:t/>
            </a:r>
          </a:p>
          <a:p xmlns:a="http://schemas.openxmlformats.org/drawingml/2006/main">
            <a:r>
              <a:t>[2:00] Advance to slide 15.</a:t>
            </a:r>
          </a:p>
          <a:p xmlns:a="http://schemas.openxmlformats.org/drawingml/2006/main">
            <a:r>
              <a:t/>
            </a:r>
          </a:p>
          <a:p xmlns:a="http://schemas.openxmlformats.org/drawingml/2006/main">
            <a:r>
              <a:t>The track runs about 1:58, so it is full. Cuttable if the section runs long, in this order: "Codex ships hooks turned off. You turn them on."; "The other harness boxes on the map get their own areas in this talk," since slide 7 made the point. Do not cut the loop sentence, the five decisions, the Osmani quote, the two failure modes, or the multi-agent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CLI docs for `/plan`, subagents, hooks, `/compact`, `/resume`, `/fork`; Codex `features.hooks` defaults to off. Research §4 in `research/section-2.md`. `[primary]`, checked in a browser September 14, 2026.</a:t>
            </a:r>
          </a:p>
          <a:p xmlns:a="http://schemas.openxmlformats.org/drawingml/2006/main">
            <a:r>
              <a:t>- Anthropic, "Building agents with the Claude Agent SDK," September 2025, for the loop: gather context, take action, verify work, repeat. Research §0. `[primary]`.</a:t>
            </a:r>
          </a:p>
          <a:p xmlns:a="http://schemas.openxmlformats.org/drawingml/2006/main">
            <a:r>
              <a:t>- Anthropic, "Building effective agents," December 2024, for stopping conditions "such as a maximum number of iterations." Research §4. `[primary]`.</a:t>
            </a:r>
          </a:p>
          <a:p xmlns:a="http://schemas.openxmlformats.org/drawingml/2006/main">
            <a:r>
              <a:t>- Osmani, "Agent Harness Engineering," April 2026. Quote verbatim. Research §0 and §4. `[primary]`.</a:t>
            </a:r>
          </a:p>
          <a:p xmlns:a="http://schemas.openxmlformats.org/drawingml/2006/main">
            <a:r>
              <a:t>- OpenAI, "Codex as a platform," August 2026. "On ARC-AGI-3, retained reasoning and context compaction raised GPT-5.6 Sol's score from 13.3% to 38.3% while reducing output tokens sixfold." Rounded on the slide; the exact figures are here for questions. Research §0. `[primary]`.</a:t>
            </a:r>
          </a:p>
          <a:p xmlns:a="http://schemas.openxmlformats.org/drawingml/2006/main">
            <a:r>
              <a:t>- Anthropic, "Effective harnesses for long-running agents," November 2025. Over-ambition and premature completion paraphrased from their wording; "It is unacceptable to remove or edit tests" is verbatim. Research §4. `[primary]`.</a:t>
            </a:r>
          </a:p>
          <a:p xmlns:a="http://schemas.openxmlformats.org/drawingml/2006/main">
            <a:r>
              <a:t>- Anthropic, "How we built our multi-agent research system," June 2025. "Outperformed single-agent Claude Opus 4 by 90.2%"; "about 15x more tokens than chats"; poor fit for "domains that require all agents to share the same context or involve many dependencies between agents." Research §4.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No `[verify]` flags on this slide.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14b</a:t>
            </a:r>
          </a:p>
          <a:p xmlns:a="http://schemas.openxmlformats.org/drawingml/2006/main">
            <a:r>
              <a:t>Beat 2.4 Orchestration, first half. Section 2. Time 2:00 of the beat's 3:30; slide 15 takes 1:30.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Plan mode. Subagents. Hooks. Compaction. Resume and fork. Both tools have every one of them. **Underneath all of it is one loop: gather context, take action, verify, repeat.**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t>[0:26] Build 2.</a:t>
            </a:r>
          </a:p>
          <a:p xmlns:a="http://schemas.openxmlformats.org/drawingml/2006/main">
            <a:r>
              <a:t/>
            </a:r>
          </a:p>
          <a:p xmlns:a="http://schemas.openxmlformats.org/drawingml/2006/main">
            <a:r>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t>[0:46] Build 3.</a:t>
            </a:r>
          </a:p>
          <a:p xmlns:a="http://schemas.openxmlformats.org/drawingml/2006/main">
            <a:r>
              <a:t/>
            </a:r>
          </a:p>
          <a:p xmlns:a="http://schemas.openxmlformats.org/drawingml/2006/main">
            <a:r>
              <a:t>Addy Osmani's line applies most sharply here: **"A decent model with a great harness beats a great model with a bad harness."**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t>[1:10] Build 4.</a:t>
            </a:r>
          </a:p>
          <a:p xmlns:a="http://schemas.openxmlformats.org/drawingml/2006/main">
            <a:r>
              <a:t/>
            </a:r>
          </a:p>
          <a:p xmlns:a="http://schemas.openxmlformats.org/drawingml/2006/main">
            <a:r>
              <a:t>Anthropic found two failure modes in long-running agents. **Over-ambition: try to one-shot the whole app. Premature completion: a later instance sees progress and declares the job done.** The fix was engineering, not prompting. An initializer writes a feature list and a progress file. Each session does one feature with a fixed startup routine. **Protect the acceptance criteria.** Do not weaken tests merely to get a pass. Faulty or obsolete tests may change through review.</a:t>
            </a:r>
          </a:p>
          <a:p xmlns:a="http://schemas.openxmlformats.org/drawingml/2006/main">
            <a:r>
              <a:t/>
            </a:r>
          </a:p>
          <a:p xmlns:a="http://schemas.openxmlformats.org/drawingml/2006/main">
            <a:r>
              <a:t>[1:38] Build 5.</a:t>
            </a:r>
          </a:p>
          <a:p xmlns:a="http://schemas.openxmlformats.org/drawingml/2006/main">
            <a:r>
              <a:t/>
            </a:r>
          </a:p>
          <a:p xmlns:a="http://schemas.openxmlformats.org/drawingml/2006/main">
            <a:r>
              <a:t>Multi-agent, honestly. **Anthropic reported a 90.2% improvement against its single-agent research system on an internal eval. Separately, it reported about 15 times chat token use for multi-agent systems.** And it is a poor fit for work where agents need shared context or have dependencies. Anthropic names coding as the example.</a:t>
            </a:r>
          </a:p>
          <a:p xmlns:a="http://schemas.openxmlformats.org/drawingml/2006/main">
            <a:r>
              <a:t/>
            </a:r>
          </a:p>
          <a:p xmlns:a="http://schemas.openxmlformats.org/drawingml/2006/main">
            <a:r>
              <a:t>[2:00] Advance to slide 15.</a:t>
            </a:r>
          </a:p>
          <a:p xmlns:a="http://schemas.openxmlformats.org/drawingml/2006/main">
            <a:r>
              <a:t/>
            </a:r>
          </a:p>
          <a:p xmlns:a="http://schemas.openxmlformats.org/drawingml/2006/main">
            <a:r>
              <a:t>The track runs about 1:58, so it is full. Cuttable if the section runs long, in this order: "Codex ships hooks turned off. You turn them on."; "The other harness boxes on the map get their own areas in this talk," since slide 7 made the point. Do not cut the loop sentence, the five decisions, the Osmani quote, the two failure modes, or the multi-agent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CLI docs for `/plan`, subagents, hooks, `/compact`, `/resume`, `/fork`; Codex `features.hooks` defaults to off. Research §4 in `research/section-2.md`. `[primary]`, checked in a browser September 14, 2026.</a:t>
            </a:r>
          </a:p>
          <a:p xmlns:a="http://schemas.openxmlformats.org/drawingml/2006/main">
            <a:r>
              <a:t>- Anthropic, "Building agents with the Claude Agent SDK," September 2025, for the loop: gather context, take action, verify work, repeat. Research §0. `[primary]`.</a:t>
            </a:r>
          </a:p>
          <a:p xmlns:a="http://schemas.openxmlformats.org/drawingml/2006/main">
            <a:r>
              <a:t>- Anthropic, "Building effective agents," December 2024, for stopping conditions "such as a maximum number of iterations." Research §4. `[primary]`.</a:t>
            </a:r>
          </a:p>
          <a:p xmlns:a="http://schemas.openxmlformats.org/drawingml/2006/main">
            <a:r>
              <a:t>- Osmani, "Agent Harness Engineering," April 2026. Quote verbatim. Research §0 and §4. `[primary]`.</a:t>
            </a:r>
          </a:p>
          <a:p xmlns:a="http://schemas.openxmlformats.org/drawingml/2006/main">
            <a:r>
              <a:t>- OpenAI, "Codex as a platform," August 2026. "On ARC-AGI-3, retained reasoning and context compaction raised GPT-5.6 Sol's score from 13.3% to 38.3% while reducing output tokens sixfold." Rounded on the slide; the exact figures are here for questions. Research §0. `[primary]`.</a:t>
            </a:r>
          </a:p>
          <a:p xmlns:a="http://schemas.openxmlformats.org/drawingml/2006/main">
            <a:r>
              <a:t>- Anthropic, "Effective harnesses for long-running agents," November 2025. Over-ambition and premature completion paraphrased from their wording; "It is unacceptable to remove or edit tests" is verbatim. Research §4. `[primary]`.</a:t>
            </a:r>
          </a:p>
          <a:p xmlns:a="http://schemas.openxmlformats.org/drawingml/2006/main">
            <a:r>
              <a:t>- Anthropic, "How we built our multi-agent research system," June 2025. "Outperformed single-agent Claude Opus 4 by 90.2%"; "about 15x more tokens than chats"; poor fit for "domains that require all agents to share the same context or involve many dependencies between agents." Research §4.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No `[verify]` flags on this slide.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15</a:t>
            </a:r>
          </a:p>
          <a:p xmlns:a="http://schemas.openxmlformats.org/drawingml/2006/main">
            <a:r>
              <a:t>Beat 2.4 Orchestration, second half. Section 2. Time 1:30 of the beat's 3:30; slide 14 took 2:00.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Workflows are LLMs and tools on predefined code paths. Agents direct their own. **Start with the workflow.** Five patterns cover most of it: chaining, routing, parallelization, orchestrator and workers, evaluator and optimizer.</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**You own the loop.** Stopping conditions, starting with a maximum number of iterations. State and resume. Retries. Escalation to a human as a tool call. Routing between a planner and cheap workers. The compaction trigger. And the budgets: tokens, actions, latency. Twelve-factor agents says it in four lines: own your prompts, own your context window, own your control flow, contact humans with tool calls.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Customer-facing: a human is waiting. Latency is a product requirement. **An unbounded loop is an outage.**</a:t>
            </a:r>
          </a:p>
          <a:p xmlns:a="http://schemas.openxmlformats.org/drawingml/2006/main">
            <a:r>
              <a:t/>
            </a:r>
          </a:p>
          <a:p xmlns:a="http://schemas.openxmlformats.org/drawingml/2006/main">
            <a:r>
              <a:t>[0:50] Build 4.</a:t>
            </a:r>
          </a:p>
          <a:p xmlns:a="http://schemas.openxmlformats.org/drawingml/2006/main">
            <a:r>
              <a:t/>
            </a:r>
          </a:p>
          <a:p xmlns:a="http://schemas.openxmlformats.org/drawingml/2006/main">
            <a:r>
              <a:t>The pitfall: **multi-agent orchestration before a workflow was tried.** Separately, Gartner's June 2025 forecast predicted over 40% of agentic projects canceled by end of 2027, citing cost, unclear value, and inadequate controls. **That forecast does not establish that multi-agent architecture causes cancellations.**</a:t>
            </a:r>
          </a:p>
          <a:p xmlns:a="http://schemas.openxmlformats.org/drawingml/2006/main">
            <a:r>
              <a:t/>
            </a:r>
          </a:p>
          <a:p xmlns:a="http://schemas.openxmlformats.org/drawingml/2006/main">
            <a:r>
              <a:t>[1:10] **The loop is where autonomy gets its limits. Start with the workflow.**</a:t>
            </a:r>
          </a:p>
          <a:p xmlns:a="http://schemas.openxmlformats.org/drawingml/2006/main">
            <a:r>
              <a:t/>
            </a:r>
          </a:p>
          <a:p xmlns:a="http://schemas.openxmlformats.org/drawingml/2006/main">
            <a:r>
              <a:t>[1:30] Advance to slide 16.</a:t>
            </a:r>
          </a:p>
          <a:p xmlns:a="http://schemas.openxmlformats.org/drawingml/2006/main">
            <a:r>
              <a:t/>
            </a:r>
          </a:p>
          <a:p xmlns:a="http://schemas.openxmlformats.org/drawingml/2006/main">
            <a:r>
              <a:t>The track runs about 1:15. The slack belongs to build 2, which is a list and should not be rushed. Cuttable if the section runs long: the five pattern names, since they are on the slide; the Gartner forecast, if needed. Keep its forecast label whenever used. Do not cut "start with the workflow," "you own the loop," "an unbounded loop is an outage," the pitfall,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"Building effective agents," December 2024. Workflow and agent definitions quoted; "we recommend finding the simplest solution possible"; stopping conditions "such as a maximum number of iterations"; the five patterns: prompt chaining, routing, parallelization, orchestrator-workers, evaluator-optimizer. Research §4 in `research/section-2.md`. `[primary]`.</a:t>
            </a:r>
          </a:p>
          <a:p xmlns:a="http://schemas.openxmlformats.org/drawingml/2006/main">
            <a:r>
              <a:t>- Dex Horthy, HumanLayer, "12-Factor Agents." Factors 2, 3, 8, and 7 in the order spoken: own your prompts, own your context window, own your control flow, contact humans with tool calls. Research §4. `[primary]`.</a:t>
            </a:r>
          </a:p>
          <a:p xmlns:a="http://schemas.openxmlformats.org/drawingml/2006/main">
            <a:r>
              <a:t>- Gartner, press release, June 25, 2025. "Over 40% of agentic AI projects will be canceled by the end of 2027, due to escalating costs, unclear business value or inadequate risk controls." Research §4. `[primary]`, read in a browser September 14, 2026. The `[verify wording]` flag is cleared in the outline.</a:t>
            </a:r>
          </a:p>
          <a:p xmlns:a="http://schemas.openxmlformats.org/drawingml/2006/main">
            <a:r>
              <a:t>- Planner-to-worker routing points back to the LangChain figures on slide 9. Research §1.</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The flag on this slide is cleared.</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16</a:t>
            </a:r>
          </a:p>
          <a:p xmlns:a="http://schemas.openxmlformats.org/drawingml/2006/main">
            <a:r>
              <a:t>Beat 2.5 Verification and evals, first half. Section 2. Time 3:45 of the beat's 5:00, including story #2 at 1:00; slide 17 takes 1:15.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coding agent can run the repository's checks: write, run, read the failure, retry. Fowler observed models claiming all tests were green when they were not. **Run the check before accepting the claim.** A hook can enforce that check. A model reporting success cannot substitute for it.</a:t>
            </a:r>
          </a:p>
          <a:p xmlns:a="http://schemas.openxmlformats.org/drawingml/2006/main">
            <a:r>
              <a:t/>
            </a:r>
          </a:p>
          <a:p xmlns:a="http://schemas.openxmlformats.org/drawingml/2006/main">
            <a:r>
              <a:t>[0:32] Build 2. **Checking an action and measuring behavior across cases are complementary uses of checks.**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t>[1:04] Build 3. **Check the result. Inspect the trace.** Here is an illustrative grader. The agent says a flight is booked. Look for a reservation matching the requested traveler and itinerary. No matching reservation means the result check fails. Separately inspect required approvals and access constraints. Those matter. An arbitrary sequence of tool calls does not define success.</a:t>
            </a:r>
          </a:p>
          <a:p xmlns:a="http://schemas.openxmlformats.org/drawingml/2006/main">
            <a:r>
              <a:t/>
            </a:r>
          </a:p>
          <a:p xmlns:a="http://schemas.openxmlformats.org/drawingml/2006/main">
            <a:r>
              <a:t>[1:40] Build 4. pass@k is the probability of at least one success in k trials. pass^k is the probability all k succeed. They match at k equals one, but answer different questions as k grows. **Consistency matters for repeated customer use.**</a:t>
            </a:r>
          </a:p>
          <a:p xmlns:a="http://schemas.openxmlformats.org/drawingml/2006/main">
            <a:r>
              <a:t/>
            </a:r>
          </a:p>
          <a:p xmlns:a="http://schemas.openxmlformats.org/drawingml/2006/main">
            <a:r>
              <a:t>[2:00] Build 5. **Start with 20 to 50 tasks drawn from real failures.**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t>[2:28] **[your story #2]** A failure your tests passed and evals or production caught. It must show three things: the suite was green, the behavior was wrong, and a population-level check or a real user found it. Sixty seconds. This remains the presenter's personal story, separate from the flight-booking illustration.</a:t>
            </a:r>
          </a:p>
          <a:p xmlns:a="http://schemas.openxmlformats.org/drawingml/2006/main">
            <a:r>
              <a:t/>
            </a:r>
          </a:p>
          <a:p xmlns:a="http://schemas.openxmlformats.org/drawingml/2006/main">
            <a:r>
              <a:t>[3:28] Hold. Advance to slide 17 at [3:45].</a:t>
            </a:r>
          </a:p>
          <a:p xmlns:a="http://schemas.openxmlformats.org/drawingml/2006/main">
            <a:r>
              <a:t/>
            </a:r>
          </a:p>
          <a:p xmlns:a="http://schemas.openxmlformats.org/drawingml/2006/main">
            <a:r>
              <a:t>Backup only: Hamel Husain reports that his teams spent 60–80% of development time on error analysis and evaluation in projects they worked on. This describes that experience, not an industry-wide rule.</a:t>
            </a:r>
          </a:p>
          <a:p xmlns:a="http://schemas.openxmlformats.org/drawingml/2006/main">
            <a:r>
              <a:t/>
            </a:r>
          </a:p>
          <a:p xmlns:a="http://schemas.openxmlformats.org/drawingml/2006/main">
            <a:r>
              <a:t>Cut first: the hook example and grader list. Never cut the complementary-checks distinction, actual reservation check, trace constraints, probability distinction, 20–50-case starting point, or the protected 60-second story slot.</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Fowler, August 2025. Research §5 in `research/section-2.md`.</a:t>
            </a:r>
          </a:p>
          <a:p xmlns:a="http://schemas.openxmlformats.org/drawingml/2006/main">
            <a:r>
              <a:t>- Anthropic, January 2026: evals are tests; outcome and trace checks; capability and regression suites; probability notation; 20–50 starting cases. Research §5. The traveler/itinerary grader is an illustration adapted for the talk, not a reported incident.</a:t>
            </a:r>
          </a:p>
          <a:p xmlns:a="http://schemas.openxmlformats.org/drawingml/2006/main">
            <a:r>
              <a:t>- Anthropic, September and November 2025, for verification mechanisms and premature completion. Research §0 and §4.</a:t>
            </a:r>
          </a:p>
          <a:p xmlns:a="http://schemas.openxmlformats.org/drawingml/2006/main">
            <a:r>
              <a:t>- Husain, eval FAQ, updated September 2026. Research §5. Team-specific experience in backup only.</a:t>
            </a:r>
          </a:p>
          <a:p xmlns:a="http://schemas.openxmlformats.org/drawingml/2006/main">
            <a:r>
              <a:t>- Shankar et al., UIST 2024. Research §3 in `research/section-1.md`.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story #2 remains a 60-second personal-story slot over build 5.</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16b</a:t>
            </a:r>
          </a:p>
          <a:p xmlns:a="http://schemas.openxmlformats.org/drawingml/2006/main">
            <a:r>
              <a:t>Beat 2.5 Verification and evals, first half. Section 2. Time 3:45 of the beat's 5:00, including story #2 at 1:00; slide 17 takes 1:15. Builds: 5.</a:t>
            </a:r>
          </a:p>
          <a:p xmlns:a="http://schemas.openxmlformats.org/drawingml/2006/main">
            <a:r>
              <a:t>Hold on the final build for story #2. The presenter story remains a slot in the source.</a:t>
            </a:r>
          </a:p>
          <a:p xmlns:a="http://schemas.openxmlformats.org/drawingml/2006/main">
            <a:r>
              <a:t/>
            </a:r>
          </a:p>
          <a:p xmlns:a="http://schemas.openxmlformats.org/drawingml/2006/main">
            <a:r>
              <a:t/>
            </a:r>
          </a:p>
          <a:p xmlns:a="http://schemas.openxmlformats.org/drawingml/2006/main">
            <a:r>
              <a:t/>
            </a:r>
          </a:p>
          <a:p xmlns:a="http://schemas.openxmlformats.org/drawingml/2006/main">
            <a:r>
              <a:t>[0:00] The coding agent can run the repository's checks: write, run, read the failure, retry. Fowler observed models claiming all tests were green when they were not. **Run the check before accepting the claim.** A hook can enforce that check. A model reporting success cannot substitute for it.</a:t>
            </a:r>
          </a:p>
          <a:p xmlns:a="http://schemas.openxmlformats.org/drawingml/2006/main">
            <a:r>
              <a:t/>
            </a:r>
          </a:p>
          <a:p xmlns:a="http://schemas.openxmlformats.org/drawingml/2006/main">
            <a:r>
              <a:t>[0:32] Build 2. **Checking an action and measuring behavior across cases are complementary uses of checks.**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t>[1:04] Build 3. **Check the result. Inspect the trace.** Here is an illustrative grader. The agent says a flight is booked. Look for a reservation matching the requested traveler and itinerary. No matching reservation means the result check fails. Separately inspect required approvals and access constraints. Those matter. An arbitrary sequence of tool calls does not define success.</a:t>
            </a:r>
          </a:p>
          <a:p xmlns:a="http://schemas.openxmlformats.org/drawingml/2006/main">
            <a:r>
              <a:t/>
            </a:r>
          </a:p>
          <a:p xmlns:a="http://schemas.openxmlformats.org/drawingml/2006/main">
            <a:r>
              <a:t>[1:40] Build 4. pass@k is the probability of at least one success in k trials. pass^k is the probability all k succeed. They match at k equals one, but answer different questions as k grows. **Consistency matters for repeated customer use.**</a:t>
            </a:r>
          </a:p>
          <a:p xmlns:a="http://schemas.openxmlformats.org/drawingml/2006/main">
            <a:r>
              <a:t/>
            </a:r>
          </a:p>
          <a:p xmlns:a="http://schemas.openxmlformats.org/drawingml/2006/main">
            <a:r>
              <a:t>[2:00] Build 5. **Start with 20 to 50 tasks drawn from real failures.**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t>[2:28] **[your story #2]** A failure your tests passed and evals or production caught. It must show three things: the suite was green, the behavior was wrong, and a population-level check or a real user found it. Sixty seconds. This remains the presenter's personal story, separate from the flight-booking illustration.</a:t>
            </a:r>
          </a:p>
          <a:p xmlns:a="http://schemas.openxmlformats.org/drawingml/2006/main">
            <a:r>
              <a:t/>
            </a:r>
          </a:p>
          <a:p xmlns:a="http://schemas.openxmlformats.org/drawingml/2006/main">
            <a:r>
              <a:t>[3:28] Hold. Advance to slide 17 at [3:45].</a:t>
            </a:r>
          </a:p>
          <a:p xmlns:a="http://schemas.openxmlformats.org/drawingml/2006/main">
            <a:r>
              <a:t/>
            </a:r>
          </a:p>
          <a:p xmlns:a="http://schemas.openxmlformats.org/drawingml/2006/main">
            <a:r>
              <a:t>Backup only: Hamel Husain reports that his teams spent 60–80% of development time on error analysis and evaluation in projects they worked on. This describes that experience, not an industry-wide rule.</a:t>
            </a:r>
          </a:p>
          <a:p xmlns:a="http://schemas.openxmlformats.org/drawingml/2006/main">
            <a:r>
              <a:t/>
            </a:r>
          </a:p>
          <a:p xmlns:a="http://schemas.openxmlformats.org/drawingml/2006/main">
            <a:r>
              <a:t>Cut first: the hook example and grader list. Never cut the complementary-checks distinction, actual reservation check, trace constraints, probability distinction, 20–50-case starting point, or the protected 60-second story slot.</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Fowler, August 2025. Research §5 in `research/section-2.md`.</a:t>
            </a:r>
          </a:p>
          <a:p xmlns:a="http://schemas.openxmlformats.org/drawingml/2006/main">
            <a:r>
              <a:t>- Anthropic, January 2026: evals are tests; outcome and trace checks; capability and regression suites; probability notation; 20–50 starting cases. Research §5. The traveler/itinerary grader is an illustration adapted for the talk, not a reported incident.</a:t>
            </a:r>
          </a:p>
          <a:p xmlns:a="http://schemas.openxmlformats.org/drawingml/2006/main">
            <a:r>
              <a:t>- Anthropic, September and November 2025, for verification mechanisms and premature completion. Research §0 and §4.</a:t>
            </a:r>
          </a:p>
          <a:p xmlns:a="http://schemas.openxmlformats.org/drawingml/2006/main">
            <a:r>
              <a:t>- Husain, eval FAQ, updated September 2026. Research §5. Team-specific experience in backup only.</a:t>
            </a:r>
          </a:p>
          <a:p xmlns:a="http://schemas.openxmlformats.org/drawingml/2006/main">
            <a:r>
              <a:t>- Shankar et al., UIST 2024. Research §3 in `research/section-1.md`.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story #2 remains a 60-second personal-story slot over build 5.</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17</a:t>
            </a:r>
          </a:p>
          <a:p xmlns:a="http://schemas.openxmlformats.org/drawingml/2006/main">
            <a:r>
              <a:t>Beat 2.5 Verification and evals, second half. Section 2. Time 1:15 of the beat's 5:00; slide 16 took 3:45.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**You must define the checks your domain needs.** Refund limits, duplicate actions, account ownership, and ledger state may be directly checkable. Other qualities, such as faithfulness, may need expert judgment.</a:t>
            </a:r>
          </a:p>
          <a:p xmlns:a="http://schemas.openxmlformats.org/drawingml/2006/main">
            <a:r>
              <a:t/>
            </a:r>
          </a:p>
          <a:p xmlns:a="http://schemas.openxmlformats.org/drawingml/2006/main">
            <a:r>
              <a:t>[0:15] Build 2. Build the verifier. Measure behavior across representative cases and repeated trials. Keep regression checks running and sample production traffic as the system changes.</a:t>
            </a:r>
          </a:p>
          <a:p xmlns:a="http://schemas.openxmlformats.org/drawingml/2006/main">
            <a:r>
              <a:t/>
            </a:r>
          </a:p>
          <a:p xmlns:a="http://schemas.openxmlformats.org/drawingml/2006/main">
            <a:r>
              <a:t>[0:35] Build 3. **Your eval suite gives evidence for a migration decision.** The time and confidence depend on the task, sample size, and deployment constraints.</a:t>
            </a:r>
          </a:p>
          <a:p xmlns:a="http://schemas.openxmlformats.org/drawingml/2006/main">
            <a:r>
              <a:t/>
            </a:r>
          </a:p>
          <a:p xmlns:a="http://schemas.openxmlformats.org/drawingml/2006/main">
            <a:r>
              <a:t>[0:48] Build 4. **A generic judge instead of error analysis. Trusting the success claim without checking the result.**</a:t>
            </a:r>
          </a:p>
          <a:p xmlns:a="http://schemas.openxmlformats.org/drawingml/2006/main">
            <a:r>
              <a:t/>
            </a:r>
          </a:p>
          <a:p xmlns:a="http://schemas.openxmlformats.org/drawingml/2006/main">
            <a:r>
              <a:t>[0:58] **Check the action before accepting it. Measure behavior across representative cases. Keep both checks running as the system changes.**</a:t>
            </a:r>
          </a:p>
          <a:p xmlns:a="http://schemas.openxmlformats.org/drawingml/2006/main">
            <a:r>
              <a:t/>
            </a:r>
          </a:p>
          <a:p xmlns:a="http://schemas.openxmlformats.org/drawingml/2006/main">
            <a:r>
              <a:t>[1:15] Advance to slide 18.</a:t>
            </a:r>
          </a:p>
          <a:p xmlns:a="http://schemas.openxmlformats.org/drawingml/2006/main">
            <a:r>
              <a:t/>
            </a:r>
          </a:p>
          <a:p xmlns:a="http://schemas.openxmlformats.org/drawingml/2006/main">
            <a:r>
              <a:t>Cut first: the domain-example list and migration-time detail. Never cut the responsibility to define checks, ongoing measurement, or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January 2026, and Husain, 2024 and 2026. Research §5 in `research/section-2.md`. Checks and evals are complementary. The migration payoff is evidence, not a one-day promise.</a:t>
            </a:r>
          </a:p>
          <a:p xmlns:a="http://schemas.openxmlformats.org/drawingml/2006/main">
            <a:r>
              <a:t>- Slide 9's model lifecycle pitfall sets up the migration decision. Research §1.</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18</a:t>
            </a:r>
          </a:p>
          <a:p xmlns:a="http://schemas.openxmlformats.org/drawingml/2006/main">
            <a:r>
              <a:t>Beat 2.6 Operating it, first half. Section 2. Time 3:15 of the beat's 4:30; slide 19 takes 1:15. Builds: 7.</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t>[0:16] Build 2. Model calls, tool calls, and agent steps need traces. OpenTelemetry's GenAI conventions remain Development. Measure **cost per completed task**, tail tokens, cache hits, loop iterations, and tool failures.</a:t>
            </a:r>
          </a:p>
          <a:p xmlns:a="http://schemas.openxmlformats.org/drawingml/2006/main">
            <a:r>
              <a:t/>
            </a:r>
          </a:p>
          <a:p xmlns:a="http://schemas.openxmlformats.org/drawingml/2006/main">
            <a:r>
              <a:t>[0:46] Build 3. 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t>[1:06] Build 4. **Private data, untrusted content, and external communication together create an exfiltration risk. Break or constrain the path.** A web fetch can communicate externally. One integration can supply more than one capability. Removing a corner addresses this path; it does not establish safety from other threats. **A probabilistic filter is insufficient as the sole security boundary.**</a:t>
            </a:r>
          </a:p>
          <a:p xmlns:a="http://schemas.openxmlformats.org/drawingml/2006/main">
            <a:r>
              <a:t/>
            </a:r>
          </a:p>
          <a:p xmlns:a="http://schemas.openxmlformats.org/drawingml/2006/main">
            <a:r>
              <a:t>[1:42] Build 5. A separate workload identity with short-lived delegated authority is a **design pattern**. Keep it separate from supported requirements: enforce authorization outside the model, no token passthrough, minimal scopes.</a:t>
            </a:r>
          </a:p>
          <a:p xmlns:a="http://schemas.openxmlformats.org/drawingml/2006/main">
            <a:r>
              <a:t/>
            </a:r>
          </a:p>
          <a:p xmlns:a="http://schemas.openxmlformats.org/drawingml/2006/main">
            <a:r>
              <a:t>[1:58] Build 6. **EU AI Act Article 50: disclosure duties for covered direct AI interactions.** Role and scope matter.</a:t>
            </a:r>
          </a:p>
          <a:p xmlns:a="http://schemas.openxmlformats.org/drawingml/2006/main">
            <a:r>
              <a:t/>
            </a:r>
          </a:p>
          <a:p xmlns:a="http://schemas.openxmlformats.org/drawingml/2006/main">
            <a:r>
              <a:t>[2:12] Build 7. 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**You retain responsibility for the system's answers.** The underlying tribunal decision has not been independently checked here.</a:t>
            </a:r>
          </a:p>
          <a:p xmlns:a="http://schemas.openxmlformats.org/drawingml/2006/main">
            <a:r>
              <a:t/>
            </a:r>
          </a:p>
          <a:p xmlns:a="http://schemas.openxmlformats.org/drawingml/2006/main">
            <a:r>
              <a:t>[3:15] Advance to slide 19.</a:t>
            </a:r>
          </a:p>
          <a:p xmlns:a="http://schemas.openxmlformats.org/drawingml/2006/main">
            <a:r>
              <a:t/>
            </a:r>
          </a:p>
          <a:p xmlns:a="http://schemas.openxmlformats.org/drawingml/2006/main">
            <a:r>
              <a:t>Legal backup: the Commission says Article 50 applies from August 2, 2026. The covered direct-interaction duty in Article 50(1) falls on providers and has an exception when interaction with AI is obvious. Background machine-to-machine systems fall outside this direct-interaction scope. Deployers have distinct duties for emotion recognition, biometric categorisation, deepfakes, and certain public-interest text. Determine provider/deployer role and applicable EU scope. This slide is not a compliance determination for every deployment.</a:t>
            </a:r>
          </a:p>
          <a:p xmlns:a="http://schemas.openxmlformats.org/drawingml/2006/main">
            <a:r>
              <a:t/>
            </a:r>
          </a:p>
          <a:p xmlns:a="http://schemas.openxmlformats.org/drawingml/2006/main">
            <a:r>
              <a:t>Cut first: detailed metrics and guardrail list. Never cut capability labels, limits of the exfiltration model, evidence types, or Article 50 scope.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OpenTelemetry and Codex CLI / Devin CLI docs, checked September 14, 2026. Research §6 in `research/section-2.md`.</a:t>
            </a:r>
          </a:p>
          <a:p xmlns:a="http://schemas.openxmlformats.org/drawingml/2006/main">
            <a:r>
              <a:t>- Willison, June 2025, and OWASP, 2025 and 2026. Research §6. Trifecta is an exfiltration model.</a:t>
            </a:r>
          </a:p>
          <a:p xmlns:a="http://schemas.openxmlformats.org/drawingml/2006/main">
            <a:r>
              <a:t>- MCP, July 2026, and OWASP authorization. Research §3. Identity is a labeled design pattern.</a:t>
            </a:r>
          </a:p>
          <a:p xmlns:a="http://schemas.openxmlformats.org/drawingml/2006/main">
            <a:r>
              <a:t>- European Commission Article 50 FAQ, checked September 15, 2026. Research §6. [primary], with scope, roles, and exception in research and notes.</a:t>
            </a:r>
          </a:p>
          <a:p xmlns:a="http://schemas.openxmlformats.org/drawingml/2006/main">
            <a:r>
              <a:t>- EchoLeak analysis, June/September 2025; Fortune and AI Incident Database, July 2025; McCarthy Tétrault on Air Canada, February 2024. Research §6. Demonstration, secondary incident reporting, and secondary legal commentary respectively.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18b</a:t>
            </a:r>
          </a:p>
          <a:p xmlns:a="http://schemas.openxmlformats.org/drawingml/2006/main">
            <a:r>
              <a:t>Beat 2.6 Operating it, first half. Section 2. Time 3:15 of the beat's 4:30; slide 19 takes 1:15. Builds: 7.</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t>[0:16] Build 2. Model calls, tool calls, and agent steps need traces. OpenTelemetry's GenAI conventions remain Development. Measure **cost per completed task**, tail tokens, cache hits, loop iterations, and tool failures.</a:t>
            </a:r>
          </a:p>
          <a:p xmlns:a="http://schemas.openxmlformats.org/drawingml/2006/main">
            <a:r>
              <a:t/>
            </a:r>
          </a:p>
          <a:p xmlns:a="http://schemas.openxmlformats.org/drawingml/2006/main">
            <a:r>
              <a:t>[0:46] Build 3. 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t>[1:06] Build 4. **Private data, untrusted content, and external communication together create an exfiltration risk. Break or constrain the path.** A web fetch can communicate externally. One integration can supply more than one capability. Removing a corner addresses this path; it does not establish safety from other threats. **A probabilistic filter is insufficient as the sole security boundary.**</a:t>
            </a:r>
          </a:p>
          <a:p xmlns:a="http://schemas.openxmlformats.org/drawingml/2006/main">
            <a:r>
              <a:t/>
            </a:r>
          </a:p>
          <a:p xmlns:a="http://schemas.openxmlformats.org/drawingml/2006/main">
            <a:r>
              <a:t>[1:42] Build 5. A separate workload identity with short-lived delegated authority is a **design pattern**. Keep it separate from supported requirements: enforce authorization outside the model, no token passthrough, minimal scopes.</a:t>
            </a:r>
          </a:p>
          <a:p xmlns:a="http://schemas.openxmlformats.org/drawingml/2006/main">
            <a:r>
              <a:t/>
            </a:r>
          </a:p>
          <a:p xmlns:a="http://schemas.openxmlformats.org/drawingml/2006/main">
            <a:r>
              <a:t>[1:58] Build 6. **EU AI Act Article 50: disclosure duties for covered direct AI interactions.** Role and scope matter.</a:t>
            </a:r>
          </a:p>
          <a:p xmlns:a="http://schemas.openxmlformats.org/drawingml/2006/main">
            <a:r>
              <a:t/>
            </a:r>
          </a:p>
          <a:p xmlns:a="http://schemas.openxmlformats.org/drawingml/2006/main">
            <a:r>
              <a:t>[2:12] Build 7. 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**You retain responsibility for the system's answers.** The underlying tribunal decision has not been independently checked here.</a:t>
            </a:r>
          </a:p>
          <a:p xmlns:a="http://schemas.openxmlformats.org/drawingml/2006/main">
            <a:r>
              <a:t/>
            </a:r>
          </a:p>
          <a:p xmlns:a="http://schemas.openxmlformats.org/drawingml/2006/main">
            <a:r>
              <a:t>[3:15] Advance to slide 19.</a:t>
            </a:r>
          </a:p>
          <a:p xmlns:a="http://schemas.openxmlformats.org/drawingml/2006/main">
            <a:r>
              <a:t/>
            </a:r>
          </a:p>
          <a:p xmlns:a="http://schemas.openxmlformats.org/drawingml/2006/main">
            <a:r>
              <a:t>Legal backup: the Commission says Article 50 applies from August 2, 2026. The covered direct-interaction duty in Article 50(1) falls on providers and has an exception when interaction with AI is obvious. Background machine-to-machine systems fall outside this direct-interaction scope. Deployers have distinct duties for emotion recognition, biometric categorisation, deepfakes, and certain public-interest text. Determine provider/deployer role and applicable EU scope. This slide is not a compliance determination for every deployment.</a:t>
            </a:r>
          </a:p>
          <a:p xmlns:a="http://schemas.openxmlformats.org/drawingml/2006/main">
            <a:r>
              <a:t/>
            </a:r>
          </a:p>
          <a:p xmlns:a="http://schemas.openxmlformats.org/drawingml/2006/main">
            <a:r>
              <a:t>Cut first: detailed metrics and guardrail list. Never cut capability labels, limits of the exfiltration model, evidence types, or Article 50 scope.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OpenTelemetry and Codex CLI / Devin CLI docs, checked September 14, 2026. Research §6 in `research/section-2.md`.</a:t>
            </a:r>
          </a:p>
          <a:p xmlns:a="http://schemas.openxmlformats.org/drawingml/2006/main">
            <a:r>
              <a:t>- Willison, June 2025, and OWASP, 2025 and 2026. Research §6. Trifecta is an exfiltration model.</a:t>
            </a:r>
          </a:p>
          <a:p xmlns:a="http://schemas.openxmlformats.org/drawingml/2006/main">
            <a:r>
              <a:t>- MCP, July 2026, and OWASP authorization. Research §3. Identity is a labeled design pattern.</a:t>
            </a:r>
          </a:p>
          <a:p xmlns:a="http://schemas.openxmlformats.org/drawingml/2006/main">
            <a:r>
              <a:t>- European Commission Article 50 FAQ, checked September 15, 2026. Research §6. [primary], with scope, roles, and exception in research and notes.</a:t>
            </a:r>
          </a:p>
          <a:p xmlns:a="http://schemas.openxmlformats.org/drawingml/2006/main">
            <a:r>
              <a:t>- EchoLeak analysis, June/September 2025; Fortune and AI Incident Database, July 2025; McCarthy Tétrault on Air Canada, February 2024. Research §6. Demonstration, secondary incident reporting, and secondary legal commentary respectively.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19</a:t>
            </a:r>
          </a:p>
          <a:p xmlns:a="http://schemas.openxmlformats.org/drawingml/2006/main">
            <a:r>
              <a:t>Beat 2.6 Operating it, second half, plus the section wrap. Section 2. Time 1:15 of the beat's 4:30; slide 18 took 3:15.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**You own the approval process.** It can include a person approving now, an async workflow, or an enforced policy. The sandbox becomes infrastructure. The audit trail supports accountability. Disclosure duties depend on the product's role and scope.</a:t>
            </a:r>
          </a:p>
          <a:p xmlns:a="http://schemas.openxmlformats.org/drawingml/2006/main">
            <a:r>
              <a:t/>
            </a:r>
          </a:p>
          <a:p xmlns:a="http://schemas.openxmlformats.org/drawingml/2006/main">
            <a:r>
              <a:t>[0:27] Build 2. **The lethal trifecta, assembled one integration at a time.** Count capabilities. A web fetch can already communicate externally. One integration can supply multiple corners. Break or constrain the exfiltration path.</a:t>
            </a:r>
          </a:p>
          <a:p xmlns:a="http://schemas.openxmlformats.org/drawingml/2006/main">
            <a:r>
              <a:t/>
            </a:r>
          </a:p>
          <a:p xmlns:a="http://schemas.openxmlformats.org/drawingml/2006/main">
            <a:r>
              <a:t>[0:46] **When you are the owner, its answer is your answer.**</a:t>
            </a:r>
          </a:p>
          <a:p xmlns:a="http://schemas.openxmlformats.org/drawingml/2006/main">
            <a:r>
              <a:t/>
            </a:r>
          </a:p>
          <a:p xmlns:a="http://schemas.openxmlformats.org/drawingml/2006/main">
            <a:r>
              <a:t>[0:50] Build 3. **That is the map. Every box on it is something you can engineer, because most of it is engineering you already know how to do.**</a:t>
            </a:r>
          </a:p>
          <a:p xmlns:a="http://schemas.openxmlformats.org/drawingml/2006/main">
            <a:r>
              <a:t/>
            </a:r>
          </a:p>
          <a:p xmlns:a="http://schemas.openxmlformats.org/drawingml/2006/main">
            <a:r>
              <a:t>[1:15] Advance to slide 21.</a:t>
            </a:r>
          </a:p>
          <a:p xmlns:a="http://schemas.openxmlformats.org/drawingml/2006/main">
            <a:r>
              <a:t/>
            </a:r>
          </a:p>
          <a:p xmlns:a="http://schemas.openxmlformats.org/drawingml/2006/main">
            <a:r>
              <a:t>Legal backup: use the Commission's provider/deployer distinctions, applicable EU scope, and obvious-interaction exception from slide 18. The table summarizes covered direct AI interactions, not every deployment.</a:t>
            </a:r>
          </a:p>
          <a:p xmlns:a="http://schemas.openxmlformats.org/drawingml/2006/main">
            <a:r>
              <a:t/>
            </a:r>
          </a:p>
          <a:p xmlns:a="http://schemas.openxmlformats.org/drawingml/2006/main">
            <a:r>
              <a:t>Cut first: the sandbox and audit translations. Never cut ownership of approvals, capability overlap, legal scope, or the section-wrap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Willison, June 2025, and European Commission Article 50 FAQ, checked September 15, 2026. Research §6 in `research/section-2.md`.</a:t>
            </a:r>
          </a:p>
          <a:p xmlns:a="http://schemas.openxmlformats.org/drawingml/2006/main">
            <a:r>
              <a:t>- OWASP authorization, Research §3. Human approval, async workflows, and enforced policies depend on the product.</a:t>
            </a:r>
          </a:p>
          <a:p xmlns:a="http://schemas.openxmlformats.org/drawingml/2006/main">
            <a:r>
              <a:t>- Landscape-yours variant generated from the base SVG. Badges preserved.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19b</a:t>
            </a:r>
          </a:p>
          <a:p xmlns:a="http://schemas.openxmlformats.org/drawingml/2006/main">
            <a:r>
              <a:t>Beat 2.6 Operating it, second half, plus the section wrap. Section 2. Time 1:15 of the beat's 4:30; slide 18 took 3:15. Builds: 3.</a:t>
            </a:r>
          </a:p>
          <a:p xmlns:a="http://schemas.openxmlformats.org/drawingml/2006/main">
            <a:r>
              <a:t>Source slide 19, build 3. Hard cut to the section wrap at 0:50.</a:t>
            </a:r>
          </a:p>
          <a:p xmlns:a="http://schemas.openxmlformats.org/drawingml/2006/main">
            <a:r>
              <a:t/>
            </a:r>
          </a:p>
          <a:p xmlns:a="http://schemas.openxmlformats.org/drawingml/2006/main">
            <a:r>
              <a:t/>
            </a:r>
          </a:p>
          <a:p xmlns:a="http://schemas.openxmlformats.org/drawingml/2006/main">
            <a:r>
              <a:t/>
            </a:r>
          </a:p>
          <a:p xmlns:a="http://schemas.openxmlformats.org/drawingml/2006/main">
            <a:r>
              <a:t>[0:00] **You own the approval process.** It can include a person approving now, an async workflow, or an enforced policy. The sandbox becomes infrastructure. The audit trail supports accountability. Disclosure duties depend on the product's role and scope.</a:t>
            </a:r>
          </a:p>
          <a:p xmlns:a="http://schemas.openxmlformats.org/drawingml/2006/main">
            <a:r>
              <a:t/>
            </a:r>
          </a:p>
          <a:p xmlns:a="http://schemas.openxmlformats.org/drawingml/2006/main">
            <a:r>
              <a:t>[0:27] Build 2. **The lethal trifecta, assembled one integration at a time.** Count capabilities. A web fetch can already communicate externally. One integration can supply multiple corners. Break or constrain the exfiltration path.</a:t>
            </a:r>
          </a:p>
          <a:p xmlns:a="http://schemas.openxmlformats.org/drawingml/2006/main">
            <a:r>
              <a:t/>
            </a:r>
          </a:p>
          <a:p xmlns:a="http://schemas.openxmlformats.org/drawingml/2006/main">
            <a:r>
              <a:t>[0:46] **When you are the owner, its answer is your answer.**</a:t>
            </a:r>
          </a:p>
          <a:p xmlns:a="http://schemas.openxmlformats.org/drawingml/2006/main">
            <a:r>
              <a:t/>
            </a:r>
          </a:p>
          <a:p xmlns:a="http://schemas.openxmlformats.org/drawingml/2006/main">
            <a:r>
              <a:t>[0:50] Build 3. **That is the map. Every box on it is something you can engineer, because most of it is engineering you already know how to do.**</a:t>
            </a:r>
          </a:p>
          <a:p xmlns:a="http://schemas.openxmlformats.org/drawingml/2006/main">
            <a:r>
              <a:t/>
            </a:r>
          </a:p>
          <a:p xmlns:a="http://schemas.openxmlformats.org/drawingml/2006/main">
            <a:r>
              <a:t>[1:15] Advance to slide 21.</a:t>
            </a:r>
          </a:p>
          <a:p xmlns:a="http://schemas.openxmlformats.org/drawingml/2006/main">
            <a:r>
              <a:t/>
            </a:r>
          </a:p>
          <a:p xmlns:a="http://schemas.openxmlformats.org/drawingml/2006/main">
            <a:r>
              <a:t>Legal backup: use the Commission's provider/deployer distinctions, applicable EU scope, and obvious-interaction exception from slide 18. The table summarizes covered direct AI interactions, not every deployment.</a:t>
            </a:r>
          </a:p>
          <a:p xmlns:a="http://schemas.openxmlformats.org/drawingml/2006/main">
            <a:r>
              <a:t/>
            </a:r>
          </a:p>
          <a:p xmlns:a="http://schemas.openxmlformats.org/drawingml/2006/main">
            <a:r>
              <a:t>Cut first: the sandbox and audit translations. Never cut ownership of approvals, capability overlap, legal scope, or the section-wrap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Willison, June 2025, and European Commission Article 50 FAQ, checked September 15, 2026. Research §6 in `research/section-2.md`.</a:t>
            </a:r>
          </a:p>
          <a:p xmlns:a="http://schemas.openxmlformats.org/drawingml/2006/main">
            <a:r>
              <a:t>- OWASP authorization, Research §3. Human approval, async workflows, and enforced policies depend on the product.</a:t>
            </a:r>
          </a:p>
          <a:p xmlns:a="http://schemas.openxmlformats.org/drawingml/2006/main">
            <a:r>
              <a:t>- Landscape-yours variant generated from the base SVG. Badges preserved.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20</a:t>
            </a:r>
          </a:p>
          <a:p xmlns:a="http://schemas.openxmlformats.org/drawingml/2006/main">
            <a:r>
              <a:t>Beat 3.0 Transition. Section 3. Time 0:10.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Everything in the last twenty-five minutes was engineering. **Most of it is engineering you already do.**</a:t>
            </a:r>
          </a:p>
          <a:p xmlns:a="http://schemas.openxmlformats.org/drawingml/2006/main">
            <a:r>
              <a:t/>
            </a:r>
          </a:p>
          <a:p xmlns:a="http://schemas.openxmlformats.org/drawingml/2006/main">
            <a:r>
              <a:t>[0:10] Advance to slide 21.</a:t>
            </a:r>
          </a:p>
          <a:p xmlns:a="http://schemas.openxmlformats.org/drawingml/2006/main">
            <a:r>
              <a:t/>
            </a:r>
          </a:p>
          <a:p xmlns:a="http://schemas.openxmlformats.org/drawingml/2006/main">
            <a:r>
              <a:t>If running long, shorten the pause. Never cut the bridge into the skill mapping.</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Section 2 synthesis and the mapping on slide 21. Research §1 in `research/section-3.md`.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21</a:t>
            </a:r>
          </a:p>
          <a:p xmlns:a="http://schemas.openxmlformats.org/drawingml/2006/main">
            <a:r>
              <a:t>Beat 3.1 What transfers. Section 3. Time 1:05.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 The introductory bridge was spoken on slide 20.</a:t>
            </a:r>
          </a:p>
          <a:p xmlns:a="http://schemas.openxmlformats.org/drawingml/2006/main">
            <a:r>
              <a:t/>
            </a:r>
          </a:p>
          <a:p xmlns:a="http://schemas.openxmlformats.org/drawingml/2006/main">
            <a:r>
              <a:t>**Decomposition and systems thinking transfer whole.** Matt Morgis at Elsevier: "For experienced engineers who know how to break problems down, AI tools are an incredible force multiplier." The harness is a systems design problem. **Interface design becomes tool design.** The same instincts about contracts, naming, granularity, and error handling. The caller changed. **Testing discipline extends to evals.**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t>[0:40] Build 2.</a:t>
            </a:r>
          </a:p>
          <a:p xmlns:a="http://schemas.openxmlformats.org/drawingml/2006/main">
            <a:r>
              <a:t/>
            </a:r>
          </a:p>
          <a:p xmlns:a="http://schemas.openxmlformats.org/drawingml/2006/main">
            <a:r>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t>[0:56] **You are not starting over. You are adding a layer.**</a:t>
            </a:r>
          </a:p>
          <a:p xmlns:a="http://schemas.openxmlformats.org/drawingml/2006/main">
            <a:r>
              <a:t/>
            </a:r>
          </a:p>
          <a:p xmlns:a="http://schemas.openxmlformats.org/drawingml/2006/main">
            <a:r>
              <a:t>[1:05] Advance to slide 22.</a:t>
            </a:r>
          </a:p>
          <a:p xmlns:a="http://schemas.openxmlformats.org/drawingml/2006/main">
            <a:r>
              <a:t/>
            </a:r>
          </a:p>
          <a:p xmlns:a="http://schemas.openxmlformats.org/drawingml/2006/main">
            <a:r>
              <a:t>The track runs about 1:00. Cuttable if Section 3 runs long, in this order: the Morgis quote spoken aloud, since it is on the slide; the three near-identity rows spoken as sentences, reduced to "Observability, security, and operations transfer almost unchanged." Do not cut the three bold transformations, the field evidence,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Orosz, "AI Engineering in the real world," The Pragmatic Engineer, March 25, 2025. Morgis quote verbatim; profiles at incident.io, Sentry, Wordsmith, Augment Code, Elsevier, Simply Business, and DSI; Ryan Cogswell at DSI, twenty-five years, about two months. Research §1 in `research/section-3.md`. `[primary]`.</a:t>
            </a:r>
          </a:p>
          <a:p xmlns:a="http://schemas.openxmlformats.org/drawingml/2006/main">
            <a:r>
              <a:t>- OpenTelemetry GenAI conventions and OWASP, as referenced in rows 4 and 5, are sourced on slide 18. Research §6 in `research/section-2.md`. `[primary]`.</a:t>
            </a:r>
          </a:p>
          <a:p xmlns:a="http://schemas.openxmlformats.org/drawingml/2006/main">
            <a:r>
              <a:t>- The six-row mapping is the talk's own framing.</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22</a:t>
            </a:r>
          </a:p>
          <a:p xmlns:a="http://schemas.openxmlformats.org/drawingml/2006/main">
            <a:r>
              <a:t>Beat 3.2 What is new. Section 3. Time 1:15.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**Prompt engineering, context engineering, harness engineering.** This is a teaching frame for expanding responsibility. The years mark vocabulary in cited posts, not the invention of these practices.</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The competencies are unranked. Model behavior intuition, informed by reading outputs. Context engineering. Tool design for a caller that reads the description every time. Harness and loop design. **Evals and error analysis.** AI security, because the attack surface is now the model's reasoning. And cost and latency as first-class design constraints.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The one most engineers find hardest, from Ross McNairn at Wordsmith: **"Getting comfortable with evaluations and iterating on non-deterministic outputs is the biggest challenge most devs have."**</a:t>
            </a:r>
          </a:p>
          <a:p xmlns:a="http://schemas.openxmlformats.org/drawingml/2006/main">
            <a:r>
              <a:t/>
            </a:r>
          </a:p>
          <a:p xmlns:a="http://schemas.openxmlformats.org/drawingml/2006/main">
            <a:r>
              <a:t>[0:54] **The new skill is not prompting. It is being comfortable measuring a system you cannot fully specify.**</a:t>
            </a:r>
          </a:p>
          <a:p xmlns:a="http://schemas.openxmlformats.org/drawingml/2006/main">
            <a:r>
              <a:t/>
            </a:r>
          </a:p>
          <a:p xmlns:a="http://schemas.openxmlformats.org/drawingml/2006/main">
            <a:r>
              <a:t>[1:15] Advance to slide 23.</a:t>
            </a:r>
          </a:p>
          <a:p xmlns:a="http://schemas.openxmlformats.org/drawingml/2006/main">
            <a:r>
              <a:t/>
            </a:r>
          </a:p>
          <a:p xmlns:a="http://schemas.openxmlformats.org/drawingml/2006/main">
            <a:r>
              <a:t>The track runs about 1:02. The slack belongs to the quote and the takeaway. Cuttable if Section 3 runs long: the sublines on items 1, 3, and 6, spoken as the bare competency names. Do not cut the ladder sentence, the unranked competencies, the McNairn quote,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ladder: prompt engineering as the 2023 vocabulary; context engineering from Karpathy, June 2025, and Anthropic, September 2025; harness engineering from OpenAI, February 2026, and Osmani, April 2026. Research §2 in `research/section-3.md` and §7 in `research/section-2.md`. `[primary]` for the dated posts. The year labels are the talk's own placement.</a:t>
            </a:r>
          </a:p>
          <a:p xmlns:a="http://schemas.openxmlformats.org/drawingml/2006/main">
            <a:r>
              <a:t>- Husain, "AI Evals: Everything You Need to Know," updated September 2026: "We've spent 60-80% of our development time on error analysis and evaluation." Research §2 in `research/section-3.md`. `[primary]`.</a:t>
            </a:r>
          </a:p>
          <a:p xmlns:a="http://schemas.openxmlformats.org/drawingml/2006/main">
            <a:r>
              <a:t>- Orosz, "AI Engineering in the real world," March 2025. McNairn quote verbatim. Research §2. `[primary]`.</a:t>
            </a:r>
          </a:p>
          <a:p xmlns:a="http://schemas.openxmlformats.org/drawingml/2006/main">
            <a:r>
              <a:t>- No source ranks these competencies. Research §2. Husain's 60–80% figure describes his teams' experience and remains backup only, not a priority rule.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22b</a:t>
            </a:r>
          </a:p>
          <a:p xmlns:a="http://schemas.openxmlformats.org/drawingml/2006/main">
            <a:r>
              <a:t>Beat 3.2 What is new. Section 3. Time 1:15.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**Prompt engineering, context engineering, harness engineering.** This is a teaching frame for expanding responsibility. The years mark vocabulary in cited posts, not the invention of these practices.</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The competencies are unranked. Model behavior intuition, informed by reading outputs. Context engineering. Tool design for a caller that reads the description every time. Harness and loop design. **Evals and error analysis.** AI security, because the attack surface is now the model's reasoning. And cost and latency as first-class design constraints.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The one most engineers find hardest, from Ross McNairn at Wordsmith: **"Getting comfortable with evaluations and iterating on non-deterministic outputs is the biggest challenge most devs have."**</a:t>
            </a:r>
          </a:p>
          <a:p xmlns:a="http://schemas.openxmlformats.org/drawingml/2006/main">
            <a:r>
              <a:t/>
            </a:r>
          </a:p>
          <a:p xmlns:a="http://schemas.openxmlformats.org/drawingml/2006/main">
            <a:r>
              <a:t>[0:54] **The new skill is not prompting. It is being comfortable measuring a system you cannot fully specify.**</a:t>
            </a:r>
          </a:p>
          <a:p xmlns:a="http://schemas.openxmlformats.org/drawingml/2006/main">
            <a:r>
              <a:t/>
            </a:r>
          </a:p>
          <a:p xmlns:a="http://schemas.openxmlformats.org/drawingml/2006/main">
            <a:r>
              <a:t>[1:15] Advance to slide 23.</a:t>
            </a:r>
          </a:p>
          <a:p xmlns:a="http://schemas.openxmlformats.org/drawingml/2006/main">
            <a:r>
              <a:t/>
            </a:r>
          </a:p>
          <a:p xmlns:a="http://schemas.openxmlformats.org/drawingml/2006/main">
            <a:r>
              <a:t>The track runs about 1:02. The slack belongs to the quote and the takeaway. Cuttable if Section 3 runs long: the sublines on items 1, 3, and 6, spoken as the bare competency names. Do not cut the ladder sentence, the unranked competencies, the McNairn quote,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ladder: prompt engineering as the 2023 vocabulary; context engineering from Karpathy, June 2025, and Anthropic, September 2025; harness engineering from OpenAI, February 2026, and Osmani, April 2026. Research §2 in `research/section-3.md` and §7 in `research/section-2.md`. `[primary]` for the dated posts. The year labels are the talk's own placement.</a:t>
            </a:r>
          </a:p>
          <a:p xmlns:a="http://schemas.openxmlformats.org/drawingml/2006/main">
            <a:r>
              <a:t>- Husain, "AI Evals: Everything You Need to Know," updated September 2026: "We've spent 60-80% of our development time on error analysis and evaluation." Research §2 in `research/section-3.md`. `[primary]`.</a:t>
            </a:r>
          </a:p>
          <a:p xmlns:a="http://schemas.openxmlformats.org/drawingml/2006/main">
            <a:r>
              <a:t>- Orosz, "AI Engineering in the real world," March 2025. McNairn quote verbatim. Research §2. `[primary]`.</a:t>
            </a:r>
          </a:p>
          <a:p xmlns:a="http://schemas.openxmlformats.org/drawingml/2006/main">
            <a:r>
              <a:t>- No source ranks these competencies. Research §2. Husain's 60–80% figure describes his teams' experience and remains backup only, not a priority rule.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23</a:t>
            </a:r>
          </a:p>
          <a:p xmlns:a="http://schemas.openxmlformats.org/drawingml/2006/main">
            <a:r>
              <a:t>Beat 3.3 The pitfalls, on one slide. Section 3. Time 0:35. Builds: 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 Let them read it.</a:t>
            </a:r>
          </a:p>
          <a:p xmlns:a="http://schemas.openxmlformats.org/drawingml/2006/main">
            <a:r>
              <a:t/>
            </a:r>
          </a:p>
          <a:p xmlns:a="http://schemas.openxmlformats.org/drawingml/2006/main">
            <a:r>
              <a:t>You have seen all six.</a:t>
            </a:r>
          </a:p>
          <a:p xmlns:a="http://schemas.openxmlformats.org/drawingml/2006/main">
            <a:r>
              <a:t/>
            </a:r>
          </a:p>
          <a:p xmlns:a="http://schemas.openxmlformats.org/drawingml/2006/main">
            <a:r>
              <a:t>[0:05] **Every one is a symptom of the same thing: treating the demo as the product.** works.any() shipped as works.all().</a:t>
            </a:r>
          </a:p>
          <a:p xmlns:a="http://schemas.openxmlformats.org/drawingml/2006/main">
            <a:r>
              <a:t/>
            </a:r>
          </a:p>
          <a:p xmlns:a="http://schemas.openxmlformats.org/drawingml/2006/main">
            <a:r>
              <a:t>[0:13] 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t>[0:29] **Every pitfall on this list is a demo mistaken for a product.**</a:t>
            </a:r>
          </a:p>
          <a:p xmlns:a="http://schemas.openxmlformats.org/drawingml/2006/main">
            <a:r>
              <a:t/>
            </a:r>
          </a:p>
          <a:p xmlns:a="http://schemas.openxmlformats.org/drawingml/2006/main">
            <a:r>
              <a:t>[0:35] Advance to slide 24.</a:t>
            </a:r>
          </a:p>
          <a:p xmlns:a="http://schemas.openxmlformats.org/drawingml/2006/main">
            <a:r>
              <a:t/>
            </a:r>
          </a:p>
          <a:p xmlns:a="http://schemas.openxmlformats.org/drawingml/2006/main">
            <a:r>
              <a:t>The track runs about 0:34. The five seconds of silence at the top are deliberate; the audience needs them to recognize the six lines. Cuttable if Section 3 runs long: the framework paragraph, which returns on slide 24 as "own the harness." Do not cut the two bold lines.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six pitfalls are Section 2's, one per area. Research §1 through §6 in `research/section-2.md`.</a:t>
            </a:r>
          </a:p>
          <a:p xmlns:a="http://schemas.openxmlformats.org/drawingml/2006/main">
            <a:r>
              <a:t>- Anthropic, "Building effective agents," December 2024. Frameworks "often create extra layers of abstraction that can obscure the underlying prompts and responses, making them harder to debug." Quoted as a substring. Research §3 in `research/section-3.md`. `[primary]`.</a:t>
            </a:r>
          </a:p>
          <a:p xmlns:a="http://schemas.openxmlformats.org/drawingml/2006/main">
            <a:r>
              <a:t>- works.any() and works.all() from slide 1. Research §2 in `research/section-1.md`.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Decide whether the framework pitfall appears as a second build or stays spoken.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24</a:t>
            </a:r>
          </a:p>
          <a:p xmlns:a="http://schemas.openxmlformats.org/drawingml/2006/main">
            <a:r>
              <a:t>Beat 3.4 The roadmap. Section 3. Time 1:25, including story #3 at 0:30. Builds: 2.</a:t>
            </a:r>
          </a:p>
          <a:p xmlns:a="http://schemas.openxmlformats.org/drawingml/2006/main">
            <a:r>
              <a:t>Sublines are spoken. The adoption arc replaces the four roadmap rows.</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Four steps. **Look before you build. On Monday, review twenty to fifty outputs of whatever AI feature you are closest to, by hand.** Write down what is wrong with each one. That is your first eval. Do it before any infrastructure.</a:t>
            </a:r>
          </a:p>
          <a:p xmlns:a="http://schemas.openxmlformats.org/drawingml/2006/main">
            <a:r>
              <a:t/>
            </a:r>
          </a:p>
          <a:p xmlns:a="http://schemas.openxmlformats.org/drawingml/2006/main">
            <a:r>
              <a:t>[0:18] **Start constrained. A single model call with retrieval and examples. Then a workflow on predefined code paths. Add a loop only when it demonstrably improves outcomes.**</a:t>
            </a:r>
          </a:p>
          <a:p xmlns:a="http://schemas.openxmlformats.org/drawingml/2006/main">
            <a:r>
              <a:t/>
            </a:r>
          </a:p>
          <a:p xmlns:a="http://schemas.openxmlformats.org/drawingml/2006/main">
            <a:r>
              <a:t>[0:29] Own the harness. Your prompts, your context window, your control flow. Learn the loop before you adopt a framework for it, so the framework is a convenience you can evaluate, not a black box you depend on.</a:t>
            </a:r>
          </a:p>
          <a:p xmlns:a="http://schemas.openxmlformats.org/drawingml/2006/main">
            <a:r>
              <a:t/>
            </a:r>
          </a:p>
          <a:p xmlns:a="http://schemas.openxmlformats.org/drawingml/2006/main">
            <a:r>
              <a:t>[0:41] **Add autonomy as your evals earn it.** Every step up is paid for by a check that catches what it breaks.</a:t>
            </a:r>
          </a:p>
          <a:p xmlns:a="http://schemas.openxmlformats.org/drawingml/2006/main">
            <a:r>
              <a:t/>
            </a:r>
          </a:p>
          <a:p xmlns:a="http://schemas.openxmlformats.org/drawingml/2006/main">
            <a:r>
              <a:t>[0:49] Build 2.</a:t>
            </a:r>
          </a:p>
          <a:p xmlns:a="http://schemas.openxmlformats.org/drawingml/2006/main">
            <a:r>
              <a:t/>
            </a:r>
          </a:p>
          <a:p xmlns:a="http://schemas.openxmlformats.org/drawingml/2006/main">
            <a:r>
              <a:t>On the slide, the shape of Mitchell Hashimoto's own year: six steps, each earned by the last.</a:t>
            </a:r>
          </a:p>
          <a:p xmlns:a="http://schemas.openxmlformats.org/drawingml/2006/main">
            <a:r>
              <a:t/>
            </a:r>
          </a:p>
          <a:p xmlns:a="http://schemas.openxmlformats.org/drawingml/2006/main">
            <a:r>
              <a:t>[0:55] Story #3.</a:t>
            </a:r>
          </a:p>
          <a:p xmlns:a="http://schemas.openxmlformats.org/drawingml/2006/main">
            <a:r>
              <a:t/>
            </a:r>
          </a:p>
          <a:p xmlns:a="http://schemas.openxmlformats.org/drawingml/2006/main">
            <a:r>
              <a:t>**[your story #3]**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t>[1:25] **Autonomy is earned by evals, one step at a time.** Advance to slide 25 on the last word.</a:t>
            </a:r>
          </a:p>
          <a:p xmlns:a="http://schemas.openxmlformats.org/drawingml/2006/main">
            <a:r>
              <a:t/>
            </a:r>
          </a:p>
          <a:p xmlns:a="http://schemas.openxmlformats.org/drawingml/2006/main">
            <a:r>
              <a:t>The track runs about 1:27 with the story. If story #3 is not told, speak the arc in full instead: chat, then an agent reproducing manual work, then background agents, then delegating what you are confident in, then building verification tools, then continuous operation. Each step earned by the last. That version runs about 1:10.</a:t>
            </a:r>
          </a:p>
          <a:p xmlns:a="http://schemas.openxmlformats.org/drawingml/2006/main">
            <a:r>
              <a:t/>
            </a:r>
          </a:p>
          <a:p xmlns:a="http://schemas.openxmlformats.org/drawingml/2006/main">
            <a:r>
              <a:t>Cuttable if Section 3 runs long, in this order: the second sentence of "own the harness"; "Write down what is wrong with each one. That is your first eval." Backup for questions, not spoken: Anthropic's "find the simplest solution possible" and OpenAI's "start small, validate with real users, and grow."</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Husain, "AI Evals: Everything You Need to Know": "Start with error analysis, not infrastructure. Spend 30 minutes manually reviewing 20-50 LLM outputs." Research §4 in `research/section-3.md`. `[primary]`.</a:t>
            </a:r>
          </a:p>
          <a:p xmlns:a="http://schemas.openxmlformats.org/drawingml/2006/main">
            <a:r>
              <a:t>- Anthropic, "Building effective agents," December 2024: "we recommend finding the simplest solution possible"; "optimizing single LLM calls with retrieval and in-context examples is usually enough"; "adding complexity only when it demonstrably improves outcomes." Research §5 in `research/section-1.md`. `[primary]`.</a:t>
            </a:r>
          </a:p>
          <a:p xmlns:a="http://schemas.openxmlformats.org/drawingml/2006/main">
            <a:r>
              <a:t>- OpenAI, "A practical guide to building agents," 2025: "Start small, validate with real users, and grow capabilities over time." Research §4 in `research/section-3.md`. Quoted from the PDF; page numbers unconfirmed. Backup only.</a:t>
            </a:r>
          </a:p>
          <a:p xmlns:a="http://schemas.openxmlformats.org/drawingml/2006/main">
            <a:r>
              <a:t>- 12-Factor Agents for "own your prompts, own your context window, own your control flow." Research §4 in `research/section-2.md`. `[primary]`.</a:t>
            </a:r>
          </a:p>
          <a:p xmlns:a="http://schemas.openxmlformats.org/drawingml/2006/main">
            <a:r>
              <a:t>- Hashimoto, "My AI Adoption Journey," February 5, 2026. The six-step arc, paraphrased. Do not credit him with the phrase "harness engineering." Research §4 in `research/section-3.md`.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Story #3.</a:t>
            </a:r>
          </a:p>
          <a:p xmlns:a="http://schemas.openxmlformats.org/drawingml/2006/main">
            <a:r>
              <a:t>- Sublines stay spoken under the design brief's body budget.</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25</a:t>
            </a:r>
          </a:p>
          <a:p xmlns:a="http://schemas.openxmlformats.org/drawingml/2006/main">
            <a:r>
              <a:t>Beat 3.5 Resources and close, first half. Section 3. Time 0:08 of the beat's 0:30; slide 26 takes 0:22.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a:t>
            </a:r>
          </a:p>
          <a:p xmlns:a="http://schemas.openxmlformats.org/drawingml/2006/main">
            <a:r>
              <a:t/>
            </a:r>
          </a:p>
          <a:p xmlns:a="http://schemas.openxmlformats.org/drawingml/2006/main">
            <a:r>
              <a:t>Resources. They will be in the deck, so take the photo now.</a:t>
            </a:r>
          </a:p>
          <a:p xmlns:a="http://schemas.openxmlformats.org/drawingml/2006/main">
            <a:r>
              <a:t/>
            </a:r>
          </a:p>
          <a:p xmlns:a="http://schemas.openxmlformats.org/drawingml/2006/main">
            <a:r>
              <a:t>[0:08] Advance to slide 26.</a:t>
            </a:r>
          </a:p>
          <a:p xmlns:a="http://schemas.openxmlformats.org/drawingml/2006/main">
            <a:r>
              <a:t/>
            </a:r>
          </a:p>
          <a:p xmlns:a="http://schemas.openxmlformats.org/drawingml/2006/main">
            <a:r>
              <a:t>Nothing else is spoken. If someone photographs it slowly, wait; the close can absorb a few seconds.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Every item is cited in Section 2 or 3 and traced in the research files. The forthcoming Shankar and Husain book is listed for October 31, 2026 with ISBN 9798341660724; say "October" and nothing more precise. Research §4 in `research/section-3.md`.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Whether to add a QR code, and to what page.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26</a:t>
            </a:r>
          </a:p>
          <a:p xmlns:a="http://schemas.openxmlformats.org/drawingml/2006/main">
            <a:r>
              <a:t>Beat 3.5 Resources and close, second half. Section 3. Time 0:22 of the beat's 0:30; slide 25 took 0:08. Builds: 1. Stays up for the fifteen minutes of questions.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a:t>
            </a:r>
          </a:p>
          <a:p xmlns:a="http://schemas.openxmlformats.org/drawingml/2006/main">
            <a:r>
              <a:t/>
            </a:r>
          </a:p>
          <a:p xmlns:a="http://schemas.openxmlformats.org/drawingml/2006/main">
            <a:r>
              <a:t>**Using AI makes you an AI-enabled software engineer. Engineering systems that depend on AI makes you an AI engineer.** The difference is not the tools. **It is what you are responsible for.**</a:t>
            </a:r>
          </a:p>
          <a:p xmlns:a="http://schemas.openxmlformats.org/drawingml/2006/main">
            <a:r>
              <a:t/>
            </a:r>
          </a:p>
          <a:p xmlns:a="http://schemas.openxmlformats.org/drawingml/2006/main">
            <a:r>
              <a:t>[0:15] Build 1.</a:t>
            </a:r>
          </a:p>
          <a:p xmlns:a="http://schemas.openxmlformats.org/drawingml/2006/main">
            <a:r>
              <a:t/>
            </a:r>
          </a:p>
          <a:p xmlns:a="http://schemas.openxmlformats.org/drawingml/2006/main">
            <a:r>
              <a:t>We have fifteen minutes for your questions.</a:t>
            </a:r>
          </a:p>
          <a:p xmlns:a="http://schemas.openxmlformats.org/drawingml/2006/main">
            <a:r>
              <a:t/>
            </a:r>
          </a:p>
          <a:p xmlns:a="http://schemas.openxmlformats.org/drawingml/2006/main">
            <a:r>
              <a:t>[0:22] Section 4 begins. The slide stays.</a:t>
            </a:r>
          </a:p>
          <a:p xmlns:a="http://schemas.openxmlformats.org/drawingml/2006/main">
            <a:r>
              <a:t/>
            </a:r>
          </a:p>
          <a:p xmlns:a="http://schemas.openxmlformats.org/drawingml/2006/main">
            <a:r>
              <a:t>## Backup for the fifteen minutes</a:t>
            </a:r>
          </a:p>
          <a:p xmlns:a="http://schemas.openxmlformats.org/drawingml/2006/main">
            <a:r>
              <a:t/>
            </a:r>
          </a:p>
          <a:p xmlns:a="http://schemas.openxmlformats.org/drawingml/2006/main">
            <a:r>
              <a:t>The outline's Section 4 is canonical; this is the podium copy. Two-line answers, each traced to a slide.</a:t>
            </a:r>
          </a:p>
          <a:p xmlns:a="http://schemas.openxmlformats.org/drawingml/2006/main">
            <a:r>
              <a:t/>
            </a:r>
          </a:p>
          <a:p xmlns:a="http://schemas.openxmlformats.org/drawingml/2006/main">
            <a:r>
              <a:t>1. **Do I need to learn machine learning first?** You can begin without training a model. Learn enough about model behavior, retrieval, evaluation, and uncertainty to investigate failures.</a:t>
            </a:r>
          </a:p>
          <a:p xmlns:a="http://schemas.openxmlformats.org/drawingml/2006/main">
            <a:r>
              <a:t>2. **Which framework should I learn?** Build or inspect a small loop whose state and tool calls you understand. Choose abstractions you can observe, test, and replace.</a:t>
            </a:r>
          </a:p>
          <a:p xmlns:a="http://schemas.openxmlformats.org/drawingml/2006/main">
            <a:r>
              <a:t>3. **How are evals different from tests, concretely?** Evals are tests that measure AI behavior across cases and repeated trials. Code checks, model graders, and human review can all contribute. Capability suites probe limits; regression suites should keep established cases passing. Inside and outside the loop are this talk's organizing model.</a:t>
            </a:r>
          </a:p>
          <a:p xmlns:a="http://schemas.openxmlformats.org/drawingml/2006/main">
            <a:r>
              <a:t>4. **Is prompt injection solved?** Investigate the specific attack path: untrusted content influencing actions, private data access, or external communication. Enforce access and action limits outside the model. Breaking an exfiltration path does not solve every security threat.</a:t>
            </a:r>
          </a:p>
          <a:p xmlns:a="http://schemas.openxmlformats.org/drawingml/2006/main">
            <a:r>
              <a:t>5. **Single agent or multi-agent?** Start with a simple call or workflow and measure whether more autonomy helps. Use task decomposition and observed gains to decide. Anthropic's historical 90.2% quality gain compared research systems; its roughly 15x token comparison was against chat, not the single-agent research baseline.</a:t>
            </a:r>
          </a:p>
          <a:p xmlns:a="http://schemas.openxmlformats.org/drawingml/2006/main">
            <a:r>
              <a:t>6. **What about cost at scale?** Measure cost per completed task at the required quality, including failures, judge overhead, and tail latency. Test caching and routing on your traffic, preserve useful stable prefixes, and enforce token and action budgets. Correctness and authorization take precedence over cache savings.</a:t>
            </a:r>
          </a:p>
          <a:p xmlns:a="http://schemas.openxmlformats.org/drawingml/2006/main">
            <a:r>
              <a:t>7. **Will better models absorb the harness and make this obsolete?** My judgment is that some mechanisms will simplify, but the future architecture is uncertain. The product still needs explicit permissions, integration, measurement, and accountable operation.</a:t>
            </a:r>
          </a:p>
          <a:p xmlns:a="http://schemas.openxmlformats.org/drawingml/2006/main">
            <a:r>
              <a:t>8. **How do I get hired as an AI engineer?** Demonstrate a small system, its failure cases, its evals, and improvements justified by evidence. Show that you can investigate failures and operate within clear limits. Hiring figures are optional backup context, not the evidence of your competence.</a:t>
            </a:r>
          </a:p>
          <a:p xmlns:a="http://schemas.openxmlformats.org/drawingml/2006/main">
            <a:r>
              <a:t>9. **How do I trust the judge?** Use direct checks where possible. Calibrate subjective graders against domain experts, review disagreements, and evaluate on separate data that was not used to tune the judge. Recheck calibration as tasks and models change.</a:t>
            </a:r>
          </a:p>
          <a:p xmlns:a="http://schemas.openxmlformats.org/drawingml/2006/main">
            <a:r>
              <a:t>10. **How much accuracy is enough to ship?** Set a requirement for the use case and failure severity. Measure under expected operating conditions, examine serious failure cases separately, and design human fallback and safe failure handling. There is no universal threshold.</a:t>
            </a:r>
          </a:p>
          <a:p xmlns:a="http://schemas.openxmlformats.org/drawingml/2006/main">
            <a:r>
              <a:t/>
            </a:r>
          </a:p>
          <a:p xmlns:a="http://schemas.openxmlformats.org/drawingml/2006/main">
            <a:r>
              <a:t>Optional hiring backup: Dice reported AI/ML postings up 101% year over year in August 2026 versus 18% for all tech postings. The publisher page was checked September 14. Dice also reported LinkedIn's #1 AI Engineer ranking; the ranking is secondary evidence. Research §1 in `research/section-3.md`.</a:t>
            </a:r>
          </a:p>
          <a:p xmlns:a="http://schemas.openxmlformats.org/drawingml/2006/main">
            <a:r>
              <a:t/>
            </a:r>
          </a:p>
          <a:p xmlns:a="http://schemas.openxmlformats.org/drawingml/2006/main">
            <a:r>
              <a:t>If the room is quiet:</a:t>
            </a:r>
          </a:p>
          <a:p xmlns:a="http://schemas.openxmlformats.org/drawingml/2006/main">
            <a:r>
              <a:t/>
            </a:r>
          </a:p>
          <a:p xmlns:a="http://schemas.openxmlformats.org/drawingml/2006/main">
            <a:r>
              <a:t>- "Who here has shipped something where the model chose the control flow? What broke first?"</a:t>
            </a:r>
          </a:p>
          <a:p xmlns:a="http://schemas.openxmlformats.org/drawingml/2006/main">
            <a:r>
              <a:t>- "What did your coding agent do for you this week that you would have to build yourself?"</a:t>
            </a:r>
          </a:p>
          <a:p xmlns:a="http://schemas.openxmlformats.org/drawingml/2006/main">
            <a:r>
              <a:t>- "Where does your organization's AI project sit right now: pilot, workflow, or agent? What would it take to move it one step?"</a:t>
            </a:r>
          </a:p>
          <a:p xmlns:a="http://schemas.openxmlformats.org/drawingml/2006/main">
            <a:r>
              <a:t/>
            </a:r>
          </a:p>
          <a:p xmlns:a="http://schemas.openxmlformats.org/drawingml/2006/main">
            <a:r>
              <a:t>Not on stage, even if asked: the MIT NANDA 95% figure as fact, Karpathy's Sequoia lines, any salary band, the 89% versus 52% observability-versus-evals statistic. The "Do not use on stage" list at the end of the outline has the reasons.</a:t>
            </a:r>
          </a:p>
          <a:p xmlns:a="http://schemas.openxmlformats.org/drawingml/2006/main">
            <a:r>
              <a:t/>
            </a:r>
          </a:p>
          <a:p xmlns:a="http://schemas.openxmlformats.org/drawingml/2006/main">
            <a:r>
              <a:t>For a routing question, Devin CLI's Fusion (September 11, 2026) is in research §1 of `research/section-2.md`: a lead model for planning and review paired with a cheaper sidekick for execution. Not on the slides because it is a week old.</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thesis sentences: slide 3. Research §1 in `research/section-1.md`.</a:t>
            </a:r>
          </a:p>
          <a:p xmlns:a="http://schemas.openxmlformats.org/drawingml/2006/main">
            <a:r>
              <a:t>- Q&amp;A answers trace to the slides named. The Dice figure was confirmed on the publisher page September 14, 2026. Research §1 in `research/section-3.md`.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00f8ceebfa4b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ad0690b2cf35474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a64a8dbdb81e48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E6E2B1CA-36C8-4F17-84D7-14A123D8FE8C}"/>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b76a415d26409c" /><Relationship Type="http://schemas.openxmlformats.org/officeDocument/2006/relationships/slideLayout" Target="/ppt/slideLayouts/slideLayout1.xml" Id="Rb166703191434261"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cf137368c83343cd" /><Relationship Type="http://schemas.openxmlformats.org/officeDocument/2006/relationships/slideLayout" Target="/ppt/slideLayouts/slideLayout2.xml" Id="Rf180061407da4dea" /><Relationship Type="http://schemas.openxmlformats.org/officeDocument/2006/relationships/slideLayout" Target="/ppt/slideLayouts/slideLayout3.xml" Id="Rb517dd8ae56b4a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66703191434261"/>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f180061407da4dea"/>
    <p:sldLayoutId xmlns:r="http://schemas.openxmlformats.org/officeDocument/2006/relationships" id="2147483652" r:id="Rb517dd8ae56b4a2a"/>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d03b8cf403f74cf8" /><Relationship Type="http://schemas.openxmlformats.org/officeDocument/2006/relationships/notesSlide" Target="/ppt/notesSlides/notesSlide1.xml" Id="R71087ccc0a0842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f3f806469c5428c" /><Relationship Type="http://schemas.openxmlformats.org/officeDocument/2006/relationships/image" Target="/ppt/media/image.png" Id="Re3a33a066a0f45c3" /><Relationship Type="http://schemas.openxmlformats.org/officeDocument/2006/relationships/notesSlide" Target="/ppt/notesSlides/notesSlide2.xml" Id="Ra4b7eee16e3e46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745a4b42b124091" /><Relationship Type="http://schemas.openxmlformats.org/officeDocument/2006/relationships/notesSlide" Target="/ppt/notesSlides/notesSlide3.xml" Id="Rd3033958f2da45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ba0c3e6c6484990" /><Relationship Type="http://schemas.openxmlformats.org/officeDocument/2006/relationships/notesSlide" Target="/ppt/notesSlides/notesSlide4.xml" Id="Rc587c5a87a2644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1352a9be94e451c" /><Relationship Type="http://schemas.openxmlformats.org/officeDocument/2006/relationships/notesSlide" Target="/ppt/notesSlides/notesSlide5.xml" Id="Rf20dcd0cd5d844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29a680c1992b449b" /><Relationship Type="http://schemas.openxmlformats.org/officeDocument/2006/relationships/notesSlide" Target="/ppt/notesSlides/notesSlide6.xml" Id="Rbb146fd81a644c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335fec8e84c4c01" /><Relationship Type="http://schemas.openxmlformats.org/officeDocument/2006/relationships/image" Target="/ppt/media/image2.png" Id="Rda3e7437ecea4d98" /><Relationship Type="http://schemas.openxmlformats.org/officeDocument/2006/relationships/image" Target="/ppt/media/image3.png" Id="Rcd1ee6c7c38342b7" /><Relationship Type="http://schemas.openxmlformats.org/officeDocument/2006/relationships/image" Target="/ppt/media/image4.png" Id="R5fe61e55fd7b4378" /><Relationship Type="http://schemas.openxmlformats.org/officeDocument/2006/relationships/image" Target="/ppt/media/image5.png" Id="Rf974527a01bc4dbc" /><Relationship Type="http://schemas.openxmlformats.org/officeDocument/2006/relationships/image" Target="/ppt/media/image6.png" Id="R5760b239bb764875" /><Relationship Type="http://schemas.openxmlformats.org/officeDocument/2006/relationships/image" Target="/ppt/media/image7.png" Id="R0644f0f6b5044c55" /><Relationship Type="http://schemas.openxmlformats.org/officeDocument/2006/relationships/notesSlide" Target="/ppt/notesSlides/notesSlide7.xml" Id="R8bded75f2c9c4d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5901f32ecc24d6f" /><Relationship Type="http://schemas.openxmlformats.org/officeDocument/2006/relationships/notesSlide" Target="/ppt/notesSlides/notesSlide8.xml" Id="Rf8434cd72f204b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6a8ef4784e63462d" /><Relationship Type="http://schemas.openxmlformats.org/officeDocument/2006/relationships/image" Target="/ppt/media/image8.png" Id="R239f37d924e0410c" /><Relationship Type="http://schemas.openxmlformats.org/officeDocument/2006/relationships/notesSlide" Target="/ppt/notesSlides/notesSlide9.xml" Id="R628a0ad4dbee43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bf79faa190e42db" /><Relationship Type="http://schemas.openxmlformats.org/officeDocument/2006/relationships/image" Target="/ppt/media/image9.png" Id="R6e69a040b6184c0c" /><Relationship Type="http://schemas.openxmlformats.org/officeDocument/2006/relationships/notesSlide" Target="/ppt/notesSlides/notesSlide10.xml" Id="R9bb66269ce1b46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855bd6a5c994e08" /><Relationship Type="http://schemas.openxmlformats.org/officeDocument/2006/relationships/notesSlide" Target="/ppt/notesSlides/notesSlide11.xml" Id="R25574681f39247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82f6c79c3bad4213" /><Relationship Type="http://schemas.openxmlformats.org/officeDocument/2006/relationships/image" Target="/ppt/media/image10.png" Id="Rac193d7942d04089" /><Relationship Type="http://schemas.openxmlformats.org/officeDocument/2006/relationships/notesSlide" Target="/ppt/notesSlides/notesSlide12.xml" Id="R74196afe38a842b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fa97eed8db4c4a32" /><Relationship Type="http://schemas.openxmlformats.org/officeDocument/2006/relationships/image" Target="/ppt/media/image11.png" Id="Rb704ccb77565410f" /><Relationship Type="http://schemas.openxmlformats.org/officeDocument/2006/relationships/notesSlide" Target="/ppt/notesSlides/notesSlide13.xml" Id="R659e3b1bc55d41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60d21aba81364a86" /><Relationship Type="http://schemas.openxmlformats.org/officeDocument/2006/relationships/notesSlide" Target="/ppt/notesSlides/notesSlide14.xml" Id="R7a4fc65f1262488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abd650e8caac4f26" /><Relationship Type="http://schemas.openxmlformats.org/officeDocument/2006/relationships/image" Target="/ppt/media/image12.png" Id="R5a1348cfb85d41e2" /><Relationship Type="http://schemas.openxmlformats.org/officeDocument/2006/relationships/notesSlide" Target="/ppt/notesSlides/notesSlide15.xml" Id="R889aa5898909406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c3129e664195479f" /><Relationship Type="http://schemas.openxmlformats.org/officeDocument/2006/relationships/image" Target="/ppt/media/image13.png" Id="Rdb9ad69a7e664344" /><Relationship Type="http://schemas.openxmlformats.org/officeDocument/2006/relationships/notesSlide" Target="/ppt/notesSlides/notesSlide16.xml" Id="R072e7b0dce26465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2889aee055054762" /><Relationship Type="http://schemas.openxmlformats.org/officeDocument/2006/relationships/notesSlide" Target="/ppt/notesSlides/notesSlide17.xml" Id="R78b6e081685b4df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7cc72c4bce13407a" /><Relationship Type="http://schemas.openxmlformats.org/officeDocument/2006/relationships/image" Target="/ppt/media/image14.png" Id="R50a6084f1a6f4119" /><Relationship Type="http://schemas.openxmlformats.org/officeDocument/2006/relationships/notesSlide" Target="/ppt/notesSlides/notesSlide18.xml" Id="Rc4760f055aef4be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596114066da6438d" /><Relationship Type="http://schemas.openxmlformats.org/officeDocument/2006/relationships/image" Target="/ppt/media/image15.png" Id="Rb4293bf3073a4385" /><Relationship Type="http://schemas.openxmlformats.org/officeDocument/2006/relationships/notesSlide" Target="/ppt/notesSlides/notesSlide19.xml" Id="R5f5c6e9520fe4c9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b7b4837a63bd403d" /><Relationship Type="http://schemas.openxmlformats.org/officeDocument/2006/relationships/notesSlide" Target="/ppt/notesSlides/notesSlide20.xml" Id="R64967d801e8b40a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b1e5ed6240d84f38" /><Relationship Type="http://schemas.openxmlformats.org/officeDocument/2006/relationships/image" Target="/ppt/media/image16.png" Id="Re19931f0e40e4d7f" /><Relationship Type="http://schemas.openxmlformats.org/officeDocument/2006/relationships/notesSlide" Target="/ppt/notesSlides/notesSlide21.xml" Id="R41a30d1fcc2c49a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7ccc465edeb14cbf" /><Relationship Type="http://schemas.openxmlformats.org/officeDocument/2006/relationships/image" Target="/ppt/media/image17.png" Id="Rf90bcd7881ed44c5" /><Relationship Type="http://schemas.openxmlformats.org/officeDocument/2006/relationships/notesSlide" Target="/ppt/notesSlides/notesSlide22.xml" Id="R2317328c2dc3470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dd1187c51b524679" /><Relationship Type="http://schemas.openxmlformats.org/officeDocument/2006/relationships/notesSlide" Target="/ppt/notesSlides/notesSlide23.xml" Id="R40817b73866e451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d2dbc4012a824718" /><Relationship Type="http://schemas.openxmlformats.org/officeDocument/2006/relationships/image" Target="/ppt/media/image18.png" Id="R6e617014629c43e8" /><Relationship Type="http://schemas.openxmlformats.org/officeDocument/2006/relationships/notesSlide" Target="/ppt/notesSlides/notesSlide24.xml" Id="Rb323349d85354d5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337c818682f54fd9" /><Relationship Type="http://schemas.openxmlformats.org/officeDocument/2006/relationships/image" Target="/ppt/media/image19.png" Id="R34e9933be27445b1" /><Relationship Type="http://schemas.openxmlformats.org/officeDocument/2006/relationships/notesSlide" Target="/ppt/notesSlides/notesSlide25.xml" Id="R82ab0c940d3b43a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6d352c2a8c1b400c" /><Relationship Type="http://schemas.openxmlformats.org/officeDocument/2006/relationships/image" Target="/ppt/media/image20.png" Id="R81e3a7bee854425a" /><Relationship Type="http://schemas.openxmlformats.org/officeDocument/2006/relationships/notesSlide" Target="/ppt/notesSlides/notesSlide26.xml" Id="Rdfb030f1b48343b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a0b6ed8940ad4a1d" /><Relationship Type="http://schemas.openxmlformats.org/officeDocument/2006/relationships/notesSlide" Target="/ppt/notesSlides/notesSlide27.xml" Id="Rcff07ea71383404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a832bb0cb35a429d" /><Relationship Type="http://schemas.openxmlformats.org/officeDocument/2006/relationships/image" Target="/ppt/media/image21.png" Id="Ra5c6f9172f974362" /><Relationship Type="http://schemas.openxmlformats.org/officeDocument/2006/relationships/notesSlide" Target="/ppt/notesSlides/notesSlide28.xml" Id="R16f0deef85fd475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73e19cfebd0b4072" /><Relationship Type="http://schemas.openxmlformats.org/officeDocument/2006/relationships/image" Target="/ppt/media/image22.png" Id="R8d2591b07d7946a0" /><Relationship Type="http://schemas.openxmlformats.org/officeDocument/2006/relationships/notesSlide" Target="/ppt/notesSlides/notesSlide29.xml" Id="R14dc673ac44a442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88a99e5a80194f70" /><Relationship Type="http://schemas.openxmlformats.org/officeDocument/2006/relationships/image" Target="/ppt/media/image23.png" Id="Re6caac180b7d4646" /><Relationship Type="http://schemas.openxmlformats.org/officeDocument/2006/relationships/notesSlide" Target="/ppt/notesSlides/notesSlide30.xml" Id="Rb0113b47619342d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c7da4fa774294206" /><Relationship Type="http://schemas.openxmlformats.org/officeDocument/2006/relationships/notesSlide" Target="/ppt/notesSlides/notesSlide31.xml" Id="R35e809ab1e1a413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586af242feec40f5" /><Relationship Type="http://schemas.openxmlformats.org/officeDocument/2006/relationships/image" Target="/ppt/media/image24.png" Id="R1082cab305a1462a" /><Relationship Type="http://schemas.openxmlformats.org/officeDocument/2006/relationships/notesSlide" Target="/ppt/notesSlides/notesSlide32.xml" Id="R6ff84a3610c84e1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3de6c24ac4ac4f0d" /><Relationship Type="http://schemas.openxmlformats.org/officeDocument/2006/relationships/notesSlide" Target="/ppt/notesSlides/notesSlide33.xml" Id="Rdf4d918ae4f64a4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f051f2df0b754ddb" /><Relationship Type="http://schemas.openxmlformats.org/officeDocument/2006/relationships/notesSlide" Target="/ppt/notesSlides/notesSlide34.xml" Id="Racdda93c14ec4c5a"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 name="01-text-1">
            <a:extLst xmlns:a="http://schemas.openxmlformats.org/drawingml/2006/main">
              <a:ext uri="{FF2B5EF4-FFF2-40B4-BE49-F238E27FC236}">
                <a16:creationId xmlns:a16="http://schemas.microsoft.com/office/drawing/2014/main" id="{77F04947-3BE2-457F-99E1-7E290A1A34DD}"/>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6BC852D1-0CD0-4571-9633-7A4EBD8B225B}"/>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179565AC-7EB5-477A-BC7E-56FE7406B62E}"/>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01-text-4">
            <a:extLst xmlns:a="http://schemas.openxmlformats.org/drawingml/2006/main">
              <a:ext uri="{FF2B5EF4-FFF2-40B4-BE49-F238E27FC236}">
                <a16:creationId xmlns:a16="http://schemas.microsoft.com/office/drawing/2014/main" id="{FB4E8084-78F5-4FB5-A0DE-B1B61B5FF638}"/>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 name="01-text-5">
            <a:extLst xmlns:a="http://schemas.openxmlformats.org/drawingml/2006/main">
              <a:ext uri="{FF2B5EF4-FFF2-40B4-BE49-F238E27FC236}">
                <a16:creationId xmlns:a16="http://schemas.microsoft.com/office/drawing/2014/main" id="{EB895CCD-B043-4905-BAA8-5819105E6E1B}"/>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Tree>
    <p:extLst>
      <p:ext uri="{BB962C8B-B14F-4D97-AF65-F5344CB8AC3E}">
        <p14:creationId xmlns:p14="http://schemas.microsoft.com/office/powerpoint/2010/main" val="92357677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2"/>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 name="02-image-1"/>
          <p:cNvPicPr>
            <a:picLocks xmlns:a="http://schemas.openxmlformats.org/drawingml/2006/main" noChangeAspect="1"/>
          </p:cNvPicPr>
          <p:nvPr/>
        </p:nvPicPr>
        <p:blipFill>
          <a:blip xmlns:r="http://schemas.openxmlformats.org/officeDocument/2006/relationships" xmlns:a="http://schemas.openxmlformats.org/drawingml/2006/main" r:embed="Re3a33a066a0f45c3"/>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2" name="02-text-2">
            <a:extLst xmlns:a="http://schemas.openxmlformats.org/drawingml/2006/main">
              <a:ext uri="{FF2B5EF4-FFF2-40B4-BE49-F238E27FC236}">
                <a16:creationId xmlns:a16="http://schemas.microsoft.com/office/drawing/2014/main" id="{91E5E7A6-7CE7-4A55-9DA7-A3B4296C8183}"/>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3" name="02-text-3">
            <a:extLst xmlns:a="http://schemas.openxmlformats.org/drawingml/2006/main">
              <a:ext uri="{FF2B5EF4-FFF2-40B4-BE49-F238E27FC236}">
                <a16:creationId xmlns:a16="http://schemas.microsoft.com/office/drawing/2014/main" id="{08E3D453-F1AF-400C-93AF-96F8BAAA5785}"/>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4" name="02-text-4">
            <a:extLst xmlns:a="http://schemas.openxmlformats.org/drawingml/2006/main">
              <a:ext uri="{FF2B5EF4-FFF2-40B4-BE49-F238E27FC236}">
                <a16:creationId xmlns:a16="http://schemas.microsoft.com/office/drawing/2014/main" id="{24944590-472A-45CC-9A4E-C06B323BC5A7}"/>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5" name="02-text-5">
            <a:extLst xmlns:a="http://schemas.openxmlformats.org/drawingml/2006/main">
              <a:ext uri="{FF2B5EF4-FFF2-40B4-BE49-F238E27FC236}">
                <a16:creationId xmlns:a16="http://schemas.microsoft.com/office/drawing/2014/main" id="{8288984C-A84C-40D4-AB42-AEADDA84587B}"/>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6" name="02-text-6">
            <a:extLst xmlns:a="http://schemas.openxmlformats.org/drawingml/2006/main">
              <a:ext uri="{FF2B5EF4-FFF2-40B4-BE49-F238E27FC236}">
                <a16:creationId xmlns:a16="http://schemas.microsoft.com/office/drawing/2014/main" id="{4821ABB8-20A8-4EE8-8898-195F7B56A0F9}"/>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Tree>
    <p:extLst>
      <p:ext uri="{BB962C8B-B14F-4D97-AF65-F5344CB8AC3E}">
        <p14:creationId xmlns:p14="http://schemas.microsoft.com/office/powerpoint/2010/main" val="1504789469"/>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 name="03-text-1">
            <a:extLst xmlns:a="http://schemas.openxmlformats.org/drawingml/2006/main">
              <a:ext uri="{FF2B5EF4-FFF2-40B4-BE49-F238E27FC236}">
                <a16:creationId xmlns:a16="http://schemas.microsoft.com/office/drawing/2014/main" id="{F97C650F-A9AF-413D-8863-9FAE4054FE5A}"/>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2" name="03-text-2">
            <a:extLst xmlns:a="http://schemas.openxmlformats.org/drawingml/2006/main">
              <a:ext uri="{FF2B5EF4-FFF2-40B4-BE49-F238E27FC236}">
                <a16:creationId xmlns:a16="http://schemas.microsoft.com/office/drawing/2014/main" id="{E2D78928-810F-4F00-9630-B5BB35268CF6}"/>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Tree>
    <p:extLst>
      <p:ext uri="{BB962C8B-B14F-4D97-AF65-F5344CB8AC3E}">
        <p14:creationId xmlns:p14="http://schemas.microsoft.com/office/powerpoint/2010/main" val="1469888113"/>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9"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 name="04-text-2">
            <a:extLst xmlns:a="http://schemas.openxmlformats.org/drawingml/2006/main">
              <a:ext uri="{FF2B5EF4-FFF2-40B4-BE49-F238E27FC236}">
                <a16:creationId xmlns:a16="http://schemas.microsoft.com/office/drawing/2014/main" id="{09D41839-EA99-43D6-8028-9F6CC0E177C5}"/>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 name="04-text-3">
            <a:extLst xmlns:a="http://schemas.openxmlformats.org/drawingml/2006/main">
              <a:ext uri="{FF2B5EF4-FFF2-40B4-BE49-F238E27FC236}">
                <a16:creationId xmlns:a16="http://schemas.microsoft.com/office/drawing/2014/main" id="{454FA1F9-8298-48FB-83F2-3C0C29B6F837}"/>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 name="04-text-4">
            <a:extLst xmlns:a="http://schemas.openxmlformats.org/drawingml/2006/main">
              <a:ext uri="{FF2B5EF4-FFF2-40B4-BE49-F238E27FC236}">
                <a16:creationId xmlns:a16="http://schemas.microsoft.com/office/drawing/2014/main" id="{C9CA16F9-F463-40EA-9254-53E350DAD97C}"/>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 name="04-text-5">
            <a:extLst xmlns:a="http://schemas.openxmlformats.org/drawingml/2006/main">
              <a:ext uri="{FF2B5EF4-FFF2-40B4-BE49-F238E27FC236}">
                <a16:creationId xmlns:a16="http://schemas.microsoft.com/office/drawing/2014/main" id="{9FEB35A4-4ECC-47DB-BB53-239948E9E79E}"/>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6" name="04-text-6">
            <a:extLst xmlns:a="http://schemas.openxmlformats.org/drawingml/2006/main">
              <a:ext uri="{FF2B5EF4-FFF2-40B4-BE49-F238E27FC236}">
                <a16:creationId xmlns:a16="http://schemas.microsoft.com/office/drawing/2014/main" id="{DAF4F4D0-5C0E-4FD9-B72A-41053C15EB9A}"/>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7" name="04-text-7">
            <a:extLst xmlns:a="http://schemas.openxmlformats.org/drawingml/2006/main">
              <a:ext uri="{FF2B5EF4-FFF2-40B4-BE49-F238E27FC236}">
                <a16:creationId xmlns:a16="http://schemas.microsoft.com/office/drawing/2014/main" id="{8C7AECC4-1136-483B-85E7-59FC7A9180D1}"/>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8" name="04-text-8">
            <a:extLst xmlns:a="http://schemas.openxmlformats.org/drawingml/2006/main">
              <a:ext uri="{FF2B5EF4-FFF2-40B4-BE49-F238E27FC236}">
                <a16:creationId xmlns:a16="http://schemas.microsoft.com/office/drawing/2014/main" id="{042ED348-2187-433A-8CEA-660B935CB3B6}"/>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Tree>
    <p:extLst>
      <p:ext uri="{BB962C8B-B14F-4D97-AF65-F5344CB8AC3E}">
        <p14:creationId xmlns:p14="http://schemas.microsoft.com/office/powerpoint/2010/main" val="120349915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 name="05-text-1">
            <a:extLst xmlns:a="http://schemas.openxmlformats.org/drawingml/2006/main">
              <a:ext uri="{FF2B5EF4-FFF2-40B4-BE49-F238E27FC236}">
                <a16:creationId xmlns:a16="http://schemas.microsoft.com/office/drawing/2014/main" id="{A1A6D123-52DB-4DB6-8E0A-8C0662106DFD}"/>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 name="05-text-2">
            <a:extLst xmlns:a="http://schemas.openxmlformats.org/drawingml/2006/main">
              <a:ext uri="{FF2B5EF4-FFF2-40B4-BE49-F238E27FC236}">
                <a16:creationId xmlns:a16="http://schemas.microsoft.com/office/drawing/2014/main" id="{4EE64F67-C252-4135-AECC-4EA11C984D39}"/>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 name="05-text-3">
            <a:extLst xmlns:a="http://schemas.openxmlformats.org/drawingml/2006/main">
              <a:ext uri="{FF2B5EF4-FFF2-40B4-BE49-F238E27FC236}">
                <a16:creationId xmlns:a16="http://schemas.microsoft.com/office/drawing/2014/main" id="{64B27DB3-D773-4B1C-A1EC-596065786419}"/>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 name="05-text-4">
            <a:extLst xmlns:a="http://schemas.openxmlformats.org/drawingml/2006/main">
              <a:ext uri="{FF2B5EF4-FFF2-40B4-BE49-F238E27FC236}">
                <a16:creationId xmlns:a16="http://schemas.microsoft.com/office/drawing/2014/main" id="{C228147E-F883-4DE0-94E9-1E297B05DD1A}"/>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5" name="05-text-5">
            <a:extLst xmlns:a="http://schemas.openxmlformats.org/drawingml/2006/main">
              <a:ext uri="{FF2B5EF4-FFF2-40B4-BE49-F238E27FC236}">
                <a16:creationId xmlns:a16="http://schemas.microsoft.com/office/drawing/2014/main" id="{803CF6C7-5618-42AC-B4AC-3968C0ADD49B}"/>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6" name="05-text-6">
            <a:extLst xmlns:a="http://schemas.openxmlformats.org/drawingml/2006/main">
              <a:ext uri="{FF2B5EF4-FFF2-40B4-BE49-F238E27FC236}">
                <a16:creationId xmlns:a16="http://schemas.microsoft.com/office/drawing/2014/main" id="{7F0DE394-668D-471B-92EA-95E9F2683BE1}"/>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7" name="05-text-7">
            <a:extLst xmlns:a="http://schemas.openxmlformats.org/drawingml/2006/main">
              <a:ext uri="{FF2B5EF4-FFF2-40B4-BE49-F238E27FC236}">
                <a16:creationId xmlns:a16="http://schemas.microsoft.com/office/drawing/2014/main" id="{BF296CB5-C0BE-4D10-9A08-C4EC980CB8DD}"/>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 name="05-text-8">
            <a:extLst xmlns:a="http://schemas.openxmlformats.org/drawingml/2006/main">
              <a:ext uri="{FF2B5EF4-FFF2-40B4-BE49-F238E27FC236}">
                <a16:creationId xmlns:a16="http://schemas.microsoft.com/office/drawing/2014/main" id="{3C864E77-6DB7-4CBE-A7F0-BD6D96D07201}"/>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9" name="05-text-9">
            <a:extLst xmlns:a="http://schemas.openxmlformats.org/drawingml/2006/main">
              <a:ext uri="{FF2B5EF4-FFF2-40B4-BE49-F238E27FC236}">
                <a16:creationId xmlns:a16="http://schemas.microsoft.com/office/drawing/2014/main" id="{EDD6610F-6B97-42D8-9262-90151C3C34BF}"/>
              </a:ext>
            </a:extLst>
          </p:cNvPr>
          <p:cNvSpPr>
            <a:spLocks xmlns:a="http://schemas.openxmlformats.org/drawingml/2006/main"/>
          </p:cNvSpPr>
          <p:nvPr/>
        </p:nvSpPr>
        <p:spPr>
          <a:xfrm xmlns:a="http://schemas.openxmlformats.org/drawingml/2006/main">
            <a:off x="6248400" y="1739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a:t>
            </a:r>
          </a:p>
        </p:txBody>
      </p:sp>
      <p:sp>
        <p:nvSpPr>
          <p:cNvPr id="10" name="05-text-10">
            <a:extLst xmlns:a="http://schemas.openxmlformats.org/drawingml/2006/main">
              <a:ext uri="{FF2B5EF4-FFF2-40B4-BE49-F238E27FC236}">
                <a16:creationId xmlns:a16="http://schemas.microsoft.com/office/drawing/2014/main" id="{7C508C48-755B-46CE-9784-B93A50F01372}"/>
              </a:ext>
            </a:extLst>
          </p:cNvPr>
          <p:cNvSpPr>
            <a:spLocks xmlns:a="http://schemas.openxmlformats.org/drawingml/2006/main"/>
          </p:cNvSpPr>
          <p:nvPr/>
        </p:nvSpPr>
        <p:spPr>
          <a:xfrm xmlns:a="http://schemas.openxmlformats.org/drawingml/2006/main">
            <a:off x="10185400" y="1739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 min</a:t>
            </a:r>
          </a:p>
        </p:txBody>
      </p:sp>
      <p:sp>
        <p:nvSpPr>
          <p:cNvPr id="11" name="05-text-11">
            <a:extLst xmlns:a="http://schemas.openxmlformats.org/drawingml/2006/main">
              <a:ext uri="{FF2B5EF4-FFF2-40B4-BE49-F238E27FC236}">
                <a16:creationId xmlns:a16="http://schemas.microsoft.com/office/drawing/2014/main" id="{5F1C6665-D2DF-4FE6-81F2-48D4E24BB6F8}"/>
              </a:ext>
            </a:extLst>
          </p:cNvPr>
          <p:cNvSpPr>
            <a:spLocks xmlns:a="http://schemas.openxmlformats.org/drawingml/2006/main"/>
          </p:cNvSpPr>
          <p:nvPr/>
        </p:nvSpPr>
        <p:spPr>
          <a:xfrm xmlns:a="http://schemas.openxmlformats.org/drawingml/2006/main">
            <a:off x="6248400" y="2628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Six areas.</a:t>
            </a:r>
          </a:p>
        </p:txBody>
      </p:sp>
      <p:sp>
        <p:nvSpPr>
          <p:cNvPr id="12" name="05-text-12">
            <a:extLst xmlns:a="http://schemas.openxmlformats.org/drawingml/2006/main">
              <a:ext uri="{FF2B5EF4-FFF2-40B4-BE49-F238E27FC236}">
                <a16:creationId xmlns:a16="http://schemas.microsoft.com/office/drawing/2014/main" id="{2CB900EF-83D7-4E49-8547-02DBFAAC1EA5}"/>
              </a:ext>
            </a:extLst>
          </p:cNvPr>
          <p:cNvSpPr>
            <a:spLocks xmlns:a="http://schemas.openxmlformats.org/drawingml/2006/main"/>
          </p:cNvSpPr>
          <p:nvPr/>
        </p:nvSpPr>
        <p:spPr>
          <a:xfrm xmlns:a="http://schemas.openxmlformats.org/drawingml/2006/main">
            <a:off x="10185400" y="2628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23 min</a:t>
            </a:r>
          </a:p>
        </p:txBody>
      </p:sp>
      <p:sp>
        <p:nvSpPr>
          <p:cNvPr id="13" name="05-text-13">
            <a:extLst xmlns:a="http://schemas.openxmlformats.org/drawingml/2006/main">
              <a:ext uri="{FF2B5EF4-FFF2-40B4-BE49-F238E27FC236}">
                <a16:creationId xmlns:a16="http://schemas.microsoft.com/office/drawing/2014/main" id="{E4AAE997-D8ED-4461-A099-EB65DACACAEF}"/>
              </a:ext>
            </a:extLst>
          </p:cNvPr>
          <p:cNvSpPr>
            <a:spLocks xmlns:a="http://schemas.openxmlformats.org/drawingml/2006/main"/>
          </p:cNvSpPr>
          <p:nvPr/>
        </p:nvSpPr>
        <p:spPr>
          <a:xfrm xmlns:a="http://schemas.openxmlformats.org/drawingml/2006/main">
            <a:off x="6248400" y="4343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14" name="05-text-14">
            <a:extLst xmlns:a="http://schemas.openxmlformats.org/drawingml/2006/main">
              <a:ext uri="{FF2B5EF4-FFF2-40B4-BE49-F238E27FC236}">
                <a16:creationId xmlns:a16="http://schemas.microsoft.com/office/drawing/2014/main" id="{93392D07-6D07-4180-97FD-D5C03B3C537B}"/>
              </a:ext>
            </a:extLst>
          </p:cNvPr>
          <p:cNvSpPr>
            <a:spLocks xmlns:a="http://schemas.openxmlformats.org/drawingml/2006/main"/>
          </p:cNvSpPr>
          <p:nvPr/>
        </p:nvSpPr>
        <p:spPr>
          <a:xfrm xmlns:a="http://schemas.openxmlformats.org/drawingml/2006/main">
            <a:off x="10185400" y="4343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5 min</a:t>
            </a:r>
          </a:p>
        </p:txBody>
      </p:sp>
      <p:sp>
        <p:nvSpPr>
          <p:cNvPr id="15" name="05-text-15">
            <a:extLst xmlns:a="http://schemas.openxmlformats.org/drawingml/2006/main">
              <a:ext uri="{FF2B5EF4-FFF2-40B4-BE49-F238E27FC236}">
                <a16:creationId xmlns:a16="http://schemas.microsoft.com/office/drawing/2014/main" id="{7E57DFB0-1B98-453A-81C3-89FE90E2FE6E}"/>
              </a:ext>
            </a:extLst>
          </p:cNvPr>
          <p:cNvSpPr>
            <a:spLocks xmlns:a="http://schemas.openxmlformats.org/drawingml/2006/main"/>
          </p:cNvSpPr>
          <p:nvPr/>
        </p:nvSpPr>
        <p:spPr>
          <a:xfrm xmlns:a="http://schemas.openxmlformats.org/drawingml/2006/main">
            <a:off x="6248400" y="5232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16" name="05-text-16">
            <a:extLst xmlns:a="http://schemas.openxmlformats.org/drawingml/2006/main">
              <a:ext uri="{FF2B5EF4-FFF2-40B4-BE49-F238E27FC236}">
                <a16:creationId xmlns:a16="http://schemas.microsoft.com/office/drawing/2014/main" id="{6F44E68C-6E88-433A-A46E-234B0DBC1746}"/>
              </a:ext>
            </a:extLst>
          </p:cNvPr>
          <p:cNvSpPr>
            <a:spLocks xmlns:a="http://schemas.openxmlformats.org/drawingml/2006/main"/>
          </p:cNvSpPr>
          <p:nvPr/>
        </p:nvSpPr>
        <p:spPr>
          <a:xfrm xmlns:a="http://schemas.openxmlformats.org/drawingml/2006/main">
            <a:off x="10185400" y="5232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15 min</a:t>
            </a:r>
          </a:p>
        </p:txBody>
      </p:sp>
      <p:sp>
        <p:nvSpPr>
          <p:cNvPr id="17" name="05-text-17">
            <a:extLst xmlns:a="http://schemas.openxmlformats.org/drawingml/2006/main">
              <a:ext uri="{FF2B5EF4-FFF2-40B4-BE49-F238E27FC236}">
                <a16:creationId xmlns:a16="http://schemas.microsoft.com/office/drawing/2014/main" id="{6569183E-B3D8-497F-B827-98286B41FE29}"/>
              </a:ext>
            </a:extLst>
          </p:cNvPr>
          <p:cNvSpPr>
            <a:spLocks xmlns:a="http://schemas.openxmlformats.org/drawingml/2006/main"/>
          </p:cNvSpPr>
          <p:nvPr/>
        </p:nvSpPr>
        <p:spPr>
          <a:xfrm xmlns:a="http://schemas.openxmlformats.org/drawingml/2006/main">
            <a:off x="6502400" y="3149600"/>
            <a:ext cx="508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r>
              <a:rPr b="0">
                <a:solidFill>
                  <a:srgbClr val="ADACA9"/>
                </a:solidFill>
                <a:latin typeface="Helvetica"/>
                <a:ea typeface="Helvetica"/>
                <a:cs typeface="Helvetica"/>
              </a:rPr>
              <a:t> · </a:t>
            </a:r>
            <a:r>
              <a:rPr b="0">
                <a:solidFill>
                  <a:srgbClr val="F948BE"/>
                </a:solidFill>
                <a:latin typeface="Helvetica"/>
                <a:ea typeface="Helvetica"/>
                <a:cs typeface="Helvetica"/>
              </a:rPr>
              <a:t>Tools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Orchestration</a:t>
            </a:r>
            <a:r>
              <a:rPr b="0">
                <a:solidFill>
                  <a:srgbClr val="ADACA9"/>
                </a:solidFill>
                <a:latin typeface="Helvetica"/>
                <a:ea typeface="Helvetica"/>
                <a:cs typeface="Helvetica"/>
              </a:rPr>
              <a:t> · </a:t>
            </a: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Operating it</a:t>
            </a:r>
          </a:p>
        </p:txBody>
      </p:sp>
      <p:sp>
        <p:nvSpPr>
          <p:cNvPr id="18" name="05-text-18">
            <a:extLst xmlns:a="http://schemas.openxmlformats.org/drawingml/2006/main">
              <a:ext uri="{FF2B5EF4-FFF2-40B4-BE49-F238E27FC236}">
                <a16:creationId xmlns:a16="http://schemas.microsoft.com/office/drawing/2014/main" id="{C93F46B9-3645-4E6F-94A4-4625E62B18DB}"/>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When you are the user · What someone engineered · When you are the owner</a:t>
            </a:r>
          </a:p>
        </p:txBody>
      </p:sp>
    </p:spTree>
    <p:extLst>
      <p:ext uri="{BB962C8B-B14F-4D97-AF65-F5344CB8AC3E}">
        <p14:creationId xmlns:p14="http://schemas.microsoft.com/office/powerpoint/2010/main" val="83583273"/>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 name="section-label">
            <a:extLst xmlns:a="http://schemas.openxmlformats.org/drawingml/2006/main">
              <a:ext uri="{FF2B5EF4-FFF2-40B4-BE49-F238E27FC236}">
                <a16:creationId xmlns:a16="http://schemas.microsoft.com/office/drawing/2014/main" id="{496D12C7-3904-4DA5-A991-6B234A723276}"/>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2" name="section-rule">
            <a:extLst xmlns:a="http://schemas.openxmlformats.org/drawingml/2006/main">
              <a:ext uri="{FF2B5EF4-FFF2-40B4-BE49-F238E27FC236}">
                <a16:creationId xmlns:a16="http://schemas.microsoft.com/office/drawing/2014/main" id="{F059CF12-DB9B-45FC-A53F-CD7521496803}"/>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 name="section-title">
            <a:extLst xmlns:a="http://schemas.openxmlformats.org/drawingml/2006/main">
              <a:ext uri="{FF2B5EF4-FFF2-40B4-BE49-F238E27FC236}">
                <a16:creationId xmlns:a16="http://schemas.microsoft.com/office/drawing/2014/main" id="{4473ABA8-99C1-4289-822B-2F9EB61A1195}"/>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Tree>
    <p:extLst>
      <p:ext uri="{BB962C8B-B14F-4D97-AF65-F5344CB8AC3E}">
        <p14:creationId xmlns:p14="http://schemas.microsoft.com/office/powerpoint/2010/main" val="1494308659"/>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 name="07-image-1"/>
          <p:cNvPicPr>
            <a:picLocks xmlns:a="http://schemas.openxmlformats.org/drawingml/2006/main" noChangeAspect="1"/>
          </p:cNvPicPr>
          <p:nvPr/>
        </p:nvPicPr>
        <p:blipFill>
          <a:blip xmlns:r="http://schemas.openxmlformats.org/officeDocument/2006/relationships" xmlns:a="http://schemas.openxmlformats.org/drawingml/2006/main" r:embed="Rda3e7437ecea4d9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8" name="07-image-2"/>
          <p:cNvPicPr>
            <a:picLocks xmlns:a="http://schemas.openxmlformats.org/drawingml/2006/main" noChangeAspect="1"/>
          </p:cNvPicPr>
          <p:nvPr/>
        </p:nvPicPr>
        <p:blipFill>
          <a:blip xmlns:r="http://schemas.openxmlformats.org/officeDocument/2006/relationships" xmlns:a="http://schemas.openxmlformats.org/drawingml/2006/main" r:embed="Rcd1ee6c7c38342b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9" name="07-image-3"/>
          <p:cNvPicPr>
            <a:picLocks xmlns:a="http://schemas.openxmlformats.org/drawingml/2006/main" noChangeAspect="1"/>
          </p:cNvPicPr>
          <p:nvPr/>
        </p:nvPicPr>
        <p:blipFill>
          <a:blip xmlns:r="http://schemas.openxmlformats.org/officeDocument/2006/relationships" xmlns:a="http://schemas.openxmlformats.org/drawingml/2006/main" r:embed="R5fe61e55fd7b437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10" name="07-image-4"/>
          <p:cNvPicPr>
            <a:picLocks xmlns:a="http://schemas.openxmlformats.org/drawingml/2006/main" noChangeAspect="1"/>
          </p:cNvPicPr>
          <p:nvPr/>
        </p:nvPicPr>
        <p:blipFill>
          <a:blip xmlns:r="http://schemas.openxmlformats.org/officeDocument/2006/relationships" xmlns:a="http://schemas.openxmlformats.org/drawingml/2006/main" r:embed="Rf974527a01bc4db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11" name="07-image-5"/>
          <p:cNvPicPr>
            <a:picLocks xmlns:a="http://schemas.openxmlformats.org/drawingml/2006/main" noChangeAspect="1"/>
          </p:cNvPicPr>
          <p:nvPr/>
        </p:nvPicPr>
        <p:blipFill>
          <a:blip xmlns:r="http://schemas.openxmlformats.org/officeDocument/2006/relationships" xmlns:a="http://schemas.openxmlformats.org/drawingml/2006/main" r:embed="R5760b239bb76487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12" name="07-image-6"/>
          <p:cNvPicPr>
            <a:picLocks xmlns:a="http://schemas.openxmlformats.org/drawingml/2006/main" noChangeAspect="1"/>
          </p:cNvPicPr>
          <p:nvPr/>
        </p:nvPicPr>
        <p:blipFill>
          <a:blip xmlns:r="http://schemas.openxmlformats.org/officeDocument/2006/relationships" xmlns:a="http://schemas.openxmlformats.org/drawingml/2006/main" r:embed="R0644f0f6b5044c5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6328842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0"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300" fill="hold"/>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8"/>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00" fill="hold"/>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9"/>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fill="hold"/>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10"/>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300" fill="hold"/>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1"/>
                                        </p:tgtEl>
                                        <p:attrNameLst>
                                          <p:attrName>style.visibility</p:attrName>
                                        </p:attrNameLst>
                                      </p:cBhvr>
                                      <p:to>
                                        <p:strVal val="hidden"/>
                                      </p:to>
                                    </p:set>
                                  </p:childTnLst>
                                </p:cTn>
                              </p:par>
                              <p:par>
                                <p:cTn id="35" presetID="10"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300" fill="hold"/>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 name="!!area-header">
            <a:extLst xmlns:a="http://schemas.openxmlformats.org/drawingml/2006/main">
              <a:ext uri="{FF2B5EF4-FFF2-40B4-BE49-F238E27FC236}">
                <a16:creationId xmlns:a16="http://schemas.microsoft.com/office/drawing/2014/main" id="{6F8843DF-C926-45BC-9012-CF856E446D26}"/>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8787E707-7E33-4A91-A382-04F414CA01F0}"/>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3" name="!!area-beat">
            <a:extLst xmlns:a="http://schemas.openxmlformats.org/drawingml/2006/main">
              <a:ext uri="{FF2B5EF4-FFF2-40B4-BE49-F238E27FC236}">
                <a16:creationId xmlns:a16="http://schemas.microsoft.com/office/drawing/2014/main" id="{BF1C382F-18A8-492B-BDCF-481BFB3DFCD1}"/>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When you are the user</a:t>
            </a:r>
          </a:p>
        </p:txBody>
      </p:sp>
      <p:sp>
        <p:nvSpPr>
          <p:cNvPr id="4" name="header-divider">
            <a:extLst xmlns:a="http://schemas.openxmlformats.org/drawingml/2006/main">
              <a:ext uri="{FF2B5EF4-FFF2-40B4-BE49-F238E27FC236}">
                <a16:creationId xmlns:a16="http://schemas.microsoft.com/office/drawing/2014/main" id="{68D31B9E-F93B-481E-B716-A6BDE17CE90E}"/>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screenshot-Devin Desktop">
            <a:extLst xmlns:a="http://schemas.openxmlformats.org/drawingml/2006/main">
              <a:ext uri="{FF2B5EF4-FFF2-40B4-BE49-F238E27FC236}">
                <a16:creationId xmlns:a16="http://schemas.microsoft.com/office/drawing/2014/main" id="{F525450F-E57D-41E2-94F4-D056555EAD2E}"/>
              </a:ext>
            </a:extLst>
          </p:cNvPr>
          <p:cNvSpPr>
            <a:spLocks xmlns:a="http://schemas.openxmlformats.org/drawingml/2006/main"/>
          </p:cNvSpPr>
          <p:nvPr/>
        </p:nvSpPr>
        <p:spPr>
          <a:xfrm xmlns:a="http://schemas.openxmlformats.org/drawingml/2006/main">
            <a:off x="609600" y="2082800"/>
            <a:ext cx="72136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6" name="08-text-1">
            <a:extLst xmlns:a="http://schemas.openxmlformats.org/drawingml/2006/main">
              <a:ext uri="{FF2B5EF4-FFF2-40B4-BE49-F238E27FC236}">
                <a16:creationId xmlns:a16="http://schemas.microsoft.com/office/drawing/2014/main" id="{DADDEEF2-B6A0-4618-8208-FB36A072BEEF}"/>
              </a:ext>
            </a:extLst>
          </p:cNvPr>
          <p:cNvSpPr>
            <a:spLocks xmlns:a="http://schemas.openxmlformats.org/drawingml/2006/main"/>
          </p:cNvSpPr>
          <p:nvPr/>
        </p:nvSpPr>
        <p:spPr>
          <a:xfrm xmlns:a="http://schemas.openxmlformats.org/drawingml/2006/main">
            <a:off x="812800" y="2781300"/>
            <a:ext cx="6807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7" name="08-text-2">
            <a:extLst xmlns:a="http://schemas.openxmlformats.org/drawingml/2006/main">
              <a:ext uri="{FF2B5EF4-FFF2-40B4-BE49-F238E27FC236}">
                <a16:creationId xmlns:a16="http://schemas.microsoft.com/office/drawing/2014/main" id="{02C6C457-6046-4E36-8384-9CB390CBA7AA}"/>
              </a:ext>
            </a:extLst>
          </p:cNvPr>
          <p:cNvSpPr>
            <a:spLocks xmlns:a="http://schemas.openxmlformats.org/drawingml/2006/main"/>
          </p:cNvSpPr>
          <p:nvPr/>
        </p:nvSpPr>
        <p:spPr>
          <a:xfrm xmlns:a="http://schemas.openxmlformats.org/drawingml/2006/main">
            <a:off x="812800" y="3302000"/>
            <a:ext cx="68072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Desktop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Reasoning-effort slider visible</a:t>
            </a:r>
          </a:p>
        </p:txBody>
      </p:sp>
      <p:sp>
        <p:nvSpPr>
          <p:cNvPr id="8" name="!!screenshot-Codex CLI">
            <a:extLst xmlns:a="http://schemas.openxmlformats.org/drawingml/2006/main">
              <a:ext uri="{FF2B5EF4-FFF2-40B4-BE49-F238E27FC236}">
                <a16:creationId xmlns:a16="http://schemas.microsoft.com/office/drawing/2014/main" id="{F16F361F-5945-4650-A3DE-D5A5C2EA5A9E}"/>
              </a:ext>
            </a:extLst>
          </p:cNvPr>
          <p:cNvSpPr>
            <a:spLocks xmlns:a="http://schemas.openxmlformats.org/drawingml/2006/main"/>
          </p:cNvSpPr>
          <p:nvPr/>
        </p:nvSpPr>
        <p:spPr>
          <a:xfrm xmlns:a="http://schemas.openxmlformats.org/drawingml/2006/main">
            <a:off x="8128000" y="2082800"/>
            <a:ext cx="34544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9" name="08-text-3">
            <a:extLst xmlns:a="http://schemas.openxmlformats.org/drawingml/2006/main">
              <a:ext uri="{FF2B5EF4-FFF2-40B4-BE49-F238E27FC236}">
                <a16:creationId xmlns:a16="http://schemas.microsoft.com/office/drawing/2014/main" id="{EB8D25FC-F141-4747-AE87-4EB9E69384E3}"/>
              </a:ext>
            </a:extLst>
          </p:cNvPr>
          <p:cNvSpPr>
            <a:spLocks xmlns:a="http://schemas.openxmlformats.org/drawingml/2006/main"/>
          </p:cNvSpPr>
          <p:nvPr/>
        </p:nvSpPr>
        <p:spPr>
          <a:xfrm xmlns:a="http://schemas.openxmlformats.org/drawingml/2006/main">
            <a:off x="8331200" y="2781300"/>
            <a:ext cx="3048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0" name="08-text-4">
            <a:extLst xmlns:a="http://schemas.openxmlformats.org/drawingml/2006/main">
              <a:ext uri="{FF2B5EF4-FFF2-40B4-BE49-F238E27FC236}">
                <a16:creationId xmlns:a16="http://schemas.microsoft.com/office/drawing/2014/main" id="{69002E26-EC7A-43D6-8255-874792648C44}"/>
              </a:ext>
            </a:extLst>
          </p:cNvPr>
          <p:cNvSpPr>
            <a:spLocks xmlns:a="http://schemas.openxmlformats.org/drawingml/2006/main"/>
          </p:cNvSpPr>
          <p:nvPr/>
        </p:nvSpPr>
        <p:spPr>
          <a:xfrm xmlns:a="http://schemas.openxmlformats.org/drawingml/2006/main">
            <a:off x="8331200" y="3302000"/>
            <a:ext cx="30480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 effort choices</a:t>
            </a:r>
          </a:p>
        </p:txBody>
      </p:sp>
      <p:sp>
        <p:nvSpPr>
          <p:cNvPr id="11" name="08-text-5">
            <a:extLst xmlns:a="http://schemas.openxmlformats.org/drawingml/2006/main">
              <a:ext uri="{FF2B5EF4-FFF2-40B4-BE49-F238E27FC236}">
                <a16:creationId xmlns:a16="http://schemas.microsoft.com/office/drawing/2014/main" id="{3C0684C6-E8A4-47A0-A1D3-E7CB401E7DE4}"/>
              </a:ext>
            </a:extLst>
          </p:cNvPr>
          <p:cNvSpPr>
            <a:spLocks xmlns:a="http://schemas.openxmlformats.org/drawingml/2006/main"/>
          </p:cNvSpPr>
          <p:nvPr/>
        </p:nvSpPr>
        <p:spPr>
          <a:xfrm xmlns:a="http://schemas.openxmlformats.org/drawingml/2006/main">
            <a:off x="609600" y="55880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Desktop, the model picker</a:t>
            </a:r>
          </a:p>
        </p:txBody>
      </p:sp>
      <p:sp>
        <p:nvSpPr>
          <p:cNvPr id="12" name="08-text-6">
            <a:extLst xmlns:a="http://schemas.openxmlformats.org/drawingml/2006/main">
              <a:ext uri="{FF2B5EF4-FFF2-40B4-BE49-F238E27FC236}">
                <a16:creationId xmlns:a16="http://schemas.microsoft.com/office/drawing/2014/main" id="{42273CD0-D24A-4CCD-B821-1AE392E17FA4}"/>
              </a:ext>
            </a:extLst>
          </p:cNvPr>
          <p:cNvSpPr>
            <a:spLocks xmlns:a="http://schemas.openxmlformats.org/drawingml/2006/main"/>
          </p:cNvSpPr>
          <p:nvPr/>
        </p:nvSpPr>
        <p:spPr>
          <a:xfrm xmlns:a="http://schemas.openxmlformats.org/drawingml/2006/main">
            <a:off x="8128000" y="55880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/model</a:t>
            </a:r>
          </a:p>
        </p:txBody>
      </p:sp>
    </p:spTree>
    <p:extLst>
      <p:ext uri="{BB962C8B-B14F-4D97-AF65-F5344CB8AC3E}">
        <p14:creationId xmlns:p14="http://schemas.microsoft.com/office/powerpoint/2010/main" val="1973425290"/>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 name="!!area-name">
            <a:extLst xmlns:a="http://schemas.openxmlformats.org/drawingml/2006/main">
              <a:ext uri="{FF2B5EF4-FFF2-40B4-BE49-F238E27FC236}">
                <a16:creationId xmlns:a16="http://schemas.microsoft.com/office/drawing/2014/main" id="{430D8C92-5744-47CB-9EDD-26D9DF2588F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user</a:t>
            </a:r>
          </a:p>
        </p:txBody>
      </p:sp>
      <p:pic>
        <p:nvPicPr>
          <p:cNvPr id="18" name="mini-map"/>
          <p:cNvPicPr>
            <a:picLocks xmlns:a="http://schemas.openxmlformats.org/drawingml/2006/main" noChangeAspect="1"/>
          </p:cNvPicPr>
          <p:nvPr/>
        </p:nvPicPr>
        <p:blipFill>
          <a:blip xmlns:r="http://schemas.openxmlformats.org/officeDocument/2006/relationships" xmlns:a="http://schemas.openxmlformats.org/drawingml/2006/main" r:embed="R239f37d924e0410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0FD89B73-DED8-4491-9AAB-2D034C2C297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screenshot-Devin Desktop">
            <a:extLst xmlns:a="http://schemas.openxmlformats.org/drawingml/2006/main">
              <a:ext uri="{FF2B5EF4-FFF2-40B4-BE49-F238E27FC236}">
                <a16:creationId xmlns:a16="http://schemas.microsoft.com/office/drawing/2014/main" id="{DB35123E-5374-43DB-828E-4260BC53A618}"/>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5" name="08b-text-1">
            <a:extLst xmlns:a="http://schemas.openxmlformats.org/drawingml/2006/main">
              <a:ext uri="{FF2B5EF4-FFF2-40B4-BE49-F238E27FC236}">
                <a16:creationId xmlns:a16="http://schemas.microsoft.com/office/drawing/2014/main" id="{AF3AAC5C-F8EA-4183-A935-9A9B1623FA12}"/>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6" name="08b-text-2">
            <a:extLst xmlns:a="http://schemas.openxmlformats.org/drawingml/2006/main">
              <a:ext uri="{FF2B5EF4-FFF2-40B4-BE49-F238E27FC236}">
                <a16:creationId xmlns:a16="http://schemas.microsoft.com/office/drawing/2014/main" id="{DD68A6F0-F8BD-4EFA-B1A9-E849ADABEB11}"/>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Devin Desktop</a:t>
            </a:r>
          </a:p>
        </p:txBody>
      </p:sp>
      <p:sp>
        <p:nvSpPr>
          <p:cNvPr id="7" name="!!screenshot-Codex CLI">
            <a:extLst xmlns:a="http://schemas.openxmlformats.org/drawingml/2006/main">
              <a:ext uri="{FF2B5EF4-FFF2-40B4-BE49-F238E27FC236}">
                <a16:creationId xmlns:a16="http://schemas.microsoft.com/office/drawing/2014/main" id="{A955CC52-4E7E-4ADB-BCB0-A87AB5B29C1A}"/>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8" name="08b-text-3">
            <a:extLst xmlns:a="http://schemas.openxmlformats.org/drawingml/2006/main">
              <a:ext uri="{FF2B5EF4-FFF2-40B4-BE49-F238E27FC236}">
                <a16:creationId xmlns:a16="http://schemas.microsoft.com/office/drawing/2014/main" id="{9A629EEB-A269-4A5F-9A06-0B5B12923ED0}"/>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9" name="08b-text-4">
            <a:extLst xmlns:a="http://schemas.openxmlformats.org/drawingml/2006/main">
              <a:ext uri="{FF2B5EF4-FFF2-40B4-BE49-F238E27FC236}">
                <a16:creationId xmlns:a16="http://schemas.microsoft.com/office/drawing/2014/main" id="{DFB65955-450C-466A-B353-575344A2CA18}"/>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Codex CLI</a:t>
            </a:r>
          </a:p>
        </p:txBody>
      </p:sp>
      <p:sp>
        <p:nvSpPr>
          <p:cNvPr id="10" name="08b-text-5">
            <a:extLst xmlns:a="http://schemas.openxmlformats.org/drawingml/2006/main">
              <a:ext uri="{FF2B5EF4-FFF2-40B4-BE49-F238E27FC236}">
                <a16:creationId xmlns:a16="http://schemas.microsoft.com/office/drawing/2014/main" id="{01D6F359-9B26-429A-9EA9-005EDD769A4E}"/>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Provider responsibilities behind the picker:</a:t>
            </a:r>
          </a:p>
        </p:txBody>
      </p:sp>
      <p:sp>
        <p:nvSpPr>
          <p:cNvPr id="11" name="08b-text-6">
            <a:extLst xmlns:a="http://schemas.openxmlformats.org/drawingml/2006/main">
              <a:ext uri="{FF2B5EF4-FFF2-40B4-BE49-F238E27FC236}">
                <a16:creationId xmlns:a16="http://schemas.microsoft.com/office/drawing/2014/main" id="{ADD827B1-7771-4A1A-8878-045BE6BF714F}"/>
              </a:ext>
            </a:extLst>
          </p:cNvPr>
          <p:cNvSpPr>
            <a:spLocks xmlns:a="http://schemas.openxmlformats.org/drawingml/2006/main"/>
          </p:cNvSpPr>
          <p:nvPr/>
        </p:nvSpPr>
        <p:spPr>
          <a:xfrm xmlns:a="http://schemas.openxmlformats.org/drawingml/2006/main">
            <a:off x="609600" y="29845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Defaults.</a:t>
            </a:r>
          </a:p>
        </p:txBody>
      </p:sp>
      <p:sp>
        <p:nvSpPr>
          <p:cNvPr id="12" name="08b-text-7">
            <a:extLst xmlns:a="http://schemas.openxmlformats.org/drawingml/2006/main">
              <a:ext uri="{FF2B5EF4-FFF2-40B4-BE49-F238E27FC236}">
                <a16:creationId xmlns:a16="http://schemas.microsoft.com/office/drawing/2014/main" id="{6D47227F-C2B4-44FD-95F1-71BEFEFEF0C3}"/>
              </a:ext>
            </a:extLst>
          </p:cNvPr>
          <p:cNvSpPr>
            <a:spLocks xmlns:a="http://schemas.openxmlformats.org/drawingml/2006/main"/>
          </p:cNvSpPr>
          <p:nvPr/>
        </p:nvSpPr>
        <p:spPr>
          <a:xfrm xmlns:a="http://schemas.openxmlformats.org/drawingml/2006/main">
            <a:off x="609600" y="34544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Model-specific prompt and tool tuning.</a:t>
            </a:r>
          </a:p>
        </p:txBody>
      </p:sp>
      <p:sp>
        <p:nvSpPr>
          <p:cNvPr id="13" name="08b-text-8">
            <a:extLst xmlns:a="http://schemas.openxmlformats.org/drawingml/2006/main">
              <a:ext uri="{FF2B5EF4-FFF2-40B4-BE49-F238E27FC236}">
                <a16:creationId xmlns:a16="http://schemas.microsoft.com/office/drawing/2014/main" id="{A11FFC64-E5DE-4C93-AEAC-640A27D007FB}"/>
              </a:ext>
            </a:extLst>
          </p:cNvPr>
          <p:cNvSpPr>
            <a:spLocks xmlns:a="http://schemas.openxmlformats.org/drawingml/2006/main"/>
          </p:cNvSpPr>
          <p:nvPr/>
        </p:nvSpPr>
        <p:spPr>
          <a:xfrm xmlns:a="http://schemas.openxmlformats.org/drawingml/2006/main">
            <a:off x="609600" y="39243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Failover.</a:t>
            </a:r>
          </a:p>
        </p:txBody>
      </p:sp>
      <p:sp>
        <p:nvSpPr>
          <p:cNvPr id="14" name="08b-text-9">
            <a:extLst xmlns:a="http://schemas.openxmlformats.org/drawingml/2006/main">
              <a:ext uri="{FF2B5EF4-FFF2-40B4-BE49-F238E27FC236}">
                <a16:creationId xmlns:a16="http://schemas.microsoft.com/office/drawing/2014/main" id="{0605074B-A790-4F27-B116-F76AA810B6FF}"/>
              </a:ext>
            </a:extLst>
          </p:cNvPr>
          <p:cNvSpPr>
            <a:spLocks xmlns:a="http://schemas.openxmlformats.org/drawingml/2006/main"/>
          </p:cNvSpPr>
          <p:nvPr/>
        </p:nvSpPr>
        <p:spPr>
          <a:xfrm xmlns:a="http://schemas.openxmlformats.org/drawingml/2006/main">
            <a:off x="609600" y="43942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Price-change handling.</a:t>
            </a:r>
          </a:p>
        </p:txBody>
      </p:sp>
      <p:sp>
        <p:nvSpPr>
          <p:cNvPr id="15" name="08b-text-10">
            <a:extLst xmlns:a="http://schemas.openxmlformats.org/drawingml/2006/main">
              <a:ext uri="{FF2B5EF4-FFF2-40B4-BE49-F238E27FC236}">
                <a16:creationId xmlns:a16="http://schemas.microsoft.com/office/drawing/2014/main" id="{C6080FA4-B1C4-4404-83E7-635CF939A677}"/>
              </a:ext>
            </a:extLst>
          </p:cNvPr>
          <p:cNvSpPr>
            <a:spLocks xmlns:a="http://schemas.openxmlformats.org/drawingml/2006/main"/>
          </p:cNvSpPr>
          <p:nvPr/>
        </p:nvSpPr>
        <p:spPr>
          <a:xfrm xmlns:a="http://schemas.openxmlformats.org/drawingml/2006/main">
            <a:off x="609600" y="48641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Retirement handling.</a:t>
            </a:r>
          </a:p>
        </p:txBody>
      </p:sp>
      <p:sp>
        <p:nvSpPr>
          <p:cNvPr id="16" name="08b-text-11">
            <a:extLst xmlns:a="http://schemas.openxmlformats.org/drawingml/2006/main">
              <a:ext uri="{FF2B5EF4-FFF2-40B4-BE49-F238E27FC236}">
                <a16:creationId xmlns:a16="http://schemas.microsoft.com/office/drawing/2014/main" id="{9765EE41-F766-4520-A714-D3583C010F99}"/>
              </a:ext>
            </a:extLst>
          </p:cNvPr>
          <p:cNvSpPr>
            <a:spLocks xmlns:a="http://schemas.openxmlformats.org/drawingml/2006/main"/>
          </p:cNvSpPr>
          <p:nvPr/>
        </p:nvSpPr>
        <p:spPr>
          <a:xfrm xmlns:a="http://schemas.openxmlformats.org/drawingml/2006/main">
            <a:off x="609600" y="5715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Model retirement creates migration work.</a:t>
            </a:r>
          </a:p>
        </p:txBody>
      </p:sp>
    </p:spTree>
    <p:extLst>
      <p:ext uri="{BB962C8B-B14F-4D97-AF65-F5344CB8AC3E}">
        <p14:creationId xmlns:p14="http://schemas.microsoft.com/office/powerpoint/2010/main" val="1248802477"/>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 name="!!area-name">
            <a:extLst xmlns:a="http://schemas.openxmlformats.org/drawingml/2006/main">
              <a:ext uri="{FF2B5EF4-FFF2-40B4-BE49-F238E27FC236}">
                <a16:creationId xmlns:a16="http://schemas.microsoft.com/office/drawing/2014/main" id="{6CA391AE-E003-44F3-847F-C0C56B68AF6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41" name="mini-map"/>
          <p:cNvPicPr>
            <a:picLocks xmlns:a="http://schemas.openxmlformats.org/drawingml/2006/main" noChangeAspect="1"/>
          </p:cNvPicPr>
          <p:nvPr/>
        </p:nvPicPr>
        <p:blipFill>
          <a:blip xmlns:r="http://schemas.openxmlformats.org/officeDocument/2006/relationships" xmlns:a="http://schemas.openxmlformats.org/drawingml/2006/main" r:embed="R6e69a040b6184c0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8248D56D-11EC-474C-875F-267AE74E6BF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4" name="header-divider">
            <a:extLst xmlns:a="http://schemas.openxmlformats.org/drawingml/2006/main">
              <a:ext uri="{FF2B5EF4-FFF2-40B4-BE49-F238E27FC236}">
                <a16:creationId xmlns:a16="http://schemas.microsoft.com/office/drawing/2014/main" id="{3BD46176-B3CB-48CD-953B-8CFE10663A9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09-text-1">
            <a:extLst xmlns:a="http://schemas.openxmlformats.org/drawingml/2006/main">
              <a:ext uri="{FF2B5EF4-FFF2-40B4-BE49-F238E27FC236}">
                <a16:creationId xmlns:a16="http://schemas.microsoft.com/office/drawing/2014/main" id="{819E6C15-9C27-4F8B-8064-937DD5E12B3E}"/>
              </a:ext>
            </a:extLst>
          </p:cNvPr>
          <p:cNvSpPr>
            <a:spLocks xmlns:a="http://schemas.openxmlformats.org/drawingml/2006/main"/>
          </p:cNvSpPr>
          <p:nvPr/>
        </p:nvSpPr>
        <p:spPr>
          <a:xfrm xmlns:a="http://schemas.openxmlformats.org/drawingml/2006/main">
            <a:off x="609600" y="2489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a:t>
            </a:r>
          </a:p>
        </p:txBody>
      </p:sp>
      <p:sp>
        <p:nvSpPr>
          <p:cNvPr id="6" name="09-shape-2">
            <a:extLst xmlns:a="http://schemas.openxmlformats.org/drawingml/2006/main">
              <a:ext uri="{FF2B5EF4-FFF2-40B4-BE49-F238E27FC236}">
                <a16:creationId xmlns:a16="http://schemas.microsoft.com/office/drawing/2014/main" id="{86C8D364-9646-40A2-8A35-0442013B5C31}"/>
              </a:ext>
            </a:extLst>
          </p:cNvPr>
          <p:cNvSpPr>
            <a:spLocks xmlns:a="http://schemas.openxmlformats.org/drawingml/2006/main"/>
          </p:cNvSpPr>
          <p:nvPr/>
        </p:nvSpPr>
        <p:spPr>
          <a:xfrm xmlns:a="http://schemas.openxmlformats.org/drawingml/2006/main">
            <a:off x="2489200" y="2438400"/>
            <a:ext cx="3009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7" name="09-text-3">
            <a:extLst xmlns:a="http://schemas.openxmlformats.org/drawingml/2006/main">
              <a:ext uri="{FF2B5EF4-FFF2-40B4-BE49-F238E27FC236}">
                <a16:creationId xmlns:a16="http://schemas.microsoft.com/office/drawing/2014/main" id="{58A8B5DD-CFC8-49D9-9438-F37E288F3D12}"/>
              </a:ext>
            </a:extLst>
          </p:cNvPr>
          <p:cNvSpPr>
            <a:spLocks xmlns:a="http://schemas.openxmlformats.org/drawingml/2006/main"/>
          </p:cNvSpPr>
          <p:nvPr/>
        </p:nvSpPr>
        <p:spPr>
          <a:xfrm xmlns:a="http://schemas.openxmlformats.org/drawingml/2006/main">
            <a:off x="2641600" y="2476500"/>
            <a:ext cx="2705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Capability on your tasks</a:t>
            </a:r>
          </a:p>
        </p:txBody>
      </p:sp>
      <p:sp>
        <p:nvSpPr>
          <p:cNvPr id="8" name="09-shape-4">
            <a:extLst xmlns:a="http://schemas.openxmlformats.org/drawingml/2006/main">
              <a:ext uri="{FF2B5EF4-FFF2-40B4-BE49-F238E27FC236}">
                <a16:creationId xmlns:a16="http://schemas.microsoft.com/office/drawing/2014/main" id="{9DF78F51-20F4-4604-B5A8-097DA5ADCE6F}"/>
              </a:ext>
            </a:extLst>
          </p:cNvPr>
          <p:cNvSpPr>
            <a:spLocks xmlns:a="http://schemas.openxmlformats.org/drawingml/2006/main"/>
          </p:cNvSpPr>
          <p:nvPr/>
        </p:nvSpPr>
        <p:spPr>
          <a:xfrm xmlns:a="http://schemas.openxmlformats.org/drawingml/2006/main">
            <a:off x="5600700" y="2438400"/>
            <a:ext cx="3048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9" name="09-text-5">
            <a:extLst xmlns:a="http://schemas.openxmlformats.org/drawingml/2006/main">
              <a:ext uri="{FF2B5EF4-FFF2-40B4-BE49-F238E27FC236}">
                <a16:creationId xmlns:a16="http://schemas.microsoft.com/office/drawing/2014/main" id="{030CF610-F09F-4223-87CC-A22DD14746B1}"/>
              </a:ext>
            </a:extLst>
          </p:cNvPr>
          <p:cNvSpPr>
            <a:spLocks xmlns:a="http://schemas.openxmlformats.org/drawingml/2006/main"/>
          </p:cNvSpPr>
          <p:nvPr/>
        </p:nvSpPr>
        <p:spPr>
          <a:xfrm xmlns:a="http://schemas.openxmlformats.org/drawingml/2006/main">
            <a:off x="5753100" y="2476500"/>
            <a:ext cx="274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a:t>
            </a:r>
          </a:p>
        </p:txBody>
      </p:sp>
      <p:sp>
        <p:nvSpPr>
          <p:cNvPr id="10" name="09-shape-6">
            <a:extLst xmlns:a="http://schemas.openxmlformats.org/drawingml/2006/main">
              <a:ext uri="{FF2B5EF4-FFF2-40B4-BE49-F238E27FC236}">
                <a16:creationId xmlns:a16="http://schemas.microsoft.com/office/drawing/2014/main" id="{E5D41F36-441C-4867-8F63-64090D57F01D}"/>
              </a:ext>
            </a:extLst>
          </p:cNvPr>
          <p:cNvSpPr>
            <a:spLocks xmlns:a="http://schemas.openxmlformats.org/drawingml/2006/main"/>
          </p:cNvSpPr>
          <p:nvPr/>
        </p:nvSpPr>
        <p:spPr>
          <a:xfrm xmlns:a="http://schemas.openxmlformats.org/drawingml/2006/main">
            <a:off x="8750300" y="2438400"/>
            <a:ext cx="1981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1" name="09-text-7">
            <a:extLst xmlns:a="http://schemas.openxmlformats.org/drawingml/2006/main">
              <a:ext uri="{FF2B5EF4-FFF2-40B4-BE49-F238E27FC236}">
                <a16:creationId xmlns:a16="http://schemas.microsoft.com/office/drawing/2014/main" id="{F215999C-3DAB-4B30-B43A-393B34C7AEE7}"/>
              </a:ext>
            </a:extLst>
          </p:cNvPr>
          <p:cNvSpPr>
            <a:spLocks xmlns:a="http://schemas.openxmlformats.org/drawingml/2006/main"/>
          </p:cNvSpPr>
          <p:nvPr/>
        </p:nvSpPr>
        <p:spPr>
          <a:xfrm xmlns:a="http://schemas.openxmlformats.org/drawingml/2006/main">
            <a:off x="8902700" y="2476500"/>
            <a:ext cx="1676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Latency at p95</a:t>
            </a:r>
          </a:p>
        </p:txBody>
      </p:sp>
      <p:sp>
        <p:nvSpPr>
          <p:cNvPr id="12" name="09-shape-8">
            <a:extLst xmlns:a="http://schemas.openxmlformats.org/drawingml/2006/main">
              <a:ext uri="{FF2B5EF4-FFF2-40B4-BE49-F238E27FC236}">
                <a16:creationId xmlns:a16="http://schemas.microsoft.com/office/drawing/2014/main" id="{31A5D0D8-94AA-4C4D-AC9B-59BA596AE5DA}"/>
              </a:ext>
            </a:extLst>
          </p:cNvPr>
          <p:cNvSpPr>
            <a:spLocks xmlns:a="http://schemas.openxmlformats.org/drawingml/2006/main"/>
          </p:cNvSpPr>
          <p:nvPr/>
        </p:nvSpPr>
        <p:spPr>
          <a:xfrm xmlns:a="http://schemas.openxmlformats.org/drawingml/2006/main">
            <a:off x="2489200" y="2959100"/>
            <a:ext cx="2108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3" name="09-text-9">
            <a:extLst xmlns:a="http://schemas.openxmlformats.org/drawingml/2006/main">
              <a:ext uri="{FF2B5EF4-FFF2-40B4-BE49-F238E27FC236}">
                <a16:creationId xmlns:a16="http://schemas.microsoft.com/office/drawing/2014/main" id="{6112DD3D-3A12-4225-A1F6-92F941DBCACB}"/>
              </a:ext>
            </a:extLst>
          </p:cNvPr>
          <p:cNvSpPr>
            <a:spLocks xmlns:a="http://schemas.openxmlformats.org/drawingml/2006/main"/>
          </p:cNvSpPr>
          <p:nvPr/>
        </p:nvSpPr>
        <p:spPr>
          <a:xfrm xmlns:a="http://schemas.openxmlformats.org/drawingml/2006/main">
            <a:off x="2641600" y="2997200"/>
            <a:ext cx="180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window</a:t>
            </a:r>
          </a:p>
        </p:txBody>
      </p:sp>
      <p:sp>
        <p:nvSpPr>
          <p:cNvPr id="14" name="09-shape-10">
            <a:extLst xmlns:a="http://schemas.openxmlformats.org/drawingml/2006/main">
              <a:ext uri="{FF2B5EF4-FFF2-40B4-BE49-F238E27FC236}">
                <a16:creationId xmlns:a16="http://schemas.microsoft.com/office/drawing/2014/main" id="{0E0CBC5E-0A2B-43A7-82D4-96260234EFA4}"/>
              </a:ext>
            </a:extLst>
          </p:cNvPr>
          <p:cNvSpPr>
            <a:spLocks xmlns:a="http://schemas.openxmlformats.org/drawingml/2006/main"/>
          </p:cNvSpPr>
          <p:nvPr/>
        </p:nvSpPr>
        <p:spPr>
          <a:xfrm xmlns:a="http://schemas.openxmlformats.org/drawingml/2006/main">
            <a:off x="4699000" y="2959100"/>
            <a:ext cx="2324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5" name="09-text-11">
            <a:extLst xmlns:a="http://schemas.openxmlformats.org/drawingml/2006/main">
              <a:ext uri="{FF2B5EF4-FFF2-40B4-BE49-F238E27FC236}">
                <a16:creationId xmlns:a16="http://schemas.microsoft.com/office/drawing/2014/main" id="{86883FC4-A50D-4AA9-8285-BF71E67FC8E2}"/>
              </a:ext>
            </a:extLst>
          </p:cNvPr>
          <p:cNvSpPr>
            <a:spLocks xmlns:a="http://schemas.openxmlformats.org/drawingml/2006/main"/>
          </p:cNvSpPr>
          <p:nvPr/>
        </p:nvSpPr>
        <p:spPr>
          <a:xfrm xmlns:a="http://schemas.openxmlformats.org/drawingml/2006/main">
            <a:off x="4851400" y="299720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Tool-use reliability</a:t>
            </a:r>
          </a:p>
        </p:txBody>
      </p:sp>
      <p:sp>
        <p:nvSpPr>
          <p:cNvPr id="16" name="09-shape-12">
            <a:extLst xmlns:a="http://schemas.openxmlformats.org/drawingml/2006/main">
              <a:ext uri="{FF2B5EF4-FFF2-40B4-BE49-F238E27FC236}">
                <a16:creationId xmlns:a16="http://schemas.microsoft.com/office/drawing/2014/main" id="{E109DCF2-5F4D-4566-8EE2-EB9DC77DA0AB}"/>
              </a:ext>
            </a:extLst>
          </p:cNvPr>
          <p:cNvSpPr>
            <a:spLocks xmlns:a="http://schemas.openxmlformats.org/drawingml/2006/main"/>
          </p:cNvSpPr>
          <p:nvPr/>
        </p:nvSpPr>
        <p:spPr>
          <a:xfrm xmlns:a="http://schemas.openxmlformats.org/drawingml/2006/main">
            <a:off x="7124700" y="2959100"/>
            <a:ext cx="2006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7" name="09-text-13">
            <a:extLst xmlns:a="http://schemas.openxmlformats.org/drawingml/2006/main">
              <a:ext uri="{FF2B5EF4-FFF2-40B4-BE49-F238E27FC236}">
                <a16:creationId xmlns:a16="http://schemas.microsoft.com/office/drawing/2014/main" id="{03D31C48-7545-4BF6-A1EF-E8B142DB08CA}"/>
              </a:ext>
            </a:extLst>
          </p:cNvPr>
          <p:cNvSpPr>
            <a:spLocks xmlns:a="http://schemas.openxmlformats.org/drawingml/2006/main"/>
          </p:cNvSpPr>
          <p:nvPr/>
        </p:nvSpPr>
        <p:spPr>
          <a:xfrm xmlns:a="http://schemas.openxmlformats.org/drawingml/2006/main">
            <a:off x="7277100" y="2997200"/>
            <a:ext cx="1701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Data residency</a:t>
            </a:r>
          </a:p>
        </p:txBody>
      </p:sp>
      <p:sp>
        <p:nvSpPr>
          <p:cNvPr id="18" name="09-text-14">
            <a:extLst xmlns:a="http://schemas.openxmlformats.org/drawingml/2006/main">
              <a:ext uri="{FF2B5EF4-FFF2-40B4-BE49-F238E27FC236}">
                <a16:creationId xmlns:a16="http://schemas.microsoft.com/office/drawing/2014/main" id="{C712F837-8C7D-4A46-825C-3A4646E321F7}"/>
              </a:ext>
            </a:extLst>
          </p:cNvPr>
          <p:cNvSpPr>
            <a:spLocks xmlns:a="http://schemas.openxmlformats.org/drawingml/2006/main"/>
          </p:cNvSpPr>
          <p:nvPr/>
        </p:nvSpPr>
        <p:spPr>
          <a:xfrm xmlns:a="http://schemas.openxmlformats.org/drawingml/2006/main">
            <a:off x="609600" y="38100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Measure</a:t>
            </a:r>
          </a:p>
        </p:txBody>
      </p:sp>
      <p:sp>
        <p:nvSpPr>
          <p:cNvPr id="19" name="09-text-15">
            <a:extLst xmlns:a="http://schemas.openxmlformats.org/drawingml/2006/main">
              <a:ext uri="{FF2B5EF4-FFF2-40B4-BE49-F238E27FC236}">
                <a16:creationId xmlns:a16="http://schemas.microsoft.com/office/drawing/2014/main" id="{DD94518C-8B57-4486-BFC2-22FB9B882B4D}"/>
              </a:ext>
            </a:extLst>
          </p:cNvPr>
          <p:cNvSpPr>
            <a:spLocks xmlns:a="http://schemas.openxmlformats.org/drawingml/2006/main"/>
          </p:cNvSpPr>
          <p:nvPr/>
        </p:nvSpPr>
        <p:spPr>
          <a:xfrm xmlns:a="http://schemas.openxmlformats.org/drawingml/2006/main">
            <a:off x="2489200" y="3759200"/>
            <a:ext cx="90932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Benchmarks use their task population and harness.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Measure your product on representative cases.</a:t>
            </a:r>
          </a:p>
        </p:txBody>
      </p:sp>
      <p:sp>
        <p:nvSpPr>
          <p:cNvPr id="20" name="09-text-16">
            <a:extLst xmlns:a="http://schemas.openxmlformats.org/drawingml/2006/main">
              <a:ext uri="{FF2B5EF4-FFF2-40B4-BE49-F238E27FC236}">
                <a16:creationId xmlns:a16="http://schemas.microsoft.com/office/drawing/2014/main" id="{BB46F9D3-B353-4D6D-9AF1-79E8120CA85C}"/>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Replace</a:t>
            </a:r>
          </a:p>
        </p:txBody>
      </p:sp>
      <p:sp>
        <p:nvSpPr>
          <p:cNvPr id="21" name="09-shape-17">
            <a:extLst xmlns:a="http://schemas.openxmlformats.org/drawingml/2006/main">
              <a:ext uri="{FF2B5EF4-FFF2-40B4-BE49-F238E27FC236}">
                <a16:creationId xmlns:a16="http://schemas.microsoft.com/office/drawing/2014/main" id="{A641692E-B012-49EC-8FA9-7B812A210B7D}"/>
              </a:ext>
            </a:extLst>
          </p:cNvPr>
          <p:cNvSpPr>
            <a:spLocks xmlns:a="http://schemas.openxmlformats.org/drawingml/2006/main"/>
          </p:cNvSpPr>
          <p:nvPr/>
        </p:nvSpPr>
        <p:spPr>
          <a:xfrm xmlns:a="http://schemas.openxmlformats.org/drawingml/2006/main">
            <a:off x="609600" y="2895600"/>
            <a:ext cx="5334000" cy="1397000"/>
          </a:xfrm>
          <a:prstGeom xmlns:a="http://schemas.openxmlformats.org/drawingml/2006/main" prst="roundRect">
            <a:avLst>
              <a:gd name="adj" fmla="val 7273"/>
            </a:avLst>
          </a:prstGeom>
          <a:solidFill xmlns:a="http://schemas.openxmlformats.org/drawingml/2006/main">
            <a:srgbClr val="13223F"/>
          </a:solidFill>
          <a:ln xmlns:a="http://schemas.openxmlformats.org/drawingml/2006/main" w="25400">
            <a:solidFill>
              <a:srgbClr val="1064F8"/>
            </a:solidFill>
          </a:ln>
        </p:spPr>
      </p:sp>
      <p:sp>
        <p:nvSpPr>
          <p:cNvPr id="22" name="09-text-18">
            <a:extLst xmlns:a="http://schemas.openxmlformats.org/drawingml/2006/main">
              <a:ext uri="{FF2B5EF4-FFF2-40B4-BE49-F238E27FC236}">
                <a16:creationId xmlns:a16="http://schemas.microsoft.com/office/drawing/2014/main" id="{4EB6CFC6-CA67-43D1-8C79-24D47EA293B2}"/>
              </a:ext>
            </a:extLst>
          </p:cNvPr>
          <p:cNvSpPr>
            <a:spLocks xmlns:a="http://schemas.openxmlformats.org/drawingml/2006/main"/>
          </p:cNvSpPr>
          <p:nvPr/>
        </p:nvSpPr>
        <p:spPr>
          <a:xfrm xmlns:a="http://schemas.openxmlformats.org/drawingml/2006/main">
            <a:off x="812800" y="3048000"/>
            <a:ext cx="4927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Pinned version</a:t>
            </a:r>
          </a:p>
        </p:txBody>
      </p:sp>
      <p:sp>
        <p:nvSpPr>
          <p:cNvPr id="23" name="09-text-19">
            <a:extLst xmlns:a="http://schemas.openxmlformats.org/drawingml/2006/main">
              <a:ext uri="{FF2B5EF4-FFF2-40B4-BE49-F238E27FC236}">
                <a16:creationId xmlns:a16="http://schemas.microsoft.com/office/drawing/2014/main" id="{3516BDD1-125C-472A-85CE-7AEC154071E3}"/>
              </a:ext>
            </a:extLst>
          </p:cNvPr>
          <p:cNvSpPr>
            <a:spLocks xmlns:a="http://schemas.openxmlformats.org/drawingml/2006/main"/>
          </p:cNvSpPr>
          <p:nvPr/>
        </p:nvSpPr>
        <p:spPr>
          <a:xfrm xmlns:a="http://schemas.openxmlformats.org/drawingml/2006/main">
            <a:off x="812800" y="3505200"/>
            <a:ext cx="4927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Controlled migration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lifecycle management.</a:t>
            </a:r>
          </a:p>
        </p:txBody>
      </p:sp>
      <p:sp>
        <p:nvSpPr>
          <p:cNvPr id="24" name="09-shape-20">
            <a:extLst xmlns:a="http://schemas.openxmlformats.org/drawingml/2006/main">
              <a:ext uri="{FF2B5EF4-FFF2-40B4-BE49-F238E27FC236}">
                <a16:creationId xmlns:a16="http://schemas.microsoft.com/office/drawing/2014/main" id="{4FC4589E-7391-4388-978E-5231BAAADDC1}"/>
              </a:ext>
            </a:extLst>
          </p:cNvPr>
          <p:cNvSpPr>
            <a:spLocks xmlns:a="http://schemas.openxmlformats.org/drawingml/2006/main"/>
          </p:cNvSpPr>
          <p:nvPr/>
        </p:nvSpPr>
        <p:spPr>
          <a:xfrm xmlns:a="http://schemas.openxmlformats.org/drawingml/2006/main">
            <a:off x="6248400" y="2895600"/>
            <a:ext cx="5334000" cy="1397000"/>
          </a:xfrm>
          <a:prstGeom xmlns:a="http://schemas.openxmlformats.org/drawingml/2006/main" prst="roundRect">
            <a:avLst>
              <a:gd name="adj" fmla="val 7273"/>
            </a:avLst>
          </a:prstGeom>
          <a:solidFill xmlns:a="http://schemas.openxmlformats.org/drawingml/2006/main">
            <a:srgbClr val="13223F"/>
          </a:solidFill>
          <a:ln xmlns:a="http://schemas.openxmlformats.org/drawingml/2006/main" w="25400">
            <a:solidFill>
              <a:srgbClr val="1064F8"/>
            </a:solidFill>
          </a:ln>
        </p:spPr>
      </p:sp>
      <p:sp>
        <p:nvSpPr>
          <p:cNvPr id="25" name="09-text-21">
            <a:extLst xmlns:a="http://schemas.openxmlformats.org/drawingml/2006/main">
              <a:ext uri="{FF2B5EF4-FFF2-40B4-BE49-F238E27FC236}">
                <a16:creationId xmlns:a16="http://schemas.microsoft.com/office/drawing/2014/main" id="{DA74A737-9F36-4FE0-99EE-BF04A559B211}"/>
              </a:ext>
            </a:extLst>
          </p:cNvPr>
          <p:cNvSpPr>
            <a:spLocks xmlns:a="http://schemas.openxmlformats.org/drawingml/2006/main"/>
          </p:cNvSpPr>
          <p:nvPr/>
        </p:nvSpPr>
        <p:spPr>
          <a:xfrm xmlns:a="http://schemas.openxmlformats.org/drawingml/2006/main">
            <a:off x="6451600" y="3048000"/>
            <a:ext cx="4927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Moving alias</a:t>
            </a:r>
          </a:p>
        </p:txBody>
      </p:sp>
      <p:sp>
        <p:nvSpPr>
          <p:cNvPr id="26" name="09-text-22">
            <a:extLst xmlns:a="http://schemas.openxmlformats.org/drawingml/2006/main">
              <a:ext uri="{FF2B5EF4-FFF2-40B4-BE49-F238E27FC236}">
                <a16:creationId xmlns:a16="http://schemas.microsoft.com/office/drawing/2014/main" id="{61DF6AAB-F00D-4CC2-8B78-E4B3EAE29749}"/>
              </a:ext>
            </a:extLst>
          </p:cNvPr>
          <p:cNvSpPr>
            <a:spLocks xmlns:a="http://schemas.openxmlformats.org/drawingml/2006/main"/>
          </p:cNvSpPr>
          <p:nvPr/>
        </p:nvSpPr>
        <p:spPr>
          <a:xfrm xmlns:a="http://schemas.openxmlformats.org/drawingml/2006/main">
            <a:off x="6451600" y="3505200"/>
            <a:ext cx="4927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Automatic updates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regression monitoring.</a:t>
            </a:r>
          </a:p>
        </p:txBody>
      </p:sp>
      <p:sp>
        <p:nvSpPr>
          <p:cNvPr id="27" name="09-text-23">
            <a:extLst xmlns:a="http://schemas.openxmlformats.org/drawingml/2006/main">
              <a:ext uri="{FF2B5EF4-FFF2-40B4-BE49-F238E27FC236}">
                <a16:creationId xmlns:a16="http://schemas.microsoft.com/office/drawing/2014/main" id="{77CE9B16-47E9-4273-9B25-8B214AA50A41}"/>
              </a:ext>
            </a:extLst>
          </p:cNvPr>
          <p:cNvSpPr>
            <a:spLocks xmlns:a="http://schemas.openxmlformats.org/drawingml/2006/main"/>
          </p:cNvSpPr>
          <p:nvPr/>
        </p:nvSpPr>
        <p:spPr>
          <a:xfrm xmlns:a="http://schemas.openxmlformats.org/drawingml/2006/main">
            <a:off x="609600" y="44450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snapshot controls one source of variation. Prompts, tools, retrieval,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the environment also affect behavior.</a:t>
            </a:r>
          </a:p>
        </p:txBody>
      </p:sp>
      <p:sp>
        <p:nvSpPr>
          <p:cNvPr id="28" name="09-text-24">
            <a:extLst xmlns:a="http://schemas.openxmlformats.org/drawingml/2006/main">
              <a:ext uri="{FF2B5EF4-FFF2-40B4-BE49-F238E27FC236}">
                <a16:creationId xmlns:a16="http://schemas.microsoft.com/office/drawing/2014/main" id="{A0D1B2FD-CE88-4D6B-92A7-53399FA74440}"/>
              </a:ext>
            </a:extLst>
          </p:cNvPr>
          <p:cNvSpPr>
            <a:spLocks xmlns:a="http://schemas.openxmlformats.org/drawingml/2006/main"/>
          </p:cNvSpPr>
          <p:nvPr/>
        </p:nvSpPr>
        <p:spPr>
          <a:xfrm xmlns:a="http://schemas.openxmlformats.org/drawingml/2006/main">
            <a:off x="609600" y="5207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GPT-4 prime/composite task, step-by-step prompting: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84% in March 2023, 51% in June 2023.</a:t>
            </a:r>
          </a:p>
        </p:txBody>
      </p:sp>
      <p:sp>
        <p:nvSpPr>
          <p:cNvPr id="29" name="09-text-25">
            <a:extLst xmlns:a="http://schemas.openxmlformats.org/drawingml/2006/main">
              <a:ext uri="{FF2B5EF4-FFF2-40B4-BE49-F238E27FC236}">
                <a16:creationId xmlns:a16="http://schemas.microsoft.com/office/drawing/2014/main" id="{ACFEF02B-7568-4FA6-BB7E-7B3DF654E426}"/>
              </a:ext>
            </a:extLst>
          </p:cNvPr>
          <p:cNvSpPr>
            <a:spLocks xmlns:a="http://schemas.openxmlformats.org/drawingml/2006/main"/>
          </p:cNvSpPr>
          <p:nvPr/>
        </p:nvSpPr>
        <p:spPr>
          <a:xfrm xmlns:a="http://schemas.openxmlformats.org/drawingml/2006/main">
            <a:off x="609600" y="5943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Chen, Zaharia, Zou, revised 2023 paper. Task-specific, not overall model quality.</a:t>
            </a:r>
          </a:p>
        </p:txBody>
      </p:sp>
      <p:sp>
        <p:nvSpPr>
          <p:cNvPr id="30" name="09-text-26">
            <a:extLst xmlns:a="http://schemas.openxmlformats.org/drawingml/2006/main">
              <a:ext uri="{FF2B5EF4-FFF2-40B4-BE49-F238E27FC236}">
                <a16:creationId xmlns:a16="http://schemas.microsoft.com/office/drawing/2014/main" id="{EBBFDA36-C1CC-45AD-8F3C-A84173425F45}"/>
              </a:ext>
            </a:extLst>
          </p:cNvPr>
          <p:cNvSpPr>
            <a:spLocks xmlns:a="http://schemas.openxmlformats.org/drawingml/2006/main"/>
          </p:cNvSpPr>
          <p:nvPr/>
        </p:nvSpPr>
        <p:spPr>
          <a:xfrm xmlns:a="http://schemas.openxmlformats.org/drawingml/2006/main">
            <a:off x="609600" y="24384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Route</a:t>
            </a:r>
          </a:p>
        </p:txBody>
      </p:sp>
      <p:sp>
        <p:nvSpPr>
          <p:cNvPr id="31" name="09-text-27">
            <a:extLst xmlns:a="http://schemas.openxmlformats.org/drawingml/2006/main">
              <a:ext uri="{FF2B5EF4-FFF2-40B4-BE49-F238E27FC236}">
                <a16:creationId xmlns:a16="http://schemas.microsoft.com/office/drawing/2014/main" id="{0084914B-9914-4000-8D46-322332615632}"/>
              </a:ext>
            </a:extLst>
          </p:cNvPr>
          <p:cNvSpPr>
            <a:spLocks xmlns:a="http://schemas.openxmlformats.org/drawingml/2006/main"/>
          </p:cNvSpPr>
          <p:nvPr/>
        </p:nvSpPr>
        <p:spPr>
          <a:xfrm xmlns:a="http://schemas.openxmlformats.org/drawingml/2006/main">
            <a:off x="2489200" y="24384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LangChain, August 11, 2026 · 145 tasks · 7% frontier selection · judge calls excluded</a:t>
            </a:r>
          </a:p>
        </p:txBody>
      </p:sp>
      <p:graphicFrame>
        <p:nvGraphicFramePr>
          <p:cNvPr id="71" name="09-table-28"/>
          <p:cNvGraphicFramePr/>
          <p:nvPr/>
        </p:nvGraphicFramePr>
        <p:xfrm>
          <a:off xmlns:a="http://schemas.openxmlformats.org/drawingml/2006/main" x="609600" y="2921000"/>
          <a:ext xmlns:a="http://schemas.openxmlformats.org/drawingml/2006/main" cx="10972800" cy="1854200"/>
        </p:xfrm>
        <a:graphic xmlns:a="http://schemas.openxmlformats.org/drawingml/2006/main">
          <a:graphicData uri="http://schemas.openxmlformats.org/drawingml/2006/table">
            <a:tbl>
              <a:tblPr firstRow="0" firstCol="0" lastCol="0" bandRow="0" bandCol="0"/>
              <a:tblGrid>
                <a:gridCol w="4572000"/>
                <a:gridCol w="2286000"/>
                <a:gridCol w="4114800"/>
              </a:tblGrid>
              <a:tr h="635000">
                <a:tc>
                  <a:txBody>
                    <a:bodyPr>
                      <a:noAutofit/>
                    </a:bodyPr>
                    <a:lstStyle/>
                    <a:p>
                      <a:pPr>
                        <a:lnSpc>
                          <a:spcPct val="125000"/>
                        </a:lnSpc>
                        <a:buNone/>
                      </a:pPr>
                      <a:r>
                        <a:rPr sz="2000" b="1">
                          <a:solidFill>
                            <a:srgbClr val="1064F8"/>
                          </a:solidFill>
                          <a:latin typeface="Helvetica"/>
                          <a:ea typeface="Helvetica"/>
                          <a:cs typeface="Helvetica"/>
                        </a:rPr>
                        <a:t>Configuration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Accuracy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Cost per</a:t>
                      </a:r>
                    </a:p>
                    <a:p>
                      <a:pPr>
                        <a:lnSpc>
                          <a:spcPct val="125000"/>
                        </a:lnSpc>
                        <a:buNone/>
                      </a:pPr>
                      <a:r>
                        <a:rPr sz="2000" b="1">
                          <a:solidFill>
                            <a:srgbClr val="1064F8"/>
                          </a:solidFill>
                          <a:latin typeface="Helvetica"/>
                          <a:ea typeface="Helvetica"/>
                          <a:cs typeface="Helvetica"/>
                        </a:rPr>
                        <a:t>completed task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Frontier only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86.0%</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$0.092</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Routed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80.0%</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$0.026</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Small model only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77.7%</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$0.006</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3" name="09-text-29">
            <a:extLst xmlns:a="http://schemas.openxmlformats.org/drawingml/2006/main">
              <a:ext uri="{FF2B5EF4-FFF2-40B4-BE49-F238E27FC236}">
                <a16:creationId xmlns:a16="http://schemas.microsoft.com/office/drawing/2014/main" id="{6BA04884-4547-461D-8F75-DB8CD00D8BAC}"/>
              </a:ext>
            </a:extLst>
          </p:cNvPr>
          <p:cNvSpPr>
            <a:spLocks xmlns:a="http://schemas.openxmlformats.org/drawingml/2006/main"/>
          </p:cNvSpPr>
          <p:nvPr/>
        </p:nvSpPr>
        <p:spPr>
          <a:xfrm xmlns:a="http://schemas.openxmlformats.org/drawingml/2006/main">
            <a:off x="609600" y="4902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Run variation: about 2.7 points. Routed gain over small-only: 2.3 points.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Frontier selection: 4.1% to 9.1% across five runs.</a:t>
            </a:r>
          </a:p>
        </p:txBody>
      </p:sp>
      <p:sp>
        <p:nvSpPr>
          <p:cNvPr id="34" name="09-text-30">
            <a:extLst xmlns:a="http://schemas.openxmlformats.org/drawingml/2006/main">
              <a:ext uri="{FF2B5EF4-FFF2-40B4-BE49-F238E27FC236}">
                <a16:creationId xmlns:a16="http://schemas.microsoft.com/office/drawing/2014/main" id="{AF2506E0-89D9-4FEE-A3CD-1C7BC031BC5D}"/>
              </a:ext>
            </a:extLst>
          </p:cNvPr>
          <p:cNvSpPr>
            <a:spLocks xmlns:a="http://schemas.openxmlformats.org/drawingml/2006/main"/>
          </p:cNvSpPr>
          <p:nvPr/>
        </p:nvSpPr>
        <p:spPr>
          <a:xfrm xmlns:a="http://schemas.openxmlformats.org/drawingml/2006/main">
            <a:off x="609600" y="5562600"/>
            <a:ext cx="109728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About 72% lower cost per completed task; article: 74% lower total cost.</a:t>
            </a:r>
          </a:p>
        </p:txBody>
      </p:sp>
      <p:sp>
        <p:nvSpPr>
          <p:cNvPr id="35" name="09-text-31">
            <a:extLst xmlns:a="http://schemas.openxmlformats.org/drawingml/2006/main">
              <a:ext uri="{FF2B5EF4-FFF2-40B4-BE49-F238E27FC236}">
                <a16:creationId xmlns:a16="http://schemas.microsoft.com/office/drawing/2014/main" id="{5A5785BD-D3A4-4014-9A8D-BDE557E31325}"/>
              </a:ext>
            </a:extLst>
          </p:cNvPr>
          <p:cNvSpPr>
            <a:spLocks xmlns:a="http://schemas.openxmlformats.org/drawingml/2006/main"/>
          </p:cNvSpPr>
          <p:nvPr/>
        </p:nvSpPr>
        <p:spPr>
          <a:xfrm xmlns:a="http://schemas.openxmlformats.org/drawingml/2006/main">
            <a:off x="609600" y="2438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Which configuration meets your product's quality requirement?</a:t>
            </a:r>
          </a:p>
        </p:txBody>
      </p:sp>
      <p:sp>
        <p:nvSpPr>
          <p:cNvPr id="36" name="09-shape-32">
            <a:extLst xmlns:a="http://schemas.openxmlformats.org/drawingml/2006/main">
              <a:ext uri="{FF2B5EF4-FFF2-40B4-BE49-F238E27FC236}">
                <a16:creationId xmlns:a16="http://schemas.microsoft.com/office/drawing/2014/main" id="{7DEEC634-E306-4F22-B296-527656AE9A10}"/>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7" name="09-shape-33">
            <a:extLst xmlns:a="http://schemas.openxmlformats.org/drawingml/2006/main">
              <a:ext uri="{FF2B5EF4-FFF2-40B4-BE49-F238E27FC236}">
                <a16:creationId xmlns:a16="http://schemas.microsoft.com/office/drawing/2014/main" id="{0CAC8E5F-9305-4F7F-B7AF-10264C85F604}"/>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38" name="09-text-34">
            <a:extLst xmlns:a="http://schemas.openxmlformats.org/drawingml/2006/main">
              <a:ext uri="{FF2B5EF4-FFF2-40B4-BE49-F238E27FC236}">
                <a16:creationId xmlns:a16="http://schemas.microsoft.com/office/drawing/2014/main" id="{E4C2490E-17C2-4945-B310-0E2C46D4385F}"/>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Pitfall</a:t>
            </a:r>
          </a:p>
        </p:txBody>
      </p:sp>
      <p:sp>
        <p:nvSpPr>
          <p:cNvPr id="39" name="09-text-35">
            <a:extLst xmlns:a="http://schemas.openxmlformats.org/drawingml/2006/main">
              <a:ext uri="{FF2B5EF4-FFF2-40B4-BE49-F238E27FC236}">
                <a16:creationId xmlns:a16="http://schemas.microsoft.com/office/drawing/2014/main" id="{E190FBD6-048D-4EA2-8956-356B4C26E863}"/>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hardcoded model ID with no eval suite behind it.</a:t>
            </a:r>
          </a:p>
        </p:txBody>
      </p:sp>
    </p:spTree>
    <p:extLst>
      <p:ext uri="{BB962C8B-B14F-4D97-AF65-F5344CB8AC3E}">
        <p14:creationId xmlns:p14="http://schemas.microsoft.com/office/powerpoint/2010/main" val="54665836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200" fill="hold"/>
                                        <p:tgtEl>
                                          <p:spTgt spid="6"/>
                                        </p:tgtEl>
                                      </p:cBhvr>
                                    </p:animEffect>
                                  </p:childTnLst>
                                </p:cTn>
                              </p:par>
                              <p:par>
                                <p:cTn id="10" presetID="10"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00" fill="hold"/>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200" fill="hold"/>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200" fill="hold"/>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200" fill="hold"/>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200" fill="hold"/>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00" fill="hold"/>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200" fill="hold"/>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00" fill="hold"/>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200" fill="hold"/>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200" fill="hold"/>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200" fill="hold"/>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5"/>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6"/>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7"/>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8"/>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9"/>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10"/>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11"/>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12"/>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13"/>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14"/>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15"/>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6"/>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17"/>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18"/>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19"/>
                                        </p:tgtEl>
                                        <p:attrNameLst>
                                          <p:attrName>style.visibility</p:attrName>
                                        </p:attrNameLst>
                                      </p:cBhvr>
                                      <p:to>
                                        <p:strVal val="hidden"/>
                                      </p:to>
                                    </p:set>
                                  </p:childTnLst>
                                </p:cTn>
                              </p:par>
                              <p:par>
                                <p:cTn id="81" presetID="1" presetClass="entr" presetSubtype="0" fill="hold" nodeType="withEffect">
                                  <p:stCondLst>
                                    <p:cond delay="0"/>
                                  </p:stCondLst>
                                  <p:childTnLst>
                                    <p:set>
                                      <p:cBhvr>
                                        <p:cTn id="82" dur="1" fill="hold">
                                          <p:stCondLst>
                                            <p:cond delay="0"/>
                                          </p:stCondLst>
                                        </p:cTn>
                                        <p:tgtEl>
                                          <p:spTgt spid="20"/>
                                        </p:tgtEl>
                                        <p:attrNameLst>
                                          <p:attrName>style.visibility</p:attrName>
                                        </p:attrNameLst>
                                      </p:cBhvr>
                                      <p:to>
                                        <p:strVal val="visible"/>
                                      </p:to>
                                    </p:set>
                                  </p:childTnLst>
                                </p:cTn>
                              </p:par>
                              <p:par>
                                <p:cTn id="83" presetID="10" presetClass="entr" presetSubtype="0" fill="hold" nodeType="with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200" fill="hold"/>
                                        <p:tgtEl>
                                          <p:spTgt spid="21"/>
                                        </p:tgtEl>
                                      </p:cBhvr>
                                    </p:animEffect>
                                  </p:childTnLst>
                                </p:cTn>
                              </p:par>
                              <p:par>
                                <p:cTn id="86" presetID="10" presetClass="entr" presetSubtype="0" fill="hold" nodeType="with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200" fill="hold"/>
                                        <p:tgtEl>
                                          <p:spTgt spid="22"/>
                                        </p:tgtEl>
                                      </p:cBhvr>
                                    </p:animEffect>
                                  </p:childTnLst>
                                </p:cTn>
                              </p:par>
                              <p:par>
                                <p:cTn id="89" presetID="10" presetClass="entr" presetSubtype="0" fill="hold" nodeType="with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200" fill="hold"/>
                                        <p:tgtEl>
                                          <p:spTgt spid="23"/>
                                        </p:tgtEl>
                                      </p:cBhvr>
                                    </p:animEffect>
                                  </p:childTnLst>
                                </p:cTn>
                              </p:par>
                              <p:par>
                                <p:cTn id="92" presetID="10" presetClass="entr" presetSubtype="0" fill="hold" nodeType="with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200" fill="hold"/>
                                        <p:tgtEl>
                                          <p:spTgt spid="24"/>
                                        </p:tgtEl>
                                      </p:cBhvr>
                                    </p:animEffect>
                                  </p:childTnLst>
                                </p:cTn>
                              </p:par>
                              <p:par>
                                <p:cTn id="95" presetID="10" presetClass="entr" presetSubtype="0" fill="hold" nodeType="with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200" fill="hold"/>
                                        <p:tgtEl>
                                          <p:spTgt spid="25"/>
                                        </p:tgtEl>
                                      </p:cBhvr>
                                    </p:animEffect>
                                  </p:childTnLst>
                                </p:cTn>
                              </p:par>
                              <p:par>
                                <p:cTn id="98" presetID="10" presetClass="entr" presetSubtype="0" fill="hold" nodeType="withEffect">
                                  <p:stCondLst>
                                    <p:cond delay="0"/>
                                  </p:stCondLst>
                                  <p:childTnLst>
                                    <p:set>
                                      <p:cBhvr>
                                        <p:cTn id="99" dur="1" fill="hold">
                                          <p:stCondLst>
                                            <p:cond delay="0"/>
                                          </p:stCondLst>
                                        </p:cTn>
                                        <p:tgtEl>
                                          <p:spTgt spid="26"/>
                                        </p:tgtEl>
                                        <p:attrNameLst>
                                          <p:attrName>style.visibility</p:attrName>
                                        </p:attrNameLst>
                                      </p:cBhvr>
                                      <p:to>
                                        <p:strVal val="visible"/>
                                      </p:to>
                                    </p:set>
                                    <p:animEffect transition="in" filter="fade">
                                      <p:cBhvr>
                                        <p:cTn id="100" dur="200" fill="hold"/>
                                        <p:tgtEl>
                                          <p:spTgt spid="26"/>
                                        </p:tgtEl>
                                      </p:cBhvr>
                                    </p:animEffect>
                                  </p:childTnLst>
                                </p:cTn>
                              </p:par>
                              <p:par>
                                <p:cTn id="101" presetID="1" presetClass="entr" presetSubtype="0" fill="hold" nodeType="withEffect">
                                  <p:stCondLst>
                                    <p:cond delay="0"/>
                                  </p:stCondLst>
                                  <p:childTnLst>
                                    <p:set>
                                      <p:cBhvr>
                                        <p:cTn id="102" dur="1" fill="hold">
                                          <p:stCondLst>
                                            <p:cond delay="0"/>
                                          </p:stCondLst>
                                        </p:cTn>
                                        <p:tgtEl>
                                          <p:spTgt spid="27"/>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28"/>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9"/>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nodeType="clickEffect">
                                  <p:stCondLst>
                                    <p:cond delay="0"/>
                                  </p:stCondLst>
                                  <p:childTnLst>
                                    <p:set>
                                      <p:cBhvr>
                                        <p:cTn id="110" dur="1" fill="hold">
                                          <p:stCondLst>
                                            <p:cond delay="0"/>
                                          </p:stCondLst>
                                        </p:cTn>
                                        <p:tgtEl>
                                          <p:spTgt spid="20"/>
                                        </p:tgtEl>
                                        <p:attrNameLst>
                                          <p:attrName>style.visibility</p:attrName>
                                        </p:attrNameLst>
                                      </p:cBhvr>
                                      <p:to>
                                        <p:strVal val="hidden"/>
                                      </p:to>
                                    </p:set>
                                  </p:childTnLst>
                                </p:cTn>
                              </p:par>
                              <p:par>
                                <p:cTn id="111" presetID="1" presetClass="exit" presetSubtype="0" fill="hold" nodeType="withEffect">
                                  <p:stCondLst>
                                    <p:cond delay="0"/>
                                  </p:stCondLst>
                                  <p:childTnLst>
                                    <p:set>
                                      <p:cBhvr>
                                        <p:cTn id="112" dur="1" fill="hold">
                                          <p:stCondLst>
                                            <p:cond delay="0"/>
                                          </p:stCondLst>
                                        </p:cTn>
                                        <p:tgtEl>
                                          <p:spTgt spid="21"/>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2"/>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3"/>
                                        </p:tgtEl>
                                        <p:attrNameLst>
                                          <p:attrName>style.visibility</p:attrName>
                                        </p:attrNameLst>
                                      </p:cBhvr>
                                      <p:to>
                                        <p:strVal val="hidden"/>
                                      </p:to>
                                    </p:set>
                                  </p:childTnLst>
                                </p:cTn>
                              </p:par>
                              <p:par>
                                <p:cTn id="117" presetID="1" presetClass="exit" presetSubtype="0" fill="hold" nodeType="withEffect">
                                  <p:stCondLst>
                                    <p:cond delay="0"/>
                                  </p:stCondLst>
                                  <p:childTnLst>
                                    <p:set>
                                      <p:cBhvr>
                                        <p:cTn id="118" dur="1" fill="hold">
                                          <p:stCondLst>
                                            <p:cond delay="0"/>
                                          </p:stCondLst>
                                        </p:cTn>
                                        <p:tgtEl>
                                          <p:spTgt spid="24"/>
                                        </p:tgtEl>
                                        <p:attrNameLst>
                                          <p:attrName>style.visibility</p:attrName>
                                        </p:attrNameLst>
                                      </p:cBhvr>
                                      <p:to>
                                        <p:strVal val="hidden"/>
                                      </p:to>
                                    </p:set>
                                  </p:childTnLst>
                                </p:cTn>
                              </p:par>
                              <p:par>
                                <p:cTn id="119" presetID="1" presetClass="exit" presetSubtype="0" fill="hold" nodeType="withEffect">
                                  <p:stCondLst>
                                    <p:cond delay="0"/>
                                  </p:stCondLst>
                                  <p:childTnLst>
                                    <p:set>
                                      <p:cBhvr>
                                        <p:cTn id="120" dur="1" fill="hold">
                                          <p:stCondLst>
                                            <p:cond delay="0"/>
                                          </p:stCondLst>
                                        </p:cTn>
                                        <p:tgtEl>
                                          <p:spTgt spid="25"/>
                                        </p:tgtEl>
                                        <p:attrNameLst>
                                          <p:attrName>style.visibility</p:attrName>
                                        </p:attrNameLst>
                                      </p:cBhvr>
                                      <p:to>
                                        <p:strVal val="hidden"/>
                                      </p:to>
                                    </p:set>
                                  </p:childTnLst>
                                </p:cTn>
                              </p:par>
                              <p:par>
                                <p:cTn id="121" presetID="1" presetClass="exit" presetSubtype="0" fill="hold" nodeType="withEffect">
                                  <p:stCondLst>
                                    <p:cond delay="0"/>
                                  </p:stCondLst>
                                  <p:childTnLst>
                                    <p:set>
                                      <p:cBhvr>
                                        <p:cTn id="122" dur="1" fill="hold">
                                          <p:stCondLst>
                                            <p:cond delay="0"/>
                                          </p:stCondLst>
                                        </p:cTn>
                                        <p:tgtEl>
                                          <p:spTgt spid="26"/>
                                        </p:tgtEl>
                                        <p:attrNameLst>
                                          <p:attrName>style.visibility</p:attrName>
                                        </p:attrNameLst>
                                      </p:cBhvr>
                                      <p:to>
                                        <p:strVal val="hidden"/>
                                      </p:to>
                                    </p:set>
                                  </p:childTnLst>
                                </p:cTn>
                              </p:par>
                              <p:par>
                                <p:cTn id="123" presetID="1" presetClass="exit" presetSubtype="0" fill="hold" nodeType="withEffect">
                                  <p:stCondLst>
                                    <p:cond delay="0"/>
                                  </p:stCondLst>
                                  <p:childTnLst>
                                    <p:set>
                                      <p:cBhvr>
                                        <p:cTn id="124" dur="1" fill="hold">
                                          <p:stCondLst>
                                            <p:cond delay="0"/>
                                          </p:stCondLst>
                                        </p:cTn>
                                        <p:tgtEl>
                                          <p:spTgt spid="27"/>
                                        </p:tgtEl>
                                        <p:attrNameLst>
                                          <p:attrName>style.visibility</p:attrName>
                                        </p:attrNameLst>
                                      </p:cBhvr>
                                      <p:to>
                                        <p:strVal val="hidden"/>
                                      </p:to>
                                    </p:set>
                                  </p:childTnLst>
                                </p:cTn>
                              </p:par>
                              <p:par>
                                <p:cTn id="125" presetID="1" presetClass="exit" presetSubtype="0" fill="hold" nodeType="withEffect">
                                  <p:stCondLst>
                                    <p:cond delay="0"/>
                                  </p:stCondLst>
                                  <p:childTnLst>
                                    <p:set>
                                      <p:cBhvr>
                                        <p:cTn id="126" dur="1" fill="hold">
                                          <p:stCondLst>
                                            <p:cond delay="0"/>
                                          </p:stCondLst>
                                        </p:cTn>
                                        <p:tgtEl>
                                          <p:spTgt spid="28"/>
                                        </p:tgtEl>
                                        <p:attrNameLst>
                                          <p:attrName>style.visibility</p:attrName>
                                        </p:attrNameLst>
                                      </p:cBhvr>
                                      <p:to>
                                        <p:strVal val="hidden"/>
                                      </p:to>
                                    </p:set>
                                  </p:childTnLst>
                                </p:cTn>
                              </p:par>
                              <p:par>
                                <p:cTn id="127" presetID="1" presetClass="exit" presetSubtype="0" fill="hold" nodeType="withEffect">
                                  <p:stCondLst>
                                    <p:cond delay="0"/>
                                  </p:stCondLst>
                                  <p:childTnLst>
                                    <p:set>
                                      <p:cBhvr>
                                        <p:cTn id="128" dur="1" fill="hold">
                                          <p:stCondLst>
                                            <p:cond delay="0"/>
                                          </p:stCondLst>
                                        </p:cTn>
                                        <p:tgtEl>
                                          <p:spTgt spid="29"/>
                                        </p:tgtEl>
                                        <p:attrNameLst>
                                          <p:attrName>style.visibility</p:attrName>
                                        </p:attrNameLst>
                                      </p:cBhvr>
                                      <p:to>
                                        <p:strVal val="hidden"/>
                                      </p:to>
                                    </p:set>
                                  </p:childTnLst>
                                </p:cTn>
                              </p:par>
                              <p:par>
                                <p:cTn id="129" presetID="1" presetClass="entr" presetSubtype="0" fill="hold" nodeType="withEffect">
                                  <p:stCondLst>
                                    <p:cond delay="0"/>
                                  </p:stCondLst>
                                  <p:childTnLst>
                                    <p:set>
                                      <p:cBhvr>
                                        <p:cTn id="130" dur="1" fill="hold">
                                          <p:stCondLst>
                                            <p:cond delay="0"/>
                                          </p:stCondLst>
                                        </p:cTn>
                                        <p:tgtEl>
                                          <p:spTgt spid="30"/>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31"/>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71"/>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33"/>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34"/>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xit" presetSubtype="0" fill="hold" nodeType="clickEffect">
                                  <p:stCondLst>
                                    <p:cond delay="0"/>
                                  </p:stCondLst>
                                  <p:childTnLst>
                                    <p:set>
                                      <p:cBhvr>
                                        <p:cTn id="142" dur="1" fill="hold">
                                          <p:stCondLst>
                                            <p:cond delay="0"/>
                                          </p:stCondLst>
                                        </p:cTn>
                                        <p:tgtEl>
                                          <p:spTgt spid="30"/>
                                        </p:tgtEl>
                                        <p:attrNameLst>
                                          <p:attrName>style.visibility</p:attrName>
                                        </p:attrNameLst>
                                      </p:cBhvr>
                                      <p:to>
                                        <p:strVal val="hidden"/>
                                      </p:to>
                                    </p:set>
                                  </p:childTnLst>
                                </p:cTn>
                              </p:par>
                              <p:par>
                                <p:cTn id="143" presetID="1" presetClass="exit" presetSubtype="0" fill="hold" nodeType="withEffect">
                                  <p:stCondLst>
                                    <p:cond delay="0"/>
                                  </p:stCondLst>
                                  <p:childTnLst>
                                    <p:set>
                                      <p:cBhvr>
                                        <p:cTn id="144" dur="1" fill="hold">
                                          <p:stCondLst>
                                            <p:cond delay="0"/>
                                          </p:stCondLst>
                                        </p:cTn>
                                        <p:tgtEl>
                                          <p:spTgt spid="31"/>
                                        </p:tgtEl>
                                        <p:attrNameLst>
                                          <p:attrName>style.visibility</p:attrName>
                                        </p:attrNameLst>
                                      </p:cBhvr>
                                      <p:to>
                                        <p:strVal val="hidden"/>
                                      </p:to>
                                    </p:set>
                                  </p:childTnLst>
                                </p:cTn>
                              </p:par>
                              <p:par>
                                <p:cTn id="145" presetID="1" presetClass="exit" presetSubtype="0" fill="hold" nodeType="withEffect">
                                  <p:stCondLst>
                                    <p:cond delay="0"/>
                                  </p:stCondLst>
                                  <p:childTnLst>
                                    <p:set>
                                      <p:cBhvr>
                                        <p:cTn id="146" dur="1" fill="hold">
                                          <p:stCondLst>
                                            <p:cond delay="0"/>
                                          </p:stCondLst>
                                        </p:cTn>
                                        <p:tgtEl>
                                          <p:spTgt spid="71"/>
                                        </p:tgtEl>
                                        <p:attrNameLst>
                                          <p:attrName>style.visibility</p:attrName>
                                        </p:attrNameLst>
                                      </p:cBhvr>
                                      <p:to>
                                        <p:strVal val="hidden"/>
                                      </p:to>
                                    </p:set>
                                  </p:childTnLst>
                                </p:cTn>
                              </p:par>
                              <p:par>
                                <p:cTn id="147" presetID="1" presetClass="exit" presetSubtype="0" fill="hold" nodeType="withEffect">
                                  <p:stCondLst>
                                    <p:cond delay="0"/>
                                  </p:stCondLst>
                                  <p:childTnLst>
                                    <p:set>
                                      <p:cBhvr>
                                        <p:cTn id="148" dur="1" fill="hold">
                                          <p:stCondLst>
                                            <p:cond delay="0"/>
                                          </p:stCondLst>
                                        </p:cTn>
                                        <p:tgtEl>
                                          <p:spTgt spid="33"/>
                                        </p:tgtEl>
                                        <p:attrNameLst>
                                          <p:attrName>style.visibility</p:attrName>
                                        </p:attrNameLst>
                                      </p:cBhvr>
                                      <p:to>
                                        <p:strVal val="hidden"/>
                                      </p:to>
                                    </p:set>
                                  </p:childTnLst>
                                </p:cTn>
                              </p:par>
                              <p:par>
                                <p:cTn id="149" presetID="1" presetClass="exit" presetSubtype="0" fill="hold" nodeType="withEffect">
                                  <p:stCondLst>
                                    <p:cond delay="0"/>
                                  </p:stCondLst>
                                  <p:childTnLst>
                                    <p:set>
                                      <p:cBhvr>
                                        <p:cTn id="150" dur="1" fill="hold">
                                          <p:stCondLst>
                                            <p:cond delay="0"/>
                                          </p:stCondLst>
                                        </p:cTn>
                                        <p:tgtEl>
                                          <p:spTgt spid="34"/>
                                        </p:tgtEl>
                                        <p:attrNameLst>
                                          <p:attrName>style.visibility</p:attrName>
                                        </p:attrNameLst>
                                      </p:cBhvr>
                                      <p:to>
                                        <p:strVal val="hidden"/>
                                      </p:to>
                                    </p:set>
                                  </p:childTnLst>
                                </p:cTn>
                              </p:par>
                              <p:par>
                                <p:cTn id="151" presetID="1" presetClass="entr" presetSubtype="0" fill="hold" nodeType="withEffect">
                                  <p:stCondLst>
                                    <p:cond delay="0"/>
                                  </p:stCondLst>
                                  <p:childTnLst>
                                    <p:set>
                                      <p:cBhvr>
                                        <p:cTn id="152" dur="1" fill="hold">
                                          <p:stCondLst>
                                            <p:cond delay="0"/>
                                          </p:stCondLst>
                                        </p:cTn>
                                        <p:tgtEl>
                                          <p:spTgt spid="35"/>
                                        </p:tgtEl>
                                        <p:attrNameLst>
                                          <p:attrName>style.visibility</p:attrName>
                                        </p:attrNameLst>
                                      </p:cBhvr>
                                      <p:to>
                                        <p:strVal val="visible"/>
                                      </p:to>
                                    </p:set>
                                  </p:childTnLst>
                                </p:cTn>
                              </p:par>
                              <p:par>
                                <p:cTn id="153" presetID="10" presetClass="entr" presetSubtype="0" fill="hold" nodeType="withEffect">
                                  <p:stCondLst>
                                    <p:cond delay="0"/>
                                  </p:stCondLst>
                                  <p:childTnLst>
                                    <p:set>
                                      <p:cBhvr>
                                        <p:cTn id="154" dur="1" fill="hold">
                                          <p:stCondLst>
                                            <p:cond delay="0"/>
                                          </p:stCondLst>
                                        </p:cTn>
                                        <p:tgtEl>
                                          <p:spTgt spid="36"/>
                                        </p:tgtEl>
                                        <p:attrNameLst>
                                          <p:attrName>style.visibility</p:attrName>
                                        </p:attrNameLst>
                                      </p:cBhvr>
                                      <p:to>
                                        <p:strVal val="visible"/>
                                      </p:to>
                                    </p:set>
                                    <p:animEffect transition="in" filter="fade">
                                      <p:cBhvr>
                                        <p:cTn id="155" dur="300" fill="hold"/>
                                        <p:tgtEl>
                                          <p:spTgt spid="36"/>
                                        </p:tgtEl>
                                      </p:cBhvr>
                                    </p:animEffect>
                                  </p:childTnLst>
                                </p:cTn>
                              </p:par>
                              <p:par>
                                <p:cTn id="156" presetID="10" presetClass="entr" presetSubtype="0" fill="hold" nodeType="withEffect">
                                  <p:stCondLst>
                                    <p:cond delay="0"/>
                                  </p:stCondLst>
                                  <p:childTnLst>
                                    <p:set>
                                      <p:cBhvr>
                                        <p:cTn id="157" dur="1" fill="hold">
                                          <p:stCondLst>
                                            <p:cond delay="0"/>
                                          </p:stCondLst>
                                        </p:cTn>
                                        <p:tgtEl>
                                          <p:spTgt spid="37"/>
                                        </p:tgtEl>
                                        <p:attrNameLst>
                                          <p:attrName>style.visibility</p:attrName>
                                        </p:attrNameLst>
                                      </p:cBhvr>
                                      <p:to>
                                        <p:strVal val="visible"/>
                                      </p:to>
                                    </p:set>
                                    <p:animEffect transition="in" filter="fade">
                                      <p:cBhvr>
                                        <p:cTn id="158" dur="300" fill="hold"/>
                                        <p:tgtEl>
                                          <p:spTgt spid="37"/>
                                        </p:tgtEl>
                                      </p:cBhvr>
                                    </p:animEffect>
                                  </p:childTnLst>
                                </p:cTn>
                              </p:par>
                              <p:par>
                                <p:cTn id="159" presetID="10" presetClass="entr" presetSubtype="0" fill="hold" nodeType="withEffect">
                                  <p:stCondLst>
                                    <p:cond delay="0"/>
                                  </p:stCondLst>
                                  <p:childTnLst>
                                    <p:set>
                                      <p:cBhvr>
                                        <p:cTn id="160" dur="1" fill="hold">
                                          <p:stCondLst>
                                            <p:cond delay="0"/>
                                          </p:stCondLst>
                                        </p:cTn>
                                        <p:tgtEl>
                                          <p:spTgt spid="38"/>
                                        </p:tgtEl>
                                        <p:attrNameLst>
                                          <p:attrName>style.visibility</p:attrName>
                                        </p:attrNameLst>
                                      </p:cBhvr>
                                      <p:to>
                                        <p:strVal val="visible"/>
                                      </p:to>
                                    </p:set>
                                    <p:animEffect transition="in" filter="fade">
                                      <p:cBhvr>
                                        <p:cTn id="161" dur="300" fill="hold"/>
                                        <p:tgtEl>
                                          <p:spTgt spid="38"/>
                                        </p:tgtEl>
                                      </p:cBhvr>
                                    </p:animEffect>
                                  </p:childTnLst>
                                </p:cTn>
                              </p:par>
                              <p:par>
                                <p:cTn id="162" presetID="10" presetClass="entr" presetSubtype="0" fill="hold" nodeType="withEffect">
                                  <p:stCondLst>
                                    <p:cond delay="0"/>
                                  </p:stCondLst>
                                  <p:childTnLst>
                                    <p:set>
                                      <p:cBhvr>
                                        <p:cTn id="163" dur="1" fill="hold">
                                          <p:stCondLst>
                                            <p:cond delay="0"/>
                                          </p:stCondLst>
                                        </p:cTn>
                                        <p:tgtEl>
                                          <p:spTgt spid="39"/>
                                        </p:tgtEl>
                                        <p:attrNameLst>
                                          <p:attrName>style.visibility</p:attrName>
                                        </p:attrNameLst>
                                      </p:cBhvr>
                                      <p:to>
                                        <p:strVal val="visible"/>
                                      </p:to>
                                    </p:set>
                                    <p:animEffect transition="in" filter="fade">
                                      <p:cBhvr>
                                        <p:cTn id="164" dur="300" fill="hold"/>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 name="!!area-header">
            <a:extLst xmlns:a="http://schemas.openxmlformats.org/drawingml/2006/main">
              <a:ext uri="{FF2B5EF4-FFF2-40B4-BE49-F238E27FC236}">
                <a16:creationId xmlns:a16="http://schemas.microsoft.com/office/drawing/2014/main" id="{007DC882-2AE3-48E2-9D89-E97BE729C9B2}"/>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8CC9661E-628C-4640-9A56-47F1B38DF993}"/>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Context and knowledge</a:t>
            </a:r>
          </a:p>
        </p:txBody>
      </p:sp>
      <p:sp>
        <p:nvSpPr>
          <p:cNvPr id="3" name="!!area-beat">
            <a:extLst xmlns:a="http://schemas.openxmlformats.org/drawingml/2006/main">
              <a:ext uri="{FF2B5EF4-FFF2-40B4-BE49-F238E27FC236}">
                <a16:creationId xmlns:a16="http://schemas.microsoft.com/office/drawing/2014/main" id="{59419374-C218-41FA-875F-9E601A65A74B}"/>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header-divider">
            <a:extLst xmlns:a="http://schemas.openxmlformats.org/drawingml/2006/main">
              <a:ext uri="{FF2B5EF4-FFF2-40B4-BE49-F238E27FC236}">
                <a16:creationId xmlns:a16="http://schemas.microsoft.com/office/drawing/2014/main" id="{A1FDE285-91F4-4E87-818A-14EE2E9F964E}"/>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screenshot-AGENTS.md">
            <a:extLst xmlns:a="http://schemas.openxmlformats.org/drawingml/2006/main">
              <a:ext uri="{FF2B5EF4-FFF2-40B4-BE49-F238E27FC236}">
                <a16:creationId xmlns:a16="http://schemas.microsoft.com/office/drawing/2014/main" id="{B8144B6E-7E88-4BD3-9C6E-008E4692C789}"/>
              </a:ext>
            </a:extLst>
          </p:cNvPr>
          <p:cNvSpPr>
            <a:spLocks xmlns:a="http://schemas.openxmlformats.org/drawingml/2006/main"/>
          </p:cNvSpPr>
          <p:nvPr/>
        </p:nvSpPr>
        <p:spPr>
          <a:xfrm xmlns:a="http://schemas.openxmlformats.org/drawingml/2006/main">
            <a:off x="6096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6" name="10-text-1">
            <a:extLst xmlns:a="http://schemas.openxmlformats.org/drawingml/2006/main">
              <a:ext uri="{FF2B5EF4-FFF2-40B4-BE49-F238E27FC236}">
                <a16:creationId xmlns:a16="http://schemas.microsoft.com/office/drawing/2014/main" id="{162C3C2C-AD47-413E-B00C-644A1ABD3B7D}"/>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7" name="10-text-2">
            <a:extLst xmlns:a="http://schemas.openxmlformats.org/drawingml/2006/main">
              <a:ext uri="{FF2B5EF4-FFF2-40B4-BE49-F238E27FC236}">
                <a16:creationId xmlns:a16="http://schemas.microsoft.com/office/drawing/2014/main" id="{D95C05BE-B8CE-41C5-8636-2CA8288EC2E3}"/>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AGENTS.md</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10 to 15 lines</a:t>
            </a:r>
          </a:p>
        </p:txBody>
      </p:sp>
      <p:sp>
        <p:nvSpPr>
          <p:cNvPr id="8" name="!!screenshot-Codex CLI">
            <a:extLst xmlns:a="http://schemas.openxmlformats.org/drawingml/2006/main">
              <a:ext uri="{FF2B5EF4-FFF2-40B4-BE49-F238E27FC236}">
                <a16:creationId xmlns:a16="http://schemas.microsoft.com/office/drawing/2014/main" id="{AA894B33-10C7-4BE4-B4A0-5B345D53495D}"/>
              </a:ext>
            </a:extLst>
          </p:cNvPr>
          <p:cNvSpPr>
            <a:spLocks xmlns:a="http://schemas.openxmlformats.org/drawingml/2006/main"/>
          </p:cNvSpPr>
          <p:nvPr/>
        </p:nvSpPr>
        <p:spPr>
          <a:xfrm xmlns:a="http://schemas.openxmlformats.org/drawingml/2006/main">
            <a:off x="62484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9" name="10-text-3">
            <a:extLst xmlns:a="http://schemas.openxmlformats.org/drawingml/2006/main">
              <a:ext uri="{FF2B5EF4-FFF2-40B4-BE49-F238E27FC236}">
                <a16:creationId xmlns:a16="http://schemas.microsoft.com/office/drawing/2014/main" id="{6CFCD692-F0EE-4EAE-AE98-4B308B4C91E1}"/>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0" name="10-text-4">
            <a:extLst xmlns:a="http://schemas.openxmlformats.org/drawingml/2006/main">
              <a:ext uri="{FF2B5EF4-FFF2-40B4-BE49-F238E27FC236}">
                <a16:creationId xmlns:a16="http://schemas.microsoft.com/office/drawing/2014/main" id="{29996C07-83A5-4A9A-86CF-407D694772B9}"/>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/compact notice</a:t>
            </a:r>
          </a:p>
        </p:txBody>
      </p:sp>
      <p:sp>
        <p:nvSpPr>
          <p:cNvPr id="11" name="10-text-5">
            <a:extLst xmlns:a="http://schemas.openxmlformats.org/drawingml/2006/main">
              <a:ext uri="{FF2B5EF4-FFF2-40B4-BE49-F238E27FC236}">
                <a16:creationId xmlns:a16="http://schemas.microsoft.com/office/drawing/2014/main" id="{415A2272-72B4-483E-A274-79652373D15B}"/>
              </a:ext>
            </a:extLst>
          </p:cNvPr>
          <p:cNvSpPr>
            <a:spLocks xmlns:a="http://schemas.openxmlformats.org/drawingml/2006/main"/>
          </p:cNvSpPr>
          <p:nvPr/>
        </p:nvSpPr>
        <p:spPr>
          <a:xfrm xmlns:a="http://schemas.openxmlformats.org/drawingml/2006/main">
            <a:off x="6096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AGENTS.md</a:t>
            </a:r>
          </a:p>
        </p:txBody>
      </p:sp>
      <p:sp>
        <p:nvSpPr>
          <p:cNvPr id="12" name="10-text-6">
            <a:extLst xmlns:a="http://schemas.openxmlformats.org/drawingml/2006/main">
              <a:ext uri="{FF2B5EF4-FFF2-40B4-BE49-F238E27FC236}">
                <a16:creationId xmlns:a16="http://schemas.microsoft.com/office/drawing/2014/main" id="{3DF41F38-DB5D-4013-A087-724EDEDD7D8A}"/>
              </a:ext>
            </a:extLst>
          </p:cNvPr>
          <p:cNvSpPr>
            <a:spLocks xmlns:a="http://schemas.openxmlformats.org/drawingml/2006/main"/>
          </p:cNvSpPr>
          <p:nvPr/>
        </p:nvSpPr>
        <p:spPr>
          <a:xfrm xmlns:a="http://schemas.openxmlformats.org/drawingml/2006/main">
            <a:off x="62484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/compact</a:t>
            </a:r>
          </a:p>
        </p:txBody>
      </p:sp>
    </p:spTree>
    <p:extLst>
      <p:ext uri="{BB962C8B-B14F-4D97-AF65-F5344CB8AC3E}">
        <p14:creationId xmlns:p14="http://schemas.microsoft.com/office/powerpoint/2010/main" val="700876166"/>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area-name">
            <a:extLst xmlns:a="http://schemas.openxmlformats.org/drawingml/2006/main">
              <a:ext uri="{FF2B5EF4-FFF2-40B4-BE49-F238E27FC236}">
                <a16:creationId xmlns:a16="http://schemas.microsoft.com/office/drawing/2014/main" id="{4EDD598A-DC15-4157-81CB-B55EF492745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21" name="mini-map"/>
          <p:cNvPicPr>
            <a:picLocks xmlns:a="http://schemas.openxmlformats.org/drawingml/2006/main" noChangeAspect="1"/>
          </p:cNvPicPr>
          <p:nvPr/>
        </p:nvPicPr>
        <p:blipFill>
          <a:blip xmlns:r="http://schemas.openxmlformats.org/officeDocument/2006/relationships" xmlns:a="http://schemas.openxmlformats.org/drawingml/2006/main" r:embed="Rac193d7942d0408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34B6FBC9-56CA-495B-8B0E-210F15EC271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screenshot-AGENTS.md">
            <a:extLst xmlns:a="http://schemas.openxmlformats.org/drawingml/2006/main">
              <a:ext uri="{FF2B5EF4-FFF2-40B4-BE49-F238E27FC236}">
                <a16:creationId xmlns:a16="http://schemas.microsoft.com/office/drawing/2014/main" id="{CE89ADBF-F3FA-40C3-BF56-80BDDAC9A6E8}"/>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5" name="10b-text-1">
            <a:extLst xmlns:a="http://schemas.openxmlformats.org/drawingml/2006/main">
              <a:ext uri="{FF2B5EF4-FFF2-40B4-BE49-F238E27FC236}">
                <a16:creationId xmlns:a16="http://schemas.microsoft.com/office/drawing/2014/main" id="{6481D090-998C-4B47-9823-E46AE5488351}"/>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6" name="10b-text-2">
            <a:extLst xmlns:a="http://schemas.openxmlformats.org/drawingml/2006/main">
              <a:ext uri="{FF2B5EF4-FFF2-40B4-BE49-F238E27FC236}">
                <a16:creationId xmlns:a16="http://schemas.microsoft.com/office/drawing/2014/main" id="{F05B9BD2-E8DF-4196-8D9E-48FD56FE985F}"/>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7" name="!!screenshot-Codex CLI">
            <a:extLst xmlns:a="http://schemas.openxmlformats.org/drawingml/2006/main">
              <a:ext uri="{FF2B5EF4-FFF2-40B4-BE49-F238E27FC236}">
                <a16:creationId xmlns:a16="http://schemas.microsoft.com/office/drawing/2014/main" id="{068D127E-B63D-4FB3-9925-3044FDC70974}"/>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8" name="10b-text-3">
            <a:extLst xmlns:a="http://schemas.openxmlformats.org/drawingml/2006/main">
              <a:ext uri="{FF2B5EF4-FFF2-40B4-BE49-F238E27FC236}">
                <a16:creationId xmlns:a16="http://schemas.microsoft.com/office/drawing/2014/main" id="{6609D786-C612-493E-B996-1D019D8B3135}"/>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9" name="10b-text-4">
            <a:extLst xmlns:a="http://schemas.openxmlformats.org/drawingml/2006/main">
              <a:ext uri="{FF2B5EF4-FFF2-40B4-BE49-F238E27FC236}">
                <a16:creationId xmlns:a16="http://schemas.microsoft.com/office/drawing/2014/main" id="{649E0D6C-CA85-4E07-A87D-9892F0C7AB22}"/>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0" name="10b-text-5">
            <a:extLst xmlns:a="http://schemas.openxmlformats.org/drawingml/2006/main">
              <a:ext uri="{FF2B5EF4-FFF2-40B4-BE49-F238E27FC236}">
                <a16:creationId xmlns:a16="http://schemas.microsoft.com/office/drawing/2014/main" id="{80D0032B-F272-4B9E-B1F9-FFB927022F1C}"/>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context fails:</a:t>
            </a:r>
          </a:p>
        </p:txBody>
      </p:sp>
      <p:sp>
        <p:nvSpPr>
          <p:cNvPr id="11" name="10b-text-6">
            <a:extLst xmlns:a="http://schemas.openxmlformats.org/drawingml/2006/main">
              <a:ext uri="{FF2B5EF4-FFF2-40B4-BE49-F238E27FC236}">
                <a16:creationId xmlns:a16="http://schemas.microsoft.com/office/drawing/2014/main" id="{ACB3CFE7-9208-4B42-B28D-32EAB249CD85}"/>
              </a:ext>
            </a:extLst>
          </p:cNvPr>
          <p:cNvSpPr>
            <a:spLocks xmlns:a="http://schemas.openxmlformats.org/drawingml/2006/main"/>
          </p:cNvSpPr>
          <p:nvPr/>
        </p:nvSpPr>
        <p:spPr>
          <a:xfrm xmlns:a="http://schemas.openxmlformats.org/drawingml/2006/main">
            <a:off x="609600" y="292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Poisoning · Distraction · Confusion · Clash</a:t>
            </a:r>
          </a:p>
        </p:txBody>
      </p:sp>
      <p:sp>
        <p:nvSpPr>
          <p:cNvPr id="12" name="10b-text-7">
            <a:extLst xmlns:a="http://schemas.openxmlformats.org/drawingml/2006/main">
              <a:ext uri="{FF2B5EF4-FFF2-40B4-BE49-F238E27FC236}">
                <a16:creationId xmlns:a16="http://schemas.microsoft.com/office/drawing/2014/main" id="{F0985B84-C4FE-4F09-8111-C89ADFCE214E}"/>
              </a:ext>
            </a:extLst>
          </p:cNvPr>
          <p:cNvSpPr>
            <a:spLocks xmlns:a="http://schemas.openxmlformats.org/drawingml/2006/main"/>
          </p:cNvSpPr>
          <p:nvPr/>
        </p:nvSpPr>
        <p:spPr>
          <a:xfrm xmlns:a="http://schemas.openxmlformats.org/drawingml/2006/main">
            <a:off x="609600" y="370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18 models tested. Performance degrades as input grows, on simple tasks.</a:t>
            </a:r>
          </a:p>
        </p:txBody>
      </p:sp>
      <p:sp>
        <p:nvSpPr>
          <p:cNvPr id="13" name="10b-text-8">
            <a:extLst xmlns:a="http://schemas.openxmlformats.org/drawingml/2006/main">
              <a:ext uri="{FF2B5EF4-FFF2-40B4-BE49-F238E27FC236}">
                <a16:creationId xmlns:a16="http://schemas.microsoft.com/office/drawing/2014/main" id="{849FBECE-AD0C-4E3B-9E69-BDB6344F5FDF}"/>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someone engineered:</a:t>
            </a:r>
          </a:p>
        </p:txBody>
      </p:sp>
      <p:sp>
        <p:nvSpPr>
          <p:cNvPr id="14" name="10b-text-9">
            <a:extLst xmlns:a="http://schemas.openxmlformats.org/drawingml/2006/main">
              <a:ext uri="{FF2B5EF4-FFF2-40B4-BE49-F238E27FC236}">
                <a16:creationId xmlns:a16="http://schemas.microsoft.com/office/drawing/2014/main" id="{A4D3CAC8-2F04-4D86-8443-510E3D63427D}"/>
              </a:ext>
            </a:extLst>
          </p:cNvPr>
          <p:cNvSpPr>
            <a:spLocks xmlns:a="http://schemas.openxmlformats.org/drawingml/2006/main"/>
          </p:cNvSpPr>
          <p:nvPr/>
        </p:nvSpPr>
        <p:spPr>
          <a:xfrm xmlns:a="http://schemas.openxmlformats.org/drawingml/2006/main">
            <a:off x="609600" y="29972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system prompt · A compaction policy · A memory convention</a:t>
            </a:r>
          </a:p>
        </p:txBody>
      </p:sp>
      <p:sp>
        <p:nvSpPr>
          <p:cNvPr id="15" name="10b-text-10">
            <a:extLst xmlns:a="http://schemas.openxmlformats.org/drawingml/2006/main">
              <a:ext uri="{FF2B5EF4-FFF2-40B4-BE49-F238E27FC236}">
                <a16:creationId xmlns:a16="http://schemas.microsoft.com/office/drawing/2014/main" id="{F3057FA8-DF84-4443-8148-9B6825BA5268}"/>
              </a:ext>
            </a:extLst>
          </p:cNvPr>
          <p:cNvSpPr>
            <a:spLocks xmlns:a="http://schemas.openxmlformats.org/drawingml/2006/main"/>
          </p:cNvSpPr>
          <p:nvPr/>
        </p:nvSpPr>
        <p:spPr>
          <a:xfrm xmlns:a="http://schemas.openxmlformats.org/drawingml/2006/main">
            <a:off x="609600" y="36322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RAG retrieves relevant external information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supplies it to the model.</a:t>
            </a:r>
          </a:p>
        </p:txBody>
      </p:sp>
      <p:sp>
        <p:nvSpPr>
          <p:cNvPr id="16" name="10b-text-11">
            <a:extLst xmlns:a="http://schemas.openxmlformats.org/drawingml/2006/main">
              <a:ext uri="{FF2B5EF4-FFF2-40B4-BE49-F238E27FC236}">
                <a16:creationId xmlns:a16="http://schemas.microsoft.com/office/drawing/2014/main" id="{80BE525B-B9B4-4DAE-9A50-E556656B7672}"/>
              </a:ext>
            </a:extLst>
          </p:cNvPr>
          <p:cNvSpPr>
            <a:spLocks xmlns:a="http://schemas.openxmlformats.org/drawingml/2006/main"/>
          </p:cNvSpPr>
          <p:nvPr/>
        </p:nvSpPr>
        <p:spPr>
          <a:xfrm xmlns:a="http://schemas.openxmlformats.org/drawingml/2006/main">
            <a:off x="609600" y="4749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retrieval for the data and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Grep · File reads · Embeddings · Hybrid retrieval</a:t>
            </a:r>
          </a:p>
        </p:txBody>
      </p:sp>
      <p:sp>
        <p:nvSpPr>
          <p:cNvPr id="17" name="10b-text-12">
            <a:extLst xmlns:a="http://schemas.openxmlformats.org/drawingml/2006/main">
              <a:ext uri="{FF2B5EF4-FFF2-40B4-BE49-F238E27FC236}">
                <a16:creationId xmlns:a16="http://schemas.microsoft.com/office/drawing/2014/main" id="{16628D7A-A41A-422C-8AF9-CEED238F2869}"/>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Preserve useful stable prefixes.</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cache savings.</a:t>
            </a:r>
          </a:p>
        </p:txBody>
      </p:sp>
      <p:sp>
        <p:nvSpPr>
          <p:cNvPr id="18" name="10b-text-13">
            <a:extLst xmlns:a="http://schemas.openxmlformats.org/drawingml/2006/main">
              <a:ext uri="{FF2B5EF4-FFF2-40B4-BE49-F238E27FC236}">
                <a16:creationId xmlns:a16="http://schemas.microsoft.com/office/drawing/2014/main" id="{68B0417F-9A7A-4963-B1AA-F24E10DF31DA}"/>
              </a:ext>
            </a:extLst>
          </p:cNvPr>
          <p:cNvSpPr>
            <a:spLocks xmlns:a="http://schemas.openxmlformats.org/drawingml/2006/main"/>
          </p:cNvSpPr>
          <p:nvPr/>
        </p:nvSpPr>
        <p:spPr>
          <a:xfrm xmlns:a="http://schemas.openxmlformats.org/drawingml/2006/main">
            <a:off x="609600" y="3886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Update context and tool access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correctness and authorization.</a:t>
            </a:r>
          </a:p>
        </p:txBody>
      </p:sp>
      <p:sp>
        <p:nvSpPr>
          <p:cNvPr id="19" name="10b-text-14">
            <a:extLst xmlns:a="http://schemas.openxmlformats.org/drawingml/2006/main">
              <a:ext uri="{FF2B5EF4-FFF2-40B4-BE49-F238E27FC236}">
                <a16:creationId xmlns:a16="http://schemas.microsoft.com/office/drawing/2014/main" id="{C986FCFF-4E11-40A5-859B-8A9FFC628CE7}"/>
              </a:ext>
            </a:extLst>
          </p:cNvPr>
          <p:cNvSpPr>
            <a:spLocks xmlns:a="http://schemas.openxmlformats.org/drawingml/2006/main"/>
          </p:cNvSpPr>
          <p:nvPr/>
        </p:nvSpPr>
        <p:spPr>
          <a:xfrm xmlns:a="http://schemas.openxmlformats.org/drawingml/2006/main">
            <a:off x="609600" y="5334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Manus, July 2025: reported 100:1 input/output; $0.30 cached vs $3 uncached</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per million input tokens in its pricing example.</a:t>
            </a:r>
          </a:p>
        </p:txBody>
      </p:sp>
    </p:spTree>
    <p:extLst>
      <p:ext uri="{BB962C8B-B14F-4D97-AF65-F5344CB8AC3E}">
        <p14:creationId xmlns:p14="http://schemas.microsoft.com/office/powerpoint/2010/main" val="1879438577"/>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1"/>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3"/>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14"/>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6"/>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area-name">
            <a:extLst xmlns:a="http://schemas.openxmlformats.org/drawingml/2006/main">
              <a:ext uri="{FF2B5EF4-FFF2-40B4-BE49-F238E27FC236}">
                <a16:creationId xmlns:a16="http://schemas.microsoft.com/office/drawing/2014/main" id="{6AED7B3C-09D4-49A0-93DF-8F535837883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35" name="mini-map"/>
          <p:cNvPicPr>
            <a:picLocks xmlns:a="http://schemas.openxmlformats.org/drawingml/2006/main" noChangeAspect="1"/>
          </p:cNvPicPr>
          <p:nvPr/>
        </p:nvPicPr>
        <p:blipFill>
          <a:blip xmlns:r="http://schemas.openxmlformats.org/officeDocument/2006/relationships" xmlns:a="http://schemas.openxmlformats.org/drawingml/2006/main" r:embed="Rb704ccb77565410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D9F0D944-C008-437A-8A8F-45CF612F19D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4" name="header-divider">
            <a:extLst xmlns:a="http://schemas.openxmlformats.org/drawingml/2006/main">
              <a:ext uri="{FF2B5EF4-FFF2-40B4-BE49-F238E27FC236}">
                <a16:creationId xmlns:a16="http://schemas.microsoft.com/office/drawing/2014/main" id="{962F8BD6-0ED0-4871-B41B-8968424DF68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11-shape-1">
            <a:extLst xmlns:a="http://schemas.openxmlformats.org/drawingml/2006/main">
              <a:ext uri="{FF2B5EF4-FFF2-40B4-BE49-F238E27FC236}">
                <a16:creationId xmlns:a16="http://schemas.microsoft.com/office/drawing/2014/main" id="{359596FC-F534-4F29-9D23-B5C6B755756D}"/>
              </a:ext>
            </a:extLst>
          </p:cNvPr>
          <p:cNvSpPr>
            <a:spLocks xmlns:a="http://schemas.openxmlformats.org/drawingml/2006/main"/>
          </p:cNvSpPr>
          <p:nvPr/>
        </p:nvSpPr>
        <p:spPr>
          <a:xfrm xmlns:a="http://schemas.openxmlformats.org/drawingml/2006/main">
            <a:off x="609600" y="2590800"/>
            <a:ext cx="10972800" cy="1498600"/>
          </a:xfrm>
          <a:prstGeom xmlns:a="http://schemas.openxmlformats.org/drawingml/2006/main" prst="roundRect">
            <a:avLst>
              <a:gd name="adj" fmla="val 5085"/>
            </a:avLst>
          </a:prstGeom>
          <a:noFill xmlns:a="http://schemas.openxmlformats.org/drawingml/2006/main"/>
          <a:ln xmlns:a="http://schemas.openxmlformats.org/drawingml/2006/main" w="25400">
            <a:solidFill>
              <a:srgbClr val="F948BE"/>
            </a:solidFill>
          </a:ln>
        </p:spPr>
      </p:sp>
      <p:sp>
        <p:nvSpPr>
          <p:cNvPr id="6" name="11-shape-2">
            <a:extLst xmlns:a="http://schemas.openxmlformats.org/drawingml/2006/main">
              <a:ext uri="{FF2B5EF4-FFF2-40B4-BE49-F238E27FC236}">
                <a16:creationId xmlns:a16="http://schemas.microsoft.com/office/drawing/2014/main" id="{B4DBA045-FABF-4B7B-96B1-43FD9C482959}"/>
              </a:ext>
            </a:extLst>
          </p:cNvPr>
          <p:cNvSpPr>
            <a:spLocks xmlns:a="http://schemas.openxmlformats.org/drawingml/2006/main"/>
          </p:cNvSpPr>
          <p:nvPr/>
        </p:nvSpPr>
        <p:spPr>
          <a:xfrm xmlns:a="http://schemas.openxmlformats.org/drawingml/2006/main">
            <a:off x="812800" y="2438400"/>
            <a:ext cx="1397000" cy="279400"/>
          </a:xfrm>
          <a:prstGeom xmlns:a="http://schemas.openxmlformats.org/drawingml/2006/main" prst="rect">
            <a:avLst/>
          </a:prstGeom>
          <a:solidFill xmlns:a="http://schemas.openxmlformats.org/drawingml/2006/main">
            <a:srgbClr val="14161C"/>
          </a:solidFill>
          <a:ln xmlns:a="http://schemas.openxmlformats.org/drawingml/2006/main" w="0">
            <a:noFill/>
          </a:ln>
        </p:spPr>
      </p:sp>
      <p:sp>
        <p:nvSpPr>
          <p:cNvPr id="7" name="11-text-3">
            <a:extLst xmlns:a="http://schemas.openxmlformats.org/drawingml/2006/main">
              <a:ext uri="{FF2B5EF4-FFF2-40B4-BE49-F238E27FC236}">
                <a16:creationId xmlns:a16="http://schemas.microsoft.com/office/drawing/2014/main" id="{143BD82B-9325-4FF5-9294-9316421E9535}"/>
              </a:ext>
            </a:extLst>
          </p:cNvPr>
          <p:cNvSpPr>
            <a:spLocks xmlns:a="http://schemas.openxmlformats.org/drawingml/2006/main"/>
          </p:cNvSpPr>
          <p:nvPr/>
        </p:nvSpPr>
        <p:spPr>
          <a:xfrm xmlns:a="http://schemas.openxmlformats.org/drawingml/2006/main">
            <a:off x="914400" y="24384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window</a:t>
            </a:r>
          </a:p>
        </p:txBody>
      </p:sp>
      <p:sp>
        <p:nvSpPr>
          <p:cNvPr id="8" name="11-shape-4">
            <a:extLst xmlns:a="http://schemas.openxmlformats.org/drawingml/2006/main">
              <a:ext uri="{FF2B5EF4-FFF2-40B4-BE49-F238E27FC236}">
                <a16:creationId xmlns:a16="http://schemas.microsoft.com/office/drawing/2014/main" id="{653BD2C0-AD24-46B3-93D3-04A8BE15E232}"/>
              </a:ext>
            </a:extLst>
          </p:cNvPr>
          <p:cNvSpPr>
            <a:spLocks xmlns:a="http://schemas.openxmlformats.org/drawingml/2006/main"/>
          </p:cNvSpPr>
          <p:nvPr/>
        </p:nvSpPr>
        <p:spPr>
          <a:xfrm xmlns:a="http://schemas.openxmlformats.org/drawingml/2006/main">
            <a:off x="7620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9" name="11-text-5">
            <a:extLst xmlns:a="http://schemas.openxmlformats.org/drawingml/2006/main">
              <a:ext uri="{FF2B5EF4-FFF2-40B4-BE49-F238E27FC236}">
                <a16:creationId xmlns:a16="http://schemas.microsoft.com/office/drawing/2014/main" id="{165508EC-8951-462B-8180-EB2754069123}"/>
              </a:ext>
            </a:extLst>
          </p:cNvPr>
          <p:cNvSpPr>
            <a:spLocks xmlns:a="http://schemas.openxmlformats.org/drawingml/2006/main"/>
          </p:cNvSpPr>
          <p:nvPr/>
        </p:nvSpPr>
        <p:spPr>
          <a:xfrm xmlns:a="http://schemas.openxmlformats.org/drawingml/2006/main">
            <a:off x="9652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a:t>
            </a:r>
          </a:p>
        </p:txBody>
      </p:sp>
      <p:sp>
        <p:nvSpPr>
          <p:cNvPr id="10" name="11-shape-6">
            <a:extLst xmlns:a="http://schemas.openxmlformats.org/drawingml/2006/main">
              <a:ext uri="{FF2B5EF4-FFF2-40B4-BE49-F238E27FC236}">
                <a16:creationId xmlns:a16="http://schemas.microsoft.com/office/drawing/2014/main" id="{FF76E7CC-5AF5-4574-94E9-C73DE8BC6C03}"/>
              </a:ext>
            </a:extLst>
          </p:cNvPr>
          <p:cNvSpPr>
            <a:spLocks xmlns:a="http://schemas.openxmlformats.org/drawingml/2006/main"/>
          </p:cNvSpPr>
          <p:nvPr/>
        </p:nvSpPr>
        <p:spPr>
          <a:xfrm xmlns:a="http://schemas.openxmlformats.org/drawingml/2006/main">
            <a:off x="25654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1" name="11-text-7">
            <a:extLst xmlns:a="http://schemas.openxmlformats.org/drawingml/2006/main">
              <a:ext uri="{FF2B5EF4-FFF2-40B4-BE49-F238E27FC236}">
                <a16:creationId xmlns:a16="http://schemas.microsoft.com/office/drawing/2014/main" id="{F3AC6976-1BB8-465C-A8FE-F668A070E4FC}"/>
              </a:ext>
            </a:extLst>
          </p:cNvPr>
          <p:cNvSpPr>
            <a:spLocks xmlns:a="http://schemas.openxmlformats.org/drawingml/2006/main"/>
          </p:cNvSpPr>
          <p:nvPr/>
        </p:nvSpPr>
        <p:spPr>
          <a:xfrm xmlns:a="http://schemas.openxmlformats.org/drawingml/2006/main">
            <a:off x="27686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Examples</a:t>
            </a:r>
          </a:p>
        </p:txBody>
      </p:sp>
      <p:sp>
        <p:nvSpPr>
          <p:cNvPr id="12" name="11-shape-8">
            <a:extLst xmlns:a="http://schemas.openxmlformats.org/drawingml/2006/main">
              <a:ext uri="{FF2B5EF4-FFF2-40B4-BE49-F238E27FC236}">
                <a16:creationId xmlns:a16="http://schemas.microsoft.com/office/drawing/2014/main" id="{BC75F496-0CA6-4547-AF0E-E54C810E4569}"/>
              </a:ext>
            </a:extLst>
          </p:cNvPr>
          <p:cNvSpPr>
            <a:spLocks xmlns:a="http://schemas.openxmlformats.org/drawingml/2006/main"/>
          </p:cNvSpPr>
          <p:nvPr/>
        </p:nvSpPr>
        <p:spPr>
          <a:xfrm xmlns:a="http://schemas.openxmlformats.org/drawingml/2006/main">
            <a:off x="43688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3" name="11-text-9">
            <a:extLst xmlns:a="http://schemas.openxmlformats.org/drawingml/2006/main">
              <a:ext uri="{FF2B5EF4-FFF2-40B4-BE49-F238E27FC236}">
                <a16:creationId xmlns:a16="http://schemas.microsoft.com/office/drawing/2014/main" id="{B571459F-8251-49C3-B90E-C8A5CA2EE12C}"/>
              </a:ext>
            </a:extLst>
          </p:cNvPr>
          <p:cNvSpPr>
            <a:spLocks xmlns:a="http://schemas.openxmlformats.org/drawingml/2006/main"/>
          </p:cNvSpPr>
          <p:nvPr/>
        </p:nvSpPr>
        <p:spPr>
          <a:xfrm xmlns:a="http://schemas.openxmlformats.org/drawingml/2006/main">
            <a:off x="45720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knowledge</a:t>
            </a:r>
          </a:p>
        </p:txBody>
      </p:sp>
      <p:sp>
        <p:nvSpPr>
          <p:cNvPr id="14" name="11-shape-10">
            <a:extLst xmlns:a="http://schemas.openxmlformats.org/drawingml/2006/main">
              <a:ext uri="{FF2B5EF4-FFF2-40B4-BE49-F238E27FC236}">
                <a16:creationId xmlns:a16="http://schemas.microsoft.com/office/drawing/2014/main" id="{E475E6FE-AAAC-4437-A8FF-4A50E27E0920}"/>
              </a:ext>
            </a:extLst>
          </p:cNvPr>
          <p:cNvSpPr>
            <a:spLocks xmlns:a="http://schemas.openxmlformats.org/drawingml/2006/main"/>
          </p:cNvSpPr>
          <p:nvPr/>
        </p:nvSpPr>
        <p:spPr>
          <a:xfrm xmlns:a="http://schemas.openxmlformats.org/drawingml/2006/main">
            <a:off x="61722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5" name="11-text-11">
            <a:extLst xmlns:a="http://schemas.openxmlformats.org/drawingml/2006/main">
              <a:ext uri="{FF2B5EF4-FFF2-40B4-BE49-F238E27FC236}">
                <a16:creationId xmlns:a16="http://schemas.microsoft.com/office/drawing/2014/main" id="{08379A59-DCEF-4899-94CB-732A72872688}"/>
              </a:ext>
            </a:extLst>
          </p:cNvPr>
          <p:cNvSpPr>
            <a:spLocks xmlns:a="http://schemas.openxmlformats.org/drawingml/2006/main"/>
          </p:cNvSpPr>
          <p:nvPr/>
        </p:nvSpPr>
        <p:spPr>
          <a:xfrm xmlns:a="http://schemas.openxmlformats.org/drawingml/2006/main">
            <a:off x="63754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Session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16" name="11-shape-12">
            <a:extLst xmlns:a="http://schemas.openxmlformats.org/drawingml/2006/main">
              <a:ext uri="{FF2B5EF4-FFF2-40B4-BE49-F238E27FC236}">
                <a16:creationId xmlns:a16="http://schemas.microsoft.com/office/drawing/2014/main" id="{3CD17290-4DFC-4FB5-9C3A-AA7C20D4C02C}"/>
              </a:ext>
            </a:extLst>
          </p:cNvPr>
          <p:cNvSpPr>
            <a:spLocks xmlns:a="http://schemas.openxmlformats.org/drawingml/2006/main"/>
          </p:cNvSpPr>
          <p:nvPr/>
        </p:nvSpPr>
        <p:spPr>
          <a:xfrm xmlns:a="http://schemas.openxmlformats.org/drawingml/2006/main">
            <a:off x="79756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7" name="11-text-13">
            <a:extLst xmlns:a="http://schemas.openxmlformats.org/drawingml/2006/main">
              <a:ext uri="{FF2B5EF4-FFF2-40B4-BE49-F238E27FC236}">
                <a16:creationId xmlns:a16="http://schemas.microsoft.com/office/drawing/2014/main" id="{096165F1-CEF4-47E6-90F5-975680D1B43F}"/>
              </a:ext>
            </a:extLst>
          </p:cNvPr>
          <p:cNvSpPr>
            <a:spLocks xmlns:a="http://schemas.openxmlformats.org/drawingml/2006/main"/>
          </p:cNvSpPr>
          <p:nvPr/>
        </p:nvSpPr>
        <p:spPr>
          <a:xfrm xmlns:a="http://schemas.openxmlformats.org/drawingml/2006/main">
            <a:off x="81788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a:t>
            </a:r>
          </a:p>
        </p:txBody>
      </p:sp>
      <p:sp>
        <p:nvSpPr>
          <p:cNvPr id="18" name="11-shape-14">
            <a:extLst xmlns:a="http://schemas.openxmlformats.org/drawingml/2006/main">
              <a:ext uri="{FF2B5EF4-FFF2-40B4-BE49-F238E27FC236}">
                <a16:creationId xmlns:a16="http://schemas.microsoft.com/office/drawing/2014/main" id="{5DF8D540-018F-4673-AB06-777208416AA5}"/>
              </a:ext>
            </a:extLst>
          </p:cNvPr>
          <p:cNvSpPr>
            <a:spLocks xmlns:a="http://schemas.openxmlformats.org/drawingml/2006/main"/>
          </p:cNvSpPr>
          <p:nvPr/>
        </p:nvSpPr>
        <p:spPr>
          <a:xfrm xmlns:a="http://schemas.openxmlformats.org/drawingml/2006/main">
            <a:off x="97790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9" name="11-text-15">
            <a:extLst xmlns:a="http://schemas.openxmlformats.org/drawingml/2006/main">
              <a:ext uri="{FF2B5EF4-FFF2-40B4-BE49-F238E27FC236}">
                <a16:creationId xmlns:a16="http://schemas.microsoft.com/office/drawing/2014/main" id="{077A9806-AB81-4B02-A3C6-FEAD0CB6B2C0}"/>
              </a:ext>
            </a:extLst>
          </p:cNvPr>
          <p:cNvSpPr>
            <a:spLocks xmlns:a="http://schemas.openxmlformats.org/drawingml/2006/main"/>
          </p:cNvSpPr>
          <p:nvPr/>
        </p:nvSpPr>
        <p:spPr>
          <a:xfrm xmlns:a="http://schemas.openxmlformats.org/drawingml/2006/main">
            <a:off x="99822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a:t>
            </a:r>
          </a:p>
        </p:txBody>
      </p:sp>
      <p:sp>
        <p:nvSpPr>
          <p:cNvPr id="20" name="11-text-16">
            <a:extLst xmlns:a="http://schemas.openxmlformats.org/drawingml/2006/main">
              <a:ext uri="{FF2B5EF4-FFF2-40B4-BE49-F238E27FC236}">
                <a16:creationId xmlns:a16="http://schemas.microsoft.com/office/drawing/2014/main" id="{696475E5-C6D2-4B05-A52B-FB51A3186804}"/>
              </a:ext>
            </a:extLst>
          </p:cNvPr>
          <p:cNvSpPr>
            <a:spLocks xmlns:a="http://schemas.openxmlformats.org/drawingml/2006/main"/>
          </p:cNvSpPr>
          <p:nvPr/>
        </p:nvSpPr>
        <p:spPr>
          <a:xfrm xmlns:a="http://schemas.openxmlformats.org/drawingml/2006/main">
            <a:off x="609600" y="4241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Each has a relevance, a freshness, a provenance, and a size.</a:t>
            </a:r>
          </a:p>
        </p:txBody>
      </p:sp>
      <p:sp>
        <p:nvSpPr>
          <p:cNvPr id="21" name="11-shape-17">
            <a:extLst xmlns:a="http://schemas.openxmlformats.org/drawingml/2006/main">
              <a:ext uri="{FF2B5EF4-FFF2-40B4-BE49-F238E27FC236}">
                <a16:creationId xmlns:a16="http://schemas.microsoft.com/office/drawing/2014/main" id="{67D37203-8AD2-430F-A0CE-30736C5A17DA}"/>
              </a:ext>
            </a:extLst>
          </p:cNvPr>
          <p:cNvSpPr>
            <a:spLocks xmlns:a="http://schemas.openxmlformats.org/drawingml/2006/main"/>
          </p:cNvSpPr>
          <p:nvPr/>
        </p:nvSpPr>
        <p:spPr>
          <a:xfrm xmlns:a="http://schemas.openxmlformats.org/drawingml/2006/main">
            <a:off x="609600" y="4762500"/>
            <a:ext cx="2032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2" name="11-text-18">
            <a:extLst xmlns:a="http://schemas.openxmlformats.org/drawingml/2006/main">
              <a:ext uri="{FF2B5EF4-FFF2-40B4-BE49-F238E27FC236}">
                <a16:creationId xmlns:a16="http://schemas.microsoft.com/office/drawing/2014/main" id="{7A4D439E-F1CC-4444-96C6-8E25B2500827}"/>
              </a:ext>
            </a:extLst>
          </p:cNvPr>
          <p:cNvSpPr>
            <a:spLocks xmlns:a="http://schemas.openxmlformats.org/drawingml/2006/main"/>
          </p:cNvSpPr>
          <p:nvPr/>
        </p:nvSpPr>
        <p:spPr>
          <a:xfrm xmlns:a="http://schemas.openxmlformats.org/drawingml/2006/main">
            <a:off x="762000" y="4800600"/>
            <a:ext cx="172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budget</a:t>
            </a:r>
          </a:p>
        </p:txBody>
      </p:sp>
      <p:sp>
        <p:nvSpPr>
          <p:cNvPr id="23" name="11-shape-19">
            <a:extLst xmlns:a="http://schemas.openxmlformats.org/drawingml/2006/main">
              <a:ext uri="{FF2B5EF4-FFF2-40B4-BE49-F238E27FC236}">
                <a16:creationId xmlns:a16="http://schemas.microsoft.com/office/drawing/2014/main" id="{D193458E-8E3B-497F-B1DE-060219BC4F19}"/>
              </a:ext>
            </a:extLst>
          </p:cNvPr>
          <p:cNvSpPr>
            <a:spLocks xmlns:a="http://schemas.openxmlformats.org/drawingml/2006/main"/>
          </p:cNvSpPr>
          <p:nvPr/>
        </p:nvSpPr>
        <p:spPr>
          <a:xfrm xmlns:a="http://schemas.openxmlformats.org/drawingml/2006/main">
            <a:off x="2743200" y="4762500"/>
            <a:ext cx="2387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4" name="11-text-20">
            <a:extLst xmlns:a="http://schemas.openxmlformats.org/drawingml/2006/main">
              <a:ext uri="{FF2B5EF4-FFF2-40B4-BE49-F238E27FC236}">
                <a16:creationId xmlns:a16="http://schemas.microsoft.com/office/drawing/2014/main" id="{B4F2705C-F319-41B8-A0F7-B4C506E6A250}"/>
              </a:ext>
            </a:extLst>
          </p:cNvPr>
          <p:cNvSpPr>
            <a:spLocks xmlns:a="http://schemas.openxmlformats.org/drawingml/2006/main"/>
          </p:cNvSpPr>
          <p:nvPr/>
        </p:nvSpPr>
        <p:spPr>
          <a:xfrm xmlns:a="http://schemas.openxmlformats.org/drawingml/2006/main">
            <a:off x="2895600" y="4800600"/>
            <a:ext cx="208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Compaction policy</a:t>
            </a:r>
          </a:p>
        </p:txBody>
      </p:sp>
      <p:sp>
        <p:nvSpPr>
          <p:cNvPr id="25" name="11-shape-21">
            <a:extLst xmlns:a="http://schemas.openxmlformats.org/drawingml/2006/main">
              <a:ext uri="{FF2B5EF4-FFF2-40B4-BE49-F238E27FC236}">
                <a16:creationId xmlns:a16="http://schemas.microsoft.com/office/drawing/2014/main" id="{A0676267-E9FC-4E65-A8BB-E675501BEA5B}"/>
              </a:ext>
            </a:extLst>
          </p:cNvPr>
          <p:cNvSpPr>
            <a:spLocks xmlns:a="http://schemas.openxmlformats.org/drawingml/2006/main"/>
          </p:cNvSpPr>
          <p:nvPr/>
        </p:nvSpPr>
        <p:spPr>
          <a:xfrm xmlns:a="http://schemas.openxmlformats.org/drawingml/2006/main">
            <a:off x="5232400" y="4762500"/>
            <a:ext cx="25273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6" name="11-text-22">
            <a:extLst xmlns:a="http://schemas.openxmlformats.org/drawingml/2006/main">
              <a:ext uri="{FF2B5EF4-FFF2-40B4-BE49-F238E27FC236}">
                <a16:creationId xmlns:a16="http://schemas.microsoft.com/office/drawing/2014/main" id="{20374862-F8F3-4F63-81D1-B358B2120D3A}"/>
              </a:ext>
            </a:extLst>
          </p:cNvPr>
          <p:cNvSpPr>
            <a:spLocks xmlns:a="http://schemas.openxmlformats.org/drawingml/2006/main"/>
          </p:cNvSpPr>
          <p:nvPr/>
        </p:nvSpPr>
        <p:spPr>
          <a:xfrm xmlns:a="http://schemas.openxmlformats.org/drawingml/2006/main">
            <a:off x="5384800" y="4800600"/>
            <a:ext cx="222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 convention</a:t>
            </a:r>
          </a:p>
        </p:txBody>
      </p:sp>
      <p:sp>
        <p:nvSpPr>
          <p:cNvPr id="27" name="11-shape-23">
            <a:extLst xmlns:a="http://schemas.openxmlformats.org/drawingml/2006/main">
              <a:ext uri="{FF2B5EF4-FFF2-40B4-BE49-F238E27FC236}">
                <a16:creationId xmlns:a16="http://schemas.microsoft.com/office/drawing/2014/main" id="{39E5FA73-6874-46DD-AACA-DAD333B1F3A2}"/>
              </a:ext>
            </a:extLst>
          </p:cNvPr>
          <p:cNvSpPr>
            <a:spLocks xmlns:a="http://schemas.openxmlformats.org/drawingml/2006/main"/>
          </p:cNvSpPr>
          <p:nvPr/>
        </p:nvSpPr>
        <p:spPr>
          <a:xfrm xmlns:a="http://schemas.openxmlformats.org/drawingml/2006/main">
            <a:off x="7861300" y="4762500"/>
            <a:ext cx="2286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8" name="11-text-24">
            <a:extLst xmlns:a="http://schemas.openxmlformats.org/drawingml/2006/main">
              <a:ext uri="{FF2B5EF4-FFF2-40B4-BE49-F238E27FC236}">
                <a16:creationId xmlns:a16="http://schemas.microsoft.com/office/drawing/2014/main" id="{78EE671D-72B4-4715-A796-3C2EE2427113}"/>
              </a:ext>
            </a:extLst>
          </p:cNvPr>
          <p:cNvSpPr>
            <a:spLocks xmlns:a="http://schemas.openxmlformats.org/drawingml/2006/main"/>
          </p:cNvSpPr>
          <p:nvPr/>
        </p:nvSpPr>
        <p:spPr>
          <a:xfrm xmlns:a="http://schemas.openxmlformats.org/drawingml/2006/main">
            <a:off x="8013700" y="4800600"/>
            <a:ext cx="1981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strategy</a:t>
            </a:r>
          </a:p>
        </p:txBody>
      </p:sp>
      <p:sp>
        <p:nvSpPr>
          <p:cNvPr id="29" name="11-text-25">
            <a:extLst xmlns:a="http://schemas.openxmlformats.org/drawingml/2006/main">
              <a:ext uri="{FF2B5EF4-FFF2-40B4-BE49-F238E27FC236}">
                <a16:creationId xmlns:a16="http://schemas.microsoft.com/office/drawing/2014/main" id="{B355BB3C-5EED-4145-91F6-B6C8912312EC}"/>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compaction that drops a constraint can produce a wrong answer.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Memory exposed to the wrong user or tenant is a breach.</a:t>
            </a:r>
          </a:p>
        </p:txBody>
      </p:sp>
      <p:sp>
        <p:nvSpPr>
          <p:cNvPr id="30" name="11-shape-26">
            <a:extLst xmlns:a="http://schemas.openxmlformats.org/drawingml/2006/main">
              <a:ext uri="{FF2B5EF4-FFF2-40B4-BE49-F238E27FC236}">
                <a16:creationId xmlns:a16="http://schemas.microsoft.com/office/drawing/2014/main" id="{2FC622B5-D30C-4E08-BDB9-42C853ABAC49}"/>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1" name="11-shape-27">
            <a:extLst xmlns:a="http://schemas.openxmlformats.org/drawingml/2006/main">
              <a:ext uri="{FF2B5EF4-FFF2-40B4-BE49-F238E27FC236}">
                <a16:creationId xmlns:a16="http://schemas.microsoft.com/office/drawing/2014/main" id="{1B8FD776-9DB3-49F3-8400-9392A04C022A}"/>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2" name="11-text-28">
            <a:extLst xmlns:a="http://schemas.openxmlformats.org/drawingml/2006/main">
              <a:ext uri="{FF2B5EF4-FFF2-40B4-BE49-F238E27FC236}">
                <a16:creationId xmlns:a16="http://schemas.microsoft.com/office/drawing/2014/main" id="{978B25B2-081C-49BA-9369-B8368C680164}"/>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3" name="11-text-29">
            <a:extLst xmlns:a="http://schemas.openxmlformats.org/drawingml/2006/main">
              <a:ext uri="{FF2B5EF4-FFF2-40B4-BE49-F238E27FC236}">
                <a16:creationId xmlns:a16="http://schemas.microsoft.com/office/drawing/2014/main" id="{3157BD9B-7012-43FD-B4FB-974FD01F1E48}"/>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Tree>
    <p:extLst>
      <p:ext uri="{BB962C8B-B14F-4D97-AF65-F5344CB8AC3E}">
        <p14:creationId xmlns:p14="http://schemas.microsoft.com/office/powerpoint/2010/main" val="97026527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200" fill="hold"/>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200" fill="hold"/>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200" fill="hold"/>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00" fill="hold"/>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200" fill="hold"/>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200" fill="hold"/>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200" fill="hold"/>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200" fill="hold"/>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200" fill="hold"/>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200" fill="hold"/>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200" fill="hold"/>
                                        <p:tgtEl>
                                          <p:spTgt spid="18"/>
                                        </p:tgtEl>
                                      </p:cBhvr>
                                    </p:animEffect>
                                  </p:childTnLst>
                                </p:cTn>
                              </p:par>
                              <p:par>
                                <p:cTn id="44" presetID="10"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200" fill="hold"/>
                                        <p:tgtEl>
                                          <p:spTgt spid="19"/>
                                        </p:tgtEl>
                                      </p:cBhvr>
                                    </p:animEffect>
                                  </p:childTnLst>
                                </p:cTn>
                              </p:par>
                              <p:par>
                                <p:cTn id="47" presetID="1"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200" fill="hold"/>
                                        <p:tgtEl>
                                          <p:spTgt spid="21"/>
                                        </p:tgtEl>
                                      </p:cBhvr>
                                    </p:animEffect>
                                  </p:childTnLst>
                                </p:cTn>
                              </p:par>
                              <p:par>
                                <p:cTn id="54" presetID="10" presetClass="entr" presetSubtype="0" fill="hold"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200" fill="hold"/>
                                        <p:tgtEl>
                                          <p:spTgt spid="22"/>
                                        </p:tgtEl>
                                      </p:cBhvr>
                                    </p:animEffect>
                                  </p:childTnLst>
                                </p:cTn>
                              </p:par>
                              <p:par>
                                <p:cTn id="57" presetID="10"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200" fill="hold"/>
                                        <p:tgtEl>
                                          <p:spTgt spid="23"/>
                                        </p:tgtEl>
                                      </p:cBhvr>
                                    </p:animEffect>
                                  </p:childTnLst>
                                </p:cTn>
                              </p:par>
                              <p:par>
                                <p:cTn id="60" presetID="10" presetClass="entr" presetSubtype="0" fill="hold"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200" fill="hold"/>
                                        <p:tgtEl>
                                          <p:spTgt spid="24"/>
                                        </p:tgtEl>
                                      </p:cBhvr>
                                    </p:animEffect>
                                  </p:childTnLst>
                                </p:cTn>
                              </p:par>
                              <p:par>
                                <p:cTn id="63" presetID="10" presetClass="entr" presetSubtype="0" fill="hold"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200" fill="hold"/>
                                        <p:tgtEl>
                                          <p:spTgt spid="25"/>
                                        </p:tgtEl>
                                      </p:cBhvr>
                                    </p:animEffect>
                                  </p:childTnLst>
                                </p:cTn>
                              </p:par>
                              <p:par>
                                <p:cTn id="66" presetID="10" presetClass="entr" presetSubtype="0" fill="hold"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200" fill="hold"/>
                                        <p:tgtEl>
                                          <p:spTgt spid="26"/>
                                        </p:tgtEl>
                                      </p:cBhvr>
                                    </p:animEffect>
                                  </p:childTnLst>
                                </p:cTn>
                              </p:par>
                              <p:par>
                                <p:cTn id="69" presetID="10" presetClass="entr" presetSubtype="0" fill="hold"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200" fill="hold"/>
                                        <p:tgtEl>
                                          <p:spTgt spid="27"/>
                                        </p:tgtEl>
                                      </p:cBhvr>
                                    </p:animEffect>
                                  </p:childTnLst>
                                </p:cTn>
                              </p:par>
                              <p:par>
                                <p:cTn id="72" presetID="10" presetClass="entr" presetSubtype="0" fill="hold"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200" fill="hold"/>
                                        <p:tgtEl>
                                          <p:spTgt spid="28"/>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nodeType="clickEffect">
                                  <p:stCondLst>
                                    <p:cond delay="0"/>
                                  </p:stCondLst>
                                  <p:childTnLst>
                                    <p:set>
                                      <p:cBhvr>
                                        <p:cTn id="78" dur="1" fill="hold">
                                          <p:stCondLst>
                                            <p:cond delay="0"/>
                                          </p:stCondLst>
                                        </p:cTn>
                                        <p:tgtEl>
                                          <p:spTgt spid="5"/>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6"/>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0"/>
                                          </p:stCondLst>
                                        </p:cTn>
                                        <p:tgtEl>
                                          <p:spTgt spid="7"/>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8"/>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0"/>
                                          </p:stCondLst>
                                        </p:cTn>
                                        <p:tgtEl>
                                          <p:spTgt spid="9"/>
                                        </p:tgtEl>
                                        <p:attrNameLst>
                                          <p:attrName>style.visibility</p:attrName>
                                        </p:attrNameLst>
                                      </p:cBhvr>
                                      <p:to>
                                        <p:strVal val="hidden"/>
                                      </p:to>
                                    </p:set>
                                  </p:childTnLst>
                                </p:cTn>
                              </p:par>
                              <p:par>
                                <p:cTn id="87" presetID="1" presetClass="exit" presetSubtype="0" fill="hold" nodeType="withEffect">
                                  <p:stCondLst>
                                    <p:cond delay="0"/>
                                  </p:stCondLst>
                                  <p:childTnLst>
                                    <p:set>
                                      <p:cBhvr>
                                        <p:cTn id="88" dur="1" fill="hold">
                                          <p:stCondLst>
                                            <p:cond delay="0"/>
                                          </p:stCondLst>
                                        </p:cTn>
                                        <p:tgtEl>
                                          <p:spTgt spid="10"/>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11"/>
                                        </p:tgtEl>
                                        <p:attrNameLst>
                                          <p:attrName>style.visibility</p:attrName>
                                        </p:attrNameLst>
                                      </p:cBhvr>
                                      <p:to>
                                        <p:strVal val="hidden"/>
                                      </p:to>
                                    </p:set>
                                  </p:childTnLst>
                                </p:cTn>
                              </p:par>
                              <p:par>
                                <p:cTn id="91" presetID="1" presetClass="exit" presetSubtype="0" fill="hold" nodeType="withEffect">
                                  <p:stCondLst>
                                    <p:cond delay="0"/>
                                  </p:stCondLst>
                                  <p:childTnLst>
                                    <p:set>
                                      <p:cBhvr>
                                        <p:cTn id="92" dur="1" fill="hold">
                                          <p:stCondLst>
                                            <p:cond delay="0"/>
                                          </p:stCondLst>
                                        </p:cTn>
                                        <p:tgtEl>
                                          <p:spTgt spid="12"/>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13"/>
                                        </p:tgtEl>
                                        <p:attrNameLst>
                                          <p:attrName>style.visibility</p:attrName>
                                        </p:attrNameLst>
                                      </p:cBhvr>
                                      <p:to>
                                        <p:strVal val="hidden"/>
                                      </p:to>
                                    </p:set>
                                  </p:childTnLst>
                                </p:cTn>
                              </p:par>
                              <p:par>
                                <p:cTn id="95" presetID="1" presetClass="exit" presetSubtype="0" fill="hold" nodeType="withEffect">
                                  <p:stCondLst>
                                    <p:cond delay="0"/>
                                  </p:stCondLst>
                                  <p:childTnLst>
                                    <p:set>
                                      <p:cBhvr>
                                        <p:cTn id="96" dur="1" fill="hold">
                                          <p:stCondLst>
                                            <p:cond delay="0"/>
                                          </p:stCondLst>
                                        </p:cTn>
                                        <p:tgtEl>
                                          <p:spTgt spid="14"/>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15"/>
                                        </p:tgtEl>
                                        <p:attrNameLst>
                                          <p:attrName>style.visibility</p:attrName>
                                        </p:attrNameLst>
                                      </p:cBhvr>
                                      <p:to>
                                        <p:strVal val="hidden"/>
                                      </p:to>
                                    </p:set>
                                  </p:childTnLst>
                                </p:cTn>
                              </p:par>
                              <p:par>
                                <p:cTn id="99" presetID="1" presetClass="exit" presetSubtype="0" fill="hold" nodeType="withEffect">
                                  <p:stCondLst>
                                    <p:cond delay="0"/>
                                  </p:stCondLst>
                                  <p:childTnLst>
                                    <p:set>
                                      <p:cBhvr>
                                        <p:cTn id="100" dur="1" fill="hold">
                                          <p:stCondLst>
                                            <p:cond delay="0"/>
                                          </p:stCondLst>
                                        </p:cTn>
                                        <p:tgtEl>
                                          <p:spTgt spid="16"/>
                                        </p:tgtEl>
                                        <p:attrNameLst>
                                          <p:attrName>style.visibility</p:attrName>
                                        </p:attrNameLst>
                                      </p:cBhvr>
                                      <p:to>
                                        <p:strVal val="hidden"/>
                                      </p:to>
                                    </p:set>
                                  </p:childTnLst>
                                </p:cTn>
                              </p:par>
                              <p:par>
                                <p:cTn id="101" presetID="1" presetClass="exit" presetSubtype="0" fill="hold" nodeType="withEffect">
                                  <p:stCondLst>
                                    <p:cond delay="0"/>
                                  </p:stCondLst>
                                  <p:childTnLst>
                                    <p:set>
                                      <p:cBhvr>
                                        <p:cTn id="102" dur="1" fill="hold">
                                          <p:stCondLst>
                                            <p:cond delay="0"/>
                                          </p:stCondLst>
                                        </p:cTn>
                                        <p:tgtEl>
                                          <p:spTgt spid="17"/>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18"/>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19"/>
                                        </p:tgtEl>
                                        <p:attrNameLst>
                                          <p:attrName>style.visibility</p:attrName>
                                        </p:attrNameLst>
                                      </p:cBhvr>
                                      <p:to>
                                        <p:strVal val="hidden"/>
                                      </p:to>
                                    </p:set>
                                  </p:childTnLst>
                                </p:cTn>
                              </p:par>
                              <p:par>
                                <p:cTn id="107" presetID="1" presetClass="exit" presetSubtype="0" fill="hold" nodeType="withEffect">
                                  <p:stCondLst>
                                    <p:cond delay="0"/>
                                  </p:stCondLst>
                                  <p:childTnLst>
                                    <p:set>
                                      <p:cBhvr>
                                        <p:cTn id="108" dur="1" fill="hold">
                                          <p:stCondLst>
                                            <p:cond delay="0"/>
                                          </p:stCondLst>
                                        </p:cTn>
                                        <p:tgtEl>
                                          <p:spTgt spid="20"/>
                                        </p:tgtEl>
                                        <p:attrNameLst>
                                          <p:attrName>style.visibility</p:attrName>
                                        </p:attrNameLst>
                                      </p:cBhvr>
                                      <p:to>
                                        <p:strVal val="hidden"/>
                                      </p:to>
                                    </p:set>
                                  </p:childTnLst>
                                </p:cTn>
                              </p:par>
                              <p:par>
                                <p:cTn id="109" presetID="1" presetClass="exit" presetSubtype="0" fill="hold" nodeType="withEffect">
                                  <p:stCondLst>
                                    <p:cond delay="0"/>
                                  </p:stCondLst>
                                  <p:childTnLst>
                                    <p:set>
                                      <p:cBhvr>
                                        <p:cTn id="110" dur="1" fill="hold">
                                          <p:stCondLst>
                                            <p:cond delay="0"/>
                                          </p:stCondLst>
                                        </p:cTn>
                                        <p:tgtEl>
                                          <p:spTgt spid="21"/>
                                        </p:tgtEl>
                                        <p:attrNameLst>
                                          <p:attrName>style.visibility</p:attrName>
                                        </p:attrNameLst>
                                      </p:cBhvr>
                                      <p:to>
                                        <p:strVal val="hidden"/>
                                      </p:to>
                                    </p:set>
                                  </p:childTnLst>
                                </p:cTn>
                              </p:par>
                              <p:par>
                                <p:cTn id="111" presetID="1" presetClass="exit" presetSubtype="0" fill="hold" nodeType="withEffect">
                                  <p:stCondLst>
                                    <p:cond delay="0"/>
                                  </p:stCondLst>
                                  <p:childTnLst>
                                    <p:set>
                                      <p:cBhvr>
                                        <p:cTn id="112" dur="1" fill="hold">
                                          <p:stCondLst>
                                            <p:cond delay="0"/>
                                          </p:stCondLst>
                                        </p:cTn>
                                        <p:tgtEl>
                                          <p:spTgt spid="22"/>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3"/>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4"/>
                                        </p:tgtEl>
                                        <p:attrNameLst>
                                          <p:attrName>style.visibility</p:attrName>
                                        </p:attrNameLst>
                                      </p:cBhvr>
                                      <p:to>
                                        <p:strVal val="hidden"/>
                                      </p:to>
                                    </p:set>
                                  </p:childTnLst>
                                </p:cTn>
                              </p:par>
                              <p:par>
                                <p:cTn id="117" presetID="1" presetClass="exit" presetSubtype="0" fill="hold" nodeType="withEffect">
                                  <p:stCondLst>
                                    <p:cond delay="0"/>
                                  </p:stCondLst>
                                  <p:childTnLst>
                                    <p:set>
                                      <p:cBhvr>
                                        <p:cTn id="118" dur="1" fill="hold">
                                          <p:stCondLst>
                                            <p:cond delay="0"/>
                                          </p:stCondLst>
                                        </p:cTn>
                                        <p:tgtEl>
                                          <p:spTgt spid="25"/>
                                        </p:tgtEl>
                                        <p:attrNameLst>
                                          <p:attrName>style.visibility</p:attrName>
                                        </p:attrNameLst>
                                      </p:cBhvr>
                                      <p:to>
                                        <p:strVal val="hidden"/>
                                      </p:to>
                                    </p:set>
                                  </p:childTnLst>
                                </p:cTn>
                              </p:par>
                              <p:par>
                                <p:cTn id="119" presetID="1" presetClass="exit" presetSubtype="0" fill="hold" nodeType="withEffect">
                                  <p:stCondLst>
                                    <p:cond delay="0"/>
                                  </p:stCondLst>
                                  <p:childTnLst>
                                    <p:set>
                                      <p:cBhvr>
                                        <p:cTn id="120" dur="1" fill="hold">
                                          <p:stCondLst>
                                            <p:cond delay="0"/>
                                          </p:stCondLst>
                                        </p:cTn>
                                        <p:tgtEl>
                                          <p:spTgt spid="26"/>
                                        </p:tgtEl>
                                        <p:attrNameLst>
                                          <p:attrName>style.visibility</p:attrName>
                                        </p:attrNameLst>
                                      </p:cBhvr>
                                      <p:to>
                                        <p:strVal val="hidden"/>
                                      </p:to>
                                    </p:set>
                                  </p:childTnLst>
                                </p:cTn>
                              </p:par>
                              <p:par>
                                <p:cTn id="121" presetID="1" presetClass="exit" presetSubtype="0" fill="hold" nodeType="withEffect">
                                  <p:stCondLst>
                                    <p:cond delay="0"/>
                                  </p:stCondLst>
                                  <p:childTnLst>
                                    <p:set>
                                      <p:cBhvr>
                                        <p:cTn id="122" dur="1" fill="hold">
                                          <p:stCondLst>
                                            <p:cond delay="0"/>
                                          </p:stCondLst>
                                        </p:cTn>
                                        <p:tgtEl>
                                          <p:spTgt spid="27"/>
                                        </p:tgtEl>
                                        <p:attrNameLst>
                                          <p:attrName>style.visibility</p:attrName>
                                        </p:attrNameLst>
                                      </p:cBhvr>
                                      <p:to>
                                        <p:strVal val="hidden"/>
                                      </p:to>
                                    </p:set>
                                  </p:childTnLst>
                                </p:cTn>
                              </p:par>
                              <p:par>
                                <p:cTn id="123" presetID="1" presetClass="exit" presetSubtype="0" fill="hold" nodeType="withEffect">
                                  <p:stCondLst>
                                    <p:cond delay="0"/>
                                  </p:stCondLst>
                                  <p:childTnLst>
                                    <p:set>
                                      <p:cBhvr>
                                        <p:cTn id="124" dur="1" fill="hold">
                                          <p:stCondLst>
                                            <p:cond delay="0"/>
                                          </p:stCondLst>
                                        </p:cTn>
                                        <p:tgtEl>
                                          <p:spTgt spid="28"/>
                                        </p:tgtEl>
                                        <p:attrNameLst>
                                          <p:attrName>style.visibility</p:attrName>
                                        </p:attrNameLst>
                                      </p:cBhvr>
                                      <p:to>
                                        <p:strVal val="hidden"/>
                                      </p:to>
                                    </p:set>
                                  </p:childTnLst>
                                </p:cTn>
                              </p:par>
                              <p:par>
                                <p:cTn id="125" presetID="1" presetClass="entr" presetSubtype="0" fill="hold" nodeType="withEffect">
                                  <p:stCondLst>
                                    <p:cond delay="0"/>
                                  </p:stCondLst>
                                  <p:childTnLst>
                                    <p:set>
                                      <p:cBhvr>
                                        <p:cTn id="126" dur="1" fill="hold">
                                          <p:stCondLst>
                                            <p:cond delay="0"/>
                                          </p:stCondLst>
                                        </p:cTn>
                                        <p:tgtEl>
                                          <p:spTgt spid="29"/>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30"/>
                                        </p:tgtEl>
                                        <p:attrNameLst>
                                          <p:attrName>style.visibility</p:attrName>
                                        </p:attrNameLst>
                                      </p:cBhvr>
                                      <p:to>
                                        <p:strVal val="visible"/>
                                      </p:to>
                                    </p:set>
                                    <p:animEffect transition="in" filter="fade">
                                      <p:cBhvr>
                                        <p:cTn id="131" dur="300" fill="hold"/>
                                        <p:tgtEl>
                                          <p:spTgt spid="30"/>
                                        </p:tgtEl>
                                      </p:cBhvr>
                                    </p:animEffect>
                                  </p:childTnLst>
                                </p:cTn>
                              </p:par>
                              <p:par>
                                <p:cTn id="132" presetID="10" presetClass="entr" presetSubtype="0" fill="hold" nodeType="withEffect">
                                  <p:stCondLst>
                                    <p:cond delay="0"/>
                                  </p:stCondLst>
                                  <p:childTnLst>
                                    <p:set>
                                      <p:cBhvr>
                                        <p:cTn id="133" dur="1" fill="hold">
                                          <p:stCondLst>
                                            <p:cond delay="0"/>
                                          </p:stCondLst>
                                        </p:cTn>
                                        <p:tgtEl>
                                          <p:spTgt spid="31"/>
                                        </p:tgtEl>
                                        <p:attrNameLst>
                                          <p:attrName>style.visibility</p:attrName>
                                        </p:attrNameLst>
                                      </p:cBhvr>
                                      <p:to>
                                        <p:strVal val="visible"/>
                                      </p:to>
                                    </p:set>
                                    <p:animEffect transition="in" filter="fade">
                                      <p:cBhvr>
                                        <p:cTn id="134" dur="300" fill="hold"/>
                                        <p:tgtEl>
                                          <p:spTgt spid="31"/>
                                        </p:tgtEl>
                                      </p:cBhvr>
                                    </p:animEffect>
                                  </p:childTnLst>
                                </p:cTn>
                              </p:par>
                              <p:par>
                                <p:cTn id="135" presetID="10" presetClass="entr" presetSubtype="0" fill="hold" nodeType="withEffect">
                                  <p:stCondLst>
                                    <p:cond delay="0"/>
                                  </p:stCondLst>
                                  <p:childTnLst>
                                    <p:set>
                                      <p:cBhvr>
                                        <p:cTn id="136" dur="1" fill="hold">
                                          <p:stCondLst>
                                            <p:cond delay="0"/>
                                          </p:stCondLst>
                                        </p:cTn>
                                        <p:tgtEl>
                                          <p:spTgt spid="32"/>
                                        </p:tgtEl>
                                        <p:attrNameLst>
                                          <p:attrName>style.visibility</p:attrName>
                                        </p:attrNameLst>
                                      </p:cBhvr>
                                      <p:to>
                                        <p:strVal val="visible"/>
                                      </p:to>
                                    </p:set>
                                    <p:animEffect transition="in" filter="fade">
                                      <p:cBhvr>
                                        <p:cTn id="137" dur="300" fill="hold"/>
                                        <p:tgtEl>
                                          <p:spTgt spid="32"/>
                                        </p:tgtEl>
                                      </p:cBhvr>
                                    </p:animEffect>
                                  </p:childTnLst>
                                </p:cTn>
                              </p:par>
                              <p:par>
                                <p:cTn id="138" presetID="10" presetClass="entr" presetSubtype="0" fill="hold" nodeType="withEffect">
                                  <p:stCondLst>
                                    <p:cond delay="0"/>
                                  </p:stCondLst>
                                  <p:childTnLst>
                                    <p:set>
                                      <p:cBhvr>
                                        <p:cTn id="139" dur="1" fill="hold">
                                          <p:stCondLst>
                                            <p:cond delay="0"/>
                                          </p:stCondLst>
                                        </p:cTn>
                                        <p:tgtEl>
                                          <p:spTgt spid="33"/>
                                        </p:tgtEl>
                                        <p:attrNameLst>
                                          <p:attrName>style.visibility</p:attrName>
                                        </p:attrNameLst>
                                      </p:cBhvr>
                                      <p:to>
                                        <p:strVal val="visible"/>
                                      </p:to>
                                    </p:set>
                                    <p:animEffect transition="in" filter="fade">
                                      <p:cBhvr>
                                        <p:cTn id="140" dur="300" fill="hold"/>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area-header">
            <a:extLst xmlns:a="http://schemas.openxmlformats.org/drawingml/2006/main">
              <a:ext uri="{FF2B5EF4-FFF2-40B4-BE49-F238E27FC236}">
                <a16:creationId xmlns:a16="http://schemas.microsoft.com/office/drawing/2014/main" id="{164596E3-E7C7-4470-A7C8-0D240ABFE34E}"/>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F884D49E-2BC0-407B-B995-7AE603AACEBE}"/>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Tools and extensibility</a:t>
            </a:r>
          </a:p>
        </p:txBody>
      </p:sp>
      <p:sp>
        <p:nvSpPr>
          <p:cNvPr id="3" name="!!area-beat">
            <a:extLst xmlns:a="http://schemas.openxmlformats.org/drawingml/2006/main">
              <a:ext uri="{FF2B5EF4-FFF2-40B4-BE49-F238E27FC236}">
                <a16:creationId xmlns:a16="http://schemas.microsoft.com/office/drawing/2014/main" id="{947E6DB8-D41F-4784-A940-A2BB4FFE0D50}"/>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header-divider">
            <a:extLst xmlns:a="http://schemas.openxmlformats.org/drawingml/2006/main">
              <a:ext uri="{FF2B5EF4-FFF2-40B4-BE49-F238E27FC236}">
                <a16:creationId xmlns:a16="http://schemas.microsoft.com/office/drawing/2014/main" id="{89258302-AF9B-4CC6-9D45-E877D88C0A6C}"/>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screenshot-MCP configuration">
            <a:extLst xmlns:a="http://schemas.openxmlformats.org/drawingml/2006/main">
              <a:ext uri="{FF2B5EF4-FFF2-40B4-BE49-F238E27FC236}">
                <a16:creationId xmlns:a16="http://schemas.microsoft.com/office/drawing/2014/main" id="{A60DA042-6D5B-4770-8367-70720100DEEA}"/>
              </a:ext>
            </a:extLst>
          </p:cNvPr>
          <p:cNvSpPr>
            <a:spLocks xmlns:a="http://schemas.openxmlformats.org/drawingml/2006/main"/>
          </p:cNvSpPr>
          <p:nvPr/>
        </p:nvSpPr>
        <p:spPr>
          <a:xfrm xmlns:a="http://schemas.openxmlformats.org/drawingml/2006/main">
            <a:off x="6096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6" name="12-text-1">
            <a:extLst xmlns:a="http://schemas.openxmlformats.org/drawingml/2006/main">
              <a:ext uri="{FF2B5EF4-FFF2-40B4-BE49-F238E27FC236}">
                <a16:creationId xmlns:a16="http://schemas.microsoft.com/office/drawing/2014/main" id="{A309B2D7-0EED-4248-A286-09662B599978}"/>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7" name="12-text-2">
            <a:extLst xmlns:a="http://schemas.openxmlformats.org/drawingml/2006/main">
              <a:ext uri="{FF2B5EF4-FFF2-40B4-BE49-F238E27FC236}">
                <a16:creationId xmlns:a16="http://schemas.microsoft.com/office/drawing/2014/main" id="{EDAF5991-4E34-4C53-8848-C3966A54B21B}"/>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MCP server configuration</a:t>
            </a:r>
          </a:p>
        </p:txBody>
      </p:sp>
      <p:sp>
        <p:nvSpPr>
          <p:cNvPr id="8" name="!!screenshot-The permission prompt">
            <a:extLst xmlns:a="http://schemas.openxmlformats.org/drawingml/2006/main">
              <a:ext uri="{FF2B5EF4-FFF2-40B4-BE49-F238E27FC236}">
                <a16:creationId xmlns:a16="http://schemas.microsoft.com/office/drawing/2014/main" id="{418A9C00-A568-4DD4-8AE1-F693CAEFADB1}"/>
              </a:ext>
            </a:extLst>
          </p:cNvPr>
          <p:cNvSpPr>
            <a:spLocks xmlns:a="http://schemas.openxmlformats.org/drawingml/2006/main"/>
          </p:cNvSpPr>
          <p:nvPr/>
        </p:nvSpPr>
        <p:spPr>
          <a:xfrm xmlns:a="http://schemas.openxmlformats.org/drawingml/2006/main">
            <a:off x="62484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9" name="12-text-3">
            <a:extLst xmlns:a="http://schemas.openxmlformats.org/drawingml/2006/main">
              <a:ext uri="{FF2B5EF4-FFF2-40B4-BE49-F238E27FC236}">
                <a16:creationId xmlns:a16="http://schemas.microsoft.com/office/drawing/2014/main" id="{6509CDFC-E491-4520-89F1-2EFFB42462E0}"/>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0" name="12-text-4">
            <a:extLst xmlns:a="http://schemas.openxmlformats.org/drawingml/2006/main">
              <a:ext uri="{FF2B5EF4-FFF2-40B4-BE49-F238E27FC236}">
                <a16:creationId xmlns:a16="http://schemas.microsoft.com/office/drawing/2014/main" id="{E232BF59-F059-4FC9-98BF-A8438C6C3C8B}"/>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Live shell-command approval prompt</a:t>
            </a:r>
          </a:p>
        </p:txBody>
      </p:sp>
      <p:sp>
        <p:nvSpPr>
          <p:cNvPr id="11" name="12-text-5">
            <a:extLst xmlns:a="http://schemas.openxmlformats.org/drawingml/2006/main">
              <a:ext uri="{FF2B5EF4-FFF2-40B4-BE49-F238E27FC236}">
                <a16:creationId xmlns:a16="http://schemas.microsoft.com/office/drawing/2014/main" id="{83BC6541-E4C6-4B97-A00D-C604F668EFE7}"/>
              </a:ext>
            </a:extLst>
          </p:cNvPr>
          <p:cNvSpPr>
            <a:spLocks xmlns:a="http://schemas.openxmlformats.org/drawingml/2006/main"/>
          </p:cNvSpPr>
          <p:nvPr/>
        </p:nvSpPr>
        <p:spPr>
          <a:xfrm xmlns:a="http://schemas.openxmlformats.org/drawingml/2006/main">
            <a:off x="6096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config.toml</a:t>
            </a:r>
          </a:p>
        </p:txBody>
      </p:sp>
      <p:sp>
        <p:nvSpPr>
          <p:cNvPr id="12" name="12-text-6">
            <a:extLst xmlns:a="http://schemas.openxmlformats.org/drawingml/2006/main">
              <a:ext uri="{FF2B5EF4-FFF2-40B4-BE49-F238E27FC236}">
                <a16:creationId xmlns:a16="http://schemas.microsoft.com/office/drawing/2014/main" id="{DCA5898E-9A95-4591-BF3D-3433B81942ED}"/>
              </a:ext>
            </a:extLst>
          </p:cNvPr>
          <p:cNvSpPr>
            <a:spLocks xmlns:a="http://schemas.openxmlformats.org/drawingml/2006/main"/>
          </p:cNvSpPr>
          <p:nvPr/>
        </p:nvSpPr>
        <p:spPr>
          <a:xfrm xmlns:a="http://schemas.openxmlformats.org/drawingml/2006/main">
            <a:off x="62484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Shell command approval</a:t>
            </a:r>
          </a:p>
        </p:txBody>
      </p:sp>
      <p:sp>
        <p:nvSpPr>
          <p:cNvPr id="13" name="12-text-7">
            <a:extLst xmlns:a="http://schemas.openxmlformats.org/drawingml/2006/main">
              <a:ext uri="{FF2B5EF4-FFF2-40B4-BE49-F238E27FC236}">
                <a16:creationId xmlns:a16="http://schemas.microsoft.com/office/drawing/2014/main" id="{3952A4A9-D5EC-44D3-BA21-D67718C1399B}"/>
              </a:ext>
            </a:extLst>
          </p:cNvPr>
          <p:cNvSpPr>
            <a:spLocks xmlns:a="http://schemas.openxmlformats.org/drawingml/2006/main"/>
          </p:cNvSpPr>
          <p:nvPr/>
        </p:nvSpPr>
        <p:spPr>
          <a:xfrm xmlns:a="http://schemas.openxmlformats.org/drawingml/2006/main">
            <a:off x="609600" y="5511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sandbox: read-only · workspace-write · full access</a:t>
            </a:r>
          </a:p>
        </p:txBody>
      </p:sp>
      <p:sp>
        <p:nvSpPr>
          <p:cNvPr id="14" name="12-text-8">
            <a:extLst xmlns:a="http://schemas.openxmlformats.org/drawingml/2006/main">
              <a:ext uri="{FF2B5EF4-FFF2-40B4-BE49-F238E27FC236}">
                <a16:creationId xmlns:a16="http://schemas.microsoft.com/office/drawing/2014/main" id="{2F552306-7C22-45A9-AA54-C6AE516DBF01}"/>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CLI modes: Normal · Accept Edits · Smart · Bypass · Autonomous</a:t>
            </a:r>
          </a:p>
        </p:txBody>
      </p:sp>
    </p:spTree>
    <p:extLst>
      <p:ext uri="{BB962C8B-B14F-4D97-AF65-F5344CB8AC3E}">
        <p14:creationId xmlns:p14="http://schemas.microsoft.com/office/powerpoint/2010/main" val="1297118984"/>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 name="!!area-name">
            <a:extLst xmlns:a="http://schemas.openxmlformats.org/drawingml/2006/main">
              <a:ext uri="{FF2B5EF4-FFF2-40B4-BE49-F238E27FC236}">
                <a16:creationId xmlns:a16="http://schemas.microsoft.com/office/drawing/2014/main" id="{F65CFB54-5749-4704-A33B-554A39B74E4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19" name="mini-map"/>
          <p:cNvPicPr>
            <a:picLocks xmlns:a="http://schemas.openxmlformats.org/drawingml/2006/main" noChangeAspect="1"/>
          </p:cNvPicPr>
          <p:nvPr/>
        </p:nvPicPr>
        <p:blipFill>
          <a:blip xmlns:r="http://schemas.openxmlformats.org/officeDocument/2006/relationships" xmlns:a="http://schemas.openxmlformats.org/drawingml/2006/main" r:embed="R5a1348cfb85d41e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4E43DA3C-05D6-4F10-8AF0-B2CAECF0642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screenshot-MCP configuration">
            <a:extLst xmlns:a="http://schemas.openxmlformats.org/drawingml/2006/main">
              <a:ext uri="{FF2B5EF4-FFF2-40B4-BE49-F238E27FC236}">
                <a16:creationId xmlns:a16="http://schemas.microsoft.com/office/drawing/2014/main" id="{051249E0-FCF0-4756-97A8-E5CE86592FD1}"/>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5" name="12b-text-1">
            <a:extLst xmlns:a="http://schemas.openxmlformats.org/drawingml/2006/main">
              <a:ext uri="{FF2B5EF4-FFF2-40B4-BE49-F238E27FC236}">
                <a16:creationId xmlns:a16="http://schemas.microsoft.com/office/drawing/2014/main" id="{4D8F63EE-7032-45D3-9AF8-853207128931}"/>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6" name="12b-text-2">
            <a:extLst xmlns:a="http://schemas.openxmlformats.org/drawingml/2006/main">
              <a:ext uri="{FF2B5EF4-FFF2-40B4-BE49-F238E27FC236}">
                <a16:creationId xmlns:a16="http://schemas.microsoft.com/office/drawing/2014/main" id="{BDE1B6F9-A302-4795-9362-E11F7F8E088F}"/>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7" name="!!screenshot-The permission prompt">
            <a:extLst xmlns:a="http://schemas.openxmlformats.org/drawingml/2006/main">
              <a:ext uri="{FF2B5EF4-FFF2-40B4-BE49-F238E27FC236}">
                <a16:creationId xmlns:a16="http://schemas.microsoft.com/office/drawing/2014/main" id="{BEDF18F7-58BA-4BCD-8C64-E54CBC23DF0A}"/>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8" name="12b-text-3">
            <a:extLst xmlns:a="http://schemas.openxmlformats.org/drawingml/2006/main">
              <a:ext uri="{FF2B5EF4-FFF2-40B4-BE49-F238E27FC236}">
                <a16:creationId xmlns:a16="http://schemas.microsoft.com/office/drawing/2014/main" id="{3AA61047-B7E2-4EA2-A6D9-BA977A345F99}"/>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9" name="12b-text-4">
            <a:extLst xmlns:a="http://schemas.openxmlformats.org/drawingml/2006/main">
              <a:ext uri="{FF2B5EF4-FFF2-40B4-BE49-F238E27FC236}">
                <a16:creationId xmlns:a16="http://schemas.microsoft.com/office/drawing/2014/main" id="{67723BB4-4C20-42FF-9D34-B825B55B0E7A}"/>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10" name="12b-text-5">
            <a:extLst xmlns:a="http://schemas.openxmlformats.org/drawingml/2006/main">
              <a:ext uri="{FF2B5EF4-FFF2-40B4-BE49-F238E27FC236}">
                <a16:creationId xmlns:a16="http://schemas.microsoft.com/office/drawing/2014/main" id="{49E4E1B4-FFD1-48D9-9137-FB449F4A35BC}"/>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Design the tool for the caller:</a:t>
            </a:r>
          </a:p>
        </p:txBody>
      </p:sp>
      <p:sp>
        <p:nvSpPr>
          <p:cNvPr id="11" name="12b-text-6">
            <a:extLst xmlns:a="http://schemas.openxmlformats.org/drawingml/2006/main">
              <a:ext uri="{FF2B5EF4-FFF2-40B4-BE49-F238E27FC236}">
                <a16:creationId xmlns:a16="http://schemas.microsoft.com/office/drawing/2014/main" id="{4A662E42-316B-4C16-BB6B-710206E332D2}"/>
              </a:ext>
            </a:extLst>
          </p:cNvPr>
          <p:cNvSpPr>
            <a:spLocks xmlns:a="http://schemas.openxmlformats.org/drawingml/2006/main"/>
          </p:cNvSpPr>
          <p:nvPr/>
        </p:nvSpPr>
        <p:spPr>
          <a:xfrm xmlns:a="http://schemas.openxmlformats.org/drawingml/2006/main">
            <a:off x="609600" y="29972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Consider consolidation for the task. One </a:t>
            </a:r>
            <a:r>
              <a:rPr b="0">
                <a:solidFill>
                  <a:srgbClr val="1064F8"/>
                </a:solidFill>
                <a:latin typeface="Consolas"/>
                <a:ea typeface="Consolas"/>
                <a:cs typeface="Consolas"/>
              </a:rPr>
              <a:t>schedule_event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can combine several API operations.</a:t>
            </a:r>
          </a:p>
        </p:txBody>
      </p:sp>
      <p:sp>
        <p:nvSpPr>
          <p:cNvPr id="12" name="12b-text-7">
            <a:extLst xmlns:a="http://schemas.openxmlformats.org/drawingml/2006/main">
              <a:ext uri="{FF2B5EF4-FFF2-40B4-BE49-F238E27FC236}">
                <a16:creationId xmlns:a16="http://schemas.microsoft.com/office/drawing/2014/main" id="{EA291999-8457-4454-BD82-6A4E42E5D0EC}"/>
              </a:ext>
            </a:extLst>
          </p:cNvPr>
          <p:cNvSpPr>
            <a:spLocks xmlns:a="http://schemas.openxmlformats.org/drawingml/2006/main"/>
          </p:cNvSpPr>
          <p:nvPr/>
        </p:nvSpPr>
        <p:spPr>
          <a:xfrm xmlns:a="http://schemas.openxmlformats.org/drawingml/2006/main">
            <a:off x="609600" y="3937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Namespace. Prefix versus suffix moved the evals.</a:t>
            </a:r>
          </a:p>
        </p:txBody>
      </p:sp>
      <p:sp>
        <p:nvSpPr>
          <p:cNvPr id="13" name="12b-text-8">
            <a:extLst xmlns:a="http://schemas.openxmlformats.org/drawingml/2006/main">
              <a:ext uri="{FF2B5EF4-FFF2-40B4-BE49-F238E27FC236}">
                <a16:creationId xmlns:a16="http://schemas.microsoft.com/office/drawing/2014/main" id="{0154917D-BAD0-4DF3-9FC6-345FDCE53068}"/>
              </a:ext>
            </a:extLst>
          </p:cNvPr>
          <p:cNvSpPr>
            <a:spLocks xmlns:a="http://schemas.openxmlformats.org/drawingml/2006/main"/>
          </p:cNvSpPr>
          <p:nvPr/>
        </p:nvSpPr>
        <p:spPr>
          <a:xfrm xmlns:a="http://schemas.openxmlformats.org/drawingml/2006/main">
            <a:off x="609600" y="44958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Return meaningful names alongside stable IDs needed to act.</a:t>
            </a:r>
          </a:p>
        </p:txBody>
      </p:sp>
      <p:sp>
        <p:nvSpPr>
          <p:cNvPr id="14" name="12b-text-9">
            <a:extLst xmlns:a="http://schemas.openxmlformats.org/drawingml/2006/main">
              <a:ext uri="{FF2B5EF4-FFF2-40B4-BE49-F238E27FC236}">
                <a16:creationId xmlns:a16="http://schemas.microsoft.com/office/drawing/2014/main" id="{4A79ABF9-143E-4C9C-9165-8CAF9EC8468D}"/>
              </a:ext>
            </a:extLst>
          </p:cNvPr>
          <p:cNvSpPr>
            <a:spLocks xmlns:a="http://schemas.openxmlformats.org/drawingml/2006/main"/>
          </p:cNvSpPr>
          <p:nvPr/>
        </p:nvSpPr>
        <p:spPr>
          <a:xfrm xmlns:a="http://schemas.openxmlformats.org/drawingml/2006/main">
            <a:off x="609600" y="50546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Offer concise or detailed results: 72 tokens versus 206</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 Anthropic's example.</a:t>
            </a:r>
          </a:p>
        </p:txBody>
      </p:sp>
      <p:sp>
        <p:nvSpPr>
          <p:cNvPr id="15" name="12b-text-10">
            <a:extLst xmlns:a="http://schemas.openxmlformats.org/drawingml/2006/main">
              <a:ext uri="{FF2B5EF4-FFF2-40B4-BE49-F238E27FC236}">
                <a16:creationId xmlns:a16="http://schemas.microsoft.com/office/drawing/2014/main" id="{53B4A0DE-F0BF-4B36-BF6E-E751E096210F}"/>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Tool-description refinements improved</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Claude Sonnet 3.5 on SWE-bench Verified.</a:t>
            </a:r>
          </a:p>
        </p:txBody>
      </p:sp>
      <p:sp>
        <p:nvSpPr>
          <p:cNvPr id="16" name="12b-text-11">
            <a:extLst xmlns:a="http://schemas.openxmlformats.org/drawingml/2006/main">
              <a:ext uri="{FF2B5EF4-FFF2-40B4-BE49-F238E27FC236}">
                <a16:creationId xmlns:a16="http://schemas.microsoft.com/office/drawing/2014/main" id="{079EAA21-09A9-46F7-8D03-28A8C8ABC7BD}"/>
              </a:ext>
            </a:extLst>
          </p:cNvPr>
          <p:cNvSpPr>
            <a:spLocks xmlns:a="http://schemas.openxmlformats.org/drawingml/2006/main"/>
          </p:cNvSpPr>
          <p:nvPr/>
        </p:nvSpPr>
        <p:spPr>
          <a:xfrm xmlns:a="http://schemas.openxmlformats.org/drawingml/2006/main">
            <a:off x="609600" y="3860800"/>
            <a:ext cx="1097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Anthropic's five-server example: about 55,000 tokens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the first message. Tool search reduced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definition overhead by 85%.</a:t>
            </a:r>
          </a:p>
        </p:txBody>
      </p:sp>
      <p:sp>
        <p:nvSpPr>
          <p:cNvPr id="17" name="12b-text-12">
            <a:extLst xmlns:a="http://schemas.openxmlformats.org/drawingml/2006/main">
              <a:ext uri="{FF2B5EF4-FFF2-40B4-BE49-F238E27FC236}">
                <a16:creationId xmlns:a16="http://schemas.microsoft.com/office/drawing/2014/main" id="{F360F4EE-9F8B-4FE4-AA2B-5D25FC20F45B}"/>
              </a:ext>
            </a:extLst>
          </p:cNvPr>
          <p:cNvSpPr>
            <a:spLocks xmlns:a="http://schemas.openxmlformats.org/drawingml/2006/main"/>
          </p:cNvSpPr>
          <p:nvPr/>
        </p:nvSpPr>
        <p:spPr>
          <a:xfrm xmlns:a="http://schemas.openxmlformats.org/drawingml/2006/main">
            <a:off x="609600" y="56896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protocol's floor: no token passthrough · minimal scopes · consent before local commands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 sandboxed execution</a:t>
            </a:r>
          </a:p>
        </p:txBody>
      </p:sp>
    </p:spTree>
    <p:extLst>
      <p:ext uri="{BB962C8B-B14F-4D97-AF65-F5344CB8AC3E}">
        <p14:creationId xmlns:p14="http://schemas.microsoft.com/office/powerpoint/2010/main" val="417033688"/>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1"/>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3"/>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14"/>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area-name">
            <a:extLst xmlns:a="http://schemas.openxmlformats.org/drawingml/2006/main">
              <a:ext uri="{FF2B5EF4-FFF2-40B4-BE49-F238E27FC236}">
                <a16:creationId xmlns:a16="http://schemas.microsoft.com/office/drawing/2014/main" id="{A138CDC8-077C-429E-83D7-2F7A7A66270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35" name="mini-map"/>
          <p:cNvPicPr>
            <a:picLocks xmlns:a="http://schemas.openxmlformats.org/drawingml/2006/main" noChangeAspect="1"/>
          </p:cNvPicPr>
          <p:nvPr/>
        </p:nvPicPr>
        <p:blipFill>
          <a:blip xmlns:r="http://schemas.openxmlformats.org/officeDocument/2006/relationships" xmlns:a="http://schemas.openxmlformats.org/drawingml/2006/main" r:embed="Rdb9ad69a7e66434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E91C1926-ADEA-4493-AF2D-AC3C96FD0ED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4" name="header-divider">
            <a:extLst xmlns:a="http://schemas.openxmlformats.org/drawingml/2006/main">
              <a:ext uri="{FF2B5EF4-FFF2-40B4-BE49-F238E27FC236}">
                <a16:creationId xmlns:a16="http://schemas.microsoft.com/office/drawing/2014/main" id="{9E92F6A5-CAB0-42A9-86F7-CBF402F2470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13-shape-1">
            <a:extLst xmlns:a="http://schemas.openxmlformats.org/drawingml/2006/main">
              <a:ext uri="{FF2B5EF4-FFF2-40B4-BE49-F238E27FC236}">
                <a16:creationId xmlns:a16="http://schemas.microsoft.com/office/drawing/2014/main" id="{4171ACBE-7732-4D79-88FC-F8698D9C4D97}"/>
              </a:ext>
            </a:extLst>
          </p:cNvPr>
          <p:cNvSpPr>
            <a:spLocks xmlns:a="http://schemas.openxmlformats.org/drawingml/2006/main"/>
          </p:cNvSpPr>
          <p:nvPr/>
        </p:nvSpPr>
        <p:spPr>
          <a:xfrm xmlns:a="http://schemas.openxmlformats.org/drawingml/2006/main">
            <a:off x="609600" y="2438400"/>
            <a:ext cx="3962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6" name="13-text-2">
            <a:extLst xmlns:a="http://schemas.openxmlformats.org/drawingml/2006/main">
              <a:ext uri="{FF2B5EF4-FFF2-40B4-BE49-F238E27FC236}">
                <a16:creationId xmlns:a16="http://schemas.microsoft.com/office/drawing/2014/main" id="{D17A9B33-CC03-422C-BE86-0B35BE239AA9}"/>
              </a:ext>
            </a:extLst>
          </p:cNvPr>
          <p:cNvSpPr>
            <a:spLocks xmlns:a="http://schemas.openxmlformats.org/drawingml/2006/main"/>
          </p:cNvSpPr>
          <p:nvPr/>
        </p:nvSpPr>
        <p:spPr>
          <a:xfrm xmlns:a="http://schemas.openxmlformats.org/drawingml/2006/main">
            <a:off x="762000" y="2476500"/>
            <a:ext cx="365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descriptions, and their evals</a:t>
            </a:r>
          </a:p>
        </p:txBody>
      </p:sp>
      <p:sp>
        <p:nvSpPr>
          <p:cNvPr id="7" name="13-shape-3">
            <a:extLst xmlns:a="http://schemas.openxmlformats.org/drawingml/2006/main">
              <a:ext uri="{FF2B5EF4-FFF2-40B4-BE49-F238E27FC236}">
                <a16:creationId xmlns:a16="http://schemas.microsoft.com/office/drawing/2014/main" id="{AF3FB0C7-025D-4035-ABEE-8035D5AF621E}"/>
              </a:ext>
            </a:extLst>
          </p:cNvPr>
          <p:cNvSpPr>
            <a:spLocks xmlns:a="http://schemas.openxmlformats.org/drawingml/2006/main"/>
          </p:cNvSpPr>
          <p:nvPr/>
        </p:nvSpPr>
        <p:spPr>
          <a:xfrm xmlns:a="http://schemas.openxmlformats.org/drawingml/2006/main">
            <a:off x="4673600" y="2438400"/>
            <a:ext cx="18415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8" name="13-text-4">
            <a:extLst xmlns:a="http://schemas.openxmlformats.org/drawingml/2006/main">
              <a:ext uri="{FF2B5EF4-FFF2-40B4-BE49-F238E27FC236}">
                <a16:creationId xmlns:a16="http://schemas.microsoft.com/office/drawing/2014/main" id="{F2206EE3-E114-475C-8716-E750DC4B36FC}"/>
              </a:ext>
            </a:extLst>
          </p:cNvPr>
          <p:cNvSpPr>
            <a:spLocks xmlns:a="http://schemas.openxmlformats.org/drawingml/2006/main"/>
          </p:cNvSpPr>
          <p:nvPr/>
        </p:nvSpPr>
        <p:spPr>
          <a:xfrm xmlns:a="http://schemas.openxmlformats.org/drawingml/2006/main">
            <a:off x="4826000" y="2476500"/>
            <a:ext cx="153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verbosity</a:t>
            </a:r>
          </a:p>
        </p:txBody>
      </p:sp>
      <p:sp>
        <p:nvSpPr>
          <p:cNvPr id="9" name="13-shape-5">
            <a:extLst xmlns:a="http://schemas.openxmlformats.org/drawingml/2006/main">
              <a:ext uri="{FF2B5EF4-FFF2-40B4-BE49-F238E27FC236}">
                <a16:creationId xmlns:a16="http://schemas.microsoft.com/office/drawing/2014/main" id="{2C6CCCFA-5F6D-45C1-BC0C-4F5D5F7EF73E}"/>
              </a:ext>
            </a:extLst>
          </p:cNvPr>
          <p:cNvSpPr>
            <a:spLocks xmlns:a="http://schemas.openxmlformats.org/drawingml/2006/main"/>
          </p:cNvSpPr>
          <p:nvPr/>
        </p:nvSpPr>
        <p:spPr>
          <a:xfrm xmlns:a="http://schemas.openxmlformats.org/drawingml/2006/main">
            <a:off x="6616700" y="2438400"/>
            <a:ext cx="2743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 name="13-text-6">
            <a:extLst xmlns:a="http://schemas.openxmlformats.org/drawingml/2006/main">
              <a:ext uri="{FF2B5EF4-FFF2-40B4-BE49-F238E27FC236}">
                <a16:creationId xmlns:a16="http://schemas.microsoft.com/office/drawing/2014/main" id="{02591765-7C7A-4F78-863B-30219F8F8FD9}"/>
              </a:ext>
            </a:extLst>
          </p:cNvPr>
          <p:cNvSpPr>
            <a:spLocks xmlns:a="http://schemas.openxmlformats.org/drawingml/2006/main"/>
          </p:cNvSpPr>
          <p:nvPr/>
        </p:nvSpPr>
        <p:spPr>
          <a:xfrm xmlns:a="http://schemas.openxmlformats.org/drawingml/2006/main">
            <a:off x="6769100" y="2476500"/>
            <a:ext cx="243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action categories</a:t>
            </a:r>
          </a:p>
        </p:txBody>
      </p:sp>
      <p:sp>
        <p:nvSpPr>
          <p:cNvPr id="11" name="13-shape-7">
            <a:extLst xmlns:a="http://schemas.openxmlformats.org/drawingml/2006/main">
              <a:ext uri="{FF2B5EF4-FFF2-40B4-BE49-F238E27FC236}">
                <a16:creationId xmlns:a16="http://schemas.microsoft.com/office/drawing/2014/main" id="{AFBB5D00-1FA2-4DBA-963B-2B6E40D59FB9}"/>
              </a:ext>
            </a:extLst>
          </p:cNvPr>
          <p:cNvSpPr>
            <a:spLocks xmlns:a="http://schemas.openxmlformats.org/drawingml/2006/main"/>
          </p:cNvSpPr>
          <p:nvPr/>
        </p:nvSpPr>
        <p:spPr>
          <a:xfrm xmlns:a="http://schemas.openxmlformats.org/drawingml/2006/main">
            <a:off x="9461500" y="2438400"/>
            <a:ext cx="1308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2" name="13-text-8">
            <a:extLst xmlns:a="http://schemas.openxmlformats.org/drawingml/2006/main">
              <a:ext uri="{FF2B5EF4-FFF2-40B4-BE49-F238E27FC236}">
                <a16:creationId xmlns:a16="http://schemas.microsoft.com/office/drawing/2014/main" id="{09D4B94D-47B3-4A6B-9D32-820AA76847F4}"/>
              </a:ext>
            </a:extLst>
          </p:cNvPr>
          <p:cNvSpPr>
            <a:spLocks xmlns:a="http://schemas.openxmlformats.org/drawingml/2006/main"/>
          </p:cNvSpPr>
          <p:nvPr/>
        </p:nvSpPr>
        <p:spPr>
          <a:xfrm xmlns:a="http://schemas.openxmlformats.org/drawingml/2006/main">
            <a:off x="9613900" y="2476500"/>
            <a:ext cx="1003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gate</a:t>
            </a:r>
          </a:p>
        </p:txBody>
      </p:sp>
      <p:sp>
        <p:nvSpPr>
          <p:cNvPr id="13" name="13-shape-9">
            <a:extLst xmlns:a="http://schemas.openxmlformats.org/drawingml/2006/main">
              <a:ext uri="{FF2B5EF4-FFF2-40B4-BE49-F238E27FC236}">
                <a16:creationId xmlns:a16="http://schemas.microsoft.com/office/drawing/2014/main" id="{8DD86298-CD70-4F02-94D7-B3E3BBE970C9}"/>
              </a:ext>
            </a:extLst>
          </p:cNvPr>
          <p:cNvSpPr>
            <a:spLocks xmlns:a="http://schemas.openxmlformats.org/drawingml/2006/main"/>
          </p:cNvSpPr>
          <p:nvPr/>
        </p:nvSpPr>
        <p:spPr>
          <a:xfrm xmlns:a="http://schemas.openxmlformats.org/drawingml/2006/main">
            <a:off x="609600" y="3022600"/>
            <a:ext cx="3454400" cy="1879600"/>
          </a:xfrm>
          <a:prstGeom xmlns:a="http://schemas.openxmlformats.org/drawingml/2006/main" prst="roundRect">
            <a:avLst>
              <a:gd name="adj" fmla="val 5405"/>
            </a:avLst>
          </a:prstGeom>
          <a:solidFill xmlns:a="http://schemas.openxmlformats.org/drawingml/2006/main">
            <a:srgbClr val="2B1B2C"/>
          </a:solidFill>
          <a:ln xmlns:a="http://schemas.openxmlformats.org/drawingml/2006/main" w="25400">
            <a:solidFill>
              <a:srgbClr val="F948BE"/>
            </a:solidFill>
          </a:ln>
        </p:spPr>
      </p:sp>
      <p:sp>
        <p:nvSpPr>
          <p:cNvPr id="14" name="13-text-10">
            <a:extLst xmlns:a="http://schemas.openxmlformats.org/drawingml/2006/main">
              <a:ext uri="{FF2B5EF4-FFF2-40B4-BE49-F238E27FC236}">
                <a16:creationId xmlns:a16="http://schemas.microsoft.com/office/drawing/2014/main" id="{09463D8D-F996-4303-A6E1-A86A963B270C}"/>
              </a:ext>
            </a:extLst>
          </p:cNvPr>
          <p:cNvSpPr>
            <a:spLocks xmlns:a="http://schemas.openxmlformats.org/drawingml/2006/main"/>
          </p:cNvSpPr>
          <p:nvPr/>
        </p:nvSpPr>
        <p:spPr>
          <a:xfrm xmlns:a="http://schemas.openxmlformats.org/drawingml/2006/main">
            <a:off x="812800" y="3175000"/>
            <a:ext cx="304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Scoped reads</a:t>
            </a:r>
          </a:p>
        </p:txBody>
      </p:sp>
      <p:sp>
        <p:nvSpPr>
          <p:cNvPr id="15" name="13-text-11">
            <a:extLst xmlns:a="http://schemas.openxmlformats.org/drawingml/2006/main">
              <a:ext uri="{FF2B5EF4-FFF2-40B4-BE49-F238E27FC236}">
                <a16:creationId xmlns:a16="http://schemas.microsoft.com/office/drawing/2014/main" id="{52F10F39-C797-413A-A3CE-FFDB8A03A895}"/>
              </a:ext>
            </a:extLst>
          </p:cNvPr>
          <p:cNvSpPr>
            <a:spLocks xmlns:a="http://schemas.openxmlformats.org/drawingml/2006/main"/>
          </p:cNvSpPr>
          <p:nvPr/>
        </p:nvSpPr>
        <p:spPr>
          <a:xfrm xmlns:a="http://schemas.openxmlformats.org/drawingml/2006/main">
            <a:off x="812800" y="3860800"/>
            <a:ext cx="3048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policy</a:t>
            </a:r>
          </a:p>
        </p:txBody>
      </p:sp>
      <p:sp>
        <p:nvSpPr>
          <p:cNvPr id="16" name="13-shape-12">
            <a:extLst xmlns:a="http://schemas.openxmlformats.org/drawingml/2006/main">
              <a:ext uri="{FF2B5EF4-FFF2-40B4-BE49-F238E27FC236}">
                <a16:creationId xmlns:a16="http://schemas.microsoft.com/office/drawing/2014/main" id="{D9239879-C718-40BE-A98A-FA3A256D3F54}"/>
              </a:ext>
            </a:extLst>
          </p:cNvPr>
          <p:cNvSpPr>
            <a:spLocks xmlns:a="http://schemas.openxmlformats.org/drawingml/2006/main"/>
          </p:cNvSpPr>
          <p:nvPr/>
        </p:nvSpPr>
        <p:spPr>
          <a:xfrm xmlns:a="http://schemas.openxmlformats.org/drawingml/2006/main">
            <a:off x="4368800" y="3022600"/>
            <a:ext cx="3454400" cy="1879600"/>
          </a:xfrm>
          <a:prstGeom xmlns:a="http://schemas.openxmlformats.org/drawingml/2006/main" prst="roundRect">
            <a:avLst>
              <a:gd name="adj" fmla="val 5405"/>
            </a:avLst>
          </a:prstGeom>
          <a:solidFill xmlns:a="http://schemas.openxmlformats.org/drawingml/2006/main">
            <a:srgbClr val="2B1B2C"/>
          </a:solidFill>
          <a:ln xmlns:a="http://schemas.openxmlformats.org/drawingml/2006/main" w="25400">
            <a:solidFill>
              <a:srgbClr val="F948BE"/>
            </a:solidFill>
          </a:ln>
        </p:spPr>
      </p:sp>
      <p:sp>
        <p:nvSpPr>
          <p:cNvPr id="17" name="13-text-13">
            <a:extLst xmlns:a="http://schemas.openxmlformats.org/drawingml/2006/main">
              <a:ext uri="{FF2B5EF4-FFF2-40B4-BE49-F238E27FC236}">
                <a16:creationId xmlns:a16="http://schemas.microsoft.com/office/drawing/2014/main" id="{848890E8-30F6-4384-AC01-06BE179CD361}"/>
              </a:ext>
            </a:extLst>
          </p:cNvPr>
          <p:cNvSpPr>
            <a:spLocks xmlns:a="http://schemas.openxmlformats.org/drawingml/2006/main"/>
          </p:cNvSpPr>
          <p:nvPr/>
        </p:nvSpPr>
        <p:spPr>
          <a:xfrm xmlns:a="http://schemas.openxmlformats.org/drawingml/2006/main">
            <a:off x="4572000" y="3175000"/>
            <a:ext cx="304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Reversible changes</a:t>
            </a:r>
          </a:p>
        </p:txBody>
      </p:sp>
      <p:sp>
        <p:nvSpPr>
          <p:cNvPr id="18" name="13-text-14">
            <a:extLst xmlns:a="http://schemas.openxmlformats.org/drawingml/2006/main">
              <a:ext uri="{FF2B5EF4-FFF2-40B4-BE49-F238E27FC236}">
                <a16:creationId xmlns:a16="http://schemas.microsoft.com/office/drawing/2014/main" id="{795EC60E-43F6-4F66-A1AB-D093ACC6505E}"/>
              </a:ext>
            </a:extLst>
          </p:cNvPr>
          <p:cNvSpPr>
            <a:spLocks xmlns:a="http://schemas.openxmlformats.org/drawingml/2006/main"/>
          </p:cNvSpPr>
          <p:nvPr/>
        </p:nvSpPr>
        <p:spPr>
          <a:xfrm xmlns:a="http://schemas.openxmlformats.org/drawingml/2006/main">
            <a:off x="4572000" y="3860800"/>
            <a:ext cx="3048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support recovery</a:t>
            </a:r>
          </a:p>
        </p:txBody>
      </p:sp>
      <p:sp>
        <p:nvSpPr>
          <p:cNvPr id="19" name="13-shape-15">
            <a:extLst xmlns:a="http://schemas.openxmlformats.org/drawingml/2006/main">
              <a:ext uri="{FF2B5EF4-FFF2-40B4-BE49-F238E27FC236}">
                <a16:creationId xmlns:a16="http://schemas.microsoft.com/office/drawing/2014/main" id="{3158987C-EFC4-41E1-989C-4BC3DFCF28EE}"/>
              </a:ext>
            </a:extLst>
          </p:cNvPr>
          <p:cNvSpPr>
            <a:spLocks xmlns:a="http://schemas.openxmlformats.org/drawingml/2006/main"/>
          </p:cNvSpPr>
          <p:nvPr/>
        </p:nvSpPr>
        <p:spPr>
          <a:xfrm xmlns:a="http://schemas.openxmlformats.org/drawingml/2006/main">
            <a:off x="8128000" y="3022600"/>
            <a:ext cx="3454400" cy="1879600"/>
          </a:xfrm>
          <a:prstGeom xmlns:a="http://schemas.openxmlformats.org/drawingml/2006/main" prst="roundRect">
            <a:avLst>
              <a:gd name="adj" fmla="val 5405"/>
            </a:avLst>
          </a:prstGeom>
          <a:solidFill xmlns:a="http://schemas.openxmlformats.org/drawingml/2006/main">
            <a:srgbClr val="2B1B2C"/>
          </a:solidFill>
          <a:ln xmlns:a="http://schemas.openxmlformats.org/drawingml/2006/main" w="25400">
            <a:solidFill>
              <a:srgbClr val="F948BE"/>
            </a:solidFill>
          </a:ln>
        </p:spPr>
      </p:sp>
      <p:sp>
        <p:nvSpPr>
          <p:cNvPr id="20" name="13-text-16">
            <a:extLst xmlns:a="http://schemas.openxmlformats.org/drawingml/2006/main">
              <a:ext uri="{FF2B5EF4-FFF2-40B4-BE49-F238E27FC236}">
                <a16:creationId xmlns:a16="http://schemas.microsoft.com/office/drawing/2014/main" id="{D0DD3C77-FC6E-4B4E-8CA1-16279E5EF6BB}"/>
              </a:ext>
            </a:extLst>
          </p:cNvPr>
          <p:cNvSpPr>
            <a:spLocks xmlns:a="http://schemas.openxmlformats.org/drawingml/2006/main"/>
          </p:cNvSpPr>
          <p:nvPr/>
        </p:nvSpPr>
        <p:spPr>
          <a:xfrm xmlns:a="http://schemas.openxmlformats.org/drawingml/2006/main">
            <a:off x="8331200" y="3175000"/>
            <a:ext cx="304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Consequential actions</a:t>
            </a:r>
          </a:p>
        </p:txBody>
      </p:sp>
      <p:sp>
        <p:nvSpPr>
          <p:cNvPr id="21" name="13-text-17">
            <a:extLst xmlns:a="http://schemas.openxmlformats.org/drawingml/2006/main">
              <a:ext uri="{FF2B5EF4-FFF2-40B4-BE49-F238E27FC236}">
                <a16:creationId xmlns:a16="http://schemas.microsoft.com/office/drawing/2014/main" id="{A0FE1896-64A0-4C5B-9398-7D4A5B6DBEB2}"/>
              </a:ext>
            </a:extLst>
          </p:cNvPr>
          <p:cNvSpPr>
            <a:spLocks xmlns:a="http://schemas.openxmlformats.org/drawingml/2006/main"/>
          </p:cNvSpPr>
          <p:nvPr/>
        </p:nvSpPr>
        <p:spPr>
          <a:xfrm xmlns:a="http://schemas.openxmlformats.org/drawingml/2006/main">
            <a:off x="8331200" y="3860800"/>
            <a:ext cx="3048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 policy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authorization or approval</a:t>
            </a:r>
          </a:p>
        </p:txBody>
      </p:sp>
      <p:sp>
        <p:nvSpPr>
          <p:cNvPr id="22" name="13-text-18">
            <a:extLst xmlns:a="http://schemas.openxmlformats.org/drawingml/2006/main">
              <a:ext uri="{FF2B5EF4-FFF2-40B4-BE49-F238E27FC236}">
                <a16:creationId xmlns:a16="http://schemas.microsoft.com/office/drawing/2014/main" id="{E1EAA114-C683-4633-A43D-880DC7757D31}"/>
              </a:ext>
            </a:extLst>
          </p:cNvPr>
          <p:cNvSpPr>
            <a:spLocks xmlns:a="http://schemas.openxmlformats.org/drawingml/2006/main"/>
          </p:cNvSpPr>
          <p:nvPr/>
        </p:nvSpPr>
        <p:spPr>
          <a:xfrm xmlns:a="http://schemas.openxmlformats.org/drawingml/2006/main">
            <a:off x="609600" y="5080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Authorization applies to every category. Enforce it outside the model.</a:t>
            </a:r>
          </a:p>
        </p:txBody>
      </p:sp>
      <p:sp>
        <p:nvSpPr>
          <p:cNvPr id="23" name="13-text-19">
            <a:extLst xmlns:a="http://schemas.openxmlformats.org/drawingml/2006/main">
              <a:ext uri="{FF2B5EF4-FFF2-40B4-BE49-F238E27FC236}">
                <a16:creationId xmlns:a16="http://schemas.microsoft.com/office/drawing/2014/main" id="{F01C22E9-FA65-4878-AED9-475291CA7ABC}"/>
              </a:ext>
            </a:extLst>
          </p:cNvPr>
          <p:cNvSpPr>
            <a:spLocks xmlns:a="http://schemas.openxmlformats.org/drawingml/2006/main"/>
          </p:cNvSpPr>
          <p:nvPr/>
        </p:nvSpPr>
        <p:spPr>
          <a:xfrm xmlns:a="http://schemas.openxmlformats.org/drawingml/2006/main">
            <a:off x="609600" y="5562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model's approval recommendation does not establish permission.</a:t>
            </a:r>
          </a:p>
        </p:txBody>
      </p:sp>
      <p:sp>
        <p:nvSpPr>
          <p:cNvPr id="24" name="13-shape-20">
            <a:extLst xmlns:a="http://schemas.openxmlformats.org/drawingml/2006/main">
              <a:ext uri="{FF2B5EF4-FFF2-40B4-BE49-F238E27FC236}">
                <a16:creationId xmlns:a16="http://schemas.microsoft.com/office/drawing/2014/main" id="{26E03BAF-056E-4330-BB47-1B6511BD661C}"/>
              </a:ext>
            </a:extLst>
          </p:cNvPr>
          <p:cNvSpPr>
            <a:spLocks xmlns:a="http://schemas.openxmlformats.org/drawingml/2006/main"/>
          </p:cNvSpPr>
          <p:nvPr/>
        </p:nvSpPr>
        <p:spPr>
          <a:xfrm xmlns:a="http://schemas.openxmlformats.org/drawingml/2006/main">
            <a:off x="609600" y="2438400"/>
            <a:ext cx="10972800" cy="1778000"/>
          </a:xfrm>
          <a:prstGeom xmlns:a="http://schemas.openxmlformats.org/drawingml/2006/main" prst="roundRect">
            <a:avLst>
              <a:gd name="adj" fmla="val 5714"/>
            </a:avLst>
          </a:prstGeom>
          <a:solidFill xmlns:a="http://schemas.openxmlformats.org/drawingml/2006/main">
            <a:srgbClr val="303236"/>
          </a:solidFill>
          <a:ln xmlns:a="http://schemas.openxmlformats.org/drawingml/2006/main" w="0">
            <a:noFill/>
          </a:ln>
        </p:spPr>
      </p:sp>
      <p:sp>
        <p:nvSpPr>
          <p:cNvPr id="25" name="13-text-21">
            <a:extLst xmlns:a="http://schemas.openxmlformats.org/drawingml/2006/main">
              <a:ext uri="{FF2B5EF4-FFF2-40B4-BE49-F238E27FC236}">
                <a16:creationId xmlns:a16="http://schemas.microsoft.com/office/drawing/2014/main" id="{4ABA8940-BBCF-4A31-AC4E-A5BBF0CA57DC}"/>
              </a:ext>
            </a:extLst>
          </p:cNvPr>
          <p:cNvSpPr>
            <a:spLocks xmlns:a="http://schemas.openxmlformats.org/drawingml/2006/main"/>
          </p:cNvSpPr>
          <p:nvPr/>
        </p:nvSpPr>
        <p:spPr>
          <a:xfrm xmlns:a="http://schemas.openxmlformats.org/drawingml/2006/main">
            <a:off x="812800" y="2590800"/>
            <a:ext cx="1056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CamoLeak, October 2025.</a:t>
            </a:r>
          </a:p>
        </p:txBody>
      </p:sp>
      <p:sp>
        <p:nvSpPr>
          <p:cNvPr id="26" name="13-text-22">
            <a:extLst xmlns:a="http://schemas.openxmlformats.org/drawingml/2006/main">
              <a:ext uri="{FF2B5EF4-FFF2-40B4-BE49-F238E27FC236}">
                <a16:creationId xmlns:a16="http://schemas.microsoft.com/office/drawing/2014/main" id="{EC494949-E568-4DAB-938F-0E31421EA4B8}"/>
              </a:ext>
            </a:extLst>
          </p:cNvPr>
          <p:cNvSpPr>
            <a:spLocks xmlns:a="http://schemas.openxmlformats.org/drawingml/2006/main"/>
          </p:cNvSpPr>
          <p:nvPr/>
        </p:nvSpPr>
        <p:spPr>
          <a:xfrm xmlns:a="http://schemas.openxmlformats.org/drawingml/2006/main">
            <a:off x="812800" y="2971800"/>
            <a:ext cx="10566400" cy="109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Researcher-demonstrated vulnerability: hidden pull-request instructions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exfiltrated private repository data through image URLs. CVSS 9.6.</a:t>
            </a:r>
          </a:p>
        </p:txBody>
      </p:sp>
      <p:sp>
        <p:nvSpPr>
          <p:cNvPr id="27" name="13-shape-23">
            <a:extLst xmlns:a="http://schemas.openxmlformats.org/drawingml/2006/main">
              <a:ext uri="{FF2B5EF4-FFF2-40B4-BE49-F238E27FC236}">
                <a16:creationId xmlns:a16="http://schemas.microsoft.com/office/drawing/2014/main" id="{11F20E75-AC61-48A0-BC88-EA798A93B5CA}"/>
              </a:ext>
            </a:extLst>
          </p:cNvPr>
          <p:cNvSpPr>
            <a:spLocks xmlns:a="http://schemas.openxmlformats.org/drawingml/2006/main"/>
          </p:cNvSpPr>
          <p:nvPr/>
        </p:nvSpPr>
        <p:spPr>
          <a:xfrm xmlns:a="http://schemas.openxmlformats.org/drawingml/2006/main">
            <a:off x="609600" y="4419600"/>
            <a:ext cx="10972800" cy="1371600"/>
          </a:xfrm>
          <a:prstGeom xmlns:a="http://schemas.openxmlformats.org/drawingml/2006/main" prst="roundRect">
            <a:avLst>
              <a:gd name="adj" fmla="val 7407"/>
            </a:avLst>
          </a:prstGeom>
          <a:solidFill xmlns:a="http://schemas.openxmlformats.org/drawingml/2006/main">
            <a:srgbClr val="303236"/>
          </a:solidFill>
          <a:ln xmlns:a="http://schemas.openxmlformats.org/drawingml/2006/main" w="0">
            <a:noFill/>
          </a:ln>
        </p:spPr>
      </p:sp>
      <p:sp>
        <p:nvSpPr>
          <p:cNvPr id="28" name="13-text-24">
            <a:extLst xmlns:a="http://schemas.openxmlformats.org/drawingml/2006/main">
              <a:ext uri="{FF2B5EF4-FFF2-40B4-BE49-F238E27FC236}">
                <a16:creationId xmlns:a16="http://schemas.microsoft.com/office/drawing/2014/main" id="{47AD7A8A-8A37-4520-A519-4E18AA2F12AE}"/>
              </a:ext>
            </a:extLst>
          </p:cNvPr>
          <p:cNvSpPr>
            <a:spLocks xmlns:a="http://schemas.openxmlformats.org/drawingml/2006/main"/>
          </p:cNvSpPr>
          <p:nvPr/>
        </p:nvSpPr>
        <p:spPr>
          <a:xfrm xmlns:a="http://schemas.openxmlformats.org/drawingml/2006/main">
            <a:off x="812800" y="4572000"/>
            <a:ext cx="1056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ClawHub, February 2026.</a:t>
            </a:r>
          </a:p>
        </p:txBody>
      </p:sp>
      <p:sp>
        <p:nvSpPr>
          <p:cNvPr id="29" name="13-text-25">
            <a:extLst xmlns:a="http://schemas.openxmlformats.org/drawingml/2006/main">
              <a:ext uri="{FF2B5EF4-FFF2-40B4-BE49-F238E27FC236}">
                <a16:creationId xmlns:a16="http://schemas.microsoft.com/office/drawing/2014/main" id="{C394CFF2-B3B0-4110-92BD-7C672F93CF28}"/>
              </a:ext>
            </a:extLst>
          </p:cNvPr>
          <p:cNvSpPr>
            <a:spLocks xmlns:a="http://schemas.openxmlformats.org/drawingml/2006/main"/>
          </p:cNvSpPr>
          <p:nvPr/>
        </p:nvSpPr>
        <p:spPr>
          <a:xfrm xmlns:a="http://schemas.openxmlformats.org/drawingml/2006/main">
            <a:off x="812800" y="4953000"/>
            <a:ext cx="10566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Koi audit via The Hacker News: 341 of 2,857 skills were malicious.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Secondary report.</a:t>
            </a:r>
          </a:p>
        </p:txBody>
      </p:sp>
      <p:sp>
        <p:nvSpPr>
          <p:cNvPr id="30" name="13-shape-26">
            <a:extLst xmlns:a="http://schemas.openxmlformats.org/drawingml/2006/main">
              <a:ext uri="{FF2B5EF4-FFF2-40B4-BE49-F238E27FC236}">
                <a16:creationId xmlns:a16="http://schemas.microsoft.com/office/drawing/2014/main" id="{2BA6FFD4-669D-4FA8-B545-AC32A4BF61FD}"/>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1" name="13-shape-27">
            <a:extLst xmlns:a="http://schemas.openxmlformats.org/drawingml/2006/main">
              <a:ext uri="{FF2B5EF4-FFF2-40B4-BE49-F238E27FC236}">
                <a16:creationId xmlns:a16="http://schemas.microsoft.com/office/drawing/2014/main" id="{7FA6061C-F3F6-4FD0-A15D-163B92506E0B}"/>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2" name="13-text-28">
            <a:extLst xmlns:a="http://schemas.openxmlformats.org/drawingml/2006/main">
              <a:ext uri="{FF2B5EF4-FFF2-40B4-BE49-F238E27FC236}">
                <a16:creationId xmlns:a16="http://schemas.microsoft.com/office/drawing/2014/main" id="{1E4DE22D-A426-4C11-8720-72DE90E06712}"/>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3" name="13-text-29">
            <a:extLst xmlns:a="http://schemas.openxmlformats.org/drawingml/2006/main">
              <a:ext uri="{FF2B5EF4-FFF2-40B4-BE49-F238E27FC236}">
                <a16:creationId xmlns:a16="http://schemas.microsoft.com/office/drawing/2014/main" id="{01C4A1C7-8BC3-499B-B096-87BD4F7D06DA}"/>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Tree>
    <p:extLst>
      <p:ext uri="{BB962C8B-B14F-4D97-AF65-F5344CB8AC3E}">
        <p14:creationId xmlns:p14="http://schemas.microsoft.com/office/powerpoint/2010/main" val="20517826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fill="hold"/>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fill="hold"/>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fill="hold"/>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 fill="hold"/>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00" fill="hold"/>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200" fill="hold"/>
                                        <p:tgtEl>
                                          <p:spTgt spid="10"/>
                                        </p:tgtEl>
                                      </p:cBhvr>
                                    </p:animEffect>
                                  </p:childTnLst>
                                </p:cTn>
                              </p:par>
                              <p:par>
                                <p:cTn id="23" presetID="10"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200" fill="hold"/>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200" fill="hold"/>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200" fill="hold"/>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200" fill="hold"/>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200" fill="hold"/>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200" fill="hold"/>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200" fill="hold"/>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200" fill="hold"/>
                                        <p:tgtEl>
                                          <p:spTgt spid="18"/>
                                        </p:tgtEl>
                                      </p:cBhvr>
                                    </p:animEffect>
                                  </p:childTnLst>
                                </p:cTn>
                              </p:par>
                              <p:par>
                                <p:cTn id="49" presetID="10" presetClass="entr" presetSubtype="0"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200" fill="hold"/>
                                        <p:tgtEl>
                                          <p:spTgt spid="19"/>
                                        </p:tgtEl>
                                      </p:cBhvr>
                                    </p:animEffect>
                                  </p:childTnLst>
                                </p:cTn>
                              </p:par>
                              <p:par>
                                <p:cTn id="52" presetID="10" presetClass="entr" presetSubtype="0" fill="hold"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200" fill="hold"/>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200" fill="hold"/>
                                        <p:tgtEl>
                                          <p:spTgt spid="21"/>
                                        </p:tgtEl>
                                      </p:cBhvr>
                                    </p:animEffect>
                                  </p:childTnLst>
                                </p:cTn>
                              </p:par>
                              <p:par>
                                <p:cTn id="58" presetID="1" presetClass="entr" presetSubtype="0" fill="hold" nodeType="withEffect">
                                  <p:stCondLst>
                                    <p:cond delay="0"/>
                                  </p:stCondLst>
                                  <p:childTnLst>
                                    <p:set>
                                      <p:cBhvr>
                                        <p:cTn id="59" dur="1" fill="hold">
                                          <p:stCondLst>
                                            <p:cond delay="0"/>
                                          </p:stCondLst>
                                        </p:cTn>
                                        <p:tgtEl>
                                          <p:spTgt spid="22"/>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2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nodeType="clickEffect">
                                  <p:stCondLst>
                                    <p:cond delay="0"/>
                                  </p:stCondLst>
                                  <p:childTnLst>
                                    <p:set>
                                      <p:cBhvr>
                                        <p:cTn id="65" dur="1" fill="hold">
                                          <p:stCondLst>
                                            <p:cond delay="0"/>
                                          </p:stCondLst>
                                        </p:cTn>
                                        <p:tgtEl>
                                          <p:spTgt spid="5"/>
                                        </p:tgtEl>
                                        <p:attrNameLst>
                                          <p:attrName>style.visibility</p:attrName>
                                        </p:attrNameLst>
                                      </p:cBhvr>
                                      <p:to>
                                        <p:strVal val="hidden"/>
                                      </p:to>
                                    </p:set>
                                  </p:childTnLst>
                                </p:cTn>
                              </p:par>
                              <p:par>
                                <p:cTn id="66" presetID="1" presetClass="exit" presetSubtype="0" fill="hold" nodeType="withEffect">
                                  <p:stCondLst>
                                    <p:cond delay="0"/>
                                  </p:stCondLst>
                                  <p:childTnLst>
                                    <p:set>
                                      <p:cBhvr>
                                        <p:cTn id="67" dur="1" fill="hold">
                                          <p:stCondLst>
                                            <p:cond delay="0"/>
                                          </p:stCondLst>
                                        </p:cTn>
                                        <p:tgtEl>
                                          <p:spTgt spid="6"/>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7"/>
                                        </p:tgtEl>
                                        <p:attrNameLst>
                                          <p:attrName>style.visibility</p:attrName>
                                        </p:attrNameLst>
                                      </p:cBhvr>
                                      <p:to>
                                        <p:strVal val="hidden"/>
                                      </p:to>
                                    </p:set>
                                  </p:childTnLst>
                                </p:cTn>
                              </p:par>
                              <p:par>
                                <p:cTn id="70" presetID="1" presetClass="exit" presetSubtype="0" fill="hold" nodeType="withEffect">
                                  <p:stCondLst>
                                    <p:cond delay="0"/>
                                  </p:stCondLst>
                                  <p:childTnLst>
                                    <p:set>
                                      <p:cBhvr>
                                        <p:cTn id="71" dur="1" fill="hold">
                                          <p:stCondLst>
                                            <p:cond delay="0"/>
                                          </p:stCondLst>
                                        </p:cTn>
                                        <p:tgtEl>
                                          <p:spTgt spid="8"/>
                                        </p:tgtEl>
                                        <p:attrNameLst>
                                          <p:attrName>style.visibility</p:attrName>
                                        </p:attrNameLst>
                                      </p:cBhvr>
                                      <p:to>
                                        <p:strVal val="hidden"/>
                                      </p:to>
                                    </p:set>
                                  </p:childTnLst>
                                </p:cTn>
                              </p:par>
                              <p:par>
                                <p:cTn id="72" presetID="1" presetClass="exit" presetSubtype="0" fill="hold" nodeType="withEffect">
                                  <p:stCondLst>
                                    <p:cond delay="0"/>
                                  </p:stCondLst>
                                  <p:childTnLst>
                                    <p:set>
                                      <p:cBhvr>
                                        <p:cTn id="73" dur="1" fill="hold">
                                          <p:stCondLst>
                                            <p:cond delay="0"/>
                                          </p:stCondLst>
                                        </p:cTn>
                                        <p:tgtEl>
                                          <p:spTgt spid="9"/>
                                        </p:tgtEl>
                                        <p:attrNameLst>
                                          <p:attrName>style.visibility</p:attrName>
                                        </p:attrNameLst>
                                      </p:cBhvr>
                                      <p:to>
                                        <p:strVal val="hidden"/>
                                      </p:to>
                                    </p:set>
                                  </p:childTnLst>
                                </p:cTn>
                              </p:par>
                              <p:par>
                                <p:cTn id="74" presetID="1" presetClass="exit" presetSubtype="0" fill="hold" nodeType="withEffect">
                                  <p:stCondLst>
                                    <p:cond delay="0"/>
                                  </p:stCondLst>
                                  <p:childTnLst>
                                    <p:set>
                                      <p:cBhvr>
                                        <p:cTn id="75" dur="1" fill="hold">
                                          <p:stCondLst>
                                            <p:cond delay="0"/>
                                          </p:stCondLst>
                                        </p:cTn>
                                        <p:tgtEl>
                                          <p:spTgt spid="10"/>
                                        </p:tgtEl>
                                        <p:attrNameLst>
                                          <p:attrName>style.visibility</p:attrName>
                                        </p:attrNameLst>
                                      </p:cBhvr>
                                      <p:to>
                                        <p:strVal val="hidden"/>
                                      </p:to>
                                    </p:set>
                                  </p:childTnLst>
                                </p:cTn>
                              </p:par>
                              <p:par>
                                <p:cTn id="76" presetID="1" presetClass="exit" presetSubtype="0" fill="hold" nodeType="withEffect">
                                  <p:stCondLst>
                                    <p:cond delay="0"/>
                                  </p:stCondLst>
                                  <p:childTnLst>
                                    <p:set>
                                      <p:cBhvr>
                                        <p:cTn id="77" dur="1" fill="hold">
                                          <p:stCondLst>
                                            <p:cond delay="0"/>
                                          </p:stCondLst>
                                        </p:cTn>
                                        <p:tgtEl>
                                          <p:spTgt spid="11"/>
                                        </p:tgtEl>
                                        <p:attrNameLst>
                                          <p:attrName>style.visibility</p:attrName>
                                        </p:attrNameLst>
                                      </p:cBhvr>
                                      <p:to>
                                        <p:strVal val="hidden"/>
                                      </p:to>
                                    </p:set>
                                  </p:childTnLst>
                                </p:cTn>
                              </p:par>
                              <p:par>
                                <p:cTn id="78" presetID="1" presetClass="exit" presetSubtype="0" fill="hold" nodeType="withEffect">
                                  <p:stCondLst>
                                    <p:cond delay="0"/>
                                  </p:stCondLst>
                                  <p:childTnLst>
                                    <p:set>
                                      <p:cBhvr>
                                        <p:cTn id="79" dur="1" fill="hold">
                                          <p:stCondLst>
                                            <p:cond delay="0"/>
                                          </p:stCondLst>
                                        </p:cTn>
                                        <p:tgtEl>
                                          <p:spTgt spid="12"/>
                                        </p:tgtEl>
                                        <p:attrNameLst>
                                          <p:attrName>style.visibility</p:attrName>
                                        </p:attrNameLst>
                                      </p:cBhvr>
                                      <p:to>
                                        <p:strVal val="hidden"/>
                                      </p:to>
                                    </p:set>
                                  </p:childTnLst>
                                </p:cTn>
                              </p:par>
                              <p:par>
                                <p:cTn id="80" presetID="1" presetClass="exit" presetSubtype="0" fill="hold" nodeType="withEffect">
                                  <p:stCondLst>
                                    <p:cond delay="0"/>
                                  </p:stCondLst>
                                  <p:childTnLst>
                                    <p:set>
                                      <p:cBhvr>
                                        <p:cTn id="81" dur="1" fill="hold">
                                          <p:stCondLst>
                                            <p:cond delay="0"/>
                                          </p:stCondLst>
                                        </p:cTn>
                                        <p:tgtEl>
                                          <p:spTgt spid="13"/>
                                        </p:tgtEl>
                                        <p:attrNameLst>
                                          <p:attrName>style.visibility</p:attrName>
                                        </p:attrNameLst>
                                      </p:cBhvr>
                                      <p:to>
                                        <p:strVal val="hidden"/>
                                      </p:to>
                                    </p:set>
                                  </p:childTnLst>
                                </p:cTn>
                              </p:par>
                              <p:par>
                                <p:cTn id="82" presetID="1" presetClass="exit" presetSubtype="0" fill="hold" nodeType="withEffect">
                                  <p:stCondLst>
                                    <p:cond delay="0"/>
                                  </p:stCondLst>
                                  <p:childTnLst>
                                    <p:set>
                                      <p:cBhvr>
                                        <p:cTn id="83" dur="1" fill="hold">
                                          <p:stCondLst>
                                            <p:cond delay="0"/>
                                          </p:stCondLst>
                                        </p:cTn>
                                        <p:tgtEl>
                                          <p:spTgt spid="14"/>
                                        </p:tgtEl>
                                        <p:attrNameLst>
                                          <p:attrName>style.visibility</p:attrName>
                                        </p:attrNameLst>
                                      </p:cBhvr>
                                      <p:to>
                                        <p:strVal val="hidden"/>
                                      </p:to>
                                    </p:set>
                                  </p:childTnLst>
                                </p:cTn>
                              </p:par>
                              <p:par>
                                <p:cTn id="84" presetID="1" presetClass="exit" presetSubtype="0" fill="hold" nodeType="withEffect">
                                  <p:stCondLst>
                                    <p:cond delay="0"/>
                                  </p:stCondLst>
                                  <p:childTnLst>
                                    <p:set>
                                      <p:cBhvr>
                                        <p:cTn id="85" dur="1" fill="hold">
                                          <p:stCondLst>
                                            <p:cond delay="0"/>
                                          </p:stCondLst>
                                        </p:cTn>
                                        <p:tgtEl>
                                          <p:spTgt spid="15"/>
                                        </p:tgtEl>
                                        <p:attrNameLst>
                                          <p:attrName>style.visibility</p:attrName>
                                        </p:attrNameLst>
                                      </p:cBhvr>
                                      <p:to>
                                        <p:strVal val="hidden"/>
                                      </p:to>
                                    </p:set>
                                  </p:childTnLst>
                                </p:cTn>
                              </p:par>
                              <p:par>
                                <p:cTn id="86" presetID="1" presetClass="exit" presetSubtype="0" fill="hold" nodeType="withEffect">
                                  <p:stCondLst>
                                    <p:cond delay="0"/>
                                  </p:stCondLst>
                                  <p:childTnLst>
                                    <p:set>
                                      <p:cBhvr>
                                        <p:cTn id="87" dur="1" fill="hold">
                                          <p:stCondLst>
                                            <p:cond delay="0"/>
                                          </p:stCondLst>
                                        </p:cTn>
                                        <p:tgtEl>
                                          <p:spTgt spid="16"/>
                                        </p:tgtEl>
                                        <p:attrNameLst>
                                          <p:attrName>style.visibility</p:attrName>
                                        </p:attrNameLst>
                                      </p:cBhvr>
                                      <p:to>
                                        <p:strVal val="hidden"/>
                                      </p:to>
                                    </p:set>
                                  </p:childTnLst>
                                </p:cTn>
                              </p:par>
                              <p:par>
                                <p:cTn id="88" presetID="1" presetClass="exit" presetSubtype="0" fill="hold" nodeType="withEffect">
                                  <p:stCondLst>
                                    <p:cond delay="0"/>
                                  </p:stCondLst>
                                  <p:childTnLst>
                                    <p:set>
                                      <p:cBhvr>
                                        <p:cTn id="89" dur="1" fill="hold">
                                          <p:stCondLst>
                                            <p:cond delay="0"/>
                                          </p:stCondLst>
                                        </p:cTn>
                                        <p:tgtEl>
                                          <p:spTgt spid="17"/>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18"/>
                                        </p:tgtEl>
                                        <p:attrNameLst>
                                          <p:attrName>style.visibility</p:attrName>
                                        </p:attrNameLst>
                                      </p:cBhvr>
                                      <p:to>
                                        <p:strVal val="hidden"/>
                                      </p:to>
                                    </p:set>
                                  </p:childTnLst>
                                </p:cTn>
                              </p:par>
                              <p:par>
                                <p:cTn id="92" presetID="1" presetClass="exit" presetSubtype="0" fill="hold" nodeType="withEffect">
                                  <p:stCondLst>
                                    <p:cond delay="0"/>
                                  </p:stCondLst>
                                  <p:childTnLst>
                                    <p:set>
                                      <p:cBhvr>
                                        <p:cTn id="93" dur="1" fill="hold">
                                          <p:stCondLst>
                                            <p:cond delay="0"/>
                                          </p:stCondLst>
                                        </p:cTn>
                                        <p:tgtEl>
                                          <p:spTgt spid="19"/>
                                        </p:tgtEl>
                                        <p:attrNameLst>
                                          <p:attrName>style.visibility</p:attrName>
                                        </p:attrNameLst>
                                      </p:cBhvr>
                                      <p:to>
                                        <p:strVal val="hidden"/>
                                      </p:to>
                                    </p:set>
                                  </p:childTnLst>
                                </p:cTn>
                              </p:par>
                              <p:par>
                                <p:cTn id="94" presetID="1" presetClass="exit" presetSubtype="0" fill="hold" nodeType="withEffect">
                                  <p:stCondLst>
                                    <p:cond delay="0"/>
                                  </p:stCondLst>
                                  <p:childTnLst>
                                    <p:set>
                                      <p:cBhvr>
                                        <p:cTn id="95" dur="1" fill="hold">
                                          <p:stCondLst>
                                            <p:cond delay="0"/>
                                          </p:stCondLst>
                                        </p:cTn>
                                        <p:tgtEl>
                                          <p:spTgt spid="20"/>
                                        </p:tgtEl>
                                        <p:attrNameLst>
                                          <p:attrName>style.visibility</p:attrName>
                                        </p:attrNameLst>
                                      </p:cBhvr>
                                      <p:to>
                                        <p:strVal val="hidden"/>
                                      </p:to>
                                    </p:set>
                                  </p:childTnLst>
                                </p:cTn>
                              </p:par>
                              <p:par>
                                <p:cTn id="96" presetID="1" presetClass="exit" presetSubtype="0" fill="hold" nodeType="withEffect">
                                  <p:stCondLst>
                                    <p:cond delay="0"/>
                                  </p:stCondLst>
                                  <p:childTnLst>
                                    <p:set>
                                      <p:cBhvr>
                                        <p:cTn id="97" dur="1" fill="hold">
                                          <p:stCondLst>
                                            <p:cond delay="0"/>
                                          </p:stCondLst>
                                        </p:cTn>
                                        <p:tgtEl>
                                          <p:spTgt spid="21"/>
                                        </p:tgtEl>
                                        <p:attrNameLst>
                                          <p:attrName>style.visibility</p:attrName>
                                        </p:attrNameLst>
                                      </p:cBhvr>
                                      <p:to>
                                        <p:strVal val="hidden"/>
                                      </p:to>
                                    </p:set>
                                  </p:childTnLst>
                                </p:cTn>
                              </p:par>
                              <p:par>
                                <p:cTn id="98" presetID="1" presetClass="exit" presetSubtype="0" fill="hold" nodeType="withEffect">
                                  <p:stCondLst>
                                    <p:cond delay="0"/>
                                  </p:stCondLst>
                                  <p:childTnLst>
                                    <p:set>
                                      <p:cBhvr>
                                        <p:cTn id="99" dur="1" fill="hold">
                                          <p:stCondLst>
                                            <p:cond delay="0"/>
                                          </p:stCondLst>
                                        </p:cTn>
                                        <p:tgtEl>
                                          <p:spTgt spid="22"/>
                                        </p:tgtEl>
                                        <p:attrNameLst>
                                          <p:attrName>style.visibility</p:attrName>
                                        </p:attrNameLst>
                                      </p:cBhvr>
                                      <p:to>
                                        <p:strVal val="hidden"/>
                                      </p:to>
                                    </p:set>
                                  </p:childTnLst>
                                </p:cTn>
                              </p:par>
                              <p:par>
                                <p:cTn id="100" presetID="1" presetClass="exit" presetSubtype="0" fill="hold" nodeType="withEffect">
                                  <p:stCondLst>
                                    <p:cond delay="0"/>
                                  </p:stCondLst>
                                  <p:childTnLst>
                                    <p:set>
                                      <p:cBhvr>
                                        <p:cTn id="101" dur="1" fill="hold">
                                          <p:stCondLst>
                                            <p:cond delay="0"/>
                                          </p:stCondLst>
                                        </p:cTn>
                                        <p:tgtEl>
                                          <p:spTgt spid="23"/>
                                        </p:tgtEl>
                                        <p:attrNameLst>
                                          <p:attrName>style.visibility</p:attrName>
                                        </p:attrNameLst>
                                      </p:cBhvr>
                                      <p:to>
                                        <p:strVal val="hidden"/>
                                      </p:to>
                                    </p:set>
                                  </p:childTnLst>
                                </p:cTn>
                              </p:par>
                              <p:par>
                                <p:cTn id="102" presetID="10" presetClass="entr" presetSubtype="0" fill="hold" nodeType="withEffect">
                                  <p:stCondLst>
                                    <p:cond delay="0"/>
                                  </p:stCondLst>
                                  <p:childTnLst>
                                    <p:set>
                                      <p:cBhvr>
                                        <p:cTn id="103" dur="1" fill="hold">
                                          <p:stCondLst>
                                            <p:cond delay="0"/>
                                          </p:stCondLst>
                                        </p:cTn>
                                        <p:tgtEl>
                                          <p:spTgt spid="24"/>
                                        </p:tgtEl>
                                        <p:attrNameLst>
                                          <p:attrName>style.visibility</p:attrName>
                                        </p:attrNameLst>
                                      </p:cBhvr>
                                      <p:to>
                                        <p:strVal val="visible"/>
                                      </p:to>
                                    </p:set>
                                    <p:animEffect transition="in" filter="fade">
                                      <p:cBhvr>
                                        <p:cTn id="104" dur="200" fill="hold"/>
                                        <p:tgtEl>
                                          <p:spTgt spid="24"/>
                                        </p:tgtEl>
                                      </p:cBhvr>
                                    </p:animEffect>
                                  </p:childTnLst>
                                </p:cTn>
                              </p:par>
                              <p:par>
                                <p:cTn id="105" presetID="10" presetClass="entr" presetSubtype="0" fill="hold" nodeType="withEffect">
                                  <p:stCondLst>
                                    <p:cond delay="0"/>
                                  </p:stCondLst>
                                  <p:childTnLst>
                                    <p:set>
                                      <p:cBhvr>
                                        <p:cTn id="106" dur="1" fill="hold">
                                          <p:stCondLst>
                                            <p:cond delay="0"/>
                                          </p:stCondLst>
                                        </p:cTn>
                                        <p:tgtEl>
                                          <p:spTgt spid="25"/>
                                        </p:tgtEl>
                                        <p:attrNameLst>
                                          <p:attrName>style.visibility</p:attrName>
                                        </p:attrNameLst>
                                      </p:cBhvr>
                                      <p:to>
                                        <p:strVal val="visible"/>
                                      </p:to>
                                    </p:set>
                                    <p:animEffect transition="in" filter="fade">
                                      <p:cBhvr>
                                        <p:cTn id="107" dur="200" fill="hold"/>
                                        <p:tgtEl>
                                          <p:spTgt spid="25"/>
                                        </p:tgtEl>
                                      </p:cBhvr>
                                    </p:animEffect>
                                  </p:childTnLst>
                                </p:cTn>
                              </p:par>
                              <p:par>
                                <p:cTn id="108" presetID="10" presetClass="entr" presetSubtype="0" fill="hold" nodeType="withEffect">
                                  <p:stCondLst>
                                    <p:cond delay="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200" fill="hold"/>
                                        <p:tgtEl>
                                          <p:spTgt spid="26"/>
                                        </p:tgtEl>
                                      </p:cBhvr>
                                    </p:animEffect>
                                  </p:childTnLst>
                                </p:cTn>
                              </p:par>
                              <p:par>
                                <p:cTn id="111" presetID="10" presetClass="entr" presetSubtype="0" fill="hold" nodeType="withEffect">
                                  <p:stCondLst>
                                    <p:cond delay="0"/>
                                  </p:stCondLst>
                                  <p:childTnLst>
                                    <p:set>
                                      <p:cBhvr>
                                        <p:cTn id="112" dur="1" fill="hold">
                                          <p:stCondLst>
                                            <p:cond delay="0"/>
                                          </p:stCondLst>
                                        </p:cTn>
                                        <p:tgtEl>
                                          <p:spTgt spid="27"/>
                                        </p:tgtEl>
                                        <p:attrNameLst>
                                          <p:attrName>style.visibility</p:attrName>
                                        </p:attrNameLst>
                                      </p:cBhvr>
                                      <p:to>
                                        <p:strVal val="visible"/>
                                      </p:to>
                                    </p:set>
                                    <p:animEffect transition="in" filter="fade">
                                      <p:cBhvr>
                                        <p:cTn id="113" dur="200" fill="hold"/>
                                        <p:tgtEl>
                                          <p:spTgt spid="27"/>
                                        </p:tgtEl>
                                      </p:cBhvr>
                                    </p:animEffect>
                                  </p:childTnLst>
                                </p:cTn>
                              </p:par>
                              <p:par>
                                <p:cTn id="114" presetID="10" presetClass="entr" presetSubtype="0" fill="hold" nodeType="withEffect">
                                  <p:stCondLst>
                                    <p:cond delay="0"/>
                                  </p:stCondLst>
                                  <p:childTnLst>
                                    <p:set>
                                      <p:cBhvr>
                                        <p:cTn id="115" dur="1" fill="hold">
                                          <p:stCondLst>
                                            <p:cond delay="0"/>
                                          </p:stCondLst>
                                        </p:cTn>
                                        <p:tgtEl>
                                          <p:spTgt spid="28"/>
                                        </p:tgtEl>
                                        <p:attrNameLst>
                                          <p:attrName>style.visibility</p:attrName>
                                        </p:attrNameLst>
                                      </p:cBhvr>
                                      <p:to>
                                        <p:strVal val="visible"/>
                                      </p:to>
                                    </p:set>
                                    <p:animEffect transition="in" filter="fade">
                                      <p:cBhvr>
                                        <p:cTn id="116" dur="200" fill="hold"/>
                                        <p:tgtEl>
                                          <p:spTgt spid="28"/>
                                        </p:tgtEl>
                                      </p:cBhvr>
                                    </p:animEffect>
                                  </p:childTnLst>
                                </p:cTn>
                              </p:par>
                              <p:par>
                                <p:cTn id="117" presetID="10" presetClass="entr" presetSubtype="0" fill="hold" nodeType="withEffect">
                                  <p:stCondLst>
                                    <p:cond delay="0"/>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200" fill="hold"/>
                                        <p:tgtEl>
                                          <p:spTgt spid="29"/>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30"/>
                                        </p:tgtEl>
                                        <p:attrNameLst>
                                          <p:attrName>style.visibility</p:attrName>
                                        </p:attrNameLst>
                                      </p:cBhvr>
                                      <p:to>
                                        <p:strVal val="visible"/>
                                      </p:to>
                                    </p:set>
                                    <p:animEffect transition="in" filter="fade">
                                      <p:cBhvr>
                                        <p:cTn id="124" dur="300" fill="hold"/>
                                        <p:tgtEl>
                                          <p:spTgt spid="30"/>
                                        </p:tgtEl>
                                      </p:cBhvr>
                                    </p:animEffect>
                                  </p:childTnLst>
                                </p:cTn>
                              </p:par>
                              <p:par>
                                <p:cTn id="125" presetID="10" presetClass="entr" presetSubtype="0" fill="hold" nodeType="withEffect">
                                  <p:stCondLst>
                                    <p:cond delay="0"/>
                                  </p:stCondLst>
                                  <p:childTnLst>
                                    <p:set>
                                      <p:cBhvr>
                                        <p:cTn id="126" dur="1" fill="hold">
                                          <p:stCondLst>
                                            <p:cond delay="0"/>
                                          </p:stCondLst>
                                        </p:cTn>
                                        <p:tgtEl>
                                          <p:spTgt spid="31"/>
                                        </p:tgtEl>
                                        <p:attrNameLst>
                                          <p:attrName>style.visibility</p:attrName>
                                        </p:attrNameLst>
                                      </p:cBhvr>
                                      <p:to>
                                        <p:strVal val="visible"/>
                                      </p:to>
                                    </p:set>
                                    <p:animEffect transition="in" filter="fade">
                                      <p:cBhvr>
                                        <p:cTn id="127" dur="300" fill="hold"/>
                                        <p:tgtEl>
                                          <p:spTgt spid="31"/>
                                        </p:tgtEl>
                                      </p:cBhvr>
                                    </p:animEffect>
                                  </p:childTnLst>
                                </p:cTn>
                              </p:par>
                              <p:par>
                                <p:cTn id="128" presetID="10" presetClass="entr" presetSubtype="0" fill="hold" nodeType="withEffect">
                                  <p:stCondLst>
                                    <p:cond delay="0"/>
                                  </p:stCondLst>
                                  <p:childTnLst>
                                    <p:set>
                                      <p:cBhvr>
                                        <p:cTn id="129" dur="1" fill="hold">
                                          <p:stCondLst>
                                            <p:cond delay="0"/>
                                          </p:stCondLst>
                                        </p:cTn>
                                        <p:tgtEl>
                                          <p:spTgt spid="32"/>
                                        </p:tgtEl>
                                        <p:attrNameLst>
                                          <p:attrName>style.visibility</p:attrName>
                                        </p:attrNameLst>
                                      </p:cBhvr>
                                      <p:to>
                                        <p:strVal val="visible"/>
                                      </p:to>
                                    </p:set>
                                    <p:animEffect transition="in" filter="fade">
                                      <p:cBhvr>
                                        <p:cTn id="130" dur="300" fill="hold"/>
                                        <p:tgtEl>
                                          <p:spTgt spid="32"/>
                                        </p:tgtEl>
                                      </p:cBhvr>
                                    </p:animEffect>
                                  </p:childTnLst>
                                </p:cTn>
                              </p:par>
                              <p:par>
                                <p:cTn id="131" presetID="10" presetClass="entr" presetSubtype="0" fill="hold" nodeType="withEffect">
                                  <p:stCondLst>
                                    <p:cond delay="0"/>
                                  </p:stCondLst>
                                  <p:childTnLst>
                                    <p:set>
                                      <p:cBhvr>
                                        <p:cTn id="132" dur="1" fill="hold">
                                          <p:stCondLst>
                                            <p:cond delay="0"/>
                                          </p:stCondLst>
                                        </p:cTn>
                                        <p:tgtEl>
                                          <p:spTgt spid="33"/>
                                        </p:tgtEl>
                                        <p:attrNameLst>
                                          <p:attrName>style.visibility</p:attrName>
                                        </p:attrNameLst>
                                      </p:cBhvr>
                                      <p:to>
                                        <p:strVal val="visible"/>
                                      </p:to>
                                    </p:set>
                                    <p:animEffect transition="in" filter="fade">
                                      <p:cBhvr>
                                        <p:cTn id="133" dur="300" fill="hold"/>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 name="!!area-header">
            <a:extLst xmlns:a="http://schemas.openxmlformats.org/drawingml/2006/main">
              <a:ext uri="{FF2B5EF4-FFF2-40B4-BE49-F238E27FC236}">
                <a16:creationId xmlns:a16="http://schemas.microsoft.com/office/drawing/2014/main" id="{1D188B38-DF01-4160-AFF0-63EF0E1D49B0}"/>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1CB73872-8E50-4835-90EB-5A898BC6F212}"/>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3" name="!!area-beat">
            <a:extLst xmlns:a="http://schemas.openxmlformats.org/drawingml/2006/main">
              <a:ext uri="{FF2B5EF4-FFF2-40B4-BE49-F238E27FC236}">
                <a16:creationId xmlns:a16="http://schemas.microsoft.com/office/drawing/2014/main" id="{AE3B8EC3-6FCC-4F43-8778-80D25C80E4F9}"/>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header-divider">
            <a:extLst xmlns:a="http://schemas.openxmlformats.org/drawingml/2006/main">
              <a:ext uri="{FF2B5EF4-FFF2-40B4-BE49-F238E27FC236}">
                <a16:creationId xmlns:a16="http://schemas.microsoft.com/office/drawing/2014/main" id="{C4EC0BDC-D259-41AA-9323-DB9470FEDF8E}"/>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14-shape-1">
            <a:extLst xmlns:a="http://schemas.openxmlformats.org/drawingml/2006/main">
              <a:ext uri="{FF2B5EF4-FFF2-40B4-BE49-F238E27FC236}">
                <a16:creationId xmlns:a16="http://schemas.microsoft.com/office/drawing/2014/main" id="{1DA430A4-331E-4D5C-82E6-5A4920A6A87E}"/>
              </a:ext>
            </a:extLst>
          </p:cNvPr>
          <p:cNvSpPr>
            <a:spLocks xmlns:a="http://schemas.openxmlformats.org/drawingml/2006/main"/>
          </p:cNvSpPr>
          <p:nvPr/>
        </p:nvSpPr>
        <p:spPr>
          <a:xfrm xmlns:a="http://schemas.openxmlformats.org/drawingml/2006/main">
            <a:off x="6096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6" name="14-text-2">
            <a:extLst xmlns:a="http://schemas.openxmlformats.org/drawingml/2006/main">
              <a:ext uri="{FF2B5EF4-FFF2-40B4-BE49-F238E27FC236}">
                <a16:creationId xmlns:a16="http://schemas.microsoft.com/office/drawing/2014/main" id="{5F60133F-F236-46FD-AC8E-B02E4E52753A}"/>
              </a:ext>
            </a:extLst>
          </p:cNvPr>
          <p:cNvSpPr>
            <a:spLocks xmlns:a="http://schemas.openxmlformats.org/drawingml/2006/main"/>
          </p:cNvSpPr>
          <p:nvPr/>
        </p:nvSpPr>
        <p:spPr>
          <a:xfrm xmlns:a="http://schemas.openxmlformats.org/drawingml/2006/main">
            <a:off x="7620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/plan</a:t>
            </a:r>
          </a:p>
        </p:txBody>
      </p:sp>
      <p:sp>
        <p:nvSpPr>
          <p:cNvPr id="7" name="14-shape-3">
            <a:extLst xmlns:a="http://schemas.openxmlformats.org/drawingml/2006/main">
              <a:ext uri="{FF2B5EF4-FFF2-40B4-BE49-F238E27FC236}">
                <a16:creationId xmlns:a16="http://schemas.microsoft.com/office/drawing/2014/main" id="{06B9DE18-1F6C-4AC3-82F9-CFD97906E333}"/>
              </a:ext>
            </a:extLst>
          </p:cNvPr>
          <p:cNvSpPr>
            <a:spLocks xmlns:a="http://schemas.openxmlformats.org/drawingml/2006/main"/>
          </p:cNvSpPr>
          <p:nvPr/>
        </p:nvSpPr>
        <p:spPr>
          <a:xfrm xmlns:a="http://schemas.openxmlformats.org/drawingml/2006/main">
            <a:off x="1714500" y="2082800"/>
            <a:ext cx="1485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8" name="14-text-4">
            <a:extLst xmlns:a="http://schemas.openxmlformats.org/drawingml/2006/main">
              <a:ext uri="{FF2B5EF4-FFF2-40B4-BE49-F238E27FC236}">
                <a16:creationId xmlns:a16="http://schemas.microsoft.com/office/drawing/2014/main" id="{3B664C65-2776-47E2-857E-1BF036B29A75}"/>
              </a:ext>
            </a:extLst>
          </p:cNvPr>
          <p:cNvSpPr>
            <a:spLocks xmlns:a="http://schemas.openxmlformats.org/drawingml/2006/main"/>
          </p:cNvSpPr>
          <p:nvPr/>
        </p:nvSpPr>
        <p:spPr>
          <a:xfrm xmlns:a="http://schemas.openxmlformats.org/drawingml/2006/main">
            <a:off x="1866900" y="2120900"/>
            <a:ext cx="1181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subagents</a:t>
            </a:r>
          </a:p>
        </p:txBody>
      </p:sp>
      <p:sp>
        <p:nvSpPr>
          <p:cNvPr id="9" name="14-shape-5">
            <a:extLst xmlns:a="http://schemas.openxmlformats.org/drawingml/2006/main">
              <a:ext uri="{FF2B5EF4-FFF2-40B4-BE49-F238E27FC236}">
                <a16:creationId xmlns:a16="http://schemas.microsoft.com/office/drawing/2014/main" id="{01CACD76-4C3D-4DED-924B-09500CFB1175}"/>
              </a:ext>
            </a:extLst>
          </p:cNvPr>
          <p:cNvSpPr>
            <a:spLocks xmlns:a="http://schemas.openxmlformats.org/drawingml/2006/main"/>
          </p:cNvSpPr>
          <p:nvPr/>
        </p:nvSpPr>
        <p:spPr>
          <a:xfrm xmlns:a="http://schemas.openxmlformats.org/drawingml/2006/main">
            <a:off x="3302000" y="2082800"/>
            <a:ext cx="990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 name="14-text-6">
            <a:extLst xmlns:a="http://schemas.openxmlformats.org/drawingml/2006/main">
              <a:ext uri="{FF2B5EF4-FFF2-40B4-BE49-F238E27FC236}">
                <a16:creationId xmlns:a16="http://schemas.microsoft.com/office/drawing/2014/main" id="{C203EF08-1D0E-4A0A-B540-4EB587012B9A}"/>
              </a:ext>
            </a:extLst>
          </p:cNvPr>
          <p:cNvSpPr>
            <a:spLocks xmlns:a="http://schemas.openxmlformats.org/drawingml/2006/main"/>
          </p:cNvSpPr>
          <p:nvPr/>
        </p:nvSpPr>
        <p:spPr>
          <a:xfrm xmlns:a="http://schemas.openxmlformats.org/drawingml/2006/main">
            <a:off x="3454400" y="2120900"/>
            <a:ext cx="685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hooks</a:t>
            </a:r>
          </a:p>
        </p:txBody>
      </p:sp>
      <p:sp>
        <p:nvSpPr>
          <p:cNvPr id="11" name="14-shape-7">
            <a:extLst xmlns:a="http://schemas.openxmlformats.org/drawingml/2006/main">
              <a:ext uri="{FF2B5EF4-FFF2-40B4-BE49-F238E27FC236}">
                <a16:creationId xmlns:a16="http://schemas.microsoft.com/office/drawing/2014/main" id="{6BBF4DE7-5976-4784-B79D-BC875B919084}"/>
              </a:ext>
            </a:extLst>
          </p:cNvPr>
          <p:cNvSpPr>
            <a:spLocks xmlns:a="http://schemas.openxmlformats.org/drawingml/2006/main"/>
          </p:cNvSpPr>
          <p:nvPr/>
        </p:nvSpPr>
        <p:spPr>
          <a:xfrm xmlns:a="http://schemas.openxmlformats.org/drawingml/2006/main">
            <a:off x="4394200" y="2082800"/>
            <a:ext cx="14224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12" name="14-text-8">
            <a:extLst xmlns:a="http://schemas.openxmlformats.org/drawingml/2006/main">
              <a:ext uri="{FF2B5EF4-FFF2-40B4-BE49-F238E27FC236}">
                <a16:creationId xmlns:a16="http://schemas.microsoft.com/office/drawing/2014/main" id="{CAE8876B-8502-4ECE-9809-E7B1CE9DE665}"/>
              </a:ext>
            </a:extLst>
          </p:cNvPr>
          <p:cNvSpPr>
            <a:spLocks xmlns:a="http://schemas.openxmlformats.org/drawingml/2006/main"/>
          </p:cNvSpPr>
          <p:nvPr/>
        </p:nvSpPr>
        <p:spPr>
          <a:xfrm xmlns:a="http://schemas.openxmlformats.org/drawingml/2006/main">
            <a:off x="4546600" y="2120900"/>
            <a:ext cx="111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/compact</a:t>
            </a:r>
          </a:p>
        </p:txBody>
      </p:sp>
      <p:sp>
        <p:nvSpPr>
          <p:cNvPr id="13" name="14-shape-9">
            <a:extLst xmlns:a="http://schemas.openxmlformats.org/drawingml/2006/main">
              <a:ext uri="{FF2B5EF4-FFF2-40B4-BE49-F238E27FC236}">
                <a16:creationId xmlns:a16="http://schemas.microsoft.com/office/drawing/2014/main" id="{8C3FD601-DC09-4D44-9B82-D3242B00406F}"/>
              </a:ext>
            </a:extLst>
          </p:cNvPr>
          <p:cNvSpPr>
            <a:spLocks xmlns:a="http://schemas.openxmlformats.org/drawingml/2006/main"/>
          </p:cNvSpPr>
          <p:nvPr/>
        </p:nvSpPr>
        <p:spPr>
          <a:xfrm xmlns:a="http://schemas.openxmlformats.org/drawingml/2006/main">
            <a:off x="5918200" y="2082800"/>
            <a:ext cx="12827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14" name="14-text-10">
            <a:extLst xmlns:a="http://schemas.openxmlformats.org/drawingml/2006/main">
              <a:ext uri="{FF2B5EF4-FFF2-40B4-BE49-F238E27FC236}">
                <a16:creationId xmlns:a16="http://schemas.microsoft.com/office/drawing/2014/main" id="{7B97CC4C-97DE-4235-9F5C-30746784E840}"/>
              </a:ext>
            </a:extLst>
          </p:cNvPr>
          <p:cNvSpPr>
            <a:spLocks xmlns:a="http://schemas.openxmlformats.org/drawingml/2006/main"/>
          </p:cNvSpPr>
          <p:nvPr/>
        </p:nvSpPr>
        <p:spPr>
          <a:xfrm xmlns:a="http://schemas.openxmlformats.org/drawingml/2006/main">
            <a:off x="6070600" y="2120900"/>
            <a:ext cx="977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/resume</a:t>
            </a:r>
          </a:p>
        </p:txBody>
      </p:sp>
      <p:sp>
        <p:nvSpPr>
          <p:cNvPr id="15" name="14-shape-11">
            <a:extLst xmlns:a="http://schemas.openxmlformats.org/drawingml/2006/main">
              <a:ext uri="{FF2B5EF4-FFF2-40B4-BE49-F238E27FC236}">
                <a16:creationId xmlns:a16="http://schemas.microsoft.com/office/drawing/2014/main" id="{E2A77366-02B7-440E-B818-D83C0D50BF58}"/>
              </a:ext>
            </a:extLst>
          </p:cNvPr>
          <p:cNvSpPr>
            <a:spLocks xmlns:a="http://schemas.openxmlformats.org/drawingml/2006/main"/>
          </p:cNvSpPr>
          <p:nvPr/>
        </p:nvSpPr>
        <p:spPr>
          <a:xfrm xmlns:a="http://schemas.openxmlformats.org/drawingml/2006/main">
            <a:off x="73025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16" name="14-text-12">
            <a:extLst xmlns:a="http://schemas.openxmlformats.org/drawingml/2006/main">
              <a:ext uri="{FF2B5EF4-FFF2-40B4-BE49-F238E27FC236}">
                <a16:creationId xmlns:a16="http://schemas.microsoft.com/office/drawing/2014/main" id="{FCFF12F5-0B0F-4987-8D72-D6A2FC7D659D}"/>
              </a:ext>
            </a:extLst>
          </p:cNvPr>
          <p:cNvSpPr>
            <a:spLocks xmlns:a="http://schemas.openxmlformats.org/drawingml/2006/main"/>
          </p:cNvSpPr>
          <p:nvPr/>
        </p:nvSpPr>
        <p:spPr>
          <a:xfrm xmlns:a="http://schemas.openxmlformats.org/drawingml/2006/main">
            <a:off x="74549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/fork</a:t>
            </a:r>
          </a:p>
        </p:txBody>
      </p:sp>
      <p:sp>
        <p:nvSpPr>
          <p:cNvPr id="17" name="14-text-13">
            <a:extLst xmlns:a="http://schemas.openxmlformats.org/drawingml/2006/main">
              <a:ext uri="{FF2B5EF4-FFF2-40B4-BE49-F238E27FC236}">
                <a16:creationId xmlns:a16="http://schemas.microsoft.com/office/drawing/2014/main" id="{1223ED0A-5CD8-46C8-85CD-DEDBFAA4B89C}"/>
              </a:ext>
            </a:extLst>
          </p:cNvPr>
          <p:cNvSpPr>
            <a:spLocks xmlns:a="http://schemas.openxmlformats.org/drawingml/2006/main"/>
          </p:cNvSpPr>
          <p:nvPr/>
        </p:nvSpPr>
        <p:spPr>
          <a:xfrm xmlns:a="http://schemas.openxmlformats.org/drawingml/2006/main">
            <a:off x="3810000" y="3022600"/>
            <a:ext cx="4572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gather context</a:t>
            </a:r>
          </a:p>
        </p:txBody>
      </p:sp>
      <p:sp>
        <p:nvSpPr>
          <p:cNvPr id="18" name="14-text-14">
            <a:extLst xmlns:a="http://schemas.openxmlformats.org/drawingml/2006/main">
              <a:ext uri="{FF2B5EF4-FFF2-40B4-BE49-F238E27FC236}">
                <a16:creationId xmlns:a16="http://schemas.microsoft.com/office/drawing/2014/main" id="{B0D85E1D-5F06-43A5-A3DB-0FEE66F71100}"/>
              </a:ext>
            </a:extLst>
          </p:cNvPr>
          <p:cNvSpPr>
            <a:spLocks xmlns:a="http://schemas.openxmlformats.org/drawingml/2006/main"/>
          </p:cNvSpPr>
          <p:nvPr/>
        </p:nvSpPr>
        <p:spPr>
          <a:xfrm xmlns:a="http://schemas.openxmlformats.org/drawingml/2006/main">
            <a:off x="7289800" y="48133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take action</a:t>
            </a:r>
          </a:p>
        </p:txBody>
      </p:sp>
      <p:sp>
        <p:nvSpPr>
          <p:cNvPr id="19" name="14-text-15">
            <a:extLst xmlns:a="http://schemas.openxmlformats.org/drawingml/2006/main">
              <a:ext uri="{FF2B5EF4-FFF2-40B4-BE49-F238E27FC236}">
                <a16:creationId xmlns:a16="http://schemas.microsoft.com/office/drawing/2014/main" id="{58FDEA85-CF38-443C-A96D-BFC1B8496E4D}"/>
              </a:ext>
            </a:extLst>
          </p:cNvPr>
          <p:cNvSpPr>
            <a:spLocks xmlns:a="http://schemas.openxmlformats.org/drawingml/2006/main"/>
          </p:cNvSpPr>
          <p:nvPr/>
        </p:nvSpPr>
        <p:spPr>
          <a:xfrm xmlns:a="http://schemas.openxmlformats.org/drawingml/2006/main">
            <a:off x="2260600" y="4813300"/>
            <a:ext cx="228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20" name="14-line-17">
            <a:extLst xmlns:a="http://schemas.openxmlformats.org/drawingml/2006/main">
              <a:ext uri="{FF2B5EF4-FFF2-40B4-BE49-F238E27FC236}">
                <a16:creationId xmlns:a16="http://schemas.microsoft.com/office/drawing/2014/main" id="{4D24B5D3-EB72-4F3E-A9B1-FEC218D83DA3}"/>
              </a:ext>
            </a:extLst>
          </p:cNvPr>
          <p:cNvSpPr>
            <a:spLocks xmlns:a="http://schemas.openxmlformats.org/drawingml/2006/main"/>
          </p:cNvSpPr>
          <p:nvPr/>
        </p:nvSpPr>
        <p:spPr>
          <a:xfrm xmlns:a="http://schemas.openxmlformats.org/drawingml/2006/main" flipH="0" flipV="0">
            <a:off x="7035800" y="3556000"/>
            <a:ext cx="1028700" cy="8509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1" name="14-line-19">
            <a:extLst xmlns:a="http://schemas.openxmlformats.org/drawingml/2006/main">
              <a:ext uri="{FF2B5EF4-FFF2-40B4-BE49-F238E27FC236}">
                <a16:creationId xmlns:a16="http://schemas.microsoft.com/office/drawing/2014/main" id="{A12F5968-E578-4196-9E4A-37CC09AFFC10}"/>
              </a:ext>
            </a:extLst>
          </p:cNvPr>
          <p:cNvSpPr>
            <a:spLocks xmlns:a="http://schemas.openxmlformats.org/drawingml/2006/main"/>
          </p:cNvSpPr>
          <p:nvPr/>
        </p:nvSpPr>
        <p:spPr>
          <a:xfrm xmlns:a="http://schemas.openxmlformats.org/drawingml/2006/main" flipH="1" flipV="0">
            <a:off x="4597400" y="5092700"/>
            <a:ext cx="2565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2" name="14-line-21">
            <a:extLst xmlns:a="http://schemas.openxmlformats.org/drawingml/2006/main">
              <a:ext uri="{FF2B5EF4-FFF2-40B4-BE49-F238E27FC236}">
                <a16:creationId xmlns:a16="http://schemas.microsoft.com/office/drawing/2014/main" id="{32E94608-679F-4057-A97F-5519299A2B6D}"/>
              </a:ext>
            </a:extLst>
          </p:cNvPr>
          <p:cNvSpPr>
            <a:spLocks xmlns:a="http://schemas.openxmlformats.org/drawingml/2006/main"/>
          </p:cNvSpPr>
          <p:nvPr/>
        </p:nvSpPr>
        <p:spPr>
          <a:xfrm xmlns:a="http://schemas.openxmlformats.org/drawingml/2006/main" flipH="0" flipV="1">
            <a:off x="3644900" y="3556000"/>
            <a:ext cx="1270000" cy="8890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Tree>
    <p:extLst>
      <p:ext uri="{BB962C8B-B14F-4D97-AF65-F5344CB8AC3E}">
        <p14:creationId xmlns:p14="http://schemas.microsoft.com/office/powerpoint/2010/main" val="158346192"/>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area-name">
            <a:extLst xmlns:a="http://schemas.openxmlformats.org/drawingml/2006/main">
              <a:ext uri="{FF2B5EF4-FFF2-40B4-BE49-F238E27FC236}">
                <a16:creationId xmlns:a16="http://schemas.microsoft.com/office/drawing/2014/main" id="{843E0D0F-2300-4E67-93F4-0C14D7EEC13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1" name="mini-map"/>
          <p:cNvPicPr>
            <a:picLocks xmlns:a="http://schemas.openxmlformats.org/drawingml/2006/main" noChangeAspect="1"/>
          </p:cNvPicPr>
          <p:nvPr/>
        </p:nvPicPr>
        <p:blipFill>
          <a:blip xmlns:r="http://schemas.openxmlformats.org/officeDocument/2006/relationships" xmlns:a="http://schemas.openxmlformats.org/drawingml/2006/main" r:embed="R50a6084f1a6f411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1AB357F2-0971-4D9B-A39A-B41EABBDB4D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14b-text-1">
            <a:extLst xmlns:a="http://schemas.openxmlformats.org/drawingml/2006/main">
              <a:ext uri="{FF2B5EF4-FFF2-40B4-BE49-F238E27FC236}">
                <a16:creationId xmlns:a16="http://schemas.microsoft.com/office/drawing/2014/main" id="{67056F8A-A18B-4CA9-9751-AA599117D379}"/>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5" name="14b-text-2">
            <a:extLst xmlns:a="http://schemas.openxmlformats.org/drawingml/2006/main">
              <a:ext uri="{FF2B5EF4-FFF2-40B4-BE49-F238E27FC236}">
                <a16:creationId xmlns:a16="http://schemas.microsoft.com/office/drawing/2014/main" id="{AF8758DF-AACA-4390-8AA3-22527F9A4155}"/>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loop's decisions:</a:t>
            </a:r>
          </a:p>
        </p:txBody>
      </p:sp>
      <p:sp>
        <p:nvSpPr>
          <p:cNvPr id="6" name="14b-text-3">
            <a:extLst xmlns:a="http://schemas.openxmlformats.org/drawingml/2006/main">
              <a:ext uri="{FF2B5EF4-FFF2-40B4-BE49-F238E27FC236}">
                <a16:creationId xmlns:a16="http://schemas.microsoft.com/office/drawing/2014/main" id="{7E7EC94A-4BA4-4C84-9626-6BE61A756183}"/>
              </a:ext>
            </a:extLst>
          </p:cNvPr>
          <p:cNvSpPr>
            <a:spLocks xmlns:a="http://schemas.openxmlformats.org/drawingml/2006/main"/>
          </p:cNvSpPr>
          <p:nvPr/>
        </p:nvSpPr>
        <p:spPr>
          <a:xfrm xmlns:a="http://schemas.openxmlformats.org/drawingml/2006/main">
            <a:off x="609600" y="29718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stop.</a:t>
            </a:r>
          </a:p>
        </p:txBody>
      </p:sp>
      <p:sp>
        <p:nvSpPr>
          <p:cNvPr id="7" name="14b-text-4">
            <a:extLst xmlns:a="http://schemas.openxmlformats.org/drawingml/2006/main">
              <a:ext uri="{FF2B5EF4-FFF2-40B4-BE49-F238E27FC236}">
                <a16:creationId xmlns:a16="http://schemas.microsoft.com/office/drawing/2014/main" id="{511EBC1B-5D87-416D-B92C-C9240A68EF3A}"/>
              </a:ext>
            </a:extLst>
          </p:cNvPr>
          <p:cNvSpPr>
            <a:spLocks xmlns:a="http://schemas.openxmlformats.org/drawingml/2006/main"/>
          </p:cNvSpPr>
          <p:nvPr/>
        </p:nvSpPr>
        <p:spPr>
          <a:xfrm xmlns:a="http://schemas.openxmlformats.org/drawingml/2006/main">
            <a:off x="609600" y="35814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carries between turns.</a:t>
            </a:r>
          </a:p>
        </p:txBody>
      </p:sp>
      <p:sp>
        <p:nvSpPr>
          <p:cNvPr id="8" name="14b-text-5">
            <a:extLst xmlns:a="http://schemas.openxmlformats.org/drawingml/2006/main">
              <a:ext uri="{FF2B5EF4-FFF2-40B4-BE49-F238E27FC236}">
                <a16:creationId xmlns:a16="http://schemas.microsoft.com/office/drawing/2014/main" id="{C2DF2886-AE77-4F5B-9ED1-8865D51A67C4}"/>
              </a:ext>
            </a:extLst>
          </p:cNvPr>
          <p:cNvSpPr>
            <a:spLocks xmlns:a="http://schemas.openxmlformats.org/drawingml/2006/main"/>
          </p:cNvSpPr>
          <p:nvPr/>
        </p:nvSpPr>
        <p:spPr>
          <a:xfrm xmlns:a="http://schemas.openxmlformats.org/drawingml/2006/main">
            <a:off x="609600" y="419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compact.</a:t>
            </a:r>
          </a:p>
        </p:txBody>
      </p:sp>
      <p:sp>
        <p:nvSpPr>
          <p:cNvPr id="9" name="14b-text-6">
            <a:extLst xmlns:a="http://schemas.openxmlformats.org/drawingml/2006/main">
              <a:ext uri="{FF2B5EF4-FFF2-40B4-BE49-F238E27FC236}">
                <a16:creationId xmlns:a16="http://schemas.microsoft.com/office/drawing/2014/main" id="{D99AEB86-6453-4B3D-A55B-9C30EBA746EB}"/>
              </a:ext>
            </a:extLst>
          </p:cNvPr>
          <p:cNvSpPr>
            <a:spLocks xmlns:a="http://schemas.openxmlformats.org/drawingml/2006/main"/>
          </p:cNvSpPr>
          <p:nvPr/>
        </p:nvSpPr>
        <p:spPr>
          <a:xfrm xmlns:a="http://schemas.openxmlformats.org/drawingml/2006/main">
            <a:off x="609600" y="4800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spawn a subagent, and what to hand it.</a:t>
            </a:r>
          </a:p>
        </p:txBody>
      </p:sp>
      <p:sp>
        <p:nvSpPr>
          <p:cNvPr id="10" name="14b-text-7">
            <a:extLst xmlns:a="http://schemas.openxmlformats.org/drawingml/2006/main">
              <a:ext uri="{FF2B5EF4-FFF2-40B4-BE49-F238E27FC236}">
                <a16:creationId xmlns:a16="http://schemas.microsoft.com/office/drawing/2014/main" id="{1935AA06-A0E1-45EA-8E6E-20880CAB4B35}"/>
              </a:ext>
            </a:extLst>
          </p:cNvPr>
          <p:cNvSpPr>
            <a:spLocks xmlns:a="http://schemas.openxmlformats.org/drawingml/2006/main"/>
          </p:cNvSpPr>
          <p:nvPr/>
        </p:nvSpPr>
        <p:spPr>
          <a:xfrm xmlns:a="http://schemas.openxmlformats.org/drawingml/2006/main">
            <a:off x="609600" y="5410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Where a hook fires.</a:t>
            </a:r>
          </a:p>
        </p:txBody>
      </p:sp>
      <p:sp>
        <p:nvSpPr>
          <p:cNvPr id="11" name="14b-text-8">
            <a:extLst xmlns:a="http://schemas.openxmlformats.org/drawingml/2006/main">
              <a:ext uri="{FF2B5EF4-FFF2-40B4-BE49-F238E27FC236}">
                <a16:creationId xmlns:a16="http://schemas.microsoft.com/office/drawing/2014/main" id="{884EE00F-051A-4212-AEA9-45DEB82B019F}"/>
              </a:ext>
            </a:extLst>
          </p:cNvPr>
          <p:cNvSpPr>
            <a:spLocks xmlns:a="http://schemas.openxmlformats.org/drawingml/2006/main"/>
          </p:cNvSpPr>
          <p:nvPr/>
        </p:nvSpPr>
        <p:spPr>
          <a:xfrm xmlns:a="http://schemas.openxmlformats.org/drawingml/2006/main">
            <a:off x="609600" y="2438400"/>
            <a:ext cx="10972800" cy="210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 great harness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beats a great model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a bad harness."</a:t>
            </a:r>
          </a:p>
        </p:txBody>
      </p:sp>
      <p:sp>
        <p:nvSpPr>
          <p:cNvPr id="12" name="14b-text-9">
            <a:extLst xmlns:a="http://schemas.openxmlformats.org/drawingml/2006/main">
              <a:ext uri="{FF2B5EF4-FFF2-40B4-BE49-F238E27FC236}">
                <a16:creationId xmlns:a16="http://schemas.microsoft.com/office/drawing/2014/main" id="{B471A702-AF69-43D3-BB5B-C4B8D33CA2EC}"/>
              </a:ext>
            </a:extLst>
          </p:cNvPr>
          <p:cNvSpPr>
            <a:spLocks xmlns:a="http://schemas.openxmlformats.org/drawingml/2006/main"/>
          </p:cNvSpPr>
          <p:nvPr/>
        </p:nvSpPr>
        <p:spPr>
          <a:xfrm xmlns:a="http://schemas.openxmlformats.org/drawingml/2006/main">
            <a:off x="609600" y="4572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Addy Osmani, April 2026</a:t>
            </a:r>
          </a:p>
        </p:txBody>
      </p:sp>
      <p:sp>
        <p:nvSpPr>
          <p:cNvPr id="13" name="14b-text-10">
            <a:extLst xmlns:a="http://schemas.openxmlformats.org/drawingml/2006/main">
              <a:ext uri="{FF2B5EF4-FFF2-40B4-BE49-F238E27FC236}">
                <a16:creationId xmlns:a16="http://schemas.microsoft.com/office/drawing/2014/main" id="{EC3219EB-A4A8-4606-B175-15C89563FD0B}"/>
              </a:ext>
            </a:extLst>
          </p:cNvPr>
          <p:cNvSpPr>
            <a:spLocks xmlns:a="http://schemas.openxmlformats.org/drawingml/2006/main"/>
          </p:cNvSpPr>
          <p:nvPr/>
        </p:nvSpPr>
        <p:spPr>
          <a:xfrm xmlns:a="http://schemas.openxmlformats.org/drawingml/2006/main">
            <a:off x="609600" y="5105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Same model, better loop: 13% to 38% on ARC-AGI-3,</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 six times fewer output tokens.</a:t>
            </a:r>
          </a:p>
        </p:txBody>
      </p:sp>
      <p:sp>
        <p:nvSpPr>
          <p:cNvPr id="14" name="14b-text-11">
            <a:extLst xmlns:a="http://schemas.openxmlformats.org/drawingml/2006/main">
              <a:ext uri="{FF2B5EF4-FFF2-40B4-BE49-F238E27FC236}">
                <a16:creationId xmlns:a16="http://schemas.microsoft.com/office/drawing/2014/main" id="{8635E127-A42E-47ED-88F1-2F683ECAF3E7}"/>
              </a:ext>
            </a:extLst>
          </p:cNvPr>
          <p:cNvSpPr>
            <a:spLocks xmlns:a="http://schemas.openxmlformats.org/drawingml/2006/main"/>
          </p:cNvSpPr>
          <p:nvPr/>
        </p:nvSpPr>
        <p:spPr>
          <a:xfrm xmlns:a="http://schemas.openxmlformats.org/drawingml/2006/main">
            <a:off x="609600" y="2438400"/>
            <a:ext cx="10972800" cy="195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Over-ambition:</a:t>
            </a:r>
            <a:r>
              <a:rPr b="0">
                <a:solidFill>
                  <a:srgbClr val="FFFCF5"/>
                </a:solidFill>
                <a:latin typeface="Helvetica"/>
                <a:ea typeface="Helvetica"/>
                <a:cs typeface="Helvetica"/>
              </a:rPr>
              <a:t> try to one-shot the whole app.</a:t>
            </a:r>
          </a:p>
          <a:p xmlns:a="http://schemas.openxmlformats.org/drawingml/2006/main">
            <a:pPr algn="l">
              <a:lnSpc>
                <a:spcPct val="125000"/>
              </a:lnSpc>
              <a:defRPr sz="2400" b="0">
                <a:solidFill>
                  <a:srgbClr val="FFFCF5"/>
                </a:solidFill>
                <a:latin typeface="Helvetica"/>
                <a:ea typeface="Helvetica"/>
                <a:cs typeface="Helvetica"/>
              </a:defRPr>
            </a:pP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Premature completion:</a:t>
            </a:r>
            <a:r>
              <a:rPr b="0">
                <a:solidFill>
                  <a:srgbClr val="FFFCF5"/>
                </a:solidFill>
                <a:latin typeface="Helvetica"/>
                <a:ea typeface="Helvetica"/>
                <a:cs typeface="Helvetica"/>
              </a:rPr>
              <a:t> see progress, declare the job done.</a:t>
            </a:r>
          </a:p>
        </p:txBody>
      </p:sp>
      <p:sp>
        <p:nvSpPr>
          <p:cNvPr id="15" name="14b-text-12">
            <a:extLst xmlns:a="http://schemas.openxmlformats.org/drawingml/2006/main">
              <a:ext uri="{FF2B5EF4-FFF2-40B4-BE49-F238E27FC236}">
                <a16:creationId xmlns:a16="http://schemas.microsoft.com/office/drawing/2014/main" id="{F56AB776-C45E-42E6-8531-C79488E94A82}"/>
              </a:ext>
            </a:extLst>
          </p:cNvPr>
          <p:cNvSpPr>
            <a:spLocks xmlns:a="http://schemas.openxmlformats.org/drawingml/2006/main"/>
          </p:cNvSpPr>
          <p:nvPr/>
        </p:nvSpPr>
        <p:spPr>
          <a:xfrm xmlns:a="http://schemas.openxmlformats.org/drawingml/2006/main">
            <a:off x="609600" y="457200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fix: an initializer, a feature list, a progress file,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feature per session, and protected acceptance criteria.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Faulty or obsolete tests may change through review.</a:t>
            </a:r>
          </a:p>
        </p:txBody>
      </p:sp>
      <p:sp>
        <p:nvSpPr>
          <p:cNvPr id="16" name="14b-text-13">
            <a:extLst xmlns:a="http://schemas.openxmlformats.org/drawingml/2006/main">
              <a:ext uri="{FF2B5EF4-FFF2-40B4-BE49-F238E27FC236}">
                <a16:creationId xmlns:a16="http://schemas.microsoft.com/office/drawing/2014/main" id="{08FA5104-99D7-42D7-86CE-1819191085C2}"/>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Internal research eval: </a:t>
            </a:r>
            <a:r>
              <a:rPr b="1">
                <a:solidFill>
                  <a:srgbClr val="FFFCF5"/>
                </a:solidFill>
                <a:latin typeface="Helvetica"/>
                <a:ea typeface="Helvetica"/>
                <a:cs typeface="Helvetica"/>
              </a:rPr>
              <a:t>90.2% improvement</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over the single-agent research system.</a:t>
            </a:r>
          </a:p>
        </p:txBody>
      </p:sp>
      <p:sp>
        <p:nvSpPr>
          <p:cNvPr id="17" name="14b-text-14">
            <a:extLst xmlns:a="http://schemas.openxmlformats.org/drawingml/2006/main">
              <a:ext uri="{FF2B5EF4-FFF2-40B4-BE49-F238E27FC236}">
                <a16:creationId xmlns:a16="http://schemas.microsoft.com/office/drawing/2014/main" id="{223EED6F-B559-4097-91A5-11E1C84930A0}"/>
              </a:ext>
            </a:extLst>
          </p:cNvPr>
          <p:cNvSpPr>
            <a:spLocks xmlns:a="http://schemas.openxmlformats.org/drawingml/2006/main"/>
          </p:cNvSpPr>
          <p:nvPr/>
        </p:nvSpPr>
        <p:spPr>
          <a:xfrm xmlns:a="http://schemas.openxmlformats.org/drawingml/2006/main">
            <a:off x="609600" y="37338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Separate token comparison:</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multi-agent systems used about </a:t>
            </a:r>
            <a:r>
              <a:rPr b="1">
                <a:solidFill>
                  <a:srgbClr val="FFFCF5"/>
                </a:solidFill>
                <a:latin typeface="Helvetica"/>
                <a:ea typeface="Helvetica"/>
                <a:cs typeface="Helvetica"/>
              </a:rPr>
              <a:t>15x chat tokens</a:t>
            </a:r>
            <a:r>
              <a:rPr b="0">
                <a:solidFill>
                  <a:srgbClr val="FFFCF5"/>
                </a:solidFill>
                <a:latin typeface="Helvetica"/>
                <a:ea typeface="Helvetica"/>
                <a:cs typeface="Helvetica"/>
              </a:rPr>
              <a:t>.</a:t>
            </a:r>
          </a:p>
        </p:txBody>
      </p:sp>
      <p:sp>
        <p:nvSpPr>
          <p:cNvPr id="18" name="14b-text-15">
            <a:extLst xmlns:a="http://schemas.openxmlformats.org/drawingml/2006/main">
              <a:ext uri="{FF2B5EF4-FFF2-40B4-BE49-F238E27FC236}">
                <a16:creationId xmlns:a16="http://schemas.microsoft.com/office/drawing/2014/main" id="{92D0EDC3-504C-4B49-9C02-781BC12678B5}"/>
              </a:ext>
            </a:extLst>
          </p:cNvPr>
          <p:cNvSpPr>
            <a:spLocks xmlns:a="http://schemas.openxmlformats.org/drawingml/2006/main"/>
          </p:cNvSpPr>
          <p:nvPr/>
        </p:nvSpPr>
        <p:spPr>
          <a:xfrm xmlns:a="http://schemas.openxmlformats.org/drawingml/2006/main">
            <a:off x="609600" y="5207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Poor fit when agents need shared context.</a:t>
            </a:r>
          </a:p>
        </p:txBody>
      </p:sp>
      <p:sp>
        <p:nvSpPr>
          <p:cNvPr id="19" name="14b-text-16">
            <a:extLst xmlns:a="http://schemas.openxmlformats.org/drawingml/2006/main">
              <a:ext uri="{FF2B5EF4-FFF2-40B4-BE49-F238E27FC236}">
                <a16:creationId xmlns:a16="http://schemas.microsoft.com/office/drawing/2014/main" id="{6568FAD2-4387-4291-906B-F73FBBE367ED}"/>
              </a:ext>
            </a:extLst>
          </p:cNvPr>
          <p:cNvSpPr>
            <a:spLocks xmlns:a="http://schemas.openxmlformats.org/drawingml/2006/main"/>
          </p:cNvSpPr>
          <p:nvPr/>
        </p:nvSpPr>
        <p:spPr>
          <a:xfrm xmlns:a="http://schemas.openxmlformats.org/drawingml/2006/main">
            <a:off x="609600" y="5816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Anthropic, June 13, 2025</a:t>
            </a:r>
          </a:p>
        </p:txBody>
      </p:sp>
    </p:spTree>
    <p:extLst>
      <p:ext uri="{BB962C8B-B14F-4D97-AF65-F5344CB8AC3E}">
        <p14:creationId xmlns:p14="http://schemas.microsoft.com/office/powerpoint/2010/main" val="1129258123"/>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8"/>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1"/>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2"/>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3"/>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4"/>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5"/>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 name="!!area-name">
            <a:extLst xmlns:a="http://schemas.openxmlformats.org/drawingml/2006/main">
              <a:ext uri="{FF2B5EF4-FFF2-40B4-BE49-F238E27FC236}">
                <a16:creationId xmlns:a16="http://schemas.microsoft.com/office/drawing/2014/main" id="{58076759-D662-4FB8-A5A6-807C7F6B09B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26" name="mini-map"/>
          <p:cNvPicPr>
            <a:picLocks xmlns:a="http://schemas.openxmlformats.org/drawingml/2006/main" noChangeAspect="1"/>
          </p:cNvPicPr>
          <p:nvPr/>
        </p:nvPicPr>
        <p:blipFill>
          <a:blip xmlns:r="http://schemas.openxmlformats.org/officeDocument/2006/relationships" xmlns:a="http://schemas.openxmlformats.org/drawingml/2006/main" r:embed="Rb4293bf3073a438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BC48DC8B-14AE-4A2D-932F-8F2B9C326B6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4" name="header-divider">
            <a:extLst xmlns:a="http://schemas.openxmlformats.org/drawingml/2006/main">
              <a:ext uri="{FF2B5EF4-FFF2-40B4-BE49-F238E27FC236}">
                <a16:creationId xmlns:a16="http://schemas.microsoft.com/office/drawing/2014/main" id="{7701D47A-E584-4664-B1F9-A31827C4982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9" name="15-table-1"/>
          <p:cNvGraphicFramePr/>
          <p:nvPr/>
        </p:nvGraphicFramePr>
        <p:xfrm>
          <a:off xmlns:a="http://schemas.openxmlformats.org/drawingml/2006/main" x="609600" y="24384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5334000"/>
                <a:gridCol w="304800"/>
                <a:gridCol w="5334000"/>
              </a:tblGrid>
              <a:tr h="508000">
                <a:tc>
                  <a:txBody>
                    <a:bodyPr>
                      <a:noAutofit/>
                    </a:bodyPr>
                    <a:lstStyle/>
                    <a:p>
                      <a:pPr>
                        <a:lnSpc>
                          <a:spcPct val="125000"/>
                        </a:lnSpc>
                        <a:buNone/>
                      </a:pPr>
                      <a:r>
                        <a:rPr sz="2400" b="1">
                          <a:solidFill>
                            <a:srgbClr val="F948BE"/>
                          </a:solidFill>
                          <a:latin typeface="Helvetica"/>
                          <a:ea typeface="Helvetica"/>
                          <a:cs typeface="Helvetica"/>
                        </a:rPr>
                        <a:t>Workflows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Agents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63600">
                <a:tc>
                  <a:txBody>
                    <a:bodyPr>
                      <a:noAutofit/>
                    </a:bodyPr>
                    <a:lstStyle/>
                    <a:p>
                      <a:pPr>
                        <a:lnSpc>
                          <a:spcPct val="125000"/>
                        </a:lnSpc>
                        <a:buNone/>
                      </a:pPr>
                      <a:r>
                        <a:rPr sz="2000" b="0">
                          <a:solidFill>
                            <a:srgbClr val="FFFCF5"/>
                          </a:solidFill>
                          <a:latin typeface="Helvetica"/>
                          <a:ea typeface="Helvetica"/>
                          <a:cs typeface="Helvetica"/>
                        </a:rPr>
                        <a:t>LLMs and tools on predefined code paths.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LLMs that direct their own process.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6" name="15-shape-2">
            <a:extLst xmlns:a="http://schemas.openxmlformats.org/drawingml/2006/main">
              <a:ext uri="{FF2B5EF4-FFF2-40B4-BE49-F238E27FC236}">
                <a16:creationId xmlns:a16="http://schemas.microsoft.com/office/drawing/2014/main" id="{AB213784-0EA4-4671-9F56-95983414515E}"/>
              </a:ext>
            </a:extLst>
          </p:cNvPr>
          <p:cNvSpPr>
            <a:spLocks xmlns:a="http://schemas.openxmlformats.org/drawingml/2006/main"/>
          </p:cNvSpPr>
          <p:nvPr/>
        </p:nvSpPr>
        <p:spPr>
          <a:xfrm xmlns:a="http://schemas.openxmlformats.org/drawingml/2006/main">
            <a:off x="609600" y="4140200"/>
            <a:ext cx="1308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7" name="15-text-3">
            <a:extLst xmlns:a="http://schemas.openxmlformats.org/drawingml/2006/main">
              <a:ext uri="{FF2B5EF4-FFF2-40B4-BE49-F238E27FC236}">
                <a16:creationId xmlns:a16="http://schemas.microsoft.com/office/drawing/2014/main" id="{DDC3C1FF-2F4D-4A5D-91F5-6A30B4F47301}"/>
              </a:ext>
            </a:extLst>
          </p:cNvPr>
          <p:cNvSpPr>
            <a:spLocks xmlns:a="http://schemas.openxmlformats.org/drawingml/2006/main"/>
          </p:cNvSpPr>
          <p:nvPr/>
        </p:nvSpPr>
        <p:spPr>
          <a:xfrm xmlns:a="http://schemas.openxmlformats.org/drawingml/2006/main">
            <a:off x="762000" y="4178300"/>
            <a:ext cx="1003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Chaining</a:t>
            </a:r>
          </a:p>
        </p:txBody>
      </p:sp>
      <p:sp>
        <p:nvSpPr>
          <p:cNvPr id="8" name="15-shape-4">
            <a:extLst xmlns:a="http://schemas.openxmlformats.org/drawingml/2006/main">
              <a:ext uri="{FF2B5EF4-FFF2-40B4-BE49-F238E27FC236}">
                <a16:creationId xmlns:a16="http://schemas.microsoft.com/office/drawing/2014/main" id="{C7207E75-BA46-4A6E-8C51-884B18145011}"/>
              </a:ext>
            </a:extLst>
          </p:cNvPr>
          <p:cNvSpPr>
            <a:spLocks xmlns:a="http://schemas.openxmlformats.org/drawingml/2006/main"/>
          </p:cNvSpPr>
          <p:nvPr/>
        </p:nvSpPr>
        <p:spPr>
          <a:xfrm xmlns:a="http://schemas.openxmlformats.org/drawingml/2006/main">
            <a:off x="2019300" y="4140200"/>
            <a:ext cx="1181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9" name="15-text-5">
            <a:extLst xmlns:a="http://schemas.openxmlformats.org/drawingml/2006/main">
              <a:ext uri="{FF2B5EF4-FFF2-40B4-BE49-F238E27FC236}">
                <a16:creationId xmlns:a16="http://schemas.microsoft.com/office/drawing/2014/main" id="{C6CE8329-BFDC-4861-8A3D-EFEB9FE8A307}"/>
              </a:ext>
            </a:extLst>
          </p:cNvPr>
          <p:cNvSpPr>
            <a:spLocks xmlns:a="http://schemas.openxmlformats.org/drawingml/2006/main"/>
          </p:cNvSpPr>
          <p:nvPr/>
        </p:nvSpPr>
        <p:spPr>
          <a:xfrm xmlns:a="http://schemas.openxmlformats.org/drawingml/2006/main">
            <a:off x="2171700" y="4178300"/>
            <a:ext cx="876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Routing</a:t>
            </a:r>
          </a:p>
        </p:txBody>
      </p:sp>
      <p:sp>
        <p:nvSpPr>
          <p:cNvPr id="10" name="15-shape-6">
            <a:extLst xmlns:a="http://schemas.openxmlformats.org/drawingml/2006/main">
              <a:ext uri="{FF2B5EF4-FFF2-40B4-BE49-F238E27FC236}">
                <a16:creationId xmlns:a16="http://schemas.microsoft.com/office/drawing/2014/main" id="{981CE783-8986-4560-B75B-4C4B95F68E82}"/>
              </a:ext>
            </a:extLst>
          </p:cNvPr>
          <p:cNvSpPr>
            <a:spLocks xmlns:a="http://schemas.openxmlformats.org/drawingml/2006/main"/>
          </p:cNvSpPr>
          <p:nvPr/>
        </p:nvSpPr>
        <p:spPr>
          <a:xfrm xmlns:a="http://schemas.openxmlformats.org/drawingml/2006/main">
            <a:off x="3302000" y="4140200"/>
            <a:ext cx="18923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1" name="15-text-7">
            <a:extLst xmlns:a="http://schemas.openxmlformats.org/drawingml/2006/main">
              <a:ext uri="{FF2B5EF4-FFF2-40B4-BE49-F238E27FC236}">
                <a16:creationId xmlns:a16="http://schemas.microsoft.com/office/drawing/2014/main" id="{BD67C1D8-F967-41CD-9632-9541083C449F}"/>
              </a:ext>
            </a:extLst>
          </p:cNvPr>
          <p:cNvSpPr>
            <a:spLocks xmlns:a="http://schemas.openxmlformats.org/drawingml/2006/main"/>
          </p:cNvSpPr>
          <p:nvPr/>
        </p:nvSpPr>
        <p:spPr>
          <a:xfrm xmlns:a="http://schemas.openxmlformats.org/drawingml/2006/main">
            <a:off x="3454400" y="4178300"/>
            <a:ext cx="158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Parallelization</a:t>
            </a:r>
          </a:p>
        </p:txBody>
      </p:sp>
      <p:sp>
        <p:nvSpPr>
          <p:cNvPr id="12" name="15-shape-8">
            <a:extLst xmlns:a="http://schemas.openxmlformats.org/drawingml/2006/main">
              <a:ext uri="{FF2B5EF4-FFF2-40B4-BE49-F238E27FC236}">
                <a16:creationId xmlns:a16="http://schemas.microsoft.com/office/drawing/2014/main" id="{7BCDB3AA-B6FF-41AA-9609-905D03724648}"/>
              </a:ext>
            </a:extLst>
          </p:cNvPr>
          <p:cNvSpPr>
            <a:spLocks xmlns:a="http://schemas.openxmlformats.org/drawingml/2006/main"/>
          </p:cNvSpPr>
          <p:nvPr/>
        </p:nvSpPr>
        <p:spPr>
          <a:xfrm xmlns:a="http://schemas.openxmlformats.org/drawingml/2006/main">
            <a:off x="5295900" y="4140200"/>
            <a:ext cx="3175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3" name="15-text-9">
            <a:extLst xmlns:a="http://schemas.openxmlformats.org/drawingml/2006/main">
              <a:ext uri="{FF2B5EF4-FFF2-40B4-BE49-F238E27FC236}">
                <a16:creationId xmlns:a16="http://schemas.microsoft.com/office/drawing/2014/main" id="{445E8CE9-AF0D-4705-9C0D-5FC15A216D64}"/>
              </a:ext>
            </a:extLst>
          </p:cNvPr>
          <p:cNvSpPr>
            <a:spLocks xmlns:a="http://schemas.openxmlformats.org/drawingml/2006/main"/>
          </p:cNvSpPr>
          <p:nvPr/>
        </p:nvSpPr>
        <p:spPr>
          <a:xfrm xmlns:a="http://schemas.openxmlformats.org/drawingml/2006/main">
            <a:off x="5448300" y="4178300"/>
            <a:ext cx="2870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Orchestrator and workers</a:t>
            </a:r>
          </a:p>
        </p:txBody>
      </p:sp>
      <p:sp>
        <p:nvSpPr>
          <p:cNvPr id="14" name="15-shape-10">
            <a:extLst xmlns:a="http://schemas.openxmlformats.org/drawingml/2006/main">
              <a:ext uri="{FF2B5EF4-FFF2-40B4-BE49-F238E27FC236}">
                <a16:creationId xmlns:a16="http://schemas.microsoft.com/office/drawing/2014/main" id="{D7EE37C4-83D0-4985-890C-4CC26AD49076}"/>
              </a:ext>
            </a:extLst>
          </p:cNvPr>
          <p:cNvSpPr>
            <a:spLocks xmlns:a="http://schemas.openxmlformats.org/drawingml/2006/main"/>
          </p:cNvSpPr>
          <p:nvPr/>
        </p:nvSpPr>
        <p:spPr>
          <a:xfrm xmlns:a="http://schemas.openxmlformats.org/drawingml/2006/main">
            <a:off x="8572500" y="4140200"/>
            <a:ext cx="29845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5" name="15-text-11">
            <a:extLst xmlns:a="http://schemas.openxmlformats.org/drawingml/2006/main">
              <a:ext uri="{FF2B5EF4-FFF2-40B4-BE49-F238E27FC236}">
                <a16:creationId xmlns:a16="http://schemas.microsoft.com/office/drawing/2014/main" id="{FE4379BF-FDE2-44DF-9642-2950F9FDE0D8}"/>
              </a:ext>
            </a:extLst>
          </p:cNvPr>
          <p:cNvSpPr>
            <a:spLocks xmlns:a="http://schemas.openxmlformats.org/drawingml/2006/main"/>
          </p:cNvSpPr>
          <p:nvPr/>
        </p:nvSpPr>
        <p:spPr>
          <a:xfrm xmlns:a="http://schemas.openxmlformats.org/drawingml/2006/main">
            <a:off x="8724900" y="4178300"/>
            <a:ext cx="267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Evaluator and optimizer</a:t>
            </a:r>
          </a:p>
        </p:txBody>
      </p:sp>
      <p:sp>
        <p:nvSpPr>
          <p:cNvPr id="16" name="15-text-12">
            <a:extLst xmlns:a="http://schemas.openxmlformats.org/drawingml/2006/main">
              <a:ext uri="{FF2B5EF4-FFF2-40B4-BE49-F238E27FC236}">
                <a16:creationId xmlns:a16="http://schemas.microsoft.com/office/drawing/2014/main" id="{9FB92C0A-D03F-4CEB-BADA-C4F68DECE7AA}"/>
              </a:ext>
            </a:extLst>
          </p:cNvPr>
          <p:cNvSpPr>
            <a:spLocks xmlns:a="http://schemas.openxmlformats.org/drawingml/2006/main"/>
          </p:cNvSpPr>
          <p:nvPr/>
        </p:nvSpPr>
        <p:spPr>
          <a:xfrm xmlns:a="http://schemas.openxmlformats.org/drawingml/2006/main">
            <a:off x="609600" y="2438400"/>
            <a:ext cx="10972800" cy="119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loop · Stopping conditions · State and resume · Retries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Escalation as a tool call · Planner-to-worker routing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compaction trigger · Budgets: tokens, actions, latency</a:t>
            </a:r>
          </a:p>
        </p:txBody>
      </p:sp>
      <p:sp>
        <p:nvSpPr>
          <p:cNvPr id="17" name="15-text-13">
            <a:extLst xmlns:a="http://schemas.openxmlformats.org/drawingml/2006/main">
              <a:ext uri="{FF2B5EF4-FFF2-40B4-BE49-F238E27FC236}">
                <a16:creationId xmlns:a16="http://schemas.microsoft.com/office/drawing/2014/main" id="{9C55225C-E75D-4AEB-B944-39FCF3FEC2AA}"/>
              </a:ext>
            </a:extLst>
          </p:cNvPr>
          <p:cNvSpPr>
            <a:spLocks xmlns:a="http://schemas.openxmlformats.org/drawingml/2006/main"/>
          </p:cNvSpPr>
          <p:nvPr/>
        </p:nvSpPr>
        <p:spPr>
          <a:xfrm xmlns:a="http://schemas.openxmlformats.org/drawingml/2006/main">
            <a:off x="609600" y="39116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Own your prompts. Own your context window.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Own your control flow. Contact humans with tool calls.</a:t>
            </a:r>
          </a:p>
        </p:txBody>
      </p:sp>
      <p:sp>
        <p:nvSpPr>
          <p:cNvPr id="18" name="15-text-14">
            <a:extLst xmlns:a="http://schemas.openxmlformats.org/drawingml/2006/main">
              <a:ext uri="{FF2B5EF4-FFF2-40B4-BE49-F238E27FC236}">
                <a16:creationId xmlns:a16="http://schemas.microsoft.com/office/drawing/2014/main" id="{6575B27F-52B9-4124-B63A-6922C8EC1CF1}"/>
              </a:ext>
            </a:extLst>
          </p:cNvPr>
          <p:cNvSpPr>
            <a:spLocks xmlns:a="http://schemas.openxmlformats.org/drawingml/2006/main"/>
          </p:cNvSpPr>
          <p:nvPr/>
        </p:nvSpPr>
        <p:spPr>
          <a:xfrm xmlns:a="http://schemas.openxmlformats.org/drawingml/2006/main">
            <a:off x="609600" y="4699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12-Factor Agents, Dex Horthy</a:t>
            </a:r>
          </a:p>
        </p:txBody>
      </p:sp>
      <p:sp>
        <p:nvSpPr>
          <p:cNvPr id="19" name="15-text-15">
            <a:extLst xmlns:a="http://schemas.openxmlformats.org/drawingml/2006/main">
              <a:ext uri="{FF2B5EF4-FFF2-40B4-BE49-F238E27FC236}">
                <a16:creationId xmlns:a16="http://schemas.microsoft.com/office/drawing/2014/main" id="{93E8DCE0-2DAF-4B86-9A0E-7B5DC8872280}"/>
              </a:ext>
            </a:extLst>
          </p:cNvPr>
          <p:cNvSpPr>
            <a:spLocks xmlns:a="http://schemas.openxmlformats.org/drawingml/2006/main"/>
          </p:cNvSpPr>
          <p:nvPr/>
        </p:nvSpPr>
        <p:spPr>
          <a:xfrm xmlns:a="http://schemas.openxmlformats.org/drawingml/2006/main">
            <a:off x="609600" y="2438400"/>
            <a:ext cx="109728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human is waiting. Latency is a product requirement.</a:t>
            </a: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An unbounded loop is an outage.</a:t>
            </a:r>
          </a:p>
        </p:txBody>
      </p:sp>
      <p:sp>
        <p:nvSpPr>
          <p:cNvPr id="20" name="15-shape-16">
            <a:extLst xmlns:a="http://schemas.openxmlformats.org/drawingml/2006/main">
              <a:ext uri="{FF2B5EF4-FFF2-40B4-BE49-F238E27FC236}">
                <a16:creationId xmlns:a16="http://schemas.microsoft.com/office/drawing/2014/main" id="{19698931-F749-4888-A642-298C7E8CA2B9}"/>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1" name="15-shape-17">
            <a:extLst xmlns:a="http://schemas.openxmlformats.org/drawingml/2006/main">
              <a:ext uri="{FF2B5EF4-FFF2-40B4-BE49-F238E27FC236}">
                <a16:creationId xmlns:a16="http://schemas.microsoft.com/office/drawing/2014/main" id="{3A82FE94-F649-4208-B626-E63799B2634E}"/>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2" name="15-text-18">
            <a:extLst xmlns:a="http://schemas.openxmlformats.org/drawingml/2006/main">
              <a:ext uri="{FF2B5EF4-FFF2-40B4-BE49-F238E27FC236}">
                <a16:creationId xmlns:a16="http://schemas.microsoft.com/office/drawing/2014/main" id="{16D3612D-E460-4BDF-8594-962F2E63323F}"/>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3" name="15-text-19">
            <a:extLst xmlns:a="http://schemas.openxmlformats.org/drawingml/2006/main">
              <a:ext uri="{FF2B5EF4-FFF2-40B4-BE49-F238E27FC236}">
                <a16:creationId xmlns:a16="http://schemas.microsoft.com/office/drawing/2014/main" id="{7D986B0F-7C21-4944-AFF2-B3707EAF61F5}"/>
              </a:ext>
            </a:extLst>
          </p:cNvPr>
          <p:cNvSpPr>
            <a:spLocks xmlns:a="http://schemas.openxmlformats.org/drawingml/2006/main"/>
          </p:cNvSpPr>
          <p:nvPr/>
        </p:nvSpPr>
        <p:spPr>
          <a:xfrm xmlns:a="http://schemas.openxmlformats.org/drawingml/2006/main">
            <a:off x="2489200" y="5740400"/>
            <a:ext cx="909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24" name="15-text-20">
            <a:extLst xmlns:a="http://schemas.openxmlformats.org/drawingml/2006/main">
              <a:ext uri="{FF2B5EF4-FFF2-40B4-BE49-F238E27FC236}">
                <a16:creationId xmlns:a16="http://schemas.microsoft.com/office/drawing/2014/main" id="{CA62616E-B615-46BB-B897-C0FB9906121B}"/>
              </a:ext>
            </a:extLst>
          </p:cNvPr>
          <p:cNvSpPr>
            <a:spLocks xmlns:a="http://schemas.openxmlformats.org/drawingml/2006/main"/>
          </p:cNvSpPr>
          <p:nvPr/>
        </p:nvSpPr>
        <p:spPr>
          <a:xfrm xmlns:a="http://schemas.openxmlformats.org/drawingml/2006/main">
            <a:off x="2489200" y="6172200"/>
            <a:ext cx="909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Gartner forecast, June 2025: over 40% canceled by end of 2027.</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Cited risks: cost, unclear value, inadequate controls.</a:t>
            </a:r>
          </a:p>
        </p:txBody>
      </p:sp>
    </p:spTree>
    <p:extLst>
      <p:ext uri="{BB962C8B-B14F-4D97-AF65-F5344CB8AC3E}">
        <p14:creationId xmlns:p14="http://schemas.microsoft.com/office/powerpoint/2010/main" val="26729485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200" fill="hold"/>
                                        <p:tgtEl>
                                          <p:spTgt spid="6"/>
                                        </p:tgtEl>
                                      </p:cBhvr>
                                    </p:animEffect>
                                  </p:childTnLst>
                                </p:cTn>
                              </p:par>
                              <p:par>
                                <p:cTn id="10" presetID="10"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00" fill="hold"/>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200" fill="hold"/>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200" fill="hold"/>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200" fill="hold"/>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200" fill="hold"/>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00" fill="hold"/>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200" fill="hold"/>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00" fill="hold"/>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200" fill="hold"/>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29"/>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6"/>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7"/>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8"/>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9"/>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10"/>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1"/>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2"/>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3"/>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14"/>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15"/>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16"/>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17"/>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8"/>
                                        </p:tgtEl>
                                        <p:attrNameLst>
                                          <p:attrName>style.visibility</p:attrName>
                                        </p:attrNameLst>
                                      </p:cBhvr>
                                      <p:to>
                                        <p:strVal val="hidden"/>
                                      </p:to>
                                    </p:set>
                                  </p:childTnLst>
                                </p:cTn>
                              </p:par>
                              <p:par>
                                <p:cTn id="75" presetID="1" presetClass="entr" presetSubtype="0" fill="hold" nodeType="withEffect">
                                  <p:stCondLst>
                                    <p:cond delay="0"/>
                                  </p:stCondLst>
                                  <p:childTnLst>
                                    <p:set>
                                      <p:cBhvr>
                                        <p:cTn id="76" dur="1" fill="hold">
                                          <p:stCondLst>
                                            <p:cond delay="0"/>
                                          </p:stCondLst>
                                        </p:cTn>
                                        <p:tgtEl>
                                          <p:spTgt spid="1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300" fill="hold"/>
                                        <p:tgtEl>
                                          <p:spTgt spid="20"/>
                                        </p:tgtEl>
                                      </p:cBhvr>
                                    </p:animEffect>
                                  </p:childTnLst>
                                </p:cTn>
                              </p:par>
                              <p:par>
                                <p:cTn id="82" presetID="10" presetClass="entr" presetSubtype="0" fill="hold" nodeType="withEffect">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fade">
                                      <p:cBhvr>
                                        <p:cTn id="84" dur="300" fill="hold"/>
                                        <p:tgtEl>
                                          <p:spTgt spid="21"/>
                                        </p:tgtEl>
                                      </p:cBhvr>
                                    </p:animEffect>
                                  </p:childTnLst>
                                </p:cTn>
                              </p:par>
                              <p:par>
                                <p:cTn id="85" presetID="10" presetClass="entr" presetSubtype="0" fill="hold" nodeType="with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300" fill="hold"/>
                                        <p:tgtEl>
                                          <p:spTgt spid="22"/>
                                        </p:tgtEl>
                                      </p:cBhvr>
                                    </p:animEffect>
                                  </p:childTnLst>
                                </p:cTn>
                              </p:par>
                              <p:par>
                                <p:cTn id="88" presetID="10" presetClass="entr" presetSubtype="0" fill="hold" nodeType="with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300" fill="hold"/>
                                        <p:tgtEl>
                                          <p:spTgt spid="23"/>
                                        </p:tgtEl>
                                      </p:cBhvr>
                                    </p:animEffect>
                                  </p:childTnLst>
                                </p:cTn>
                              </p:par>
                              <p:par>
                                <p:cTn id="91" presetID="1" presetClass="entr" presetSubtype="0" fill="hold" nodeType="withEffect">
                                  <p:stCondLst>
                                    <p:cond delay="0"/>
                                  </p:stCondLst>
                                  <p:childTnLst>
                                    <p:set>
                                      <p:cBhvr>
                                        <p:cTn id="9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 name="!!area-header">
            <a:extLst xmlns:a="http://schemas.openxmlformats.org/drawingml/2006/main">
              <a:ext uri="{FF2B5EF4-FFF2-40B4-BE49-F238E27FC236}">
                <a16:creationId xmlns:a16="http://schemas.microsoft.com/office/drawing/2014/main" id="{8031F52B-94DB-47EB-B8ED-A570D425C730}"/>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B91ABFDB-1424-4CD4-A79C-B05DD33B4E72}"/>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Verification and evals</a:t>
            </a:r>
          </a:p>
        </p:txBody>
      </p:sp>
      <p:sp>
        <p:nvSpPr>
          <p:cNvPr id="3" name="!!area-beat">
            <a:extLst xmlns:a="http://schemas.openxmlformats.org/drawingml/2006/main">
              <a:ext uri="{FF2B5EF4-FFF2-40B4-BE49-F238E27FC236}">
                <a16:creationId xmlns:a16="http://schemas.microsoft.com/office/drawing/2014/main" id="{2689C67B-D9B4-4ADF-8DFF-8E3F38476F8D}"/>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header-divider">
            <a:extLst xmlns:a="http://schemas.openxmlformats.org/drawingml/2006/main">
              <a:ext uri="{FF2B5EF4-FFF2-40B4-BE49-F238E27FC236}">
                <a16:creationId xmlns:a16="http://schemas.microsoft.com/office/drawing/2014/main" id="{E315357E-3690-4026-8EF0-449F5FC86335}"/>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16-text-1">
            <a:extLst xmlns:a="http://schemas.openxmlformats.org/drawingml/2006/main">
              <a:ext uri="{FF2B5EF4-FFF2-40B4-BE49-F238E27FC236}">
                <a16:creationId xmlns:a16="http://schemas.microsoft.com/office/drawing/2014/main" id="{DD7FD15F-5924-4B8A-8939-99925C5E4693}"/>
              </a:ext>
            </a:extLst>
          </p:cNvPr>
          <p:cNvSpPr>
            <a:spLocks xmlns:a="http://schemas.openxmlformats.org/drawingml/2006/main"/>
          </p:cNvSpPr>
          <p:nvPr/>
        </p:nvSpPr>
        <p:spPr>
          <a:xfrm xmlns:a="http://schemas.openxmlformats.org/drawingml/2006/main">
            <a:off x="6096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write</a:t>
            </a:r>
          </a:p>
        </p:txBody>
      </p:sp>
      <p:sp>
        <p:nvSpPr>
          <p:cNvPr id="6" name="16-text-2">
            <a:extLst xmlns:a="http://schemas.openxmlformats.org/drawingml/2006/main">
              <a:ext uri="{FF2B5EF4-FFF2-40B4-BE49-F238E27FC236}">
                <a16:creationId xmlns:a16="http://schemas.microsoft.com/office/drawing/2014/main" id="{BB998A6B-811E-481A-8EF7-30FA371C4527}"/>
              </a:ext>
            </a:extLst>
          </p:cNvPr>
          <p:cNvSpPr>
            <a:spLocks xmlns:a="http://schemas.openxmlformats.org/drawingml/2006/main"/>
          </p:cNvSpPr>
          <p:nvPr/>
        </p:nvSpPr>
        <p:spPr>
          <a:xfrm xmlns:a="http://schemas.openxmlformats.org/drawingml/2006/main">
            <a:off x="34290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a:t>
            </a:r>
          </a:p>
        </p:txBody>
      </p:sp>
      <p:sp>
        <p:nvSpPr>
          <p:cNvPr id="7" name="16-text-3">
            <a:extLst xmlns:a="http://schemas.openxmlformats.org/drawingml/2006/main">
              <a:ext uri="{FF2B5EF4-FFF2-40B4-BE49-F238E27FC236}">
                <a16:creationId xmlns:a16="http://schemas.microsoft.com/office/drawing/2014/main" id="{0F71C3B5-FAB1-45A3-900D-D2E7B20857B3}"/>
              </a:ext>
            </a:extLst>
          </p:cNvPr>
          <p:cNvSpPr>
            <a:spLocks xmlns:a="http://schemas.openxmlformats.org/drawingml/2006/main"/>
          </p:cNvSpPr>
          <p:nvPr/>
        </p:nvSpPr>
        <p:spPr>
          <a:xfrm xmlns:a="http://schemas.openxmlformats.org/drawingml/2006/main">
            <a:off x="62484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read the failure</a:t>
            </a:r>
          </a:p>
        </p:txBody>
      </p:sp>
      <p:sp>
        <p:nvSpPr>
          <p:cNvPr id="8" name="16-text-4">
            <a:extLst xmlns:a="http://schemas.openxmlformats.org/drawingml/2006/main">
              <a:ext uri="{FF2B5EF4-FFF2-40B4-BE49-F238E27FC236}">
                <a16:creationId xmlns:a16="http://schemas.microsoft.com/office/drawing/2014/main" id="{84591F60-2E9D-4C15-8805-F8B13193A82F}"/>
              </a:ext>
            </a:extLst>
          </p:cNvPr>
          <p:cNvSpPr>
            <a:spLocks xmlns:a="http://schemas.openxmlformats.org/drawingml/2006/main"/>
          </p:cNvSpPr>
          <p:nvPr/>
        </p:nvSpPr>
        <p:spPr>
          <a:xfrm xmlns:a="http://schemas.openxmlformats.org/drawingml/2006/main">
            <a:off x="90678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a:t>
            </a:r>
          </a:p>
        </p:txBody>
      </p:sp>
      <p:sp>
        <p:nvSpPr>
          <p:cNvPr id="9" name="16-line-6">
            <a:extLst xmlns:a="http://schemas.openxmlformats.org/drawingml/2006/main">
              <a:ext uri="{FF2B5EF4-FFF2-40B4-BE49-F238E27FC236}">
                <a16:creationId xmlns:a16="http://schemas.microsoft.com/office/drawing/2014/main" id="{3284FF7D-A773-4DB5-A6DD-8BBD69558FCD}"/>
              </a:ext>
            </a:extLst>
          </p:cNvPr>
          <p:cNvSpPr>
            <a:spLocks xmlns:a="http://schemas.openxmlformats.org/drawingml/2006/main"/>
          </p:cNvSpPr>
          <p:nvPr/>
        </p:nvSpPr>
        <p:spPr>
          <a:xfrm xmlns:a="http://schemas.openxmlformats.org/drawingml/2006/main" flipH="0" flipV="0">
            <a:off x="27305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0" name="16-line-8">
            <a:extLst xmlns:a="http://schemas.openxmlformats.org/drawingml/2006/main">
              <a:ext uri="{FF2B5EF4-FFF2-40B4-BE49-F238E27FC236}">
                <a16:creationId xmlns:a16="http://schemas.microsoft.com/office/drawing/2014/main" id="{B5872A13-7957-48B1-9494-055C27B2A45F}"/>
              </a:ext>
            </a:extLst>
          </p:cNvPr>
          <p:cNvSpPr>
            <a:spLocks xmlns:a="http://schemas.openxmlformats.org/drawingml/2006/main"/>
          </p:cNvSpPr>
          <p:nvPr/>
        </p:nvSpPr>
        <p:spPr>
          <a:xfrm xmlns:a="http://schemas.openxmlformats.org/drawingml/2006/main" flipH="0" flipV="0">
            <a:off x="55499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 name="16-line-10">
            <a:extLst xmlns:a="http://schemas.openxmlformats.org/drawingml/2006/main">
              <a:ext uri="{FF2B5EF4-FFF2-40B4-BE49-F238E27FC236}">
                <a16:creationId xmlns:a16="http://schemas.microsoft.com/office/drawing/2014/main" id="{E9632C92-CBCE-437E-8DB1-77AA24994534}"/>
              </a:ext>
            </a:extLst>
          </p:cNvPr>
          <p:cNvSpPr>
            <a:spLocks xmlns:a="http://schemas.openxmlformats.org/drawingml/2006/main"/>
          </p:cNvSpPr>
          <p:nvPr/>
        </p:nvSpPr>
        <p:spPr>
          <a:xfrm xmlns:a="http://schemas.openxmlformats.org/drawingml/2006/main" flipH="0" flipV="0">
            <a:off x="83693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2" name="16-text-11">
            <a:extLst xmlns:a="http://schemas.openxmlformats.org/drawingml/2006/main">
              <a:ext uri="{FF2B5EF4-FFF2-40B4-BE49-F238E27FC236}">
                <a16:creationId xmlns:a16="http://schemas.microsoft.com/office/drawing/2014/main" id="{BB0FB029-987C-4B30-A1D0-C5F34F8F3AEE}"/>
              </a:ext>
            </a:extLst>
          </p:cNvPr>
          <p:cNvSpPr>
            <a:spLocks xmlns:a="http://schemas.openxmlformats.org/drawingml/2006/main"/>
          </p:cNvSpPr>
          <p:nvPr/>
        </p:nvSpPr>
        <p:spPr>
          <a:xfrm xmlns:a="http://schemas.openxmlformats.org/drawingml/2006/main">
            <a:off x="609600" y="3581400"/>
            <a:ext cx="10972800" cy="20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"LLMs are quite happy to say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'all tests green', yet when I run them,</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there are failures."</a:t>
            </a:r>
          </a:p>
        </p:txBody>
      </p:sp>
      <p:sp>
        <p:nvSpPr>
          <p:cNvPr id="13" name="16-text-12">
            <a:extLst xmlns:a="http://schemas.openxmlformats.org/drawingml/2006/main">
              <a:ext uri="{FF2B5EF4-FFF2-40B4-BE49-F238E27FC236}">
                <a16:creationId xmlns:a16="http://schemas.microsoft.com/office/drawing/2014/main" id="{5E831E23-F2D1-434E-820C-EC078B7412FF}"/>
              </a:ext>
            </a:extLst>
          </p:cNvPr>
          <p:cNvSpPr>
            <a:spLocks xmlns:a="http://schemas.openxmlformats.org/drawingml/2006/main"/>
          </p:cNvSpPr>
          <p:nvPr/>
        </p:nvSpPr>
        <p:spPr>
          <a:xfrm xmlns:a="http://schemas.openxmlformats.org/drawingml/2006/main">
            <a:off x="609600" y="576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Martin Fowler, August 2025</a:t>
            </a:r>
          </a:p>
        </p:txBody>
      </p:sp>
    </p:spTree>
    <p:extLst>
      <p:ext uri="{BB962C8B-B14F-4D97-AF65-F5344CB8AC3E}">
        <p14:creationId xmlns:p14="http://schemas.microsoft.com/office/powerpoint/2010/main" val="628154067"/>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 name="!!area-name">
            <a:extLst xmlns:a="http://schemas.openxmlformats.org/drawingml/2006/main">
              <a:ext uri="{FF2B5EF4-FFF2-40B4-BE49-F238E27FC236}">
                <a16:creationId xmlns:a16="http://schemas.microsoft.com/office/drawing/2014/main" id="{48EBA0F0-CB8A-4BE8-A48E-EEB743A7905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23" name="mini-map"/>
          <p:cNvPicPr>
            <a:picLocks xmlns:a="http://schemas.openxmlformats.org/drawingml/2006/main" noChangeAspect="1"/>
          </p:cNvPicPr>
          <p:nvPr/>
        </p:nvPicPr>
        <p:blipFill>
          <a:blip xmlns:r="http://schemas.openxmlformats.org/officeDocument/2006/relationships" xmlns:a="http://schemas.openxmlformats.org/drawingml/2006/main" r:embed="Re19931f0e40e4d7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8C1EC95B-7B0A-47B0-87A1-DFFD79B399A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16b-text-1">
            <a:extLst xmlns:a="http://schemas.openxmlformats.org/drawingml/2006/main">
              <a:ext uri="{FF2B5EF4-FFF2-40B4-BE49-F238E27FC236}">
                <a16:creationId xmlns:a16="http://schemas.microsoft.com/office/drawing/2014/main" id="{E2BAB442-B3D4-4F7C-AD6F-DED6D814D80F}"/>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5" name="16b-text-2">
            <a:extLst xmlns:a="http://schemas.openxmlformats.org/drawingml/2006/main">
              <a:ext uri="{FF2B5EF4-FFF2-40B4-BE49-F238E27FC236}">
                <a16:creationId xmlns:a16="http://schemas.microsoft.com/office/drawing/2014/main" id="{C2BF21D8-C2FA-48F3-AA15-E5FE0EEAF63C}"/>
              </a:ext>
            </a:extLst>
          </p:cNvPr>
          <p:cNvSpPr>
            <a:spLocks xmlns:a="http://schemas.openxmlformats.org/drawingml/2006/main"/>
          </p:cNvSpPr>
          <p:nvPr/>
        </p:nvSpPr>
        <p:spPr>
          <a:xfrm xmlns:a="http://schemas.openxmlformats.org/drawingml/2006/main">
            <a:off x="609600" y="243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Two complementary uses of checks. This talk's organizing model:</a:t>
            </a:r>
          </a:p>
        </p:txBody>
      </p:sp>
      <p:graphicFrame>
        <p:nvGraphicFramePr>
          <p:cNvPr id="27" name="16b-table-3"/>
          <p:cNvGraphicFramePr/>
          <p:nvPr/>
        </p:nvGraphicFramePr>
        <p:xfrm>
          <a:off xmlns:a="http://schemas.openxmlformats.org/drawingml/2006/main" x="609600" y="29210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Verification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Evaluation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25500">
                <a:tc>
                  <a:txBody>
                    <a:bodyPr>
                      <a:noAutofit/>
                    </a:bodyPr>
                    <a:lstStyle/>
                    <a:p>
                      <a:pPr>
                        <a:lnSpc>
                          <a:spcPct val="125000"/>
                        </a:lnSpc>
                        <a:buNone/>
                      </a:pPr>
                      <a:r>
                        <a:rPr sz="2000" b="0">
                          <a:solidFill>
                            <a:srgbClr val="FFFCF5"/>
                          </a:solidFill>
                          <a:latin typeface="Helvetica"/>
                          <a:ea typeface="Helvetica"/>
                          <a:cs typeface="Helvetica"/>
                        </a:rPr>
                        <a:t>Check an action before accepting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 behavior across</a:t>
                      </a:r>
                    </a:p>
                    <a:p>
                      <a:pPr>
                        <a:lnSpc>
                          <a:spcPct val="125000"/>
                        </a:lnSpc>
                        <a:buNone/>
                      </a:pPr>
                      <a:r>
                        <a:rPr sz="2000" b="0">
                          <a:solidFill>
                            <a:srgbClr val="FFFCF5"/>
                          </a:solidFill>
                          <a:latin typeface="Helvetica"/>
                          <a:ea typeface="Helvetica"/>
                          <a:cs typeface="Helvetica"/>
                        </a:rPr>
                        <a:t>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Outside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Rules, state checks, visual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Tasks, trials, graders, suites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7" name="16b-text-4">
            <a:extLst xmlns:a="http://schemas.openxmlformats.org/drawingml/2006/main">
              <a:ext uri="{FF2B5EF4-FFF2-40B4-BE49-F238E27FC236}">
                <a16:creationId xmlns:a16="http://schemas.microsoft.com/office/drawing/2014/main" id="{9F31F28D-7EA3-4D76-9C9E-772BAA76911C}"/>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Graders: code · model, with expert calibration · human</a:t>
            </a:r>
          </a:p>
        </p:txBody>
      </p:sp>
      <p:sp>
        <p:nvSpPr>
          <p:cNvPr id="8" name="16b-text-5">
            <a:extLst xmlns:a="http://schemas.openxmlformats.org/drawingml/2006/main">
              <a:ext uri="{FF2B5EF4-FFF2-40B4-BE49-F238E27FC236}">
                <a16:creationId xmlns:a16="http://schemas.microsoft.com/office/drawing/2014/main" id="{B7CD185A-AA64-4EF2-AB90-CAB9EC231309}"/>
              </a:ext>
            </a:extLst>
          </p:cNvPr>
          <p:cNvSpPr>
            <a:spLocks xmlns:a="http://schemas.openxmlformats.org/drawingml/2006/main"/>
          </p:cNvSpPr>
          <p:nvPr/>
        </p:nvSpPr>
        <p:spPr>
          <a:xfrm xmlns:a="http://schemas.openxmlformats.org/drawingml/2006/main">
            <a:off x="609600" y="24384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Check the result. Inspect the trace.</a:t>
            </a:r>
          </a:p>
        </p:txBody>
      </p:sp>
      <p:sp>
        <p:nvSpPr>
          <p:cNvPr id="9" name="16b-text-6">
            <a:extLst xmlns:a="http://schemas.openxmlformats.org/drawingml/2006/main">
              <a:ext uri="{FF2B5EF4-FFF2-40B4-BE49-F238E27FC236}">
                <a16:creationId xmlns:a16="http://schemas.microsoft.com/office/drawing/2014/main" id="{531638FA-7E65-47CF-A794-71EFAD9D170D}"/>
              </a:ext>
            </a:extLst>
          </p:cNvPr>
          <p:cNvSpPr>
            <a:spLocks xmlns:a="http://schemas.openxmlformats.org/drawingml/2006/main"/>
          </p:cNvSpPr>
          <p:nvPr/>
        </p:nvSpPr>
        <p:spPr>
          <a:xfrm xmlns:a="http://schemas.openxmlformats.org/drawingml/2006/main">
            <a:off x="609600" y="3149600"/>
            <a:ext cx="109728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flight-booking grader</a:t>
            </a:r>
          </a:p>
        </p:txBody>
      </p:sp>
      <p:sp>
        <p:nvSpPr>
          <p:cNvPr id="10" name="16b-text-7">
            <a:extLst xmlns:a="http://schemas.openxmlformats.org/drawingml/2006/main">
              <a:ext uri="{FF2B5EF4-FFF2-40B4-BE49-F238E27FC236}">
                <a16:creationId xmlns:a16="http://schemas.microsoft.com/office/drawing/2014/main" id="{280C7C05-5C97-41A7-A01A-517EB3057AF3}"/>
              </a:ext>
            </a:extLst>
          </p:cNvPr>
          <p:cNvSpPr>
            <a:spLocks xmlns:a="http://schemas.openxmlformats.org/drawingml/2006/main"/>
          </p:cNvSpPr>
          <p:nvPr/>
        </p:nvSpPr>
        <p:spPr>
          <a:xfrm xmlns:a="http://schemas.openxmlformats.org/drawingml/2006/main">
            <a:off x="609600" y="35814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Claim: "Your flight has been booked."</a:t>
            </a:r>
          </a:p>
        </p:txBody>
      </p:sp>
      <p:sp>
        <p:nvSpPr>
          <p:cNvPr id="11" name="16b-text-8">
            <a:extLst xmlns:a="http://schemas.openxmlformats.org/drawingml/2006/main">
              <a:ext uri="{FF2B5EF4-FFF2-40B4-BE49-F238E27FC236}">
                <a16:creationId xmlns:a16="http://schemas.microsoft.com/office/drawing/2014/main" id="{F0096F02-3388-4CEE-9976-D793D4AD8C34}"/>
              </a:ext>
            </a:extLst>
          </p:cNvPr>
          <p:cNvSpPr>
            <a:spLocks xmlns:a="http://schemas.openxmlformats.org/drawingml/2006/main"/>
          </p:cNvSpPr>
          <p:nvPr/>
        </p:nvSpPr>
        <p:spPr>
          <a:xfrm xmlns:a="http://schemas.openxmlformats.org/drawingml/2006/main">
            <a:off x="609600" y="41910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 check: matching reservation for the requested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traveler and itinerary?</a:t>
            </a:r>
          </a:p>
        </p:txBody>
      </p:sp>
      <p:sp>
        <p:nvSpPr>
          <p:cNvPr id="12" name="16b-text-9">
            <a:extLst xmlns:a="http://schemas.openxmlformats.org/drawingml/2006/main">
              <a:ext uri="{FF2B5EF4-FFF2-40B4-BE49-F238E27FC236}">
                <a16:creationId xmlns:a16="http://schemas.microsoft.com/office/drawing/2014/main" id="{6643BD0E-5D70-40DC-B66F-09447180A807}"/>
              </a:ext>
            </a:extLst>
          </p:cNvPr>
          <p:cNvSpPr>
            <a:spLocks xmlns:a="http://schemas.openxmlformats.org/drawingml/2006/main"/>
          </p:cNvSpPr>
          <p:nvPr/>
        </p:nvSpPr>
        <p:spPr>
          <a:xfrm xmlns:a="http://schemas.openxmlformats.org/drawingml/2006/main">
            <a:off x="609600" y="49784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No matching reservation: FAIL</a:t>
            </a:r>
          </a:p>
        </p:txBody>
      </p:sp>
      <p:sp>
        <p:nvSpPr>
          <p:cNvPr id="13" name="16b-text-10">
            <a:extLst xmlns:a="http://schemas.openxmlformats.org/drawingml/2006/main">
              <a:ext uri="{FF2B5EF4-FFF2-40B4-BE49-F238E27FC236}">
                <a16:creationId xmlns:a16="http://schemas.microsoft.com/office/drawing/2014/main" id="{EF94518F-5A9C-43E6-8C1B-FEC4926C065C}"/>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Trace check: required approvals and access constraints satisfied?</a:t>
            </a:r>
          </a:p>
        </p:txBody>
      </p:sp>
      <p:sp>
        <p:nvSpPr>
          <p:cNvPr id="14" name="16b-text-11">
            <a:extLst xmlns:a="http://schemas.openxmlformats.org/drawingml/2006/main">
              <a:ext uri="{FF2B5EF4-FFF2-40B4-BE49-F238E27FC236}">
                <a16:creationId xmlns:a16="http://schemas.microsoft.com/office/drawing/2014/main" id="{27D0C98F-F0AB-4188-936B-004D67F4A158}"/>
              </a:ext>
            </a:extLst>
          </p:cNvPr>
          <p:cNvSpPr>
            <a:spLocks xmlns:a="http://schemas.openxmlformats.org/drawingml/2006/main"/>
          </p:cNvSpPr>
          <p:nvPr/>
        </p:nvSpPr>
        <p:spPr>
          <a:xfrm xmlns:a="http://schemas.openxmlformats.org/drawingml/2006/main">
            <a:off x="609600" y="2438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15" name="16b-text-12">
            <a:extLst xmlns:a="http://schemas.openxmlformats.org/drawingml/2006/main">
              <a:ext uri="{FF2B5EF4-FFF2-40B4-BE49-F238E27FC236}">
                <a16:creationId xmlns:a16="http://schemas.microsoft.com/office/drawing/2014/main" id="{61E17C9E-3EE9-4527-813B-01521D427315}"/>
              </a:ext>
            </a:extLst>
          </p:cNvPr>
          <p:cNvSpPr>
            <a:spLocks xmlns:a="http://schemas.openxmlformats.org/drawingml/2006/main"/>
          </p:cNvSpPr>
          <p:nvPr/>
        </p:nvSpPr>
        <p:spPr>
          <a:xfrm xmlns:a="http://schemas.openxmlformats.org/drawingml/2006/main">
            <a:off x="4064000" y="2565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at least one of k trials succeeds.</a:t>
            </a:r>
          </a:p>
        </p:txBody>
      </p:sp>
      <p:sp>
        <p:nvSpPr>
          <p:cNvPr id="16" name="16b-text-13">
            <a:extLst xmlns:a="http://schemas.openxmlformats.org/drawingml/2006/main">
              <a:ext uri="{FF2B5EF4-FFF2-40B4-BE49-F238E27FC236}">
                <a16:creationId xmlns:a16="http://schemas.microsoft.com/office/drawing/2014/main" id="{B5D94609-0AF0-413D-AB66-E39AE3681C19}"/>
              </a:ext>
            </a:extLst>
          </p:cNvPr>
          <p:cNvSpPr>
            <a:spLocks xmlns:a="http://schemas.openxmlformats.org/drawingml/2006/main"/>
          </p:cNvSpPr>
          <p:nvPr/>
        </p:nvSpPr>
        <p:spPr>
          <a:xfrm xmlns:a="http://schemas.openxmlformats.org/drawingml/2006/main">
            <a:off x="609600" y="3835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17" name="16b-text-14">
            <a:extLst xmlns:a="http://schemas.openxmlformats.org/drawingml/2006/main">
              <a:ext uri="{FF2B5EF4-FFF2-40B4-BE49-F238E27FC236}">
                <a16:creationId xmlns:a16="http://schemas.microsoft.com/office/drawing/2014/main" id="{B9EE1548-29A6-4D66-9F11-2F898B00BB74}"/>
              </a:ext>
            </a:extLst>
          </p:cNvPr>
          <p:cNvSpPr>
            <a:spLocks xmlns:a="http://schemas.openxmlformats.org/drawingml/2006/main"/>
          </p:cNvSpPr>
          <p:nvPr/>
        </p:nvSpPr>
        <p:spPr>
          <a:xfrm xmlns:a="http://schemas.openxmlformats.org/drawingml/2006/main">
            <a:off x="4064000" y="3962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all k trials succeed.</a:t>
            </a:r>
          </a:p>
        </p:txBody>
      </p:sp>
      <p:sp>
        <p:nvSpPr>
          <p:cNvPr id="18" name="16b-text-15">
            <a:extLst xmlns:a="http://schemas.openxmlformats.org/drawingml/2006/main">
              <a:ext uri="{FF2B5EF4-FFF2-40B4-BE49-F238E27FC236}">
                <a16:creationId xmlns:a16="http://schemas.microsoft.com/office/drawing/2014/main" id="{7997E95C-92D8-45EE-9CF9-B8D43F4FE9EB}"/>
              </a:ext>
            </a:extLst>
          </p:cNvPr>
          <p:cNvSpPr>
            <a:spLocks xmlns:a="http://schemas.openxmlformats.org/drawingml/2006/main"/>
          </p:cNvSpPr>
          <p:nvPr/>
        </p:nvSpPr>
        <p:spPr>
          <a:xfrm xmlns:a="http://schemas.openxmlformats.org/drawingml/2006/main">
            <a:off x="609600" y="5168900"/>
            <a:ext cx="109728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Identical at k = 1. Opposite stories at k = 10.</a:t>
            </a:r>
          </a:p>
        </p:txBody>
      </p:sp>
      <p:sp>
        <p:nvSpPr>
          <p:cNvPr id="19" name="16b-text-16">
            <a:extLst xmlns:a="http://schemas.openxmlformats.org/drawingml/2006/main">
              <a:ext uri="{FF2B5EF4-FFF2-40B4-BE49-F238E27FC236}">
                <a16:creationId xmlns:a16="http://schemas.microsoft.com/office/drawing/2014/main" id="{6FD68296-02F2-4850-8E31-3D6A4DBA55F4}"/>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Start with </a:t>
            </a:r>
            <a:r>
              <a:rPr b="1">
                <a:solidFill>
                  <a:srgbClr val="FFFCF5"/>
                </a:solidFill>
                <a:latin typeface="Helvetica"/>
                <a:ea typeface="Helvetica"/>
                <a:cs typeface="Helvetica"/>
              </a:rPr>
              <a:t>20 to 50 tasks</a:t>
            </a:r>
            <a:r>
              <a:rPr b="0">
                <a:solidFill>
                  <a:srgbClr val="FFFCF5"/>
                </a:solidFill>
                <a:latin typeface="Helvetica"/>
                <a:ea typeface="Helvetica"/>
                <a:cs typeface="Helvetica"/>
              </a:rPr>
              <a:t> drawn from real failures.</a:t>
            </a:r>
          </a:p>
        </p:txBody>
      </p:sp>
      <p:sp>
        <p:nvSpPr>
          <p:cNvPr id="20" name="16b-text-17">
            <a:extLst xmlns:a="http://schemas.openxmlformats.org/drawingml/2006/main">
              <a:ext uri="{FF2B5EF4-FFF2-40B4-BE49-F238E27FC236}">
                <a16:creationId xmlns:a16="http://schemas.microsoft.com/office/drawing/2014/main" id="{10F0AA4B-633C-4668-9E0D-3BD618797434}"/>
              </a:ext>
            </a:extLst>
          </p:cNvPr>
          <p:cNvSpPr>
            <a:spLocks xmlns:a="http://schemas.openxmlformats.org/drawingml/2006/main"/>
          </p:cNvSpPr>
          <p:nvPr/>
        </p:nvSpPr>
        <p:spPr>
          <a:xfrm xmlns:a="http://schemas.openxmlformats.org/drawingml/2006/main">
            <a:off x="609600" y="36830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Read failures and refine the criteria.</a:t>
            </a:r>
          </a:p>
        </p:txBody>
      </p:sp>
      <p:sp>
        <p:nvSpPr>
          <p:cNvPr id="21" name="16b-text-18">
            <a:extLst xmlns:a="http://schemas.openxmlformats.org/drawingml/2006/main">
              <a:ext uri="{FF2B5EF4-FFF2-40B4-BE49-F238E27FC236}">
                <a16:creationId xmlns:a16="http://schemas.microsoft.com/office/drawing/2014/main" id="{0A42B00E-6BD7-4C66-B0C2-069BF7CAA639}"/>
              </a:ext>
            </a:extLst>
          </p:cNvPr>
          <p:cNvSpPr>
            <a:spLocks xmlns:a="http://schemas.openxmlformats.org/drawingml/2006/main"/>
          </p:cNvSpPr>
          <p:nvPr/>
        </p:nvSpPr>
        <p:spPr>
          <a:xfrm xmlns:a="http://schemas.openxmlformats.org/drawingml/2006/main">
            <a:off x="609600" y="4927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Review grader disagreements.</a:t>
            </a:r>
          </a:p>
        </p:txBody>
      </p:sp>
    </p:spTree>
    <p:extLst>
      <p:ext uri="{BB962C8B-B14F-4D97-AF65-F5344CB8AC3E}">
        <p14:creationId xmlns:p14="http://schemas.microsoft.com/office/powerpoint/2010/main" val="696203527"/>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2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8"/>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9"/>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0"/>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1"/>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2"/>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3"/>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14"/>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5"/>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6"/>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7"/>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18"/>
                                        </p:tgtEl>
                                        <p:attrNameLst>
                                          <p:attrName>style.visibility</p:attrName>
                                        </p:attrNameLst>
                                      </p:cBhvr>
                                      <p:to>
                                        <p:strVal val="hidden"/>
                                      </p:to>
                                    </p:set>
                                  </p:childTnLst>
                                </p:cTn>
                              </p:par>
                              <p:par>
                                <p:cTn id="59" presetID="1" presetClass="entr" presetSubtype="0" fill="hold" nodeType="with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 name="!!area-name">
            <a:extLst xmlns:a="http://schemas.openxmlformats.org/drawingml/2006/main">
              <a:ext uri="{FF2B5EF4-FFF2-40B4-BE49-F238E27FC236}">
                <a16:creationId xmlns:a16="http://schemas.microsoft.com/office/drawing/2014/main" id="{138B7986-8458-4129-85E4-989C36860C2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25" name="mini-map"/>
          <p:cNvPicPr>
            <a:picLocks xmlns:a="http://schemas.openxmlformats.org/drawingml/2006/main" noChangeAspect="1"/>
          </p:cNvPicPr>
          <p:nvPr/>
        </p:nvPicPr>
        <p:blipFill>
          <a:blip xmlns:r="http://schemas.openxmlformats.org/officeDocument/2006/relationships" xmlns:a="http://schemas.openxmlformats.org/drawingml/2006/main" r:embed="Rf90bcd7881ed44c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B1E2CF0B-8E31-4B0B-8A99-5B1294316CC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 name="header-divider">
            <a:extLst xmlns:a="http://schemas.openxmlformats.org/drawingml/2006/main">
              <a:ext uri="{FF2B5EF4-FFF2-40B4-BE49-F238E27FC236}">
                <a16:creationId xmlns:a16="http://schemas.microsoft.com/office/drawing/2014/main" id="{91FD6411-9E1B-457B-B340-BB23901772C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17-text-1">
            <a:extLst xmlns:a="http://schemas.openxmlformats.org/drawingml/2006/main">
              <a:ext uri="{FF2B5EF4-FFF2-40B4-BE49-F238E27FC236}">
                <a16:creationId xmlns:a16="http://schemas.microsoft.com/office/drawing/2014/main" id="{64E694C6-C1A8-4674-B9F2-3D2EC0502439}"/>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must define the checks your domain needs.</a:t>
            </a:r>
          </a:p>
        </p:txBody>
      </p:sp>
      <p:sp>
        <p:nvSpPr>
          <p:cNvPr id="6" name="17-text-2">
            <a:extLst xmlns:a="http://schemas.openxmlformats.org/drawingml/2006/main">
              <a:ext uri="{FF2B5EF4-FFF2-40B4-BE49-F238E27FC236}">
                <a16:creationId xmlns:a16="http://schemas.microsoft.com/office/drawing/2014/main" id="{172A637D-E7D5-4285-BBDA-114CE9A85C36}"/>
              </a:ext>
            </a:extLst>
          </p:cNvPr>
          <p:cNvSpPr>
            <a:spLocks xmlns:a="http://schemas.openxmlformats.org/drawingml/2006/main"/>
          </p:cNvSpPr>
          <p:nvPr/>
        </p:nvSpPr>
        <p:spPr>
          <a:xfrm xmlns:a="http://schemas.openxmlformats.org/drawingml/2006/main">
            <a:off x="609600" y="37465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Refund limits · Account ownership · Ledger state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Faithfulness may need expert judgment.</a:t>
            </a:r>
          </a:p>
        </p:txBody>
      </p:sp>
      <p:sp>
        <p:nvSpPr>
          <p:cNvPr id="7" name="17-shape-3">
            <a:extLst xmlns:a="http://schemas.openxmlformats.org/drawingml/2006/main">
              <a:ext uri="{FF2B5EF4-FFF2-40B4-BE49-F238E27FC236}">
                <a16:creationId xmlns:a16="http://schemas.microsoft.com/office/drawing/2014/main" id="{1134C860-073B-4ACE-AF58-321D5A66D4D7}"/>
              </a:ext>
            </a:extLst>
          </p:cNvPr>
          <p:cNvSpPr>
            <a:spLocks xmlns:a="http://schemas.openxmlformats.org/drawingml/2006/main"/>
          </p:cNvSpPr>
          <p:nvPr/>
        </p:nvSpPr>
        <p:spPr>
          <a:xfrm xmlns:a="http://schemas.openxmlformats.org/drawingml/2006/main">
            <a:off x="609600" y="24384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8" name="17-text-4">
            <a:extLst xmlns:a="http://schemas.openxmlformats.org/drawingml/2006/main">
              <a:ext uri="{FF2B5EF4-FFF2-40B4-BE49-F238E27FC236}">
                <a16:creationId xmlns:a16="http://schemas.microsoft.com/office/drawing/2014/main" id="{CDBB6D88-295D-4ED0-8AC0-D4A7071A9461}"/>
              </a:ext>
            </a:extLst>
          </p:cNvPr>
          <p:cNvSpPr>
            <a:spLocks xmlns:a="http://schemas.openxmlformats.org/drawingml/2006/main"/>
          </p:cNvSpPr>
          <p:nvPr/>
        </p:nvSpPr>
        <p:spPr>
          <a:xfrm xmlns:a="http://schemas.openxmlformats.org/drawingml/2006/main">
            <a:off x="812800" y="25908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9" name="17-text-5">
            <a:extLst xmlns:a="http://schemas.openxmlformats.org/drawingml/2006/main">
              <a:ext uri="{FF2B5EF4-FFF2-40B4-BE49-F238E27FC236}">
                <a16:creationId xmlns:a16="http://schemas.microsoft.com/office/drawing/2014/main" id="{50E973C5-8A2A-46CE-A98B-14F2F711CE5A}"/>
              </a:ext>
            </a:extLst>
          </p:cNvPr>
          <p:cNvSpPr>
            <a:spLocks xmlns:a="http://schemas.openxmlformats.org/drawingml/2006/main"/>
          </p:cNvSpPr>
          <p:nvPr/>
        </p:nvSpPr>
        <p:spPr>
          <a:xfrm xmlns:a="http://schemas.openxmlformats.org/drawingml/2006/main">
            <a:off x="812800" y="34036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Build the verifier.</a:t>
            </a:r>
          </a:p>
        </p:txBody>
      </p:sp>
      <p:sp>
        <p:nvSpPr>
          <p:cNvPr id="10" name="17-text-6">
            <a:extLst xmlns:a="http://schemas.openxmlformats.org/drawingml/2006/main">
              <a:ext uri="{FF2B5EF4-FFF2-40B4-BE49-F238E27FC236}">
                <a16:creationId xmlns:a16="http://schemas.microsoft.com/office/drawing/2014/main" id="{3C5AEECF-8EE5-43DB-8BD5-456556B878EF}"/>
              </a:ext>
            </a:extLst>
          </p:cNvPr>
          <p:cNvSpPr>
            <a:spLocks xmlns:a="http://schemas.openxmlformats.org/drawingml/2006/main"/>
          </p:cNvSpPr>
          <p:nvPr/>
        </p:nvSpPr>
        <p:spPr>
          <a:xfrm xmlns:a="http://schemas.openxmlformats.org/drawingml/2006/main">
            <a:off x="812800" y="41910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Schema check · business rule · database state · calibrated rubric · human</a:t>
            </a:r>
          </a:p>
        </p:txBody>
      </p:sp>
      <p:sp>
        <p:nvSpPr>
          <p:cNvPr id="11" name="17-shape-7">
            <a:extLst xmlns:a="http://schemas.openxmlformats.org/drawingml/2006/main">
              <a:ext uri="{FF2B5EF4-FFF2-40B4-BE49-F238E27FC236}">
                <a16:creationId xmlns:a16="http://schemas.microsoft.com/office/drawing/2014/main" id="{774C4E6D-D1E0-4BA7-8B5D-F153E2400CB0}"/>
              </a:ext>
            </a:extLst>
          </p:cNvPr>
          <p:cNvSpPr>
            <a:spLocks xmlns:a="http://schemas.openxmlformats.org/drawingml/2006/main"/>
          </p:cNvSpPr>
          <p:nvPr/>
        </p:nvSpPr>
        <p:spPr>
          <a:xfrm xmlns:a="http://schemas.openxmlformats.org/drawingml/2006/main">
            <a:off x="4368800" y="24384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12" name="17-text-8">
            <a:extLst xmlns:a="http://schemas.openxmlformats.org/drawingml/2006/main">
              <a:ext uri="{FF2B5EF4-FFF2-40B4-BE49-F238E27FC236}">
                <a16:creationId xmlns:a16="http://schemas.microsoft.com/office/drawing/2014/main" id="{0D423014-59F9-4213-89D3-07FFBB589C7D}"/>
              </a:ext>
            </a:extLst>
          </p:cNvPr>
          <p:cNvSpPr>
            <a:spLocks xmlns:a="http://schemas.openxmlformats.org/drawingml/2006/main"/>
          </p:cNvSpPr>
          <p:nvPr/>
        </p:nvSpPr>
        <p:spPr>
          <a:xfrm xmlns:a="http://schemas.openxmlformats.org/drawingml/2006/main">
            <a:off x="4572000" y="25908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3" name="17-text-9">
            <a:extLst xmlns:a="http://schemas.openxmlformats.org/drawingml/2006/main">
              <a:ext uri="{FF2B5EF4-FFF2-40B4-BE49-F238E27FC236}">
                <a16:creationId xmlns:a16="http://schemas.microsoft.com/office/drawing/2014/main" id="{560B9F6A-EBCD-4354-8B52-AA6F75CDA093}"/>
              </a:ext>
            </a:extLst>
          </p:cNvPr>
          <p:cNvSpPr>
            <a:spLocks xmlns:a="http://schemas.openxmlformats.org/drawingml/2006/main"/>
          </p:cNvSpPr>
          <p:nvPr/>
        </p:nvSpPr>
        <p:spPr>
          <a:xfrm xmlns:a="http://schemas.openxmlformats.org/drawingml/2006/main">
            <a:off x="4572000" y="34036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Build the eval suite.</a:t>
            </a:r>
          </a:p>
        </p:txBody>
      </p:sp>
      <p:sp>
        <p:nvSpPr>
          <p:cNvPr id="14" name="17-text-10">
            <a:extLst xmlns:a="http://schemas.openxmlformats.org/drawingml/2006/main">
              <a:ext uri="{FF2B5EF4-FFF2-40B4-BE49-F238E27FC236}">
                <a16:creationId xmlns:a16="http://schemas.microsoft.com/office/drawing/2014/main" id="{22DD04B2-9763-42B8-A2A2-6334002DCF25}"/>
              </a:ext>
            </a:extLst>
          </p:cNvPr>
          <p:cNvSpPr>
            <a:spLocks xmlns:a="http://schemas.openxmlformats.org/drawingml/2006/main"/>
          </p:cNvSpPr>
          <p:nvPr/>
        </p:nvSpPr>
        <p:spPr>
          <a:xfrm xmlns:a="http://schemas.openxmlformats.org/drawingml/2006/main">
            <a:off x="4572000" y="41910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Representative cases and repeated trials.</a:t>
            </a:r>
          </a:p>
        </p:txBody>
      </p:sp>
      <p:sp>
        <p:nvSpPr>
          <p:cNvPr id="15" name="17-shape-11">
            <a:extLst xmlns:a="http://schemas.openxmlformats.org/drawingml/2006/main">
              <a:ext uri="{FF2B5EF4-FFF2-40B4-BE49-F238E27FC236}">
                <a16:creationId xmlns:a16="http://schemas.microsoft.com/office/drawing/2014/main" id="{A37DA0CA-3993-4107-B329-256AA5D3C9E4}"/>
              </a:ext>
            </a:extLst>
          </p:cNvPr>
          <p:cNvSpPr>
            <a:spLocks xmlns:a="http://schemas.openxmlformats.org/drawingml/2006/main"/>
          </p:cNvSpPr>
          <p:nvPr/>
        </p:nvSpPr>
        <p:spPr>
          <a:xfrm xmlns:a="http://schemas.openxmlformats.org/drawingml/2006/main">
            <a:off x="8128000" y="24384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16" name="17-text-12">
            <a:extLst xmlns:a="http://schemas.openxmlformats.org/drawingml/2006/main">
              <a:ext uri="{FF2B5EF4-FFF2-40B4-BE49-F238E27FC236}">
                <a16:creationId xmlns:a16="http://schemas.microsoft.com/office/drawing/2014/main" id="{7E409F8D-22A4-467D-80A4-6C19F50816A8}"/>
              </a:ext>
            </a:extLst>
          </p:cNvPr>
          <p:cNvSpPr>
            <a:spLocks xmlns:a="http://schemas.openxmlformats.org/drawingml/2006/main"/>
          </p:cNvSpPr>
          <p:nvPr/>
        </p:nvSpPr>
        <p:spPr>
          <a:xfrm xmlns:a="http://schemas.openxmlformats.org/drawingml/2006/main">
            <a:off x="8331200" y="25908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7" name="17-text-13">
            <a:extLst xmlns:a="http://schemas.openxmlformats.org/drawingml/2006/main">
              <a:ext uri="{FF2B5EF4-FFF2-40B4-BE49-F238E27FC236}">
                <a16:creationId xmlns:a16="http://schemas.microsoft.com/office/drawing/2014/main" id="{270B2117-A323-42E0-A57B-6A67E10B7B3C}"/>
              </a:ext>
            </a:extLst>
          </p:cNvPr>
          <p:cNvSpPr>
            <a:spLocks xmlns:a="http://schemas.openxmlformats.org/drawingml/2006/main"/>
          </p:cNvSpPr>
          <p:nvPr/>
        </p:nvSpPr>
        <p:spPr>
          <a:xfrm xmlns:a="http://schemas.openxmlformats.org/drawingml/2006/main">
            <a:off x="8331200" y="34036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Keep running it.</a:t>
            </a:r>
          </a:p>
        </p:txBody>
      </p:sp>
      <p:sp>
        <p:nvSpPr>
          <p:cNvPr id="18" name="17-text-14">
            <a:extLst xmlns:a="http://schemas.openxmlformats.org/drawingml/2006/main">
              <a:ext uri="{FF2B5EF4-FFF2-40B4-BE49-F238E27FC236}">
                <a16:creationId xmlns:a16="http://schemas.microsoft.com/office/drawing/2014/main" id="{EF97A389-06A1-4D04-B605-98B9F8FB9EA3}"/>
              </a:ext>
            </a:extLst>
          </p:cNvPr>
          <p:cNvSpPr>
            <a:spLocks xmlns:a="http://schemas.openxmlformats.org/drawingml/2006/main"/>
          </p:cNvSpPr>
          <p:nvPr/>
        </p:nvSpPr>
        <p:spPr>
          <a:xfrm xmlns:a="http://schemas.openxmlformats.org/drawingml/2006/main">
            <a:off x="8331200" y="41910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Regression checks and sampled production traffic.</a:t>
            </a:r>
          </a:p>
        </p:txBody>
      </p:sp>
      <p:sp>
        <p:nvSpPr>
          <p:cNvPr id="19" name="17-text-15">
            <a:extLst xmlns:a="http://schemas.openxmlformats.org/drawingml/2006/main">
              <a:ext uri="{FF2B5EF4-FFF2-40B4-BE49-F238E27FC236}">
                <a16:creationId xmlns:a16="http://schemas.microsoft.com/office/drawing/2014/main" id="{D228950B-EED3-4DBD-8A2C-7858BAEB5B93}"/>
              </a:ext>
            </a:extLst>
          </p:cNvPr>
          <p:cNvSpPr>
            <a:spLocks xmlns:a="http://schemas.openxmlformats.org/drawingml/2006/main"/>
          </p:cNvSpPr>
          <p:nvPr/>
        </p:nvSpPr>
        <p:spPr>
          <a:xfrm xmlns:a="http://schemas.openxmlformats.org/drawingml/2006/main">
            <a:off x="609600" y="5435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eval suite gives evidence for a migration decision.</a:t>
            </a:r>
          </a:p>
        </p:txBody>
      </p:sp>
      <p:sp>
        <p:nvSpPr>
          <p:cNvPr id="20" name="17-shape-16">
            <a:extLst xmlns:a="http://schemas.openxmlformats.org/drawingml/2006/main">
              <a:ext uri="{FF2B5EF4-FFF2-40B4-BE49-F238E27FC236}">
                <a16:creationId xmlns:a16="http://schemas.microsoft.com/office/drawing/2014/main" id="{1A12D347-EF84-4D1E-925B-A0BADD2EB52B}"/>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1" name="17-shape-17">
            <a:extLst xmlns:a="http://schemas.openxmlformats.org/drawingml/2006/main">
              <a:ext uri="{FF2B5EF4-FFF2-40B4-BE49-F238E27FC236}">
                <a16:creationId xmlns:a16="http://schemas.microsoft.com/office/drawing/2014/main" id="{8695E311-37A5-41D3-B6F6-BBA06387AE5E}"/>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22" name="17-text-18">
            <a:extLst xmlns:a="http://schemas.openxmlformats.org/drawingml/2006/main">
              <a:ext uri="{FF2B5EF4-FFF2-40B4-BE49-F238E27FC236}">
                <a16:creationId xmlns:a16="http://schemas.microsoft.com/office/drawing/2014/main" id="{3065D660-6363-4A1B-B88F-4A77AEB5476E}"/>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3" name="17-text-19">
            <a:extLst xmlns:a="http://schemas.openxmlformats.org/drawingml/2006/main">
              <a:ext uri="{FF2B5EF4-FFF2-40B4-BE49-F238E27FC236}">
                <a16:creationId xmlns:a16="http://schemas.microsoft.com/office/drawing/2014/main" id="{7FA5DC4D-BCE2-4D0B-A5A1-125330F7B075}"/>
              </a:ext>
            </a:extLst>
          </p:cNvPr>
          <p:cNvSpPr>
            <a:spLocks xmlns:a="http://schemas.openxmlformats.org/drawingml/2006/main"/>
          </p:cNvSpPr>
          <p:nvPr/>
        </p:nvSpPr>
        <p:spPr>
          <a:xfrm xmlns:a="http://schemas.openxmlformats.org/drawingml/2006/main">
            <a:off x="2489200" y="6096000"/>
            <a:ext cx="90932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Tree>
    <p:extLst>
      <p:ext uri="{BB962C8B-B14F-4D97-AF65-F5344CB8AC3E}">
        <p14:creationId xmlns:p14="http://schemas.microsoft.com/office/powerpoint/2010/main" val="10476904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5"/>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6"/>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200" fill="hold"/>
                                        <p:tgtEl>
                                          <p:spTgt spid="7"/>
                                        </p:tgtEl>
                                      </p:cBhvr>
                                    </p:animEffect>
                                  </p:childTnLst>
                                </p:cTn>
                              </p:par>
                              <p:par>
                                <p:cTn id="18" presetID="1"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par>
                                <p:cTn id="24" presetID="10"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200" fill="hold"/>
                                        <p:tgtEl>
                                          <p:spTgt spid="11"/>
                                        </p:tgtEl>
                                      </p:cBhvr>
                                    </p:animEffec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0"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200" fill="hold"/>
                                        <p:tgtEl>
                                          <p:spTgt spid="15"/>
                                        </p:tgtEl>
                                      </p:cBhvr>
                                    </p:animEffect>
                                  </p:childTnLst>
                                </p:cTn>
                              </p:par>
                              <p:par>
                                <p:cTn id="36" presetID="1" presetClass="entr" presetSubtype="0"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00" fill="hold"/>
                                        <p:tgtEl>
                                          <p:spTgt spid="20"/>
                                        </p:tgtEl>
                                      </p:cBhvr>
                                    </p:animEffect>
                                  </p:childTnLst>
                                </p:cTn>
                              </p:par>
                              <p:par>
                                <p:cTn id="51" presetID="10" presetClass="entr" presetSubtype="0"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300" fill="hold"/>
                                        <p:tgtEl>
                                          <p:spTgt spid="21"/>
                                        </p:tgtEl>
                                      </p:cBhvr>
                                    </p:animEffect>
                                  </p:childTnLst>
                                </p:cTn>
                              </p:par>
                              <p:par>
                                <p:cTn id="54" presetID="10" presetClass="entr" presetSubtype="0" fill="hold"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300" fill="hold"/>
                                        <p:tgtEl>
                                          <p:spTgt spid="22"/>
                                        </p:tgtEl>
                                      </p:cBhvr>
                                    </p:animEffect>
                                  </p:childTnLst>
                                </p:cTn>
                              </p:par>
                              <p:par>
                                <p:cTn id="57" presetID="10"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300" fill="hold"/>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 name="!!area-header">
            <a:extLst xmlns:a="http://schemas.openxmlformats.org/drawingml/2006/main">
              <a:ext uri="{FF2B5EF4-FFF2-40B4-BE49-F238E27FC236}">
                <a16:creationId xmlns:a16="http://schemas.microsoft.com/office/drawing/2014/main" id="{B68CAD5B-E59B-468E-B647-C274616F4F46}"/>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F91974E8-3278-4E18-BA46-5BA898BAA849}"/>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Operating it</a:t>
            </a:r>
          </a:p>
        </p:txBody>
      </p:sp>
      <p:sp>
        <p:nvSpPr>
          <p:cNvPr id="3" name="!!area-beat">
            <a:extLst xmlns:a="http://schemas.openxmlformats.org/drawingml/2006/main">
              <a:ext uri="{FF2B5EF4-FFF2-40B4-BE49-F238E27FC236}">
                <a16:creationId xmlns:a16="http://schemas.microsoft.com/office/drawing/2014/main" id="{6F6DD15B-D703-4804-80CE-B829B90E3BA4}"/>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header-divider">
            <a:extLst xmlns:a="http://schemas.openxmlformats.org/drawingml/2006/main">
              <a:ext uri="{FF2B5EF4-FFF2-40B4-BE49-F238E27FC236}">
                <a16:creationId xmlns:a16="http://schemas.microsoft.com/office/drawing/2014/main" id="{8F3A6905-D863-460D-B611-8FDE2D70E4DD}"/>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18-shape-1">
            <a:extLst xmlns:a="http://schemas.openxmlformats.org/drawingml/2006/main">
              <a:ext uri="{FF2B5EF4-FFF2-40B4-BE49-F238E27FC236}">
                <a16:creationId xmlns:a16="http://schemas.microsoft.com/office/drawing/2014/main" id="{0A02A386-8A65-4337-AC0F-335EF035C448}"/>
              </a:ext>
            </a:extLst>
          </p:cNvPr>
          <p:cNvSpPr>
            <a:spLocks xmlns:a="http://schemas.openxmlformats.org/drawingml/2006/main"/>
          </p:cNvSpPr>
          <p:nvPr/>
        </p:nvSpPr>
        <p:spPr>
          <a:xfrm xmlns:a="http://schemas.openxmlformats.org/drawingml/2006/main">
            <a:off x="609600" y="2489200"/>
            <a:ext cx="11430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6" name="18-text-2">
            <a:extLst xmlns:a="http://schemas.openxmlformats.org/drawingml/2006/main">
              <a:ext uri="{FF2B5EF4-FFF2-40B4-BE49-F238E27FC236}">
                <a16:creationId xmlns:a16="http://schemas.microsoft.com/office/drawing/2014/main" id="{ED92CFCD-4C1B-4B65-BEEB-A56E52166DB1}"/>
              </a:ext>
            </a:extLst>
          </p:cNvPr>
          <p:cNvSpPr>
            <a:spLocks xmlns:a="http://schemas.openxmlformats.org/drawingml/2006/main"/>
          </p:cNvSpPr>
          <p:nvPr/>
        </p:nvSpPr>
        <p:spPr>
          <a:xfrm xmlns:a="http://schemas.openxmlformats.org/drawingml/2006/main">
            <a:off x="762000" y="2527300"/>
            <a:ext cx="83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/usage</a:t>
            </a:r>
          </a:p>
        </p:txBody>
      </p:sp>
      <p:sp>
        <p:nvSpPr>
          <p:cNvPr id="7" name="18-shape-3">
            <a:extLst xmlns:a="http://schemas.openxmlformats.org/drawingml/2006/main">
              <a:ext uri="{FF2B5EF4-FFF2-40B4-BE49-F238E27FC236}">
                <a16:creationId xmlns:a16="http://schemas.microsoft.com/office/drawing/2014/main" id="{684C7344-C148-4C1C-A415-63EF5C351D0A}"/>
              </a:ext>
            </a:extLst>
          </p:cNvPr>
          <p:cNvSpPr>
            <a:spLocks xmlns:a="http://schemas.openxmlformats.org/drawingml/2006/main"/>
          </p:cNvSpPr>
          <p:nvPr/>
        </p:nvSpPr>
        <p:spPr>
          <a:xfrm xmlns:a="http://schemas.openxmlformats.org/drawingml/2006/main">
            <a:off x="1854200" y="2489200"/>
            <a:ext cx="3454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8" name="18-text-4">
            <a:extLst xmlns:a="http://schemas.openxmlformats.org/drawingml/2006/main">
              <a:ext uri="{FF2B5EF4-FFF2-40B4-BE49-F238E27FC236}">
                <a16:creationId xmlns:a16="http://schemas.microsoft.com/office/drawing/2014/main" id="{1A7C3F4B-32FC-4140-A3FE-93A3D952230E}"/>
              </a:ext>
            </a:extLst>
          </p:cNvPr>
          <p:cNvSpPr>
            <a:spLocks xmlns:a="http://schemas.openxmlformats.org/drawingml/2006/main"/>
          </p:cNvSpPr>
          <p:nvPr/>
        </p:nvSpPr>
        <p:spPr>
          <a:xfrm xmlns:a="http://schemas.openxmlformats.org/drawingml/2006/main">
            <a:off x="2006600" y="2527300"/>
            <a:ext cx="314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OpenTelemetry exporter</a:t>
            </a:r>
          </a:p>
        </p:txBody>
      </p:sp>
      <p:sp>
        <p:nvSpPr>
          <p:cNvPr id="9" name="18-shape-5">
            <a:extLst xmlns:a="http://schemas.openxmlformats.org/drawingml/2006/main">
              <a:ext uri="{FF2B5EF4-FFF2-40B4-BE49-F238E27FC236}">
                <a16:creationId xmlns:a16="http://schemas.microsoft.com/office/drawing/2014/main" id="{7029405D-6358-4AF1-BA48-1840F88D2EA6}"/>
              </a:ext>
            </a:extLst>
          </p:cNvPr>
          <p:cNvSpPr>
            <a:spLocks xmlns:a="http://schemas.openxmlformats.org/drawingml/2006/main"/>
          </p:cNvSpPr>
          <p:nvPr/>
        </p:nvSpPr>
        <p:spPr>
          <a:xfrm xmlns:a="http://schemas.openxmlformats.org/drawingml/2006/main">
            <a:off x="5410200" y="2489200"/>
            <a:ext cx="1689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 name="18-text-6">
            <a:extLst xmlns:a="http://schemas.openxmlformats.org/drawingml/2006/main">
              <a:ext uri="{FF2B5EF4-FFF2-40B4-BE49-F238E27FC236}">
                <a16:creationId xmlns:a16="http://schemas.microsoft.com/office/drawing/2014/main" id="{67619132-9F61-4E0A-98D4-313E23DF5366}"/>
              </a:ext>
            </a:extLst>
          </p:cNvPr>
          <p:cNvSpPr>
            <a:spLocks xmlns:a="http://schemas.openxmlformats.org/drawingml/2006/main"/>
          </p:cNvSpPr>
          <p:nvPr/>
        </p:nvSpPr>
        <p:spPr>
          <a:xfrm xmlns:a="http://schemas.openxmlformats.org/drawingml/2006/main">
            <a:off x="5562600" y="2527300"/>
            <a:ext cx="138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sandbox</a:t>
            </a:r>
          </a:p>
        </p:txBody>
      </p:sp>
      <p:sp>
        <p:nvSpPr>
          <p:cNvPr id="11" name="18-shape-7">
            <a:extLst xmlns:a="http://schemas.openxmlformats.org/drawingml/2006/main">
              <a:ext uri="{FF2B5EF4-FFF2-40B4-BE49-F238E27FC236}">
                <a16:creationId xmlns:a16="http://schemas.microsoft.com/office/drawing/2014/main" id="{547EE98E-1BB1-4399-8E4B-1B1CBA588DE9}"/>
              </a:ext>
            </a:extLst>
          </p:cNvPr>
          <p:cNvSpPr>
            <a:spLocks xmlns:a="http://schemas.openxmlformats.org/drawingml/2006/main"/>
          </p:cNvSpPr>
          <p:nvPr/>
        </p:nvSpPr>
        <p:spPr>
          <a:xfrm xmlns:a="http://schemas.openxmlformats.org/drawingml/2006/main">
            <a:off x="7200900" y="2489200"/>
            <a:ext cx="2057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2" name="18-text-8">
            <a:extLst xmlns:a="http://schemas.openxmlformats.org/drawingml/2006/main">
              <a:ext uri="{FF2B5EF4-FFF2-40B4-BE49-F238E27FC236}">
                <a16:creationId xmlns:a16="http://schemas.microsoft.com/office/drawing/2014/main" id="{E0F68E2E-9ED8-4DCE-9FAC-BE249720194B}"/>
              </a:ext>
            </a:extLst>
          </p:cNvPr>
          <p:cNvSpPr>
            <a:spLocks xmlns:a="http://schemas.openxmlformats.org/drawingml/2006/main"/>
          </p:cNvSpPr>
          <p:nvPr/>
        </p:nvSpPr>
        <p:spPr>
          <a:xfrm xmlns:a="http://schemas.openxmlformats.org/drawingml/2006/main">
            <a:off x="7353300" y="2527300"/>
            <a:ext cx="175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OAuth login</a:t>
            </a:r>
          </a:p>
        </p:txBody>
      </p:sp>
      <p:sp>
        <p:nvSpPr>
          <p:cNvPr id="13" name="18-text-9">
            <a:extLst xmlns:a="http://schemas.openxmlformats.org/drawingml/2006/main">
              <a:ext uri="{FF2B5EF4-FFF2-40B4-BE49-F238E27FC236}">
                <a16:creationId xmlns:a16="http://schemas.microsoft.com/office/drawing/2014/main" id="{FBF19A19-EF73-49B5-8B37-824E04C64351}"/>
              </a:ext>
            </a:extLst>
          </p:cNvPr>
          <p:cNvSpPr>
            <a:spLocks xmlns:a="http://schemas.openxmlformats.org/drawingml/2006/main"/>
          </p:cNvSpPr>
          <p:nvPr/>
        </p:nvSpPr>
        <p:spPr>
          <a:xfrm xmlns:a="http://schemas.openxmlformats.org/drawingml/2006/main">
            <a:off x="609600" y="3835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And a trust and safety team you have never met.</a:t>
            </a:r>
          </a:p>
        </p:txBody>
      </p:sp>
    </p:spTree>
    <p:extLst>
      <p:ext uri="{BB962C8B-B14F-4D97-AF65-F5344CB8AC3E}">
        <p14:creationId xmlns:p14="http://schemas.microsoft.com/office/powerpoint/2010/main" val="537566494"/>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 name="!!area-name">
            <a:extLst xmlns:a="http://schemas.openxmlformats.org/drawingml/2006/main">
              <a:ext uri="{FF2B5EF4-FFF2-40B4-BE49-F238E27FC236}">
                <a16:creationId xmlns:a16="http://schemas.microsoft.com/office/drawing/2014/main" id="{A4DBA8EE-E437-4127-AECD-D04B17B3B13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26" name="mini-map"/>
          <p:cNvPicPr>
            <a:picLocks xmlns:a="http://schemas.openxmlformats.org/drawingml/2006/main" noChangeAspect="1"/>
          </p:cNvPicPr>
          <p:nvPr/>
        </p:nvPicPr>
        <p:blipFill>
          <a:blip xmlns:r="http://schemas.openxmlformats.org/officeDocument/2006/relationships" xmlns:a="http://schemas.openxmlformats.org/drawingml/2006/main" r:embed="R6e617014629c43e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42BA105F-D29D-43E4-B4C4-814E55DEB88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18b-text-1">
            <a:extLst xmlns:a="http://schemas.openxmlformats.org/drawingml/2006/main">
              <a:ext uri="{FF2B5EF4-FFF2-40B4-BE49-F238E27FC236}">
                <a16:creationId xmlns:a16="http://schemas.microsoft.com/office/drawing/2014/main" id="{21491E9A-0B93-4F03-8D6E-27B37587FF42}"/>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5" name="18b-text-2">
            <a:extLst xmlns:a="http://schemas.openxmlformats.org/drawingml/2006/main">
              <a:ext uri="{FF2B5EF4-FFF2-40B4-BE49-F238E27FC236}">
                <a16:creationId xmlns:a16="http://schemas.microsoft.com/office/drawing/2014/main" id="{0003361A-F2F3-44BE-8835-FD359C0ED87C}"/>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Observability</a:t>
            </a:r>
          </a:p>
        </p:txBody>
      </p:sp>
      <p:sp>
        <p:nvSpPr>
          <p:cNvPr id="6" name="18b-text-3">
            <a:extLst xmlns:a="http://schemas.openxmlformats.org/drawingml/2006/main">
              <a:ext uri="{FF2B5EF4-FFF2-40B4-BE49-F238E27FC236}">
                <a16:creationId xmlns:a16="http://schemas.microsoft.com/office/drawing/2014/main" id="{41393290-F412-4140-B1A9-9E536830B422}"/>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 · p95 and p99 tokens · cache hit rate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loop iterations · tool failures</a:t>
            </a:r>
          </a:p>
        </p:txBody>
      </p:sp>
      <p:sp>
        <p:nvSpPr>
          <p:cNvPr id="7" name="18b-text-4">
            <a:extLst xmlns:a="http://schemas.openxmlformats.org/drawingml/2006/main">
              <a:ext uri="{FF2B5EF4-FFF2-40B4-BE49-F238E27FC236}">
                <a16:creationId xmlns:a16="http://schemas.microsoft.com/office/drawing/2014/main" id="{DA2A8266-6BE6-40E0-93ED-0C3043A24582}"/>
              </a:ext>
            </a:extLst>
          </p:cNvPr>
          <p:cNvSpPr>
            <a:spLocks xmlns:a="http://schemas.openxmlformats.org/drawingml/2006/main"/>
          </p:cNvSpPr>
          <p:nvPr/>
        </p:nvSpPr>
        <p:spPr>
          <a:xfrm xmlns:a="http://schemas.openxmlformats.org/drawingml/2006/main">
            <a:off x="609600" y="3733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Guardrails</a:t>
            </a:r>
          </a:p>
        </p:txBody>
      </p:sp>
      <p:sp>
        <p:nvSpPr>
          <p:cNvPr id="8" name="18b-text-5">
            <a:extLst xmlns:a="http://schemas.openxmlformats.org/drawingml/2006/main">
              <a:ext uri="{FF2B5EF4-FFF2-40B4-BE49-F238E27FC236}">
                <a16:creationId xmlns:a16="http://schemas.microsoft.com/office/drawing/2014/main" id="{F22C8EA9-96FB-4477-821F-BABB2EBE71C6}"/>
              </a:ext>
            </a:extLst>
          </p:cNvPr>
          <p:cNvSpPr>
            <a:spLocks xmlns:a="http://schemas.openxmlformats.org/drawingml/2006/main"/>
          </p:cNvSpPr>
          <p:nvPr/>
        </p:nvSpPr>
        <p:spPr>
          <a:xfrm xmlns:a="http://schemas.openxmlformats.org/drawingml/2006/main">
            <a:off x="2489200" y="3683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classification · provenance · sandboxing · validation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circuit breakers · approvals · least privilege</a:t>
            </a:r>
          </a:p>
        </p:txBody>
      </p:sp>
      <p:sp>
        <p:nvSpPr>
          <p:cNvPr id="9" name="18b-text-6">
            <a:extLst xmlns:a="http://schemas.openxmlformats.org/drawingml/2006/main">
              <a:ext uri="{FF2B5EF4-FFF2-40B4-BE49-F238E27FC236}">
                <a16:creationId xmlns:a16="http://schemas.microsoft.com/office/drawing/2014/main" id="{55EC5E27-9F00-436B-BD5A-E6DE6805BADF}"/>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Identity</a:t>
            </a:r>
          </a:p>
        </p:txBody>
      </p:sp>
      <p:sp>
        <p:nvSpPr>
          <p:cNvPr id="10" name="18b-text-7">
            <a:extLst xmlns:a="http://schemas.openxmlformats.org/drawingml/2006/main">
              <a:ext uri="{FF2B5EF4-FFF2-40B4-BE49-F238E27FC236}">
                <a16:creationId xmlns:a16="http://schemas.microsoft.com/office/drawing/2014/main" id="{3D367901-01F8-4590-AF3B-23D015185B0F}"/>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Design pattern: workload identity with short-lived delegation.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Requirements: no token passthrough; minimal scopes.</a:t>
            </a:r>
          </a:p>
        </p:txBody>
      </p:sp>
      <p:sp>
        <p:nvSpPr>
          <p:cNvPr id="11" name="18b-text-8">
            <a:extLst xmlns:a="http://schemas.openxmlformats.org/drawingml/2006/main">
              <a:ext uri="{FF2B5EF4-FFF2-40B4-BE49-F238E27FC236}">
                <a16:creationId xmlns:a16="http://schemas.microsoft.com/office/drawing/2014/main" id="{77FF6C2B-6FEB-4089-B1A9-3408357C4369}"/>
              </a:ext>
            </a:extLst>
          </p:cNvPr>
          <p:cNvSpPr>
            <a:spLocks xmlns:a="http://schemas.openxmlformats.org/drawingml/2006/main"/>
          </p:cNvSpPr>
          <p:nvPr/>
        </p:nvSpPr>
        <p:spPr>
          <a:xfrm xmlns:a="http://schemas.openxmlformats.org/drawingml/2006/main">
            <a:off x="609600" y="3860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Governance</a:t>
            </a:r>
          </a:p>
        </p:txBody>
      </p:sp>
      <p:sp>
        <p:nvSpPr>
          <p:cNvPr id="12" name="18b-text-9">
            <a:extLst xmlns:a="http://schemas.openxmlformats.org/drawingml/2006/main">
              <a:ext uri="{FF2B5EF4-FFF2-40B4-BE49-F238E27FC236}">
                <a16:creationId xmlns:a16="http://schemas.microsoft.com/office/drawing/2014/main" id="{281B098F-1DDA-4F6D-BFCD-0174FC2E4B54}"/>
              </a:ext>
            </a:extLst>
          </p:cNvPr>
          <p:cNvSpPr>
            <a:spLocks xmlns:a="http://schemas.openxmlformats.org/drawingml/2006/main"/>
          </p:cNvSpPr>
          <p:nvPr/>
        </p:nvSpPr>
        <p:spPr>
          <a:xfrm xmlns:a="http://schemas.openxmlformats.org/drawingml/2006/main">
            <a:off x="2489200" y="3810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EU AI Act Article 50: disclosure duties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covered direct AI interactions.</a:t>
            </a:r>
          </a:p>
        </p:txBody>
      </p:sp>
      <p:sp>
        <p:nvSpPr>
          <p:cNvPr id="13" name="18b-text-10">
            <a:extLst xmlns:a="http://schemas.openxmlformats.org/drawingml/2006/main">
              <a:ext uri="{FF2B5EF4-FFF2-40B4-BE49-F238E27FC236}">
                <a16:creationId xmlns:a16="http://schemas.microsoft.com/office/drawing/2014/main" id="{335FC7BC-A2F0-4DC1-B487-9AF271AB420B}"/>
              </a:ext>
            </a:extLst>
          </p:cNvPr>
          <p:cNvSpPr>
            <a:spLocks xmlns:a="http://schemas.openxmlformats.org/drawingml/2006/main"/>
          </p:cNvSpPr>
          <p:nvPr/>
        </p:nvSpPr>
        <p:spPr>
          <a:xfrm xmlns:a="http://schemas.openxmlformats.org/drawingml/2006/main">
            <a:off x="609600" y="24384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Security</a:t>
            </a:r>
          </a:p>
        </p:txBody>
      </p:sp>
      <p:sp>
        <p:nvSpPr>
          <p:cNvPr id="14" name="18b-line-12">
            <a:extLst xmlns:a="http://schemas.openxmlformats.org/drawingml/2006/main">
              <a:ext uri="{FF2B5EF4-FFF2-40B4-BE49-F238E27FC236}">
                <a16:creationId xmlns:a16="http://schemas.microsoft.com/office/drawing/2014/main" id="{D3B933B1-C37F-4D4D-AB38-DE5DBE9D7507}"/>
              </a:ext>
            </a:extLst>
          </p:cNvPr>
          <p:cNvSpPr>
            <a:spLocks xmlns:a="http://schemas.openxmlformats.org/drawingml/2006/main"/>
          </p:cNvSpPr>
          <p:nvPr/>
        </p:nvSpPr>
        <p:spPr>
          <a:xfrm xmlns:a="http://schemas.openxmlformats.org/drawingml/2006/main" flipH="0" flipV="0">
            <a:off x="33782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5" name="18b-line-14">
            <a:extLst xmlns:a="http://schemas.openxmlformats.org/drawingml/2006/main">
              <a:ext uri="{FF2B5EF4-FFF2-40B4-BE49-F238E27FC236}">
                <a16:creationId xmlns:a16="http://schemas.microsoft.com/office/drawing/2014/main" id="{766F5C2E-65B5-42C4-954F-2C8F8A1FA2B5}"/>
              </a:ext>
            </a:extLst>
          </p:cNvPr>
          <p:cNvSpPr>
            <a:spLocks xmlns:a="http://schemas.openxmlformats.org/drawingml/2006/main"/>
          </p:cNvSpPr>
          <p:nvPr/>
        </p:nvSpPr>
        <p:spPr>
          <a:xfrm xmlns:a="http://schemas.openxmlformats.org/drawingml/2006/main" flipH="1" flipV="0">
            <a:off x="1574800" y="4953000"/>
            <a:ext cx="3606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6" name="18b-line-16">
            <a:extLst xmlns:a="http://schemas.openxmlformats.org/drawingml/2006/main">
              <a:ext uri="{FF2B5EF4-FFF2-40B4-BE49-F238E27FC236}">
                <a16:creationId xmlns:a16="http://schemas.microsoft.com/office/drawing/2014/main" id="{891A5D01-1882-4274-A34A-FD54A11FAF48}"/>
              </a:ext>
            </a:extLst>
          </p:cNvPr>
          <p:cNvSpPr>
            <a:spLocks xmlns:a="http://schemas.openxmlformats.org/drawingml/2006/main"/>
          </p:cNvSpPr>
          <p:nvPr/>
        </p:nvSpPr>
        <p:spPr>
          <a:xfrm xmlns:a="http://schemas.openxmlformats.org/drawingml/2006/main" flipH="0" flipV="1">
            <a:off x="15748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7" name="18b-text-17">
            <a:extLst xmlns:a="http://schemas.openxmlformats.org/drawingml/2006/main">
              <a:ext uri="{FF2B5EF4-FFF2-40B4-BE49-F238E27FC236}">
                <a16:creationId xmlns:a16="http://schemas.microsoft.com/office/drawing/2014/main" id="{46E9BC12-59D4-4C85-A74A-61D0816D900A}"/>
              </a:ext>
            </a:extLst>
          </p:cNvPr>
          <p:cNvSpPr>
            <a:spLocks xmlns:a="http://schemas.openxmlformats.org/drawingml/2006/main"/>
          </p:cNvSpPr>
          <p:nvPr/>
        </p:nvSpPr>
        <p:spPr>
          <a:xfrm xmlns:a="http://schemas.openxmlformats.org/drawingml/2006/main">
            <a:off x="2667000" y="3022600"/>
            <a:ext cx="1676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18" name="18b-text-18">
            <a:extLst xmlns:a="http://schemas.openxmlformats.org/drawingml/2006/main">
              <a:ext uri="{FF2B5EF4-FFF2-40B4-BE49-F238E27FC236}">
                <a16:creationId xmlns:a16="http://schemas.microsoft.com/office/drawing/2014/main" id="{C7D232F4-C2CC-4BF8-AF2C-B39631DDB9AA}"/>
              </a:ext>
            </a:extLst>
          </p:cNvPr>
          <p:cNvSpPr>
            <a:spLocks xmlns:a="http://schemas.openxmlformats.org/drawingml/2006/main"/>
          </p:cNvSpPr>
          <p:nvPr/>
        </p:nvSpPr>
        <p:spPr>
          <a:xfrm xmlns:a="http://schemas.openxmlformats.org/drawingml/2006/main">
            <a:off x="609600" y="5207000"/>
            <a:ext cx="264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19" name="18b-text-19">
            <a:extLst xmlns:a="http://schemas.openxmlformats.org/drawingml/2006/main">
              <a:ext uri="{FF2B5EF4-FFF2-40B4-BE49-F238E27FC236}">
                <a16:creationId xmlns:a16="http://schemas.microsoft.com/office/drawing/2014/main" id="{6C308677-A0F8-475B-BA95-DCDE85CF0FA2}"/>
              </a:ext>
            </a:extLst>
          </p:cNvPr>
          <p:cNvSpPr>
            <a:spLocks xmlns:a="http://schemas.openxmlformats.org/drawingml/2006/main"/>
          </p:cNvSpPr>
          <p:nvPr/>
        </p:nvSpPr>
        <p:spPr>
          <a:xfrm xmlns:a="http://schemas.openxmlformats.org/drawingml/2006/main">
            <a:off x="3657600" y="5207000"/>
            <a:ext cx="2590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20" name="18b-text-20">
            <a:extLst xmlns:a="http://schemas.openxmlformats.org/drawingml/2006/main">
              <a:ext uri="{FF2B5EF4-FFF2-40B4-BE49-F238E27FC236}">
                <a16:creationId xmlns:a16="http://schemas.microsoft.com/office/drawing/2014/main" id="{42407BF9-1446-4E66-8815-82EE99B385B3}"/>
              </a:ext>
            </a:extLst>
          </p:cNvPr>
          <p:cNvSpPr>
            <a:spLocks xmlns:a="http://schemas.openxmlformats.org/drawingml/2006/main"/>
          </p:cNvSpPr>
          <p:nvPr/>
        </p:nvSpPr>
        <p:spPr>
          <a:xfrm xmlns:a="http://schemas.openxmlformats.org/drawingml/2006/main">
            <a:off x="6248400" y="3683000"/>
            <a:ext cx="53340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Together: exfiltration risk.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Break or constrain the path.</a:t>
            </a:r>
          </a:p>
        </p:txBody>
      </p:sp>
      <p:sp>
        <p:nvSpPr>
          <p:cNvPr id="21" name="18b-text-21">
            <a:extLst xmlns:a="http://schemas.openxmlformats.org/drawingml/2006/main">
              <a:ext uri="{FF2B5EF4-FFF2-40B4-BE49-F238E27FC236}">
                <a16:creationId xmlns:a16="http://schemas.microsoft.com/office/drawing/2014/main" id="{DCC17B47-899F-46BF-BDF0-6749C9897875}"/>
              </a:ext>
            </a:extLst>
          </p:cNvPr>
          <p:cNvSpPr>
            <a:spLocks xmlns:a="http://schemas.openxmlformats.org/drawingml/2006/main"/>
          </p:cNvSpPr>
          <p:nvPr/>
        </p:nvSpPr>
        <p:spPr>
          <a:xfrm xmlns:a="http://schemas.openxmlformats.org/drawingml/2006/main">
            <a:off x="62484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Simon Willison, June 2025</a:t>
            </a:r>
          </a:p>
        </p:txBody>
      </p:sp>
      <p:sp>
        <p:nvSpPr>
          <p:cNvPr id="22" name="18b-text-22">
            <a:extLst xmlns:a="http://schemas.openxmlformats.org/drawingml/2006/main">
              <a:ext uri="{FF2B5EF4-FFF2-40B4-BE49-F238E27FC236}">
                <a16:creationId xmlns:a16="http://schemas.microsoft.com/office/drawing/2014/main" id="{EA2092F8-96E4-4201-B7FE-8369C915339A}"/>
              </a:ext>
            </a:extLst>
          </p:cNvPr>
          <p:cNvSpPr>
            <a:spLocks xmlns:a="http://schemas.openxmlformats.org/drawingml/2006/main"/>
          </p:cNvSpPr>
          <p:nvPr/>
        </p:nvSpPr>
        <p:spPr>
          <a:xfrm xmlns:a="http://schemas.openxmlformats.org/drawingml/2006/main">
            <a:off x="609600" y="2438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EchoLeak, June 2025.</a:t>
            </a:r>
            <a:r>
              <a:rPr b="0">
                <a:solidFill>
                  <a:srgbClr val="FFFCF5"/>
                </a:solidFill>
                <a:latin typeface="Helvetica"/>
                <a:ea typeface="Helvetica"/>
                <a:cs typeface="Helvetica"/>
              </a:rPr>
              <a:t> Researcher-demonstrated vulnerability.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evidence of exploitation reported.</a:t>
            </a:r>
          </a:p>
        </p:txBody>
      </p:sp>
      <p:sp>
        <p:nvSpPr>
          <p:cNvPr id="23" name="18b-text-23">
            <a:extLst xmlns:a="http://schemas.openxmlformats.org/drawingml/2006/main">
              <a:ext uri="{FF2B5EF4-FFF2-40B4-BE49-F238E27FC236}">
                <a16:creationId xmlns:a16="http://schemas.microsoft.com/office/drawing/2014/main" id="{249BBA22-6BA6-4968-81F6-D8624AB1AF84}"/>
              </a:ext>
            </a:extLst>
          </p:cNvPr>
          <p:cNvSpPr>
            <a:spLocks xmlns:a="http://schemas.openxmlformats.org/drawingml/2006/main"/>
          </p:cNvSpPr>
          <p:nvPr/>
        </p:nvSpPr>
        <p:spPr>
          <a:xfrm xmlns:a="http://schemas.openxmlformats.org/drawingml/2006/main">
            <a:off x="609600" y="3581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Replit, July 2025.</a:t>
            </a:r>
            <a:r>
              <a:rPr b="0">
                <a:solidFill>
                  <a:srgbClr val="FFFCF5"/>
                </a:solidFill>
                <a:latin typeface="Helvetica"/>
                <a:ea typeface="Helvetica"/>
                <a:cs typeface="Helvetica"/>
              </a:rPr>
              <a:t> Reported production database deletion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during a code freeze. Fortune / AI Incident Database.</a:t>
            </a:r>
          </a:p>
        </p:txBody>
      </p:sp>
      <p:sp>
        <p:nvSpPr>
          <p:cNvPr id="24" name="18b-text-24">
            <a:extLst xmlns:a="http://schemas.openxmlformats.org/drawingml/2006/main">
              <a:ext uri="{FF2B5EF4-FFF2-40B4-BE49-F238E27FC236}">
                <a16:creationId xmlns:a16="http://schemas.microsoft.com/office/drawing/2014/main" id="{43E4405A-A4F1-465F-961A-7C74E506A2C0}"/>
              </a:ext>
            </a:extLst>
          </p:cNvPr>
          <p:cNvSpPr>
            <a:spLocks xmlns:a="http://schemas.openxmlformats.org/drawingml/2006/main"/>
          </p:cNvSpPr>
          <p:nvPr/>
        </p:nvSpPr>
        <p:spPr>
          <a:xfrm xmlns:a="http://schemas.openxmlformats.org/drawingml/2006/main">
            <a:off x="609600" y="4724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Moffatt v. Air Canada, February 2024.</a:t>
            </a:r>
            <a:r>
              <a:rPr b="0">
                <a:solidFill>
                  <a:srgbClr val="FFFCF5"/>
                </a:solidFill>
                <a:latin typeface="Helvetica"/>
                <a:ea typeface="Helvetica"/>
                <a:cs typeface="Helvetica"/>
              </a:rPr>
              <a:t> Reported liability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misleading chatbot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McCarthy Tétrault, secondary commentary.</a:t>
            </a:r>
          </a:p>
        </p:txBody>
      </p:sp>
    </p:spTree>
    <p:extLst>
      <p:ext uri="{BB962C8B-B14F-4D97-AF65-F5344CB8AC3E}">
        <p14:creationId xmlns:p14="http://schemas.microsoft.com/office/powerpoint/2010/main" val="1459990497"/>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5"/>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6"/>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7"/>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8"/>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3"/>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4"/>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5"/>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16"/>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17"/>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18"/>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9"/>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20"/>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21"/>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9"/>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10"/>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1"/>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12"/>
                                        </p:tgtEl>
                                        <p:attrNameLst>
                                          <p:attrName>style.visibility</p:attrName>
                                        </p:attrNameLst>
                                      </p:cBhvr>
                                      <p:to>
                                        <p:strVal val="hidden"/>
                                      </p:to>
                                    </p:set>
                                  </p:childTnLst>
                                </p:cTn>
                              </p:par>
                              <p:par>
                                <p:cTn id="77" presetID="1" presetClass="entr" presetSubtype="0" fill="hold" nodeType="with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 name="!!area-name">
            <a:extLst xmlns:a="http://schemas.openxmlformats.org/drawingml/2006/main">
              <a:ext uri="{FF2B5EF4-FFF2-40B4-BE49-F238E27FC236}">
                <a16:creationId xmlns:a16="http://schemas.microsoft.com/office/drawing/2014/main" id="{21346821-20D2-450D-8CF4-8D4B946F241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17" name="mini-map"/>
          <p:cNvPicPr>
            <a:picLocks xmlns:a="http://schemas.openxmlformats.org/drawingml/2006/main" noChangeAspect="1"/>
          </p:cNvPicPr>
          <p:nvPr/>
        </p:nvPicPr>
        <p:blipFill>
          <a:blip xmlns:r="http://schemas.openxmlformats.org/officeDocument/2006/relationships" xmlns:a="http://schemas.openxmlformats.org/drawingml/2006/main" r:embed="R34e9933be27445b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4F9A82F0-3BCD-4275-8064-72B9514D3F2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the approval process.</a:t>
            </a:r>
          </a:p>
        </p:txBody>
      </p:sp>
      <p:sp>
        <p:nvSpPr>
          <p:cNvPr id="4" name="header-divider">
            <a:extLst xmlns:a="http://schemas.openxmlformats.org/drawingml/2006/main">
              <a:ext uri="{FF2B5EF4-FFF2-40B4-BE49-F238E27FC236}">
                <a16:creationId xmlns:a16="http://schemas.microsoft.com/office/drawing/2014/main" id="{321A12F2-D642-40D2-B450-93E1BFEAFF8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0" name="19-table-1"/>
          <p:cNvGraphicFramePr/>
          <p:nvPr/>
        </p:nvGraphicFramePr>
        <p:xfrm>
          <a:off xmlns:a="http://schemas.openxmlformats.org/drawingml/2006/main" x="609600" y="2438400"/>
          <a:ext xmlns:a="http://schemas.openxmlformats.org/drawingml/2006/main" cx="10972800" cy="29591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FDAD00"/>
                          </a:solidFill>
                          <a:latin typeface="Helvetica"/>
                          <a:ea typeface="Helvetica"/>
                          <a:cs typeface="Helvetica"/>
                        </a:rPr>
                        <a:t>In the coding agent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DAD00"/>
                          </a:solidFill>
                          <a:latin typeface="Helvetica"/>
                          <a:ea typeface="Helvetica"/>
                          <a:cs typeface="Helvetica"/>
                        </a:rPr>
                        <a:t>In your deployment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The approval prompt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Human approval, async workflow,</a:t>
                      </a:r>
                    </a:p>
                    <a:p>
                      <a:pPr>
                        <a:lnSpc>
                          <a:spcPct val="125000"/>
                        </a:lnSpc>
                        <a:buNone/>
                      </a:pPr>
                      <a:r>
                        <a:rPr sz="2000" b="0">
                          <a:solidFill>
                            <a:srgbClr val="FFFCF5"/>
                          </a:solidFill>
                          <a:latin typeface="Helvetica"/>
                          <a:ea typeface="Helvetica"/>
                          <a:cs typeface="Helvetica"/>
                        </a:rPr>
                        <a:t>or enforced policy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The sandbox</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infrastructure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The audit log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accountability record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90600">
                <a:tc>
                  <a:txBody>
                    <a:bodyPr>
                      <a:noAutofit/>
                    </a:bodyPr>
                    <a:lstStyle/>
                    <a:p>
                      <a:pPr>
                        <a:lnSpc>
                          <a:spcPct val="125000"/>
                        </a:lnSpc>
                        <a:buNone/>
                      </a:pPr>
                      <a:r>
                        <a:rPr sz="2000" b="0">
                          <a:solidFill>
                            <a:srgbClr val="FFFCF5"/>
                          </a:solidFill>
                          <a:latin typeface="Helvetica"/>
                          <a:ea typeface="Helvetica"/>
                          <a:cs typeface="Helvetica"/>
                        </a:rPr>
                        <a:t>A vendor's disclosure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EU AI Act Article 50: disclosure duties</a:t>
                      </a:r>
                    </a:p>
                    <a:p>
                      <a:pPr>
                        <a:lnSpc>
                          <a:spcPct val="125000"/>
                        </a:lnSpc>
                        <a:buNone/>
                      </a:pPr>
                      <a:r>
                        <a:rPr sz="2000" b="0">
                          <a:solidFill>
                            <a:srgbClr val="FFFCF5"/>
                          </a:solidFill>
                          <a:latin typeface="Helvetica"/>
                          <a:ea typeface="Helvetica"/>
                          <a:cs typeface="Helvetica"/>
                        </a:rPr>
                        <a:t>for covered direct AI interactions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6" name="19-shape-2">
            <a:extLst xmlns:a="http://schemas.openxmlformats.org/drawingml/2006/main">
              <a:ext uri="{FF2B5EF4-FFF2-40B4-BE49-F238E27FC236}">
                <a16:creationId xmlns:a16="http://schemas.microsoft.com/office/drawing/2014/main" id="{58C9DEB8-83EC-48C3-84AD-D5B617CAED01}"/>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7" name="19-shape-3">
            <a:extLst xmlns:a="http://schemas.openxmlformats.org/drawingml/2006/main">
              <a:ext uri="{FF2B5EF4-FFF2-40B4-BE49-F238E27FC236}">
                <a16:creationId xmlns:a16="http://schemas.microsoft.com/office/drawing/2014/main" id="{2C1DD876-19B7-489A-8C00-5B7CBD210001}"/>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8" name="19-text-4">
            <a:extLst xmlns:a="http://schemas.openxmlformats.org/drawingml/2006/main">
              <a:ext uri="{FF2B5EF4-FFF2-40B4-BE49-F238E27FC236}">
                <a16:creationId xmlns:a16="http://schemas.microsoft.com/office/drawing/2014/main" id="{B7348910-4566-4B37-AE26-6D815FD0754E}"/>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9" name="19-text-5">
            <a:extLst xmlns:a="http://schemas.openxmlformats.org/drawingml/2006/main">
              <a:ext uri="{FF2B5EF4-FFF2-40B4-BE49-F238E27FC236}">
                <a16:creationId xmlns:a16="http://schemas.microsoft.com/office/drawing/2014/main" id="{4DE98AC4-8242-4893-913C-E062652A170E}"/>
              </a:ext>
            </a:extLst>
          </p:cNvPr>
          <p:cNvSpPr>
            <a:spLocks xmlns:a="http://schemas.openxmlformats.org/drawingml/2006/main"/>
          </p:cNvSpPr>
          <p:nvPr/>
        </p:nvSpPr>
        <p:spPr>
          <a:xfrm xmlns:a="http://schemas.openxmlformats.org/drawingml/2006/main">
            <a:off x="2489200" y="5803900"/>
            <a:ext cx="49530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10" name="19-line-7">
            <a:extLst xmlns:a="http://schemas.openxmlformats.org/drawingml/2006/main">
              <a:ext uri="{FF2B5EF4-FFF2-40B4-BE49-F238E27FC236}">
                <a16:creationId xmlns:a16="http://schemas.microsoft.com/office/drawing/2014/main" id="{CA41C083-A195-40CE-AF5A-7D05720FDD31}"/>
              </a:ext>
            </a:extLst>
          </p:cNvPr>
          <p:cNvSpPr>
            <a:spLocks xmlns:a="http://schemas.openxmlformats.org/drawingml/2006/main"/>
          </p:cNvSpPr>
          <p:nvPr/>
        </p:nvSpPr>
        <p:spPr>
          <a:xfrm xmlns:a="http://schemas.openxmlformats.org/drawingml/2006/main" flipH="0" flipV="0">
            <a:off x="9448800" y="5918200"/>
            <a:ext cx="10160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1" name="19-line-9">
            <a:extLst xmlns:a="http://schemas.openxmlformats.org/drawingml/2006/main">
              <a:ext uri="{FF2B5EF4-FFF2-40B4-BE49-F238E27FC236}">
                <a16:creationId xmlns:a16="http://schemas.microsoft.com/office/drawing/2014/main" id="{8DFA6316-9EBD-48F6-A140-94DC48C4E502}"/>
              </a:ext>
            </a:extLst>
          </p:cNvPr>
          <p:cNvSpPr>
            <a:spLocks xmlns:a="http://schemas.openxmlformats.org/drawingml/2006/main"/>
          </p:cNvSpPr>
          <p:nvPr/>
        </p:nvSpPr>
        <p:spPr>
          <a:xfrm xmlns:a="http://schemas.openxmlformats.org/drawingml/2006/main" flipH="1" flipV="0">
            <a:off x="8483600" y="6223000"/>
            <a:ext cx="19812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2" name="19-line-11">
            <a:extLst xmlns:a="http://schemas.openxmlformats.org/drawingml/2006/main">
              <a:ext uri="{FF2B5EF4-FFF2-40B4-BE49-F238E27FC236}">
                <a16:creationId xmlns:a16="http://schemas.microsoft.com/office/drawing/2014/main" id="{9AAB4E8E-4BCC-4FCA-BDCE-3F968B4BAD51}"/>
              </a:ext>
            </a:extLst>
          </p:cNvPr>
          <p:cNvSpPr>
            <a:spLocks xmlns:a="http://schemas.openxmlformats.org/drawingml/2006/main"/>
          </p:cNvSpPr>
          <p:nvPr/>
        </p:nvSpPr>
        <p:spPr>
          <a:xfrm xmlns:a="http://schemas.openxmlformats.org/drawingml/2006/main" flipH="0" flipV="1">
            <a:off x="8483600" y="5918200"/>
            <a:ext cx="9652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3" name="19-text-12">
            <a:extLst xmlns:a="http://schemas.openxmlformats.org/drawingml/2006/main">
              <a:ext uri="{FF2B5EF4-FFF2-40B4-BE49-F238E27FC236}">
                <a16:creationId xmlns:a16="http://schemas.microsoft.com/office/drawing/2014/main" id="{1344EBC6-3905-4DB2-8821-098E2CE71B47}"/>
              </a:ext>
            </a:extLst>
          </p:cNvPr>
          <p:cNvSpPr>
            <a:spLocks xmlns:a="http://schemas.openxmlformats.org/drawingml/2006/main"/>
          </p:cNvSpPr>
          <p:nvPr/>
        </p:nvSpPr>
        <p:spPr>
          <a:xfrm xmlns:a="http://schemas.openxmlformats.org/drawingml/2006/main">
            <a:off x="8839200" y="5638800"/>
            <a:ext cx="1841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14" name="19-text-13">
            <a:extLst xmlns:a="http://schemas.openxmlformats.org/drawingml/2006/main">
              <a:ext uri="{FF2B5EF4-FFF2-40B4-BE49-F238E27FC236}">
                <a16:creationId xmlns:a16="http://schemas.microsoft.com/office/drawing/2014/main" id="{6F93E34D-FD70-43C4-8490-8BC47E3BE7F9}"/>
              </a:ext>
            </a:extLst>
          </p:cNvPr>
          <p:cNvSpPr>
            <a:spLocks xmlns:a="http://schemas.openxmlformats.org/drawingml/2006/main"/>
          </p:cNvSpPr>
          <p:nvPr/>
        </p:nvSpPr>
        <p:spPr>
          <a:xfrm xmlns:a="http://schemas.openxmlformats.org/drawingml/2006/main">
            <a:off x="7467600" y="6426200"/>
            <a:ext cx="1981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15" name="19-text-14">
            <a:extLst xmlns:a="http://schemas.openxmlformats.org/drawingml/2006/main">
              <a:ext uri="{FF2B5EF4-FFF2-40B4-BE49-F238E27FC236}">
                <a16:creationId xmlns:a16="http://schemas.microsoft.com/office/drawing/2014/main" id="{55A82EA2-B260-4EF1-AD5F-622253ACD0B5}"/>
              </a:ext>
            </a:extLst>
          </p:cNvPr>
          <p:cNvSpPr>
            <a:spLocks xmlns:a="http://schemas.openxmlformats.org/drawingml/2006/main"/>
          </p:cNvSpPr>
          <p:nvPr/>
        </p:nvSpPr>
        <p:spPr>
          <a:xfrm xmlns:a="http://schemas.openxmlformats.org/drawingml/2006/main">
            <a:off x="9499600" y="6426200"/>
            <a:ext cx="2489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Tree>
    <p:extLst>
      <p:ext uri="{BB962C8B-B14F-4D97-AF65-F5344CB8AC3E}">
        <p14:creationId xmlns:p14="http://schemas.microsoft.com/office/powerpoint/2010/main" val="112512752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 fill="hold"/>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00" fill="hold"/>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00" fill="hold"/>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00" fill="hold"/>
                                        <p:tgtEl>
                                          <p:spTgt spid="9"/>
                                        </p:tgtEl>
                                      </p:cBhvr>
                                    </p:animEffec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2" name="19b-image-1"/>
          <p:cNvPicPr>
            <a:picLocks xmlns:a="http://schemas.openxmlformats.org/drawingml/2006/main" noChangeAspect="1"/>
          </p:cNvPicPr>
          <p:nvPr/>
        </p:nvPicPr>
        <p:blipFill>
          <a:blip xmlns:r="http://schemas.openxmlformats.org/officeDocument/2006/relationships" xmlns:a="http://schemas.openxmlformats.org/drawingml/2006/main" r:embed="R81e3a7bee854425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90749392"/>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 name="section-label">
            <a:extLst xmlns:a="http://schemas.openxmlformats.org/drawingml/2006/main">
              <a:ext uri="{FF2B5EF4-FFF2-40B4-BE49-F238E27FC236}">
                <a16:creationId xmlns:a16="http://schemas.microsoft.com/office/drawing/2014/main" id="{1035AF1C-4FC2-4F9B-8E46-EBE4ABE6B2C4}"/>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2" name="section-rule">
            <a:extLst xmlns:a="http://schemas.openxmlformats.org/drawingml/2006/main">
              <a:ext uri="{FF2B5EF4-FFF2-40B4-BE49-F238E27FC236}">
                <a16:creationId xmlns:a16="http://schemas.microsoft.com/office/drawing/2014/main" id="{5CC92B2F-413B-46D5-9C4D-30CE80BF599A}"/>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 name="section-title">
            <a:extLst xmlns:a="http://schemas.openxmlformats.org/drawingml/2006/main">
              <a:ext uri="{FF2B5EF4-FFF2-40B4-BE49-F238E27FC236}">
                <a16:creationId xmlns:a16="http://schemas.microsoft.com/office/drawing/2014/main" id="{1C8DC142-A94E-49AB-BDA3-2CE05CCE3A72}"/>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Tree>
    <p:extLst>
      <p:ext uri="{BB962C8B-B14F-4D97-AF65-F5344CB8AC3E}">
        <p14:creationId xmlns:p14="http://schemas.microsoft.com/office/powerpoint/2010/main" val="1415174103"/>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 name="!!area-name">
            <a:extLst xmlns:a="http://schemas.openxmlformats.org/drawingml/2006/main">
              <a:ext uri="{FF2B5EF4-FFF2-40B4-BE49-F238E27FC236}">
                <a16:creationId xmlns:a16="http://schemas.microsoft.com/office/drawing/2014/main" id="{D3738D02-8799-4634-96F2-4446CC28391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10" name="mini-map"/>
          <p:cNvPicPr>
            <a:picLocks xmlns:a="http://schemas.openxmlformats.org/drawingml/2006/main" noChangeAspect="1"/>
          </p:cNvPicPr>
          <p:nvPr/>
        </p:nvPicPr>
        <p:blipFill>
          <a:blip xmlns:r="http://schemas.openxmlformats.org/officeDocument/2006/relationships" xmlns:a="http://schemas.openxmlformats.org/drawingml/2006/main" r:embed="Ra5c6f9172f97436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A7396BF1-1B8C-4C9A-8AEF-2CD67A566F2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 name="header-divider">
            <a:extLst xmlns:a="http://schemas.openxmlformats.org/drawingml/2006/main">
              <a:ext uri="{FF2B5EF4-FFF2-40B4-BE49-F238E27FC236}">
                <a16:creationId xmlns:a16="http://schemas.microsoft.com/office/drawing/2014/main" id="{6E5E0FA8-F9AA-4E08-83AD-6A87E097031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13" name="21-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6" name="21-text-2">
            <a:extLst xmlns:a="http://schemas.openxmlformats.org/drawingml/2006/main">
              <a:ext uri="{FF2B5EF4-FFF2-40B4-BE49-F238E27FC236}">
                <a16:creationId xmlns:a16="http://schemas.microsoft.com/office/drawing/2014/main" id="{2A3C6406-467B-4A3D-9878-638B732DAAB9}"/>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7" name="21-text-3">
            <a:extLst xmlns:a="http://schemas.openxmlformats.org/drawingml/2006/main">
              <a:ext uri="{FF2B5EF4-FFF2-40B4-BE49-F238E27FC236}">
                <a16:creationId xmlns:a16="http://schemas.microsoft.com/office/drawing/2014/main" id="{5DAF0584-5E71-427D-B2B2-E0927B01D49F}"/>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8" name="21-text-4">
            <a:extLst xmlns:a="http://schemas.openxmlformats.org/drawingml/2006/main">
              <a:ext uri="{FF2B5EF4-FFF2-40B4-BE49-F238E27FC236}">
                <a16:creationId xmlns:a16="http://schemas.microsoft.com/office/drawing/2014/main" id="{4174E3D4-4ED1-4F6D-AF3B-E182CD2F4136}"/>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Tree>
    <p:extLst>
      <p:ext uri="{BB962C8B-B14F-4D97-AF65-F5344CB8AC3E}">
        <p14:creationId xmlns:p14="http://schemas.microsoft.com/office/powerpoint/2010/main" val="45831101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area-name">
            <a:extLst xmlns:a="http://schemas.openxmlformats.org/drawingml/2006/main">
              <a:ext uri="{FF2B5EF4-FFF2-40B4-BE49-F238E27FC236}">
                <a16:creationId xmlns:a16="http://schemas.microsoft.com/office/drawing/2014/main" id="{53A46B9E-292A-4D1A-9735-AD0C3E7502D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16" name="mini-map"/>
          <p:cNvPicPr>
            <a:picLocks xmlns:a="http://schemas.openxmlformats.org/drawingml/2006/main" noChangeAspect="1"/>
          </p:cNvPicPr>
          <p:nvPr/>
        </p:nvPicPr>
        <p:blipFill>
          <a:blip xmlns:r="http://schemas.openxmlformats.org/officeDocument/2006/relationships" xmlns:a="http://schemas.openxmlformats.org/drawingml/2006/main" r:embed="R8d2591b07d7946a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12F5BFE2-6A56-4EE8-89A9-B3449CBFA36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4" name="header-divider">
            <a:extLst xmlns:a="http://schemas.openxmlformats.org/drawingml/2006/main">
              <a:ext uri="{FF2B5EF4-FFF2-40B4-BE49-F238E27FC236}">
                <a16:creationId xmlns:a16="http://schemas.microsoft.com/office/drawing/2014/main" id="{085D8EE2-0C1C-4E55-BCE9-EAEC86051F1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22-text-1">
            <a:extLst xmlns:a="http://schemas.openxmlformats.org/drawingml/2006/main">
              <a:ext uri="{FF2B5EF4-FFF2-40B4-BE49-F238E27FC236}">
                <a16:creationId xmlns:a16="http://schemas.microsoft.com/office/drawing/2014/main" id="{F3497D37-CB24-4032-A349-5EB365F27DA0}"/>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6" name="22-line-3">
            <a:extLst xmlns:a="http://schemas.openxmlformats.org/drawingml/2006/main">
              <a:ext uri="{FF2B5EF4-FFF2-40B4-BE49-F238E27FC236}">
                <a16:creationId xmlns:a16="http://schemas.microsoft.com/office/drawing/2014/main" id="{38F46E90-E4FA-4624-B8DA-BA83FE6DE345}"/>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7" name="22-text-4">
            <a:extLst xmlns:a="http://schemas.openxmlformats.org/drawingml/2006/main">
              <a:ext uri="{FF2B5EF4-FFF2-40B4-BE49-F238E27FC236}">
                <a16:creationId xmlns:a16="http://schemas.microsoft.com/office/drawing/2014/main" id="{10C5247C-01C0-47E3-A899-6942B78B6FAC}"/>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8" name="22-text-5">
            <a:extLst xmlns:a="http://schemas.openxmlformats.org/drawingml/2006/main">
              <a:ext uri="{FF2B5EF4-FFF2-40B4-BE49-F238E27FC236}">
                <a16:creationId xmlns:a16="http://schemas.microsoft.com/office/drawing/2014/main" id="{D9EFB336-2148-4C97-9076-F14CB612ADFA}"/>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9" name="22-line-7">
            <a:extLst xmlns:a="http://schemas.openxmlformats.org/drawingml/2006/main">
              <a:ext uri="{FF2B5EF4-FFF2-40B4-BE49-F238E27FC236}">
                <a16:creationId xmlns:a16="http://schemas.microsoft.com/office/drawing/2014/main" id="{062F1B51-645E-4D45-B8BE-CDD64F9E4066}"/>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0" name="22-text-8">
            <a:extLst xmlns:a="http://schemas.openxmlformats.org/drawingml/2006/main">
              <a:ext uri="{FF2B5EF4-FFF2-40B4-BE49-F238E27FC236}">
                <a16:creationId xmlns:a16="http://schemas.microsoft.com/office/drawing/2014/main" id="{F1939E81-FBC9-4F63-B89E-394273D53F1C}"/>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11" name="22-text-9">
            <a:extLst xmlns:a="http://schemas.openxmlformats.org/drawingml/2006/main">
              <a:ext uri="{FF2B5EF4-FFF2-40B4-BE49-F238E27FC236}">
                <a16:creationId xmlns:a16="http://schemas.microsoft.com/office/drawing/2014/main" id="{DDF12068-5051-4E78-8BD7-1755F4CE2CF6}"/>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12" name="22-line-11">
            <a:extLst xmlns:a="http://schemas.openxmlformats.org/drawingml/2006/main">
              <a:ext uri="{FF2B5EF4-FFF2-40B4-BE49-F238E27FC236}">
                <a16:creationId xmlns:a16="http://schemas.microsoft.com/office/drawing/2014/main" id="{E75F6A1D-48ED-4805-9A9B-67F32D131CC1}"/>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3" name="22-text-12">
            <a:extLst xmlns:a="http://schemas.openxmlformats.org/drawingml/2006/main">
              <a:ext uri="{FF2B5EF4-FFF2-40B4-BE49-F238E27FC236}">
                <a16:creationId xmlns:a16="http://schemas.microsoft.com/office/drawing/2014/main" id="{910CEF68-606C-4E81-92A8-C975F7985664}"/>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14" name="22-text-13">
            <a:extLst xmlns:a="http://schemas.openxmlformats.org/drawingml/2006/main">
              <a:ext uri="{FF2B5EF4-FFF2-40B4-BE49-F238E27FC236}">
                <a16:creationId xmlns:a16="http://schemas.microsoft.com/office/drawing/2014/main" id="{43287074-ED69-435F-B080-51945DF64205}"/>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Tree>
    <p:extLst>
      <p:ext uri="{BB962C8B-B14F-4D97-AF65-F5344CB8AC3E}">
        <p14:creationId xmlns:p14="http://schemas.microsoft.com/office/powerpoint/2010/main" val="286313148"/>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 name="!!area-name">
            <a:extLst xmlns:a="http://schemas.openxmlformats.org/drawingml/2006/main">
              <a:ext uri="{FF2B5EF4-FFF2-40B4-BE49-F238E27FC236}">
                <a16:creationId xmlns:a16="http://schemas.microsoft.com/office/drawing/2014/main" id="{42D025D9-DFDE-4344-AB4A-57D84B1D294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15" name="mini-map"/>
          <p:cNvPicPr>
            <a:picLocks xmlns:a="http://schemas.openxmlformats.org/drawingml/2006/main" noChangeAspect="1"/>
          </p:cNvPicPr>
          <p:nvPr/>
        </p:nvPicPr>
        <p:blipFill>
          <a:blip xmlns:r="http://schemas.openxmlformats.org/officeDocument/2006/relationships" xmlns:a="http://schemas.openxmlformats.org/drawingml/2006/main" r:embed="Re6caac180b7d464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FB251FEF-B186-4345-A3AC-E7D4DF21278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22b-text-1">
            <a:extLst xmlns:a="http://schemas.openxmlformats.org/drawingml/2006/main">
              <a:ext uri="{FF2B5EF4-FFF2-40B4-BE49-F238E27FC236}">
                <a16:creationId xmlns:a16="http://schemas.microsoft.com/office/drawing/2014/main" id="{F6744F31-60BD-4BC8-800E-FE15BF14D4C5}"/>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 name="22b-text-2">
            <a:extLst xmlns:a="http://schemas.openxmlformats.org/drawingml/2006/main">
              <a:ext uri="{FF2B5EF4-FFF2-40B4-BE49-F238E27FC236}">
                <a16:creationId xmlns:a16="http://schemas.microsoft.com/office/drawing/2014/main" id="{4E9A3C8C-0A97-47D0-80CF-381480ED96F7}"/>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6" name="22b-text-3">
            <a:extLst xmlns:a="http://schemas.openxmlformats.org/drawingml/2006/main">
              <a:ext uri="{FF2B5EF4-FFF2-40B4-BE49-F238E27FC236}">
                <a16:creationId xmlns:a16="http://schemas.microsoft.com/office/drawing/2014/main" id="{FD196BD4-6329-4AEB-9232-AE1CFE2C0A13}"/>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7" name="22b-text-4">
            <a:extLst xmlns:a="http://schemas.openxmlformats.org/drawingml/2006/main">
              <a:ext uri="{FF2B5EF4-FFF2-40B4-BE49-F238E27FC236}">
                <a16:creationId xmlns:a16="http://schemas.microsoft.com/office/drawing/2014/main" id="{01267CD9-AD3E-4105-BC77-2E16A9829083}"/>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8" name="22b-text-5">
            <a:extLst xmlns:a="http://schemas.openxmlformats.org/drawingml/2006/main">
              <a:ext uri="{FF2B5EF4-FFF2-40B4-BE49-F238E27FC236}">
                <a16:creationId xmlns:a16="http://schemas.microsoft.com/office/drawing/2014/main" id="{B8FAE21B-EE59-4603-876A-81E215D59D18}"/>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9" name="22b-text-6">
            <a:extLst xmlns:a="http://schemas.openxmlformats.org/drawingml/2006/main">
              <a:ext uri="{FF2B5EF4-FFF2-40B4-BE49-F238E27FC236}">
                <a16:creationId xmlns:a16="http://schemas.microsoft.com/office/drawing/2014/main" id="{51BC9925-36D7-4EE6-A76D-73BD658DF7C3}"/>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10" name="22b-text-7">
            <a:extLst xmlns:a="http://schemas.openxmlformats.org/drawingml/2006/main">
              <a:ext uri="{FF2B5EF4-FFF2-40B4-BE49-F238E27FC236}">
                <a16:creationId xmlns:a16="http://schemas.microsoft.com/office/drawing/2014/main" id="{88CAF95A-BA8E-4A6C-B73C-406094E2EABE}"/>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11" name="22b-text-8">
            <a:extLst xmlns:a="http://schemas.openxmlformats.org/drawingml/2006/main">
              <a:ext uri="{FF2B5EF4-FFF2-40B4-BE49-F238E27FC236}">
                <a16:creationId xmlns:a16="http://schemas.microsoft.com/office/drawing/2014/main" id="{D7E09983-C82B-4470-BA5F-B902CEE82DF4}"/>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12" name="22b-text-9">
            <a:extLst xmlns:a="http://schemas.openxmlformats.org/drawingml/2006/main">
              <a:ext uri="{FF2B5EF4-FFF2-40B4-BE49-F238E27FC236}">
                <a16:creationId xmlns:a16="http://schemas.microsoft.com/office/drawing/2014/main" id="{D0E5673D-A9E7-4B3E-9B17-C7E0B5D096E0}"/>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13" name="22b-text-10">
            <a:extLst xmlns:a="http://schemas.openxmlformats.org/drawingml/2006/main">
              <a:ext uri="{FF2B5EF4-FFF2-40B4-BE49-F238E27FC236}">
                <a16:creationId xmlns:a16="http://schemas.microsoft.com/office/drawing/2014/main" id="{506FCBB2-8381-4D85-B8F3-5D1CCB12DC3E}"/>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Tree>
    <p:extLst>
      <p:ext uri="{BB962C8B-B14F-4D97-AF65-F5344CB8AC3E}">
        <p14:creationId xmlns:p14="http://schemas.microsoft.com/office/powerpoint/2010/main" val="1635014869"/>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8"/>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1"/>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 name="!!area-name">
            <a:extLst xmlns:a="http://schemas.openxmlformats.org/drawingml/2006/main">
              <a:ext uri="{FF2B5EF4-FFF2-40B4-BE49-F238E27FC236}">
                <a16:creationId xmlns:a16="http://schemas.microsoft.com/office/drawing/2014/main" id="{AA3F154A-EEB7-40EB-9D21-B96F554EED16}"/>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2" name="header-divider">
            <a:extLst xmlns:a="http://schemas.openxmlformats.org/drawingml/2006/main">
              <a:ext uri="{FF2B5EF4-FFF2-40B4-BE49-F238E27FC236}">
                <a16:creationId xmlns:a16="http://schemas.microsoft.com/office/drawing/2014/main" id="{1F432282-A892-48C3-81D7-A3F955D1B208}"/>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 name="23-shape-1">
            <a:extLst xmlns:a="http://schemas.openxmlformats.org/drawingml/2006/main">
              <a:ext uri="{FF2B5EF4-FFF2-40B4-BE49-F238E27FC236}">
                <a16:creationId xmlns:a16="http://schemas.microsoft.com/office/drawing/2014/main" id="{0367479C-88FC-4FD4-AD30-8EB01FA4A5BD}"/>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 name="23-shape-2">
            <a:extLst xmlns:a="http://schemas.openxmlformats.org/drawingml/2006/main">
              <a:ext uri="{FF2B5EF4-FFF2-40B4-BE49-F238E27FC236}">
                <a16:creationId xmlns:a16="http://schemas.microsoft.com/office/drawing/2014/main" id="{1879573E-D3DB-4440-8740-E83092D3A2BB}"/>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 name="23-text-3">
            <a:extLst xmlns:a="http://schemas.openxmlformats.org/drawingml/2006/main">
              <a:ext uri="{FF2B5EF4-FFF2-40B4-BE49-F238E27FC236}">
                <a16:creationId xmlns:a16="http://schemas.microsoft.com/office/drawing/2014/main" id="{68E3D8F3-13B4-476D-8AE4-D6AC927DF0FE}"/>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6" name="23-text-4">
            <a:extLst xmlns:a="http://schemas.openxmlformats.org/drawingml/2006/main">
              <a:ext uri="{FF2B5EF4-FFF2-40B4-BE49-F238E27FC236}">
                <a16:creationId xmlns:a16="http://schemas.microsoft.com/office/drawing/2014/main" id="{71253EFB-D1A5-4CF6-9E7E-BB5678130506}"/>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hardcoded model ID with no eval suite behind it.</a:t>
            </a:r>
          </a:p>
        </p:txBody>
      </p:sp>
      <p:sp>
        <p:nvSpPr>
          <p:cNvPr id="7" name="23-shape-5">
            <a:extLst xmlns:a="http://schemas.openxmlformats.org/drawingml/2006/main">
              <a:ext uri="{FF2B5EF4-FFF2-40B4-BE49-F238E27FC236}">
                <a16:creationId xmlns:a16="http://schemas.microsoft.com/office/drawing/2014/main" id="{EBE897A5-FFDD-4174-9C5D-8399A1E5F8DC}"/>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8" name="23-shape-6">
            <a:extLst xmlns:a="http://schemas.openxmlformats.org/drawingml/2006/main">
              <a:ext uri="{FF2B5EF4-FFF2-40B4-BE49-F238E27FC236}">
                <a16:creationId xmlns:a16="http://schemas.microsoft.com/office/drawing/2014/main" id="{D9451AFB-9BE3-47C9-A66D-50E6051308BB}"/>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9" name="23-text-7">
            <a:extLst xmlns:a="http://schemas.openxmlformats.org/drawingml/2006/main">
              <a:ext uri="{FF2B5EF4-FFF2-40B4-BE49-F238E27FC236}">
                <a16:creationId xmlns:a16="http://schemas.microsoft.com/office/drawing/2014/main" id="{576CE530-A682-499A-966C-8072CD0223DF}"/>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10" name="23-text-8">
            <a:extLst xmlns:a="http://schemas.openxmlformats.org/drawingml/2006/main">
              <a:ext uri="{FF2B5EF4-FFF2-40B4-BE49-F238E27FC236}">
                <a16:creationId xmlns:a16="http://schemas.microsoft.com/office/drawing/2014/main" id="{99167D7A-8FBB-4496-BB4C-9F31B8A4142F}"/>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11" name="23-shape-9">
            <a:extLst xmlns:a="http://schemas.openxmlformats.org/drawingml/2006/main">
              <a:ext uri="{FF2B5EF4-FFF2-40B4-BE49-F238E27FC236}">
                <a16:creationId xmlns:a16="http://schemas.microsoft.com/office/drawing/2014/main" id="{3E73F751-F01B-4190-97C2-06550E904122}"/>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2" name="23-shape-10">
            <a:extLst xmlns:a="http://schemas.openxmlformats.org/drawingml/2006/main">
              <a:ext uri="{FF2B5EF4-FFF2-40B4-BE49-F238E27FC236}">
                <a16:creationId xmlns:a16="http://schemas.microsoft.com/office/drawing/2014/main" id="{B3FB75CF-BCF7-4EA9-BD08-DB23EF68EC3E}"/>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3" name="23-text-11">
            <a:extLst xmlns:a="http://schemas.openxmlformats.org/drawingml/2006/main">
              <a:ext uri="{FF2B5EF4-FFF2-40B4-BE49-F238E27FC236}">
                <a16:creationId xmlns:a16="http://schemas.microsoft.com/office/drawing/2014/main" id="{C07B7F6F-9A28-4130-80D7-2869682B78DE}"/>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14" name="23-text-12">
            <a:extLst xmlns:a="http://schemas.openxmlformats.org/drawingml/2006/main">
              <a:ext uri="{FF2B5EF4-FFF2-40B4-BE49-F238E27FC236}">
                <a16:creationId xmlns:a16="http://schemas.microsoft.com/office/drawing/2014/main" id="{82EA11C9-A6B9-4B32-BC48-294B2344EAE8}"/>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15" name="23-shape-13">
            <a:extLst xmlns:a="http://schemas.openxmlformats.org/drawingml/2006/main">
              <a:ext uri="{FF2B5EF4-FFF2-40B4-BE49-F238E27FC236}">
                <a16:creationId xmlns:a16="http://schemas.microsoft.com/office/drawing/2014/main" id="{A0481982-28B4-4899-A20B-66E62D63144F}"/>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6" name="23-shape-14">
            <a:extLst xmlns:a="http://schemas.openxmlformats.org/drawingml/2006/main">
              <a:ext uri="{FF2B5EF4-FFF2-40B4-BE49-F238E27FC236}">
                <a16:creationId xmlns:a16="http://schemas.microsoft.com/office/drawing/2014/main" id="{084F1DF1-83E2-4B0D-8ABE-0D9F47C6D06A}"/>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7" name="23-text-15">
            <a:extLst xmlns:a="http://schemas.openxmlformats.org/drawingml/2006/main">
              <a:ext uri="{FF2B5EF4-FFF2-40B4-BE49-F238E27FC236}">
                <a16:creationId xmlns:a16="http://schemas.microsoft.com/office/drawing/2014/main" id="{5A6E9480-A5F7-4AF0-81DB-A82929106999}"/>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18" name="23-text-16">
            <a:extLst xmlns:a="http://schemas.openxmlformats.org/drawingml/2006/main">
              <a:ext uri="{FF2B5EF4-FFF2-40B4-BE49-F238E27FC236}">
                <a16:creationId xmlns:a16="http://schemas.microsoft.com/office/drawing/2014/main" id="{66A4749F-A4ED-4899-AC64-9D7B3ADA018A}"/>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19" name="23-shape-17">
            <a:extLst xmlns:a="http://schemas.openxmlformats.org/drawingml/2006/main">
              <a:ext uri="{FF2B5EF4-FFF2-40B4-BE49-F238E27FC236}">
                <a16:creationId xmlns:a16="http://schemas.microsoft.com/office/drawing/2014/main" id="{A19DBD33-5FCF-465B-9F2A-431BCB19C1C6}"/>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0" name="23-shape-18">
            <a:extLst xmlns:a="http://schemas.openxmlformats.org/drawingml/2006/main">
              <a:ext uri="{FF2B5EF4-FFF2-40B4-BE49-F238E27FC236}">
                <a16:creationId xmlns:a16="http://schemas.microsoft.com/office/drawing/2014/main" id="{F45DB0D7-E255-4204-BDD1-609DCFD308FF}"/>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21" name="23-text-19">
            <a:extLst xmlns:a="http://schemas.openxmlformats.org/drawingml/2006/main">
              <a:ext uri="{FF2B5EF4-FFF2-40B4-BE49-F238E27FC236}">
                <a16:creationId xmlns:a16="http://schemas.microsoft.com/office/drawing/2014/main" id="{9117BB72-EEAB-4653-A9B5-7F6DE58C6F16}"/>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22" name="23-text-20">
            <a:extLst xmlns:a="http://schemas.openxmlformats.org/drawingml/2006/main">
              <a:ext uri="{FF2B5EF4-FFF2-40B4-BE49-F238E27FC236}">
                <a16:creationId xmlns:a16="http://schemas.microsoft.com/office/drawing/2014/main" id="{4DBE028F-9BD9-4C27-97ED-01ED4F6E1266}"/>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23" name="23-shape-21">
            <a:extLst xmlns:a="http://schemas.openxmlformats.org/drawingml/2006/main">
              <a:ext uri="{FF2B5EF4-FFF2-40B4-BE49-F238E27FC236}">
                <a16:creationId xmlns:a16="http://schemas.microsoft.com/office/drawing/2014/main" id="{4E5D4019-BAC2-4961-8A80-AAF231542385}"/>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4" name="23-shape-22">
            <a:extLst xmlns:a="http://schemas.openxmlformats.org/drawingml/2006/main">
              <a:ext uri="{FF2B5EF4-FFF2-40B4-BE49-F238E27FC236}">
                <a16:creationId xmlns:a16="http://schemas.microsoft.com/office/drawing/2014/main" id="{EB4B1C51-53B5-4E55-8BB1-A41FB77BBDD4}"/>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25" name="23-text-23">
            <a:extLst xmlns:a="http://schemas.openxmlformats.org/drawingml/2006/main">
              <a:ext uri="{FF2B5EF4-FFF2-40B4-BE49-F238E27FC236}">
                <a16:creationId xmlns:a16="http://schemas.microsoft.com/office/drawing/2014/main" id="{DBEC37CF-B1EB-402F-90B4-FC40C6FB8377}"/>
              </a:ext>
            </a:extLst>
          </p:cNvPr>
          <p:cNvSpPr>
            <a:spLocks xmlns:a="http://schemas.openxmlformats.org/drawingml/2006/main"/>
          </p:cNvSpPr>
          <p:nvPr/>
        </p:nvSpPr>
        <p:spPr>
          <a:xfrm xmlns:a="http://schemas.openxmlformats.org/drawingml/2006/main">
            <a:off x="609600" y="56769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Operating</a:t>
            </a:r>
          </a:p>
        </p:txBody>
      </p:sp>
      <p:sp>
        <p:nvSpPr>
          <p:cNvPr id="26" name="23-text-24">
            <a:extLst xmlns:a="http://schemas.openxmlformats.org/drawingml/2006/main">
              <a:ext uri="{FF2B5EF4-FFF2-40B4-BE49-F238E27FC236}">
                <a16:creationId xmlns:a16="http://schemas.microsoft.com/office/drawing/2014/main" id="{B9B915AB-E8E2-449E-9526-40DF2F000531}"/>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Tree>
    <p:extLst>
      <p:ext uri="{BB962C8B-B14F-4D97-AF65-F5344CB8AC3E}">
        <p14:creationId xmlns:p14="http://schemas.microsoft.com/office/powerpoint/2010/main" val="77831401"/>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 name="!!area-name">
            <a:extLst xmlns:a="http://schemas.openxmlformats.org/drawingml/2006/main">
              <a:ext uri="{FF2B5EF4-FFF2-40B4-BE49-F238E27FC236}">
                <a16:creationId xmlns:a16="http://schemas.microsoft.com/office/drawing/2014/main" id="{A4222950-CB9C-48BF-933F-5708A890236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20" name="mini-map"/>
          <p:cNvPicPr>
            <a:picLocks xmlns:a="http://schemas.openxmlformats.org/drawingml/2006/main" noChangeAspect="1"/>
          </p:cNvPicPr>
          <p:nvPr/>
        </p:nvPicPr>
        <p:blipFill>
          <a:blip xmlns:r="http://schemas.openxmlformats.org/officeDocument/2006/relationships" xmlns:a="http://schemas.openxmlformats.org/drawingml/2006/main" r:embed="R1082cab305a1462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694ED050-BF17-4DC2-B4DA-B23E6BF1D8C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 name="header-divider">
            <a:extLst xmlns:a="http://schemas.openxmlformats.org/drawingml/2006/main">
              <a:ext uri="{FF2B5EF4-FFF2-40B4-BE49-F238E27FC236}">
                <a16:creationId xmlns:a16="http://schemas.microsoft.com/office/drawing/2014/main" id="{0282B747-0C2B-4C64-A3AA-E9085819741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24-shape-1">
            <a:extLst xmlns:a="http://schemas.openxmlformats.org/drawingml/2006/main">
              <a:ext uri="{FF2B5EF4-FFF2-40B4-BE49-F238E27FC236}">
                <a16:creationId xmlns:a16="http://schemas.microsoft.com/office/drawing/2014/main" id="{B0B8BE03-7E5F-4A69-9A51-A451E68E6B6B}"/>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 name="24-text-2">
            <a:extLst xmlns:a="http://schemas.openxmlformats.org/drawingml/2006/main">
              <a:ext uri="{FF2B5EF4-FFF2-40B4-BE49-F238E27FC236}">
                <a16:creationId xmlns:a16="http://schemas.microsoft.com/office/drawing/2014/main" id="{15AD2F31-8DEE-4E44-AEB7-306C4F187A8E}"/>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7" name="24-text-3">
            <a:extLst xmlns:a="http://schemas.openxmlformats.org/drawingml/2006/main">
              <a:ext uri="{FF2B5EF4-FFF2-40B4-BE49-F238E27FC236}">
                <a16:creationId xmlns:a16="http://schemas.microsoft.com/office/drawing/2014/main" id="{76E12126-7B74-4647-BE61-D819217FB820}"/>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8" name="24-shape-4">
            <a:extLst xmlns:a="http://schemas.openxmlformats.org/drawingml/2006/main">
              <a:ext uri="{FF2B5EF4-FFF2-40B4-BE49-F238E27FC236}">
                <a16:creationId xmlns:a16="http://schemas.microsoft.com/office/drawing/2014/main" id="{752C97D2-9F70-4ABF-A190-17B854DBD20A}"/>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9" name="24-text-5">
            <a:extLst xmlns:a="http://schemas.openxmlformats.org/drawingml/2006/main">
              <a:ext uri="{FF2B5EF4-FFF2-40B4-BE49-F238E27FC236}">
                <a16:creationId xmlns:a16="http://schemas.microsoft.com/office/drawing/2014/main" id="{A030D513-9079-4779-99F6-BB56F2421870}"/>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0" name="24-text-6">
            <a:extLst xmlns:a="http://schemas.openxmlformats.org/drawingml/2006/main">
              <a:ext uri="{FF2B5EF4-FFF2-40B4-BE49-F238E27FC236}">
                <a16:creationId xmlns:a16="http://schemas.microsoft.com/office/drawing/2014/main" id="{B8138978-49EA-486F-975F-7262D35700FF}"/>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11" name="24-shape-7">
            <a:extLst xmlns:a="http://schemas.openxmlformats.org/drawingml/2006/main">
              <a:ext uri="{FF2B5EF4-FFF2-40B4-BE49-F238E27FC236}">
                <a16:creationId xmlns:a16="http://schemas.microsoft.com/office/drawing/2014/main" id="{67BDFC6B-69B1-4AB4-B91A-861B53C638E6}"/>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12" name="24-text-8">
            <a:extLst xmlns:a="http://schemas.openxmlformats.org/drawingml/2006/main">
              <a:ext uri="{FF2B5EF4-FFF2-40B4-BE49-F238E27FC236}">
                <a16:creationId xmlns:a16="http://schemas.microsoft.com/office/drawing/2014/main" id="{2DD47281-8FA6-4150-8984-16DA88E89B10}"/>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3" name="24-text-9">
            <a:extLst xmlns:a="http://schemas.openxmlformats.org/drawingml/2006/main">
              <a:ext uri="{FF2B5EF4-FFF2-40B4-BE49-F238E27FC236}">
                <a16:creationId xmlns:a16="http://schemas.microsoft.com/office/drawing/2014/main" id="{0BFFAC70-6D11-4AC0-992A-CC3A75089D59}"/>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14" name="24-shape-10">
            <a:extLst xmlns:a="http://schemas.openxmlformats.org/drawingml/2006/main">
              <a:ext uri="{FF2B5EF4-FFF2-40B4-BE49-F238E27FC236}">
                <a16:creationId xmlns:a16="http://schemas.microsoft.com/office/drawing/2014/main" id="{59D6FC74-31F3-4578-8E2C-631EAD81C6B3}"/>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15" name="24-text-11">
            <a:extLst xmlns:a="http://schemas.openxmlformats.org/drawingml/2006/main">
              <a:ext uri="{FF2B5EF4-FFF2-40B4-BE49-F238E27FC236}">
                <a16:creationId xmlns:a16="http://schemas.microsoft.com/office/drawing/2014/main" id="{6A32B9D7-C51F-4695-B45C-1800C3FD0652}"/>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16" name="24-text-12">
            <a:extLst xmlns:a="http://schemas.openxmlformats.org/drawingml/2006/main">
              <a:ext uri="{FF2B5EF4-FFF2-40B4-BE49-F238E27FC236}">
                <a16:creationId xmlns:a16="http://schemas.microsoft.com/office/drawing/2014/main" id="{B850EE5C-F5D8-4B7F-B63B-A0D7B4B3C762}"/>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17" name="24-text-13">
            <a:extLst xmlns:a="http://schemas.openxmlformats.org/drawingml/2006/main">
              <a:ext uri="{FF2B5EF4-FFF2-40B4-BE49-F238E27FC236}">
                <a16:creationId xmlns:a16="http://schemas.microsoft.com/office/drawing/2014/main" id="{8EA7389B-8738-42DD-BD21-13B478BB9FD7}"/>
              </a:ext>
            </a:extLst>
          </p:cNvPr>
          <p:cNvSpPr>
            <a:spLocks xmlns:a="http://schemas.openxmlformats.org/drawingml/2006/main"/>
          </p:cNvSpPr>
          <p:nvPr/>
        </p:nvSpPr>
        <p:spPr>
          <a:xfrm xmlns:a="http://schemas.openxmlformats.org/drawingml/2006/main">
            <a:off x="609600" y="30480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chat · reproduce manual work · background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delegate what you trust · build verification tools · continuous operation</a:t>
            </a:r>
          </a:p>
        </p:txBody>
      </p:sp>
      <p:sp>
        <p:nvSpPr>
          <p:cNvPr id="18" name="24-text-14">
            <a:extLst xmlns:a="http://schemas.openxmlformats.org/drawingml/2006/main">
              <a:ext uri="{FF2B5EF4-FFF2-40B4-BE49-F238E27FC236}">
                <a16:creationId xmlns:a16="http://schemas.microsoft.com/office/drawing/2014/main" id="{A54A7462-8FF5-4FED-BB33-38DA69E3F7EC}"/>
              </a:ext>
            </a:extLst>
          </p:cNvPr>
          <p:cNvSpPr>
            <a:spLocks xmlns:a="http://schemas.openxmlformats.org/drawingml/2006/main"/>
          </p:cNvSpPr>
          <p:nvPr/>
        </p:nvSpPr>
        <p:spPr>
          <a:xfrm xmlns:a="http://schemas.openxmlformats.org/drawingml/2006/main">
            <a:off x="609600" y="5080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Mitchell Hashimoto, "My AI Adoption Journey," February 2026</a:t>
            </a:r>
          </a:p>
        </p:txBody>
      </p:sp>
    </p:spTree>
    <p:extLst>
      <p:ext uri="{BB962C8B-B14F-4D97-AF65-F5344CB8AC3E}">
        <p14:creationId xmlns:p14="http://schemas.microsoft.com/office/powerpoint/2010/main" val="65496384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8"/>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1"/>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2"/>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3"/>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14"/>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5"/>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6"/>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4EF99E1D-03C8-40C0-8EFC-70F0136481C6}"/>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2" name="header-divider">
            <a:extLst xmlns:a="http://schemas.openxmlformats.org/drawingml/2006/main">
              <a:ext uri="{FF2B5EF4-FFF2-40B4-BE49-F238E27FC236}">
                <a16:creationId xmlns:a16="http://schemas.microsoft.com/office/drawing/2014/main" id="{2A6CF9E6-9C86-4CFE-B4D5-C7A7D3D5AD95}"/>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 name="25-text-1">
            <a:extLst xmlns:a="http://schemas.openxmlformats.org/drawingml/2006/main">
              <a:ext uri="{FF2B5EF4-FFF2-40B4-BE49-F238E27FC236}">
                <a16:creationId xmlns:a16="http://schemas.microsoft.com/office/drawing/2014/main" id="{CD58503D-DBF9-43B4-83AF-59AD738AD590}"/>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4" name="25-text-2">
            <a:extLst xmlns:a="http://schemas.openxmlformats.org/drawingml/2006/main">
              <a:ext uri="{FF2B5EF4-FFF2-40B4-BE49-F238E27FC236}">
                <a16:creationId xmlns:a16="http://schemas.microsoft.com/office/drawing/2014/main" id="{042C0F57-793A-465F-83CC-947D4A4B7B9C}"/>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 name="25-text-3">
            <a:extLst xmlns:a="http://schemas.openxmlformats.org/drawingml/2006/main">
              <a:ext uri="{FF2B5EF4-FFF2-40B4-BE49-F238E27FC236}">
                <a16:creationId xmlns:a16="http://schemas.microsoft.com/office/drawing/2014/main" id="{4F4F1BE7-B3DC-4D61-B24C-91606D0AEA2D}"/>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6" name="25-text-4">
            <a:extLst xmlns:a="http://schemas.openxmlformats.org/drawingml/2006/main">
              <a:ext uri="{FF2B5EF4-FFF2-40B4-BE49-F238E27FC236}">
                <a16:creationId xmlns:a16="http://schemas.microsoft.com/office/drawing/2014/main" id="{60FA44F8-D4FE-4F95-9CB9-0AFDCEC33868}"/>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7" name="25-text-5">
            <a:extLst xmlns:a="http://schemas.openxmlformats.org/drawingml/2006/main">
              <a:ext uri="{FF2B5EF4-FFF2-40B4-BE49-F238E27FC236}">
                <a16:creationId xmlns:a16="http://schemas.microsoft.com/office/drawing/2014/main" id="{192125FC-D6C3-4C06-8D46-DC2B4ACFD9AA}"/>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8" name="25-text-6">
            <a:extLst xmlns:a="http://schemas.openxmlformats.org/drawingml/2006/main">
              <a:ext uri="{FF2B5EF4-FFF2-40B4-BE49-F238E27FC236}">
                <a16:creationId xmlns:a16="http://schemas.microsoft.com/office/drawing/2014/main" id="{50F347D2-C660-4B16-85D1-B2D3662EA4C9}"/>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9" name="25-text-7">
            <a:extLst xmlns:a="http://schemas.openxmlformats.org/drawingml/2006/main">
              <a:ext uri="{FF2B5EF4-FFF2-40B4-BE49-F238E27FC236}">
                <a16:creationId xmlns:a16="http://schemas.microsoft.com/office/drawing/2014/main" id="{EE3944DE-2BEE-4520-9CDE-CED2ABBA2F35}"/>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10" name="25-text-8">
            <a:extLst xmlns:a="http://schemas.openxmlformats.org/drawingml/2006/main">
              <a:ext uri="{FF2B5EF4-FFF2-40B4-BE49-F238E27FC236}">
                <a16:creationId xmlns:a16="http://schemas.microsoft.com/office/drawing/2014/main" id="{1DE3769B-3516-4909-8A3D-6D449E808583}"/>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11" name="25-text-9">
            <a:extLst xmlns:a="http://schemas.openxmlformats.org/drawingml/2006/main">
              <a:ext uri="{FF2B5EF4-FFF2-40B4-BE49-F238E27FC236}">
                <a16:creationId xmlns:a16="http://schemas.microsoft.com/office/drawing/2014/main" id="{D8096C6D-76C5-4AC0-81AC-F6C1286A9795}"/>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12" name="25-text-10">
            <a:extLst xmlns:a="http://schemas.openxmlformats.org/drawingml/2006/main">
              <a:ext uri="{FF2B5EF4-FFF2-40B4-BE49-F238E27FC236}">
                <a16:creationId xmlns:a16="http://schemas.microsoft.com/office/drawing/2014/main" id="{CFA8F98A-945E-4A53-B5CD-38946290F36E}"/>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13" name="25-text-11">
            <a:extLst xmlns:a="http://schemas.openxmlformats.org/drawingml/2006/main">
              <a:ext uri="{FF2B5EF4-FFF2-40B4-BE49-F238E27FC236}">
                <a16:creationId xmlns:a16="http://schemas.microsoft.com/office/drawing/2014/main" id="{FAB137E1-7617-4BC6-8D0E-EE6D54D7927E}"/>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14" name="25-text-12">
            <a:extLst xmlns:a="http://schemas.openxmlformats.org/drawingml/2006/main">
              <a:ext uri="{FF2B5EF4-FFF2-40B4-BE49-F238E27FC236}">
                <a16:creationId xmlns:a16="http://schemas.microsoft.com/office/drawing/2014/main" id="{1ED84CF7-E77C-4688-8B42-DE9FFF5A9723}"/>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Tree>
    <p:extLst>
      <p:ext uri="{BB962C8B-B14F-4D97-AF65-F5344CB8AC3E}">
        <p14:creationId xmlns:p14="http://schemas.microsoft.com/office/powerpoint/2010/main" val="1453719529"/>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 name="26-text-1">
            <a:extLst xmlns:a="http://schemas.openxmlformats.org/drawingml/2006/main">
              <a:ext uri="{FF2B5EF4-FFF2-40B4-BE49-F238E27FC236}">
                <a16:creationId xmlns:a16="http://schemas.microsoft.com/office/drawing/2014/main" id="{648DB078-ED49-45C2-9821-6F60C2F711A7}"/>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2" name="26-text-2">
            <a:extLst xmlns:a="http://schemas.openxmlformats.org/drawingml/2006/main">
              <a:ext uri="{FF2B5EF4-FFF2-40B4-BE49-F238E27FC236}">
                <a16:creationId xmlns:a16="http://schemas.microsoft.com/office/drawing/2014/main" id="{ED704322-F7A8-447B-B155-8830D0934A7D}"/>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3" name="26-text-3">
            <a:extLst xmlns:a="http://schemas.openxmlformats.org/drawingml/2006/main">
              <a:ext uri="{FF2B5EF4-FFF2-40B4-BE49-F238E27FC236}">
                <a16:creationId xmlns:a16="http://schemas.microsoft.com/office/drawing/2014/main" id="{61DC5762-AFF0-448F-B21C-EF1F154CF1F7}"/>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Tree>
    <p:extLst>
      <p:ext uri="{BB962C8B-B14F-4D97-AF65-F5344CB8AC3E}">
        <p14:creationId xmlns:p14="http://schemas.microsoft.com/office/powerpoint/2010/main" val="158314582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2026-09-15T19:07:36.1660000Z</dcterms:created>
  <dcterms:modified xsi:type="dcterms:W3CDTF">2026-09-15T19:07:36.1660000Z</dcterms:modified>
</coreProperties>
</file>