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68ac65ba0464ca8" /><Relationship Type="http://schemas.openxmlformats.org/officeDocument/2006/relationships/extended-properties" Target="/docProps/app.xml" Id="R9bc5a09b7e98465c" /><Relationship Type="http://schemas.openxmlformats.org/officeDocument/2006/relationships/officeDocument" Target="/ppt/presentation.xml" Id="Rf382809f51af4fad"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224687decf8b4731"/>
    <p:sldMasterId xmlns:r="http://schemas.openxmlformats.org/officeDocument/2006/relationships" id="2147483650" r:id="Rb8d1b8a8892c4c37"/>
  </p:sldMasterIdLst>
  <p:notesMasterIdLst>
    <p:notesMasterId xmlns:r="http://schemas.openxmlformats.org/officeDocument/2006/relationships" r:id="Ra36cd733e05449c5"/>
  </p:notesMasterIdLst>
  <p:sldIdLst>
    <p:sldId xmlns:r="http://schemas.openxmlformats.org/officeDocument/2006/relationships" id="256" r:id="R5cd0fdd249264be0"/>
    <p:sldId xmlns:r="http://schemas.openxmlformats.org/officeDocument/2006/relationships" id="257" r:id="Rfe57197e3ed14bdd"/>
    <p:sldId xmlns:r="http://schemas.openxmlformats.org/officeDocument/2006/relationships" id="258" r:id="R1a84771417614d37"/>
    <p:sldId xmlns:r="http://schemas.openxmlformats.org/officeDocument/2006/relationships" id="259" r:id="Rb9f0287fa9df41a1"/>
    <p:sldId xmlns:r="http://schemas.openxmlformats.org/officeDocument/2006/relationships" id="260" r:id="R74258502f2374fd7"/>
    <p:sldId xmlns:r="http://schemas.openxmlformats.org/officeDocument/2006/relationships" id="261" r:id="R1ff80c660dbd4243"/>
    <p:sldId xmlns:r="http://schemas.openxmlformats.org/officeDocument/2006/relationships" id="262" r:id="Rf80ac53bbab34777"/>
    <p:sldId xmlns:r="http://schemas.openxmlformats.org/officeDocument/2006/relationships" id="263" r:id="Rf2fe151868794daf"/>
    <p:sldId xmlns:r="http://schemas.openxmlformats.org/officeDocument/2006/relationships" id="264" r:id="R761dc27eb55e4db2"/>
    <p:sldId xmlns:r="http://schemas.openxmlformats.org/officeDocument/2006/relationships" id="265" r:id="R38a8384955284850"/>
    <p:sldId xmlns:r="http://schemas.openxmlformats.org/officeDocument/2006/relationships" id="266" r:id="Red4b856f5ed94bbe"/>
    <p:sldId xmlns:r="http://schemas.openxmlformats.org/officeDocument/2006/relationships" id="267" r:id="Ra3428a7b70784d91"/>
    <p:sldId xmlns:r="http://schemas.openxmlformats.org/officeDocument/2006/relationships" id="268" r:id="Re11faa64437b49b5"/>
    <p:sldId xmlns:r="http://schemas.openxmlformats.org/officeDocument/2006/relationships" id="269" r:id="R74e78c0ef7734e21"/>
    <p:sldId xmlns:r="http://schemas.openxmlformats.org/officeDocument/2006/relationships" id="270" r:id="R387fdb49f1f844d5"/>
    <p:sldId xmlns:r="http://schemas.openxmlformats.org/officeDocument/2006/relationships" id="271" r:id="R7daefb77dd5047e7"/>
    <p:sldId xmlns:r="http://schemas.openxmlformats.org/officeDocument/2006/relationships" id="272" r:id="R664729c065674177"/>
    <p:sldId xmlns:r="http://schemas.openxmlformats.org/officeDocument/2006/relationships" id="273" r:id="R64ce2d0505b04c9d"/>
    <p:sldId xmlns:r="http://schemas.openxmlformats.org/officeDocument/2006/relationships" id="274" r:id="Rf0a3b65ba1474fb4"/>
    <p:sldId xmlns:r="http://schemas.openxmlformats.org/officeDocument/2006/relationships" id="275" r:id="R5dd5b3934cce485a"/>
    <p:sldId xmlns:r="http://schemas.openxmlformats.org/officeDocument/2006/relationships" id="276" r:id="R0c440c6947ef4974"/>
    <p:sldId xmlns:r="http://schemas.openxmlformats.org/officeDocument/2006/relationships" id="277" r:id="R5da94c081de645c3"/>
    <p:sldId xmlns:r="http://schemas.openxmlformats.org/officeDocument/2006/relationships" id="278" r:id="R64e1f53b69564666"/>
    <p:sldId xmlns:r="http://schemas.openxmlformats.org/officeDocument/2006/relationships" id="279" r:id="R4fa9e5fa99db416e"/>
    <p:sldId xmlns:r="http://schemas.openxmlformats.org/officeDocument/2006/relationships" id="280" r:id="R8799d6db319748e8"/>
    <p:sldId xmlns:r="http://schemas.openxmlformats.org/officeDocument/2006/relationships" id="281" r:id="R43c6a8ead91b4b3a"/>
    <p:sldId xmlns:r="http://schemas.openxmlformats.org/officeDocument/2006/relationships" id="282" r:id="R7871fd3e737f466f"/>
    <p:sldId xmlns:r="http://schemas.openxmlformats.org/officeDocument/2006/relationships" id="283" r:id="Rf52ef6d733b44e18"/>
    <p:sldId xmlns:r="http://schemas.openxmlformats.org/officeDocument/2006/relationships" id="284" r:id="Rabde18645f04477d"/>
    <p:sldId xmlns:r="http://schemas.openxmlformats.org/officeDocument/2006/relationships" id="285" r:id="R1d7df51146bd444f"/>
    <p:sldId xmlns:r="http://schemas.openxmlformats.org/officeDocument/2006/relationships" id="286" r:id="R57bd4d1aa51d4ae1"/>
    <p:sldId xmlns:r="http://schemas.openxmlformats.org/officeDocument/2006/relationships" id="287" r:id="Rfc3f6bf2193e4fcf"/>
    <p:sldId xmlns:r="http://schemas.openxmlformats.org/officeDocument/2006/relationships" id="288" r:id="R057ea54ebd144993"/>
    <p:sldId xmlns:r="http://schemas.openxmlformats.org/officeDocument/2006/relationships" id="289" r:id="Rb78f78c201454499"/>
    <p:sldId xmlns:r="http://schemas.openxmlformats.org/officeDocument/2006/relationships" id="290" r:id="R63f097f4d2c4443c"/>
    <p:sldId xmlns:r="http://schemas.openxmlformats.org/officeDocument/2006/relationships" id="291" r:id="R47e21fb9e4004c1a"/>
    <p:sldId xmlns:r="http://schemas.openxmlformats.org/officeDocument/2006/relationships" id="292" r:id="R691f263928b64468"/>
    <p:sldId xmlns:r="http://schemas.openxmlformats.org/officeDocument/2006/relationships" id="293" r:id="R80d02fa1926b4a8e"/>
    <p:sldId xmlns:r="http://schemas.openxmlformats.org/officeDocument/2006/relationships" id="294" r:id="R53dfdb90d75841a7"/>
    <p:sldId xmlns:r="http://schemas.openxmlformats.org/officeDocument/2006/relationships" id="295" r:id="Rf3966be22a7d45f0"/>
    <p:sldId xmlns:r="http://schemas.openxmlformats.org/officeDocument/2006/relationships" id="296" r:id="R036bb775b0ee4da1"/>
    <p:sldId xmlns:r="http://schemas.openxmlformats.org/officeDocument/2006/relationships" id="297" r:id="R20372364fbc748ea"/>
    <p:sldId xmlns:r="http://schemas.openxmlformats.org/officeDocument/2006/relationships" id="298" r:id="Rd54b705bf92441fb"/>
    <p:sldId xmlns:r="http://schemas.openxmlformats.org/officeDocument/2006/relationships" id="299" r:id="R30c8a575ec164822"/>
    <p:sldId xmlns:r="http://schemas.openxmlformats.org/officeDocument/2006/relationships" id="300" r:id="Rdc2cb6ece804438f"/>
    <p:sldId xmlns:r="http://schemas.openxmlformats.org/officeDocument/2006/relationships" id="301" r:id="Rd8489cbc3f164778"/>
    <p:sldId xmlns:r="http://schemas.openxmlformats.org/officeDocument/2006/relationships" id="302" r:id="R815190302e024f19"/>
    <p:sldId xmlns:r="http://schemas.openxmlformats.org/officeDocument/2006/relationships" id="303" r:id="R8cd56daf95764047"/>
    <p:sldId xmlns:r="http://schemas.openxmlformats.org/officeDocument/2006/relationships" id="304" r:id="Rfb333fa50f7a46af"/>
    <p:sldId xmlns:r="http://schemas.openxmlformats.org/officeDocument/2006/relationships" id="305" r:id="Ra972178916f749e0"/>
    <p:sldId xmlns:r="http://schemas.openxmlformats.org/officeDocument/2006/relationships" id="306" r:id="R4c844a283ac64eda"/>
    <p:sldId xmlns:r="http://schemas.openxmlformats.org/officeDocument/2006/relationships" id="307" r:id="R7f5e354a7e2f4d0a"/>
    <p:sldId xmlns:r="http://schemas.openxmlformats.org/officeDocument/2006/relationships" id="308" r:id="Reca7271be6a34977"/>
    <p:sldId xmlns:r="http://schemas.openxmlformats.org/officeDocument/2006/relationships" id="309" r:id="Rb0bfac0ff2244396"/>
    <p:sldId xmlns:r="http://schemas.openxmlformats.org/officeDocument/2006/relationships" id="310" r:id="R7b9be150d36b47f6"/>
    <p:sldId xmlns:r="http://schemas.openxmlformats.org/officeDocument/2006/relationships" id="311" r:id="R56720efbfb1a4333"/>
    <p:sldId xmlns:r="http://schemas.openxmlformats.org/officeDocument/2006/relationships" id="312" r:id="R37cdf5ed41a64608"/>
    <p:sldId xmlns:r="http://schemas.openxmlformats.org/officeDocument/2006/relationships" id="313" r:id="R50a993fe4c2c4555"/>
    <p:sldId xmlns:r="http://schemas.openxmlformats.org/officeDocument/2006/relationships" id="314" r:id="Rdc21f0be6e5f4f8d"/>
    <p:sldId xmlns:r="http://schemas.openxmlformats.org/officeDocument/2006/relationships" id="315" r:id="R38aa70e059ab408c"/>
    <p:sldId xmlns:r="http://schemas.openxmlformats.org/officeDocument/2006/relationships" id="316" r:id="R0d9a6f5de97f4fa9"/>
    <p:sldId xmlns:r="http://schemas.openxmlformats.org/officeDocument/2006/relationships" id="317" r:id="R22caca9b81b94cd6"/>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4630c97f15943a6" /><Relationship Type="http://schemas.openxmlformats.org/officeDocument/2006/relationships/slideMaster" Target="/ppt/slideMasters/slideMaster1.xml" Id="R224687decf8b4731" /><Relationship Type="http://schemas.openxmlformats.org/officeDocument/2006/relationships/slideMaster" Target="/ppt/slideMasters/slideMaster2.xml" Id="Rb8d1b8a8892c4c37" /><Relationship Type="http://schemas.openxmlformats.org/officeDocument/2006/relationships/notesMaster" Target="/ppt/notesMasters/notesMaster1.xml" Id="Ra36cd733e05449c5" /><Relationship Type="http://schemas.openxmlformats.org/officeDocument/2006/relationships/presProps" Target="/ppt/presProps.xml" Id="R48d244b0a53b42ed" /><Relationship Type="http://schemas.openxmlformats.org/officeDocument/2006/relationships/tableStyles" Target="/ppt/tableStyles.xml" Id="R390da8bf8abf46df" /><Relationship Type="http://schemas.openxmlformats.org/officeDocument/2006/relationships/slide" Target="/ppt/slides/slide1.xml" Id="R5cd0fdd249264be0" /><Relationship Type="http://schemas.openxmlformats.org/officeDocument/2006/relationships/slide" Target="/ppt/slides/slide2.xml" Id="Rfe57197e3ed14bdd" /><Relationship Type="http://schemas.openxmlformats.org/officeDocument/2006/relationships/slide" Target="/ppt/slides/slide3.xml" Id="R1a84771417614d37" /><Relationship Type="http://schemas.openxmlformats.org/officeDocument/2006/relationships/slide" Target="/ppt/slides/slide4.xml" Id="Rb9f0287fa9df41a1" /><Relationship Type="http://schemas.openxmlformats.org/officeDocument/2006/relationships/slide" Target="/ppt/slides/slide5.xml" Id="R74258502f2374fd7" /><Relationship Type="http://schemas.openxmlformats.org/officeDocument/2006/relationships/slide" Target="/ppt/slides/slide6.xml" Id="R1ff80c660dbd4243" /><Relationship Type="http://schemas.openxmlformats.org/officeDocument/2006/relationships/slide" Target="/ppt/slides/slide7.xml" Id="Rf80ac53bbab34777" /><Relationship Type="http://schemas.openxmlformats.org/officeDocument/2006/relationships/slide" Target="/ppt/slides/slide8.xml" Id="Rf2fe151868794daf" /><Relationship Type="http://schemas.openxmlformats.org/officeDocument/2006/relationships/slide" Target="/ppt/slides/slide9.xml" Id="R761dc27eb55e4db2" /><Relationship Type="http://schemas.openxmlformats.org/officeDocument/2006/relationships/slide" Target="/ppt/slides/slide10.xml" Id="R38a8384955284850" /><Relationship Type="http://schemas.openxmlformats.org/officeDocument/2006/relationships/slide" Target="/ppt/slides/slide11.xml" Id="Red4b856f5ed94bbe" /><Relationship Type="http://schemas.openxmlformats.org/officeDocument/2006/relationships/slide" Target="/ppt/slides/slide12.xml" Id="Ra3428a7b70784d91" /><Relationship Type="http://schemas.openxmlformats.org/officeDocument/2006/relationships/slide" Target="/ppt/slides/slide13.xml" Id="Re11faa64437b49b5" /><Relationship Type="http://schemas.openxmlformats.org/officeDocument/2006/relationships/slide" Target="/ppt/slides/slide14.xml" Id="R74e78c0ef7734e21" /><Relationship Type="http://schemas.openxmlformats.org/officeDocument/2006/relationships/slide" Target="/ppt/slides/slide15.xml" Id="R387fdb49f1f844d5" /><Relationship Type="http://schemas.openxmlformats.org/officeDocument/2006/relationships/slide" Target="/ppt/slides/slide16.xml" Id="R7daefb77dd5047e7" /><Relationship Type="http://schemas.openxmlformats.org/officeDocument/2006/relationships/slide" Target="/ppt/slides/slide17.xml" Id="R664729c065674177" /><Relationship Type="http://schemas.openxmlformats.org/officeDocument/2006/relationships/slide" Target="/ppt/slides/slide18.xml" Id="R64ce2d0505b04c9d" /><Relationship Type="http://schemas.openxmlformats.org/officeDocument/2006/relationships/slide" Target="/ppt/slides/slide19.xml" Id="Rf0a3b65ba1474fb4" /><Relationship Type="http://schemas.openxmlformats.org/officeDocument/2006/relationships/slide" Target="/ppt/slides/slide20.xml" Id="R5dd5b3934cce485a" /><Relationship Type="http://schemas.openxmlformats.org/officeDocument/2006/relationships/slide" Target="/ppt/slides/slide21.xml" Id="R0c440c6947ef4974" /><Relationship Type="http://schemas.openxmlformats.org/officeDocument/2006/relationships/slide" Target="/ppt/slides/slide22.xml" Id="R5da94c081de645c3" /><Relationship Type="http://schemas.openxmlformats.org/officeDocument/2006/relationships/slide" Target="/ppt/slides/slide23.xml" Id="R64e1f53b69564666" /><Relationship Type="http://schemas.openxmlformats.org/officeDocument/2006/relationships/slide" Target="/ppt/slides/slide24.xml" Id="R4fa9e5fa99db416e" /><Relationship Type="http://schemas.openxmlformats.org/officeDocument/2006/relationships/slide" Target="/ppt/slides/slide25.xml" Id="R8799d6db319748e8" /><Relationship Type="http://schemas.openxmlformats.org/officeDocument/2006/relationships/slide" Target="/ppt/slides/slide26.xml" Id="R43c6a8ead91b4b3a" /><Relationship Type="http://schemas.openxmlformats.org/officeDocument/2006/relationships/slide" Target="/ppt/slides/slide27.xml" Id="R7871fd3e737f466f" /><Relationship Type="http://schemas.openxmlformats.org/officeDocument/2006/relationships/slide" Target="/ppt/slides/slide28.xml" Id="Rf52ef6d733b44e18" /><Relationship Type="http://schemas.openxmlformats.org/officeDocument/2006/relationships/slide" Target="/ppt/slides/slide29.xml" Id="Rabde18645f04477d" /><Relationship Type="http://schemas.openxmlformats.org/officeDocument/2006/relationships/slide" Target="/ppt/slides/slide30.xml" Id="R1d7df51146bd444f" /><Relationship Type="http://schemas.openxmlformats.org/officeDocument/2006/relationships/slide" Target="/ppt/slides/slide31.xml" Id="R57bd4d1aa51d4ae1" /><Relationship Type="http://schemas.openxmlformats.org/officeDocument/2006/relationships/slide" Target="/ppt/slides/slide32.xml" Id="Rfc3f6bf2193e4fcf" /><Relationship Type="http://schemas.openxmlformats.org/officeDocument/2006/relationships/slide" Target="/ppt/slides/slide33.xml" Id="R057ea54ebd144993" /><Relationship Type="http://schemas.openxmlformats.org/officeDocument/2006/relationships/slide" Target="/ppt/slides/slide34.xml" Id="Rb78f78c201454499" /><Relationship Type="http://schemas.openxmlformats.org/officeDocument/2006/relationships/slide" Target="/ppt/slides/slide35.xml" Id="R63f097f4d2c4443c" /><Relationship Type="http://schemas.openxmlformats.org/officeDocument/2006/relationships/slide" Target="/ppt/slides/slide36.xml" Id="R47e21fb9e4004c1a" /><Relationship Type="http://schemas.openxmlformats.org/officeDocument/2006/relationships/slide" Target="/ppt/slides/slide37.xml" Id="R691f263928b64468" /><Relationship Type="http://schemas.openxmlformats.org/officeDocument/2006/relationships/slide" Target="/ppt/slides/slide38.xml" Id="R80d02fa1926b4a8e" /><Relationship Type="http://schemas.openxmlformats.org/officeDocument/2006/relationships/slide" Target="/ppt/slides/slide39.xml" Id="R53dfdb90d75841a7" /><Relationship Type="http://schemas.openxmlformats.org/officeDocument/2006/relationships/slide" Target="/ppt/slides/slide40.xml" Id="Rf3966be22a7d45f0" /><Relationship Type="http://schemas.openxmlformats.org/officeDocument/2006/relationships/slide" Target="/ppt/slides/slide41.xml" Id="R036bb775b0ee4da1" /><Relationship Type="http://schemas.openxmlformats.org/officeDocument/2006/relationships/slide" Target="/ppt/slides/slide42.xml" Id="R20372364fbc748ea" /><Relationship Type="http://schemas.openxmlformats.org/officeDocument/2006/relationships/slide" Target="/ppt/slides/slide43.xml" Id="Rd54b705bf92441fb" /><Relationship Type="http://schemas.openxmlformats.org/officeDocument/2006/relationships/slide" Target="/ppt/slides/slide44.xml" Id="R30c8a575ec164822" /><Relationship Type="http://schemas.openxmlformats.org/officeDocument/2006/relationships/slide" Target="/ppt/slides/slide45.xml" Id="Rdc2cb6ece804438f" /><Relationship Type="http://schemas.openxmlformats.org/officeDocument/2006/relationships/slide" Target="/ppt/slides/slide46.xml" Id="Rd8489cbc3f164778" /><Relationship Type="http://schemas.openxmlformats.org/officeDocument/2006/relationships/slide" Target="/ppt/slides/slide47.xml" Id="R815190302e024f19" /><Relationship Type="http://schemas.openxmlformats.org/officeDocument/2006/relationships/slide" Target="/ppt/slides/slide48.xml" Id="R8cd56daf95764047" /><Relationship Type="http://schemas.openxmlformats.org/officeDocument/2006/relationships/slide" Target="/ppt/slides/slide49.xml" Id="Rfb333fa50f7a46af" /><Relationship Type="http://schemas.openxmlformats.org/officeDocument/2006/relationships/slide" Target="/ppt/slides/slide50.xml" Id="Ra972178916f749e0" /><Relationship Type="http://schemas.openxmlformats.org/officeDocument/2006/relationships/slide" Target="/ppt/slides/slide51.xml" Id="R4c844a283ac64eda" /><Relationship Type="http://schemas.openxmlformats.org/officeDocument/2006/relationships/slide" Target="/ppt/slides/slide52.xml" Id="R7f5e354a7e2f4d0a" /><Relationship Type="http://schemas.openxmlformats.org/officeDocument/2006/relationships/slide" Target="/ppt/slides/slide53.xml" Id="Reca7271be6a34977" /><Relationship Type="http://schemas.openxmlformats.org/officeDocument/2006/relationships/slide" Target="/ppt/slides/slide54.xml" Id="Rb0bfac0ff2244396" /><Relationship Type="http://schemas.openxmlformats.org/officeDocument/2006/relationships/slide" Target="/ppt/slides/slide55.xml" Id="R7b9be150d36b47f6" /><Relationship Type="http://schemas.openxmlformats.org/officeDocument/2006/relationships/slide" Target="/ppt/slides/slide56.xml" Id="R56720efbfb1a4333" /><Relationship Type="http://schemas.openxmlformats.org/officeDocument/2006/relationships/slide" Target="/ppt/slides/slide57.xml" Id="R37cdf5ed41a64608" /><Relationship Type="http://schemas.openxmlformats.org/officeDocument/2006/relationships/slide" Target="/ppt/slides/slide58.xml" Id="R50a993fe4c2c4555" /><Relationship Type="http://schemas.openxmlformats.org/officeDocument/2006/relationships/slide" Target="/ppt/slides/slide59.xml" Id="Rdc21f0be6e5f4f8d" /><Relationship Type="http://schemas.openxmlformats.org/officeDocument/2006/relationships/slide" Target="/ppt/slides/slide60.xml" Id="R38aa70e059ab408c" /><Relationship Type="http://schemas.openxmlformats.org/officeDocument/2006/relationships/slide" Target="/ppt/slides/slide61.xml" Id="R0d9a6f5de97f4fa9" /><Relationship Type="http://schemas.openxmlformats.org/officeDocument/2006/relationships/slide" Target="/ppt/slides/slide62.xml" Id="R22caca9b81b94cd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36045b7937e44dc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13cf424a6e94d31" /><Relationship Type="http://schemas.openxmlformats.org/officeDocument/2006/relationships/notesMaster" Target="/ppt/notesMasters/notesMaster1.xml" Id="R1fb4323721f54e9f" /></Relationships>
</file>

<file path=ppt/notesSlides/_rels/notesSlide2.xml.rels>&#65279;<?xml version="1.0" encoding="utf-8"?><Relationships xmlns="http://schemas.openxmlformats.org/package/2006/relationships"><Relationship Type="http://schemas.openxmlformats.org/officeDocument/2006/relationships/slide" Target="/ppt/slides/slide2.xml" Id="Rfbc697c3134841a0" /><Relationship Type="http://schemas.openxmlformats.org/officeDocument/2006/relationships/notesMaster" Target="/ppt/notesMasters/notesMaster1.xml" Id="Rba3816b0d1bd44de" /></Relationships>
</file>

<file path=ppt/notesSlides/_rels/notesSlide3.xml.rels>&#65279;<?xml version="1.0" encoding="utf-8"?><Relationships xmlns="http://schemas.openxmlformats.org/package/2006/relationships"><Relationship Type="http://schemas.openxmlformats.org/officeDocument/2006/relationships/slide" Target="/ppt/slides/slide3.xml" Id="R6d1813363542475c" /><Relationship Type="http://schemas.openxmlformats.org/officeDocument/2006/relationships/notesMaster" Target="/ppt/notesMasters/notesMaster1.xml" Id="R27a16c9e760b470a" /></Relationships>
</file>

<file path=ppt/notesSlides/_rels/notesSlide4.xml.rels>&#65279;<?xml version="1.0" encoding="utf-8"?><Relationships xmlns="http://schemas.openxmlformats.org/package/2006/relationships"><Relationship Type="http://schemas.openxmlformats.org/officeDocument/2006/relationships/slide" Target="/ppt/slides/slide4.xml" Id="R821d1646e2c4403c" /><Relationship Type="http://schemas.openxmlformats.org/officeDocument/2006/relationships/notesMaster" Target="/ppt/notesMasters/notesMaster1.xml" Id="Rce6185cb022a44f3" /></Relationships>
</file>

<file path=ppt/notesSlides/_rels/notesSlide5.xml.rels>&#65279;<?xml version="1.0" encoding="utf-8"?><Relationships xmlns="http://schemas.openxmlformats.org/package/2006/relationships"><Relationship Type="http://schemas.openxmlformats.org/officeDocument/2006/relationships/slide" Target="/ppt/slides/slide5.xml" Id="R6880175a473541f7" /><Relationship Type="http://schemas.openxmlformats.org/officeDocument/2006/relationships/notesMaster" Target="/ppt/notesMasters/notesMaster1.xml" Id="R389cc84f75df415c" /></Relationships>
</file>

<file path=ppt/notesSlides/_rels/notesSlide6.xml.rels>&#65279;<?xml version="1.0" encoding="utf-8"?><Relationships xmlns="http://schemas.openxmlformats.org/package/2006/relationships"><Relationship Type="http://schemas.openxmlformats.org/officeDocument/2006/relationships/slide" Target="/ppt/slides/slide6.xml" Id="R645d5575922b43f4" /><Relationship Type="http://schemas.openxmlformats.org/officeDocument/2006/relationships/notesMaster" Target="/ppt/notesMasters/notesMaster1.xml" Id="R4c28f38f84f14a6a" /></Relationships>
</file>

<file path=ppt/notesSlides/_rels/notesSlide7.xml.rels>&#65279;<?xml version="1.0" encoding="utf-8"?><Relationships xmlns="http://schemas.openxmlformats.org/package/2006/relationships"><Relationship Type="http://schemas.openxmlformats.org/officeDocument/2006/relationships/slide" Target="/ppt/slides/slide7.xml" Id="R4847e649655947bc" /><Relationship Type="http://schemas.openxmlformats.org/officeDocument/2006/relationships/notesMaster" Target="/ppt/notesMasters/notesMaster1.xml" Id="Rab99e9887eed4bdb" /></Relationships>
</file>

<file path=ppt/notesSlides/_rels/notesSlide8.xml.rels>&#65279;<?xml version="1.0" encoding="utf-8"?><Relationships xmlns="http://schemas.openxmlformats.org/package/2006/relationships"><Relationship Type="http://schemas.openxmlformats.org/officeDocument/2006/relationships/slide" Target="/ppt/slides/slide8.xml" Id="Re3df9adf934e4d74" /><Relationship Type="http://schemas.openxmlformats.org/officeDocument/2006/relationships/notesMaster" Target="/ppt/notesMasters/notesMaster1.xml" Id="R5ee5c224c2a944a9" /></Relationships>
</file>

<file path=ppt/notesSlides/_rels/notesSlide9.xml.rels>&#65279;<?xml version="1.0" encoding="utf-8"?><Relationships xmlns="http://schemas.openxmlformats.org/package/2006/relationships"><Relationship Type="http://schemas.openxmlformats.org/officeDocument/2006/relationships/slide" Target="/ppt/slides/slide9.xml" Id="R96e8b17ec8d14ae6" /><Relationship Type="http://schemas.openxmlformats.org/officeDocument/2006/relationships/notesMaster" Target="/ppt/notesMasters/notesMaster1.xml" Id="Rf1901d3578fd43c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ff09e18be4447d9" /><Relationship Type="http://schemas.openxmlformats.org/officeDocument/2006/relationships/notesMaster" Target="/ppt/notesMasters/notesMaster1.xml" Id="Ra0a700e36250445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47427437f3b4cae" /><Relationship Type="http://schemas.openxmlformats.org/officeDocument/2006/relationships/notesMaster" Target="/ppt/notesMasters/notesMaster1.xml" Id="R70fe78f017194bd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3f183bc2366475d" /><Relationship Type="http://schemas.openxmlformats.org/officeDocument/2006/relationships/notesMaster" Target="/ppt/notesMasters/notesMaster1.xml" Id="R30bd0d61553a4d4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8f630b333c6482a" /><Relationship Type="http://schemas.openxmlformats.org/officeDocument/2006/relationships/notesMaster" Target="/ppt/notesMasters/notesMaster1.xml" Id="Rc2ec20bd7db7459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fd05fbfdcd74c42" /><Relationship Type="http://schemas.openxmlformats.org/officeDocument/2006/relationships/notesMaster" Target="/ppt/notesMasters/notesMaster1.xml" Id="R9d04aef229cb4ae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c44d841afcf45c8" /><Relationship Type="http://schemas.openxmlformats.org/officeDocument/2006/relationships/notesMaster" Target="/ppt/notesMasters/notesMaster1.xml" Id="R92068e30403e46d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eb1967fe76a4750" /><Relationship Type="http://schemas.openxmlformats.org/officeDocument/2006/relationships/notesMaster" Target="/ppt/notesMasters/notesMaster1.xml" Id="R7065fab2ff9d49f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52d13e031b64056" /><Relationship Type="http://schemas.openxmlformats.org/officeDocument/2006/relationships/notesMaster" Target="/ppt/notesMasters/notesMaster1.xml" Id="Rdcc95b1374d9425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9ee79ecd3774356" /><Relationship Type="http://schemas.openxmlformats.org/officeDocument/2006/relationships/notesMaster" Target="/ppt/notesMasters/notesMaster1.xml" Id="Rba458103a26e4d4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9fd7399461b4126" /><Relationship Type="http://schemas.openxmlformats.org/officeDocument/2006/relationships/notesMaster" Target="/ppt/notesMasters/notesMaster1.xml" Id="Rf25a20e4a3be417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1a5994bbfe246a4" /><Relationship Type="http://schemas.openxmlformats.org/officeDocument/2006/relationships/notesMaster" Target="/ppt/notesMasters/notesMaster1.xml" Id="Rc1788c90ef104a2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abcf127924d433a" /><Relationship Type="http://schemas.openxmlformats.org/officeDocument/2006/relationships/notesMaster" Target="/ppt/notesMasters/notesMaster1.xml" Id="R5350955ac01045e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cb0ae9af2a04807" /><Relationship Type="http://schemas.openxmlformats.org/officeDocument/2006/relationships/notesMaster" Target="/ppt/notesMasters/notesMaster1.xml" Id="R9231100ccb17406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0e1402c73be46ee" /><Relationship Type="http://schemas.openxmlformats.org/officeDocument/2006/relationships/notesMaster" Target="/ppt/notesMasters/notesMaster1.xml" Id="R39de57b47b8a4fa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f60640230bb4233" /><Relationship Type="http://schemas.openxmlformats.org/officeDocument/2006/relationships/notesMaster" Target="/ppt/notesMasters/notesMaster1.xml" Id="R08956fd644d046d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337f851da354220" /><Relationship Type="http://schemas.openxmlformats.org/officeDocument/2006/relationships/notesMaster" Target="/ppt/notesMasters/notesMaster1.xml" Id="R4308fea52b5646b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a2c9ba7582c48f9" /><Relationship Type="http://schemas.openxmlformats.org/officeDocument/2006/relationships/notesMaster" Target="/ppt/notesMasters/notesMaster1.xml" Id="R300d236fbb564de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346dcc71b774991" /><Relationship Type="http://schemas.openxmlformats.org/officeDocument/2006/relationships/notesMaster" Target="/ppt/notesMasters/notesMaster1.xml" Id="R1b22c15f6a8b442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1d69dc5461a4b3c" /><Relationship Type="http://schemas.openxmlformats.org/officeDocument/2006/relationships/notesMaster" Target="/ppt/notesMasters/notesMaster1.xml" Id="Re56315d3b9df44c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5b9cd49dca24de2" /><Relationship Type="http://schemas.openxmlformats.org/officeDocument/2006/relationships/notesMaster" Target="/ppt/notesMasters/notesMaster1.xml" Id="R8a906666914246c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8a6bc0c2adf4d21" /><Relationship Type="http://schemas.openxmlformats.org/officeDocument/2006/relationships/notesMaster" Target="/ppt/notesMasters/notesMaster1.xml" Id="Rdf0be4cbef4b482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d92b0ff533f4e32" /><Relationship Type="http://schemas.openxmlformats.org/officeDocument/2006/relationships/notesMaster" Target="/ppt/notesMasters/notesMaster1.xml" Id="Rd8eed8e02f4a457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8821a416a5841e1" /><Relationship Type="http://schemas.openxmlformats.org/officeDocument/2006/relationships/notesMaster" Target="/ppt/notesMasters/notesMaster1.xml" Id="R776d16981ef1454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501fac9374043f7" /><Relationship Type="http://schemas.openxmlformats.org/officeDocument/2006/relationships/notesMaster" Target="/ppt/notesMasters/notesMaster1.xml" Id="R16f0a781f26e46f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0367c00cb2a4957" /><Relationship Type="http://schemas.openxmlformats.org/officeDocument/2006/relationships/notesMaster" Target="/ppt/notesMasters/notesMaster1.xml" Id="R401cf4c9d3c9476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9ea439bc0084959" /><Relationship Type="http://schemas.openxmlformats.org/officeDocument/2006/relationships/notesMaster" Target="/ppt/notesMasters/notesMaster1.xml" Id="R55ca727b1b80487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d1c754be24e4d69" /><Relationship Type="http://schemas.openxmlformats.org/officeDocument/2006/relationships/notesMaster" Target="/ppt/notesMasters/notesMaster1.xml" Id="Ra37fac483b8a48e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831266d3724447c0" /><Relationship Type="http://schemas.openxmlformats.org/officeDocument/2006/relationships/notesMaster" Target="/ppt/notesMasters/notesMaster1.xml" Id="Rd45c21b983574982"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72a81e77bc9433a" /><Relationship Type="http://schemas.openxmlformats.org/officeDocument/2006/relationships/notesMaster" Target="/ppt/notesMasters/notesMaster1.xml" Id="R9a4624e5ce694849"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497bfc7b8fe34aff" /><Relationship Type="http://schemas.openxmlformats.org/officeDocument/2006/relationships/notesMaster" Target="/ppt/notesMasters/notesMaster1.xml" Id="Rdea97b8e97ad49f6"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9864491b72994230" /><Relationship Type="http://schemas.openxmlformats.org/officeDocument/2006/relationships/notesMaster" Target="/ppt/notesMasters/notesMaster1.xml" Id="R6f2466cefff54fde"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4eb1ede041d7436b" /><Relationship Type="http://schemas.openxmlformats.org/officeDocument/2006/relationships/notesMaster" Target="/ppt/notesMasters/notesMaster1.xml" Id="Rd7db60bf5dc749b9"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515e322676664095" /><Relationship Type="http://schemas.openxmlformats.org/officeDocument/2006/relationships/notesMaster" Target="/ppt/notesMasters/notesMaster1.xml" Id="R2e2f745fd8f14614"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6dbec5a1a7204595" /><Relationship Type="http://schemas.openxmlformats.org/officeDocument/2006/relationships/notesMaster" Target="/ppt/notesMasters/notesMaster1.xml" Id="Rb216dd68c7bf4376"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928daf42ed154969" /><Relationship Type="http://schemas.openxmlformats.org/officeDocument/2006/relationships/notesMaster" Target="/ppt/notesMasters/notesMaster1.xml" Id="R996ed25d795344e4"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42a2eb9820c54c41" /><Relationship Type="http://schemas.openxmlformats.org/officeDocument/2006/relationships/notesMaster" Target="/ppt/notesMasters/notesMaster1.xml" Id="Rdb092cc36470474b"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9d26b86bba4d40f7" /><Relationship Type="http://schemas.openxmlformats.org/officeDocument/2006/relationships/notesMaster" Target="/ppt/notesMasters/notesMaster1.xml" Id="R9dba69889737498b"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b4d5fde0c6d543ed" /><Relationship Type="http://schemas.openxmlformats.org/officeDocument/2006/relationships/notesMaster" Target="/ppt/notesMasters/notesMaster1.xml" Id="Rf0dd2db2ed38435f"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49e6307ca30149c7" /><Relationship Type="http://schemas.openxmlformats.org/officeDocument/2006/relationships/notesMaster" Target="/ppt/notesMasters/notesMaster1.xml" Id="Ra067b829a7984705"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606201f3ba5343a4" /><Relationship Type="http://schemas.openxmlformats.org/officeDocument/2006/relationships/notesMaster" Target="/ppt/notesMasters/notesMaster1.xml" Id="R9195fd360f9d47a4"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f1066b0eced540a9" /><Relationship Type="http://schemas.openxmlformats.org/officeDocument/2006/relationships/notesMaster" Target="/ppt/notesMasters/notesMaster1.xml" Id="R7d6580d82bea4202"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42e49a3ce7714269" /><Relationship Type="http://schemas.openxmlformats.org/officeDocument/2006/relationships/notesMaster" Target="/ppt/notesMasters/notesMaster1.xml" Id="Re23f49f96f1a4b13"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e8afae5ab2094cd2" /><Relationship Type="http://schemas.openxmlformats.org/officeDocument/2006/relationships/notesMaster" Target="/ppt/notesMasters/notesMaster1.xml" Id="R754521a0e1644c2a"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9189168d4769498c" /><Relationship Type="http://schemas.openxmlformats.org/officeDocument/2006/relationships/notesMaster" Target="/ppt/notesMasters/notesMaster1.xml" Id="R35ec2acf3f8048f6"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9755270474f746a1" /><Relationship Type="http://schemas.openxmlformats.org/officeDocument/2006/relationships/notesMaster" Target="/ppt/notesMasters/notesMaster1.xml" Id="R8e74627031cb496a"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11a21416af6c4791" /><Relationship Type="http://schemas.openxmlformats.org/officeDocument/2006/relationships/notesMaster" Target="/ppt/notesMasters/notesMaster1.xml" Id="R2d0ce50906874ba9"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cad123205e224ed9" /><Relationship Type="http://schemas.openxmlformats.org/officeDocument/2006/relationships/notesMaster" Target="/ppt/notesMasters/notesMaster1.xml" Id="Rfa2f6b7558704e4e"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ae07541c7edf4823" /><Relationship Type="http://schemas.openxmlformats.org/officeDocument/2006/relationships/notesMaster" Target="/ppt/notesMasters/notesMaster1.xml" Id="R9f03dd6cdba44f21"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e69bf5c426154fa9" /><Relationship Type="http://schemas.openxmlformats.org/officeDocument/2006/relationships/notesMaster" Target="/ppt/notesMasters/notesMaster1.xml" Id="R666389a77d304ac9"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e20e474070d5416a" /><Relationship Type="http://schemas.openxmlformats.org/officeDocument/2006/relationships/notesMaster" Target="/ppt/notesMasters/notesMaster1.xml" Id="Ref9bd1ec9c894685"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5a484c1a4bc840e6" /><Relationship Type="http://schemas.openxmlformats.org/officeDocument/2006/relationships/notesMaster" Target="/ppt/notesMasters/notesMaster1.xml" Id="R24f4b5b3a20e4d45"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63dd67284b064625" /><Relationship Type="http://schemas.openxmlformats.org/officeDocument/2006/relationships/notesMaster" Target="/ppt/notesMasters/notesMaster1.xml" Id="R5250dc0c5adb4a94"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7a0330f742f04d52" /><Relationship Type="http://schemas.openxmlformats.org/officeDocument/2006/relationships/notesMaster" Target="/ppt/notesMasters/notesMaster1.xml" Id="R906501b87fd0460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Title state. A greeting, nothing more.</a:t>
            </a:r>
          </a:p>
          <a:p xmlns:a="http://schemas.openxmlformats.org/drawingml/2006/main">
            <a:r>
              <a:t/>
            </a:r>
          </a:p>
          <a:p xmlns:a="http://schemas.openxmlformats.org/drawingml/2006/main">
            <a:r>
              <a:rPr b="0"/>
              <a:t>In June 2025, Andrej Karpathy put the whole problem in one line.</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1"/>
              <a:t>"Demo is works.any(), product is works.all()."</a:t>
            </a:r>
          </a:p>
          <a:p xmlns:a="http://schemas.openxmlformats.org/drawingml/2006/main">
            <a:r>
              <a:t/>
            </a:r>
          </a:p>
          <a:p xmlns:a="http://schemas.openxmlformats.org/drawingml/2006/main">
            <a:r>
              <a:rPr b="1"/>
              <a:t>A demo proves that a useful path exists. A product needs reliable behavior across its intended use, with a safe response when it cannot complete the task.</a:t>
            </a:r>
          </a:p>
          <a:p xmlns:a="http://schemas.openxmlformats.org/drawingml/2006/main">
            <a:r>
              <a:t/>
            </a:r>
          </a:p>
          <a:p xmlns:a="http://schemas.openxmlformats.org/drawingml/2006/main">
            <a:r>
              <a:rPr b="1"/>
              <a:t>You have probably seen your coding agent do something impressive this week.</a:t>
            </a:r>
            <a:r>
              <a:rPr b="0"/>
              <a:t> That experience is the starting point for this talk.</a:t>
            </a:r>
          </a:p>
          <a:p xmlns:a="http://schemas.openxmlformats.org/drawingml/2006/main">
            <a:r>
              <a:t/>
            </a:r>
          </a:p>
          <a:p xmlns:a="http://schemas.openxmlformats.org/drawingml/2006/main">
            <a:r>
              <a:rPr b="1"/>
              <a:t>The distance between those two calls is what this talk is about.</a:t>
            </a:r>
            <a:r>
              <a:rPr b="0"/>
              <a:t> It is the distance between using AI and engineering it.</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Title state. A greeting, nothing more.</a:t>
            </a:r>
          </a:p>
          <a:p xmlns:a="http://schemas.openxmlformats.org/drawingml/2006/main">
            <a:r>
              <a:t/>
            </a:r>
          </a:p>
          <a:p xmlns:a="http://schemas.openxmlformats.org/drawingml/2006/main">
            <a:r>
              <a:rPr b="0"/>
              <a:t>In June 2025, Andrej Karpathy put the whole problem in one line.</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1"/>
              <a:t>"Demo is works.any(), product is works.all()."</a:t>
            </a:r>
          </a:p>
          <a:p xmlns:a="http://schemas.openxmlformats.org/drawingml/2006/main">
            <a:r>
              <a:t/>
            </a:r>
          </a:p>
          <a:p xmlns:a="http://schemas.openxmlformats.org/drawingml/2006/main">
            <a:r>
              <a:rPr b="1"/>
              <a:t>A demo proves that a useful path exists. A product needs reliable behavior across its intended use, with a safe response when it cannot complete the task.</a:t>
            </a:r>
          </a:p>
          <a:p xmlns:a="http://schemas.openxmlformats.org/drawingml/2006/main">
            <a:r>
              <a:t/>
            </a:r>
          </a:p>
          <a:p xmlns:a="http://schemas.openxmlformats.org/drawingml/2006/main">
            <a:r>
              <a:rPr b="1"/>
              <a:t>You have probably seen your coding agent do something impressive this week.</a:t>
            </a:r>
            <a:r>
              <a:rPr b="0"/>
              <a:t> That experience is the starting point for this talk.</a:t>
            </a:r>
          </a:p>
          <a:p xmlns:a="http://schemas.openxmlformats.org/drawingml/2006/main">
            <a:r>
              <a:t/>
            </a:r>
          </a:p>
          <a:p xmlns:a="http://schemas.openxmlformats.org/drawingml/2006/main">
            <a:r>
              <a:rPr b="1"/>
              <a:t>The distance between those two calls is what this talk is about.</a:t>
            </a:r>
            <a:r>
              <a:rPr b="0"/>
              <a:t> It is the distance between using AI and engineering it.</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Using AI makes you an AI-enabled software engineer. Engineering systems that depend on AI makes you an AI engineer.</a:t>
            </a:r>
          </a:p>
          <a:p xmlns:a="http://schemas.openxmlformats.org/drawingml/2006/main">
            <a:r>
              <a:t/>
            </a:r>
          </a:p>
          <a:p xmlns:a="http://schemas.openxmlformats.org/drawingml/2006/main">
            <a:r>
              <a:rPr b="1"/>
              <a:t>This talk focuses on building products around foundation models.</a:t>
            </a:r>
            <a:r>
              <a:rPr b="0"/>
              <a:t> Your software engineering skills are the foundation. The additional responsibility is measuring and controlling model-dependent behavior.</a:t>
            </a:r>
          </a:p>
          <a:p xmlns:a="http://schemas.openxmlformats.org/drawingml/2006/main">
            <a:r>
              <a:t/>
            </a:r>
          </a:p>
          <a:p xmlns:a="http://schemas.openxmlformats.org/drawingml/2006/main">
            <a:r>
              <a:rPr b="0"/>
              <a:t>ML engineers typically focus on models and the pipelines that produce them. AI engineers typically focus on products around models. The roles overlap, including adaptation and fine-tuning.</a:t>
            </a:r>
          </a:p>
          <a:p xmlns:a="http://schemas.openxmlformats.org/drawingml/2006/main">
            <a:r>
              <a:t/>
            </a:r>
          </a:p>
          <a:p xmlns:a="http://schemas.openxmlformats.org/drawingml/2006/main">
            <a:r>
              <a:rPr b="1"/>
              <a:t>Owner means the engineer or team accountable for the delivered product's behavior and operating limits.</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comparison is about where the model-dependent behavior lives.</a:t>
            </a:r>
            <a:r>
              <a:rPr b="0"/>
              <a:t> In development, you use output to build an artifact and decide what to accept and ship. In the product, users depend on model output or decisions during operation.</a:t>
            </a:r>
          </a:p>
          <a:p xmlns:a="http://schemas.openxmlformats.org/drawingml/2006/main">
            <a:r>
              <a:t/>
            </a:r>
          </a:p>
          <a:p xmlns:a="http://schemas.openxmlformats.org/drawingml/2006/main">
            <a:r>
              <a:rPr b="1"/>
              <a:t>You design the checks, approval steps, and failure handling.</a:t>
            </a:r>
            <a:r>
              <a:rPr b="0"/>
              <a:t> Human review can be part of either system. Your team owns the product's behavior and operating limits.</a:t>
            </a:r>
          </a:p>
          <a:p xmlns:a="http://schemas.openxmlformats.org/drawingml/2006/main">
            <a:r>
              <a:t/>
            </a:r>
          </a:p>
          <a:p xmlns:a="http://schemas.openxmlformats.org/drawingml/2006/main">
            <a:r>
              <a:rPr b="0"/>
              <a:t>Separately, Anthropic distinguishes workflows on predefined code paths from agents with model-selected actions. </a:t>
            </a:r>
            <a:r>
              <a:rPr b="1"/>
              <a:t>An agent adds model-selected actions to control flow. Ordinary code can still enforce permissions, limits, and other guarantees.</a:t>
            </a:r>
            <a:r>
              <a:rPr b="0"/>
              <a:t> That is why we will examine the system around the model.</a:t>
            </a:r>
          </a:p>
          <a:p xmlns:a="http://schemas.openxmlformats.org/drawingml/2006/main">
            <a:r>
              <a:t/>
            </a:r>
          </a:p>
          <a:p xmlns:a="http://schemas.openxmlformats.org/drawingml/2006/main">
            <a:r>
              <a:rPr b="0"/>
              <a:t>Fowler compares this to other engineering disciplines that build tolerances for variability. Reliable behavior across intended use includes a safe response when the system cannot complete a task.</a:t>
            </a:r>
          </a:p>
          <a:p xmlns:a="http://schemas.openxmlformats.org/drawingml/2006/main">
            <a:r>
              <a:t/>
            </a:r>
          </a:p>
          <a:p xmlns:a="http://schemas.openxmlformats.org/drawingml/2006/main">
            <a:r>
              <a:rPr b="0"/>
              <a:t>Shankar and colleagues studied how grading outputs helps people refine evaluation criteria. </a:t>
            </a:r>
            <a:r>
              <a:rPr b="1"/>
              <a:t>Watching failures can expose missing requirements.</a:t>
            </a:r>
            <a:r>
              <a:rPr b="0"/>
              <a:t> Some checks are known from the start; others improve as we learn.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1"/>
              <a:t>Using AI changes how you build. Engineering AI changes what you are responsible for.</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comparison is about where the model-dependent behavior lives.</a:t>
            </a:r>
            <a:r>
              <a:rPr b="0"/>
              <a:t> In development, you use output to build an artifact and decide what to accept and ship. In the product, users depend on model output or decisions during operation.</a:t>
            </a:r>
          </a:p>
          <a:p xmlns:a="http://schemas.openxmlformats.org/drawingml/2006/main">
            <a:r>
              <a:t/>
            </a:r>
          </a:p>
          <a:p xmlns:a="http://schemas.openxmlformats.org/drawingml/2006/main">
            <a:r>
              <a:rPr b="1"/>
              <a:t>You design the checks, approval steps, and failure handling.</a:t>
            </a:r>
            <a:r>
              <a:rPr b="0"/>
              <a:t> Human review can be part of either system. Your team owns the product's behavior and operating limits.</a:t>
            </a:r>
          </a:p>
          <a:p xmlns:a="http://schemas.openxmlformats.org/drawingml/2006/main">
            <a:r>
              <a:t/>
            </a:r>
          </a:p>
          <a:p xmlns:a="http://schemas.openxmlformats.org/drawingml/2006/main">
            <a:r>
              <a:rPr b="0"/>
              <a:t>Separately, Anthropic distinguishes workflows on predefined code paths from agents with model-selected actions. </a:t>
            </a:r>
            <a:r>
              <a:rPr b="1"/>
              <a:t>An agent adds model-selected actions to control flow. Ordinary code can still enforce permissions, limits, and other guarantees.</a:t>
            </a:r>
            <a:r>
              <a:rPr b="0"/>
              <a:t> That is why we will examine the system around the model.</a:t>
            </a:r>
          </a:p>
          <a:p xmlns:a="http://schemas.openxmlformats.org/drawingml/2006/main">
            <a:r>
              <a:t/>
            </a:r>
          </a:p>
          <a:p xmlns:a="http://schemas.openxmlformats.org/drawingml/2006/main">
            <a:r>
              <a:rPr b="0"/>
              <a:t>Fowler compares this to other engineering disciplines that build tolerances for variability. Reliable behavior across intended use includes a safe response when the system cannot complete a task.</a:t>
            </a:r>
          </a:p>
          <a:p xmlns:a="http://schemas.openxmlformats.org/drawingml/2006/main">
            <a:r>
              <a:t/>
            </a:r>
          </a:p>
          <a:p xmlns:a="http://schemas.openxmlformats.org/drawingml/2006/main">
            <a:r>
              <a:rPr b="0"/>
              <a:t>Shankar and colleagues studied how grading outputs helps people refine evaluation criteria. </a:t>
            </a:r>
            <a:r>
              <a:rPr b="1"/>
              <a:t>Watching failures can expose missing requirements.</a:t>
            </a:r>
            <a:r>
              <a:rPr b="0"/>
              <a:t> Some checks are known from the start; others improve as we learn.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1"/>
              <a:t>Using AI changes how you build. Engineering AI changes what you are responsible for.</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things to leave with. </a:t>
            </a:r>
            <a:r>
              <a:rPr b="1"/>
              <a:t>A conceptual map of the discipline. An honest sense of how much there is. And a roadmap for making the transition.</a:t>
            </a:r>
          </a:p>
          <a:p xmlns:a="http://schemas.openxmlformats.org/drawingml/2006/main">
            <a:r>
              <a:t/>
            </a:r>
          </a:p>
          <a:p xmlns:a="http://schemas.openxmlformats.org/drawingml/2006/main">
            <a:r>
              <a:rPr b="0"/>
              <a:t>The agenda. The map, two minutes. Six areas, twenty-three minutes: models, context and knowledge, tools, orchestration, verification and evals, and operating it. The transition, five minutes. Then fifteen minutes for your questions.</a:t>
            </a:r>
          </a:p>
          <a:p xmlns:a="http://schemas.openxmlformats.org/drawingml/2006/main">
            <a:r>
              <a:t/>
            </a:r>
          </a:p>
          <a:p xmlns:a="http://schemas.openxmlformats.org/drawingml/2006/main">
            <a:r>
              <a:rPr b="1"/>
              <a:t>For each area: When you are the user, including what someone engineered, then When you are the owner.</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for a moment.</a:t>
            </a:r>
          </a:p>
          <a:p xmlns:a="http://schemas.openxmlformats.org/drawingml/2006/main">
            <a:r>
              <a:t/>
            </a:r>
          </a:p>
          <a:p xmlns:a="http://schemas.openxmlformats.org/drawingml/2006/main">
            <a:r>
              <a:rPr b="1"/>
              <a:t>Let's open up the tool you used this morning.</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This is the model picker in Devin Desktop. The first choice is which model handles your coding task.</a:t>
            </a:r>
          </a:p>
          <a:p xmlns:a="http://schemas.openxmlformats.org/drawingml/2006/main">
            <a:r>
              <a:t/>
            </a:r>
          </a:p>
          <a:p xmlns:a="http://schemas.openxmlformats.org/drawingml/2006/main">
            <a:r>
              <a:rPr b="0"/>
              <a:t>The reasoning-effort slider adjusts the effort used to work through that task. </a:t>
            </a:r>
            <a:r>
              <a:rPr b="1"/>
              <a:t>One picker exposes both the model and its reasoning setting.</a:t>
            </a:r>
            <a:r>
              <a:rPr b="0"/>
              <a:t> Those familiar controls are our starting point.</a:t>
            </a:r>
          </a:p>
          <a:p xmlns:a="http://schemas.openxmlformats.org/drawingml/2006/main">
            <a:r>
              <a:t/>
            </a:r>
          </a:p>
          <a:p xmlns:a="http://schemas.openxmlformats.org/drawingml/2006/main">
            <a:r>
              <a:rPr b="0"/>
              <a:t>Advance to the Models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“A decent model with a great harness beats a great model with a bad harness.”</a:t>
            </a:r>
            <a:r>
              <a:rPr b="0"/>
              <a:t> Addy Osmani is describing his experience. </a:t>
            </a:r>
            <a:r>
              <a:rPr b="1"/>
              <a:t>Evaluate the model inside the system you are building.</a:t>
            </a:r>
            <a:r>
              <a:rPr b="0"/>
              <a:t> Context, tools, and control flow shape the result too.</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Three decisions. First, which model and reasoning settings fit the task? </a:t>
            </a:r>
            <a:r>
              <a:rPr b="1"/>
              <a:t>Compare candidates on representative tasks.</a:t>
            </a:r>
            <a:r>
              <a:rPr b="0"/>
              <a:t> Read quality, cost, and latency together. Deployment constraints include context limits, tool reliability, and data residency.</a:t>
            </a:r>
          </a:p>
          <a:p xmlns:a="http://schemas.openxmlformats.org/drawingml/2006/main">
            <a:r>
              <a:t/>
            </a:r>
          </a:p>
          <a:p xmlns:a="http://schemas.openxmlformats.org/drawingml/2006/main">
            <a:r>
              <a:rPr b="0"/>
              <a:t>Second, one model or different models for different work? </a:t>
            </a:r>
            <a:r>
              <a:rPr b="1"/>
              <a:t>Start with one configuration unless measurements justify routing.</a:t>
            </a:r>
            <a:r>
              <a:rPr b="0"/>
              <a:t> Routing gives you more choices, but also more configurations to evaluate and maintain. Orchestration, later, determines how the work is divided and coordinated.</a:t>
            </a:r>
          </a:p>
          <a:p xmlns:a="http://schemas.openxmlformats.org/drawingml/2006/main">
            <a:r>
              <a:t/>
            </a:r>
          </a:p>
          <a:p xmlns:a="http://schemas.openxmlformats.org/drawingml/2006/main">
            <a:r>
              <a:rPr b="0"/>
              <a:t>Third, how will changes be controlled? </a:t>
            </a:r>
            <a:r>
              <a:rPr b="1"/>
              <a:t>Pinned versions need planned migration. Moving aliases need regression monitoring.</a:t>
            </a:r>
            <a:r>
              <a:rPr b="0"/>
              <a:t> Define how you will evaluate and replace a model before the choice becomes a dependency.</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Tasks change. Refresh your evaluation cases as intended use changes. Routes change. Cover each route and measure the whole workflow, including retries and verification. Model versions retire and aliases update. Monitor those changes and prepare a replacement.</a:t>
            </a:r>
          </a:p>
          <a:p xmlns:a="http://schemas.openxmlformats.org/drawingml/2006/main">
            <a:r>
              <a:t/>
            </a:r>
          </a:p>
          <a:p xmlns:a="http://schemas.openxmlformats.org/drawingml/2006/main">
            <a:r>
              <a:rPr b="1"/>
              <a:t>A snapshot does not freeze the whole system.</a:t>
            </a:r>
            <a:r>
              <a:rPr b="0"/>
              <a:t> Prompts, retrieval, tools, and the environment can still change. </a:t>
            </a:r>
            <a:r>
              <a:rPr b="1"/>
              <a:t>Choosing and changing models without testing them on your task</a:t>
            </a:r>
            <a:r>
              <a:rPr b="0"/>
              <a:t> is the recurring pitfall. Skipping that evidence leaves a gap in every one of these decisions.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Now apply those choices to the FRB brief. This is a proposed starting design, with no measured model results. Compare candidates on faithful summaries and supported findings. </a:t>
            </a:r>
            <a:r>
              <a:rPr b="1"/>
              <a:t>A possible cause must remain a possible cause.</a:t>
            </a:r>
            <a:r>
              <a:rPr b="0"/>
              <a:t> The later minutes still leave FRB-042's cause unresolved.</a:t>
            </a:r>
          </a:p>
          <a:p xmlns:a="http://schemas.openxmlformats.org/drawingml/2006/main">
            <a:r>
              <a:t/>
            </a:r>
          </a:p>
          <a:p xmlns:a="http://schemas.openxmlformats.org/drawingml/2006/main">
            <a:r>
              <a:rPr b="0"/>
              <a:t>Begin with one model configuration. Use a pinned version where available, with a migration plan. </a:t>
            </a:r>
            <a:r>
              <a:rPr b="1"/>
              <a:t>Revisit the design when measured quality, cost, latency, or lifecycle requirements justify a change.</a:t>
            </a:r>
            <a:r>
              <a:rPr b="0"/>
              <a:t> The example shows the reasoning behind a starting point, not a winning model.</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“A decent model with a great harness beats a great model with a bad harness.”</a:t>
            </a:r>
            <a:r>
              <a:rPr b="0"/>
              <a:t> Addy Osmani is describing his experience. </a:t>
            </a:r>
            <a:r>
              <a:rPr b="1"/>
              <a:t>Evaluate the model inside the system you are building.</a:t>
            </a:r>
            <a:r>
              <a:rPr b="0"/>
              <a:t> Context, tools, and control flow shape the result too.</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Three decisions. First, which model and reasoning settings fit the task? </a:t>
            </a:r>
            <a:r>
              <a:rPr b="1"/>
              <a:t>Compare candidates on representative tasks.</a:t>
            </a:r>
            <a:r>
              <a:rPr b="0"/>
              <a:t> Read quality, cost, and latency together. Deployment constraints include context limits, tool reliability, and data residency.</a:t>
            </a:r>
          </a:p>
          <a:p xmlns:a="http://schemas.openxmlformats.org/drawingml/2006/main">
            <a:r>
              <a:t/>
            </a:r>
          </a:p>
          <a:p xmlns:a="http://schemas.openxmlformats.org/drawingml/2006/main">
            <a:r>
              <a:rPr b="0"/>
              <a:t>Second, one model or different models for different work? </a:t>
            </a:r>
            <a:r>
              <a:rPr b="1"/>
              <a:t>Start with one configuration unless measurements justify routing.</a:t>
            </a:r>
            <a:r>
              <a:rPr b="0"/>
              <a:t> Routing gives you more choices, but also more configurations to evaluate and maintain. Orchestration, later, determines how the work is divided and coordinated.</a:t>
            </a:r>
          </a:p>
          <a:p xmlns:a="http://schemas.openxmlformats.org/drawingml/2006/main">
            <a:r>
              <a:t/>
            </a:r>
          </a:p>
          <a:p xmlns:a="http://schemas.openxmlformats.org/drawingml/2006/main">
            <a:r>
              <a:rPr b="0"/>
              <a:t>Third, how will changes be controlled? </a:t>
            </a:r>
            <a:r>
              <a:rPr b="1"/>
              <a:t>Pinned versions need planned migration. Moving aliases need regression monitoring.</a:t>
            </a:r>
            <a:r>
              <a:rPr b="0"/>
              <a:t> Define how you will evaluate and replace a model before the choice becomes a dependency.</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Tasks change. Refresh your evaluation cases as intended use changes. Routes change. Cover each route and measure the whole workflow, including retries and verification. Model versions retire and aliases update. Monitor those changes and prepare a replacement.</a:t>
            </a:r>
          </a:p>
          <a:p xmlns:a="http://schemas.openxmlformats.org/drawingml/2006/main">
            <a:r>
              <a:t/>
            </a:r>
          </a:p>
          <a:p xmlns:a="http://schemas.openxmlformats.org/drawingml/2006/main">
            <a:r>
              <a:rPr b="1"/>
              <a:t>A snapshot does not freeze the whole system.</a:t>
            </a:r>
            <a:r>
              <a:rPr b="0"/>
              <a:t> Prompts, retrieval, tools, and the environment can still change. </a:t>
            </a:r>
            <a:r>
              <a:rPr b="1"/>
              <a:t>Choosing and changing models without testing them on your task</a:t>
            </a:r>
            <a:r>
              <a:rPr b="0"/>
              <a:t> is the recurring pitfall. Skipping that evidence leaves a gap in every one of these decisions.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Now apply those choices to the FRB brief. This is a proposed starting design, with no measured model results. Compare candidates on faithful summaries and supported findings. </a:t>
            </a:r>
            <a:r>
              <a:rPr b="1"/>
              <a:t>A possible cause must remain a possible cause.</a:t>
            </a:r>
            <a:r>
              <a:rPr b="0"/>
              <a:t> The later minutes still leave FRB-042's cause unresolved.</a:t>
            </a:r>
          </a:p>
          <a:p xmlns:a="http://schemas.openxmlformats.org/drawingml/2006/main">
            <a:r>
              <a:t/>
            </a:r>
          </a:p>
          <a:p xmlns:a="http://schemas.openxmlformats.org/drawingml/2006/main">
            <a:r>
              <a:rPr b="0"/>
              <a:t>Begin with one model configuration. Use a pinned version where available, with a migration plan. </a:t>
            </a:r>
            <a:r>
              <a:rPr b="1"/>
              <a:t>Revisit the design when measured quality, cost, latency, or lifecycle requirements justify a change.</a:t>
            </a:r>
            <a:r>
              <a:rPr b="0"/>
              <a:t> The example shows the reasoning behind a starting point, not a winning model.</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“A decent model with a great harness beats a great model with a bad harness.”</a:t>
            </a:r>
            <a:r>
              <a:rPr b="0"/>
              <a:t> Addy Osmani is describing his experience. </a:t>
            </a:r>
            <a:r>
              <a:rPr b="1"/>
              <a:t>Evaluate the model inside the system you are building.</a:t>
            </a:r>
            <a:r>
              <a:rPr b="0"/>
              <a:t> Context, tools, and control flow shape the result too.</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Three decisions. First, which model and reasoning settings fit the task? </a:t>
            </a:r>
            <a:r>
              <a:rPr b="1"/>
              <a:t>Compare candidates on representative tasks.</a:t>
            </a:r>
            <a:r>
              <a:rPr b="0"/>
              <a:t> Read quality, cost, and latency together. Deployment constraints include context limits, tool reliability, and data residency.</a:t>
            </a:r>
          </a:p>
          <a:p xmlns:a="http://schemas.openxmlformats.org/drawingml/2006/main">
            <a:r>
              <a:t/>
            </a:r>
          </a:p>
          <a:p xmlns:a="http://schemas.openxmlformats.org/drawingml/2006/main">
            <a:r>
              <a:rPr b="0"/>
              <a:t>Second, one model or different models for different work? </a:t>
            </a:r>
            <a:r>
              <a:rPr b="1"/>
              <a:t>Start with one configuration unless measurements justify routing.</a:t>
            </a:r>
            <a:r>
              <a:rPr b="0"/>
              <a:t> Routing gives you more choices, but also more configurations to evaluate and maintain. Orchestration, later, determines how the work is divided and coordinated.</a:t>
            </a:r>
          </a:p>
          <a:p xmlns:a="http://schemas.openxmlformats.org/drawingml/2006/main">
            <a:r>
              <a:t/>
            </a:r>
          </a:p>
          <a:p xmlns:a="http://schemas.openxmlformats.org/drawingml/2006/main">
            <a:r>
              <a:rPr b="0"/>
              <a:t>Third, how will changes be controlled? </a:t>
            </a:r>
            <a:r>
              <a:rPr b="1"/>
              <a:t>Pinned versions need planned migration. Moving aliases need regression monitoring.</a:t>
            </a:r>
            <a:r>
              <a:rPr b="0"/>
              <a:t> Define how you will evaluate and replace a model before the choice becomes a dependency.</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Tasks change. Refresh your evaluation cases as intended use changes. Routes change. Cover each route and measure the whole workflow, including retries and verification. Model versions retire and aliases update. Monitor those changes and prepare a replacement.</a:t>
            </a:r>
          </a:p>
          <a:p xmlns:a="http://schemas.openxmlformats.org/drawingml/2006/main">
            <a:r>
              <a:t/>
            </a:r>
          </a:p>
          <a:p xmlns:a="http://schemas.openxmlformats.org/drawingml/2006/main">
            <a:r>
              <a:rPr b="1"/>
              <a:t>A snapshot does not freeze the whole system.</a:t>
            </a:r>
            <a:r>
              <a:rPr b="0"/>
              <a:t> Prompts, retrieval, tools, and the environment can still change. </a:t>
            </a:r>
            <a:r>
              <a:rPr b="1"/>
              <a:t>Choosing and changing models without testing them on your task</a:t>
            </a:r>
            <a:r>
              <a:rPr b="0"/>
              <a:t> is the recurring pitfall. Skipping that evidence leaves a gap in every one of these decisions.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Now apply those choices to the FRB brief. This is a proposed starting design, with no measured model results. Compare candidates on faithful summaries and supported findings. </a:t>
            </a:r>
            <a:r>
              <a:rPr b="1"/>
              <a:t>A possible cause must remain a possible cause.</a:t>
            </a:r>
            <a:r>
              <a:rPr b="0"/>
              <a:t> The later minutes still leave FRB-042's cause unresolved.</a:t>
            </a:r>
          </a:p>
          <a:p xmlns:a="http://schemas.openxmlformats.org/drawingml/2006/main">
            <a:r>
              <a:t/>
            </a:r>
          </a:p>
          <a:p xmlns:a="http://schemas.openxmlformats.org/drawingml/2006/main">
            <a:r>
              <a:rPr b="0"/>
              <a:t>Begin with one model configuration. Use a pinned version where available, with a migration plan. </a:t>
            </a:r>
            <a:r>
              <a:rPr b="1"/>
              <a:t>Revisit the design when measured quality, cost, latency, or lifecycle requirements justify a change.</a:t>
            </a:r>
            <a:r>
              <a:rPr b="0"/>
              <a:t> The example shows the reasoning behind a starting point, not a winning model.</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“A decent model with a great harness beats a great model with a bad harness.”</a:t>
            </a:r>
            <a:r>
              <a:rPr b="0"/>
              <a:t> Addy Osmani is describing his experience. </a:t>
            </a:r>
            <a:r>
              <a:rPr b="1"/>
              <a:t>Evaluate the model inside the system you are building.</a:t>
            </a:r>
            <a:r>
              <a:rPr b="0"/>
              <a:t> Context, tools, and control flow shape the result too.</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Three decisions. First, which model and reasoning settings fit the task? </a:t>
            </a:r>
            <a:r>
              <a:rPr b="1"/>
              <a:t>Compare candidates on representative tasks.</a:t>
            </a:r>
            <a:r>
              <a:rPr b="0"/>
              <a:t> Read quality, cost, and latency together. Deployment constraints include context limits, tool reliability, and data residency.</a:t>
            </a:r>
          </a:p>
          <a:p xmlns:a="http://schemas.openxmlformats.org/drawingml/2006/main">
            <a:r>
              <a:t/>
            </a:r>
          </a:p>
          <a:p xmlns:a="http://schemas.openxmlformats.org/drawingml/2006/main">
            <a:r>
              <a:rPr b="0"/>
              <a:t>Second, one model or different models for different work? </a:t>
            </a:r>
            <a:r>
              <a:rPr b="1"/>
              <a:t>Start with one configuration unless measurements justify routing.</a:t>
            </a:r>
            <a:r>
              <a:rPr b="0"/>
              <a:t> Routing gives you more choices, but also more configurations to evaluate and maintain. Orchestration, later, determines how the work is divided and coordinated.</a:t>
            </a:r>
          </a:p>
          <a:p xmlns:a="http://schemas.openxmlformats.org/drawingml/2006/main">
            <a:r>
              <a:t/>
            </a:r>
          </a:p>
          <a:p xmlns:a="http://schemas.openxmlformats.org/drawingml/2006/main">
            <a:r>
              <a:rPr b="0"/>
              <a:t>Third, how will changes be controlled? </a:t>
            </a:r>
            <a:r>
              <a:rPr b="1"/>
              <a:t>Pinned versions need planned migration. Moving aliases need regression monitoring.</a:t>
            </a:r>
            <a:r>
              <a:rPr b="0"/>
              <a:t> Define how you will evaluate and replace a model before the choice becomes a dependency.</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Tasks change. Refresh your evaluation cases as intended use changes. Routes change. Cover each route and measure the whole workflow, including retries and verification. Model versions retire and aliases update. Monitor those changes and prepare a replacement.</a:t>
            </a:r>
          </a:p>
          <a:p xmlns:a="http://schemas.openxmlformats.org/drawingml/2006/main">
            <a:r>
              <a:t/>
            </a:r>
          </a:p>
          <a:p xmlns:a="http://schemas.openxmlformats.org/drawingml/2006/main">
            <a:r>
              <a:rPr b="1"/>
              <a:t>A snapshot does not freeze the whole system.</a:t>
            </a:r>
            <a:r>
              <a:rPr b="0"/>
              <a:t> Prompts, retrieval, tools, and the environment can still change. </a:t>
            </a:r>
            <a:r>
              <a:rPr b="1"/>
              <a:t>Choosing and changing models without testing them on your task</a:t>
            </a:r>
            <a:r>
              <a:rPr b="0"/>
              <a:t> is the recurring pitfall. Skipping that evidence leaves a gap in every one of these decisions.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Now apply those choices to the FRB brief. This is a proposed starting design, with no measured model results. Compare candidates on faithful summaries and supported findings. </a:t>
            </a:r>
            <a:r>
              <a:rPr b="1"/>
              <a:t>A possible cause must remain a possible cause.</a:t>
            </a:r>
            <a:r>
              <a:rPr b="0"/>
              <a:t> The later minutes still leave FRB-042's cause unresolved.</a:t>
            </a:r>
          </a:p>
          <a:p xmlns:a="http://schemas.openxmlformats.org/drawingml/2006/main">
            <a:r>
              <a:t/>
            </a:r>
          </a:p>
          <a:p xmlns:a="http://schemas.openxmlformats.org/drawingml/2006/main">
            <a:r>
              <a:rPr b="0"/>
              <a:t>Begin with one model configuration. Use a pinned version where available, with a migration plan. </a:t>
            </a:r>
            <a:r>
              <a:rPr b="1"/>
              <a:t>Revisit the design when measured quality, cost, latency, or lifecycle requirements justify a change.</a:t>
            </a:r>
            <a:r>
              <a:rPr b="0"/>
              <a:t> The example shows the reasoning behind a starting point, not a winning model.</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This is AGENTS.md. You give a coding agent the repository's conventions and the checks it should use to validate its work.</a:t>
            </a:r>
          </a:p>
          <a:p xmlns:a="http://schemas.openxmlformats.org/drawingml/2006/main">
            <a:r>
              <a:t/>
            </a:r>
          </a:p>
          <a:p xmlns:a="http://schemas.openxmlformats.org/drawingml/2006/main">
            <a:r>
              <a:rPr b="1"/>
              <a:t>You are supplying context for the task.</a:t>
            </a:r>
            <a:r>
              <a:rPr b="0"/>
              <a:t> The file can explain how work fits this project and how to verify a change before handing it back. It is one familiar part of the information the agent uses.</a:t>
            </a:r>
          </a:p>
          <a:p xmlns:a="http://schemas.openxmlformats.org/drawingml/2006/main">
            <a:r>
              <a:t/>
            </a:r>
          </a:p>
          <a:p xmlns:a="http://schemas.openxmlformats.org/drawingml/2006/main">
            <a:r>
              <a:rPr b="0"/>
              <a:t>Advance to the Context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“Context, therefore, must be treated as a finite resource with diminishing marginal returns.”</a:t>
            </a:r>
            <a:r>
              <a:rPr b="0"/>
              <a:t> That is Anthropic's framing. </a:t>
            </a:r>
            <a:r>
              <a:rPr b="1"/>
              <a:t>The owner chooses what the model sees at each step.</a:t>
            </a:r>
            <a:r>
              <a:rPr b="0"/>
              <a:t> A larger window does not make every piece of information useful.</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what belongs in the next step? Instructions, task state, and relevant knowledge. </a:t>
            </a:r>
            <a:r>
              <a:rPr b="1"/>
              <a:t>RAG retrieves relevant external information and supplies it to the model.</a:t>
            </a:r>
            <a:r>
              <a:rPr b="0"/>
              <a:t> File reads, keyword search, embeddings, and hybrid retrieval are methods chosen for the data and task.</a:t>
            </a:r>
          </a:p>
          <a:p xmlns:a="http://schemas.openxmlformats.org/drawingml/2006/main">
            <a:r>
              <a:t/>
            </a:r>
          </a:p>
          <a:p xmlns:a="http://schemas.openxmlformats.org/drawingml/2006/main">
            <a:r>
              <a:rPr b="0"/>
              <a:t>Second, what should persist or be refreshed? Keep facts and constraints that still matter. Compaction summarizes a conversation. Persistent memory can carry information across sessions. Decide what to retain, what to discard, and when to refresh sources.</a:t>
            </a:r>
          </a:p>
          <a:p xmlns:a="http://schemas.openxmlformats.org/drawingml/2006/main">
            <a:r>
              <a:t/>
            </a:r>
          </a:p>
          <a:p xmlns:a="http://schemas.openxmlformats.org/drawingml/2006/main">
            <a:r>
              <a:rPr b="0"/>
              <a:t>Third, which sources and access scope? </a:t>
            </a:r>
            <a:r>
              <a:rPr b="1"/>
              <a:t>Keep source locations and revisions. Enforce the user's authorized scope outside the model.</a:t>
            </a:r>
            <a:r>
              <a:rPr b="0"/>
              <a:t> Retrieval should supply evidence that the system is allowed to use and that the engineer can trace back to its source.</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Records change, so retrieved passages can become stale. Sessions grow, and a summary can lose a constraint. Memory can expose information across an access boundary. Refresh retrieval, test what compaction preserves, and keep the provenance. Recheck representative cases when sources or policies change.</a:t>
            </a:r>
          </a:p>
          <a:p xmlns:a="http://schemas.openxmlformats.org/drawingml/2006/main">
            <a:r>
              <a:t/>
            </a:r>
          </a:p>
          <a:p xmlns:a="http://schemas.openxmlformats.org/drawingml/2006/main">
            <a:r>
              <a:rPr b="0"/>
              <a:t>Stable prompt prefixes can help caching. </a:t>
            </a:r>
            <a:r>
              <a:rPr b="1"/>
              <a:t>Correctness and access take priority over cache savings.</a:t>
            </a:r>
            <a:r>
              <a:rPr b="0"/>
              <a:t> The common pitfall is </a:t>
            </a:r>
            <a:r>
              <a:rPr b="1"/>
              <a:t>adding instead of curating</a:t>
            </a:r>
            <a:r>
              <a:rPr b="0"/>
              <a:t>: more instructions, more retrieved text, and more history without deciding what still belongs.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Here is a proposed starting context for the FRB brief. Retrieve both relevant passages with their identities and locations. </a:t>
            </a:r>
            <a:r>
              <a:rPr b="1"/>
              <a:t>The briefing names a possible cause. The later minutes leave it unresolved and require inspection.</a:t>
            </a:r>
          </a:p>
          <a:p xmlns:a="http://schemas.openxmlformats.org/drawingml/2006/main">
            <a:r>
              <a:t/>
            </a:r>
          </a:p>
          <a:p xmlns:a="http://schemas.openxmlformats.org/drawingml/2006/main">
            <a:r>
              <a:rPr b="0"/>
              <a:t>Retain that unresolved status and inspection requirement in the working context and any summary. Refresh source versions and recheck access before finalizing the brief. Access checks stay outside the model. Missing or inaccessible evidence remains an explicit limitation.</a:t>
            </a:r>
          </a:p>
          <a:p xmlns:a="http://schemas.openxmlformats.org/drawingml/2006/main">
            <a:r>
              <a:t/>
            </a:r>
          </a:p>
          <a:p xmlns:a="http://schemas.openxmlformats.org/drawingml/2006/main">
            <a:r>
              <a:rPr b="1"/>
              <a:t>Context is a budget, not a bucket.</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“Context, therefore, must be treated as a finite resource with diminishing marginal returns.”</a:t>
            </a:r>
            <a:r>
              <a:rPr b="0"/>
              <a:t> That is Anthropic's framing. </a:t>
            </a:r>
            <a:r>
              <a:rPr b="1"/>
              <a:t>The owner chooses what the model sees at each step.</a:t>
            </a:r>
            <a:r>
              <a:rPr b="0"/>
              <a:t> A larger window does not make every piece of information useful.</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what belongs in the next step? Instructions, task state, and relevant knowledge. </a:t>
            </a:r>
            <a:r>
              <a:rPr b="1"/>
              <a:t>RAG retrieves relevant external information and supplies it to the model.</a:t>
            </a:r>
            <a:r>
              <a:rPr b="0"/>
              <a:t> File reads, keyword search, embeddings, and hybrid retrieval are methods chosen for the data and task.</a:t>
            </a:r>
          </a:p>
          <a:p xmlns:a="http://schemas.openxmlformats.org/drawingml/2006/main">
            <a:r>
              <a:t/>
            </a:r>
          </a:p>
          <a:p xmlns:a="http://schemas.openxmlformats.org/drawingml/2006/main">
            <a:r>
              <a:rPr b="0"/>
              <a:t>Second, what should persist or be refreshed? Keep facts and constraints that still matter. Compaction summarizes a conversation. Persistent memory can carry information across sessions. Decide what to retain, what to discard, and when to refresh sources.</a:t>
            </a:r>
          </a:p>
          <a:p xmlns:a="http://schemas.openxmlformats.org/drawingml/2006/main">
            <a:r>
              <a:t/>
            </a:r>
          </a:p>
          <a:p xmlns:a="http://schemas.openxmlformats.org/drawingml/2006/main">
            <a:r>
              <a:rPr b="0"/>
              <a:t>Third, which sources and access scope? </a:t>
            </a:r>
            <a:r>
              <a:rPr b="1"/>
              <a:t>Keep source locations and revisions. Enforce the user's authorized scope outside the model.</a:t>
            </a:r>
            <a:r>
              <a:rPr b="0"/>
              <a:t> Retrieval should supply evidence that the system is allowed to use and that the engineer can trace back to its source.</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Records change, so retrieved passages can become stale. Sessions grow, and a summary can lose a constraint. Memory can expose information across an access boundary. Refresh retrieval, test what compaction preserves, and keep the provenance. Recheck representative cases when sources or policies change.</a:t>
            </a:r>
          </a:p>
          <a:p xmlns:a="http://schemas.openxmlformats.org/drawingml/2006/main">
            <a:r>
              <a:t/>
            </a:r>
          </a:p>
          <a:p xmlns:a="http://schemas.openxmlformats.org/drawingml/2006/main">
            <a:r>
              <a:rPr b="0"/>
              <a:t>Stable prompt prefixes can help caching. </a:t>
            </a:r>
            <a:r>
              <a:rPr b="1"/>
              <a:t>Correctness and access take priority over cache savings.</a:t>
            </a:r>
            <a:r>
              <a:rPr b="0"/>
              <a:t> The common pitfall is </a:t>
            </a:r>
            <a:r>
              <a:rPr b="1"/>
              <a:t>adding instead of curating</a:t>
            </a:r>
            <a:r>
              <a:rPr b="0"/>
              <a:t>: more instructions, more retrieved text, and more history without deciding what still belongs.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Here is a proposed starting context for the FRB brief. Retrieve both relevant passages with their identities and locations. </a:t>
            </a:r>
            <a:r>
              <a:rPr b="1"/>
              <a:t>The briefing names a possible cause. The later minutes leave it unresolved and require inspection.</a:t>
            </a:r>
          </a:p>
          <a:p xmlns:a="http://schemas.openxmlformats.org/drawingml/2006/main">
            <a:r>
              <a:t/>
            </a:r>
          </a:p>
          <a:p xmlns:a="http://schemas.openxmlformats.org/drawingml/2006/main">
            <a:r>
              <a:rPr b="0"/>
              <a:t>Retain that unresolved status and inspection requirement in the working context and any summary. Refresh source versions and recheck access before finalizing the brief. Access checks stay outside the model. Missing or inaccessible evidence remains an explicit limitation.</a:t>
            </a:r>
          </a:p>
          <a:p xmlns:a="http://schemas.openxmlformats.org/drawingml/2006/main">
            <a:r>
              <a:t/>
            </a:r>
          </a:p>
          <a:p xmlns:a="http://schemas.openxmlformats.org/drawingml/2006/main">
            <a:r>
              <a:rPr b="1"/>
              <a:t>Context is a budget, not a bucket.</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“Context, therefore, must be treated as a finite resource with diminishing marginal returns.”</a:t>
            </a:r>
            <a:r>
              <a:rPr b="0"/>
              <a:t> That is Anthropic's framing. </a:t>
            </a:r>
            <a:r>
              <a:rPr b="1"/>
              <a:t>The owner chooses what the model sees at each step.</a:t>
            </a:r>
            <a:r>
              <a:rPr b="0"/>
              <a:t> A larger window does not make every piece of information useful.</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what belongs in the next step? Instructions, task state, and relevant knowledge. </a:t>
            </a:r>
            <a:r>
              <a:rPr b="1"/>
              <a:t>RAG retrieves relevant external information and supplies it to the model.</a:t>
            </a:r>
            <a:r>
              <a:rPr b="0"/>
              <a:t> File reads, keyword search, embeddings, and hybrid retrieval are methods chosen for the data and task.</a:t>
            </a:r>
          </a:p>
          <a:p xmlns:a="http://schemas.openxmlformats.org/drawingml/2006/main">
            <a:r>
              <a:t/>
            </a:r>
          </a:p>
          <a:p xmlns:a="http://schemas.openxmlformats.org/drawingml/2006/main">
            <a:r>
              <a:rPr b="0"/>
              <a:t>Second, what should persist or be refreshed? Keep facts and constraints that still matter. Compaction summarizes a conversation. Persistent memory can carry information across sessions. Decide what to retain, what to discard, and when to refresh sources.</a:t>
            </a:r>
          </a:p>
          <a:p xmlns:a="http://schemas.openxmlformats.org/drawingml/2006/main">
            <a:r>
              <a:t/>
            </a:r>
          </a:p>
          <a:p xmlns:a="http://schemas.openxmlformats.org/drawingml/2006/main">
            <a:r>
              <a:rPr b="0"/>
              <a:t>Third, which sources and access scope? </a:t>
            </a:r>
            <a:r>
              <a:rPr b="1"/>
              <a:t>Keep source locations and revisions. Enforce the user's authorized scope outside the model.</a:t>
            </a:r>
            <a:r>
              <a:rPr b="0"/>
              <a:t> Retrieval should supply evidence that the system is allowed to use and that the engineer can trace back to its source.</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Records change, so retrieved passages can become stale. Sessions grow, and a summary can lose a constraint. Memory can expose information across an access boundary. Refresh retrieval, test what compaction preserves, and keep the provenance. Recheck representative cases when sources or policies change.</a:t>
            </a:r>
          </a:p>
          <a:p xmlns:a="http://schemas.openxmlformats.org/drawingml/2006/main">
            <a:r>
              <a:t/>
            </a:r>
          </a:p>
          <a:p xmlns:a="http://schemas.openxmlformats.org/drawingml/2006/main">
            <a:r>
              <a:rPr b="0"/>
              <a:t>Stable prompt prefixes can help caching. </a:t>
            </a:r>
            <a:r>
              <a:rPr b="1"/>
              <a:t>Correctness and access take priority over cache savings.</a:t>
            </a:r>
            <a:r>
              <a:rPr b="0"/>
              <a:t> The common pitfall is </a:t>
            </a:r>
            <a:r>
              <a:rPr b="1"/>
              <a:t>adding instead of curating</a:t>
            </a:r>
            <a:r>
              <a:rPr b="0"/>
              <a:t>: more instructions, more retrieved text, and more history without deciding what still belongs.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Here is a proposed starting context for the FRB brief. Retrieve both relevant passages with their identities and locations. </a:t>
            </a:r>
            <a:r>
              <a:rPr b="1"/>
              <a:t>The briefing names a possible cause. The later minutes leave it unresolved and require inspection.</a:t>
            </a:r>
          </a:p>
          <a:p xmlns:a="http://schemas.openxmlformats.org/drawingml/2006/main">
            <a:r>
              <a:t/>
            </a:r>
          </a:p>
          <a:p xmlns:a="http://schemas.openxmlformats.org/drawingml/2006/main">
            <a:r>
              <a:rPr b="0"/>
              <a:t>Retain that unresolved status and inspection requirement in the working context and any summary. Refresh source versions and recheck access before finalizing the brief. Access checks stay outside the model. Missing or inaccessible evidence remains an explicit limitation.</a:t>
            </a:r>
          </a:p>
          <a:p xmlns:a="http://schemas.openxmlformats.org/drawingml/2006/main">
            <a:r>
              <a:t/>
            </a:r>
          </a:p>
          <a:p xmlns:a="http://schemas.openxmlformats.org/drawingml/2006/main">
            <a:r>
              <a:rPr b="1"/>
              <a:t>Context is a budget, not a bucket.</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“Context, therefore, must be treated as a finite resource with diminishing marginal returns.”</a:t>
            </a:r>
            <a:r>
              <a:rPr b="0"/>
              <a:t> That is Anthropic's framing. </a:t>
            </a:r>
            <a:r>
              <a:rPr b="1"/>
              <a:t>The owner chooses what the model sees at each step.</a:t>
            </a:r>
            <a:r>
              <a:rPr b="0"/>
              <a:t> A larger window does not make every piece of information useful.</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what belongs in the next step? Instructions, task state, and relevant knowledge. </a:t>
            </a:r>
            <a:r>
              <a:rPr b="1"/>
              <a:t>RAG retrieves relevant external information and supplies it to the model.</a:t>
            </a:r>
            <a:r>
              <a:rPr b="0"/>
              <a:t> File reads, keyword search, embeddings, and hybrid retrieval are methods chosen for the data and task.</a:t>
            </a:r>
          </a:p>
          <a:p xmlns:a="http://schemas.openxmlformats.org/drawingml/2006/main">
            <a:r>
              <a:t/>
            </a:r>
          </a:p>
          <a:p xmlns:a="http://schemas.openxmlformats.org/drawingml/2006/main">
            <a:r>
              <a:rPr b="0"/>
              <a:t>Second, what should persist or be refreshed? Keep facts and constraints that still matter. Compaction summarizes a conversation. Persistent memory can carry information across sessions. Decide what to retain, what to discard, and when to refresh sources.</a:t>
            </a:r>
          </a:p>
          <a:p xmlns:a="http://schemas.openxmlformats.org/drawingml/2006/main">
            <a:r>
              <a:t/>
            </a:r>
          </a:p>
          <a:p xmlns:a="http://schemas.openxmlformats.org/drawingml/2006/main">
            <a:r>
              <a:rPr b="0"/>
              <a:t>Third, which sources and access scope? </a:t>
            </a:r>
            <a:r>
              <a:rPr b="1"/>
              <a:t>Keep source locations and revisions. Enforce the user's authorized scope outside the model.</a:t>
            </a:r>
            <a:r>
              <a:rPr b="0"/>
              <a:t> Retrieval should supply evidence that the system is allowed to use and that the engineer can trace back to its source.</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Records change, so retrieved passages can become stale. Sessions grow, and a summary can lose a constraint. Memory can expose information across an access boundary. Refresh retrieval, test what compaction preserves, and keep the provenance. Recheck representative cases when sources or policies change.</a:t>
            </a:r>
          </a:p>
          <a:p xmlns:a="http://schemas.openxmlformats.org/drawingml/2006/main">
            <a:r>
              <a:t/>
            </a:r>
          </a:p>
          <a:p xmlns:a="http://schemas.openxmlformats.org/drawingml/2006/main">
            <a:r>
              <a:rPr b="0"/>
              <a:t>Stable prompt prefixes can help caching. </a:t>
            </a:r>
            <a:r>
              <a:rPr b="1"/>
              <a:t>Correctness and access take priority over cache savings.</a:t>
            </a:r>
            <a:r>
              <a:rPr b="0"/>
              <a:t> The common pitfall is </a:t>
            </a:r>
            <a:r>
              <a:rPr b="1"/>
              <a:t>adding instead of curating</a:t>
            </a:r>
            <a:r>
              <a:rPr b="0"/>
              <a:t>: more instructions, more retrieved text, and more history without deciding what still belongs.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Here is a proposed starting context for the FRB brief. Retrieve both relevant passages with their identities and locations. </a:t>
            </a:r>
            <a:r>
              <a:rPr b="1"/>
              <a:t>The briefing names a possible cause. The later minutes leave it unresolved and require inspection.</a:t>
            </a:r>
          </a:p>
          <a:p xmlns:a="http://schemas.openxmlformats.org/drawingml/2006/main">
            <a:r>
              <a:t/>
            </a:r>
          </a:p>
          <a:p xmlns:a="http://schemas.openxmlformats.org/drawingml/2006/main">
            <a:r>
              <a:rPr b="0"/>
              <a:t>Retain that unresolved status and inspection requirement in the working context and any summary. Refresh source versions and recheck access before finalizing the brief. Access checks stay outside the model. Missing or inaccessible evidence remains an explicit limitation.</a:t>
            </a:r>
          </a:p>
          <a:p xmlns:a="http://schemas.openxmlformats.org/drawingml/2006/main">
            <a:r>
              <a:t/>
            </a:r>
          </a:p>
          <a:p xmlns:a="http://schemas.openxmlformats.org/drawingml/2006/main">
            <a:r>
              <a:rPr b="1"/>
              <a:t>Context is a budget, not a bucket.</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MCP configuration connects tools. The permission prompt exposes a policy choice. Codex and Devin provide sandbox and approval settings. A model can recommend approving a command, but </a:t>
            </a:r>
            <a:r>
              <a:rPr b="1"/>
              <a:t>that recommendation does not establish permission</a:t>
            </a:r>
            <a:r>
              <a:rPr b="0"/>
              <a: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tool is a contract between code and a model caller.</a:t>
            </a:r>
            <a:r>
              <a:rPr b="0"/>
              <a:t> Evaluate granularity for the task. A scheduling tool can consolidate several operations, but consolidation is an option to test. Namespace related tools. </a:t>
            </a:r>
            <a:r>
              <a:rPr b="1"/>
              <a:t>Return meaningful names alongside stable IDs needed to act.</a:t>
            </a:r>
            <a:r>
              <a:rPr b="0"/>
              <a:t> Two customers may share a name. Offer concise and detailed payloads where useful.</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Anthropic reported improvements from tool-description refinements. In its particular five-server example, definitions consumed about 55,000 tokens before the conversation. Tool search reduced definition overhead by 85%. The cost depends on the definitions, not just the server count.</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The protocol floor includes no token passthrough, scope minimization, consent before local commands, and sandboxed execution. Next, the owner must enforce access for scoped reads, recovery for reversible changes, and authorization or approval for consequential actions.</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MCP configuration connects tools. The permission prompt exposes a policy choice. Codex and Devin provide sandbox and approval settings. A model can recommend approving a command, but </a:t>
            </a:r>
            <a:r>
              <a:rPr b="1"/>
              <a:t>that recommendation does not establish permission</a:t>
            </a:r>
            <a:r>
              <a:rPr b="0"/>
              <a: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tool is a contract between code and a model caller.</a:t>
            </a:r>
            <a:r>
              <a:rPr b="0"/>
              <a:t> Evaluate granularity for the task. A scheduling tool can consolidate several operations, but consolidation is an option to test. Namespace related tools. </a:t>
            </a:r>
            <a:r>
              <a:rPr b="1"/>
              <a:t>Return meaningful names alongside stable IDs needed to act.</a:t>
            </a:r>
            <a:r>
              <a:rPr b="0"/>
              <a:t> Two customers may share a name. Offer concise and detailed payloads where useful.</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Anthropic reported improvements from tool-description refinements. In its particular five-server example, definitions consumed about 55,000 tokens before the conversation. Tool search reduced definition overhead by 85%. The cost depends on the definitions, not just the server count.</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The protocol floor includes no token passthrough, scope minimization, consent before local commands, and sandboxed execution. Next, the owner must enforce access for scoped reads, recovery for reversible changes, and authorization or approval for consequential actions.</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MCP configuration connects tools. The permission prompt exposes a policy choice. Codex and Devin provide sandbox and approval settings. A model can recommend approving a command, but </a:t>
            </a:r>
            <a:r>
              <a:rPr b="1"/>
              <a:t>that recommendation does not establish permission</a:t>
            </a:r>
            <a:r>
              <a:rPr b="0"/>
              <a: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tool is a contract between code and a model caller.</a:t>
            </a:r>
            <a:r>
              <a:rPr b="0"/>
              <a:t> Evaluate granularity for the task. A scheduling tool can consolidate several operations, but consolidation is an option to test. Namespace related tools. </a:t>
            </a:r>
            <a:r>
              <a:rPr b="1"/>
              <a:t>Return meaningful names alongside stable IDs needed to act.</a:t>
            </a:r>
            <a:r>
              <a:rPr b="0"/>
              <a:t> Two customers may share a name. Offer concise and detailed payloads where useful.</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Anthropic reported improvements from tool-description refinements. In its particular five-server example, definitions consumed about 55,000 tokens before the conversation. Tool search reduced definition overhead by 85%. The cost depends on the definitions, not just the server count.</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The protocol floor includes no token passthrough, scope minimization, consent before local commands, and sandboxed execution. Next, the owner must enforce access for scoped reads, recovery for reversible changes, and authorization or approval for consequential actions.</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You write the contract and build the gate.</a:t>
            </a:r>
            <a:r>
              <a:rPr b="0"/>
              <a:t> In our illustration, background services parse and index PDF reports, Word minutes, and PowerPoint briefings. These are separate from the tools the agent calls.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Search by ID, date, or category. Retrieve exact source passages. Export selected records, or export the checked brief. Each tool needs a clear input and result contract.</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Results retain IDs, revisions, and source locations.</a:t>
            </a:r>
            <a:r>
              <a:rPr b="0"/>
              <a:t> Parsing failures and incomplete results are explicit. Exports match the selected records or checked draft, with citations and uncertainty intact. </a:t>
            </a:r>
            <a:r>
              <a:rPr b="1"/>
              <a:t>Enforce authorization outside the model for reads and exports, including the destination.</a:t>
            </a:r>
            <a:r>
              <a:rPr b="0"/>
              <a:t> A model recommendation does not establish permission.</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Copying the API surface without evaluating task fit.</a:t>
            </a:r>
          </a:p>
          <a:p xmlns:a="http://schemas.openxmlformats.org/drawingml/2006/main">
            <a:r>
              <a:t/>
            </a:r>
          </a:p>
          <a:p xmlns:a="http://schemas.openxmlformats.org/drawingml/2006/main">
            <a:r>
              <a:rPr b="1"/>
              <a:t>Design tools for a caller that reads the description every time and can still get it wrong.</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You write the contract and build the gate.</a:t>
            </a:r>
            <a:r>
              <a:rPr b="0"/>
              <a:t> In our illustration, background services parse and index PDF reports, Word minutes, and PowerPoint briefings. These are separate from the tools the agent calls.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Search by ID, date, or category. Retrieve exact source passages. Export selected records, or export the checked brief. Each tool needs a clear input and result contract.</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Results retain IDs, revisions, and source locations.</a:t>
            </a:r>
            <a:r>
              <a:rPr b="0"/>
              <a:t> Parsing failures and incomplete results are explicit. Exports match the selected records or checked draft, with citations and uncertainty intact. </a:t>
            </a:r>
            <a:r>
              <a:rPr b="1"/>
              <a:t>Enforce authorization outside the model for reads and exports, including the destination.</a:t>
            </a:r>
            <a:r>
              <a:rPr b="0"/>
              <a:t> A model recommendation does not establish permission.</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Copying the API surface without evaluating task fit.</a:t>
            </a:r>
          </a:p>
          <a:p xmlns:a="http://schemas.openxmlformats.org/drawingml/2006/main">
            <a:r>
              <a:t/>
            </a:r>
          </a:p>
          <a:p xmlns:a="http://schemas.openxmlformats.org/drawingml/2006/main">
            <a:r>
              <a:rPr b="1"/>
              <a:t>Design tools for a caller that reads the description every time and can still get it wrong.</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Plan mode. Subagents. Hooks. Compaction. Resume and fork. Both tools have every one of them. </a:t>
            </a:r>
            <a:r>
              <a:rPr b="1"/>
              <a:t>Underneath all of it is one loop: gather context, take action, verify, repeat.</a:t>
            </a:r>
            <a:r>
              <a:rPr b="0"/>
              <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Addy Osmani's line applies most sharply here: </a:t>
            </a:r>
            <a:r>
              <a:rPr b="1"/>
              <a:t>"A decent model with a great harness beats a great model with a bad harness."</a:t>
            </a:r>
            <a:r>
              <a:rPr b="0"/>
              <a:t>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Anthropic found two failure modes in long-running agents. </a:t>
            </a:r>
            <a:r>
              <a:rPr b="1"/>
              <a:t>Over-ambition: try to one-shot the whole app. Premature completion: a later instance sees progress and declares the job done.</a:t>
            </a:r>
            <a:r>
              <a:rPr b="0"/>
              <a:t> The fix was engineering, not prompting. An initializer writes a feature list and a progress file. Each session does one feature with a fixed startup routine. </a:t>
            </a:r>
            <a:r>
              <a:rPr b="1"/>
              <a:t>Protect the acceptance criteria.</a:t>
            </a:r>
            <a:r>
              <a:rPr b="0"/>
              <a:t> Do not weaken tests merely to get a pass. Faulty or obsolete tests may change through review.</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Multi-agent, honestly. </a:t>
            </a:r>
            <a:r>
              <a:rPr b="1"/>
              <a:t>Anthropic reported a 90.2% improvement against its single-agent research system on an internal eval. Separately, it reported about 15 times chat token use for multi-agent systems.</a:t>
            </a:r>
            <a:r>
              <a:rPr b="0"/>
              <a:t> And it is a poor fit for work where agents need shared context or have dependencies. Anthropic names coding as the example.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Plan mode. Subagents. Hooks. Compaction. Resume and fork. Both tools have every one of them. </a:t>
            </a:r>
            <a:r>
              <a:rPr b="1"/>
              <a:t>Underneath all of it is one loop: gather context, take action, verify, repeat.</a:t>
            </a:r>
            <a:r>
              <a:rPr b="0"/>
              <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Addy Osmani's line applies most sharply here: </a:t>
            </a:r>
            <a:r>
              <a:rPr b="1"/>
              <a:t>"A decent model with a great harness beats a great model with a bad harness."</a:t>
            </a:r>
            <a:r>
              <a:rPr b="0"/>
              <a:t>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Anthropic found two failure modes in long-running agents. </a:t>
            </a:r>
            <a:r>
              <a:rPr b="1"/>
              <a:t>Over-ambition: try to one-shot the whole app. Premature completion: a later instance sees progress and declares the job done.</a:t>
            </a:r>
            <a:r>
              <a:rPr b="0"/>
              <a:t> The fix was engineering, not prompting. An initializer writes a feature list and a progress file. Each session does one feature with a fixed startup routine. </a:t>
            </a:r>
            <a:r>
              <a:rPr b="1"/>
              <a:t>Protect the acceptance criteria.</a:t>
            </a:r>
            <a:r>
              <a:rPr b="0"/>
              <a:t> Do not weaken tests merely to get a pass. Faulty or obsolete tests may change through review.</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Multi-agent, honestly. </a:t>
            </a:r>
            <a:r>
              <a:rPr b="1"/>
              <a:t>Anthropic reported a 90.2% improvement against its single-agent research system on an internal eval. Separately, it reported about 15 times chat token use for multi-agent systems.</a:t>
            </a:r>
            <a:r>
              <a:rPr b="0"/>
              <a:t> And it is a poor fit for work where agents need shared context or have dependencies. Anthropic names coding as the example.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Plan mode. Subagents. Hooks. Compaction. Resume and fork. Both tools have every one of them. </a:t>
            </a:r>
            <a:r>
              <a:rPr b="1"/>
              <a:t>Underneath all of it is one loop: gather context, take action, verify, repeat.</a:t>
            </a:r>
            <a:r>
              <a:rPr b="0"/>
              <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Addy Osmani's line applies most sharply here: </a:t>
            </a:r>
            <a:r>
              <a:rPr b="1"/>
              <a:t>"A decent model with a great harness beats a great model with a bad harness."</a:t>
            </a:r>
            <a:r>
              <a:rPr b="0"/>
              <a:t>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Anthropic found two failure modes in long-running agents. </a:t>
            </a:r>
            <a:r>
              <a:rPr b="1"/>
              <a:t>Over-ambition: try to one-shot the whole app. Premature completion: a later instance sees progress and declares the job done.</a:t>
            </a:r>
            <a:r>
              <a:rPr b="0"/>
              <a:t> The fix was engineering, not prompting. An initializer writes a feature list and a progress file. Each session does one feature with a fixed startup routine. </a:t>
            </a:r>
            <a:r>
              <a:rPr b="1"/>
              <a:t>Protect the acceptance criteria.</a:t>
            </a:r>
            <a:r>
              <a:rPr b="0"/>
              <a:t> Do not weaken tests merely to get a pass. Faulty or obsolete tests may change through review.</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Multi-agent, honestly. </a:t>
            </a:r>
            <a:r>
              <a:rPr b="1"/>
              <a:t>Anthropic reported a 90.2% improvement against its single-agent research system on an internal eval. Separately, it reported about 15 times chat token use for multi-agent systems.</a:t>
            </a:r>
            <a:r>
              <a:rPr b="0"/>
              <a:t> And it is a poor fit for work where agents need shared context or have dependencies. Anthropic names coding as the example.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Plan mode. Subagents. Hooks. Compaction. Resume and fork. Both tools have every one of them. </a:t>
            </a:r>
            <a:r>
              <a:rPr b="1"/>
              <a:t>Underneath all of it is one loop: gather context, take action, verify, repeat.</a:t>
            </a:r>
            <a:r>
              <a:rPr b="0"/>
              <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Addy Osmani's line applies most sharply here: </a:t>
            </a:r>
            <a:r>
              <a:rPr b="1"/>
              <a:t>"A decent model with a great harness beats a great model with a bad harness."</a:t>
            </a:r>
            <a:r>
              <a:rPr b="0"/>
              <a:t>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Anthropic found two failure modes in long-running agents. </a:t>
            </a:r>
            <a:r>
              <a:rPr b="1"/>
              <a:t>Over-ambition: try to one-shot the whole app. Premature completion: a later instance sees progress and declares the job done.</a:t>
            </a:r>
            <a:r>
              <a:rPr b="0"/>
              <a:t> The fix was engineering, not prompting. An initializer writes a feature list and a progress file. Each session does one feature with a fixed startup routine. </a:t>
            </a:r>
            <a:r>
              <a:rPr b="1"/>
              <a:t>Protect the acceptance criteria.</a:t>
            </a:r>
            <a:r>
              <a:rPr b="0"/>
              <a:t> Do not weaken tests merely to get a pass. Faulty or obsolete tests may change through review.</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Multi-agent, honestly. </a:t>
            </a:r>
            <a:r>
              <a:rPr b="1"/>
              <a:t>Anthropic reported a 90.2% improvement against its single-agent research system on an internal eval. Separately, it reported about 15 times chat token use for multi-agent systems.</a:t>
            </a:r>
            <a:r>
              <a:rPr b="0"/>
              <a:t> And it is a poor fit for work where agents need shared context or have dependencies. Anthropic names coding as the example.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Plan mode. Subagents. Hooks. Compaction. Resume and fork. Both tools have every one of them. </a:t>
            </a:r>
            <a:r>
              <a:rPr b="1"/>
              <a:t>Underneath all of it is one loop: gather context, take action, verify, repeat.</a:t>
            </a:r>
            <a:r>
              <a:rPr b="0"/>
              <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Addy Osmani's line applies most sharply here: </a:t>
            </a:r>
            <a:r>
              <a:rPr b="1"/>
              <a:t>"A decent model with a great harness beats a great model with a bad harness."</a:t>
            </a:r>
            <a:r>
              <a:rPr b="0"/>
              <a:t>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Anthropic found two failure modes in long-running agents. </a:t>
            </a:r>
            <a:r>
              <a:rPr b="1"/>
              <a:t>Over-ambition: try to one-shot the whole app. Premature completion: a later instance sees progress and declares the job done.</a:t>
            </a:r>
            <a:r>
              <a:rPr b="0"/>
              <a:t> The fix was engineering, not prompting. An initializer writes a feature list and a progress file. Each session does one feature with a fixed startup routine. </a:t>
            </a:r>
            <a:r>
              <a:rPr b="1"/>
              <a:t>Protect the acceptance criteria.</a:t>
            </a:r>
            <a:r>
              <a:rPr b="0"/>
              <a:t> Do not weaken tests merely to get a pass. Faulty or obsolete tests may change through review.</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Multi-agent, honestly. </a:t>
            </a:r>
            <a:r>
              <a:rPr b="1"/>
              <a:t>Anthropic reported a 90.2% improvement against its single-agent research system on an internal eval. Separately, it reported about 15 times chat token use for multi-agent systems.</a:t>
            </a:r>
            <a:r>
              <a:rPr b="0"/>
              <a:t> And it is a poor fit for work where agents need shared context or have dependencies. Anthropic names coding as the example.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Retrieve the target packet, inspect evidence, compare cases, reconcile findings, verify, export. Start with that bounded workflow.</a:t>
            </a:r>
            <a:r>
              <a:rPr b="0"/>
              <a:t> The process can use predefined paths before adding model-selected actions.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After measuring that workflow, optional workers can compare FRB-017 and FRB-031 independently. </a:t>
            </a:r>
            <a:r>
              <a:rPr b="1"/>
              <a:t>They return evidence and uncertainty to the main analyst, using only authorized internal FRB records and attachments.</a:t>
            </a:r>
            <a:r>
              <a:rPr b="0"/>
              <a:t> Save completed steps and exact revisions for resume. Recheck freshness and access. Bound retries and check the prior export receipt before repeating an export.</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Conflicting findings trigger source inspection or an unresolved result.</a:t>
            </a:r>
            <a:r>
              <a:rPr b="0"/>
              <a:t> Similar symptoms and duplicate documents cannot establish a common cause. Incomplete indexing must be visible. Set action, token, and end-to-end latency limits. At a limit, return an explicit limitation or hand off to a person. </a:t>
            </a:r>
            <a:r>
              <a:rPr b="1"/>
              <a:t>An unbounded loop is an outage.</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Multi-agent before a workflow was tried.</a:t>
            </a:r>
            <a:r>
              <a:rPr b="0"/>
              <a:t> More workers have to earn their cost and complexity.</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Retrieve the target packet, inspect evidence, compare cases, reconcile findings, verify, export. Start with that bounded workflow.</a:t>
            </a:r>
            <a:r>
              <a:rPr b="0"/>
              <a:t> The process can use predefined paths before adding model-selected actions.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After measuring that workflow, optional workers can compare FRB-017 and FRB-031 independently. </a:t>
            </a:r>
            <a:r>
              <a:rPr b="1"/>
              <a:t>They return evidence and uncertainty to the main analyst, using only authorized internal FRB records and attachments.</a:t>
            </a:r>
            <a:r>
              <a:rPr b="0"/>
              <a:t> Save completed steps and exact revisions for resume. Recheck freshness and access. Bound retries and check the prior export receipt before repeating an export.</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Conflicting findings trigger source inspection or an unresolved result.</a:t>
            </a:r>
            <a:r>
              <a:rPr b="0"/>
              <a:t> Similar symptoms and duplicate documents cannot establish a common cause. Incomplete indexing must be visible. Set action, token, and end-to-end latency limits. At a limit, return an explicit limitation or hand off to a person. </a:t>
            </a:r>
            <a:r>
              <a:rPr b="1"/>
              <a:t>An unbounded loop is an outage.</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Multi-agent before a workflow was tried.</a:t>
            </a:r>
            <a:r>
              <a:rPr b="0"/>
              <a:t> More workers have to earn their cost and complexity.</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Retrieve the target packet, inspect evidence, compare cases, reconcile findings, verify, export. Start with that bounded workflow.</a:t>
            </a:r>
            <a:r>
              <a:rPr b="0"/>
              <a:t> The process can use predefined paths before adding model-selected actions.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After measuring that workflow, optional workers can compare FRB-017 and FRB-031 independently. </a:t>
            </a:r>
            <a:r>
              <a:rPr b="1"/>
              <a:t>They return evidence and uncertainty to the main analyst, using only authorized internal FRB records and attachments.</a:t>
            </a:r>
            <a:r>
              <a:rPr b="0"/>
              <a:t> Save completed steps and exact revisions for resume. Recheck freshness and access. Bound retries and check the prior export receipt before repeating an export.</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Conflicting findings trigger source inspection or an unresolved result.</a:t>
            </a:r>
            <a:r>
              <a:rPr b="0"/>
              <a:t> Similar symptoms and duplicate documents cannot establish a common cause. Incomplete indexing must be visible. Set action, token, and end-to-end latency limits. At a limit, return an explicit limitation or hand off to a person. </a:t>
            </a:r>
            <a:r>
              <a:rPr b="1"/>
              <a:t>An unbounded loop is an outage.</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Multi-agent before a workflow was tried.</a:t>
            </a:r>
            <a:r>
              <a:rPr b="0"/>
              <a:t> More workers have to earn their cost and complexity.</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Our illustrative briefing says bearing wear is possible. Later minutes leave the cause unresolved and call for inspection. The answer says the board confirmed bearing wear. </a:t>
            </a:r>
            <a:r>
              <a:rPr b="1"/>
              <a:t>Fail: a hypothesis became an established finding.</a:t>
            </a:r>
            <a:r>
              <a:rPr b="0"/>
              <a:t> The expected answer separates the unresolved cause from the inspection decision. A citation can exist without supporting that sentence. Inspect the retrieved revisions, worker findings, synthesis, and required access constraints.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illustrative FRB failure.</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Our illustrative briefing says bearing wear is possible. Later minutes leave the cause unresolved and call for inspection. The answer says the board confirmed bearing wear. </a:t>
            </a:r>
            <a:r>
              <a:rPr b="1"/>
              <a:t>Fail: a hypothesis became an established finding.</a:t>
            </a:r>
            <a:r>
              <a:rPr b="0"/>
              <a:t> The expected answer separates the unresolved cause from the inspection decision. A citation can exist without supporting that sentence. Inspect the retrieved revisions, worker findings, synthesis, and required access constraints.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illustrative FRB failure.</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Our illustrative briefing says bearing wear is possible. Later minutes leave the cause unresolved and call for inspection. The answer says the board confirmed bearing wear. </a:t>
            </a:r>
            <a:r>
              <a:rPr b="1"/>
              <a:t>Fail: a hypothesis became an established finding.</a:t>
            </a:r>
            <a:r>
              <a:rPr b="0"/>
              <a:t> The expected answer separates the unresolved cause from the inspection decision. A citation can exist without supporting that sentence. Inspect the retrieved revisions, worker findings, synthesis, and required access constraints.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illustrative FRB failure.</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Our illustrative briefing says bearing wear is possible. Later minutes leave the cause unresolved and call for inspection. The answer says the board confirmed bearing wear. </a:t>
            </a:r>
            <a:r>
              <a:rPr b="1"/>
              <a:t>Fail: a hypothesis became an established finding.</a:t>
            </a:r>
            <a:r>
              <a:rPr b="0"/>
              <a:t> The expected answer separates the unresolved cause from the inspection decision. A citation can exist without supporting that sentence. Inspect the retrieved revisions, worker findings, synthesis, and required access constraints.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illustrative FRB failure.</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Our illustrative briefing says bearing wear is possible. Later minutes leave the cause unresolved and call for inspection. The answer says the board confirmed bearing wear. </a:t>
            </a:r>
            <a:r>
              <a:rPr b="1"/>
              <a:t>Fail: a hypothesis became an established finding.</a:t>
            </a:r>
            <a:r>
              <a:rPr b="0"/>
              <a:t> The expected answer separates the unresolved cause from the inspection decision. A citation can exist without supporting that sentence. Inspect the retrieved revisions, worker findings, synthesis, and required access constraints.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illustrative FRB failure.</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You must define the checks your domain needs.</a:t>
            </a:r>
            <a:r>
              <a:rPr b="0"/>
              <a:t> FRB IDs, revisions, permissions, source locations, and exported content can be checked directly. Experts judge faithfulness, useful synthesis, and warranted uncertainty. </a:t>
            </a:r>
            <a:r>
              <a:rPr b="1"/>
              <a:t>Citation existence and semantic support are different checks.</a:t>
            </a:r>
            <a:r>
              <a:rPr b="0"/>
              <a:t> Calibrate model graders to experts.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Inspect the false confirmation and its trace. Did parsing lose the qualification, retrieval miss later minutes, compaction drop a constraint, a worker overstate evidence, or synthesis ignore it? </a:t>
            </a:r>
            <a:r>
              <a:rPr b="1"/>
              <a:t>Identify the responsible component before changing it.</a:t>
            </a:r>
            <a:r>
              <a:rPr b="0"/>
              <a:t> Rerun representative cases with repeated trials. Monitor production samples and add new failures to regression cases.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Your eval suite gives evidence for a migration decision.</a:t>
            </a:r>
            <a:r>
              <a:rPr b="0"/>
              <a:t> It also checks prompt, retrieval, and tool changes.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A generic judge instead of error analysis. Trusting the success claim without checking the result.</a:t>
            </a:r>
          </a:p>
          <a:p xmlns:a="http://schemas.openxmlformats.org/drawingml/2006/main">
            <a:r>
              <a:t/>
            </a:r>
          </a:p>
          <a:p xmlns:a="http://schemas.openxmlformats.org/drawingml/2006/main">
            <a:r>
              <a:rPr b="1"/>
              <a:t>Check the action. Measure across cases. Keep both checks running as the system changes.</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You must define the checks your domain needs.</a:t>
            </a:r>
            <a:r>
              <a:rPr b="0"/>
              <a:t> FRB IDs, revisions, permissions, source locations, and exported content can be checked directly. Experts judge faithfulness, useful synthesis, and warranted uncertainty. </a:t>
            </a:r>
            <a:r>
              <a:rPr b="1"/>
              <a:t>Citation existence and semantic support are different checks.</a:t>
            </a:r>
            <a:r>
              <a:rPr b="0"/>
              <a:t> Calibrate model graders to experts.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Inspect the false confirmation and its trace. Did parsing lose the qualification, retrieval miss later minutes, compaction drop a constraint, a worker overstate evidence, or synthesis ignore it? </a:t>
            </a:r>
            <a:r>
              <a:rPr b="1"/>
              <a:t>Identify the responsible component before changing it.</a:t>
            </a:r>
            <a:r>
              <a:rPr b="0"/>
              <a:t> Rerun representative cases with repeated trials. Monitor production samples and add new failures to regression cases.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Your eval suite gives evidence for a migration decision.</a:t>
            </a:r>
            <a:r>
              <a:rPr b="0"/>
              <a:t> It also checks prompt, retrieval, and tool changes.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A generic judge instead of error analysis. Trusting the success claim without checking the result.</a:t>
            </a:r>
          </a:p>
          <a:p xmlns:a="http://schemas.openxmlformats.org/drawingml/2006/main">
            <a:r>
              <a:t/>
            </a:r>
          </a:p>
          <a:p xmlns:a="http://schemas.openxmlformats.org/drawingml/2006/main">
            <a:r>
              <a:rPr b="1"/>
              <a:t>Check the action. Measure across cases. Keep both checks running as the system changes.</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 own the approval process.</a:t>
            </a:r>
            <a:r>
              <a:rPr b="0"/>
              <a:t> Enforce FRB access and permitted export destinations outside the model. </a:t>
            </a:r>
            <a:r>
              <a:rPr b="1"/>
              <a:t>People own official causes, decisions, and board records.</a:t>
            </a:r>
          </a:p>
          <a:p xmlns:a="http://schemas.openxmlformats.org/drawingml/2006/main">
            <a:r>
              <a:t/>
            </a:r>
          </a:p>
          <a:p xmlns:a="http://schemas.openxmlformats.org/drawingml/2006/main">
            <a:r>
              <a:rPr b="0"/>
              <a:t>Trace the request through retrieved revisions, worker evidence, synthesis, verification, and export. Restrict trace access. Monitor freshness, parsing/tool failures, quality failures, cost per completed brief, and latency.</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The lethal trifecta, assembled one integration at a time.</a:t>
            </a:r>
            <a:r>
              <a:rPr b="0"/>
              <a:t> Internal attachments can contain untrusted instructions. An export provides communication. Count capabilities and constrain the path.</a:t>
            </a:r>
          </a:p>
          <a:p xmlns:a="http://schemas.openxmlformats.org/drawingml/2006/main">
            <a:r>
              <a:t/>
            </a:r>
          </a:p>
          <a:p xmlns:a="http://schemas.openxmlformats.org/drawingml/2006/main">
            <a:r>
              <a:rPr b="1"/>
              <a:t>When you are the owner, its answer is your answer.</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That is the map. Every box on it is something you can engineer, because most of it is engineering you already know how to do.</a:t>
            </a:r>
          </a:p>
          <a:p xmlns:a="http://schemas.openxmlformats.org/drawingml/2006/main">
            <a:r>
              <a:t/>
            </a:r>
          </a:p>
          <a:p xmlns:a="http://schemas.openxmlformats.org/drawingml/2006/main">
            <a:r>
              <a:rPr b="0"/>
              <a:t>Advance to slide 20, the Section 3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 own the approval process.</a:t>
            </a:r>
            <a:r>
              <a:rPr b="0"/>
              <a:t> Enforce FRB access and permitted export destinations outside the model. </a:t>
            </a:r>
            <a:r>
              <a:rPr b="1"/>
              <a:t>People own official causes, decisions, and board records.</a:t>
            </a:r>
          </a:p>
          <a:p xmlns:a="http://schemas.openxmlformats.org/drawingml/2006/main">
            <a:r>
              <a:t/>
            </a:r>
          </a:p>
          <a:p xmlns:a="http://schemas.openxmlformats.org/drawingml/2006/main">
            <a:r>
              <a:rPr b="0"/>
              <a:t>Trace the request through retrieved revisions, worker evidence, synthesis, verification, and export. Restrict trace access. Monitor freshness, parsing/tool failures, quality failures, cost per completed brief, and latency.</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The lethal trifecta, assembled one integration at a time.</a:t>
            </a:r>
            <a:r>
              <a:rPr b="0"/>
              <a:t> Internal attachments can contain untrusted instructions. An export provides communication. Count capabilities and constrain the path.</a:t>
            </a:r>
          </a:p>
          <a:p xmlns:a="http://schemas.openxmlformats.org/drawingml/2006/main">
            <a:r>
              <a:t/>
            </a:r>
          </a:p>
          <a:p xmlns:a="http://schemas.openxmlformats.org/drawingml/2006/main">
            <a:r>
              <a:rPr b="1"/>
              <a:t>When you are the owner, its answer is your answer.</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That is the map. Every box on it is something you can engineer, because most of it is engineering you already know how to do.</a:t>
            </a:r>
          </a:p>
          <a:p xmlns:a="http://schemas.openxmlformats.org/drawingml/2006/main">
            <a:r>
              <a:t/>
            </a:r>
          </a:p>
          <a:p xmlns:a="http://schemas.openxmlformats.org/drawingml/2006/main">
            <a:r>
              <a:rPr b="0"/>
              <a:t>Advance to slide 20, the Section 3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Everything in the last twenty-five minutes was engineering. </a:t>
            </a:r>
            <a:r>
              <a:rPr b="1"/>
              <a:t>Most of it is engineering you already do.</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The introductory bridge was spoken on slide 20.</a:t>
            </a:r>
          </a:p>
          <a:p xmlns:a="http://schemas.openxmlformats.org/drawingml/2006/main">
            <a:r>
              <a:t/>
            </a:r>
          </a:p>
          <a:p xmlns:a="http://schemas.openxmlformats.org/drawingml/2006/main">
            <a:r>
              <a:rPr b="1"/>
              <a:t>Decomposition and systems thinking transfer whole.</a:t>
            </a:r>
            <a:r>
              <a:rPr b="0"/>
              <a:t> Matt Morgis at Elsevier: "For experienced engineers who know how to break problems down, AI tools are an incredible force multiplier." The harness is a systems design problem. </a:t>
            </a:r>
            <a:r>
              <a:rPr b="1"/>
              <a:t>Interface design becomes tool design.</a:t>
            </a:r>
            <a:r>
              <a:rPr b="0"/>
              <a:t> The same instincts about contracts, naming, granularity, and error handling. The caller changed. </a:t>
            </a:r>
            <a:r>
              <a:rPr b="1"/>
              <a:t>Testing discipline extends to evals.</a:t>
            </a:r>
            <a:r>
              <a:rPr b="0"/>
              <a:t> The habit of checking before accepting a result transfers. Ordinary tests remain part of the machinery. Observability transfers with a new schema: traces, spans, p95s. Security transfers: least privilege now applies to tools. Operations transfer: cost, latency, incident response, rollback. The units changed to tokens.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Field evidence. Gergely Orosz profiled engineers at incident.io, Sentry, Elsevier, and others who crossed over in months, not years. One twenty-five-year veteran became his company's generative AI expert in about two months, by reading and prototyping.</a:t>
            </a:r>
          </a:p>
          <a:p xmlns:a="http://schemas.openxmlformats.org/drawingml/2006/main">
            <a:r>
              <a:t/>
            </a:r>
          </a:p>
          <a:p xmlns:a="http://schemas.openxmlformats.org/drawingml/2006/main">
            <a:r>
              <a:rPr b="1"/>
              <a:t>You are not starting over. You are adding a layer.</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The introductory bridge was spoken on slide 20.</a:t>
            </a:r>
          </a:p>
          <a:p xmlns:a="http://schemas.openxmlformats.org/drawingml/2006/main">
            <a:r>
              <a:t/>
            </a:r>
          </a:p>
          <a:p xmlns:a="http://schemas.openxmlformats.org/drawingml/2006/main">
            <a:r>
              <a:rPr b="1"/>
              <a:t>Decomposition and systems thinking transfer whole.</a:t>
            </a:r>
            <a:r>
              <a:rPr b="0"/>
              <a:t> Matt Morgis at Elsevier: "For experienced engineers who know how to break problems down, AI tools are an incredible force multiplier." The harness is a systems design problem. </a:t>
            </a:r>
            <a:r>
              <a:rPr b="1"/>
              <a:t>Interface design becomes tool design.</a:t>
            </a:r>
            <a:r>
              <a:rPr b="0"/>
              <a:t> The same instincts about contracts, naming, granularity, and error handling. The caller changed. </a:t>
            </a:r>
            <a:r>
              <a:rPr b="1"/>
              <a:t>Testing discipline extends to evals.</a:t>
            </a:r>
            <a:r>
              <a:rPr b="0"/>
              <a:t> The habit of checking before accepting a result transfers. Ordinary tests remain part of the machinery. Observability transfers with a new schema: traces, spans, p95s. Security transfers: least privilege now applies to tools. Operations transfer: cost, latency, incident response, rollback. The units changed to tokens.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Field evidence. Gergely Orosz profiled engineers at incident.io, Sentry, Elsevier, and others who crossed over in months, not years. One twenty-five-year veteran became his company's generative AI expert in about two months, by reading and prototyping.</a:t>
            </a:r>
          </a:p>
          <a:p xmlns:a="http://schemas.openxmlformats.org/drawingml/2006/main">
            <a:r>
              <a:t/>
            </a:r>
          </a:p>
          <a:p xmlns:a="http://schemas.openxmlformats.org/drawingml/2006/main">
            <a:r>
              <a:rPr b="1"/>
              <a:t>You are not starting over. You are adding a layer.</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 Let them read it.</a:t>
            </a:r>
          </a:p>
          <a:p xmlns:a="http://schemas.openxmlformats.org/drawingml/2006/main">
            <a:r>
              <a:t/>
            </a:r>
          </a:p>
          <a:p xmlns:a="http://schemas.openxmlformats.org/drawingml/2006/main">
            <a:r>
              <a:rPr b="0"/>
              <a:t>You have seen all six.</a:t>
            </a:r>
          </a:p>
          <a:p xmlns:a="http://schemas.openxmlformats.org/drawingml/2006/main">
            <a:r>
              <a:t/>
            </a:r>
          </a:p>
          <a:p xmlns:a="http://schemas.openxmlformats.org/drawingml/2006/main">
            <a:r>
              <a:rPr b="1"/>
              <a:t>Every one is a symptom of the same thing: treating the demo as the product.</a:t>
            </a:r>
            <a:r>
              <a:rPr b="0"/>
              <a:t> works.any() shipped as works.all().</a:t>
            </a:r>
          </a:p>
          <a:p xmlns:a="http://schemas.openxmlformats.org/drawingml/2006/main">
            <a:r>
              <a:t/>
            </a:r>
          </a:p>
          <a:p xmlns:a="http://schemas.openxmlformats.org/drawingml/2006/main">
            <a:r>
              <a:rPr b="0"/>
              <a:t>One more that is not on the map: reaching for a framework before understanding the loop. Anthropic's warning is that frameworks "create extra layers of abstraction that can obscure the underlying prompts and responses." Learn the loop first.</a:t>
            </a:r>
          </a:p>
          <a:p xmlns:a="http://schemas.openxmlformats.org/drawingml/2006/main">
            <a:r>
              <a:t/>
            </a:r>
          </a:p>
          <a:p xmlns:a="http://schemas.openxmlformats.org/drawingml/2006/main">
            <a:r>
              <a:rPr b="1"/>
              <a:t>Every pitfall on this list is a demo mistaken for a product.</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Four steps. </a:t>
            </a:r>
            <a:r>
              <a:rPr b="1"/>
              <a:t>Look before you build. Review twenty to fifty outputs by hand.</a:t>
            </a:r>
            <a:r>
              <a:rPr b="0"/>
              <a:t> Record the input, observed behavior, expected behavior, and check. That is your first eval material.</a:t>
            </a:r>
          </a:p>
          <a:p xmlns:a="http://schemas.openxmlformats.org/drawingml/2006/main">
            <a:r>
              <a:t/>
            </a:r>
          </a:p>
          <a:p xmlns:a="http://schemas.openxmlformats.org/drawingml/2006/main">
            <a:r>
              <a:rPr b="1"/>
              <a:t>Start constrained. One model call with retrieval and examples. Then a workflow. Add a loop only when it demonstrably improves outcomes.</a:t>
            </a:r>
          </a:p>
          <a:p xmlns:a="http://schemas.openxmlformats.org/drawingml/2006/main">
            <a:r>
              <a:t/>
            </a:r>
          </a:p>
          <a:p xmlns:a="http://schemas.openxmlformats.org/drawingml/2006/main">
            <a:r>
              <a:rPr b="0"/>
              <a:t>Own the harness: prompts, context, control flow. Understand the loop before choosing a framework.</a:t>
            </a:r>
          </a:p>
          <a:p xmlns:a="http://schemas.openxmlformats.org/drawingml/2006/main">
            <a:r>
              <a:t/>
            </a:r>
          </a:p>
          <a:p xmlns:a="http://schemas.openxmlformats.org/drawingml/2006/main">
            <a:r>
              <a:rPr b="1"/>
              <a:t>Add autonomy as your evals earn it.</a:t>
            </a:r>
            <a:r>
              <a:rPr b="0"/>
              <a:t> Each increase needs checks that catch what it breaks.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For our FRB summary, record the false confirmation, the unresolved cause, and the source-support check. </a:t>
            </a:r>
            <a:r>
              <a:rPr b="1"/>
              <a:t>Use this same record for your own system.</a:t>
            </a:r>
          </a:p>
          <a:p xmlns:a="http://schemas.openxmlformats.org/drawingml/2006/main">
            <a:r>
              <a:t/>
            </a:r>
          </a:p>
          <a:p xmlns:a="http://schemas.openxmlformats.org/drawingml/2006/main">
            <a:r>
              <a:rPr b="0"/>
              <a:t>Story #3.</a:t>
            </a:r>
          </a:p>
          <a:p xmlns:a="http://schemas.openxmlformats.org/drawingml/2006/main">
            <a:r>
              <a:t/>
            </a:r>
          </a:p>
          <a:p xmlns:a="http://schemas.openxmlformats.org/drawingml/2006/main">
            <a:r>
              <a:rPr b="1"/>
              <a:t>[your story #3]</a:t>
            </a:r>
            <a:r>
              <a:rPr b="0"/>
              <a:t> What you would tell yourself at the start of the transition. It must show one thing you would do earlier, and what it would have saved. Thirty seconds.</a:t>
            </a:r>
          </a:p>
          <a:p xmlns:a="http://schemas.openxmlformats.org/drawingml/2006/main">
            <a:r>
              <a:t/>
            </a:r>
          </a:p>
          <a:p xmlns:a="http://schemas.openxmlformats.org/drawingml/2006/main">
            <a:r>
              <a:rPr b="1"/>
              <a:t>Autonomy is earned by evals, one step at a time.</a:t>
            </a:r>
            <a:r>
              <a:rPr b="0"/>
              <a:t> Advance to slide 25 on the last word.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Four steps. </a:t>
            </a:r>
            <a:r>
              <a:rPr b="1"/>
              <a:t>Look before you build. Review twenty to fifty outputs by hand.</a:t>
            </a:r>
            <a:r>
              <a:rPr b="0"/>
              <a:t> Record the input, observed behavior, expected behavior, and check. That is your first eval material.</a:t>
            </a:r>
          </a:p>
          <a:p xmlns:a="http://schemas.openxmlformats.org/drawingml/2006/main">
            <a:r>
              <a:t/>
            </a:r>
          </a:p>
          <a:p xmlns:a="http://schemas.openxmlformats.org/drawingml/2006/main">
            <a:r>
              <a:rPr b="1"/>
              <a:t>Start constrained. One model call with retrieval and examples. Then a workflow. Add a loop only when it demonstrably improves outcomes.</a:t>
            </a:r>
          </a:p>
          <a:p xmlns:a="http://schemas.openxmlformats.org/drawingml/2006/main">
            <a:r>
              <a:t/>
            </a:r>
          </a:p>
          <a:p xmlns:a="http://schemas.openxmlformats.org/drawingml/2006/main">
            <a:r>
              <a:rPr b="0"/>
              <a:t>Own the harness: prompts, context, control flow. Understand the loop before choosing a framework.</a:t>
            </a:r>
          </a:p>
          <a:p xmlns:a="http://schemas.openxmlformats.org/drawingml/2006/main">
            <a:r>
              <a:t/>
            </a:r>
          </a:p>
          <a:p xmlns:a="http://schemas.openxmlformats.org/drawingml/2006/main">
            <a:r>
              <a:rPr b="1"/>
              <a:t>Add autonomy as your evals earn it.</a:t>
            </a:r>
            <a:r>
              <a:rPr b="0"/>
              <a:t> Each increase needs checks that catch what it breaks.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For our FRB summary, record the false confirmation, the unresolved cause, and the source-support check. </a:t>
            </a:r>
            <a:r>
              <a:rPr b="1"/>
              <a:t>Use this same record for your own system.</a:t>
            </a:r>
          </a:p>
          <a:p xmlns:a="http://schemas.openxmlformats.org/drawingml/2006/main">
            <a:r>
              <a:t/>
            </a:r>
          </a:p>
          <a:p xmlns:a="http://schemas.openxmlformats.org/drawingml/2006/main">
            <a:r>
              <a:rPr b="0"/>
              <a:t>Story #3.</a:t>
            </a:r>
          </a:p>
          <a:p xmlns:a="http://schemas.openxmlformats.org/drawingml/2006/main">
            <a:r>
              <a:t/>
            </a:r>
          </a:p>
          <a:p xmlns:a="http://schemas.openxmlformats.org/drawingml/2006/main">
            <a:r>
              <a:rPr b="1"/>
              <a:t>[your story #3]</a:t>
            </a:r>
            <a:r>
              <a:rPr b="0"/>
              <a:t> What you would tell yourself at the start of the transition. It must show one thing you would do earlier, and what it would have saved. Thirty seconds.</a:t>
            </a:r>
          </a:p>
          <a:p xmlns:a="http://schemas.openxmlformats.org/drawingml/2006/main">
            <a:r>
              <a:t/>
            </a:r>
          </a:p>
          <a:p xmlns:a="http://schemas.openxmlformats.org/drawingml/2006/main">
            <a:r>
              <a:rPr b="1"/>
              <a:t>Autonomy is earned by evals, one step at a time.</a:t>
            </a:r>
            <a:r>
              <a:rPr b="0"/>
              <a:t> Advance to slide 25 on the last word.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We have fifteen minutes for your questions.</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9a0abdd8d17469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b789f2e541324b7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414febb907bb44b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EAAA82B3-4693-4653-86AE-6B496EB68FF3}"/>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a13d4c498324f04" /><Relationship Type="http://schemas.openxmlformats.org/officeDocument/2006/relationships/slideLayout" Target="/ppt/slideLayouts/slideLayout1.xml" Id="R5f777cbfe3994ac4"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44bcafa5a97e444d" /><Relationship Type="http://schemas.openxmlformats.org/officeDocument/2006/relationships/slideLayout" Target="/ppt/slideLayouts/slideLayout2.xml" Id="Rb08e7db56a6e4f69" /><Relationship Type="http://schemas.openxmlformats.org/officeDocument/2006/relationships/slideLayout" Target="/ppt/slideLayouts/slideLayout3.xml" Id="Rb39d1113b72a475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f777cbfe3994ac4"/>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b08e7db56a6e4f69"/>
    <p:sldLayoutId xmlns:r="http://schemas.openxmlformats.org/officeDocument/2006/relationships" id="2147483652" r:id="Rb39d1113b72a475d"/>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05b5f92d54dc4479" /><Relationship Type="http://schemas.openxmlformats.org/officeDocument/2006/relationships/notesSlide" Target="/ppt/notesSlides/notesSlide1.xml" Id="Rad7c6b2bca01436b"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430d7f9bfca945c4" /><Relationship Type="http://schemas.openxmlformats.org/officeDocument/2006/relationships/notesSlide" Target="/ppt/notesSlides/notesSlide2.xml" Id="Re6a76ef7eb394027"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9efb48c2cd824d10" /><Relationship Type="http://schemas.openxmlformats.org/officeDocument/2006/relationships/image" Target="/ppt/media/image.png" Id="R6d136b660b814c62" /><Relationship Type="http://schemas.openxmlformats.org/officeDocument/2006/relationships/notesSlide" Target="/ppt/notesSlides/notesSlide3.xml" Id="R6934483eb3404164"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0a489b8234514981" /><Relationship Type="http://schemas.openxmlformats.org/officeDocument/2006/relationships/notesSlide" Target="/ppt/notesSlides/notesSlide4.xml" Id="Rae11f6bf888f4b27"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7009073fe65f4b0e" /><Relationship Type="http://schemas.openxmlformats.org/officeDocument/2006/relationships/notesSlide" Target="/ppt/notesSlides/notesSlide5.xml" Id="Rb3ca46810757466a"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d8e94143431144a0" /><Relationship Type="http://schemas.openxmlformats.org/officeDocument/2006/relationships/notesSlide" Target="/ppt/notesSlides/notesSlide6.xml" Id="Re94fb89f8a06490d"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10663e71a5ec4888" /><Relationship Type="http://schemas.openxmlformats.org/officeDocument/2006/relationships/notesSlide" Target="/ppt/notesSlides/notesSlide7.xml" Id="Rb9d6ca95873448bc"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20c6620d60e84f70" /><Relationship Type="http://schemas.openxmlformats.org/officeDocument/2006/relationships/notesSlide" Target="/ppt/notesSlides/notesSlide8.xml" Id="R2c84c895ddfa4937"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6c69f7560fcc48ba" /><Relationship Type="http://schemas.openxmlformats.org/officeDocument/2006/relationships/image" Target="/ppt/media/image2.png" Id="R65643990358b44f6" /><Relationship Type="http://schemas.openxmlformats.org/officeDocument/2006/relationships/notesSlide" Target="/ppt/notesSlides/notesSlide9.xml" Id="Rebee01edd9224fe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e61fec9d166645ea" /><Relationship Type="http://schemas.openxmlformats.org/officeDocument/2006/relationships/image" Target="/ppt/media/image3.png" Id="R09604a06c94541f1" /><Relationship Type="http://schemas.openxmlformats.org/officeDocument/2006/relationships/notesSlide" Target="/ppt/notesSlides/notesSlide10.xml" Id="Rb1e73e09aa4c45a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0eb710f5ea6c4cfd" /><Relationship Type="http://schemas.openxmlformats.org/officeDocument/2006/relationships/image" Target="/ppt/media/image4.png" Id="R2cd75d7e84a4423c" /><Relationship Type="http://schemas.openxmlformats.org/officeDocument/2006/relationships/notesSlide" Target="/ppt/notesSlides/notesSlide11.xml" Id="R885539b38bc7402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1a0ce35114044589" /><Relationship Type="http://schemas.openxmlformats.org/officeDocument/2006/relationships/image" Target="/ppt/media/image5.png" Id="R8363118b2f8d404a" /><Relationship Type="http://schemas.openxmlformats.org/officeDocument/2006/relationships/notesSlide" Target="/ppt/notesSlides/notesSlide12.xml" Id="R49c7460b89dc479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13777f4e01fe4148" /><Relationship Type="http://schemas.openxmlformats.org/officeDocument/2006/relationships/image" Target="/ppt/media/image6.png" Id="R6a46ccf2b3d44873" /><Relationship Type="http://schemas.openxmlformats.org/officeDocument/2006/relationships/notesSlide" Target="/ppt/notesSlides/notesSlide13.xml" Id="Rbc365005bdf5449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5604b74665d24457" /><Relationship Type="http://schemas.openxmlformats.org/officeDocument/2006/relationships/image" Target="/ppt/media/image7.png" Id="R480cd0bee94a46d8" /><Relationship Type="http://schemas.openxmlformats.org/officeDocument/2006/relationships/notesSlide" Target="/ppt/notesSlides/notesSlide14.xml" Id="R3a6ba4da742b466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2f19d3560171472a" /><Relationship Type="http://schemas.openxmlformats.org/officeDocument/2006/relationships/notesSlide" Target="/ppt/notesSlides/notesSlide15.xml" Id="R24a47a5f63ec400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81cabec871fc42b5" /><Relationship Type="http://schemas.openxmlformats.org/officeDocument/2006/relationships/image" Target="/ppt/media/image8.png" Id="Rf728c4c7e2ac40fb" /><Relationship Type="http://schemas.openxmlformats.org/officeDocument/2006/relationships/image" Target="/ppt/media/image9.png" Id="Rb92c418171af405d" /><Relationship Type="http://schemas.openxmlformats.org/officeDocument/2006/relationships/notesSlide" Target="/ppt/notesSlides/notesSlide16.xml" Id="R58513aa38c5d473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cfd7d8163b4642d5" /><Relationship Type="http://schemas.openxmlformats.org/officeDocument/2006/relationships/image" Target="/ppt/media/image8.png" Id="R1e15298f69874b9f" /><Relationship Type="http://schemas.openxmlformats.org/officeDocument/2006/relationships/notesSlide" Target="/ppt/notesSlides/notesSlide17.xml" Id="Rf3ecfccebc7a43e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cb1615ca927c4762" /><Relationship Type="http://schemas.openxmlformats.org/officeDocument/2006/relationships/image" Target="/ppt/media/image8.png" Id="R2612ab70a5934fd0" /><Relationship Type="http://schemas.openxmlformats.org/officeDocument/2006/relationships/notesSlide" Target="/ppt/notesSlides/notesSlide18.xml" Id="R2e4661f1fc6a40b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bfe333e610c444f0" /><Relationship Type="http://schemas.openxmlformats.org/officeDocument/2006/relationships/image" Target="/ppt/media/image8.png" Id="R017849581c214c64" /><Relationship Type="http://schemas.openxmlformats.org/officeDocument/2006/relationships/notesSlide" Target="/ppt/notesSlides/notesSlide19.xml" Id="R575eab3b427c4de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1447f158dd3c476f" /><Relationship Type="http://schemas.openxmlformats.org/officeDocument/2006/relationships/notesSlide" Target="/ppt/notesSlides/notesSlide20.xml" Id="R0a05fd97f92949b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f99fd73fcac643d1" /><Relationship Type="http://schemas.openxmlformats.org/officeDocument/2006/relationships/image" Target="/ppt/media/image10.png" Id="Rf82b8077f5af4e49" /><Relationship Type="http://schemas.openxmlformats.org/officeDocument/2006/relationships/image" Target="/ppt/media/image11.png" Id="R0b262b753fa94445" /><Relationship Type="http://schemas.openxmlformats.org/officeDocument/2006/relationships/notesSlide" Target="/ppt/notesSlides/notesSlide21.xml" Id="R8874b994b1cb469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723ed20a459946c9" /><Relationship Type="http://schemas.openxmlformats.org/officeDocument/2006/relationships/image" Target="/ppt/media/image10.png" Id="R22f90b97448349d8" /><Relationship Type="http://schemas.openxmlformats.org/officeDocument/2006/relationships/notesSlide" Target="/ppt/notesSlides/notesSlide22.xml" Id="R32545b85a487495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4bebb45e14c04f20" /><Relationship Type="http://schemas.openxmlformats.org/officeDocument/2006/relationships/image" Target="/ppt/media/image10.png" Id="R1390b91dea384485" /><Relationship Type="http://schemas.openxmlformats.org/officeDocument/2006/relationships/notesSlide" Target="/ppt/notesSlides/notesSlide23.xml" Id="Rfcee35ee362c48b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865f696fc3424f5e" /><Relationship Type="http://schemas.openxmlformats.org/officeDocument/2006/relationships/image" Target="/ppt/media/image10.png" Id="Rf4cb3b6c80da43ad" /><Relationship Type="http://schemas.openxmlformats.org/officeDocument/2006/relationships/notesSlide" Target="/ppt/notesSlides/notesSlide24.xml" Id="Rc25497b8e0bb4e4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af8857f91cc4423b" /><Relationship Type="http://schemas.openxmlformats.org/officeDocument/2006/relationships/notesSlide" Target="/ppt/notesSlides/notesSlide25.xml" Id="Reddb9e7be08246b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b79a41f363134b88" /><Relationship Type="http://schemas.openxmlformats.org/officeDocument/2006/relationships/image" Target="/ppt/media/image12.png" Id="R924a8f3a47c94653" /><Relationship Type="http://schemas.openxmlformats.org/officeDocument/2006/relationships/notesSlide" Target="/ppt/notesSlides/notesSlide26.xml" Id="Ra4e771d0c0a44a0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df8be4876a8f47d1" /><Relationship Type="http://schemas.openxmlformats.org/officeDocument/2006/relationships/image" Target="/ppt/media/image12.png" Id="R38a3e0ba54694a38" /><Relationship Type="http://schemas.openxmlformats.org/officeDocument/2006/relationships/notesSlide" Target="/ppt/notesSlides/notesSlide27.xml" Id="Red55216c2b8f42a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2c4a8edd8af54433" /><Relationship Type="http://schemas.openxmlformats.org/officeDocument/2006/relationships/image" Target="/ppt/media/image13.png" Id="Ra496d4dfbaa44489" /><Relationship Type="http://schemas.openxmlformats.org/officeDocument/2006/relationships/notesSlide" Target="/ppt/notesSlides/notesSlide28.xml" Id="Rb35e4f181e054a1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cced163440e546b5" /><Relationship Type="http://schemas.openxmlformats.org/officeDocument/2006/relationships/image" Target="/ppt/media/image13.png" Id="R281e8b4951854d92" /><Relationship Type="http://schemas.openxmlformats.org/officeDocument/2006/relationships/notesSlide" Target="/ppt/notesSlides/notesSlide29.xml" Id="R5942399e17bf46e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293c477333f94c01" /><Relationship Type="http://schemas.openxmlformats.org/officeDocument/2006/relationships/notesSlide" Target="/ppt/notesSlides/notesSlide30.xml" Id="Ra491eff869464d1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2561b355843d445f" /><Relationship Type="http://schemas.openxmlformats.org/officeDocument/2006/relationships/image" Target="/ppt/media/image14.png" Id="Rdcb645ec16ba4fa3" /><Relationship Type="http://schemas.openxmlformats.org/officeDocument/2006/relationships/notesSlide" Target="/ppt/notesSlides/notesSlide31.xml" Id="R05172773130043c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dcb5522901e94152" /><Relationship Type="http://schemas.openxmlformats.org/officeDocument/2006/relationships/image" Target="/ppt/media/image14.png" Id="R29d1b1a8d26d4e45" /><Relationship Type="http://schemas.openxmlformats.org/officeDocument/2006/relationships/notesSlide" Target="/ppt/notesSlides/notesSlide32.xml" Id="R3a9012d3c799402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e775af5f3ccb4472" /><Relationship Type="http://schemas.openxmlformats.org/officeDocument/2006/relationships/image" Target="/ppt/media/image14.png" Id="R06c5970dbf1d4f0b" /><Relationship Type="http://schemas.openxmlformats.org/officeDocument/2006/relationships/notesSlide" Target="/ppt/notesSlides/notesSlide33.xml" Id="R748aa0249f51421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e44c2ac8b5894939" /><Relationship Type="http://schemas.openxmlformats.org/officeDocument/2006/relationships/image" Target="/ppt/media/image14.png" Id="Re11ed048fa8c47b4" /><Relationship Type="http://schemas.openxmlformats.org/officeDocument/2006/relationships/notesSlide" Target="/ppt/notesSlides/notesSlide34.xml" Id="R743033e2705d4da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82ffbccffafb456c" /><Relationship Type="http://schemas.openxmlformats.org/officeDocument/2006/relationships/image" Target="/ppt/media/image15.png" Id="R235005c520f74dba" /><Relationship Type="http://schemas.openxmlformats.org/officeDocument/2006/relationships/notesSlide" Target="/ppt/notesSlides/notesSlide35.xml" Id="R5baf89cd1e6d447c"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2e1c713080554d31" /><Relationship Type="http://schemas.openxmlformats.org/officeDocument/2006/relationships/image" Target="/ppt/media/image15.png" Id="R100cea1e4c3a42b1" /><Relationship Type="http://schemas.openxmlformats.org/officeDocument/2006/relationships/notesSlide" Target="/ppt/notesSlides/notesSlide36.xml" Id="Rffc276fe48e4402f"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a8516203ecde4d93" /><Relationship Type="http://schemas.openxmlformats.org/officeDocument/2006/relationships/image" Target="/ppt/media/image15.png" Id="R19f5c5ad988846fd" /><Relationship Type="http://schemas.openxmlformats.org/officeDocument/2006/relationships/notesSlide" Target="/ppt/notesSlides/notesSlide37.xml" Id="R1858a28dceab486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ebbcd4223d8545f4" /><Relationship Type="http://schemas.openxmlformats.org/officeDocument/2006/relationships/notesSlide" Target="/ppt/notesSlides/notesSlide38.xml" Id="R5a8644b3859d4bbf"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f222f736c2784afa" /><Relationship Type="http://schemas.openxmlformats.org/officeDocument/2006/relationships/image" Target="/ppt/media/image16.png" Id="R5c5dc0f0566f4e9b" /><Relationship Type="http://schemas.openxmlformats.org/officeDocument/2006/relationships/notesSlide" Target="/ppt/notesSlides/notesSlide39.xml" Id="Rb7603ffa2b0d47f2"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550c000496cc4f44" /><Relationship Type="http://schemas.openxmlformats.org/officeDocument/2006/relationships/image" Target="/ppt/media/image16.png" Id="Re53bcc4d29e34b87" /><Relationship Type="http://schemas.openxmlformats.org/officeDocument/2006/relationships/notesSlide" Target="/ppt/notesSlides/notesSlide40.xml" Id="R4e8fa90ad63a4c26"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c6fd77aafc9e4dc6" /><Relationship Type="http://schemas.openxmlformats.org/officeDocument/2006/relationships/image" Target="/ppt/media/image16.png" Id="Rfc35e80f3c7c41f6" /><Relationship Type="http://schemas.openxmlformats.org/officeDocument/2006/relationships/notesSlide" Target="/ppt/notesSlides/notesSlide41.xml" Id="R755859fa114d4ed2"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16cc019d733042bf" /><Relationship Type="http://schemas.openxmlformats.org/officeDocument/2006/relationships/image" Target="/ppt/media/image16.png" Id="R4b6cabcef8844368" /><Relationship Type="http://schemas.openxmlformats.org/officeDocument/2006/relationships/notesSlide" Target="/ppt/notesSlides/notesSlide42.xml" Id="R6950861c89614029"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74e9e04db3274d27" /><Relationship Type="http://schemas.openxmlformats.org/officeDocument/2006/relationships/image" Target="/ppt/media/image17.png" Id="Rbfe3f2bd1c2b4747" /><Relationship Type="http://schemas.openxmlformats.org/officeDocument/2006/relationships/notesSlide" Target="/ppt/notesSlides/notesSlide43.xml" Id="R341ce20235b3487c"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3c7805ae50c240ea" /><Relationship Type="http://schemas.openxmlformats.org/officeDocument/2006/relationships/image" Target="/ppt/media/image17.png" Id="Rbc4a34dfb74b4a39" /><Relationship Type="http://schemas.openxmlformats.org/officeDocument/2006/relationships/notesSlide" Target="/ppt/notesSlides/notesSlide44.xml" Id="Rabe0f899b0654b59"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24eb89319c8d4b75" /><Relationship Type="http://schemas.openxmlformats.org/officeDocument/2006/relationships/notesSlide" Target="/ppt/notesSlides/notesSlide45.xml" Id="R2ba3cc7343204806"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9e96f5696ccc43b0" /><Relationship Type="http://schemas.openxmlformats.org/officeDocument/2006/relationships/image" Target="/ppt/media/image18.png" Id="R28cea57d90d04a27" /><Relationship Type="http://schemas.openxmlformats.org/officeDocument/2006/relationships/notesSlide" Target="/ppt/notesSlides/notesSlide46.xml" Id="Re35bdeb5e1fa4035"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df4e9937fa7e4c75" /><Relationship Type="http://schemas.openxmlformats.org/officeDocument/2006/relationships/image" Target="/ppt/media/image18.png" Id="R95da309051214a40" /><Relationship Type="http://schemas.openxmlformats.org/officeDocument/2006/relationships/notesSlide" Target="/ppt/notesSlides/notesSlide47.xml" Id="R47a6052a1ce946fe"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1fb036b23c984609" /><Relationship Type="http://schemas.openxmlformats.org/officeDocument/2006/relationships/image" Target="/ppt/media/image18.png" Id="R04ba750241a54ba5" /><Relationship Type="http://schemas.openxmlformats.org/officeDocument/2006/relationships/notesSlide" Target="/ppt/notesSlides/notesSlide48.xml" Id="R5c519d2e147a4c87"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8b68f6f80897464a" /><Relationship Type="http://schemas.openxmlformats.org/officeDocument/2006/relationships/image" Target="/ppt/media/image18.png" Id="R6cab367c192e4fdc" /><Relationship Type="http://schemas.openxmlformats.org/officeDocument/2006/relationships/notesSlide" Target="/ppt/notesSlides/notesSlide49.xml" Id="R84eaef0d7d504b02"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2a15f2c3c8aa49c9" /><Relationship Type="http://schemas.openxmlformats.org/officeDocument/2006/relationships/image" Target="/ppt/media/image19.png" Id="Rdfb48c3242b3487e" /><Relationship Type="http://schemas.openxmlformats.org/officeDocument/2006/relationships/notesSlide" Target="/ppt/notesSlides/notesSlide50.xml" Id="R089f497f127c41d1"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c09fc1cde5a74552" /><Relationship Type="http://schemas.openxmlformats.org/officeDocument/2006/relationships/image" Target="/ppt/media/image20.png" Id="R988a978453b64c11" /><Relationship Type="http://schemas.openxmlformats.org/officeDocument/2006/relationships/notesSlide" Target="/ppt/notesSlides/notesSlide51.xml" Id="Raf216698f90543ad"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8dec192ae2344acd" /><Relationship Type="http://schemas.openxmlformats.org/officeDocument/2006/relationships/notesSlide" Target="/ppt/notesSlides/notesSlide52.xml" Id="R7b09619a30404823"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6e51ef174fb0426d" /><Relationship Type="http://schemas.openxmlformats.org/officeDocument/2006/relationships/image" Target="/ppt/media/image21.png" Id="R3407013584c549e1" /><Relationship Type="http://schemas.openxmlformats.org/officeDocument/2006/relationships/notesSlide" Target="/ppt/notesSlides/notesSlide53.xml" Id="R23fe8661e4d94100"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xml" Id="R3e344328243e473f" /><Relationship Type="http://schemas.openxmlformats.org/officeDocument/2006/relationships/image" Target="/ppt/media/image21.png" Id="Rebfab110e0f34148" /><Relationship Type="http://schemas.openxmlformats.org/officeDocument/2006/relationships/notesSlide" Target="/ppt/notesSlides/notesSlide54.xml" Id="R501a5cf7be334ad2" /></Relationships>
</file>

<file path=ppt/slides/_rels/slide55.xml.rels>&#65279;<?xml version="1.0" encoding="utf-8"?><Relationships xmlns="http://schemas.openxmlformats.org/package/2006/relationships"><Relationship Type="http://schemas.openxmlformats.org/officeDocument/2006/relationships/slideLayout" Target="/ppt/slideLayouts/slideLayout2.xml" Id="R1db506b3e7cb4cfc" /><Relationship Type="http://schemas.openxmlformats.org/officeDocument/2006/relationships/image" Target="/ppt/media/image22.png" Id="Rd15c9a605cd64f87" /><Relationship Type="http://schemas.openxmlformats.org/officeDocument/2006/relationships/notesSlide" Target="/ppt/notesSlides/notesSlide55.xml" Id="R475e57a755f44d31" /></Relationships>
</file>

<file path=ppt/slides/_rels/slide56.xml.rels>&#65279;<?xml version="1.0" encoding="utf-8"?><Relationships xmlns="http://schemas.openxmlformats.org/package/2006/relationships"><Relationship Type="http://schemas.openxmlformats.org/officeDocument/2006/relationships/slideLayout" Target="/ppt/slideLayouts/slideLayout2.xml" Id="R9a25591438854ecb" /><Relationship Type="http://schemas.openxmlformats.org/officeDocument/2006/relationships/image" Target="/ppt/media/image23.png" Id="Rfdb91bafdae54dfe" /><Relationship Type="http://schemas.openxmlformats.org/officeDocument/2006/relationships/notesSlide" Target="/ppt/notesSlides/notesSlide56.xml" Id="R7fe384e13b8d4004" /></Relationships>
</file>

<file path=ppt/slides/_rels/slide57.xml.rels>&#65279;<?xml version="1.0" encoding="utf-8"?><Relationships xmlns="http://schemas.openxmlformats.org/package/2006/relationships"><Relationship Type="http://schemas.openxmlformats.org/officeDocument/2006/relationships/slideLayout" Target="/ppt/slideLayouts/slideLayout2.xml" Id="R641f4f8ce83a4685" /><Relationship Type="http://schemas.openxmlformats.org/officeDocument/2006/relationships/image" Target="/ppt/media/image23.png" Id="R35d75f73905944ed" /><Relationship Type="http://schemas.openxmlformats.org/officeDocument/2006/relationships/notesSlide" Target="/ppt/notesSlides/notesSlide57.xml" Id="Rb59f198459e84418" /></Relationships>
</file>

<file path=ppt/slides/_rels/slide58.xml.rels>&#65279;<?xml version="1.0" encoding="utf-8"?><Relationships xmlns="http://schemas.openxmlformats.org/package/2006/relationships"><Relationship Type="http://schemas.openxmlformats.org/officeDocument/2006/relationships/slideLayout" Target="/ppt/slideLayouts/slideLayout2.xml" Id="Rb4fcdf7e084a43dc" /><Relationship Type="http://schemas.openxmlformats.org/officeDocument/2006/relationships/notesSlide" Target="/ppt/notesSlides/notesSlide58.xml" Id="R80d4a5e563544e20" /></Relationships>
</file>

<file path=ppt/slides/_rels/slide59.xml.rels>&#65279;<?xml version="1.0" encoding="utf-8"?><Relationships xmlns="http://schemas.openxmlformats.org/package/2006/relationships"><Relationship Type="http://schemas.openxmlformats.org/officeDocument/2006/relationships/slideLayout" Target="/ppt/slideLayouts/slideLayout2.xml" Id="R884aed34cbf6450a" /><Relationship Type="http://schemas.openxmlformats.org/officeDocument/2006/relationships/image" Target="/ppt/media/image24.png" Id="R31bfbd1268194e9c" /><Relationship Type="http://schemas.openxmlformats.org/officeDocument/2006/relationships/notesSlide" Target="/ppt/notesSlides/notesSlide59.xml" Id="Rc5c6e488d23b42a8" /></Relationships>
</file>

<file path=ppt/slides/_rels/slide60.xml.rels>&#65279;<?xml version="1.0" encoding="utf-8"?><Relationships xmlns="http://schemas.openxmlformats.org/package/2006/relationships"><Relationship Type="http://schemas.openxmlformats.org/officeDocument/2006/relationships/slideLayout" Target="/ppt/slideLayouts/slideLayout2.xml" Id="R6083e927d0ee421b" /><Relationship Type="http://schemas.openxmlformats.org/officeDocument/2006/relationships/image" Target="/ppt/media/image24.png" Id="R4860318452494a18" /><Relationship Type="http://schemas.openxmlformats.org/officeDocument/2006/relationships/notesSlide" Target="/ppt/notesSlides/notesSlide60.xml" Id="Rc41def87f2e441f7" /></Relationships>
</file>

<file path=ppt/slides/_rels/slide61.xml.rels>&#65279;<?xml version="1.0" encoding="utf-8"?><Relationships xmlns="http://schemas.openxmlformats.org/package/2006/relationships"><Relationship Type="http://schemas.openxmlformats.org/officeDocument/2006/relationships/slideLayout" Target="/ppt/slideLayouts/slideLayout2.xml" Id="Rcbddbfac2f3b4eee" /><Relationship Type="http://schemas.openxmlformats.org/officeDocument/2006/relationships/notesSlide" Target="/ppt/notesSlides/notesSlide61.xml" Id="Rb7737de767f242c2" /></Relationships>
</file>

<file path=ppt/slides/_rels/slide62.xml.rels>&#65279;<?xml version="1.0" encoding="utf-8"?><Relationships xmlns="http://schemas.openxmlformats.org/package/2006/relationships"><Relationship Type="http://schemas.openxmlformats.org/officeDocument/2006/relationships/slideLayout" Target="/ppt/slideLayouts/slideLayout2.xml" Id="Raf89cbbb0edd4479" /><Relationship Type="http://schemas.openxmlformats.org/officeDocument/2006/relationships/notesSlide" Target="/ppt/notesSlides/notesSlide62.xml" Id="R6f23d2808d8145ca"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AFE0D3E4-C899-464D-977C-F60EDB604487}"/>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CE445335-7FC2-4263-8048-918BF372EE82}"/>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08604D32-402A-41E4-B7B8-80A7FAF312C0}"/>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91EF94E1-DCFD-4119-8DC9-14EBCCD0B2B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1742641064"/>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4">
            <a:extLst xmlns:a="http://schemas.openxmlformats.org/drawingml/2006/main">
              <a:ext uri="{FF2B5EF4-FFF2-40B4-BE49-F238E27FC236}">
                <a16:creationId xmlns:a16="http://schemas.microsoft.com/office/drawing/2014/main" id="{F720F710-9933-48D4-B44E-515D85770A0D}"/>
              </a:ext>
            </a:extLst>
          </p:cNvPr>
          <p:cNvSpPr>
            <a:spLocks xmlns:a="http://schemas.openxmlformats.org/drawingml/2006/main"/>
          </p:cNvSpPr>
          <p:nvPr/>
        </p:nvSpPr>
        <p:spPr>
          <a:xfrm xmlns:a="http://schemas.openxmlformats.org/drawingml/2006/main">
            <a:off x="609600" y="2260600"/>
            <a:ext cx="10972800" cy="233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demo    = </a:t>
            </a:r>
            <a:r>
              <a:rPr b="0">
                <a:solidFill>
                  <a:srgbClr val="FFFCF5"/>
                </a:solidFill>
                <a:latin typeface="Consolas"/>
                <a:ea typeface="Consolas"/>
                <a:cs typeface="Consolas"/>
              </a:rPr>
              <a:t>works</a:t>
            </a:r>
            <a:r>
              <a:rPr b="0">
                <a:solidFill>
                  <a:srgbClr val="FDAD00"/>
                </a:solidFill>
                <a:latin typeface="Consolas"/>
                <a:ea typeface="Consolas"/>
                <a:cs typeface="Consolas"/>
              </a:rPr>
              <a:t>.any()</a:t>
            </a:r>
          </a:p>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product =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6" name="01-text-5">
            <a:extLst xmlns:a="http://schemas.openxmlformats.org/drawingml/2006/main">
              <a:ext uri="{FF2B5EF4-FFF2-40B4-BE49-F238E27FC236}">
                <a16:creationId xmlns:a16="http://schemas.microsoft.com/office/drawing/2014/main" id="{CFEC9D8B-AF70-4E93-A740-1FF0961D4437}"/>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Andrej Karpathy, June 2025</a:t>
            </a:r>
          </a:p>
        </p:txBody>
      </p:sp>
      <p:sp>
        <p:nvSpPr>
          <p:cNvPr id="7" name="narrative-number">
            <a:extLst xmlns:a="http://schemas.openxmlformats.org/drawingml/2006/main">
              <a:ext uri="{FF2B5EF4-FFF2-40B4-BE49-F238E27FC236}">
                <a16:creationId xmlns:a16="http://schemas.microsoft.com/office/drawing/2014/main" id="{7F7B2A20-7BA2-4F51-9E1E-651C65E6391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2460421012"/>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5" name="02-image-1"/>
          <p:cNvPicPr>
            <a:picLocks xmlns:a="http://schemas.openxmlformats.org/drawingml/2006/main" noChangeAspect="1"/>
          </p:cNvPicPr>
          <p:nvPr/>
        </p:nvPicPr>
        <p:blipFill>
          <a:blip xmlns:r="http://schemas.openxmlformats.org/officeDocument/2006/relationships" xmlns:a="http://schemas.openxmlformats.org/drawingml/2006/main" r:embed="R6d136b660b814c62"/>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9" name="02-text-2">
            <a:extLst xmlns:a="http://schemas.openxmlformats.org/drawingml/2006/main">
              <a:ext uri="{FF2B5EF4-FFF2-40B4-BE49-F238E27FC236}">
                <a16:creationId xmlns:a16="http://schemas.microsoft.com/office/drawing/2014/main" id="{4A857F2E-653B-4EE3-BAC9-DDA6E58BD5D8}"/>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10" name="02-text-3">
            <a:extLst xmlns:a="http://schemas.openxmlformats.org/drawingml/2006/main">
              <a:ext uri="{FF2B5EF4-FFF2-40B4-BE49-F238E27FC236}">
                <a16:creationId xmlns:a16="http://schemas.microsoft.com/office/drawing/2014/main" id="{CF21EA58-8B8A-4FD8-8335-A9854AFE0423}"/>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11" name="02-text-4">
            <a:extLst xmlns:a="http://schemas.openxmlformats.org/drawingml/2006/main">
              <a:ext uri="{FF2B5EF4-FFF2-40B4-BE49-F238E27FC236}">
                <a16:creationId xmlns:a16="http://schemas.microsoft.com/office/drawing/2014/main" id="{5D3AB5B9-48AA-45F0-9DF7-458582970A97}"/>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12" name="02-text-5">
            <a:extLst xmlns:a="http://schemas.openxmlformats.org/drawingml/2006/main">
              <a:ext uri="{FF2B5EF4-FFF2-40B4-BE49-F238E27FC236}">
                <a16:creationId xmlns:a16="http://schemas.microsoft.com/office/drawing/2014/main" id="{030E794B-850B-4CD4-8647-62E50D91FAA2}"/>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3" name="02-text-6">
            <a:extLst xmlns:a="http://schemas.openxmlformats.org/drawingml/2006/main">
              <a:ext uri="{FF2B5EF4-FFF2-40B4-BE49-F238E27FC236}">
                <a16:creationId xmlns:a16="http://schemas.microsoft.com/office/drawing/2014/main" id="{C1D9B11A-A3AF-4807-971A-22E3CB556FA9}"/>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4" name="narrative-number">
            <a:extLst xmlns:a="http://schemas.openxmlformats.org/drawingml/2006/main">
              <a:ext uri="{FF2B5EF4-FFF2-40B4-BE49-F238E27FC236}">
                <a16:creationId xmlns:a16="http://schemas.microsoft.com/office/drawing/2014/main" id="{A43D6065-5FA2-4716-865C-639C4149870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249000864"/>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 name="03-text-1">
            <a:extLst xmlns:a="http://schemas.openxmlformats.org/drawingml/2006/main">
              <a:ext uri="{FF2B5EF4-FFF2-40B4-BE49-F238E27FC236}">
                <a16:creationId xmlns:a16="http://schemas.microsoft.com/office/drawing/2014/main" id="{6F4DB10E-4AA5-4318-90CE-9F244E69B378}"/>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16" name="03-text-2">
            <a:extLst xmlns:a="http://schemas.openxmlformats.org/drawingml/2006/main">
              <a:ext uri="{FF2B5EF4-FFF2-40B4-BE49-F238E27FC236}">
                <a16:creationId xmlns:a16="http://schemas.microsoft.com/office/drawing/2014/main" id="{5232FF13-885E-4EA1-94AA-58FDF11BBBF7}"/>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17" name="narrative-number">
            <a:extLst xmlns:a="http://schemas.openxmlformats.org/drawingml/2006/main">
              <a:ext uri="{FF2B5EF4-FFF2-40B4-BE49-F238E27FC236}">
                <a16:creationId xmlns:a16="http://schemas.microsoft.com/office/drawing/2014/main" id="{F3EB7EC3-9DB6-4FE5-B0D2-0E0A23AED53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3656301241"/>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graphicFrame>
        <p:nvGraphicFramePr>
          <p:cNvPr id="20" name="04-table-1"/>
          <p:cNvGraphicFramePr/>
          <p:nvPr/>
        </p:nvGraphicFramePr>
        <p:xfrm>
          <a:off xmlns:a="http://schemas.openxmlformats.org/drawingml/2006/main" x="609600" y="863600"/>
          <a:ext xmlns:a="http://schemas.openxmlformats.org/drawingml/2006/main" cx="10972800" cy="4648200"/>
        </p:xfrm>
        <a:graphic xmlns:a="http://schemas.openxmlformats.org/drawingml/2006/main">
          <a:graphicData uri="http://schemas.openxmlformats.org/drawingml/2006/table">
            <a:tbl>
              <a:tblPr firstRow="0" firstCol="0" lastCol="0" bandRow="0" bandCol="0"/>
              <a:tblGrid>
                <a:gridCol w="5334000"/>
                <a:gridCol w="304800"/>
                <a:gridCol w="5334000"/>
              </a:tblGrid>
              <a:tr h="1143000">
                <a:tc>
                  <a:txBody>
                    <a:bodyPr>
                      <a:noAutofit/>
                    </a:bodyPr>
                    <a:lstStyle/>
                    <a:p>
                      <a:pPr>
                        <a:lnSpc>
                          <a:spcPct val="125000"/>
                        </a:lnSpc>
                        <a:buNone/>
                      </a:pPr>
                      <a:r>
                        <a:rPr sz="2400" b="1">
                          <a:solidFill>
                            <a:srgbClr val="F948BE"/>
                          </a:solidFill>
                          <a:latin typeface="Helvetica"/>
                          <a:ea typeface="Helvetica"/>
                          <a:cs typeface="Helvetica"/>
                        </a:rPr>
                        <a:t>AI in your development</a:t>
                      </a:r>
                    </a:p>
                    <a:p>
                      <a:pPr>
                        <a:lnSpc>
                          <a:spcPct val="125000"/>
                        </a:lnSpc>
                        <a:buNone/>
                      </a:pPr>
                      <a:r>
                        <a:rPr sz="2400" b="1">
                          <a:solidFill>
                            <a:srgbClr val="F948BE"/>
                          </a:solidFill>
                          <a:latin typeface="Helvetica"/>
                          <a:ea typeface="Helvetica"/>
                          <a:cs typeface="Helvetica"/>
                        </a:rPr>
                        <a:t>workflow</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AI in the product</a:t>
                      </a:r>
                    </a:p>
                    <a:p>
                      <a:pPr>
                        <a:lnSpc>
                          <a:spcPct val="125000"/>
                        </a:lnSpc>
                        <a:buNone/>
                      </a:pPr>
                      <a:r>
                        <a:rPr sz="2400" b="1">
                          <a:solidFill>
                            <a:srgbClr val="F948BE"/>
                          </a:solidFill>
                          <a:latin typeface="Helvetica"/>
                          <a:ea typeface="Helvetica"/>
                          <a:cs typeface="Helvetica"/>
                        </a:rPr>
                        <a:t>you deliver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193800">
                <a:tc>
                  <a:txBody>
                    <a:bodyPr>
                      <a:noAutofit/>
                    </a:bodyPr>
                    <a:lstStyle/>
                    <a:p>
                      <a:pPr>
                        <a:lnSpc>
                          <a:spcPct val="125000"/>
                        </a:lnSpc>
                        <a:buNone/>
                      </a:pPr>
                      <a:r>
                        <a:rPr sz="2000" b="0">
                          <a:solidFill>
                            <a:srgbClr val="FFFCF5"/>
                          </a:solidFill>
                          <a:latin typeface="Helvetica"/>
                          <a:ea typeface="Helvetica"/>
                          <a:cs typeface="Helvetica"/>
                        </a:rPr>
                        <a:t>You use model output to help</a:t>
                      </a:r>
                    </a:p>
                    <a:p>
                      <a:pPr>
                        <a:lnSpc>
                          <a:spcPct val="125000"/>
                        </a:lnSpc>
                        <a:buNone/>
                      </a:pPr>
                      <a:r>
                        <a:rPr sz="2000" b="0">
                          <a:solidFill>
                            <a:srgbClr val="FFFCF5"/>
                          </a:solidFill>
                          <a:latin typeface="Helvetica"/>
                          <a:ea typeface="Helvetica"/>
                          <a:cs typeface="Helvetica"/>
                        </a:rPr>
                        <a:t>build an artifact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Users depend on model output or</a:t>
                      </a:r>
                    </a:p>
                    <a:p>
                      <a:pPr>
                        <a:lnSpc>
                          <a:spcPct val="125000"/>
                        </a:lnSpc>
                        <a:buNone/>
                      </a:pPr>
                      <a:r>
                        <a:rPr sz="2000" b="0">
                          <a:solidFill>
                            <a:srgbClr val="FFFCF5"/>
                          </a:solidFill>
                          <a:latin typeface="Helvetica"/>
                          <a:ea typeface="Helvetica"/>
                          <a:cs typeface="Helvetica"/>
                        </a:rPr>
                        <a:t>decisions during operation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041400">
                <a:tc>
                  <a:txBody>
                    <a:bodyPr>
                      <a:noAutofit/>
                    </a:bodyPr>
                    <a:lstStyle/>
                    <a:p>
                      <a:pPr>
                        <a:lnSpc>
                          <a:spcPct val="125000"/>
                        </a:lnSpc>
                        <a:buNone/>
                      </a:pPr>
                      <a:r>
                        <a:rPr sz="2000" b="0">
                          <a:solidFill>
                            <a:srgbClr val="FFFCF5"/>
                          </a:solidFill>
                          <a:latin typeface="Helvetica"/>
                          <a:ea typeface="Helvetica"/>
                          <a:cs typeface="Helvetica"/>
                        </a:rPr>
                        <a:t>You decide what to accept and ship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 design checks, approval steps,</a:t>
                      </a:r>
                    </a:p>
                    <a:p>
                      <a:pPr>
                        <a:lnSpc>
                          <a:spcPct val="125000"/>
                        </a:lnSpc>
                        <a:buNone/>
                      </a:pPr>
                      <a:r>
                        <a:rPr sz="2000" b="0">
                          <a:solidFill>
                            <a:srgbClr val="FFFCF5"/>
                          </a:solidFill>
                          <a:latin typeface="Helvetica"/>
                          <a:ea typeface="Helvetica"/>
                          <a:cs typeface="Helvetica"/>
                        </a:rPr>
                        <a:t>and failure handling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270000">
                <a:tc>
                  <a:txBody>
                    <a:bodyPr>
                      <a:noAutofit/>
                    </a:bodyPr>
                    <a:lstStyle/>
                    <a:p>
                      <a:pPr>
                        <a:lnSpc>
                          <a:spcPct val="125000"/>
                        </a:lnSpc>
                        <a:buNone/>
                      </a:pPr>
                      <a:r>
                        <a:rPr sz="2000" b="0">
                          <a:solidFill>
                            <a:srgbClr val="FFFCF5"/>
                          </a:solidFill>
                          <a:latin typeface="Helvetica"/>
                          <a:ea typeface="Helvetica"/>
                          <a:cs typeface="Helvetica"/>
                        </a:rPr>
                        <a:t>Your coding-tool provider operates</a:t>
                      </a:r>
                    </a:p>
                    <a:p>
                      <a:pPr>
                        <a:lnSpc>
                          <a:spcPct val="125000"/>
                        </a:lnSpc>
                        <a:buNone/>
                      </a:pPr>
                      <a:r>
                        <a:rPr sz="2000" b="0">
                          <a:solidFill>
                            <a:srgbClr val="FFFCF5"/>
                          </a:solidFill>
                          <a:latin typeface="Helvetica"/>
                          <a:ea typeface="Helvetica"/>
                          <a:cs typeface="Helvetica"/>
                        </a:rPr>
                        <a:t>the agent platform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team owns the product's</a:t>
                      </a:r>
                    </a:p>
                    <a:p>
                      <a:pPr>
                        <a:lnSpc>
                          <a:spcPct val="125000"/>
                        </a:lnSpc>
                        <a:buNone/>
                      </a:pPr>
                      <a:r>
                        <a:rPr sz="2000" b="0">
                          <a:solidFill>
                            <a:srgbClr val="FFFCF5"/>
                          </a:solidFill>
                          <a:latin typeface="Helvetica"/>
                          <a:ea typeface="Helvetica"/>
                          <a:cs typeface="Helvetica"/>
                        </a:rPr>
                        <a:t>behavior and operating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9" name="narrative-number">
            <a:extLst xmlns:a="http://schemas.openxmlformats.org/drawingml/2006/main">
              <a:ext uri="{FF2B5EF4-FFF2-40B4-BE49-F238E27FC236}">
                <a16:creationId xmlns:a16="http://schemas.microsoft.com/office/drawing/2014/main" id="{590C7CDB-23AE-401A-B5BC-2C4B31A13D5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169521161"/>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 name="04-text-2">
            <a:extLst xmlns:a="http://schemas.openxmlformats.org/drawingml/2006/main">
              <a:ext uri="{FF2B5EF4-FFF2-40B4-BE49-F238E27FC236}">
                <a16:creationId xmlns:a16="http://schemas.microsoft.com/office/drawing/2014/main" id="{216D1E17-6FE4-4D60-885C-79D10B965388}"/>
              </a:ext>
            </a:extLst>
          </p:cNvPr>
          <p:cNvSpPr>
            <a:spLocks xmlns:a="http://schemas.openxmlformats.org/drawingml/2006/main"/>
          </p:cNvSpPr>
          <p:nvPr/>
        </p:nvSpPr>
        <p:spPr>
          <a:xfrm xmlns:a="http://schemas.openxmlformats.org/drawingml/2006/main">
            <a:off x="1397000" y="1676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21" name="04-text-3">
            <a:extLst xmlns:a="http://schemas.openxmlformats.org/drawingml/2006/main">
              <a:ext uri="{FF2B5EF4-FFF2-40B4-BE49-F238E27FC236}">
                <a16:creationId xmlns:a16="http://schemas.microsoft.com/office/drawing/2014/main" id="{DBA9F638-46DA-4435-BEB2-397900F14C53}"/>
              </a:ext>
            </a:extLst>
          </p:cNvPr>
          <p:cNvSpPr>
            <a:spLocks xmlns:a="http://schemas.openxmlformats.org/drawingml/2006/main"/>
          </p:cNvSpPr>
          <p:nvPr/>
        </p:nvSpPr>
        <p:spPr>
          <a:xfrm xmlns:a="http://schemas.openxmlformats.org/drawingml/2006/main">
            <a:off x="1905000" y="1676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compelling prototype is not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 production readiness.</a:t>
            </a:r>
          </a:p>
        </p:txBody>
      </p:sp>
      <p:sp>
        <p:nvSpPr>
          <p:cNvPr id="22" name="04-text-4">
            <a:extLst xmlns:a="http://schemas.openxmlformats.org/drawingml/2006/main">
              <a:ext uri="{FF2B5EF4-FFF2-40B4-BE49-F238E27FC236}">
                <a16:creationId xmlns:a16="http://schemas.microsoft.com/office/drawing/2014/main" id="{24189ABE-6678-419F-8ACE-C15CFE6819D1}"/>
              </a:ext>
            </a:extLst>
          </p:cNvPr>
          <p:cNvSpPr>
            <a:spLocks xmlns:a="http://schemas.openxmlformats.org/drawingml/2006/main"/>
          </p:cNvSpPr>
          <p:nvPr/>
        </p:nvSpPr>
        <p:spPr>
          <a:xfrm xmlns:a="http://schemas.openxmlformats.org/drawingml/2006/main">
            <a:off x="1397000" y="3200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23" name="04-text-5">
            <a:extLst xmlns:a="http://schemas.openxmlformats.org/drawingml/2006/main">
              <a:ext uri="{FF2B5EF4-FFF2-40B4-BE49-F238E27FC236}">
                <a16:creationId xmlns:a16="http://schemas.microsoft.com/office/drawing/2014/main" id="{90CBE5BE-4C39-43A1-AF29-76EA2B747319}"/>
              </a:ext>
            </a:extLst>
          </p:cNvPr>
          <p:cNvSpPr>
            <a:spLocks xmlns:a="http://schemas.openxmlformats.org/drawingml/2006/main"/>
          </p:cNvSpPr>
          <p:nvPr/>
        </p:nvSpPr>
        <p:spPr>
          <a:xfrm xmlns:a="http://schemas.openxmlformats.org/drawingml/2006/main">
            <a:off x="1905000" y="3200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Traditional tests are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but no longer sufficient.</a:t>
            </a:r>
          </a:p>
        </p:txBody>
      </p:sp>
      <p:sp>
        <p:nvSpPr>
          <p:cNvPr id="24" name="04-text-6">
            <a:extLst xmlns:a="http://schemas.openxmlformats.org/drawingml/2006/main">
              <a:ext uri="{FF2B5EF4-FFF2-40B4-BE49-F238E27FC236}">
                <a16:creationId xmlns:a16="http://schemas.microsoft.com/office/drawing/2014/main" id="{A5EDA642-70A1-46DB-9B17-3F73B0820447}"/>
              </a:ext>
            </a:extLst>
          </p:cNvPr>
          <p:cNvSpPr>
            <a:spLocks xmlns:a="http://schemas.openxmlformats.org/drawingml/2006/main"/>
          </p:cNvSpPr>
          <p:nvPr/>
        </p:nvSpPr>
        <p:spPr>
          <a:xfrm xmlns:a="http://schemas.openxmlformats.org/drawingml/2006/main">
            <a:off x="1397000" y="4724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25" name="04-text-7">
            <a:extLst xmlns:a="http://schemas.openxmlformats.org/drawingml/2006/main">
              <a:ext uri="{FF2B5EF4-FFF2-40B4-BE49-F238E27FC236}">
                <a16:creationId xmlns:a16="http://schemas.microsoft.com/office/drawing/2014/main" id="{97B3008A-32FA-468B-B7AD-1E340E967070}"/>
              </a:ext>
            </a:extLst>
          </p:cNvPr>
          <p:cNvSpPr>
            <a:spLocks xmlns:a="http://schemas.openxmlformats.org/drawingml/2006/main"/>
          </p:cNvSpPr>
          <p:nvPr/>
        </p:nvSpPr>
        <p:spPr>
          <a:xfrm xmlns:a="http://schemas.openxmlformats.org/drawingml/2006/main">
            <a:off x="1905000" y="4724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does not stop at deployment.</a:t>
            </a:r>
          </a:p>
        </p:txBody>
      </p:sp>
      <p:sp>
        <p:nvSpPr>
          <p:cNvPr id="26" name="04-text-8">
            <a:extLst xmlns:a="http://schemas.openxmlformats.org/drawingml/2006/main">
              <a:ext uri="{FF2B5EF4-FFF2-40B4-BE49-F238E27FC236}">
                <a16:creationId xmlns:a16="http://schemas.microsoft.com/office/drawing/2014/main" id="{F0337FEA-DACE-4117-89E1-EA711BFEB8FE}"/>
              </a:ext>
            </a:extLst>
          </p:cNvPr>
          <p:cNvSpPr>
            <a:spLocks xmlns:a="http://schemas.openxmlformats.org/drawingml/2006/main"/>
          </p:cNvSpPr>
          <p:nvPr/>
        </p:nvSpPr>
        <p:spPr>
          <a:xfrm xmlns:a="http://schemas.openxmlformats.org/drawingml/2006/main">
            <a:off x="1905000" y="2603500"/>
            <a:ext cx="899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FFFCF5"/>
                </a:solidFill>
                <a:latin typeface="Consolas"/>
                <a:ea typeface="Consolas"/>
                <a:cs typeface="Consolas"/>
              </a:rPr>
              <a:t>works</a:t>
            </a:r>
            <a:r>
              <a:rPr b="0">
                <a:solidFill>
                  <a:srgbClr val="FDAD00"/>
                </a:solidFill>
                <a:latin typeface="Consolas"/>
                <a:ea typeface="Consolas"/>
                <a:cs typeface="Consolas"/>
              </a:rPr>
              <a:t>.any()</a:t>
            </a:r>
            <a:r>
              <a:rPr b="0">
                <a:solidFill>
                  <a:srgbClr val="ADACA9"/>
                </a:solidFill>
                <a:latin typeface="Helvetica"/>
                <a:ea typeface="Helvetica"/>
                <a:cs typeface="Helvetica"/>
              </a:rPr>
              <a:t> is not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27" name="narrative-number">
            <a:extLst xmlns:a="http://schemas.openxmlformats.org/drawingml/2006/main">
              <a:ext uri="{FF2B5EF4-FFF2-40B4-BE49-F238E27FC236}">
                <a16:creationId xmlns:a16="http://schemas.microsoft.com/office/drawing/2014/main" id="{6D3900E5-9019-4D32-B030-7231F5EF33F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2242474623"/>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 name="05-text-1">
            <a:extLst xmlns:a="http://schemas.openxmlformats.org/drawingml/2006/main">
              <a:ext uri="{FF2B5EF4-FFF2-40B4-BE49-F238E27FC236}">
                <a16:creationId xmlns:a16="http://schemas.microsoft.com/office/drawing/2014/main" id="{DBFD258E-B24F-4455-B674-C56E81C2D732}"/>
              </a:ext>
            </a:extLst>
          </p:cNvPr>
          <p:cNvSpPr>
            <a:spLocks xmlns:a="http://schemas.openxmlformats.org/drawingml/2006/main"/>
          </p:cNvSpPr>
          <p:nvPr/>
        </p:nvSpPr>
        <p:spPr>
          <a:xfrm xmlns:a="http://schemas.openxmlformats.org/drawingml/2006/main">
            <a:off x="609600" y="8636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You will leave with</a:t>
            </a:r>
          </a:p>
        </p:txBody>
      </p:sp>
      <p:sp>
        <p:nvSpPr>
          <p:cNvPr id="29" name="05-text-2">
            <a:extLst xmlns:a="http://schemas.openxmlformats.org/drawingml/2006/main">
              <a:ext uri="{FF2B5EF4-FFF2-40B4-BE49-F238E27FC236}">
                <a16:creationId xmlns:a16="http://schemas.microsoft.com/office/drawing/2014/main" id="{87F16FD2-8D64-4EFF-BC3D-7CFA6C691C7A}"/>
              </a:ext>
            </a:extLst>
          </p:cNvPr>
          <p:cNvSpPr>
            <a:spLocks xmlns:a="http://schemas.openxmlformats.org/drawingml/2006/main"/>
          </p:cNvSpPr>
          <p:nvPr/>
        </p:nvSpPr>
        <p:spPr>
          <a:xfrm xmlns:a="http://schemas.openxmlformats.org/drawingml/2006/main">
            <a:off x="6248400" y="8636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Agenda</a:t>
            </a:r>
          </a:p>
        </p:txBody>
      </p:sp>
      <p:sp>
        <p:nvSpPr>
          <p:cNvPr id="30" name="05-text-3">
            <a:extLst xmlns:a="http://schemas.openxmlformats.org/drawingml/2006/main">
              <a:ext uri="{FF2B5EF4-FFF2-40B4-BE49-F238E27FC236}">
                <a16:creationId xmlns:a16="http://schemas.microsoft.com/office/drawing/2014/main" id="{AFD9831F-B836-4D2E-A655-12AD2A5FF632}"/>
              </a:ext>
            </a:extLst>
          </p:cNvPr>
          <p:cNvSpPr>
            <a:spLocks xmlns:a="http://schemas.openxmlformats.org/drawingml/2006/main"/>
          </p:cNvSpPr>
          <p:nvPr/>
        </p:nvSpPr>
        <p:spPr>
          <a:xfrm xmlns:a="http://schemas.openxmlformats.org/drawingml/2006/main">
            <a:off x="609600" y="173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31" name="05-text-4">
            <a:extLst xmlns:a="http://schemas.openxmlformats.org/drawingml/2006/main">
              <a:ext uri="{FF2B5EF4-FFF2-40B4-BE49-F238E27FC236}">
                <a16:creationId xmlns:a16="http://schemas.microsoft.com/office/drawing/2014/main" id="{DE9F01F0-07C4-42EC-AC58-40CD01345966}"/>
              </a:ext>
            </a:extLst>
          </p:cNvPr>
          <p:cNvSpPr>
            <a:spLocks xmlns:a="http://schemas.openxmlformats.org/drawingml/2006/main"/>
          </p:cNvSpPr>
          <p:nvPr/>
        </p:nvSpPr>
        <p:spPr>
          <a:xfrm xmlns:a="http://schemas.openxmlformats.org/drawingml/2006/main">
            <a:off x="1117600" y="173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conceptual map of</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discipline.</a:t>
            </a:r>
          </a:p>
        </p:txBody>
      </p:sp>
      <p:sp>
        <p:nvSpPr>
          <p:cNvPr id="32" name="05-text-5">
            <a:extLst xmlns:a="http://schemas.openxmlformats.org/drawingml/2006/main">
              <a:ext uri="{FF2B5EF4-FFF2-40B4-BE49-F238E27FC236}">
                <a16:creationId xmlns:a16="http://schemas.microsoft.com/office/drawing/2014/main" id="{02BA7C04-998E-4E26-8417-237AB816F4A9}"/>
              </a:ext>
            </a:extLst>
          </p:cNvPr>
          <p:cNvSpPr>
            <a:spLocks xmlns:a="http://schemas.openxmlformats.org/drawingml/2006/main"/>
          </p:cNvSpPr>
          <p:nvPr/>
        </p:nvSpPr>
        <p:spPr>
          <a:xfrm xmlns:a="http://schemas.openxmlformats.org/drawingml/2006/main">
            <a:off x="609600" y="300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33" name="05-text-6">
            <a:extLst xmlns:a="http://schemas.openxmlformats.org/drawingml/2006/main">
              <a:ext uri="{FF2B5EF4-FFF2-40B4-BE49-F238E27FC236}">
                <a16:creationId xmlns:a16="http://schemas.microsoft.com/office/drawing/2014/main" id="{E4DEC608-D48F-43B1-A277-DB5946BC4D29}"/>
              </a:ext>
            </a:extLst>
          </p:cNvPr>
          <p:cNvSpPr>
            <a:spLocks xmlns:a="http://schemas.openxmlformats.org/drawingml/2006/main"/>
          </p:cNvSpPr>
          <p:nvPr/>
        </p:nvSpPr>
        <p:spPr>
          <a:xfrm xmlns:a="http://schemas.openxmlformats.org/drawingml/2006/main">
            <a:off x="1117600" y="300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 honest sense of</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how much there is.</a:t>
            </a:r>
          </a:p>
        </p:txBody>
      </p:sp>
      <p:sp>
        <p:nvSpPr>
          <p:cNvPr id="34" name="05-text-7">
            <a:extLst xmlns:a="http://schemas.openxmlformats.org/drawingml/2006/main">
              <a:ext uri="{FF2B5EF4-FFF2-40B4-BE49-F238E27FC236}">
                <a16:creationId xmlns:a16="http://schemas.microsoft.com/office/drawing/2014/main" id="{E038379F-085E-46D9-8838-6F05968A32D8}"/>
              </a:ext>
            </a:extLst>
          </p:cNvPr>
          <p:cNvSpPr>
            <a:spLocks xmlns:a="http://schemas.openxmlformats.org/drawingml/2006/main"/>
          </p:cNvSpPr>
          <p:nvPr/>
        </p:nvSpPr>
        <p:spPr>
          <a:xfrm xmlns:a="http://schemas.openxmlformats.org/drawingml/2006/main">
            <a:off x="609600" y="427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35" name="05-text-8">
            <a:extLst xmlns:a="http://schemas.openxmlformats.org/drawingml/2006/main">
              <a:ext uri="{FF2B5EF4-FFF2-40B4-BE49-F238E27FC236}">
                <a16:creationId xmlns:a16="http://schemas.microsoft.com/office/drawing/2014/main" id="{14B6F8C4-4EA6-42AB-A0A1-96AFA0940DEB}"/>
              </a:ext>
            </a:extLst>
          </p:cNvPr>
          <p:cNvSpPr>
            <a:spLocks xmlns:a="http://schemas.openxmlformats.org/drawingml/2006/main"/>
          </p:cNvSpPr>
          <p:nvPr/>
        </p:nvSpPr>
        <p:spPr>
          <a:xfrm xmlns:a="http://schemas.openxmlformats.org/drawingml/2006/main">
            <a:off x="1117600" y="427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roadmap for making</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transition.</a:t>
            </a:r>
          </a:p>
        </p:txBody>
      </p:sp>
      <p:sp>
        <p:nvSpPr>
          <p:cNvPr id="36" name="05-text-9">
            <a:extLst xmlns:a="http://schemas.openxmlformats.org/drawingml/2006/main">
              <a:ext uri="{FF2B5EF4-FFF2-40B4-BE49-F238E27FC236}">
                <a16:creationId xmlns:a16="http://schemas.microsoft.com/office/drawing/2014/main" id="{0C06C214-E21A-4357-8B9D-6B0FBC782F59}"/>
              </a:ext>
            </a:extLst>
          </p:cNvPr>
          <p:cNvSpPr>
            <a:spLocks xmlns:a="http://schemas.openxmlformats.org/drawingml/2006/main"/>
          </p:cNvSpPr>
          <p:nvPr/>
        </p:nvSpPr>
        <p:spPr>
          <a:xfrm xmlns:a="http://schemas.openxmlformats.org/drawingml/2006/main">
            <a:off x="6248400" y="17399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map.</a:t>
            </a:r>
          </a:p>
        </p:txBody>
      </p:sp>
      <p:sp>
        <p:nvSpPr>
          <p:cNvPr id="37" name="05-text-10">
            <a:extLst xmlns:a="http://schemas.openxmlformats.org/drawingml/2006/main">
              <a:ext uri="{FF2B5EF4-FFF2-40B4-BE49-F238E27FC236}">
                <a16:creationId xmlns:a16="http://schemas.microsoft.com/office/drawing/2014/main" id="{5FA0B1CB-4702-4439-94B4-A7619AB088A5}"/>
              </a:ext>
            </a:extLst>
          </p:cNvPr>
          <p:cNvSpPr>
            <a:spLocks xmlns:a="http://schemas.openxmlformats.org/drawingml/2006/main"/>
          </p:cNvSpPr>
          <p:nvPr/>
        </p:nvSpPr>
        <p:spPr>
          <a:xfrm xmlns:a="http://schemas.openxmlformats.org/drawingml/2006/main">
            <a:off x="10185400" y="17399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2 min</a:t>
            </a:r>
          </a:p>
        </p:txBody>
      </p:sp>
      <p:sp>
        <p:nvSpPr>
          <p:cNvPr id="38" name="05-text-11">
            <a:extLst xmlns:a="http://schemas.openxmlformats.org/drawingml/2006/main">
              <a:ext uri="{FF2B5EF4-FFF2-40B4-BE49-F238E27FC236}">
                <a16:creationId xmlns:a16="http://schemas.microsoft.com/office/drawing/2014/main" id="{29FA750C-F5DC-4217-B3C4-4B34F8A7D730}"/>
              </a:ext>
            </a:extLst>
          </p:cNvPr>
          <p:cNvSpPr>
            <a:spLocks xmlns:a="http://schemas.openxmlformats.org/drawingml/2006/main"/>
          </p:cNvSpPr>
          <p:nvPr/>
        </p:nvSpPr>
        <p:spPr>
          <a:xfrm xmlns:a="http://schemas.openxmlformats.org/drawingml/2006/main">
            <a:off x="6248400" y="26289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Six areas.</a:t>
            </a:r>
          </a:p>
        </p:txBody>
      </p:sp>
      <p:sp>
        <p:nvSpPr>
          <p:cNvPr id="39" name="05-text-12">
            <a:extLst xmlns:a="http://schemas.openxmlformats.org/drawingml/2006/main">
              <a:ext uri="{FF2B5EF4-FFF2-40B4-BE49-F238E27FC236}">
                <a16:creationId xmlns:a16="http://schemas.microsoft.com/office/drawing/2014/main" id="{819A6A97-8B42-4683-A6DC-50453E6FD2CE}"/>
              </a:ext>
            </a:extLst>
          </p:cNvPr>
          <p:cNvSpPr>
            <a:spLocks xmlns:a="http://schemas.openxmlformats.org/drawingml/2006/main"/>
          </p:cNvSpPr>
          <p:nvPr/>
        </p:nvSpPr>
        <p:spPr>
          <a:xfrm xmlns:a="http://schemas.openxmlformats.org/drawingml/2006/main">
            <a:off x="10185400" y="26289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23 min</a:t>
            </a:r>
          </a:p>
        </p:txBody>
      </p:sp>
      <p:sp>
        <p:nvSpPr>
          <p:cNvPr id="40" name="05-text-13">
            <a:extLst xmlns:a="http://schemas.openxmlformats.org/drawingml/2006/main">
              <a:ext uri="{FF2B5EF4-FFF2-40B4-BE49-F238E27FC236}">
                <a16:creationId xmlns:a16="http://schemas.microsoft.com/office/drawing/2014/main" id="{3130C8F9-4F08-4D68-B060-ED87A0364978}"/>
              </a:ext>
            </a:extLst>
          </p:cNvPr>
          <p:cNvSpPr>
            <a:spLocks xmlns:a="http://schemas.openxmlformats.org/drawingml/2006/main"/>
          </p:cNvSpPr>
          <p:nvPr/>
        </p:nvSpPr>
        <p:spPr>
          <a:xfrm xmlns:a="http://schemas.openxmlformats.org/drawingml/2006/main">
            <a:off x="6248400" y="43434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transition.</a:t>
            </a:r>
          </a:p>
        </p:txBody>
      </p:sp>
      <p:sp>
        <p:nvSpPr>
          <p:cNvPr id="41" name="05-text-14">
            <a:extLst xmlns:a="http://schemas.openxmlformats.org/drawingml/2006/main">
              <a:ext uri="{FF2B5EF4-FFF2-40B4-BE49-F238E27FC236}">
                <a16:creationId xmlns:a16="http://schemas.microsoft.com/office/drawing/2014/main" id="{3F80FC8C-974F-47CE-A229-DBD7BA780555}"/>
              </a:ext>
            </a:extLst>
          </p:cNvPr>
          <p:cNvSpPr>
            <a:spLocks xmlns:a="http://schemas.openxmlformats.org/drawingml/2006/main"/>
          </p:cNvSpPr>
          <p:nvPr/>
        </p:nvSpPr>
        <p:spPr>
          <a:xfrm xmlns:a="http://schemas.openxmlformats.org/drawingml/2006/main">
            <a:off x="10185400" y="43434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5 min</a:t>
            </a:r>
          </a:p>
        </p:txBody>
      </p:sp>
      <p:sp>
        <p:nvSpPr>
          <p:cNvPr id="42" name="05-text-15">
            <a:extLst xmlns:a="http://schemas.openxmlformats.org/drawingml/2006/main">
              <a:ext uri="{FF2B5EF4-FFF2-40B4-BE49-F238E27FC236}">
                <a16:creationId xmlns:a16="http://schemas.microsoft.com/office/drawing/2014/main" id="{0725821A-7F62-4C27-914D-AB485F7CF2D2}"/>
              </a:ext>
            </a:extLst>
          </p:cNvPr>
          <p:cNvSpPr>
            <a:spLocks xmlns:a="http://schemas.openxmlformats.org/drawingml/2006/main"/>
          </p:cNvSpPr>
          <p:nvPr/>
        </p:nvSpPr>
        <p:spPr>
          <a:xfrm xmlns:a="http://schemas.openxmlformats.org/drawingml/2006/main">
            <a:off x="6248400" y="52324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Your questions.</a:t>
            </a:r>
          </a:p>
        </p:txBody>
      </p:sp>
      <p:sp>
        <p:nvSpPr>
          <p:cNvPr id="43" name="05-text-16">
            <a:extLst xmlns:a="http://schemas.openxmlformats.org/drawingml/2006/main">
              <a:ext uri="{FF2B5EF4-FFF2-40B4-BE49-F238E27FC236}">
                <a16:creationId xmlns:a16="http://schemas.microsoft.com/office/drawing/2014/main" id="{44518B20-EC43-4258-969F-3F0D3BDC287C}"/>
              </a:ext>
            </a:extLst>
          </p:cNvPr>
          <p:cNvSpPr>
            <a:spLocks xmlns:a="http://schemas.openxmlformats.org/drawingml/2006/main"/>
          </p:cNvSpPr>
          <p:nvPr/>
        </p:nvSpPr>
        <p:spPr>
          <a:xfrm xmlns:a="http://schemas.openxmlformats.org/drawingml/2006/main">
            <a:off x="10185400" y="52324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15 min</a:t>
            </a:r>
          </a:p>
        </p:txBody>
      </p:sp>
      <p:sp>
        <p:nvSpPr>
          <p:cNvPr id="44" name="05-text-17">
            <a:extLst xmlns:a="http://schemas.openxmlformats.org/drawingml/2006/main">
              <a:ext uri="{FF2B5EF4-FFF2-40B4-BE49-F238E27FC236}">
                <a16:creationId xmlns:a16="http://schemas.microsoft.com/office/drawing/2014/main" id="{CA5EF83D-E039-436B-A98E-EA454CEFBB47}"/>
              </a:ext>
            </a:extLst>
          </p:cNvPr>
          <p:cNvSpPr>
            <a:spLocks xmlns:a="http://schemas.openxmlformats.org/drawingml/2006/main"/>
          </p:cNvSpPr>
          <p:nvPr/>
        </p:nvSpPr>
        <p:spPr>
          <a:xfrm xmlns:a="http://schemas.openxmlformats.org/drawingml/2006/main">
            <a:off x="6502400" y="3149600"/>
            <a:ext cx="50800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1064F8"/>
                </a:solidFill>
                <a:latin typeface="Helvetica"/>
                <a:ea typeface="Helvetica"/>
                <a:cs typeface="Helvetica"/>
              </a:rPr>
              <a:t>Models</a:t>
            </a:r>
            <a:r>
              <a:rPr b="0">
                <a:solidFill>
                  <a:srgbClr val="ADACA9"/>
                </a:solidFill>
                <a:latin typeface="Helvetica"/>
                <a:ea typeface="Helvetica"/>
                <a:cs typeface="Helvetica"/>
              </a:rPr>
              <a:t> · </a:t>
            </a:r>
            <a:r>
              <a:rPr b="0">
                <a:solidFill>
                  <a:srgbClr val="F948BE"/>
                </a:solidFill>
                <a:latin typeface="Helvetica"/>
                <a:ea typeface="Helvetica"/>
                <a:cs typeface="Helvetica"/>
              </a:rPr>
              <a:t>Context and knowledge</a:t>
            </a:r>
            <a:r>
              <a:rPr b="0">
                <a:solidFill>
                  <a:srgbClr val="ADACA9"/>
                </a:solidFill>
                <a:latin typeface="Helvetica"/>
                <a:ea typeface="Helvetica"/>
                <a:cs typeface="Helvetica"/>
              </a:rPr>
              <a:t> · </a:t>
            </a:r>
            <a:r>
              <a:rPr b="0">
                <a:solidFill>
                  <a:srgbClr val="F948BE"/>
                </a:solidFill>
                <a:latin typeface="Helvetica"/>
                <a:ea typeface="Helvetica"/>
                <a:cs typeface="Helvetica"/>
              </a:rPr>
              <a:t>Tools</a:t>
            </a:r>
          </a:p>
          <a:p xmlns:a="http://schemas.openxmlformats.org/drawingml/2006/main">
            <a:pPr algn="l">
              <a:lnSpc>
                <a:spcPct val="125000"/>
              </a:lnSpc>
              <a:defRPr sz="1600" b="0">
                <a:solidFill>
                  <a:srgbClr val="FFFCF5"/>
                </a:solidFill>
                <a:latin typeface="Helvetica"/>
                <a:ea typeface="Helvetica"/>
                <a:cs typeface="Helvetica"/>
              </a:defRPr>
            </a:pPr>
            <a:r>
              <a:rPr b="0">
                <a:solidFill>
                  <a:srgbClr val="F948BE"/>
                </a:solidFill>
                <a:latin typeface="Helvetica"/>
                <a:ea typeface="Helvetica"/>
                <a:cs typeface="Helvetica"/>
              </a:rPr>
              <a:t>Orchestration</a:t>
            </a:r>
            <a:r>
              <a:rPr b="0">
                <a:solidFill>
                  <a:srgbClr val="ADACA9"/>
                </a:solidFill>
                <a:latin typeface="Helvetica"/>
                <a:ea typeface="Helvetica"/>
                <a:cs typeface="Helvetica"/>
              </a:rPr>
              <a:t> · </a:t>
            </a:r>
            <a:r>
              <a:rPr b="0">
                <a:solidFill>
                  <a:srgbClr val="01B66D"/>
                </a:solidFill>
                <a:latin typeface="Helvetica"/>
                <a:ea typeface="Helvetica"/>
                <a:cs typeface="Helvetica"/>
              </a:rPr>
              <a:t>Verification and evals</a:t>
            </a:r>
          </a:p>
          <a:p xmlns:a="http://schemas.openxmlformats.org/drawingml/2006/main">
            <a:pPr algn="l">
              <a:lnSpc>
                <a:spcPct val="125000"/>
              </a:lnSpc>
              <a:defRPr sz="1600" b="0">
                <a:solidFill>
                  <a:srgbClr val="FFFCF5"/>
                </a:solidFill>
                <a:latin typeface="Helvetica"/>
                <a:ea typeface="Helvetica"/>
                <a:cs typeface="Helvetica"/>
              </a:defRPr>
            </a:pPr>
            <a:r>
              <a:rPr b="0">
                <a:solidFill>
                  <a:srgbClr val="FDAD00"/>
                </a:solidFill>
                <a:latin typeface="Helvetica"/>
                <a:ea typeface="Helvetica"/>
                <a:cs typeface="Helvetica"/>
              </a:rPr>
              <a:t>Operating it</a:t>
            </a:r>
          </a:p>
        </p:txBody>
      </p:sp>
      <p:sp>
        <p:nvSpPr>
          <p:cNvPr id="45" name="05-text-18">
            <a:extLst xmlns:a="http://schemas.openxmlformats.org/drawingml/2006/main">
              <a:ext uri="{FF2B5EF4-FFF2-40B4-BE49-F238E27FC236}">
                <a16:creationId xmlns:a16="http://schemas.microsoft.com/office/drawing/2014/main" id="{A3591873-1A84-4A15-897F-0EE15AA3625C}"/>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When you are the user · What someone engineered · When you are the owner</a:t>
            </a:r>
          </a:p>
        </p:txBody>
      </p:sp>
      <p:sp>
        <p:nvSpPr>
          <p:cNvPr id="46" name="narrative-number">
            <a:extLst xmlns:a="http://schemas.openxmlformats.org/drawingml/2006/main">
              <a:ext uri="{FF2B5EF4-FFF2-40B4-BE49-F238E27FC236}">
                <a16:creationId xmlns:a16="http://schemas.microsoft.com/office/drawing/2014/main" id="{653773F8-9E6C-4B26-A062-288729C66C8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3843512817"/>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 name="section-label">
            <a:extLst xmlns:a="http://schemas.openxmlformats.org/drawingml/2006/main">
              <a:ext uri="{FF2B5EF4-FFF2-40B4-BE49-F238E27FC236}">
                <a16:creationId xmlns:a16="http://schemas.microsoft.com/office/drawing/2014/main" id="{0EB625E8-9741-4251-8679-F22486E378EB}"/>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48" name="section-rule">
            <a:extLst xmlns:a="http://schemas.openxmlformats.org/drawingml/2006/main">
              <a:ext uri="{FF2B5EF4-FFF2-40B4-BE49-F238E27FC236}">
                <a16:creationId xmlns:a16="http://schemas.microsoft.com/office/drawing/2014/main" id="{2AC7684C-8EFE-4D8A-B170-9151A898A88A}"/>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9" name="section-title">
            <a:extLst xmlns:a="http://schemas.openxmlformats.org/drawingml/2006/main">
              <a:ext uri="{FF2B5EF4-FFF2-40B4-BE49-F238E27FC236}">
                <a16:creationId xmlns:a16="http://schemas.microsoft.com/office/drawing/2014/main" id="{516344E7-043A-42A4-9097-477375100BA8}"/>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50" name="narrative-number">
            <a:extLst xmlns:a="http://schemas.openxmlformats.org/drawingml/2006/main">
              <a:ext uri="{FF2B5EF4-FFF2-40B4-BE49-F238E27FC236}">
                <a16:creationId xmlns:a16="http://schemas.microsoft.com/office/drawing/2014/main" id="{4860555E-29DC-4B08-9D62-51C77BB7320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1759833870"/>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3" name="07-image-1"/>
          <p:cNvPicPr>
            <a:picLocks xmlns:a="http://schemas.openxmlformats.org/drawingml/2006/main" noChangeAspect="1"/>
          </p:cNvPicPr>
          <p:nvPr/>
        </p:nvPicPr>
        <p:blipFill>
          <a:blip xmlns:r="http://schemas.openxmlformats.org/officeDocument/2006/relationships" xmlns:a="http://schemas.openxmlformats.org/drawingml/2006/main" r:embed="R65643990358b44f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2" name="narrative-number">
            <a:extLst xmlns:a="http://schemas.openxmlformats.org/drawingml/2006/main">
              <a:ext uri="{FF2B5EF4-FFF2-40B4-BE49-F238E27FC236}">
                <a16:creationId xmlns:a16="http://schemas.microsoft.com/office/drawing/2014/main" id="{8C7C049A-CB29-4B59-ACD8-CB33A6F5170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3427477645"/>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5" name="07-image-2"/>
          <p:cNvPicPr>
            <a:picLocks xmlns:a="http://schemas.openxmlformats.org/drawingml/2006/main" noChangeAspect="1"/>
          </p:cNvPicPr>
          <p:nvPr/>
        </p:nvPicPr>
        <p:blipFill>
          <a:blip xmlns:r="http://schemas.openxmlformats.org/officeDocument/2006/relationships" xmlns:a="http://schemas.openxmlformats.org/drawingml/2006/main" r:embed="R09604a06c94541f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4" name="narrative-number">
            <a:extLst xmlns:a="http://schemas.openxmlformats.org/drawingml/2006/main">
              <a:ext uri="{FF2B5EF4-FFF2-40B4-BE49-F238E27FC236}">
                <a16:creationId xmlns:a16="http://schemas.microsoft.com/office/drawing/2014/main" id="{619B0729-BDF3-4B3A-94B3-04FF3AEDA79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740278356"/>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7" name="07-image-3"/>
          <p:cNvPicPr>
            <a:picLocks xmlns:a="http://schemas.openxmlformats.org/drawingml/2006/main" noChangeAspect="1"/>
          </p:cNvPicPr>
          <p:nvPr/>
        </p:nvPicPr>
        <p:blipFill>
          <a:blip xmlns:r="http://schemas.openxmlformats.org/officeDocument/2006/relationships" xmlns:a="http://schemas.openxmlformats.org/drawingml/2006/main" r:embed="R2cd75d7e84a4423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6" name="narrative-number">
            <a:extLst xmlns:a="http://schemas.openxmlformats.org/drawingml/2006/main">
              <a:ext uri="{FF2B5EF4-FFF2-40B4-BE49-F238E27FC236}">
                <a16:creationId xmlns:a16="http://schemas.microsoft.com/office/drawing/2014/main" id="{FCC2DCAA-9591-4928-8797-83E638CD6CC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220527404"/>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9" name="07-image-4"/>
          <p:cNvPicPr>
            <a:picLocks xmlns:a="http://schemas.openxmlformats.org/drawingml/2006/main" noChangeAspect="1"/>
          </p:cNvPicPr>
          <p:nvPr/>
        </p:nvPicPr>
        <p:blipFill>
          <a:blip xmlns:r="http://schemas.openxmlformats.org/officeDocument/2006/relationships" xmlns:a="http://schemas.openxmlformats.org/drawingml/2006/main" r:embed="R8363118b2f8d404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8" name="narrative-number">
            <a:extLst xmlns:a="http://schemas.openxmlformats.org/drawingml/2006/main">
              <a:ext uri="{FF2B5EF4-FFF2-40B4-BE49-F238E27FC236}">
                <a16:creationId xmlns:a16="http://schemas.microsoft.com/office/drawing/2014/main" id="{6FF5B3BE-EB7E-4627-AF4B-EA8196E92C0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549103260"/>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1" name="07-image-5"/>
          <p:cNvPicPr>
            <a:picLocks xmlns:a="http://schemas.openxmlformats.org/drawingml/2006/main" noChangeAspect="1"/>
          </p:cNvPicPr>
          <p:nvPr/>
        </p:nvPicPr>
        <p:blipFill>
          <a:blip xmlns:r="http://schemas.openxmlformats.org/officeDocument/2006/relationships" xmlns:a="http://schemas.openxmlformats.org/drawingml/2006/main" r:embed="R6a46ccf2b3d4487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0" name="narrative-number">
            <a:extLst xmlns:a="http://schemas.openxmlformats.org/drawingml/2006/main">
              <a:ext uri="{FF2B5EF4-FFF2-40B4-BE49-F238E27FC236}">
                <a16:creationId xmlns:a16="http://schemas.microsoft.com/office/drawing/2014/main" id="{B8E380D6-DD6C-45EC-9C8B-931105A9BA9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3027203035"/>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3" name="07-image-6"/>
          <p:cNvPicPr>
            <a:picLocks xmlns:a="http://schemas.openxmlformats.org/drawingml/2006/main" noChangeAspect="1"/>
          </p:cNvPicPr>
          <p:nvPr/>
        </p:nvPicPr>
        <p:blipFill>
          <a:blip xmlns:r="http://schemas.openxmlformats.org/officeDocument/2006/relationships" xmlns:a="http://schemas.openxmlformats.org/drawingml/2006/main" r:embed="R480cd0bee94a46d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2" name="narrative-number">
            <a:extLst xmlns:a="http://schemas.openxmlformats.org/drawingml/2006/main">
              <a:ext uri="{FF2B5EF4-FFF2-40B4-BE49-F238E27FC236}">
                <a16:creationId xmlns:a16="http://schemas.microsoft.com/office/drawing/2014/main" id="{8F6E46DF-597C-4395-B065-48C2C89DC65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1637649157"/>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3" name="!!area-header">
            <a:extLst xmlns:a="http://schemas.openxmlformats.org/drawingml/2006/main">
              <a:ext uri="{FF2B5EF4-FFF2-40B4-BE49-F238E27FC236}">
                <a16:creationId xmlns:a16="http://schemas.microsoft.com/office/drawing/2014/main" id="{99CD2E04-3C14-4611-BF75-02C8A3AD16CD}"/>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64" name="!!area-name">
            <a:extLst xmlns:a="http://schemas.openxmlformats.org/drawingml/2006/main">
              <a:ext uri="{FF2B5EF4-FFF2-40B4-BE49-F238E27FC236}">
                <a16:creationId xmlns:a16="http://schemas.microsoft.com/office/drawing/2014/main" id="{2C633695-6DC1-485D-A1A1-A9EF982C5A6A}"/>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Models</a:t>
            </a:r>
          </a:p>
        </p:txBody>
      </p:sp>
      <p:sp>
        <p:nvSpPr>
          <p:cNvPr id="65" name="!!area-beat">
            <a:extLst xmlns:a="http://schemas.openxmlformats.org/drawingml/2006/main">
              <a:ext uri="{FF2B5EF4-FFF2-40B4-BE49-F238E27FC236}">
                <a16:creationId xmlns:a16="http://schemas.microsoft.com/office/drawing/2014/main" id="{4A72ECB5-AF0A-4068-95EF-73DA2EC0F0BB}"/>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When you are the user</a:t>
            </a:r>
          </a:p>
        </p:txBody>
      </p:sp>
      <p:sp>
        <p:nvSpPr>
          <p:cNvPr id="66" name="header-divider">
            <a:extLst xmlns:a="http://schemas.openxmlformats.org/drawingml/2006/main">
              <a:ext uri="{FF2B5EF4-FFF2-40B4-BE49-F238E27FC236}">
                <a16:creationId xmlns:a16="http://schemas.microsoft.com/office/drawing/2014/main" id="{0354435F-84ED-4F10-BD09-C155CFB192DD}"/>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7" name="!!screenshot-Devin Desktop">
            <a:extLst xmlns:a="http://schemas.openxmlformats.org/drawingml/2006/main">
              <a:ext uri="{FF2B5EF4-FFF2-40B4-BE49-F238E27FC236}">
                <a16:creationId xmlns:a16="http://schemas.microsoft.com/office/drawing/2014/main" id="{99CFD756-E2D6-4F12-9439-7E7372A8C144}"/>
              </a:ext>
            </a:extLst>
          </p:cNvPr>
          <p:cNvSpPr>
            <a:spLocks xmlns:a="http://schemas.openxmlformats.org/drawingml/2006/main"/>
          </p:cNvSpPr>
          <p:nvPr/>
        </p:nvSpPr>
        <p:spPr>
          <a:xfrm xmlns:a="http://schemas.openxmlformats.org/drawingml/2006/main">
            <a:off x="609600" y="2336800"/>
            <a:ext cx="5334000" cy="3302000"/>
          </a:xfrm>
          <a:prstGeom xmlns:a="http://schemas.openxmlformats.org/drawingml/2006/main" prst="roundRect">
            <a:avLst>
              <a:gd name="adj" fmla="val 1538"/>
            </a:avLst>
          </a:prstGeom>
          <a:solidFill xmlns:a="http://schemas.openxmlformats.org/drawingml/2006/main">
            <a:srgbClr val="303236"/>
          </a:solidFill>
          <a:ln xmlns:a="http://schemas.openxmlformats.org/drawingml/2006/main" w="12700">
            <a:solidFill>
              <a:srgbClr val="4C4D50"/>
            </a:solidFill>
          </a:ln>
        </p:spPr>
      </p:sp>
      <p:sp>
        <p:nvSpPr>
          <p:cNvPr id="68" name="08-text-1">
            <a:extLst xmlns:a="http://schemas.openxmlformats.org/drawingml/2006/main">
              <a:ext uri="{FF2B5EF4-FFF2-40B4-BE49-F238E27FC236}">
                <a16:creationId xmlns:a16="http://schemas.microsoft.com/office/drawing/2014/main" id="{4F06D8A9-8797-4CD3-9172-E521AD21BE50}"/>
              </a:ext>
            </a:extLst>
          </p:cNvPr>
          <p:cNvSpPr>
            <a:spLocks xmlns:a="http://schemas.openxmlformats.org/drawingml/2006/main"/>
          </p:cNvSpPr>
          <p:nvPr/>
        </p:nvSpPr>
        <p:spPr>
          <a:xfrm xmlns:a="http://schemas.openxmlformats.org/drawingml/2006/main">
            <a:off x="812800" y="3035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69" name="08-text-2">
            <a:extLst xmlns:a="http://schemas.openxmlformats.org/drawingml/2006/main">
              <a:ext uri="{FF2B5EF4-FFF2-40B4-BE49-F238E27FC236}">
                <a16:creationId xmlns:a16="http://schemas.microsoft.com/office/drawing/2014/main" id="{A5935456-60EA-4008-B968-446D56B08269}"/>
              </a:ext>
            </a:extLst>
          </p:cNvPr>
          <p:cNvSpPr>
            <a:spLocks xmlns:a="http://schemas.openxmlformats.org/drawingml/2006/main"/>
          </p:cNvSpPr>
          <p:nvPr/>
        </p:nvSpPr>
        <p:spPr>
          <a:xfrm xmlns:a="http://schemas.openxmlformats.org/drawingml/2006/main">
            <a:off x="812800" y="3556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Devin Desktop model picker</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Reasoning-effort slider visible</a:t>
            </a:r>
          </a:p>
        </p:txBody>
      </p:sp>
      <p:sp>
        <p:nvSpPr>
          <p:cNvPr id="70" name="08-text-3">
            <a:extLst xmlns:a="http://schemas.openxmlformats.org/drawingml/2006/main">
              <a:ext uri="{FF2B5EF4-FFF2-40B4-BE49-F238E27FC236}">
                <a16:creationId xmlns:a16="http://schemas.microsoft.com/office/drawing/2014/main" id="{5FBE3DC7-10E3-47C1-A96F-3420C8EF8686}"/>
              </a:ext>
            </a:extLst>
          </p:cNvPr>
          <p:cNvSpPr>
            <a:spLocks xmlns:a="http://schemas.openxmlformats.org/drawingml/2006/main"/>
          </p:cNvSpPr>
          <p:nvPr/>
        </p:nvSpPr>
        <p:spPr>
          <a:xfrm xmlns:a="http://schemas.openxmlformats.org/drawingml/2006/main">
            <a:off x="6248400" y="24384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Model</a:t>
            </a:r>
          </a:p>
        </p:txBody>
      </p:sp>
      <p:sp>
        <p:nvSpPr>
          <p:cNvPr id="71" name="08-text-4">
            <a:extLst xmlns:a="http://schemas.openxmlformats.org/drawingml/2006/main">
              <a:ext uri="{FF2B5EF4-FFF2-40B4-BE49-F238E27FC236}">
                <a16:creationId xmlns:a16="http://schemas.microsoft.com/office/drawing/2014/main" id="{84A242DE-58AC-47AE-95C6-F19343105522}"/>
              </a:ext>
            </a:extLst>
          </p:cNvPr>
          <p:cNvSpPr>
            <a:spLocks xmlns:a="http://schemas.openxmlformats.org/drawingml/2006/main"/>
          </p:cNvSpPr>
          <p:nvPr/>
        </p:nvSpPr>
        <p:spPr>
          <a:xfrm xmlns:a="http://schemas.openxmlformats.org/drawingml/2006/main">
            <a:off x="6248400" y="2997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Choose which model handles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coding task.</a:t>
            </a:r>
          </a:p>
        </p:txBody>
      </p:sp>
      <p:sp>
        <p:nvSpPr>
          <p:cNvPr id="72" name="08-text-5">
            <a:extLst xmlns:a="http://schemas.openxmlformats.org/drawingml/2006/main">
              <a:ext uri="{FF2B5EF4-FFF2-40B4-BE49-F238E27FC236}">
                <a16:creationId xmlns:a16="http://schemas.microsoft.com/office/drawing/2014/main" id="{962C111D-A665-4BBC-A1D8-5BFA4E63CCBF}"/>
              </a:ext>
            </a:extLst>
          </p:cNvPr>
          <p:cNvSpPr>
            <a:spLocks xmlns:a="http://schemas.openxmlformats.org/drawingml/2006/main"/>
          </p:cNvSpPr>
          <p:nvPr/>
        </p:nvSpPr>
        <p:spPr>
          <a:xfrm xmlns:a="http://schemas.openxmlformats.org/drawingml/2006/main">
            <a:off x="6248400" y="41402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Reasoning effort</a:t>
            </a:r>
          </a:p>
        </p:txBody>
      </p:sp>
      <p:sp>
        <p:nvSpPr>
          <p:cNvPr id="73" name="08-text-6">
            <a:extLst xmlns:a="http://schemas.openxmlformats.org/drawingml/2006/main">
              <a:ext uri="{FF2B5EF4-FFF2-40B4-BE49-F238E27FC236}">
                <a16:creationId xmlns:a16="http://schemas.microsoft.com/office/drawing/2014/main" id="{8FF7912D-2342-4243-91DD-D161DD5587C5}"/>
              </a:ext>
            </a:extLst>
          </p:cNvPr>
          <p:cNvSpPr>
            <a:spLocks xmlns:a="http://schemas.openxmlformats.org/drawingml/2006/main"/>
          </p:cNvSpPr>
          <p:nvPr/>
        </p:nvSpPr>
        <p:spPr>
          <a:xfrm xmlns:a="http://schemas.openxmlformats.org/drawingml/2006/main">
            <a:off x="6248400" y="46990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Adjust the effort used to</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work through the task.</a:t>
            </a:r>
          </a:p>
        </p:txBody>
      </p:sp>
      <p:sp>
        <p:nvSpPr>
          <p:cNvPr id="74" name="narrative-number">
            <a:extLst xmlns:a="http://schemas.openxmlformats.org/drawingml/2006/main">
              <a:ext uri="{FF2B5EF4-FFF2-40B4-BE49-F238E27FC236}">
                <a16:creationId xmlns:a16="http://schemas.microsoft.com/office/drawing/2014/main" id="{13D42329-E0E3-4F88-A705-98F66F9744F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755957689"/>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5" name="!!area-name">
            <a:extLst xmlns:a="http://schemas.openxmlformats.org/drawingml/2006/main">
              <a:ext uri="{FF2B5EF4-FFF2-40B4-BE49-F238E27FC236}">
                <a16:creationId xmlns:a16="http://schemas.microsoft.com/office/drawing/2014/main" id="{4BD97E10-0445-4A6C-84E4-71749A52447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84" name="mini-map"/>
          <p:cNvPicPr>
            <a:picLocks xmlns:a="http://schemas.openxmlformats.org/drawingml/2006/main" noChangeAspect="1"/>
          </p:cNvPicPr>
          <p:nvPr/>
        </p:nvPicPr>
        <p:blipFill>
          <a:blip xmlns:r="http://schemas.openxmlformats.org/officeDocument/2006/relationships" xmlns:a="http://schemas.openxmlformats.org/drawingml/2006/main" r:embed="Rf728c4c7e2ac40f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7" name="header-divider">
            <a:extLst xmlns:a="http://schemas.openxmlformats.org/drawingml/2006/main">
              <a:ext uri="{FF2B5EF4-FFF2-40B4-BE49-F238E27FC236}">
                <a16:creationId xmlns:a16="http://schemas.microsoft.com/office/drawing/2014/main" id="{86131591-859A-4B2E-892D-CC72E2D8D15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78" name="09-text-1">
            <a:extLst xmlns:a="http://schemas.openxmlformats.org/drawingml/2006/main">
              <a:ext uri="{FF2B5EF4-FFF2-40B4-BE49-F238E27FC236}">
                <a16:creationId xmlns:a16="http://schemas.microsoft.com/office/drawing/2014/main" id="{5E3C6DCF-C3F3-49A9-AEC6-1E548A9805EF}"/>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harness beats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bad harness.”</a:t>
            </a:r>
          </a:p>
        </p:txBody>
      </p:sp>
      <p:sp>
        <p:nvSpPr>
          <p:cNvPr id="79" name="09-text-2">
            <a:extLst xmlns:a="http://schemas.openxmlformats.org/drawingml/2006/main">
              <a:ext uri="{FF2B5EF4-FFF2-40B4-BE49-F238E27FC236}">
                <a16:creationId xmlns:a16="http://schemas.microsoft.com/office/drawing/2014/main" id="{AD6C2209-12F3-4DB9-AA6C-CC001B37C4D5}"/>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Addy Osmani</a:t>
            </a:r>
          </a:p>
        </p:txBody>
      </p:sp>
      <p:sp>
        <p:nvSpPr>
          <p:cNvPr id="80" name="09-text-3">
            <a:extLst xmlns:a="http://schemas.openxmlformats.org/drawingml/2006/main">
              <a:ext uri="{FF2B5EF4-FFF2-40B4-BE49-F238E27FC236}">
                <a16:creationId xmlns:a16="http://schemas.microsoft.com/office/drawing/2014/main" id="{FBFBA806-846E-4FC8-9F44-D02FB0542247}"/>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Agent Harness Engineering, April 2026</a:t>
            </a:r>
          </a:p>
        </p:txBody>
      </p:sp>
      <p:pic>
        <p:nvPicPr>
          <p:cNvPr id="89" name="09-image-4"/>
          <p:cNvPicPr>
            <a:picLocks xmlns:a="http://schemas.openxmlformats.org/drawingml/2006/main" noChangeAspect="1"/>
          </p:cNvPicPr>
          <p:nvPr/>
        </p:nvPicPr>
        <p:blipFill>
          <a:blip xmlns:r="http://schemas.openxmlformats.org/officeDocument/2006/relationships" xmlns:a="http://schemas.openxmlformats.org/drawingml/2006/main" r:embed="Rb92c418171af405d"/>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82" name="narrative-number">
            <a:extLst xmlns:a="http://schemas.openxmlformats.org/drawingml/2006/main">
              <a:ext uri="{FF2B5EF4-FFF2-40B4-BE49-F238E27FC236}">
                <a16:creationId xmlns:a16="http://schemas.microsoft.com/office/drawing/2014/main" id="{C8C2F81B-CDFB-40F0-87C4-D526AB48463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464822170"/>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83" name="!!area-name">
            <a:extLst xmlns:a="http://schemas.openxmlformats.org/drawingml/2006/main">
              <a:ext uri="{FF2B5EF4-FFF2-40B4-BE49-F238E27FC236}">
                <a16:creationId xmlns:a16="http://schemas.microsoft.com/office/drawing/2014/main" id="{49D82CB1-21DF-455A-8E97-BCCD066F386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95" name="mini-map"/>
          <p:cNvPicPr>
            <a:picLocks xmlns:a="http://schemas.openxmlformats.org/drawingml/2006/main" noChangeAspect="1"/>
          </p:cNvPicPr>
          <p:nvPr/>
        </p:nvPicPr>
        <p:blipFill>
          <a:blip xmlns:r="http://schemas.openxmlformats.org/officeDocument/2006/relationships" xmlns:a="http://schemas.openxmlformats.org/drawingml/2006/main" r:embed="R1e15298f69874b9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85" name="header-divider">
            <a:extLst xmlns:a="http://schemas.openxmlformats.org/drawingml/2006/main">
              <a:ext uri="{FF2B5EF4-FFF2-40B4-BE49-F238E27FC236}">
                <a16:creationId xmlns:a16="http://schemas.microsoft.com/office/drawing/2014/main" id="{EF3A5EE4-0F07-4E2E-B0F2-F8D821BE870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86" name="models-decisions-title">
            <a:extLst xmlns:a="http://schemas.openxmlformats.org/drawingml/2006/main">
              <a:ext uri="{FF2B5EF4-FFF2-40B4-BE49-F238E27FC236}">
                <a16:creationId xmlns:a16="http://schemas.microsoft.com/office/drawing/2014/main" id="{46971BB2-F7AD-4D20-9DB5-9F53DE00024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decisions you own</a:t>
            </a:r>
          </a:p>
        </p:txBody>
      </p:sp>
      <p:sp>
        <p:nvSpPr>
          <p:cNvPr id="87" name="09-text-5">
            <a:extLst xmlns:a="http://schemas.openxmlformats.org/drawingml/2006/main">
              <a:ext uri="{FF2B5EF4-FFF2-40B4-BE49-F238E27FC236}">
                <a16:creationId xmlns:a16="http://schemas.microsoft.com/office/drawing/2014/main" id="{3598187A-C256-4D6E-B292-0F513D05805D}"/>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model and</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reasoning settings?</a:t>
            </a:r>
          </a:p>
        </p:txBody>
      </p:sp>
      <p:sp>
        <p:nvSpPr>
          <p:cNvPr id="88" name="09-text-6">
            <a:extLst xmlns:a="http://schemas.openxmlformats.org/drawingml/2006/main">
              <a:ext uri="{FF2B5EF4-FFF2-40B4-BE49-F238E27FC236}">
                <a16:creationId xmlns:a16="http://schemas.microsoft.com/office/drawing/2014/main" id="{AEC57208-D3A3-4682-91A6-AF76497A7C9D}"/>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Balance task quality, cost, latency,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deployment constraints.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Start with representative task comparisons.</a:t>
            </a:r>
          </a:p>
        </p:txBody>
      </p:sp>
      <p:sp>
        <p:nvSpPr>
          <p:cNvPr id="89" name="09-text-7">
            <a:extLst xmlns:a="http://schemas.openxmlformats.org/drawingml/2006/main">
              <a:ext uri="{FF2B5EF4-FFF2-40B4-BE49-F238E27FC236}">
                <a16:creationId xmlns:a16="http://schemas.microsoft.com/office/drawing/2014/main" id="{6E5817A7-8A14-473A-8A04-07D57E68EB12}"/>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One model or</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different models?</a:t>
            </a:r>
          </a:p>
        </p:txBody>
      </p:sp>
      <p:sp>
        <p:nvSpPr>
          <p:cNvPr id="90" name="09-text-8">
            <a:extLst xmlns:a="http://schemas.openxmlformats.org/drawingml/2006/main">
              <a:ext uri="{FF2B5EF4-FFF2-40B4-BE49-F238E27FC236}">
                <a16:creationId xmlns:a16="http://schemas.microsoft.com/office/drawing/2014/main" id="{D8EA35DD-92C2-4FFC-83EE-DB725FF19136}"/>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Routing adds task-specific choices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more configurations to maintain.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Start with one until evidence supports routing.</a:t>
            </a:r>
          </a:p>
        </p:txBody>
      </p:sp>
      <p:sp>
        <p:nvSpPr>
          <p:cNvPr id="91" name="09-text-9">
            <a:extLst xmlns:a="http://schemas.openxmlformats.org/drawingml/2006/main">
              <a:ext uri="{FF2B5EF4-FFF2-40B4-BE49-F238E27FC236}">
                <a16:creationId xmlns:a16="http://schemas.microsoft.com/office/drawing/2014/main" id="{2FACD33A-44DA-4C5C-9FEE-5E4149E476EE}"/>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How will model</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changes be controlled?</a:t>
            </a:r>
          </a:p>
        </p:txBody>
      </p:sp>
      <p:sp>
        <p:nvSpPr>
          <p:cNvPr id="92" name="09-text-10">
            <a:extLst xmlns:a="http://schemas.openxmlformats.org/drawingml/2006/main">
              <a:ext uri="{FF2B5EF4-FFF2-40B4-BE49-F238E27FC236}">
                <a16:creationId xmlns:a16="http://schemas.microsoft.com/office/drawing/2014/main" id="{FD69A5B5-E9E3-4089-98F7-4965E52440E2}"/>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Pinned versions need planned migration.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Moving aliases need regression monitoring.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Define evaluation and replacement practices.</a:t>
            </a:r>
          </a:p>
        </p:txBody>
      </p:sp>
      <p:sp>
        <p:nvSpPr>
          <p:cNvPr id="93" name="narrative-number">
            <a:extLst xmlns:a="http://schemas.openxmlformats.org/drawingml/2006/main">
              <a:ext uri="{FF2B5EF4-FFF2-40B4-BE49-F238E27FC236}">
                <a16:creationId xmlns:a16="http://schemas.microsoft.com/office/drawing/2014/main" id="{52508876-8D84-422B-8549-BA77D1D1ABE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378851158"/>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4" name="!!area-name">
            <a:extLst xmlns:a="http://schemas.openxmlformats.org/drawingml/2006/main">
              <a:ext uri="{FF2B5EF4-FFF2-40B4-BE49-F238E27FC236}">
                <a16:creationId xmlns:a16="http://schemas.microsoft.com/office/drawing/2014/main" id="{E1ADAC1D-C5FC-433E-87F3-EFDA91680C7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109" name="mini-map"/>
          <p:cNvPicPr>
            <a:picLocks xmlns:a="http://schemas.openxmlformats.org/drawingml/2006/main" noChangeAspect="1"/>
          </p:cNvPicPr>
          <p:nvPr/>
        </p:nvPicPr>
        <p:blipFill>
          <a:blip xmlns:r="http://schemas.openxmlformats.org/officeDocument/2006/relationships" xmlns:a="http://schemas.openxmlformats.org/drawingml/2006/main" r:embed="R2612ab70a5934fd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96" name="header-divider">
            <a:extLst xmlns:a="http://schemas.openxmlformats.org/drawingml/2006/main">
              <a:ext uri="{FF2B5EF4-FFF2-40B4-BE49-F238E27FC236}">
                <a16:creationId xmlns:a16="http://schemas.microsoft.com/office/drawing/2014/main" id="{47A55233-6B65-4C9D-918B-C61A4D98904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97" name="models-maintenance-title">
            <a:extLst xmlns:a="http://schemas.openxmlformats.org/drawingml/2006/main">
              <a:ext uri="{FF2B5EF4-FFF2-40B4-BE49-F238E27FC236}">
                <a16:creationId xmlns:a16="http://schemas.microsoft.com/office/drawing/2014/main" id="{D3206777-4996-480B-B469-027E0F00CF2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Living with model choices</a:t>
            </a:r>
          </a:p>
        </p:txBody>
      </p:sp>
      <p:sp>
        <p:nvSpPr>
          <p:cNvPr id="98" name="09-text-11">
            <a:extLst xmlns:a="http://schemas.openxmlformats.org/drawingml/2006/main">
              <a:ext uri="{FF2B5EF4-FFF2-40B4-BE49-F238E27FC236}">
                <a16:creationId xmlns:a16="http://schemas.microsoft.com/office/drawing/2014/main" id="{5A4B5C3F-A874-4207-8E71-45A84326ECDB}"/>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Task changes</a:t>
            </a:r>
          </a:p>
        </p:txBody>
      </p:sp>
      <p:sp>
        <p:nvSpPr>
          <p:cNvPr id="99" name="09-text-12">
            <a:extLst xmlns:a="http://schemas.openxmlformats.org/drawingml/2006/main">
              <a:ext uri="{FF2B5EF4-FFF2-40B4-BE49-F238E27FC236}">
                <a16:creationId xmlns:a16="http://schemas.microsoft.com/office/drawing/2014/main" id="{4A2F7BC0-C972-46E2-AD2C-33DDC3B4E7EE}"/>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New tasks can expose gaps in the original evaluation.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Refresh the cases as intended use changes.</a:t>
            </a:r>
          </a:p>
        </p:txBody>
      </p:sp>
      <p:sp>
        <p:nvSpPr>
          <p:cNvPr id="100" name="09-text-13">
            <a:extLst xmlns:a="http://schemas.openxmlformats.org/drawingml/2006/main">
              <a:ext uri="{FF2B5EF4-FFF2-40B4-BE49-F238E27FC236}">
                <a16:creationId xmlns:a16="http://schemas.microsoft.com/office/drawing/2014/main" id="{C4187E2B-0FEF-400C-948E-C459FC330CB8}"/>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Routing</a:t>
            </a:r>
          </a:p>
        </p:txBody>
      </p:sp>
      <p:sp>
        <p:nvSpPr>
          <p:cNvPr id="101" name="09-text-14">
            <a:extLst xmlns:a="http://schemas.openxmlformats.org/drawingml/2006/main">
              <a:ext uri="{FF2B5EF4-FFF2-40B4-BE49-F238E27FC236}">
                <a16:creationId xmlns:a16="http://schemas.microsoft.com/office/drawing/2014/main" id="{47B48C04-8D87-4DB0-B335-CB540BDF17C6}"/>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Each route needs evaluation coverage.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Measure the whole workflow as routes change.</a:t>
            </a:r>
          </a:p>
        </p:txBody>
      </p:sp>
      <p:sp>
        <p:nvSpPr>
          <p:cNvPr id="102" name="09-text-15">
            <a:extLst xmlns:a="http://schemas.openxmlformats.org/drawingml/2006/main">
              <a:ext uri="{FF2B5EF4-FFF2-40B4-BE49-F238E27FC236}">
                <a16:creationId xmlns:a16="http://schemas.microsoft.com/office/drawing/2014/main" id="{043CA10A-AB73-4EBC-A216-118B0270AF14}"/>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Model lifecycle</a:t>
            </a:r>
          </a:p>
        </p:txBody>
      </p:sp>
      <p:sp>
        <p:nvSpPr>
          <p:cNvPr id="103" name="09-text-16">
            <a:extLst xmlns:a="http://schemas.openxmlformats.org/drawingml/2006/main">
              <a:ext uri="{FF2B5EF4-FFF2-40B4-BE49-F238E27FC236}">
                <a16:creationId xmlns:a16="http://schemas.microsoft.com/office/drawing/2014/main" id="{E5806C8D-A6C4-4C54-A488-ADC00F5776C8}"/>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Versions retire. Aliases update.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Monitor changes and prepare a replacement.</a:t>
            </a:r>
          </a:p>
        </p:txBody>
      </p:sp>
      <p:sp>
        <p:nvSpPr>
          <p:cNvPr id="104" name="09-text-17">
            <a:extLst xmlns:a="http://schemas.openxmlformats.org/drawingml/2006/main">
              <a:ext uri="{FF2B5EF4-FFF2-40B4-BE49-F238E27FC236}">
                <a16:creationId xmlns:a16="http://schemas.microsoft.com/office/drawing/2014/main" id="{A5829117-E524-4EF7-8F09-25CC8889EFE4}"/>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snapshot does not freeze the whole system.</a:t>
            </a:r>
          </a:p>
        </p:txBody>
      </p:sp>
      <p:sp>
        <p:nvSpPr>
          <p:cNvPr id="105" name="09-text-18">
            <a:extLst xmlns:a="http://schemas.openxmlformats.org/drawingml/2006/main">
              <a:ext uri="{FF2B5EF4-FFF2-40B4-BE49-F238E27FC236}">
                <a16:creationId xmlns:a16="http://schemas.microsoft.com/office/drawing/2014/main" id="{483CE4A6-B891-4461-A01B-D39FE956D2A5}"/>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06" name="09-text-19">
            <a:extLst xmlns:a="http://schemas.openxmlformats.org/drawingml/2006/main">
              <a:ext uri="{FF2B5EF4-FFF2-40B4-BE49-F238E27FC236}">
                <a16:creationId xmlns:a16="http://schemas.microsoft.com/office/drawing/2014/main" id="{AA397052-8DA7-4776-A679-C554CD02F217}"/>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Choosing and changing models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testing them on your task.</a:t>
            </a:r>
          </a:p>
        </p:txBody>
      </p:sp>
      <p:sp>
        <p:nvSpPr>
          <p:cNvPr id="107" name="narrative-number">
            <a:extLst xmlns:a="http://schemas.openxmlformats.org/drawingml/2006/main">
              <a:ext uri="{FF2B5EF4-FFF2-40B4-BE49-F238E27FC236}">
                <a16:creationId xmlns:a16="http://schemas.microsoft.com/office/drawing/2014/main" id="{AB3A6E3C-578A-4963-ACA8-4CBE1EFEAB9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100727261"/>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08" name="!!area-name">
            <a:extLst xmlns:a="http://schemas.openxmlformats.org/drawingml/2006/main">
              <a:ext uri="{FF2B5EF4-FFF2-40B4-BE49-F238E27FC236}">
                <a16:creationId xmlns:a16="http://schemas.microsoft.com/office/drawing/2014/main" id="{5520B5A5-3F18-483B-896D-6C0B4A979A0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117" name="mini-map"/>
          <p:cNvPicPr>
            <a:picLocks xmlns:a="http://schemas.openxmlformats.org/drawingml/2006/main" noChangeAspect="1"/>
          </p:cNvPicPr>
          <p:nvPr/>
        </p:nvPicPr>
        <p:blipFill>
          <a:blip xmlns:r="http://schemas.openxmlformats.org/officeDocument/2006/relationships" xmlns:a="http://schemas.openxmlformats.org/drawingml/2006/main" r:embed="R017849581c214c6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10" name="header-divider">
            <a:extLst xmlns:a="http://schemas.openxmlformats.org/drawingml/2006/main">
              <a:ext uri="{FF2B5EF4-FFF2-40B4-BE49-F238E27FC236}">
                <a16:creationId xmlns:a16="http://schemas.microsoft.com/office/drawing/2014/main" id="{1C7918E0-2A75-45FC-8C8A-B53E199FAFD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11" name="models-application-title">
            <a:extLst xmlns:a="http://schemas.openxmlformats.org/drawingml/2006/main">
              <a:ext uri="{FF2B5EF4-FFF2-40B4-BE49-F238E27FC236}">
                <a16:creationId xmlns:a16="http://schemas.microsoft.com/office/drawing/2014/main" id="{DC944C79-53A8-42B0-85CC-904AAEDBA60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 starting design for the FRB brief</a:t>
            </a:r>
          </a:p>
        </p:txBody>
      </p:sp>
      <p:sp>
        <p:nvSpPr>
          <p:cNvPr id="112" name="09-text-20">
            <a:extLst xmlns:a="http://schemas.openxmlformats.org/drawingml/2006/main">
              <a:ext uri="{FF2B5EF4-FFF2-40B4-BE49-F238E27FC236}">
                <a16:creationId xmlns:a16="http://schemas.microsoft.com/office/drawing/2014/main" id="{A4FD6679-03E5-49C6-8639-F2A6B9865250}"/>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design. No model results claimed.</a:t>
            </a:r>
          </a:p>
        </p:txBody>
      </p:sp>
      <p:graphicFrame>
        <p:nvGraphicFramePr>
          <p:cNvPr id="121" name="09-table-21"/>
          <p:cNvGraphicFramePr/>
          <p:nvPr/>
        </p:nvGraphicFramePr>
        <p:xfrm>
          <a:off xmlns:a="http://schemas.openxmlformats.org/drawingml/2006/main" x="609600" y="2895600"/>
          <a:ext xmlns:a="http://schemas.openxmlformats.org/drawingml/2006/main" cx="10972800" cy="25908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1064F8"/>
                          </a:solidFill>
                          <a:latin typeface="Helvetica"/>
                          <a:ea typeface="Helvetica"/>
                          <a:cs typeface="Helvetica"/>
                        </a:rPr>
                        <a:t>Choice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Starting design and rationale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Task fit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Compare models on faithful summaries</a:t>
                      </a:r>
                    </a:p>
                    <a:p>
                      <a:pPr>
                        <a:lnSpc>
                          <a:spcPct val="125000"/>
                        </a:lnSpc>
                        <a:buNone/>
                      </a:pPr>
                      <a:r>
                        <a:rPr sz="2000" b="0">
                          <a:solidFill>
                            <a:srgbClr val="FFFCF5"/>
                          </a:solidFill>
                          <a:latin typeface="Helvetica"/>
                          <a:ea typeface="Helvetica"/>
                          <a:cs typeface="Helvetica"/>
                        </a:rPr>
                        <a:t>and supported findings.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Allocation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One model configuration for the brief.</a:t>
                      </a:r>
                    </a:p>
                    <a:p>
                      <a:pPr>
                        <a:lnSpc>
                          <a:spcPct val="125000"/>
                        </a:lnSpc>
                        <a:buNone/>
                      </a:pPr>
                      <a:r>
                        <a:rPr sz="2000" b="0">
                          <a:solidFill>
                            <a:srgbClr val="FFFCF5"/>
                          </a:solidFill>
                          <a:latin typeface="Helvetica"/>
                          <a:ea typeface="Helvetica"/>
                          <a:cs typeface="Helvetica"/>
                        </a:rPr>
                        <a:t>Add routing only when measurements justify 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Changes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Pinned version where available,</a:t>
                      </a:r>
                    </a:p>
                    <a:p>
                      <a:pPr>
                        <a:lnSpc>
                          <a:spcPct val="125000"/>
                        </a:lnSpc>
                        <a:buNone/>
                      </a:pPr>
                      <a:r>
                        <a:rPr sz="2000" b="0">
                          <a:solidFill>
                            <a:srgbClr val="FFFCF5"/>
                          </a:solidFill>
                          <a:latin typeface="Helvetica"/>
                          <a:ea typeface="Helvetica"/>
                          <a:cs typeface="Helvetica"/>
                        </a:rPr>
                        <a:t>with a migration plan.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14" name="09-text-22">
            <a:extLst xmlns:a="http://schemas.openxmlformats.org/drawingml/2006/main">
              <a:ext uri="{FF2B5EF4-FFF2-40B4-BE49-F238E27FC236}">
                <a16:creationId xmlns:a16="http://schemas.microsoft.com/office/drawing/2014/main" id="{DFE71004-296E-4D29-92E9-7C657FA5C7BC}"/>
              </a:ext>
            </a:extLst>
          </p:cNvPr>
          <p:cNvSpPr>
            <a:spLocks xmlns:a="http://schemas.openxmlformats.org/drawingml/2006/main"/>
          </p:cNvSpPr>
          <p:nvPr/>
        </p:nvSpPr>
        <p:spPr>
          <a:xfrm xmlns:a="http://schemas.openxmlformats.org/drawingml/2006/main">
            <a:off x="609600" y="5588000"/>
            <a:ext cx="109728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Revisit when measured quality, cost, latency,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 lifecycle requirements justify a change.</a:t>
            </a:r>
          </a:p>
        </p:txBody>
      </p:sp>
      <p:sp>
        <p:nvSpPr>
          <p:cNvPr id="115" name="narrative-number">
            <a:extLst xmlns:a="http://schemas.openxmlformats.org/drawingml/2006/main">
              <a:ext uri="{FF2B5EF4-FFF2-40B4-BE49-F238E27FC236}">
                <a16:creationId xmlns:a16="http://schemas.microsoft.com/office/drawing/2014/main" id="{DD3CCD47-5BF8-4831-B599-6116C8819B8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022674605"/>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16" name="!!area-header">
            <a:extLst xmlns:a="http://schemas.openxmlformats.org/drawingml/2006/main">
              <a:ext uri="{FF2B5EF4-FFF2-40B4-BE49-F238E27FC236}">
                <a16:creationId xmlns:a16="http://schemas.microsoft.com/office/drawing/2014/main" id="{8B2CFA5C-27FE-4202-8767-BACE8F1BC8FC}"/>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117" name="!!area-name">
            <a:extLst xmlns:a="http://schemas.openxmlformats.org/drawingml/2006/main">
              <a:ext uri="{FF2B5EF4-FFF2-40B4-BE49-F238E27FC236}">
                <a16:creationId xmlns:a16="http://schemas.microsoft.com/office/drawing/2014/main" id="{C85AC3A2-6976-4523-AAE8-0F48747CFDB8}"/>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Context and knowledge</a:t>
            </a:r>
          </a:p>
        </p:txBody>
      </p:sp>
      <p:sp>
        <p:nvSpPr>
          <p:cNvPr id="118" name="!!area-beat">
            <a:extLst xmlns:a="http://schemas.openxmlformats.org/drawingml/2006/main">
              <a:ext uri="{FF2B5EF4-FFF2-40B4-BE49-F238E27FC236}">
                <a16:creationId xmlns:a16="http://schemas.microsoft.com/office/drawing/2014/main" id="{0F349B7D-FCD7-460C-9A6C-FFD1991E0E3D}"/>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119" name="header-divider">
            <a:extLst xmlns:a="http://schemas.openxmlformats.org/drawingml/2006/main">
              <a:ext uri="{FF2B5EF4-FFF2-40B4-BE49-F238E27FC236}">
                <a16:creationId xmlns:a16="http://schemas.microsoft.com/office/drawing/2014/main" id="{B4F4E11C-ECEF-4235-84CB-6613155DD6AB}"/>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0" name="!!screenshot-AGENTS.md">
            <a:extLst xmlns:a="http://schemas.openxmlformats.org/drawingml/2006/main">
              <a:ext uri="{FF2B5EF4-FFF2-40B4-BE49-F238E27FC236}">
                <a16:creationId xmlns:a16="http://schemas.microsoft.com/office/drawing/2014/main" id="{75B297B4-5A04-41E9-AF3B-1D2BFF1DBF88}"/>
              </a:ext>
            </a:extLst>
          </p:cNvPr>
          <p:cNvSpPr>
            <a:spLocks xmlns:a="http://schemas.openxmlformats.org/drawingml/2006/main"/>
          </p:cNvSpPr>
          <p:nvPr/>
        </p:nvSpPr>
        <p:spPr>
          <a:xfrm xmlns:a="http://schemas.openxmlformats.org/drawingml/2006/main">
            <a:off x="609600" y="2336800"/>
            <a:ext cx="5334000" cy="3302000"/>
          </a:xfrm>
          <a:prstGeom xmlns:a="http://schemas.openxmlformats.org/drawingml/2006/main" prst="roundRect">
            <a:avLst>
              <a:gd name="adj" fmla="val 1538"/>
            </a:avLst>
          </a:prstGeom>
          <a:solidFill xmlns:a="http://schemas.openxmlformats.org/drawingml/2006/main">
            <a:srgbClr val="303236"/>
          </a:solidFill>
          <a:ln xmlns:a="http://schemas.openxmlformats.org/drawingml/2006/main" w="12700">
            <a:solidFill>
              <a:srgbClr val="4C4D50"/>
            </a:solidFill>
          </a:ln>
        </p:spPr>
      </p:sp>
      <p:sp>
        <p:nvSpPr>
          <p:cNvPr id="121" name="10-text-1">
            <a:extLst xmlns:a="http://schemas.openxmlformats.org/drawingml/2006/main">
              <a:ext uri="{FF2B5EF4-FFF2-40B4-BE49-F238E27FC236}">
                <a16:creationId xmlns:a16="http://schemas.microsoft.com/office/drawing/2014/main" id="{3633D415-A7CC-4BF1-9405-73117029A720}"/>
              </a:ext>
            </a:extLst>
          </p:cNvPr>
          <p:cNvSpPr>
            <a:spLocks xmlns:a="http://schemas.openxmlformats.org/drawingml/2006/main"/>
          </p:cNvSpPr>
          <p:nvPr/>
        </p:nvSpPr>
        <p:spPr>
          <a:xfrm xmlns:a="http://schemas.openxmlformats.org/drawingml/2006/main">
            <a:off x="812800" y="3035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122" name="10-text-2">
            <a:extLst xmlns:a="http://schemas.openxmlformats.org/drawingml/2006/main">
              <a:ext uri="{FF2B5EF4-FFF2-40B4-BE49-F238E27FC236}">
                <a16:creationId xmlns:a16="http://schemas.microsoft.com/office/drawing/2014/main" id="{D22D51F2-E3D5-40EB-95B6-45D0B425EF49}"/>
              </a:ext>
            </a:extLst>
          </p:cNvPr>
          <p:cNvSpPr>
            <a:spLocks xmlns:a="http://schemas.openxmlformats.org/drawingml/2006/main"/>
          </p:cNvSpPr>
          <p:nvPr/>
        </p:nvSpPr>
        <p:spPr>
          <a:xfrm xmlns:a="http://schemas.openxmlformats.org/drawingml/2006/main">
            <a:off x="812800" y="3556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AGENTS.md project instructions</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Conventions and checks</a:t>
            </a:r>
          </a:p>
        </p:txBody>
      </p:sp>
      <p:sp>
        <p:nvSpPr>
          <p:cNvPr id="123" name="10-text-3">
            <a:extLst xmlns:a="http://schemas.openxmlformats.org/drawingml/2006/main">
              <a:ext uri="{FF2B5EF4-FFF2-40B4-BE49-F238E27FC236}">
                <a16:creationId xmlns:a16="http://schemas.microsoft.com/office/drawing/2014/main" id="{4BE9A638-852F-4C9B-BD31-D84406063F48}"/>
              </a:ext>
            </a:extLst>
          </p:cNvPr>
          <p:cNvSpPr>
            <a:spLocks xmlns:a="http://schemas.openxmlformats.org/drawingml/2006/main"/>
          </p:cNvSpPr>
          <p:nvPr/>
        </p:nvSpPr>
        <p:spPr>
          <a:xfrm xmlns:a="http://schemas.openxmlformats.org/drawingml/2006/main">
            <a:off x="6248400" y="24384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Project conventions</a:t>
            </a:r>
          </a:p>
        </p:txBody>
      </p:sp>
      <p:sp>
        <p:nvSpPr>
          <p:cNvPr id="124" name="10-text-4">
            <a:extLst xmlns:a="http://schemas.openxmlformats.org/drawingml/2006/main">
              <a:ext uri="{FF2B5EF4-FFF2-40B4-BE49-F238E27FC236}">
                <a16:creationId xmlns:a16="http://schemas.microsoft.com/office/drawing/2014/main" id="{4F6677D3-9DC5-4C8B-A0A2-3147FAFD6B7C}"/>
              </a:ext>
            </a:extLst>
          </p:cNvPr>
          <p:cNvSpPr>
            <a:spLocks xmlns:a="http://schemas.openxmlformats.org/drawingml/2006/main"/>
          </p:cNvSpPr>
          <p:nvPr/>
        </p:nvSpPr>
        <p:spPr>
          <a:xfrm xmlns:a="http://schemas.openxmlformats.org/drawingml/2006/main">
            <a:off x="6248400" y="2997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Tell the agent how work should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fit this repository.</a:t>
            </a:r>
          </a:p>
        </p:txBody>
      </p:sp>
      <p:sp>
        <p:nvSpPr>
          <p:cNvPr id="125" name="10-text-5">
            <a:extLst xmlns:a="http://schemas.openxmlformats.org/drawingml/2006/main">
              <a:ext uri="{FF2B5EF4-FFF2-40B4-BE49-F238E27FC236}">
                <a16:creationId xmlns:a16="http://schemas.microsoft.com/office/drawing/2014/main" id="{56524890-136A-4F3A-B934-687D08E02428}"/>
              </a:ext>
            </a:extLst>
          </p:cNvPr>
          <p:cNvSpPr>
            <a:spLocks xmlns:a="http://schemas.openxmlformats.org/drawingml/2006/main"/>
          </p:cNvSpPr>
          <p:nvPr/>
        </p:nvSpPr>
        <p:spPr>
          <a:xfrm xmlns:a="http://schemas.openxmlformats.org/drawingml/2006/main">
            <a:off x="6248400" y="41402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Checks</a:t>
            </a:r>
          </a:p>
        </p:txBody>
      </p:sp>
      <p:sp>
        <p:nvSpPr>
          <p:cNvPr id="126" name="10-text-6">
            <a:extLst xmlns:a="http://schemas.openxmlformats.org/drawingml/2006/main">
              <a:ext uri="{FF2B5EF4-FFF2-40B4-BE49-F238E27FC236}">
                <a16:creationId xmlns:a16="http://schemas.microsoft.com/office/drawing/2014/main" id="{F48F91DC-1CE2-4CA6-92F8-A51F8E20628D}"/>
              </a:ext>
            </a:extLst>
          </p:cNvPr>
          <p:cNvSpPr>
            <a:spLocks xmlns:a="http://schemas.openxmlformats.org/drawingml/2006/main"/>
          </p:cNvSpPr>
          <p:nvPr/>
        </p:nvSpPr>
        <p:spPr>
          <a:xfrm xmlns:a="http://schemas.openxmlformats.org/drawingml/2006/main">
            <a:off x="6248400" y="46990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Tell it how to validate changes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before handing work back.</a:t>
            </a:r>
          </a:p>
        </p:txBody>
      </p:sp>
      <p:sp>
        <p:nvSpPr>
          <p:cNvPr id="127" name="narrative-number">
            <a:extLst xmlns:a="http://schemas.openxmlformats.org/drawingml/2006/main">
              <a:ext uri="{FF2B5EF4-FFF2-40B4-BE49-F238E27FC236}">
                <a16:creationId xmlns:a16="http://schemas.microsoft.com/office/drawing/2014/main" id="{657F1B15-70F5-43D9-9C63-7B72588DF68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224841830"/>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8" name="!!area-name">
            <a:extLst xmlns:a="http://schemas.openxmlformats.org/drawingml/2006/main">
              <a:ext uri="{FF2B5EF4-FFF2-40B4-BE49-F238E27FC236}">
                <a16:creationId xmlns:a16="http://schemas.microsoft.com/office/drawing/2014/main" id="{20B8CF4B-A609-4CC4-A0D4-F09F7980B77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owner</a:t>
            </a:r>
          </a:p>
        </p:txBody>
      </p:sp>
      <p:pic>
        <p:nvPicPr>
          <p:cNvPr id="137" name="mini-map"/>
          <p:cNvPicPr>
            <a:picLocks xmlns:a="http://schemas.openxmlformats.org/drawingml/2006/main" noChangeAspect="1"/>
          </p:cNvPicPr>
          <p:nvPr/>
        </p:nvPicPr>
        <p:blipFill>
          <a:blip xmlns:r="http://schemas.openxmlformats.org/officeDocument/2006/relationships" xmlns:a="http://schemas.openxmlformats.org/drawingml/2006/main" r:embed="Rf82b8077f5af4e4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0" name="header-divider">
            <a:extLst xmlns:a="http://schemas.openxmlformats.org/drawingml/2006/main">
              <a:ext uri="{FF2B5EF4-FFF2-40B4-BE49-F238E27FC236}">
                <a16:creationId xmlns:a16="http://schemas.microsoft.com/office/drawing/2014/main" id="{F6532460-60D9-4C7A-91E5-4033F59C963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1" name="11-text-1">
            <a:extLst xmlns:a="http://schemas.openxmlformats.org/drawingml/2006/main">
              <a:ext uri="{FF2B5EF4-FFF2-40B4-BE49-F238E27FC236}">
                <a16:creationId xmlns:a16="http://schemas.microsoft.com/office/drawing/2014/main" id="{80D0269B-6FAB-4E5F-800C-5BDC9AF2E9DC}"/>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be treated as a finite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resource with diminishing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marginal returns.”</a:t>
            </a:r>
          </a:p>
        </p:txBody>
      </p:sp>
      <p:sp>
        <p:nvSpPr>
          <p:cNvPr id="132" name="11-text-2">
            <a:extLst xmlns:a="http://schemas.openxmlformats.org/drawingml/2006/main">
              <a:ext uri="{FF2B5EF4-FFF2-40B4-BE49-F238E27FC236}">
                <a16:creationId xmlns:a16="http://schemas.microsoft.com/office/drawing/2014/main" id="{B9801B91-7C5B-4A80-978D-5B817D749F36}"/>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33" name="11-text-3">
            <a:extLst xmlns:a="http://schemas.openxmlformats.org/drawingml/2006/main">
              <a:ext uri="{FF2B5EF4-FFF2-40B4-BE49-F238E27FC236}">
                <a16:creationId xmlns:a16="http://schemas.microsoft.com/office/drawing/2014/main" id="{0FE66567-0EE1-43A3-A5E3-064B62F60461}"/>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42" name="11-image-4"/>
          <p:cNvPicPr>
            <a:picLocks xmlns:a="http://schemas.openxmlformats.org/drawingml/2006/main" noChangeAspect="1"/>
          </p:cNvPicPr>
          <p:nvPr/>
        </p:nvPicPr>
        <p:blipFill>
          <a:blip xmlns:r="http://schemas.openxmlformats.org/officeDocument/2006/relationships" xmlns:a="http://schemas.openxmlformats.org/drawingml/2006/main" r:embed="R0b262b753fa94445"/>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35" name="narrative-number">
            <a:extLst xmlns:a="http://schemas.openxmlformats.org/drawingml/2006/main">
              <a:ext uri="{FF2B5EF4-FFF2-40B4-BE49-F238E27FC236}">
                <a16:creationId xmlns:a16="http://schemas.microsoft.com/office/drawing/2014/main" id="{2D8F89DD-F2CD-41C3-B169-64CD7017DCE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1708995938"/>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6" name="!!area-name">
            <a:extLst xmlns:a="http://schemas.openxmlformats.org/drawingml/2006/main">
              <a:ext uri="{FF2B5EF4-FFF2-40B4-BE49-F238E27FC236}">
                <a16:creationId xmlns:a16="http://schemas.microsoft.com/office/drawing/2014/main" id="{79EB6E6D-6CD8-45F2-8FEB-EE7129DC346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owner</a:t>
            </a:r>
          </a:p>
        </p:txBody>
      </p:sp>
      <p:pic>
        <p:nvPicPr>
          <p:cNvPr id="148" name="mini-map"/>
          <p:cNvPicPr>
            <a:picLocks xmlns:a="http://schemas.openxmlformats.org/drawingml/2006/main" noChangeAspect="1"/>
          </p:cNvPicPr>
          <p:nvPr/>
        </p:nvPicPr>
        <p:blipFill>
          <a:blip xmlns:r="http://schemas.openxmlformats.org/officeDocument/2006/relationships" xmlns:a="http://schemas.openxmlformats.org/drawingml/2006/main" r:embed="R22f90b97448349d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8" name="header-divider">
            <a:extLst xmlns:a="http://schemas.openxmlformats.org/drawingml/2006/main">
              <a:ext uri="{FF2B5EF4-FFF2-40B4-BE49-F238E27FC236}">
                <a16:creationId xmlns:a16="http://schemas.microsoft.com/office/drawing/2014/main" id="{989EC88F-10A5-4774-9363-93803614FA2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9" name="context-decisions-title">
            <a:extLst xmlns:a="http://schemas.openxmlformats.org/drawingml/2006/main">
              <a:ext uri="{FF2B5EF4-FFF2-40B4-BE49-F238E27FC236}">
                <a16:creationId xmlns:a16="http://schemas.microsoft.com/office/drawing/2014/main" id="{89A87286-15D7-4A54-96F4-3F4C1D543C3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context decisions you own</a:t>
            </a:r>
          </a:p>
        </p:txBody>
      </p:sp>
      <p:sp>
        <p:nvSpPr>
          <p:cNvPr id="140" name="11-text-5">
            <a:extLst xmlns:a="http://schemas.openxmlformats.org/drawingml/2006/main">
              <a:ext uri="{FF2B5EF4-FFF2-40B4-BE49-F238E27FC236}">
                <a16:creationId xmlns:a16="http://schemas.microsoft.com/office/drawing/2014/main" id="{724CE2AE-F8C2-41C6-A979-E06F1CAACA43}"/>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belongs in</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the next step?</a:t>
            </a:r>
          </a:p>
        </p:txBody>
      </p:sp>
      <p:sp>
        <p:nvSpPr>
          <p:cNvPr id="141" name="11-text-6">
            <a:extLst xmlns:a="http://schemas.openxmlformats.org/drawingml/2006/main">
              <a:ext uri="{FF2B5EF4-FFF2-40B4-BE49-F238E27FC236}">
                <a16:creationId xmlns:a16="http://schemas.microsoft.com/office/drawing/2014/main" id="{923D19CE-A80B-444C-9D23-760BFA7F7641}"/>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task state, retrieved knowledge.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retrieval for the data and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Start with what the next step needs.</a:t>
            </a:r>
          </a:p>
        </p:txBody>
      </p:sp>
      <p:sp>
        <p:nvSpPr>
          <p:cNvPr id="142" name="11-text-7">
            <a:extLst xmlns:a="http://schemas.openxmlformats.org/drawingml/2006/main">
              <a:ext uri="{FF2B5EF4-FFF2-40B4-BE49-F238E27FC236}">
                <a16:creationId xmlns:a16="http://schemas.microsoft.com/office/drawing/2014/main" id="{E53B2D6C-2CC3-4234-9463-6C7E9374108A}"/>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should persist</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or be refreshed?</a:t>
            </a:r>
          </a:p>
        </p:txBody>
      </p:sp>
      <p:sp>
        <p:nvSpPr>
          <p:cNvPr id="143" name="11-text-8">
            <a:extLst xmlns:a="http://schemas.openxmlformats.org/drawingml/2006/main">
              <a:ext uri="{FF2B5EF4-FFF2-40B4-BE49-F238E27FC236}">
                <a16:creationId xmlns:a16="http://schemas.microsoft.com/office/drawing/2014/main" id="{F4AF4668-340C-491C-B856-1C6BD4496413}"/>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durable facts and constraints.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Summarize or discard what is no longer needed.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Refresh information as its sources change.</a:t>
            </a:r>
          </a:p>
        </p:txBody>
      </p:sp>
      <p:sp>
        <p:nvSpPr>
          <p:cNvPr id="144" name="11-text-9">
            <a:extLst xmlns:a="http://schemas.openxmlformats.org/drawingml/2006/main">
              <a:ext uri="{FF2B5EF4-FFF2-40B4-BE49-F238E27FC236}">
                <a16:creationId xmlns:a16="http://schemas.microsoft.com/office/drawing/2014/main" id="{5D7537AC-3BB7-426B-A00A-679E296B773D}"/>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sources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access scope?</a:t>
            </a:r>
          </a:p>
        </p:txBody>
      </p:sp>
      <p:sp>
        <p:nvSpPr>
          <p:cNvPr id="145" name="11-text-10">
            <a:extLst xmlns:a="http://schemas.openxmlformats.org/drawingml/2006/main">
              <a:ext uri="{FF2B5EF4-FFF2-40B4-BE49-F238E27FC236}">
                <a16:creationId xmlns:a16="http://schemas.microsoft.com/office/drawing/2014/main" id="{3B8E3A4A-F02C-4236-9555-00A64BA977E0}"/>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source locations and revisions.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Limit retrieval to the user's authorized scope.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access outside the model.</a:t>
            </a:r>
          </a:p>
        </p:txBody>
      </p:sp>
      <p:sp>
        <p:nvSpPr>
          <p:cNvPr id="146" name="narrative-number">
            <a:extLst xmlns:a="http://schemas.openxmlformats.org/drawingml/2006/main">
              <a:ext uri="{FF2B5EF4-FFF2-40B4-BE49-F238E27FC236}">
                <a16:creationId xmlns:a16="http://schemas.microsoft.com/office/drawing/2014/main" id="{4CC72067-E977-4FA0-A837-F6205782EB1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3586566882"/>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7" name="!!area-name">
            <a:extLst xmlns:a="http://schemas.openxmlformats.org/drawingml/2006/main">
              <a:ext uri="{FF2B5EF4-FFF2-40B4-BE49-F238E27FC236}">
                <a16:creationId xmlns:a16="http://schemas.microsoft.com/office/drawing/2014/main" id="{6CA0F0DE-6C7A-4C98-8835-FB42D5C0182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owner</a:t>
            </a:r>
          </a:p>
        </p:txBody>
      </p:sp>
      <p:pic>
        <p:nvPicPr>
          <p:cNvPr id="162" name="mini-map"/>
          <p:cNvPicPr>
            <a:picLocks xmlns:a="http://schemas.openxmlformats.org/drawingml/2006/main" noChangeAspect="1"/>
          </p:cNvPicPr>
          <p:nvPr/>
        </p:nvPicPr>
        <p:blipFill>
          <a:blip xmlns:r="http://schemas.openxmlformats.org/officeDocument/2006/relationships" xmlns:a="http://schemas.openxmlformats.org/drawingml/2006/main" r:embed="R1390b91dea38448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49" name="header-divider">
            <a:extLst xmlns:a="http://schemas.openxmlformats.org/drawingml/2006/main">
              <a:ext uri="{FF2B5EF4-FFF2-40B4-BE49-F238E27FC236}">
                <a16:creationId xmlns:a16="http://schemas.microsoft.com/office/drawing/2014/main" id="{12FD7AF0-C172-43A0-9295-CEC50295E82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50" name="context-maintenance-title">
            <a:extLst xmlns:a="http://schemas.openxmlformats.org/drawingml/2006/main">
              <a:ext uri="{FF2B5EF4-FFF2-40B4-BE49-F238E27FC236}">
                <a16:creationId xmlns:a16="http://schemas.microsoft.com/office/drawing/2014/main" id="{774F1D69-E91F-4B6E-8737-B58C57CCD1F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Living with context choices</a:t>
            </a:r>
          </a:p>
        </p:txBody>
      </p:sp>
      <p:sp>
        <p:nvSpPr>
          <p:cNvPr id="151" name="11-text-11">
            <a:extLst xmlns:a="http://schemas.openxmlformats.org/drawingml/2006/main">
              <a:ext uri="{FF2B5EF4-FFF2-40B4-BE49-F238E27FC236}">
                <a16:creationId xmlns:a16="http://schemas.microsoft.com/office/drawing/2014/main" id="{9CEBD7EA-04BC-4408-93C8-CF93F225CD2F}"/>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Freshness</a:t>
            </a:r>
          </a:p>
        </p:txBody>
      </p:sp>
      <p:sp>
        <p:nvSpPr>
          <p:cNvPr id="152" name="11-text-12">
            <a:extLst xmlns:a="http://schemas.openxmlformats.org/drawingml/2006/main">
              <a:ext uri="{FF2B5EF4-FFF2-40B4-BE49-F238E27FC236}">
                <a16:creationId xmlns:a16="http://schemas.microsoft.com/office/drawing/2014/main" id="{305B8FD6-672C-4C5D-80E1-066F630265F4}"/>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New records can make retrieved passages stale.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Refresh retrieval when source versions change.</a:t>
            </a:r>
          </a:p>
        </p:txBody>
      </p:sp>
      <p:sp>
        <p:nvSpPr>
          <p:cNvPr id="153" name="11-text-13">
            <a:extLst xmlns:a="http://schemas.openxmlformats.org/drawingml/2006/main">
              <a:ext uri="{FF2B5EF4-FFF2-40B4-BE49-F238E27FC236}">
                <a16:creationId xmlns:a16="http://schemas.microsoft.com/office/drawing/2014/main" id="{AE62C1C2-95CF-485E-9C79-C571B6403EC3}"/>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Context growth</a:t>
            </a:r>
          </a:p>
        </p:txBody>
      </p:sp>
      <p:sp>
        <p:nvSpPr>
          <p:cNvPr id="154" name="11-text-14">
            <a:extLst xmlns:a="http://schemas.openxmlformats.org/drawingml/2006/main">
              <a:ext uri="{FF2B5EF4-FFF2-40B4-BE49-F238E27FC236}">
                <a16:creationId xmlns:a16="http://schemas.microsoft.com/office/drawing/2014/main" id="{F4DF37E0-3B5B-4108-B6FE-38A0A401CF93}"/>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Summaries can lose constraints as sessions grow.</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 decisions and unresolved questions.</a:t>
            </a:r>
          </a:p>
        </p:txBody>
      </p:sp>
      <p:sp>
        <p:nvSpPr>
          <p:cNvPr id="155" name="11-text-15">
            <a:extLst xmlns:a="http://schemas.openxmlformats.org/drawingml/2006/main">
              <a:ext uri="{FF2B5EF4-FFF2-40B4-BE49-F238E27FC236}">
                <a16:creationId xmlns:a16="http://schemas.microsoft.com/office/drawing/2014/main" id="{5830E989-1545-49C4-9DF9-8CD7350566C8}"/>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Boundaries</a:t>
            </a:r>
          </a:p>
        </p:txBody>
      </p:sp>
      <p:sp>
        <p:nvSpPr>
          <p:cNvPr id="156" name="11-text-16">
            <a:extLst xmlns:a="http://schemas.openxmlformats.org/drawingml/2006/main">
              <a:ext uri="{FF2B5EF4-FFF2-40B4-BE49-F238E27FC236}">
                <a16:creationId xmlns:a16="http://schemas.microsoft.com/office/drawing/2014/main" id="{7831F877-27A1-45C4-B94D-D22C6E5FD603}"/>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Memory or retrieval can cross access boundaries.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Recheck access and preserve provenance.</a:t>
            </a:r>
          </a:p>
        </p:txBody>
      </p:sp>
      <p:sp>
        <p:nvSpPr>
          <p:cNvPr id="157" name="11-text-17">
            <a:extLst xmlns:a="http://schemas.openxmlformats.org/drawingml/2006/main">
              <a:ext uri="{FF2B5EF4-FFF2-40B4-BE49-F238E27FC236}">
                <a16:creationId xmlns:a16="http://schemas.microsoft.com/office/drawing/2014/main" id="{2005DAA3-2F63-472A-B281-59064D96CD18}"/>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Stable prefixes can help caching. Correctness and access take priority.</a:t>
            </a:r>
          </a:p>
        </p:txBody>
      </p:sp>
      <p:sp>
        <p:nvSpPr>
          <p:cNvPr id="158" name="11-text-18">
            <a:extLst xmlns:a="http://schemas.openxmlformats.org/drawingml/2006/main">
              <a:ext uri="{FF2B5EF4-FFF2-40B4-BE49-F238E27FC236}">
                <a16:creationId xmlns:a16="http://schemas.microsoft.com/office/drawing/2014/main" id="{49B1A5CF-D20C-4654-A468-D3FA58F73EA7}"/>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159" name="11-text-19">
            <a:extLst xmlns:a="http://schemas.openxmlformats.org/drawingml/2006/main">
              <a:ext uri="{FF2B5EF4-FFF2-40B4-BE49-F238E27FC236}">
                <a16:creationId xmlns:a16="http://schemas.microsoft.com/office/drawing/2014/main" id="{FCE7E072-FE68-4836-BCB5-12E10730ECAB}"/>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instead of curating.</a:t>
            </a:r>
          </a:p>
        </p:txBody>
      </p:sp>
      <p:sp>
        <p:nvSpPr>
          <p:cNvPr id="160" name="narrative-number">
            <a:extLst xmlns:a="http://schemas.openxmlformats.org/drawingml/2006/main">
              <a:ext uri="{FF2B5EF4-FFF2-40B4-BE49-F238E27FC236}">
                <a16:creationId xmlns:a16="http://schemas.microsoft.com/office/drawing/2014/main" id="{07CAD66E-2E04-4824-815E-698789727B9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3903624561"/>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1" name="!!area-name">
            <a:extLst xmlns:a="http://schemas.openxmlformats.org/drawingml/2006/main">
              <a:ext uri="{FF2B5EF4-FFF2-40B4-BE49-F238E27FC236}">
                <a16:creationId xmlns:a16="http://schemas.microsoft.com/office/drawing/2014/main" id="{EC435323-11A0-4521-84E4-9372A7B424C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owner</a:t>
            </a:r>
          </a:p>
        </p:txBody>
      </p:sp>
      <p:pic>
        <p:nvPicPr>
          <p:cNvPr id="178" name="mini-map"/>
          <p:cNvPicPr>
            <a:picLocks xmlns:a="http://schemas.openxmlformats.org/drawingml/2006/main" noChangeAspect="1"/>
          </p:cNvPicPr>
          <p:nvPr/>
        </p:nvPicPr>
        <p:blipFill>
          <a:blip xmlns:r="http://schemas.openxmlformats.org/officeDocument/2006/relationships" xmlns:a="http://schemas.openxmlformats.org/drawingml/2006/main" r:embed="Rf4cb3b6c80da43a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3" name="header-divider">
            <a:extLst xmlns:a="http://schemas.openxmlformats.org/drawingml/2006/main">
              <a:ext uri="{FF2B5EF4-FFF2-40B4-BE49-F238E27FC236}">
                <a16:creationId xmlns:a16="http://schemas.microsoft.com/office/drawing/2014/main" id="{30EA1565-34DA-4BE4-8F48-E7935EDB4DE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4" name="context-application-title">
            <a:extLst xmlns:a="http://schemas.openxmlformats.org/drawingml/2006/main">
              <a:ext uri="{FF2B5EF4-FFF2-40B4-BE49-F238E27FC236}">
                <a16:creationId xmlns:a16="http://schemas.microsoft.com/office/drawing/2014/main" id="{98CA66B8-26B2-4EA2-BF8B-C5DA2B327D0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 starting context for the FRB brief</a:t>
            </a:r>
          </a:p>
        </p:txBody>
      </p:sp>
      <p:sp>
        <p:nvSpPr>
          <p:cNvPr id="165" name="11-text-20">
            <a:extLst xmlns:a="http://schemas.openxmlformats.org/drawingml/2006/main">
              <a:ext uri="{FF2B5EF4-FFF2-40B4-BE49-F238E27FC236}">
                <a16:creationId xmlns:a16="http://schemas.microsoft.com/office/drawing/2014/main" id="{FBA31F40-9833-4DB5-B962-3A9CDC8DBE31}"/>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context.</a:t>
            </a:r>
          </a:p>
        </p:txBody>
      </p:sp>
      <p:sp>
        <p:nvSpPr>
          <p:cNvPr id="166" name="11-text-21">
            <a:extLst xmlns:a="http://schemas.openxmlformats.org/drawingml/2006/main">
              <a:ext uri="{FF2B5EF4-FFF2-40B4-BE49-F238E27FC236}">
                <a16:creationId xmlns:a16="http://schemas.microsoft.com/office/drawing/2014/main" id="{9C41FE11-7CB5-4BAE-9E54-C2AA5C6BDA61}"/>
              </a:ext>
            </a:extLst>
          </p:cNvPr>
          <p:cNvSpPr>
            <a:spLocks xmlns:a="http://schemas.openxmlformats.org/drawingml/2006/main"/>
          </p:cNvSpPr>
          <p:nvPr/>
        </p:nvSpPr>
        <p:spPr>
          <a:xfrm xmlns:a="http://schemas.openxmlformats.org/drawingml/2006/main">
            <a:off x="609600" y="28448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slide 6 · preliminary</a:t>
            </a:r>
          </a:p>
        </p:txBody>
      </p:sp>
      <p:sp>
        <p:nvSpPr>
          <p:cNvPr id="167" name="11-text-22">
            <a:extLst xmlns:a="http://schemas.openxmlformats.org/drawingml/2006/main">
              <a:ext uri="{FF2B5EF4-FFF2-40B4-BE49-F238E27FC236}">
                <a16:creationId xmlns:a16="http://schemas.microsoft.com/office/drawing/2014/main" id="{0785F924-D8D9-4AAF-B325-9451EA4ABC84}"/>
              </a:ext>
            </a:extLst>
          </p:cNvPr>
          <p:cNvSpPr>
            <a:spLocks xmlns:a="http://schemas.openxmlformats.org/drawingml/2006/main"/>
          </p:cNvSpPr>
          <p:nvPr/>
        </p:nvSpPr>
        <p:spPr>
          <a:xfrm xmlns:a="http://schemas.openxmlformats.org/drawingml/2006/main">
            <a:off x="609600" y="3251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possible cause.”</a:t>
            </a:r>
          </a:p>
        </p:txBody>
      </p:sp>
      <p:sp>
        <p:nvSpPr>
          <p:cNvPr id="168" name="11-text-23">
            <a:extLst xmlns:a="http://schemas.openxmlformats.org/drawingml/2006/main">
              <a:ext uri="{FF2B5EF4-FFF2-40B4-BE49-F238E27FC236}">
                <a16:creationId xmlns:a16="http://schemas.microsoft.com/office/drawing/2014/main" id="{D94178EF-F0EC-4C59-BFFF-FDA00B453BBE}"/>
              </a:ext>
            </a:extLst>
          </p:cNvPr>
          <p:cNvSpPr>
            <a:spLocks xmlns:a="http://schemas.openxmlformats.org/drawingml/2006/main"/>
          </p:cNvSpPr>
          <p:nvPr/>
        </p:nvSpPr>
        <p:spPr>
          <a:xfrm xmlns:a="http://schemas.openxmlformats.org/drawingml/2006/main">
            <a:off x="609600" y="41910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Later minutes</a:t>
            </a:r>
          </a:p>
        </p:txBody>
      </p:sp>
      <p:sp>
        <p:nvSpPr>
          <p:cNvPr id="169" name="11-text-24">
            <a:extLst xmlns:a="http://schemas.openxmlformats.org/drawingml/2006/main">
              <a:ext uri="{FF2B5EF4-FFF2-40B4-BE49-F238E27FC236}">
                <a16:creationId xmlns:a16="http://schemas.microsoft.com/office/drawing/2014/main" id="{21E681F8-BCF6-4D64-8C89-FF8FE0ACBF0D}"/>
              </a:ext>
            </a:extLst>
          </p:cNvPr>
          <p:cNvSpPr>
            <a:spLocks xmlns:a="http://schemas.openxmlformats.org/drawingml/2006/main"/>
          </p:cNvSpPr>
          <p:nvPr/>
        </p:nvSpPr>
        <p:spPr>
          <a:xfrm xmlns:a="http://schemas.openxmlformats.org/drawingml/2006/main">
            <a:off x="609600" y="48260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170" name="11-text-25">
            <a:extLst xmlns:a="http://schemas.openxmlformats.org/drawingml/2006/main">
              <a:ext uri="{FF2B5EF4-FFF2-40B4-BE49-F238E27FC236}">
                <a16:creationId xmlns:a16="http://schemas.microsoft.com/office/drawing/2014/main" id="{F5DAD1AE-31AD-4A6D-A266-B6AC417CA820}"/>
              </a:ext>
            </a:extLst>
          </p:cNvPr>
          <p:cNvSpPr>
            <a:spLocks xmlns:a="http://schemas.openxmlformats.org/drawingml/2006/main"/>
          </p:cNvSpPr>
          <p:nvPr/>
        </p:nvSpPr>
        <p:spPr>
          <a:xfrm xmlns:a="http://schemas.openxmlformats.org/drawingml/2006/main">
            <a:off x="6248400" y="284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a:t>
            </a:r>
          </a:p>
        </p:txBody>
      </p:sp>
      <p:sp>
        <p:nvSpPr>
          <p:cNvPr id="171" name="11-text-26">
            <a:extLst xmlns:a="http://schemas.openxmlformats.org/drawingml/2006/main">
              <a:ext uri="{FF2B5EF4-FFF2-40B4-BE49-F238E27FC236}">
                <a16:creationId xmlns:a16="http://schemas.microsoft.com/office/drawing/2014/main" id="{9528676E-DF41-49F8-AC6E-BE75B3107670}"/>
              </a:ext>
            </a:extLst>
          </p:cNvPr>
          <p:cNvSpPr>
            <a:spLocks xmlns:a="http://schemas.openxmlformats.org/drawingml/2006/main"/>
          </p:cNvSpPr>
          <p:nvPr/>
        </p:nvSpPr>
        <p:spPr>
          <a:xfrm xmlns:a="http://schemas.openxmlformats.org/drawingml/2006/main">
            <a:off x="6248400" y="32258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Relevant passages, with</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revisions and source locations.</a:t>
            </a:r>
          </a:p>
        </p:txBody>
      </p:sp>
      <p:sp>
        <p:nvSpPr>
          <p:cNvPr id="172" name="11-text-27">
            <a:extLst xmlns:a="http://schemas.openxmlformats.org/drawingml/2006/main">
              <a:ext uri="{FF2B5EF4-FFF2-40B4-BE49-F238E27FC236}">
                <a16:creationId xmlns:a16="http://schemas.microsoft.com/office/drawing/2014/main" id="{18747A3A-6A94-485C-B38A-9144A78043E0}"/>
              </a:ext>
            </a:extLst>
          </p:cNvPr>
          <p:cNvSpPr>
            <a:spLocks xmlns:a="http://schemas.openxmlformats.org/drawingml/2006/main"/>
          </p:cNvSpPr>
          <p:nvPr/>
        </p:nvSpPr>
        <p:spPr>
          <a:xfrm xmlns:a="http://schemas.openxmlformats.org/drawingml/2006/main">
            <a:off x="6248400" y="4013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Retain</a:t>
            </a:r>
          </a:p>
        </p:txBody>
      </p:sp>
      <p:sp>
        <p:nvSpPr>
          <p:cNvPr id="173" name="11-text-28">
            <a:extLst xmlns:a="http://schemas.openxmlformats.org/drawingml/2006/main">
              <a:ext uri="{FF2B5EF4-FFF2-40B4-BE49-F238E27FC236}">
                <a16:creationId xmlns:a16="http://schemas.microsoft.com/office/drawing/2014/main" id="{9828968A-E5A8-4FF2-93C1-5397199A1C26}"/>
              </a:ext>
            </a:extLst>
          </p:cNvPr>
          <p:cNvSpPr>
            <a:spLocks xmlns:a="http://schemas.openxmlformats.org/drawingml/2006/main"/>
          </p:cNvSpPr>
          <p:nvPr/>
        </p:nvSpPr>
        <p:spPr>
          <a:xfrm xmlns:a="http://schemas.openxmlformats.org/drawingml/2006/main">
            <a:off x="6248400" y="43942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Unresolved cause.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174" name="11-text-29">
            <a:extLst xmlns:a="http://schemas.openxmlformats.org/drawingml/2006/main">
              <a:ext uri="{FF2B5EF4-FFF2-40B4-BE49-F238E27FC236}">
                <a16:creationId xmlns:a16="http://schemas.microsoft.com/office/drawing/2014/main" id="{420B9124-8634-40BD-BC44-D391234F1C34}"/>
              </a:ext>
            </a:extLst>
          </p:cNvPr>
          <p:cNvSpPr>
            <a:spLocks xmlns:a="http://schemas.openxmlformats.org/drawingml/2006/main"/>
          </p:cNvSpPr>
          <p:nvPr/>
        </p:nvSpPr>
        <p:spPr>
          <a:xfrm xmlns:a="http://schemas.openxmlformats.org/drawingml/2006/main">
            <a:off x="6248400" y="51816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Refresh</a:t>
            </a:r>
          </a:p>
        </p:txBody>
      </p:sp>
      <p:sp>
        <p:nvSpPr>
          <p:cNvPr id="175" name="11-text-30">
            <a:extLst xmlns:a="http://schemas.openxmlformats.org/drawingml/2006/main">
              <a:ext uri="{FF2B5EF4-FFF2-40B4-BE49-F238E27FC236}">
                <a16:creationId xmlns:a16="http://schemas.microsoft.com/office/drawing/2014/main" id="{0A50A435-12D8-4DDD-8AEE-4BD7C52F44DB}"/>
              </a:ext>
            </a:extLst>
          </p:cNvPr>
          <p:cNvSpPr>
            <a:spLocks xmlns:a="http://schemas.openxmlformats.org/drawingml/2006/main"/>
          </p:cNvSpPr>
          <p:nvPr/>
        </p:nvSpPr>
        <p:spPr>
          <a:xfrm xmlns:a="http://schemas.openxmlformats.org/drawingml/2006/main">
            <a:off x="6248400" y="55626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Update sources and recheck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before finalizing the brief.</a:t>
            </a:r>
          </a:p>
        </p:txBody>
      </p:sp>
      <p:sp>
        <p:nvSpPr>
          <p:cNvPr id="176" name="narrative-number">
            <a:extLst xmlns:a="http://schemas.openxmlformats.org/drawingml/2006/main">
              <a:ext uri="{FF2B5EF4-FFF2-40B4-BE49-F238E27FC236}">
                <a16:creationId xmlns:a16="http://schemas.microsoft.com/office/drawing/2014/main" id="{BCCB8CDF-443F-4624-B4D6-A1335E62905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2026728422"/>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77" name="!!area-header">
            <a:extLst xmlns:a="http://schemas.openxmlformats.org/drawingml/2006/main">
              <a:ext uri="{FF2B5EF4-FFF2-40B4-BE49-F238E27FC236}">
                <a16:creationId xmlns:a16="http://schemas.microsoft.com/office/drawing/2014/main" id="{1E9572EE-F3EF-4289-9F1D-FCC9D38FB486}"/>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178" name="!!area-name">
            <a:extLst xmlns:a="http://schemas.openxmlformats.org/drawingml/2006/main">
              <a:ext uri="{FF2B5EF4-FFF2-40B4-BE49-F238E27FC236}">
                <a16:creationId xmlns:a16="http://schemas.microsoft.com/office/drawing/2014/main" id="{2A4F9769-7D22-48A2-AC51-352EB1D011BA}"/>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Tools and extensibility</a:t>
            </a:r>
          </a:p>
        </p:txBody>
      </p:sp>
      <p:sp>
        <p:nvSpPr>
          <p:cNvPr id="179" name="!!area-beat">
            <a:extLst xmlns:a="http://schemas.openxmlformats.org/drawingml/2006/main">
              <a:ext uri="{FF2B5EF4-FFF2-40B4-BE49-F238E27FC236}">
                <a16:creationId xmlns:a16="http://schemas.microsoft.com/office/drawing/2014/main" id="{D7AD8178-7668-458E-9589-1A9D95F7AEF4}"/>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180" name="header-divider">
            <a:extLst xmlns:a="http://schemas.openxmlformats.org/drawingml/2006/main">
              <a:ext uri="{FF2B5EF4-FFF2-40B4-BE49-F238E27FC236}">
                <a16:creationId xmlns:a16="http://schemas.microsoft.com/office/drawing/2014/main" id="{760E7B3A-F881-4DB6-AD18-C6816AE5F730}"/>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81" name="!!screenshot-MCP configuration">
            <a:extLst xmlns:a="http://schemas.openxmlformats.org/drawingml/2006/main">
              <a:ext uri="{FF2B5EF4-FFF2-40B4-BE49-F238E27FC236}">
                <a16:creationId xmlns:a16="http://schemas.microsoft.com/office/drawing/2014/main" id="{801EBB53-244F-4770-90FE-11ECA43C3E90}"/>
              </a:ext>
            </a:extLst>
          </p:cNvPr>
          <p:cNvSpPr>
            <a:spLocks xmlns:a="http://schemas.openxmlformats.org/drawingml/2006/main"/>
          </p:cNvSpPr>
          <p:nvPr/>
        </p:nvSpPr>
        <p:spPr>
          <a:xfrm xmlns:a="http://schemas.openxmlformats.org/drawingml/2006/main">
            <a:off x="609600" y="2082800"/>
            <a:ext cx="5334000" cy="2870200"/>
          </a:xfrm>
          <a:prstGeom xmlns:a="http://schemas.openxmlformats.org/drawingml/2006/main" prst="roundRect">
            <a:avLst>
              <a:gd name="adj" fmla="val 1770"/>
            </a:avLst>
          </a:prstGeom>
          <a:solidFill xmlns:a="http://schemas.openxmlformats.org/drawingml/2006/main">
            <a:srgbClr val="303236"/>
          </a:solidFill>
          <a:ln xmlns:a="http://schemas.openxmlformats.org/drawingml/2006/main" w="12700">
            <a:solidFill>
              <a:srgbClr val="4C4D50"/>
            </a:solidFill>
          </a:ln>
        </p:spPr>
      </p:sp>
      <p:sp>
        <p:nvSpPr>
          <p:cNvPr id="182" name="12-text-1">
            <a:extLst xmlns:a="http://schemas.openxmlformats.org/drawingml/2006/main">
              <a:ext uri="{FF2B5EF4-FFF2-40B4-BE49-F238E27FC236}">
                <a16:creationId xmlns:a16="http://schemas.microsoft.com/office/drawing/2014/main" id="{97D5C4C9-BEE9-48A8-AA64-5E5301F3F48F}"/>
              </a:ext>
            </a:extLst>
          </p:cNvPr>
          <p:cNvSpPr>
            <a:spLocks xmlns:a="http://schemas.openxmlformats.org/drawingml/2006/main"/>
          </p:cNvSpPr>
          <p:nvPr/>
        </p:nvSpPr>
        <p:spPr>
          <a:xfrm xmlns:a="http://schemas.openxmlformats.org/drawingml/2006/main">
            <a:off x="812800" y="2781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183" name="12-text-2">
            <a:extLst xmlns:a="http://schemas.openxmlformats.org/drawingml/2006/main">
              <a:ext uri="{FF2B5EF4-FFF2-40B4-BE49-F238E27FC236}">
                <a16:creationId xmlns:a16="http://schemas.microsoft.com/office/drawing/2014/main" id="{12ECD18B-9880-4F24-9FEF-0DC4AC2AE876}"/>
              </a:ext>
            </a:extLst>
          </p:cNvPr>
          <p:cNvSpPr>
            <a:spLocks xmlns:a="http://schemas.openxmlformats.org/drawingml/2006/main"/>
          </p:cNvSpPr>
          <p:nvPr/>
        </p:nvSpPr>
        <p:spPr>
          <a:xfrm xmlns:a="http://schemas.openxmlformats.org/drawingml/2006/main">
            <a:off x="812800" y="3302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MCP server configuration</a:t>
            </a:r>
          </a:p>
        </p:txBody>
      </p:sp>
      <p:sp>
        <p:nvSpPr>
          <p:cNvPr id="184" name="!!screenshot-The permission prompt">
            <a:extLst xmlns:a="http://schemas.openxmlformats.org/drawingml/2006/main">
              <a:ext uri="{FF2B5EF4-FFF2-40B4-BE49-F238E27FC236}">
                <a16:creationId xmlns:a16="http://schemas.microsoft.com/office/drawing/2014/main" id="{5A22A76F-3CD5-496B-9052-D27FBAF2C86F}"/>
              </a:ext>
            </a:extLst>
          </p:cNvPr>
          <p:cNvSpPr>
            <a:spLocks xmlns:a="http://schemas.openxmlformats.org/drawingml/2006/main"/>
          </p:cNvSpPr>
          <p:nvPr/>
        </p:nvSpPr>
        <p:spPr>
          <a:xfrm xmlns:a="http://schemas.openxmlformats.org/drawingml/2006/main">
            <a:off x="6248400" y="2082800"/>
            <a:ext cx="5334000" cy="2870200"/>
          </a:xfrm>
          <a:prstGeom xmlns:a="http://schemas.openxmlformats.org/drawingml/2006/main" prst="roundRect">
            <a:avLst>
              <a:gd name="adj" fmla="val 1770"/>
            </a:avLst>
          </a:prstGeom>
          <a:solidFill xmlns:a="http://schemas.openxmlformats.org/drawingml/2006/main">
            <a:srgbClr val="303236"/>
          </a:solidFill>
          <a:ln xmlns:a="http://schemas.openxmlformats.org/drawingml/2006/main" w="12700">
            <a:solidFill>
              <a:srgbClr val="4C4D50"/>
            </a:solidFill>
          </a:ln>
        </p:spPr>
      </p:sp>
      <p:sp>
        <p:nvSpPr>
          <p:cNvPr id="185" name="12-text-3">
            <a:extLst xmlns:a="http://schemas.openxmlformats.org/drawingml/2006/main">
              <a:ext uri="{FF2B5EF4-FFF2-40B4-BE49-F238E27FC236}">
                <a16:creationId xmlns:a16="http://schemas.microsoft.com/office/drawing/2014/main" id="{8D9548AF-7195-49FE-9B52-050A88F35A6E}"/>
              </a:ext>
            </a:extLst>
          </p:cNvPr>
          <p:cNvSpPr>
            <a:spLocks xmlns:a="http://schemas.openxmlformats.org/drawingml/2006/main"/>
          </p:cNvSpPr>
          <p:nvPr/>
        </p:nvSpPr>
        <p:spPr>
          <a:xfrm xmlns:a="http://schemas.openxmlformats.org/drawingml/2006/main">
            <a:off x="6451600" y="2781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186" name="12-text-4">
            <a:extLst xmlns:a="http://schemas.openxmlformats.org/drawingml/2006/main">
              <a:ext uri="{FF2B5EF4-FFF2-40B4-BE49-F238E27FC236}">
                <a16:creationId xmlns:a16="http://schemas.microsoft.com/office/drawing/2014/main" id="{D8461432-DCA6-41ED-A1D1-1A23A4149709}"/>
              </a:ext>
            </a:extLst>
          </p:cNvPr>
          <p:cNvSpPr>
            <a:spLocks xmlns:a="http://schemas.openxmlformats.org/drawingml/2006/main"/>
          </p:cNvSpPr>
          <p:nvPr/>
        </p:nvSpPr>
        <p:spPr>
          <a:xfrm xmlns:a="http://schemas.openxmlformats.org/drawingml/2006/main">
            <a:off x="6451600" y="3302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Live shell-command approval prompt</a:t>
            </a:r>
          </a:p>
        </p:txBody>
      </p:sp>
      <p:sp>
        <p:nvSpPr>
          <p:cNvPr id="187" name="12-text-5">
            <a:extLst xmlns:a="http://schemas.openxmlformats.org/drawingml/2006/main">
              <a:ext uri="{FF2B5EF4-FFF2-40B4-BE49-F238E27FC236}">
                <a16:creationId xmlns:a16="http://schemas.microsoft.com/office/drawing/2014/main" id="{103E917F-3E24-43DF-8D9B-BD061518733D}"/>
              </a:ext>
            </a:extLst>
          </p:cNvPr>
          <p:cNvSpPr>
            <a:spLocks xmlns:a="http://schemas.openxmlformats.org/drawingml/2006/main"/>
          </p:cNvSpPr>
          <p:nvPr/>
        </p:nvSpPr>
        <p:spPr>
          <a:xfrm xmlns:a="http://schemas.openxmlformats.org/drawingml/2006/main">
            <a:off x="609600" y="50546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Codex, </a:t>
            </a:r>
            <a:r>
              <a:rPr b="0">
                <a:solidFill>
                  <a:srgbClr val="FFFCF5"/>
                </a:solidFill>
                <a:latin typeface="Consolas"/>
                <a:ea typeface="Consolas"/>
                <a:cs typeface="Consolas"/>
              </a:rPr>
              <a:t>config.toml</a:t>
            </a:r>
          </a:p>
        </p:txBody>
      </p:sp>
      <p:sp>
        <p:nvSpPr>
          <p:cNvPr id="188" name="12-text-6">
            <a:extLst xmlns:a="http://schemas.openxmlformats.org/drawingml/2006/main">
              <a:ext uri="{FF2B5EF4-FFF2-40B4-BE49-F238E27FC236}">
                <a16:creationId xmlns:a16="http://schemas.microsoft.com/office/drawing/2014/main" id="{8A3C1792-E13E-409B-AF2C-C0C62738E94D}"/>
              </a:ext>
            </a:extLst>
          </p:cNvPr>
          <p:cNvSpPr>
            <a:spLocks xmlns:a="http://schemas.openxmlformats.org/drawingml/2006/main"/>
          </p:cNvSpPr>
          <p:nvPr/>
        </p:nvSpPr>
        <p:spPr>
          <a:xfrm xmlns:a="http://schemas.openxmlformats.org/drawingml/2006/main">
            <a:off x="6248400" y="50546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Shell command approval</a:t>
            </a:r>
          </a:p>
        </p:txBody>
      </p:sp>
      <p:sp>
        <p:nvSpPr>
          <p:cNvPr id="189" name="12-text-7">
            <a:extLst xmlns:a="http://schemas.openxmlformats.org/drawingml/2006/main">
              <a:ext uri="{FF2B5EF4-FFF2-40B4-BE49-F238E27FC236}">
                <a16:creationId xmlns:a16="http://schemas.microsoft.com/office/drawing/2014/main" id="{D4D19DBA-AE07-4EE1-8A11-22C05160FD9B}"/>
              </a:ext>
            </a:extLst>
          </p:cNvPr>
          <p:cNvSpPr>
            <a:spLocks xmlns:a="http://schemas.openxmlformats.org/drawingml/2006/main"/>
          </p:cNvSpPr>
          <p:nvPr/>
        </p:nvSpPr>
        <p:spPr>
          <a:xfrm xmlns:a="http://schemas.openxmlformats.org/drawingml/2006/main">
            <a:off x="609600" y="5511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Codex sandbox: read-only · workspace-write · full access</a:t>
            </a:r>
          </a:p>
        </p:txBody>
      </p:sp>
      <p:sp>
        <p:nvSpPr>
          <p:cNvPr id="190" name="12-text-8">
            <a:extLst xmlns:a="http://schemas.openxmlformats.org/drawingml/2006/main">
              <a:ext uri="{FF2B5EF4-FFF2-40B4-BE49-F238E27FC236}">
                <a16:creationId xmlns:a16="http://schemas.microsoft.com/office/drawing/2014/main" id="{296ADE1C-C056-406E-82AE-8D445DA4BB5D}"/>
              </a:ext>
            </a:extLst>
          </p:cNvPr>
          <p:cNvSpPr>
            <a:spLocks xmlns:a="http://schemas.openxmlformats.org/drawingml/2006/main"/>
          </p:cNvSpPr>
          <p:nvPr/>
        </p:nvSpPr>
        <p:spPr>
          <a:xfrm xmlns:a="http://schemas.openxmlformats.org/drawingml/2006/main">
            <a:off x="609600" y="59182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Devin CLI modes: Normal · Accept Edits · Smart · Bypass · Autonomous</a:t>
            </a:r>
          </a:p>
        </p:txBody>
      </p:sp>
      <p:sp>
        <p:nvSpPr>
          <p:cNvPr id="191" name="narrative-number">
            <a:extLst xmlns:a="http://schemas.openxmlformats.org/drawingml/2006/main">
              <a:ext uri="{FF2B5EF4-FFF2-40B4-BE49-F238E27FC236}">
                <a16:creationId xmlns:a16="http://schemas.microsoft.com/office/drawing/2014/main" id="{106AF5A5-77AE-46BB-B5AF-DD90D9BC935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2624834161"/>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2" name="!!area-name">
            <a:extLst xmlns:a="http://schemas.openxmlformats.org/drawingml/2006/main">
              <a:ext uri="{FF2B5EF4-FFF2-40B4-BE49-F238E27FC236}">
                <a16:creationId xmlns:a16="http://schemas.microsoft.com/office/drawing/2014/main" id="{D2D1A009-D0D9-4EEF-B692-0D647283F6D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user</a:t>
            </a:r>
          </a:p>
        </p:txBody>
      </p:sp>
      <p:pic>
        <p:nvPicPr>
          <p:cNvPr id="208" name="mini-map"/>
          <p:cNvPicPr>
            <a:picLocks xmlns:a="http://schemas.openxmlformats.org/drawingml/2006/main" noChangeAspect="1"/>
          </p:cNvPicPr>
          <p:nvPr/>
        </p:nvPicPr>
        <p:blipFill>
          <a:blip xmlns:r="http://schemas.openxmlformats.org/officeDocument/2006/relationships" xmlns:a="http://schemas.openxmlformats.org/drawingml/2006/main" r:embed="R924a8f3a47c9465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4" name="header-divider">
            <a:extLst xmlns:a="http://schemas.openxmlformats.org/drawingml/2006/main">
              <a:ext uri="{FF2B5EF4-FFF2-40B4-BE49-F238E27FC236}">
                <a16:creationId xmlns:a16="http://schemas.microsoft.com/office/drawing/2014/main" id="{731BD8E7-2D3A-4A3A-A3D8-9BFF929AB0F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95" name="!!screenshot-MCP configuration">
            <a:extLst xmlns:a="http://schemas.openxmlformats.org/drawingml/2006/main">
              <a:ext uri="{FF2B5EF4-FFF2-40B4-BE49-F238E27FC236}">
                <a16:creationId xmlns:a16="http://schemas.microsoft.com/office/drawing/2014/main" id="{C171308A-1B0B-4851-97BA-FE6624D179FE}"/>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196" name="12b-text-1">
            <a:extLst xmlns:a="http://schemas.openxmlformats.org/drawingml/2006/main">
              <a:ext uri="{FF2B5EF4-FFF2-40B4-BE49-F238E27FC236}">
                <a16:creationId xmlns:a16="http://schemas.microsoft.com/office/drawing/2014/main" id="{2D6FB915-1280-494F-8422-8F8CA92FE1AD}"/>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197" name="12b-text-2">
            <a:extLst xmlns:a="http://schemas.openxmlformats.org/drawingml/2006/main">
              <a:ext uri="{FF2B5EF4-FFF2-40B4-BE49-F238E27FC236}">
                <a16:creationId xmlns:a16="http://schemas.microsoft.com/office/drawing/2014/main" id="{106820CF-1DE4-4241-A556-82BF4D60F6E7}"/>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MCP config</a:t>
            </a:r>
          </a:p>
        </p:txBody>
      </p:sp>
      <p:sp>
        <p:nvSpPr>
          <p:cNvPr id="198" name="!!screenshot-The permission prompt">
            <a:extLst xmlns:a="http://schemas.openxmlformats.org/drawingml/2006/main">
              <a:ext uri="{FF2B5EF4-FFF2-40B4-BE49-F238E27FC236}">
                <a16:creationId xmlns:a16="http://schemas.microsoft.com/office/drawing/2014/main" id="{C099F2CA-6A84-432A-8A65-1CA15E28E19B}"/>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199" name="12b-text-3">
            <a:extLst xmlns:a="http://schemas.openxmlformats.org/drawingml/2006/main">
              <a:ext uri="{FF2B5EF4-FFF2-40B4-BE49-F238E27FC236}">
                <a16:creationId xmlns:a16="http://schemas.microsoft.com/office/drawing/2014/main" id="{80EC2F49-4201-4982-8650-D3B0E7169F8C}"/>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200" name="12b-text-4">
            <a:extLst xmlns:a="http://schemas.openxmlformats.org/drawingml/2006/main">
              <a:ext uri="{FF2B5EF4-FFF2-40B4-BE49-F238E27FC236}">
                <a16:creationId xmlns:a16="http://schemas.microsoft.com/office/drawing/2014/main" id="{301F620B-42B9-4D79-A628-3A5DD403B15B}"/>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Approval</a:t>
            </a:r>
          </a:p>
        </p:txBody>
      </p:sp>
      <p:sp>
        <p:nvSpPr>
          <p:cNvPr id="201" name="12b-text-5">
            <a:extLst xmlns:a="http://schemas.openxmlformats.org/drawingml/2006/main">
              <a:ext uri="{FF2B5EF4-FFF2-40B4-BE49-F238E27FC236}">
                <a16:creationId xmlns:a16="http://schemas.microsoft.com/office/drawing/2014/main" id="{B2A5A5B8-9407-4199-AE65-B71FF7E34B6E}"/>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Design the tool for the caller:</a:t>
            </a:r>
          </a:p>
        </p:txBody>
      </p:sp>
      <p:sp>
        <p:nvSpPr>
          <p:cNvPr id="202" name="12b-text-6">
            <a:extLst xmlns:a="http://schemas.openxmlformats.org/drawingml/2006/main">
              <a:ext uri="{FF2B5EF4-FFF2-40B4-BE49-F238E27FC236}">
                <a16:creationId xmlns:a16="http://schemas.microsoft.com/office/drawing/2014/main" id="{0824C995-4592-4EE7-A52C-A5C149682C7B}"/>
              </a:ext>
            </a:extLst>
          </p:cNvPr>
          <p:cNvSpPr>
            <a:spLocks xmlns:a="http://schemas.openxmlformats.org/drawingml/2006/main"/>
          </p:cNvSpPr>
          <p:nvPr/>
        </p:nvSpPr>
        <p:spPr>
          <a:xfrm xmlns:a="http://schemas.openxmlformats.org/drawingml/2006/main">
            <a:off x="609600" y="29972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Consider consolidation for the task. One </a:t>
            </a:r>
            <a:r>
              <a:rPr b="0">
                <a:solidFill>
                  <a:srgbClr val="1064F8"/>
                </a:solidFill>
                <a:latin typeface="Consolas"/>
                <a:ea typeface="Consolas"/>
                <a:cs typeface="Consolas"/>
              </a:rPr>
              <a:t>schedule_event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can combine several API operations.</a:t>
            </a:r>
          </a:p>
        </p:txBody>
      </p:sp>
      <p:sp>
        <p:nvSpPr>
          <p:cNvPr id="203" name="12b-text-7">
            <a:extLst xmlns:a="http://schemas.openxmlformats.org/drawingml/2006/main">
              <a:ext uri="{FF2B5EF4-FFF2-40B4-BE49-F238E27FC236}">
                <a16:creationId xmlns:a16="http://schemas.microsoft.com/office/drawing/2014/main" id="{BEFE5187-D3C5-41C9-AFD7-86E85F8A20DB}"/>
              </a:ext>
            </a:extLst>
          </p:cNvPr>
          <p:cNvSpPr>
            <a:spLocks xmlns:a="http://schemas.openxmlformats.org/drawingml/2006/main"/>
          </p:cNvSpPr>
          <p:nvPr/>
        </p:nvSpPr>
        <p:spPr>
          <a:xfrm xmlns:a="http://schemas.openxmlformats.org/drawingml/2006/main">
            <a:off x="609600" y="39370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Namespace. Prefix versus suffix moved the evals.</a:t>
            </a:r>
          </a:p>
        </p:txBody>
      </p:sp>
      <p:sp>
        <p:nvSpPr>
          <p:cNvPr id="204" name="12b-text-8">
            <a:extLst xmlns:a="http://schemas.openxmlformats.org/drawingml/2006/main">
              <a:ext uri="{FF2B5EF4-FFF2-40B4-BE49-F238E27FC236}">
                <a16:creationId xmlns:a16="http://schemas.microsoft.com/office/drawing/2014/main" id="{6C3D05DE-0072-45E0-BB27-757E2FC82C27}"/>
              </a:ext>
            </a:extLst>
          </p:cNvPr>
          <p:cNvSpPr>
            <a:spLocks xmlns:a="http://schemas.openxmlformats.org/drawingml/2006/main"/>
          </p:cNvSpPr>
          <p:nvPr/>
        </p:nvSpPr>
        <p:spPr>
          <a:xfrm xmlns:a="http://schemas.openxmlformats.org/drawingml/2006/main">
            <a:off x="609600" y="44958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Return meaningful names alongside stable IDs needed to act.</a:t>
            </a:r>
          </a:p>
        </p:txBody>
      </p:sp>
      <p:sp>
        <p:nvSpPr>
          <p:cNvPr id="205" name="12b-text-9">
            <a:extLst xmlns:a="http://schemas.openxmlformats.org/drawingml/2006/main">
              <a:ext uri="{FF2B5EF4-FFF2-40B4-BE49-F238E27FC236}">
                <a16:creationId xmlns:a16="http://schemas.microsoft.com/office/drawing/2014/main" id="{9749662E-084B-4B87-A260-FF9651BDD1CF}"/>
              </a:ext>
            </a:extLst>
          </p:cNvPr>
          <p:cNvSpPr>
            <a:spLocks xmlns:a="http://schemas.openxmlformats.org/drawingml/2006/main"/>
          </p:cNvSpPr>
          <p:nvPr/>
        </p:nvSpPr>
        <p:spPr>
          <a:xfrm xmlns:a="http://schemas.openxmlformats.org/drawingml/2006/main">
            <a:off x="609600" y="5054600"/>
            <a:ext cx="109728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Offer concise or detailed results: 72 tokens versus 206</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 Anthropic's example.</a:t>
            </a:r>
          </a:p>
        </p:txBody>
      </p:sp>
      <p:sp>
        <p:nvSpPr>
          <p:cNvPr id="206" name="narrative-number">
            <a:extLst xmlns:a="http://schemas.openxmlformats.org/drawingml/2006/main">
              <a:ext uri="{FF2B5EF4-FFF2-40B4-BE49-F238E27FC236}">
                <a16:creationId xmlns:a16="http://schemas.microsoft.com/office/drawing/2014/main" id="{6F0697EA-F510-4995-9164-D798B80E29C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2132798992"/>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7" name="!!area-name">
            <a:extLst xmlns:a="http://schemas.openxmlformats.org/drawingml/2006/main">
              <a:ext uri="{FF2B5EF4-FFF2-40B4-BE49-F238E27FC236}">
                <a16:creationId xmlns:a16="http://schemas.microsoft.com/office/drawing/2014/main" id="{AB2293A7-FF57-432F-A8D6-923D649936E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user</a:t>
            </a:r>
          </a:p>
        </p:txBody>
      </p:sp>
      <p:pic>
        <p:nvPicPr>
          <p:cNvPr id="221" name="mini-map"/>
          <p:cNvPicPr>
            <a:picLocks xmlns:a="http://schemas.openxmlformats.org/drawingml/2006/main" noChangeAspect="1"/>
          </p:cNvPicPr>
          <p:nvPr/>
        </p:nvPicPr>
        <p:blipFill>
          <a:blip xmlns:r="http://schemas.openxmlformats.org/officeDocument/2006/relationships" xmlns:a="http://schemas.openxmlformats.org/drawingml/2006/main" r:embed="R38a3e0ba54694a3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09" name="header-divider">
            <a:extLst xmlns:a="http://schemas.openxmlformats.org/drawingml/2006/main">
              <a:ext uri="{FF2B5EF4-FFF2-40B4-BE49-F238E27FC236}">
                <a16:creationId xmlns:a16="http://schemas.microsoft.com/office/drawing/2014/main" id="{31C6A9B3-D46B-4CC0-9931-89A587F2FB7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0" name="!!screenshot-MCP configuration">
            <a:extLst xmlns:a="http://schemas.openxmlformats.org/drawingml/2006/main">
              <a:ext uri="{FF2B5EF4-FFF2-40B4-BE49-F238E27FC236}">
                <a16:creationId xmlns:a16="http://schemas.microsoft.com/office/drawing/2014/main" id="{41FCB444-51A2-4071-8C67-992ACC947B3C}"/>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211" name="12b-text-1">
            <a:extLst xmlns:a="http://schemas.openxmlformats.org/drawingml/2006/main">
              <a:ext uri="{FF2B5EF4-FFF2-40B4-BE49-F238E27FC236}">
                <a16:creationId xmlns:a16="http://schemas.microsoft.com/office/drawing/2014/main" id="{63C04F61-F5BA-461D-85C1-1F405BEC616E}"/>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212" name="12b-text-2">
            <a:extLst xmlns:a="http://schemas.openxmlformats.org/drawingml/2006/main">
              <a:ext uri="{FF2B5EF4-FFF2-40B4-BE49-F238E27FC236}">
                <a16:creationId xmlns:a16="http://schemas.microsoft.com/office/drawing/2014/main" id="{B6878420-49FF-4A4F-A7D7-AA2F9A1BDEF0}"/>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MCP config</a:t>
            </a:r>
          </a:p>
        </p:txBody>
      </p:sp>
      <p:sp>
        <p:nvSpPr>
          <p:cNvPr id="213" name="!!screenshot-The permission prompt">
            <a:extLst xmlns:a="http://schemas.openxmlformats.org/drawingml/2006/main">
              <a:ext uri="{FF2B5EF4-FFF2-40B4-BE49-F238E27FC236}">
                <a16:creationId xmlns:a16="http://schemas.microsoft.com/office/drawing/2014/main" id="{76DDB3A6-F22B-4078-AA74-AC8F61F96F5A}"/>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214" name="12b-text-3">
            <a:extLst xmlns:a="http://schemas.openxmlformats.org/drawingml/2006/main">
              <a:ext uri="{FF2B5EF4-FFF2-40B4-BE49-F238E27FC236}">
                <a16:creationId xmlns:a16="http://schemas.microsoft.com/office/drawing/2014/main" id="{2BF00562-3E69-4F22-A3FF-9CEEEA811ADC}"/>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215" name="12b-text-4">
            <a:extLst xmlns:a="http://schemas.openxmlformats.org/drawingml/2006/main">
              <a:ext uri="{FF2B5EF4-FFF2-40B4-BE49-F238E27FC236}">
                <a16:creationId xmlns:a16="http://schemas.microsoft.com/office/drawing/2014/main" id="{3C79EC75-FC1F-4E82-AD5D-3BC42E089FF0}"/>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Approval</a:t>
            </a:r>
          </a:p>
        </p:txBody>
      </p:sp>
      <p:sp>
        <p:nvSpPr>
          <p:cNvPr id="216" name="12b-text-10">
            <a:extLst xmlns:a="http://schemas.openxmlformats.org/drawingml/2006/main">
              <a:ext uri="{FF2B5EF4-FFF2-40B4-BE49-F238E27FC236}">
                <a16:creationId xmlns:a16="http://schemas.microsoft.com/office/drawing/2014/main" id="{6C04FD5A-2770-48D3-B727-72576FC4EA83}"/>
              </a:ext>
            </a:extLst>
          </p:cNvPr>
          <p:cNvSpPr>
            <a:spLocks xmlns:a="http://schemas.openxmlformats.org/drawingml/2006/main"/>
          </p:cNvSpPr>
          <p:nvPr/>
        </p:nvSpPr>
        <p:spPr>
          <a:xfrm xmlns:a="http://schemas.openxmlformats.org/drawingml/2006/main">
            <a:off x="609600" y="24384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Tool-description refinements improved</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Claude Sonnet 3.5 on SWE-bench Verified.</a:t>
            </a:r>
          </a:p>
        </p:txBody>
      </p:sp>
      <p:sp>
        <p:nvSpPr>
          <p:cNvPr id="217" name="12b-text-11">
            <a:extLst xmlns:a="http://schemas.openxmlformats.org/drawingml/2006/main">
              <a:ext uri="{FF2B5EF4-FFF2-40B4-BE49-F238E27FC236}">
                <a16:creationId xmlns:a16="http://schemas.microsoft.com/office/drawing/2014/main" id="{A8B3871B-A793-4244-977C-E7A87C4AB6A3}"/>
              </a:ext>
            </a:extLst>
          </p:cNvPr>
          <p:cNvSpPr>
            <a:spLocks xmlns:a="http://schemas.openxmlformats.org/drawingml/2006/main"/>
          </p:cNvSpPr>
          <p:nvPr/>
        </p:nvSpPr>
        <p:spPr>
          <a:xfrm xmlns:a="http://schemas.openxmlformats.org/drawingml/2006/main">
            <a:off x="609600" y="3860800"/>
            <a:ext cx="109728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Anthropic's five-server example: about 55,000 tokens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before the first message. Tool search reduced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definition overhead by 85%.</a:t>
            </a:r>
          </a:p>
        </p:txBody>
      </p:sp>
      <p:sp>
        <p:nvSpPr>
          <p:cNvPr id="218" name="12b-text-12">
            <a:extLst xmlns:a="http://schemas.openxmlformats.org/drawingml/2006/main">
              <a:ext uri="{FF2B5EF4-FFF2-40B4-BE49-F238E27FC236}">
                <a16:creationId xmlns:a16="http://schemas.microsoft.com/office/drawing/2014/main" id="{D7151B64-B825-4D2D-853D-01AD7EE8E6C7}"/>
              </a:ext>
            </a:extLst>
          </p:cNvPr>
          <p:cNvSpPr>
            <a:spLocks xmlns:a="http://schemas.openxmlformats.org/drawingml/2006/main"/>
          </p:cNvSpPr>
          <p:nvPr/>
        </p:nvSpPr>
        <p:spPr>
          <a:xfrm xmlns:a="http://schemas.openxmlformats.org/drawingml/2006/main">
            <a:off x="609600" y="5689600"/>
            <a:ext cx="109728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The protocol's floor: no token passthrough · minimal scopes · consent before local commands</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 sandboxed execution</a:t>
            </a:r>
          </a:p>
        </p:txBody>
      </p:sp>
      <p:sp>
        <p:nvSpPr>
          <p:cNvPr id="219" name="narrative-number">
            <a:extLst xmlns:a="http://schemas.openxmlformats.org/drawingml/2006/main">
              <a:ext uri="{FF2B5EF4-FFF2-40B4-BE49-F238E27FC236}">
                <a16:creationId xmlns:a16="http://schemas.microsoft.com/office/drawing/2014/main" id="{1D679ED8-3A2F-4C07-9061-A45F42304E2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2621648857"/>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0" name="!!area-name">
            <a:extLst xmlns:a="http://schemas.openxmlformats.org/drawingml/2006/main">
              <a:ext uri="{FF2B5EF4-FFF2-40B4-BE49-F238E27FC236}">
                <a16:creationId xmlns:a16="http://schemas.microsoft.com/office/drawing/2014/main" id="{96C37367-DCB7-43C8-BF64-6F235346E39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owner</a:t>
            </a:r>
          </a:p>
        </p:txBody>
      </p:sp>
      <p:pic>
        <p:nvPicPr>
          <p:cNvPr id="229" name="mini-map"/>
          <p:cNvPicPr>
            <a:picLocks xmlns:a="http://schemas.openxmlformats.org/drawingml/2006/main" noChangeAspect="1"/>
          </p:cNvPicPr>
          <p:nvPr/>
        </p:nvPicPr>
        <p:blipFill>
          <a:blip xmlns:r="http://schemas.openxmlformats.org/officeDocument/2006/relationships" xmlns:a="http://schemas.openxmlformats.org/drawingml/2006/main" r:embed="Ra496d4dfbaa4448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22" name="slide-title">
            <a:extLst xmlns:a="http://schemas.openxmlformats.org/drawingml/2006/main">
              <a:ext uri="{FF2B5EF4-FFF2-40B4-BE49-F238E27FC236}">
                <a16:creationId xmlns:a16="http://schemas.microsoft.com/office/drawing/2014/main" id="{BBFDCBE7-1377-403B-9AAC-01FE8D031AE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write the contract.</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build the gate.</a:t>
            </a:r>
          </a:p>
        </p:txBody>
      </p:sp>
      <p:sp>
        <p:nvSpPr>
          <p:cNvPr id="223" name="header-divider">
            <a:extLst xmlns:a="http://schemas.openxmlformats.org/drawingml/2006/main">
              <a:ext uri="{FF2B5EF4-FFF2-40B4-BE49-F238E27FC236}">
                <a16:creationId xmlns:a16="http://schemas.microsoft.com/office/drawing/2014/main" id="{5B792B44-ECF1-485F-A6C4-5EF2F476F93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24" name="13-text-1">
            <a:extLst xmlns:a="http://schemas.openxmlformats.org/drawingml/2006/main">
              <a:ext uri="{FF2B5EF4-FFF2-40B4-BE49-F238E27FC236}">
                <a16:creationId xmlns:a16="http://schemas.microsoft.com/office/drawing/2014/main" id="{9956A649-FF8F-4622-A85A-4C761218D083}"/>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tool contract</a:t>
            </a:r>
          </a:p>
        </p:txBody>
      </p:sp>
      <p:sp>
        <p:nvSpPr>
          <p:cNvPr id="225" name="13-text-2">
            <a:extLst xmlns:a="http://schemas.openxmlformats.org/drawingml/2006/main">
              <a:ext uri="{FF2B5EF4-FFF2-40B4-BE49-F238E27FC236}">
                <a16:creationId xmlns:a16="http://schemas.microsoft.com/office/drawing/2014/main" id="{82CCF20C-2F19-49A0-A5EE-FDA22E5DA576}"/>
              </a:ext>
            </a:extLst>
          </p:cNvPr>
          <p:cNvSpPr>
            <a:spLocks xmlns:a="http://schemas.openxmlformats.org/drawingml/2006/main"/>
          </p:cNvSpPr>
          <p:nvPr/>
        </p:nvSpPr>
        <p:spPr>
          <a:xfrm xmlns:a="http://schemas.openxmlformats.org/drawingml/2006/main">
            <a:off x="609600" y="27940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Background: parse and index PDF reports, Word minutes,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PowerPoint briefings.</a:t>
            </a:r>
          </a:p>
        </p:txBody>
      </p:sp>
      <p:graphicFrame>
        <p:nvGraphicFramePr>
          <p:cNvPr id="234" name="13-table-3"/>
          <p:cNvGraphicFramePr/>
          <p:nvPr/>
        </p:nvGraphicFramePr>
        <p:xfrm>
          <a:off xmlns:a="http://schemas.openxmlformats.org/drawingml/2006/main" x="609600" y="3606800"/>
          <a:ext xmlns:a="http://schemas.openxmlformats.org/drawingml/2006/main" cx="10972800" cy="2463800"/>
        </p:xfrm>
        <a:graphic xmlns:a="http://schemas.openxmlformats.org/drawingml/2006/main">
          <a:graphicData uri="http://schemas.openxmlformats.org/drawingml/2006/table">
            <a:tbl>
              <a:tblPr firstRow="0" firstCol="0" lastCol="0" bandRow="0" bandCol="0"/>
              <a:tblGrid>
                <a:gridCol w="2743200"/>
                <a:gridCol w="3606800"/>
                <a:gridCol w="4622800"/>
              </a:tblGrid>
              <a:tr h="406400">
                <a:tc>
                  <a:txBody>
                    <a:bodyPr>
                      <a:noAutofit/>
                    </a:bodyPr>
                    <a:lstStyle/>
                    <a:p>
                      <a:pPr>
                        <a:lnSpc>
                          <a:spcPct val="125000"/>
                        </a:lnSpc>
                        <a:buNone/>
                      </a:pPr>
                      <a:r>
                        <a:rPr sz="2000" b="1">
                          <a:solidFill>
                            <a:srgbClr val="F948BE"/>
                          </a:solidFill>
                          <a:latin typeface="Helvetica"/>
                          <a:ea typeface="Helvetica"/>
                          <a:cs typeface="Helvetica"/>
                        </a:rPr>
                        <a:t>Agent tool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Returns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Search</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ID, date, category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Authorized record IDs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Retrieve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ID, revision, location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Exact source passages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Export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Selected IDs + revisions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Records + manifest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85800">
                <a:tc>
                  <a:txBody>
                    <a:bodyPr>
                      <a:noAutofit/>
                    </a:bodyPr>
                    <a:lstStyle/>
                    <a:p>
                      <a:pPr>
                        <a:lnSpc>
                          <a:spcPct val="125000"/>
                        </a:lnSpc>
                        <a:buNone/>
                      </a:pPr>
                      <a:r>
                        <a:rPr sz="2000" b="0">
                          <a:solidFill>
                            <a:srgbClr val="FFFCF5"/>
                          </a:solidFill>
                          <a:latin typeface="Helvetica"/>
                          <a:ea typeface="Helvetica"/>
                          <a:cs typeface="Helvetica"/>
                        </a:rPr>
                        <a:t>Export cited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Checked draft + citations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Brief + export receipt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27" name="narrative-number">
            <a:extLst xmlns:a="http://schemas.openxmlformats.org/drawingml/2006/main">
              <a:ext uri="{FF2B5EF4-FFF2-40B4-BE49-F238E27FC236}">
                <a16:creationId xmlns:a16="http://schemas.microsoft.com/office/drawing/2014/main" id="{82EFAFD8-7601-4175-B8A1-6BBBE59688B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1971873458"/>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8" name="!!area-name">
            <a:extLst xmlns:a="http://schemas.openxmlformats.org/drawingml/2006/main">
              <a:ext uri="{FF2B5EF4-FFF2-40B4-BE49-F238E27FC236}">
                <a16:creationId xmlns:a16="http://schemas.microsoft.com/office/drawing/2014/main" id="{23030E36-93B1-4CA9-8268-D05DF43BB9A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owner</a:t>
            </a:r>
          </a:p>
        </p:txBody>
      </p:sp>
      <p:pic>
        <p:nvPicPr>
          <p:cNvPr id="245" name="mini-map"/>
          <p:cNvPicPr>
            <a:picLocks xmlns:a="http://schemas.openxmlformats.org/drawingml/2006/main" noChangeAspect="1"/>
          </p:cNvPicPr>
          <p:nvPr/>
        </p:nvPicPr>
        <p:blipFill>
          <a:blip xmlns:r="http://schemas.openxmlformats.org/officeDocument/2006/relationships" xmlns:a="http://schemas.openxmlformats.org/drawingml/2006/main" r:embed="R281e8b4951854d9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0" name="slide-title">
            <a:extLst xmlns:a="http://schemas.openxmlformats.org/drawingml/2006/main">
              <a:ext uri="{FF2B5EF4-FFF2-40B4-BE49-F238E27FC236}">
                <a16:creationId xmlns:a16="http://schemas.microsoft.com/office/drawing/2014/main" id="{CB297F7F-F352-4A89-B6FC-C74C369374A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write the contract.</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build the gate.</a:t>
            </a:r>
          </a:p>
        </p:txBody>
      </p:sp>
      <p:sp>
        <p:nvSpPr>
          <p:cNvPr id="231" name="header-divider">
            <a:extLst xmlns:a="http://schemas.openxmlformats.org/drawingml/2006/main">
              <a:ext uri="{FF2B5EF4-FFF2-40B4-BE49-F238E27FC236}">
                <a16:creationId xmlns:a16="http://schemas.microsoft.com/office/drawing/2014/main" id="{FF553FA9-C668-4D7D-81A9-1200C6FCF8A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32" name="13-text-4">
            <a:extLst xmlns:a="http://schemas.openxmlformats.org/drawingml/2006/main">
              <a:ext uri="{FF2B5EF4-FFF2-40B4-BE49-F238E27FC236}">
                <a16:creationId xmlns:a16="http://schemas.microsoft.com/office/drawing/2014/main" id="{5759F65E-71ED-4DC4-959A-20CA728A1511}"/>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result contract</a:t>
            </a:r>
          </a:p>
        </p:txBody>
      </p:sp>
      <p:sp>
        <p:nvSpPr>
          <p:cNvPr id="233" name="13-text-5">
            <a:extLst xmlns:a="http://schemas.openxmlformats.org/drawingml/2006/main">
              <a:ext uri="{FF2B5EF4-FFF2-40B4-BE49-F238E27FC236}">
                <a16:creationId xmlns:a16="http://schemas.microsoft.com/office/drawing/2014/main" id="{297DFFBE-55F9-4FE1-A9FB-A396D59650E4}"/>
              </a:ext>
            </a:extLst>
          </p:cNvPr>
          <p:cNvSpPr>
            <a:spLocks xmlns:a="http://schemas.openxmlformats.org/drawingml/2006/main"/>
          </p:cNvSpPr>
          <p:nvPr/>
        </p:nvSpPr>
        <p:spPr>
          <a:xfrm xmlns:a="http://schemas.openxmlformats.org/drawingml/2006/main">
            <a:off x="609600" y="28956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a:t>
            </a:r>
          </a:p>
        </p:txBody>
      </p:sp>
      <p:sp>
        <p:nvSpPr>
          <p:cNvPr id="234" name="13-text-6">
            <a:extLst xmlns:a="http://schemas.openxmlformats.org/drawingml/2006/main">
              <a:ext uri="{FF2B5EF4-FFF2-40B4-BE49-F238E27FC236}">
                <a16:creationId xmlns:a16="http://schemas.microsoft.com/office/drawing/2014/main" id="{5F3913C3-CC06-45D6-90C6-20AE259133B8}"/>
              </a:ext>
            </a:extLst>
          </p:cNvPr>
          <p:cNvSpPr>
            <a:spLocks xmlns:a="http://schemas.openxmlformats.org/drawingml/2006/main"/>
          </p:cNvSpPr>
          <p:nvPr/>
        </p:nvSpPr>
        <p:spPr>
          <a:xfrm xmlns:a="http://schemas.openxmlformats.org/drawingml/2006/main">
            <a:off x="2489200" y="2895600"/>
            <a:ext cx="9093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Stable IDs, revisions, source locations.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Parsing failures and incomplete results are explicit.</a:t>
            </a:r>
          </a:p>
        </p:txBody>
      </p:sp>
      <p:sp>
        <p:nvSpPr>
          <p:cNvPr id="235" name="13-text-7">
            <a:extLst xmlns:a="http://schemas.openxmlformats.org/drawingml/2006/main">
              <a:ext uri="{FF2B5EF4-FFF2-40B4-BE49-F238E27FC236}">
                <a16:creationId xmlns:a16="http://schemas.microsoft.com/office/drawing/2014/main" id="{3F8D58FF-C10E-4F3A-B716-42F78D46A5F2}"/>
              </a:ext>
            </a:extLst>
          </p:cNvPr>
          <p:cNvSpPr>
            <a:spLocks xmlns:a="http://schemas.openxmlformats.org/drawingml/2006/main"/>
          </p:cNvSpPr>
          <p:nvPr/>
        </p:nvSpPr>
        <p:spPr>
          <a:xfrm xmlns:a="http://schemas.openxmlformats.org/drawingml/2006/main">
            <a:off x="609600" y="38608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Export</a:t>
            </a:r>
          </a:p>
        </p:txBody>
      </p:sp>
      <p:sp>
        <p:nvSpPr>
          <p:cNvPr id="236" name="13-text-8">
            <a:extLst xmlns:a="http://schemas.openxmlformats.org/drawingml/2006/main">
              <a:ext uri="{FF2B5EF4-FFF2-40B4-BE49-F238E27FC236}">
                <a16:creationId xmlns:a16="http://schemas.microsoft.com/office/drawing/2014/main" id="{983E75C5-9613-41EA-BD9B-51742B3E4B4E}"/>
              </a:ext>
            </a:extLst>
          </p:cNvPr>
          <p:cNvSpPr>
            <a:spLocks xmlns:a="http://schemas.openxmlformats.org/drawingml/2006/main"/>
          </p:cNvSpPr>
          <p:nvPr/>
        </p:nvSpPr>
        <p:spPr>
          <a:xfrm xmlns:a="http://schemas.openxmlformats.org/drawingml/2006/main">
            <a:off x="2489200" y="3860800"/>
            <a:ext cx="9093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Selected records or the checked brief,</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citations and uncertainty intact.</a:t>
            </a:r>
          </a:p>
        </p:txBody>
      </p:sp>
      <p:sp>
        <p:nvSpPr>
          <p:cNvPr id="237" name="13-text-9">
            <a:extLst xmlns:a="http://schemas.openxmlformats.org/drawingml/2006/main">
              <a:ext uri="{FF2B5EF4-FFF2-40B4-BE49-F238E27FC236}">
                <a16:creationId xmlns:a16="http://schemas.microsoft.com/office/drawing/2014/main" id="{A4ADB549-78C1-467D-85CC-2AED4C8F7CEB}"/>
              </a:ext>
            </a:extLst>
          </p:cNvPr>
          <p:cNvSpPr>
            <a:spLocks xmlns:a="http://schemas.openxmlformats.org/drawingml/2006/main"/>
          </p:cNvSpPr>
          <p:nvPr/>
        </p:nvSpPr>
        <p:spPr>
          <a:xfrm xmlns:a="http://schemas.openxmlformats.org/drawingml/2006/main">
            <a:off x="609600" y="48260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Gate</a:t>
            </a:r>
          </a:p>
        </p:txBody>
      </p:sp>
      <p:sp>
        <p:nvSpPr>
          <p:cNvPr id="238" name="13-text-10">
            <a:extLst xmlns:a="http://schemas.openxmlformats.org/drawingml/2006/main">
              <a:ext uri="{FF2B5EF4-FFF2-40B4-BE49-F238E27FC236}">
                <a16:creationId xmlns:a16="http://schemas.microsoft.com/office/drawing/2014/main" id="{1C5C3F19-8F07-486B-96B2-5D5C4B70CD8E}"/>
              </a:ext>
            </a:extLst>
          </p:cNvPr>
          <p:cNvSpPr>
            <a:spLocks xmlns:a="http://schemas.openxmlformats.org/drawingml/2006/main"/>
          </p:cNvSpPr>
          <p:nvPr/>
        </p:nvSpPr>
        <p:spPr>
          <a:xfrm xmlns:a="http://schemas.openxmlformats.org/drawingml/2006/main">
            <a:off x="2489200" y="4826000"/>
            <a:ext cx="9093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access and allowed destinations outside the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reads and exports.</a:t>
            </a:r>
          </a:p>
        </p:txBody>
      </p:sp>
      <p:sp>
        <p:nvSpPr>
          <p:cNvPr id="239" name="13-shape-11">
            <a:extLst xmlns:a="http://schemas.openxmlformats.org/drawingml/2006/main">
              <a:ext uri="{FF2B5EF4-FFF2-40B4-BE49-F238E27FC236}">
                <a16:creationId xmlns:a16="http://schemas.microsoft.com/office/drawing/2014/main" id="{4D4857AD-852A-43E3-BD90-BFA6BDBE0A3A}"/>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240" name="13-shape-12">
            <a:extLst xmlns:a="http://schemas.openxmlformats.org/drawingml/2006/main">
              <a:ext uri="{FF2B5EF4-FFF2-40B4-BE49-F238E27FC236}">
                <a16:creationId xmlns:a16="http://schemas.microsoft.com/office/drawing/2014/main" id="{9BDAF8A8-9934-444C-90A7-FA49489F0615}"/>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241" name="13-text-13">
            <a:extLst xmlns:a="http://schemas.openxmlformats.org/drawingml/2006/main">
              <a:ext uri="{FF2B5EF4-FFF2-40B4-BE49-F238E27FC236}">
                <a16:creationId xmlns:a16="http://schemas.microsoft.com/office/drawing/2014/main" id="{C1BC20AF-711F-44C4-BFEE-F6FD2A84CA3D}"/>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242" name="13-text-14">
            <a:extLst xmlns:a="http://schemas.openxmlformats.org/drawingml/2006/main">
              <a:ext uri="{FF2B5EF4-FFF2-40B4-BE49-F238E27FC236}">
                <a16:creationId xmlns:a16="http://schemas.microsoft.com/office/drawing/2014/main" id="{C2D474DD-4DFD-4C1D-AF82-FD08DC26E188}"/>
              </a:ext>
            </a:extLst>
          </p:cNvPr>
          <p:cNvSpPr>
            <a:spLocks xmlns:a="http://schemas.openxmlformats.org/drawingml/2006/main"/>
          </p:cNvSpPr>
          <p:nvPr/>
        </p:nvSpPr>
        <p:spPr>
          <a:xfrm xmlns:a="http://schemas.openxmlformats.org/drawingml/2006/main">
            <a:off x="2489200" y="6146800"/>
            <a:ext cx="9093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the API surface without evaluating task fit.</a:t>
            </a:r>
          </a:p>
        </p:txBody>
      </p:sp>
      <p:sp>
        <p:nvSpPr>
          <p:cNvPr id="243" name="narrative-number">
            <a:extLst xmlns:a="http://schemas.openxmlformats.org/drawingml/2006/main">
              <a:ext uri="{FF2B5EF4-FFF2-40B4-BE49-F238E27FC236}">
                <a16:creationId xmlns:a16="http://schemas.microsoft.com/office/drawing/2014/main" id="{FE66EC4F-6A39-4616-8255-52F7DBDC96A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3538767288"/>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9"/>
                                        </p:tgtEl>
                                        <p:attrNameLst>
                                          <p:attrName>style.visibility</p:attrName>
                                        </p:attrNameLst>
                                      </p:cBhvr>
                                      <p:to>
                                        <p:strVal val="visible"/>
                                      </p:to>
                                    </p:set>
                                    <p:animEffect transition="in" filter="fade">
                                      <p:cBhvr>
                                        <p:cTn id="7" dur="300" fill="hold"/>
                                        <p:tgtEl>
                                          <p:spTgt spid="239"/>
                                        </p:tgtEl>
                                      </p:cBhvr>
                                    </p:animEffect>
                                  </p:childTnLst>
                                </p:cTn>
                              </p:par>
                              <p:par>
                                <p:cTn id="8" presetID="10" presetClass="entr" presetSubtype="0" fill="hold" nodeType="withEffect">
                                  <p:stCondLst>
                                    <p:cond delay="0"/>
                                  </p:stCondLst>
                                  <p:childTnLst>
                                    <p:set>
                                      <p:cBhvr>
                                        <p:cTn id="9" dur="1" fill="hold">
                                          <p:stCondLst>
                                            <p:cond delay="0"/>
                                          </p:stCondLst>
                                        </p:cTn>
                                        <p:tgtEl>
                                          <p:spTgt spid="240"/>
                                        </p:tgtEl>
                                        <p:attrNameLst>
                                          <p:attrName>style.visibility</p:attrName>
                                        </p:attrNameLst>
                                      </p:cBhvr>
                                      <p:to>
                                        <p:strVal val="visible"/>
                                      </p:to>
                                    </p:set>
                                    <p:animEffect transition="in" filter="fade">
                                      <p:cBhvr>
                                        <p:cTn id="10" dur="300" fill="hold"/>
                                        <p:tgtEl>
                                          <p:spTgt spid="240"/>
                                        </p:tgtEl>
                                      </p:cBhvr>
                                    </p:animEffect>
                                  </p:childTnLst>
                                </p:cTn>
                              </p:par>
                              <p:par>
                                <p:cTn id="11" presetID="10" presetClass="entr" presetSubtype="0" fill="hold" nodeType="withEffect">
                                  <p:stCondLst>
                                    <p:cond delay="0"/>
                                  </p:stCondLst>
                                  <p:childTnLst>
                                    <p:set>
                                      <p:cBhvr>
                                        <p:cTn id="12" dur="1" fill="hold">
                                          <p:stCondLst>
                                            <p:cond delay="0"/>
                                          </p:stCondLst>
                                        </p:cTn>
                                        <p:tgtEl>
                                          <p:spTgt spid="241"/>
                                        </p:tgtEl>
                                        <p:attrNameLst>
                                          <p:attrName>style.visibility</p:attrName>
                                        </p:attrNameLst>
                                      </p:cBhvr>
                                      <p:to>
                                        <p:strVal val="visible"/>
                                      </p:to>
                                    </p:set>
                                    <p:animEffect transition="in" filter="fade">
                                      <p:cBhvr>
                                        <p:cTn id="13" dur="300" fill="hold"/>
                                        <p:tgtEl>
                                          <p:spTgt spid="241"/>
                                        </p:tgtEl>
                                      </p:cBhvr>
                                    </p:animEffect>
                                  </p:childTnLst>
                                </p:cTn>
                              </p:par>
                              <p:par>
                                <p:cTn id="14" presetID="10" presetClass="entr" presetSubtype="0" fill="hold" nodeType="withEffect">
                                  <p:stCondLst>
                                    <p:cond delay="0"/>
                                  </p:stCondLst>
                                  <p:childTnLst>
                                    <p:set>
                                      <p:cBhvr>
                                        <p:cTn id="15" dur="1" fill="hold">
                                          <p:stCondLst>
                                            <p:cond delay="0"/>
                                          </p:stCondLst>
                                        </p:cTn>
                                        <p:tgtEl>
                                          <p:spTgt spid="242"/>
                                        </p:tgtEl>
                                        <p:attrNameLst>
                                          <p:attrName>style.visibility</p:attrName>
                                        </p:attrNameLst>
                                      </p:cBhvr>
                                      <p:to>
                                        <p:strVal val="visible"/>
                                      </p:to>
                                    </p:set>
                                    <p:animEffect transition="in" filter="fade">
                                      <p:cBhvr>
                                        <p:cTn id="16" dur="300" fill="hold"/>
                                        <p:tgtEl>
                                          <p:spTgt spid="2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4" name="!!area-header">
            <a:extLst xmlns:a="http://schemas.openxmlformats.org/drawingml/2006/main">
              <a:ext uri="{FF2B5EF4-FFF2-40B4-BE49-F238E27FC236}">
                <a16:creationId xmlns:a16="http://schemas.microsoft.com/office/drawing/2014/main" id="{5F7F060B-96A0-4454-A1E7-46D5FCA1E0CC}"/>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245" name="!!area-name">
            <a:extLst xmlns:a="http://schemas.openxmlformats.org/drawingml/2006/main">
              <a:ext uri="{FF2B5EF4-FFF2-40B4-BE49-F238E27FC236}">
                <a16:creationId xmlns:a16="http://schemas.microsoft.com/office/drawing/2014/main" id="{A3E21AB2-EEA1-4E74-AA1A-32234D479C82}"/>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246" name="!!area-beat">
            <a:extLst xmlns:a="http://schemas.openxmlformats.org/drawingml/2006/main">
              <a:ext uri="{FF2B5EF4-FFF2-40B4-BE49-F238E27FC236}">
                <a16:creationId xmlns:a16="http://schemas.microsoft.com/office/drawing/2014/main" id="{B514810B-12BB-4F3A-83E6-C826DBB1461F}"/>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247" name="header-divider">
            <a:extLst xmlns:a="http://schemas.openxmlformats.org/drawingml/2006/main">
              <a:ext uri="{FF2B5EF4-FFF2-40B4-BE49-F238E27FC236}">
                <a16:creationId xmlns:a16="http://schemas.microsoft.com/office/drawing/2014/main" id="{F054F110-65DC-444C-9C17-28D44F213620}"/>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8" name="14-shape-1">
            <a:extLst xmlns:a="http://schemas.openxmlformats.org/drawingml/2006/main">
              <a:ext uri="{FF2B5EF4-FFF2-40B4-BE49-F238E27FC236}">
                <a16:creationId xmlns:a16="http://schemas.microsoft.com/office/drawing/2014/main" id="{9C3BFD7A-66E3-44DB-A293-3E6D78CE7B87}"/>
              </a:ext>
            </a:extLst>
          </p:cNvPr>
          <p:cNvSpPr>
            <a:spLocks xmlns:a="http://schemas.openxmlformats.org/drawingml/2006/main"/>
          </p:cNvSpPr>
          <p:nvPr/>
        </p:nvSpPr>
        <p:spPr>
          <a:xfrm xmlns:a="http://schemas.openxmlformats.org/drawingml/2006/main">
            <a:off x="609600" y="2082800"/>
            <a:ext cx="10033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249" name="14-text-2">
            <a:extLst xmlns:a="http://schemas.openxmlformats.org/drawingml/2006/main">
              <a:ext uri="{FF2B5EF4-FFF2-40B4-BE49-F238E27FC236}">
                <a16:creationId xmlns:a16="http://schemas.microsoft.com/office/drawing/2014/main" id="{F02E866F-43E6-4624-85B3-55DB0F61EAAD}"/>
              </a:ext>
            </a:extLst>
          </p:cNvPr>
          <p:cNvSpPr>
            <a:spLocks xmlns:a="http://schemas.openxmlformats.org/drawingml/2006/main"/>
          </p:cNvSpPr>
          <p:nvPr/>
        </p:nvSpPr>
        <p:spPr>
          <a:xfrm xmlns:a="http://schemas.openxmlformats.org/drawingml/2006/main">
            <a:off x="762000" y="2120900"/>
            <a:ext cx="69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/plan</a:t>
            </a:r>
          </a:p>
        </p:txBody>
      </p:sp>
      <p:sp>
        <p:nvSpPr>
          <p:cNvPr id="250" name="14-shape-3">
            <a:extLst xmlns:a="http://schemas.openxmlformats.org/drawingml/2006/main">
              <a:ext uri="{FF2B5EF4-FFF2-40B4-BE49-F238E27FC236}">
                <a16:creationId xmlns:a16="http://schemas.microsoft.com/office/drawing/2014/main" id="{E9C03DB1-1E9B-4A4E-AFA6-92C49F4F9418}"/>
              </a:ext>
            </a:extLst>
          </p:cNvPr>
          <p:cNvSpPr>
            <a:spLocks xmlns:a="http://schemas.openxmlformats.org/drawingml/2006/main"/>
          </p:cNvSpPr>
          <p:nvPr/>
        </p:nvSpPr>
        <p:spPr>
          <a:xfrm xmlns:a="http://schemas.openxmlformats.org/drawingml/2006/main">
            <a:off x="1714500" y="2082800"/>
            <a:ext cx="14859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51" name="14-text-4">
            <a:extLst xmlns:a="http://schemas.openxmlformats.org/drawingml/2006/main">
              <a:ext uri="{FF2B5EF4-FFF2-40B4-BE49-F238E27FC236}">
                <a16:creationId xmlns:a16="http://schemas.microsoft.com/office/drawing/2014/main" id="{3AEB4BC7-BBE6-49FE-A742-073F9E1DA1A1}"/>
              </a:ext>
            </a:extLst>
          </p:cNvPr>
          <p:cNvSpPr>
            <a:spLocks xmlns:a="http://schemas.openxmlformats.org/drawingml/2006/main"/>
          </p:cNvSpPr>
          <p:nvPr/>
        </p:nvSpPr>
        <p:spPr>
          <a:xfrm xmlns:a="http://schemas.openxmlformats.org/drawingml/2006/main">
            <a:off x="1866900" y="2120900"/>
            <a:ext cx="1181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subagents</a:t>
            </a:r>
          </a:p>
        </p:txBody>
      </p:sp>
      <p:sp>
        <p:nvSpPr>
          <p:cNvPr id="252" name="14-shape-5">
            <a:extLst xmlns:a="http://schemas.openxmlformats.org/drawingml/2006/main">
              <a:ext uri="{FF2B5EF4-FFF2-40B4-BE49-F238E27FC236}">
                <a16:creationId xmlns:a16="http://schemas.microsoft.com/office/drawing/2014/main" id="{FE9F291C-66C3-45FD-8C5A-C1991ABBB39B}"/>
              </a:ext>
            </a:extLst>
          </p:cNvPr>
          <p:cNvSpPr>
            <a:spLocks xmlns:a="http://schemas.openxmlformats.org/drawingml/2006/main"/>
          </p:cNvSpPr>
          <p:nvPr/>
        </p:nvSpPr>
        <p:spPr>
          <a:xfrm xmlns:a="http://schemas.openxmlformats.org/drawingml/2006/main">
            <a:off x="3302000" y="2082800"/>
            <a:ext cx="9906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53" name="14-text-6">
            <a:extLst xmlns:a="http://schemas.openxmlformats.org/drawingml/2006/main">
              <a:ext uri="{FF2B5EF4-FFF2-40B4-BE49-F238E27FC236}">
                <a16:creationId xmlns:a16="http://schemas.microsoft.com/office/drawing/2014/main" id="{2DE48DF5-8A7E-4F5D-BBA7-E2924CEF501B}"/>
              </a:ext>
            </a:extLst>
          </p:cNvPr>
          <p:cNvSpPr>
            <a:spLocks xmlns:a="http://schemas.openxmlformats.org/drawingml/2006/main"/>
          </p:cNvSpPr>
          <p:nvPr/>
        </p:nvSpPr>
        <p:spPr>
          <a:xfrm xmlns:a="http://schemas.openxmlformats.org/drawingml/2006/main">
            <a:off x="3454400" y="2120900"/>
            <a:ext cx="685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hooks</a:t>
            </a:r>
          </a:p>
        </p:txBody>
      </p:sp>
      <p:sp>
        <p:nvSpPr>
          <p:cNvPr id="254" name="14-shape-7">
            <a:extLst xmlns:a="http://schemas.openxmlformats.org/drawingml/2006/main">
              <a:ext uri="{FF2B5EF4-FFF2-40B4-BE49-F238E27FC236}">
                <a16:creationId xmlns:a16="http://schemas.microsoft.com/office/drawing/2014/main" id="{6C6AC15D-6EE3-4E1C-AF4D-A8002B7B2BE2}"/>
              </a:ext>
            </a:extLst>
          </p:cNvPr>
          <p:cNvSpPr>
            <a:spLocks xmlns:a="http://schemas.openxmlformats.org/drawingml/2006/main"/>
          </p:cNvSpPr>
          <p:nvPr/>
        </p:nvSpPr>
        <p:spPr>
          <a:xfrm xmlns:a="http://schemas.openxmlformats.org/drawingml/2006/main">
            <a:off x="4394200" y="2082800"/>
            <a:ext cx="14224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255" name="14-text-8">
            <a:extLst xmlns:a="http://schemas.openxmlformats.org/drawingml/2006/main">
              <a:ext uri="{FF2B5EF4-FFF2-40B4-BE49-F238E27FC236}">
                <a16:creationId xmlns:a16="http://schemas.microsoft.com/office/drawing/2014/main" id="{C4DDEA9E-9133-4826-929A-9A48B8EF6553}"/>
              </a:ext>
            </a:extLst>
          </p:cNvPr>
          <p:cNvSpPr>
            <a:spLocks xmlns:a="http://schemas.openxmlformats.org/drawingml/2006/main"/>
          </p:cNvSpPr>
          <p:nvPr/>
        </p:nvSpPr>
        <p:spPr>
          <a:xfrm xmlns:a="http://schemas.openxmlformats.org/drawingml/2006/main">
            <a:off x="4546600" y="2120900"/>
            <a:ext cx="111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/compact</a:t>
            </a:r>
          </a:p>
        </p:txBody>
      </p:sp>
      <p:sp>
        <p:nvSpPr>
          <p:cNvPr id="256" name="14-shape-9">
            <a:extLst xmlns:a="http://schemas.openxmlformats.org/drawingml/2006/main">
              <a:ext uri="{FF2B5EF4-FFF2-40B4-BE49-F238E27FC236}">
                <a16:creationId xmlns:a16="http://schemas.microsoft.com/office/drawing/2014/main" id="{F524EC86-2634-469C-8434-2C5748709654}"/>
              </a:ext>
            </a:extLst>
          </p:cNvPr>
          <p:cNvSpPr>
            <a:spLocks xmlns:a="http://schemas.openxmlformats.org/drawingml/2006/main"/>
          </p:cNvSpPr>
          <p:nvPr/>
        </p:nvSpPr>
        <p:spPr>
          <a:xfrm xmlns:a="http://schemas.openxmlformats.org/drawingml/2006/main">
            <a:off x="5918200" y="2082800"/>
            <a:ext cx="12827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257" name="14-text-10">
            <a:extLst xmlns:a="http://schemas.openxmlformats.org/drawingml/2006/main">
              <a:ext uri="{FF2B5EF4-FFF2-40B4-BE49-F238E27FC236}">
                <a16:creationId xmlns:a16="http://schemas.microsoft.com/office/drawing/2014/main" id="{C68E3B82-84A5-4299-AEEB-7F4E8470DDE6}"/>
              </a:ext>
            </a:extLst>
          </p:cNvPr>
          <p:cNvSpPr>
            <a:spLocks xmlns:a="http://schemas.openxmlformats.org/drawingml/2006/main"/>
          </p:cNvSpPr>
          <p:nvPr/>
        </p:nvSpPr>
        <p:spPr>
          <a:xfrm xmlns:a="http://schemas.openxmlformats.org/drawingml/2006/main">
            <a:off x="6070600" y="2120900"/>
            <a:ext cx="977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/resume</a:t>
            </a:r>
          </a:p>
        </p:txBody>
      </p:sp>
      <p:sp>
        <p:nvSpPr>
          <p:cNvPr id="258" name="14-shape-11">
            <a:extLst xmlns:a="http://schemas.openxmlformats.org/drawingml/2006/main">
              <a:ext uri="{FF2B5EF4-FFF2-40B4-BE49-F238E27FC236}">
                <a16:creationId xmlns:a16="http://schemas.microsoft.com/office/drawing/2014/main" id="{5C842337-1021-4EBE-AB35-CFB1D1B346A9}"/>
              </a:ext>
            </a:extLst>
          </p:cNvPr>
          <p:cNvSpPr>
            <a:spLocks xmlns:a="http://schemas.openxmlformats.org/drawingml/2006/main"/>
          </p:cNvSpPr>
          <p:nvPr/>
        </p:nvSpPr>
        <p:spPr>
          <a:xfrm xmlns:a="http://schemas.openxmlformats.org/drawingml/2006/main">
            <a:off x="7302500" y="2082800"/>
            <a:ext cx="10033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259" name="14-text-12">
            <a:extLst xmlns:a="http://schemas.openxmlformats.org/drawingml/2006/main">
              <a:ext uri="{FF2B5EF4-FFF2-40B4-BE49-F238E27FC236}">
                <a16:creationId xmlns:a16="http://schemas.microsoft.com/office/drawing/2014/main" id="{01E3AB2C-99BA-494A-AD0A-C1EA822F9807}"/>
              </a:ext>
            </a:extLst>
          </p:cNvPr>
          <p:cNvSpPr>
            <a:spLocks xmlns:a="http://schemas.openxmlformats.org/drawingml/2006/main"/>
          </p:cNvSpPr>
          <p:nvPr/>
        </p:nvSpPr>
        <p:spPr>
          <a:xfrm xmlns:a="http://schemas.openxmlformats.org/drawingml/2006/main">
            <a:off x="7454900" y="2120900"/>
            <a:ext cx="69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/fork</a:t>
            </a:r>
          </a:p>
        </p:txBody>
      </p:sp>
      <p:sp>
        <p:nvSpPr>
          <p:cNvPr id="260" name="14-text-13">
            <a:extLst xmlns:a="http://schemas.openxmlformats.org/drawingml/2006/main">
              <a:ext uri="{FF2B5EF4-FFF2-40B4-BE49-F238E27FC236}">
                <a16:creationId xmlns:a16="http://schemas.microsoft.com/office/drawing/2014/main" id="{308DCD91-A7BE-473F-8C15-4B4ECEB4726A}"/>
              </a:ext>
            </a:extLst>
          </p:cNvPr>
          <p:cNvSpPr>
            <a:spLocks xmlns:a="http://schemas.openxmlformats.org/drawingml/2006/main"/>
          </p:cNvSpPr>
          <p:nvPr/>
        </p:nvSpPr>
        <p:spPr>
          <a:xfrm xmlns:a="http://schemas.openxmlformats.org/drawingml/2006/main">
            <a:off x="3810000" y="3022600"/>
            <a:ext cx="4572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gather context</a:t>
            </a:r>
          </a:p>
        </p:txBody>
      </p:sp>
      <p:sp>
        <p:nvSpPr>
          <p:cNvPr id="261" name="14-text-14">
            <a:extLst xmlns:a="http://schemas.openxmlformats.org/drawingml/2006/main">
              <a:ext uri="{FF2B5EF4-FFF2-40B4-BE49-F238E27FC236}">
                <a16:creationId xmlns:a16="http://schemas.microsoft.com/office/drawing/2014/main" id="{AD931E18-4062-4FEA-9A15-0EFB44989157}"/>
              </a:ext>
            </a:extLst>
          </p:cNvPr>
          <p:cNvSpPr>
            <a:spLocks xmlns:a="http://schemas.openxmlformats.org/drawingml/2006/main"/>
          </p:cNvSpPr>
          <p:nvPr/>
        </p:nvSpPr>
        <p:spPr>
          <a:xfrm xmlns:a="http://schemas.openxmlformats.org/drawingml/2006/main">
            <a:off x="7289800" y="48133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take action</a:t>
            </a:r>
          </a:p>
        </p:txBody>
      </p:sp>
      <p:sp>
        <p:nvSpPr>
          <p:cNvPr id="262" name="14-text-15">
            <a:extLst xmlns:a="http://schemas.openxmlformats.org/drawingml/2006/main">
              <a:ext uri="{FF2B5EF4-FFF2-40B4-BE49-F238E27FC236}">
                <a16:creationId xmlns:a16="http://schemas.microsoft.com/office/drawing/2014/main" id="{9B2D5E41-806E-4C56-920B-6CBBC7E44501}"/>
              </a:ext>
            </a:extLst>
          </p:cNvPr>
          <p:cNvSpPr>
            <a:spLocks xmlns:a="http://schemas.openxmlformats.org/drawingml/2006/main"/>
          </p:cNvSpPr>
          <p:nvPr/>
        </p:nvSpPr>
        <p:spPr>
          <a:xfrm xmlns:a="http://schemas.openxmlformats.org/drawingml/2006/main">
            <a:off x="2260600" y="4813300"/>
            <a:ext cx="2286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verify</a:t>
            </a:r>
          </a:p>
        </p:txBody>
      </p:sp>
      <p:sp>
        <p:nvSpPr>
          <p:cNvPr id="263" name="14-line-17">
            <a:extLst xmlns:a="http://schemas.openxmlformats.org/drawingml/2006/main">
              <a:ext uri="{FF2B5EF4-FFF2-40B4-BE49-F238E27FC236}">
                <a16:creationId xmlns:a16="http://schemas.microsoft.com/office/drawing/2014/main" id="{4FCF21AC-4AF0-4011-AE51-01440663580C}"/>
              </a:ext>
            </a:extLst>
          </p:cNvPr>
          <p:cNvSpPr>
            <a:spLocks xmlns:a="http://schemas.openxmlformats.org/drawingml/2006/main"/>
          </p:cNvSpPr>
          <p:nvPr/>
        </p:nvSpPr>
        <p:spPr>
          <a:xfrm xmlns:a="http://schemas.openxmlformats.org/drawingml/2006/main" flipH="0" flipV="0">
            <a:off x="7035800" y="3556000"/>
            <a:ext cx="1028700" cy="85090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64" name="14-line-19">
            <a:extLst xmlns:a="http://schemas.openxmlformats.org/drawingml/2006/main">
              <a:ext uri="{FF2B5EF4-FFF2-40B4-BE49-F238E27FC236}">
                <a16:creationId xmlns:a16="http://schemas.microsoft.com/office/drawing/2014/main" id="{8FA0EDBB-62FC-4C20-BEA6-6538688424FF}"/>
              </a:ext>
            </a:extLst>
          </p:cNvPr>
          <p:cNvSpPr>
            <a:spLocks xmlns:a="http://schemas.openxmlformats.org/drawingml/2006/main"/>
          </p:cNvSpPr>
          <p:nvPr/>
        </p:nvSpPr>
        <p:spPr>
          <a:xfrm xmlns:a="http://schemas.openxmlformats.org/drawingml/2006/main" flipH="1" flipV="0">
            <a:off x="4597400" y="5092700"/>
            <a:ext cx="2565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65" name="14-line-21">
            <a:extLst xmlns:a="http://schemas.openxmlformats.org/drawingml/2006/main">
              <a:ext uri="{FF2B5EF4-FFF2-40B4-BE49-F238E27FC236}">
                <a16:creationId xmlns:a16="http://schemas.microsoft.com/office/drawing/2014/main" id="{D8C1B563-39FB-4D01-AB6D-8879BAA55D78}"/>
              </a:ext>
            </a:extLst>
          </p:cNvPr>
          <p:cNvSpPr>
            <a:spLocks xmlns:a="http://schemas.openxmlformats.org/drawingml/2006/main"/>
          </p:cNvSpPr>
          <p:nvPr/>
        </p:nvSpPr>
        <p:spPr>
          <a:xfrm xmlns:a="http://schemas.openxmlformats.org/drawingml/2006/main" flipH="0" flipV="1">
            <a:off x="3644900" y="3556000"/>
            <a:ext cx="1270000" cy="88900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66" name="narrative-number">
            <a:extLst xmlns:a="http://schemas.openxmlformats.org/drawingml/2006/main">
              <a:ext uri="{FF2B5EF4-FFF2-40B4-BE49-F238E27FC236}">
                <a16:creationId xmlns:a16="http://schemas.microsoft.com/office/drawing/2014/main" id="{1A5E5EC2-9658-41D0-9610-3005542D50A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846394118"/>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7" name="!!area-name">
            <a:extLst xmlns:a="http://schemas.openxmlformats.org/drawingml/2006/main">
              <a:ext uri="{FF2B5EF4-FFF2-40B4-BE49-F238E27FC236}">
                <a16:creationId xmlns:a16="http://schemas.microsoft.com/office/drawing/2014/main" id="{A9AF9126-F57F-4670-8B3E-1F4961D95B5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user</a:t>
            </a:r>
          </a:p>
        </p:txBody>
      </p:sp>
      <p:pic>
        <p:nvPicPr>
          <p:cNvPr id="279" name="mini-map"/>
          <p:cNvPicPr>
            <a:picLocks xmlns:a="http://schemas.openxmlformats.org/drawingml/2006/main" noChangeAspect="1"/>
          </p:cNvPicPr>
          <p:nvPr/>
        </p:nvPicPr>
        <p:blipFill>
          <a:blip xmlns:r="http://schemas.openxmlformats.org/officeDocument/2006/relationships" xmlns:a="http://schemas.openxmlformats.org/drawingml/2006/main" r:embed="Rdcb645ec16ba4fa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69" name="header-divider">
            <a:extLst xmlns:a="http://schemas.openxmlformats.org/drawingml/2006/main">
              <a:ext uri="{FF2B5EF4-FFF2-40B4-BE49-F238E27FC236}">
                <a16:creationId xmlns:a16="http://schemas.microsoft.com/office/drawing/2014/main" id="{4188FD92-BC2A-4FCD-B5DF-31215A7AFA6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0" name="14b-text-1">
            <a:extLst xmlns:a="http://schemas.openxmlformats.org/drawingml/2006/main">
              <a:ext uri="{FF2B5EF4-FFF2-40B4-BE49-F238E27FC236}">
                <a16:creationId xmlns:a16="http://schemas.microsoft.com/office/drawing/2014/main" id="{BC1D8EA1-F59F-41BD-ADE8-0C5CD20FD6A4}"/>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/plan</a:t>
            </a:r>
            <a:r>
              <a:rPr b="0">
                <a:solidFill>
                  <a:srgbClr val="ADACA9"/>
                </a:solidFill>
                <a:latin typeface="Helvetica"/>
                <a:ea typeface="Helvetica"/>
                <a:cs typeface="Helvetica"/>
              </a:rPr>
              <a:t> · subagents · hooks · </a:t>
            </a:r>
            <a:r>
              <a:rPr b="0">
                <a:solidFill>
                  <a:srgbClr val="FFFCF5"/>
                </a:solidFill>
                <a:latin typeface="Consolas"/>
                <a:ea typeface="Consolas"/>
                <a:cs typeface="Consolas"/>
              </a:rPr>
              <a:t>/compact</a:t>
            </a:r>
            <a:r>
              <a:rPr b="0">
                <a:solidFill>
                  <a:srgbClr val="ADACA9"/>
                </a:solidFill>
                <a:latin typeface="Helvetica"/>
                <a:ea typeface="Helvetica"/>
                <a:cs typeface="Helvetica"/>
              </a:rPr>
              <a:t> · </a:t>
            </a:r>
            <a:r>
              <a:rPr b="0">
                <a:solidFill>
                  <a:srgbClr val="FFFCF5"/>
                </a:solidFill>
                <a:latin typeface="Consolas"/>
                <a:ea typeface="Consolas"/>
                <a:cs typeface="Consolas"/>
              </a:rPr>
              <a:t>/resume</a:t>
            </a:r>
            <a:r>
              <a:rPr b="0">
                <a:solidFill>
                  <a:srgbClr val="ADACA9"/>
                </a:solidFill>
                <a:latin typeface="Helvetica"/>
                <a:ea typeface="Helvetica"/>
                <a:cs typeface="Helvetica"/>
              </a:rPr>
              <a:t> · </a:t>
            </a:r>
            <a:r>
              <a:rPr b="0">
                <a:solidFill>
                  <a:srgbClr val="FFFCF5"/>
                </a:solidFill>
                <a:latin typeface="Consolas"/>
                <a:ea typeface="Consolas"/>
                <a:cs typeface="Consolas"/>
              </a:rPr>
              <a:t>/fork</a:t>
            </a:r>
          </a:p>
        </p:txBody>
      </p:sp>
      <p:sp>
        <p:nvSpPr>
          <p:cNvPr id="271" name="14b-text-2">
            <a:extLst xmlns:a="http://schemas.openxmlformats.org/drawingml/2006/main">
              <a:ext uri="{FF2B5EF4-FFF2-40B4-BE49-F238E27FC236}">
                <a16:creationId xmlns:a16="http://schemas.microsoft.com/office/drawing/2014/main" id="{F24419E1-AFEA-40B4-A4CC-4CBBD8F8AE86}"/>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The loop's decisions:</a:t>
            </a:r>
          </a:p>
        </p:txBody>
      </p:sp>
      <p:sp>
        <p:nvSpPr>
          <p:cNvPr id="272" name="14b-text-3">
            <a:extLst xmlns:a="http://schemas.openxmlformats.org/drawingml/2006/main">
              <a:ext uri="{FF2B5EF4-FFF2-40B4-BE49-F238E27FC236}">
                <a16:creationId xmlns:a16="http://schemas.microsoft.com/office/drawing/2014/main" id="{B7842DC7-CFC9-4702-8E10-56693197855E}"/>
              </a:ext>
            </a:extLst>
          </p:cNvPr>
          <p:cNvSpPr>
            <a:spLocks xmlns:a="http://schemas.openxmlformats.org/drawingml/2006/main"/>
          </p:cNvSpPr>
          <p:nvPr/>
        </p:nvSpPr>
        <p:spPr>
          <a:xfrm xmlns:a="http://schemas.openxmlformats.org/drawingml/2006/main">
            <a:off x="609600" y="29718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When to stop.</a:t>
            </a:r>
          </a:p>
        </p:txBody>
      </p:sp>
      <p:sp>
        <p:nvSpPr>
          <p:cNvPr id="273" name="14b-text-4">
            <a:extLst xmlns:a="http://schemas.openxmlformats.org/drawingml/2006/main">
              <a:ext uri="{FF2B5EF4-FFF2-40B4-BE49-F238E27FC236}">
                <a16:creationId xmlns:a16="http://schemas.microsoft.com/office/drawing/2014/main" id="{E9D4B977-9725-44ED-91DB-CCD6941D65CA}"/>
              </a:ext>
            </a:extLst>
          </p:cNvPr>
          <p:cNvSpPr>
            <a:spLocks xmlns:a="http://schemas.openxmlformats.org/drawingml/2006/main"/>
          </p:cNvSpPr>
          <p:nvPr/>
        </p:nvSpPr>
        <p:spPr>
          <a:xfrm xmlns:a="http://schemas.openxmlformats.org/drawingml/2006/main">
            <a:off x="609600" y="35814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carries between turns.</a:t>
            </a:r>
          </a:p>
        </p:txBody>
      </p:sp>
      <p:sp>
        <p:nvSpPr>
          <p:cNvPr id="274" name="14b-text-5">
            <a:extLst xmlns:a="http://schemas.openxmlformats.org/drawingml/2006/main">
              <a:ext uri="{FF2B5EF4-FFF2-40B4-BE49-F238E27FC236}">
                <a16:creationId xmlns:a16="http://schemas.microsoft.com/office/drawing/2014/main" id="{D97396AB-1C09-4948-BA6F-8A04C872302F}"/>
              </a:ext>
            </a:extLst>
          </p:cNvPr>
          <p:cNvSpPr>
            <a:spLocks xmlns:a="http://schemas.openxmlformats.org/drawingml/2006/main"/>
          </p:cNvSpPr>
          <p:nvPr/>
        </p:nvSpPr>
        <p:spPr>
          <a:xfrm xmlns:a="http://schemas.openxmlformats.org/drawingml/2006/main">
            <a:off x="609600" y="419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When to compact.</a:t>
            </a:r>
          </a:p>
        </p:txBody>
      </p:sp>
      <p:sp>
        <p:nvSpPr>
          <p:cNvPr id="275" name="14b-text-6">
            <a:extLst xmlns:a="http://schemas.openxmlformats.org/drawingml/2006/main">
              <a:ext uri="{FF2B5EF4-FFF2-40B4-BE49-F238E27FC236}">
                <a16:creationId xmlns:a16="http://schemas.microsoft.com/office/drawing/2014/main" id="{D5227EBA-0552-4712-92FB-D1A98E187090}"/>
              </a:ext>
            </a:extLst>
          </p:cNvPr>
          <p:cNvSpPr>
            <a:spLocks xmlns:a="http://schemas.openxmlformats.org/drawingml/2006/main"/>
          </p:cNvSpPr>
          <p:nvPr/>
        </p:nvSpPr>
        <p:spPr>
          <a:xfrm xmlns:a="http://schemas.openxmlformats.org/drawingml/2006/main">
            <a:off x="609600" y="4800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When to spawn a subagent, and what to hand it.</a:t>
            </a:r>
          </a:p>
        </p:txBody>
      </p:sp>
      <p:sp>
        <p:nvSpPr>
          <p:cNvPr id="276" name="14b-text-7">
            <a:extLst xmlns:a="http://schemas.openxmlformats.org/drawingml/2006/main">
              <a:ext uri="{FF2B5EF4-FFF2-40B4-BE49-F238E27FC236}">
                <a16:creationId xmlns:a16="http://schemas.microsoft.com/office/drawing/2014/main" id="{F945F475-E37D-46C5-A523-77A31129476A}"/>
              </a:ext>
            </a:extLst>
          </p:cNvPr>
          <p:cNvSpPr>
            <a:spLocks xmlns:a="http://schemas.openxmlformats.org/drawingml/2006/main"/>
          </p:cNvSpPr>
          <p:nvPr/>
        </p:nvSpPr>
        <p:spPr>
          <a:xfrm xmlns:a="http://schemas.openxmlformats.org/drawingml/2006/main">
            <a:off x="609600" y="5410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Where a hook fires.</a:t>
            </a:r>
          </a:p>
        </p:txBody>
      </p:sp>
      <p:sp>
        <p:nvSpPr>
          <p:cNvPr id="277" name="narrative-number">
            <a:extLst xmlns:a="http://schemas.openxmlformats.org/drawingml/2006/main">
              <a:ext uri="{FF2B5EF4-FFF2-40B4-BE49-F238E27FC236}">
                <a16:creationId xmlns:a16="http://schemas.microsoft.com/office/drawing/2014/main" id="{13250645-9858-4E33-AE18-EE3B898ADA6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3122863237"/>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78" name="!!area-name">
            <a:extLst xmlns:a="http://schemas.openxmlformats.org/drawingml/2006/main">
              <a:ext uri="{FF2B5EF4-FFF2-40B4-BE49-F238E27FC236}">
                <a16:creationId xmlns:a16="http://schemas.microsoft.com/office/drawing/2014/main" id="{C23257B3-A99C-4A4F-BE04-EF7D79FA03B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user</a:t>
            </a:r>
          </a:p>
        </p:txBody>
      </p:sp>
      <p:pic>
        <p:nvPicPr>
          <p:cNvPr id="287" name="mini-map"/>
          <p:cNvPicPr>
            <a:picLocks xmlns:a="http://schemas.openxmlformats.org/drawingml/2006/main" noChangeAspect="1"/>
          </p:cNvPicPr>
          <p:nvPr/>
        </p:nvPicPr>
        <p:blipFill>
          <a:blip xmlns:r="http://schemas.openxmlformats.org/officeDocument/2006/relationships" xmlns:a="http://schemas.openxmlformats.org/drawingml/2006/main" r:embed="R29d1b1a8d26d4e4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80" name="header-divider">
            <a:extLst xmlns:a="http://schemas.openxmlformats.org/drawingml/2006/main">
              <a:ext uri="{FF2B5EF4-FFF2-40B4-BE49-F238E27FC236}">
                <a16:creationId xmlns:a16="http://schemas.microsoft.com/office/drawing/2014/main" id="{22122FD9-02CD-44CC-9D1C-9FDCE5FA18D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81" name="14b-text-1">
            <a:extLst xmlns:a="http://schemas.openxmlformats.org/drawingml/2006/main">
              <a:ext uri="{FF2B5EF4-FFF2-40B4-BE49-F238E27FC236}">
                <a16:creationId xmlns:a16="http://schemas.microsoft.com/office/drawing/2014/main" id="{B0635985-B4A1-4B73-9990-F71743770B87}"/>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/plan</a:t>
            </a:r>
            <a:r>
              <a:rPr b="0">
                <a:solidFill>
                  <a:srgbClr val="ADACA9"/>
                </a:solidFill>
                <a:latin typeface="Helvetica"/>
                <a:ea typeface="Helvetica"/>
                <a:cs typeface="Helvetica"/>
              </a:rPr>
              <a:t> · subagents · hooks · </a:t>
            </a:r>
            <a:r>
              <a:rPr b="0">
                <a:solidFill>
                  <a:srgbClr val="FFFCF5"/>
                </a:solidFill>
                <a:latin typeface="Consolas"/>
                <a:ea typeface="Consolas"/>
                <a:cs typeface="Consolas"/>
              </a:rPr>
              <a:t>/compact</a:t>
            </a:r>
            <a:r>
              <a:rPr b="0">
                <a:solidFill>
                  <a:srgbClr val="ADACA9"/>
                </a:solidFill>
                <a:latin typeface="Helvetica"/>
                <a:ea typeface="Helvetica"/>
                <a:cs typeface="Helvetica"/>
              </a:rPr>
              <a:t> · </a:t>
            </a:r>
            <a:r>
              <a:rPr b="0">
                <a:solidFill>
                  <a:srgbClr val="FFFCF5"/>
                </a:solidFill>
                <a:latin typeface="Consolas"/>
                <a:ea typeface="Consolas"/>
                <a:cs typeface="Consolas"/>
              </a:rPr>
              <a:t>/resume</a:t>
            </a:r>
            <a:r>
              <a:rPr b="0">
                <a:solidFill>
                  <a:srgbClr val="ADACA9"/>
                </a:solidFill>
                <a:latin typeface="Helvetica"/>
                <a:ea typeface="Helvetica"/>
                <a:cs typeface="Helvetica"/>
              </a:rPr>
              <a:t> · </a:t>
            </a:r>
            <a:r>
              <a:rPr b="0">
                <a:solidFill>
                  <a:srgbClr val="FFFCF5"/>
                </a:solidFill>
                <a:latin typeface="Consolas"/>
                <a:ea typeface="Consolas"/>
                <a:cs typeface="Consolas"/>
              </a:rPr>
              <a:t>/fork</a:t>
            </a:r>
          </a:p>
        </p:txBody>
      </p:sp>
      <p:sp>
        <p:nvSpPr>
          <p:cNvPr id="282" name="14b-text-8">
            <a:extLst xmlns:a="http://schemas.openxmlformats.org/drawingml/2006/main">
              <a:ext uri="{FF2B5EF4-FFF2-40B4-BE49-F238E27FC236}">
                <a16:creationId xmlns:a16="http://schemas.microsoft.com/office/drawing/2014/main" id="{E025F3E4-C16B-4BC5-85B3-60E0E8DE361C}"/>
              </a:ext>
            </a:extLst>
          </p:cNvPr>
          <p:cNvSpPr>
            <a:spLocks xmlns:a="http://schemas.openxmlformats.org/drawingml/2006/main"/>
          </p:cNvSpPr>
          <p:nvPr/>
        </p:nvSpPr>
        <p:spPr>
          <a:xfrm xmlns:a="http://schemas.openxmlformats.org/drawingml/2006/main">
            <a:off x="609600" y="2438400"/>
            <a:ext cx="10972800" cy="210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 great harness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beats a great model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a bad harness."</a:t>
            </a:r>
          </a:p>
        </p:txBody>
      </p:sp>
      <p:sp>
        <p:nvSpPr>
          <p:cNvPr id="283" name="14b-text-9">
            <a:extLst xmlns:a="http://schemas.openxmlformats.org/drawingml/2006/main">
              <a:ext uri="{FF2B5EF4-FFF2-40B4-BE49-F238E27FC236}">
                <a16:creationId xmlns:a16="http://schemas.microsoft.com/office/drawing/2014/main" id="{09083CCB-C8BB-46D3-9DCF-145559D7BEBD}"/>
              </a:ext>
            </a:extLst>
          </p:cNvPr>
          <p:cNvSpPr>
            <a:spLocks xmlns:a="http://schemas.openxmlformats.org/drawingml/2006/main"/>
          </p:cNvSpPr>
          <p:nvPr/>
        </p:nvSpPr>
        <p:spPr>
          <a:xfrm xmlns:a="http://schemas.openxmlformats.org/drawingml/2006/main">
            <a:off x="609600" y="45720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Addy Osmani, April 2026</a:t>
            </a:r>
          </a:p>
        </p:txBody>
      </p:sp>
      <p:sp>
        <p:nvSpPr>
          <p:cNvPr id="284" name="14b-text-10">
            <a:extLst xmlns:a="http://schemas.openxmlformats.org/drawingml/2006/main">
              <a:ext uri="{FF2B5EF4-FFF2-40B4-BE49-F238E27FC236}">
                <a16:creationId xmlns:a16="http://schemas.microsoft.com/office/drawing/2014/main" id="{BA764198-302E-40F1-AA2F-62578B0A0C26}"/>
              </a:ext>
            </a:extLst>
          </p:cNvPr>
          <p:cNvSpPr>
            <a:spLocks xmlns:a="http://schemas.openxmlformats.org/drawingml/2006/main"/>
          </p:cNvSpPr>
          <p:nvPr/>
        </p:nvSpPr>
        <p:spPr>
          <a:xfrm xmlns:a="http://schemas.openxmlformats.org/drawingml/2006/main">
            <a:off x="609600" y="51054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Same model, better loop: 13% to 38% on ARC-AGI-3,</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with six times fewer output tokens.</a:t>
            </a:r>
          </a:p>
        </p:txBody>
      </p:sp>
      <p:sp>
        <p:nvSpPr>
          <p:cNvPr id="285" name="narrative-number">
            <a:extLst xmlns:a="http://schemas.openxmlformats.org/drawingml/2006/main">
              <a:ext uri="{FF2B5EF4-FFF2-40B4-BE49-F238E27FC236}">
                <a16:creationId xmlns:a16="http://schemas.microsoft.com/office/drawing/2014/main" id="{1E18DBB2-99D2-4AD1-A51E-59A9B362275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3037845707"/>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6" name="!!area-name">
            <a:extLst xmlns:a="http://schemas.openxmlformats.org/drawingml/2006/main">
              <a:ext uri="{FF2B5EF4-FFF2-40B4-BE49-F238E27FC236}">
                <a16:creationId xmlns:a16="http://schemas.microsoft.com/office/drawing/2014/main" id="{F5BBB079-54A2-42D5-83A6-AC8D6EE84C6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user</a:t>
            </a:r>
          </a:p>
        </p:txBody>
      </p:sp>
      <p:pic>
        <p:nvPicPr>
          <p:cNvPr id="294" name="mini-map"/>
          <p:cNvPicPr>
            <a:picLocks xmlns:a="http://schemas.openxmlformats.org/drawingml/2006/main" noChangeAspect="1"/>
          </p:cNvPicPr>
          <p:nvPr/>
        </p:nvPicPr>
        <p:blipFill>
          <a:blip xmlns:r="http://schemas.openxmlformats.org/officeDocument/2006/relationships" xmlns:a="http://schemas.openxmlformats.org/drawingml/2006/main" r:embed="R06c5970dbf1d4f0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88" name="header-divider">
            <a:extLst xmlns:a="http://schemas.openxmlformats.org/drawingml/2006/main">
              <a:ext uri="{FF2B5EF4-FFF2-40B4-BE49-F238E27FC236}">
                <a16:creationId xmlns:a16="http://schemas.microsoft.com/office/drawing/2014/main" id="{40727B3F-2FE2-4133-844A-35B2C286E9F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89" name="14b-text-1">
            <a:extLst xmlns:a="http://schemas.openxmlformats.org/drawingml/2006/main">
              <a:ext uri="{FF2B5EF4-FFF2-40B4-BE49-F238E27FC236}">
                <a16:creationId xmlns:a16="http://schemas.microsoft.com/office/drawing/2014/main" id="{0F3F8D42-E8F9-4F48-B3B0-B798B24F17C7}"/>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/plan</a:t>
            </a:r>
            <a:r>
              <a:rPr b="0">
                <a:solidFill>
                  <a:srgbClr val="ADACA9"/>
                </a:solidFill>
                <a:latin typeface="Helvetica"/>
                <a:ea typeface="Helvetica"/>
                <a:cs typeface="Helvetica"/>
              </a:rPr>
              <a:t> · subagents · hooks · </a:t>
            </a:r>
            <a:r>
              <a:rPr b="0">
                <a:solidFill>
                  <a:srgbClr val="FFFCF5"/>
                </a:solidFill>
                <a:latin typeface="Consolas"/>
                <a:ea typeface="Consolas"/>
                <a:cs typeface="Consolas"/>
              </a:rPr>
              <a:t>/compact</a:t>
            </a:r>
            <a:r>
              <a:rPr b="0">
                <a:solidFill>
                  <a:srgbClr val="ADACA9"/>
                </a:solidFill>
                <a:latin typeface="Helvetica"/>
                <a:ea typeface="Helvetica"/>
                <a:cs typeface="Helvetica"/>
              </a:rPr>
              <a:t> · </a:t>
            </a:r>
            <a:r>
              <a:rPr b="0">
                <a:solidFill>
                  <a:srgbClr val="FFFCF5"/>
                </a:solidFill>
                <a:latin typeface="Consolas"/>
                <a:ea typeface="Consolas"/>
                <a:cs typeface="Consolas"/>
              </a:rPr>
              <a:t>/resume</a:t>
            </a:r>
            <a:r>
              <a:rPr b="0">
                <a:solidFill>
                  <a:srgbClr val="ADACA9"/>
                </a:solidFill>
                <a:latin typeface="Helvetica"/>
                <a:ea typeface="Helvetica"/>
                <a:cs typeface="Helvetica"/>
              </a:rPr>
              <a:t> · </a:t>
            </a:r>
            <a:r>
              <a:rPr b="0">
                <a:solidFill>
                  <a:srgbClr val="FFFCF5"/>
                </a:solidFill>
                <a:latin typeface="Consolas"/>
                <a:ea typeface="Consolas"/>
                <a:cs typeface="Consolas"/>
              </a:rPr>
              <a:t>/fork</a:t>
            </a:r>
          </a:p>
        </p:txBody>
      </p:sp>
      <p:sp>
        <p:nvSpPr>
          <p:cNvPr id="290" name="14b-text-11">
            <a:extLst xmlns:a="http://schemas.openxmlformats.org/drawingml/2006/main">
              <a:ext uri="{FF2B5EF4-FFF2-40B4-BE49-F238E27FC236}">
                <a16:creationId xmlns:a16="http://schemas.microsoft.com/office/drawing/2014/main" id="{25337CEB-A6C8-483B-9E95-2641A8487836}"/>
              </a:ext>
            </a:extLst>
          </p:cNvPr>
          <p:cNvSpPr>
            <a:spLocks xmlns:a="http://schemas.openxmlformats.org/drawingml/2006/main"/>
          </p:cNvSpPr>
          <p:nvPr/>
        </p:nvSpPr>
        <p:spPr>
          <a:xfrm xmlns:a="http://schemas.openxmlformats.org/drawingml/2006/main">
            <a:off x="609600" y="2438400"/>
            <a:ext cx="10972800" cy="195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1">
                <a:solidFill>
                  <a:srgbClr val="FFFCF5"/>
                </a:solidFill>
                <a:latin typeface="Helvetica"/>
                <a:ea typeface="Helvetica"/>
                <a:cs typeface="Helvetica"/>
              </a:rPr>
              <a:t>Over-ambition:</a:t>
            </a:r>
            <a:r>
              <a:rPr b="0">
                <a:solidFill>
                  <a:srgbClr val="FFFCF5"/>
                </a:solidFill>
                <a:latin typeface="Helvetica"/>
                <a:ea typeface="Helvetica"/>
                <a:cs typeface="Helvetica"/>
              </a:rPr>
              <a:t> try to one-shot the whole app.</a:t>
            </a:r>
          </a:p>
          <a:p xmlns:a="http://schemas.openxmlformats.org/drawingml/2006/main">
            <a:pPr algn="l">
              <a:lnSpc>
                <a:spcPct val="125000"/>
              </a:lnSpc>
              <a:defRPr sz="2400" b="0">
                <a:solidFill>
                  <a:srgbClr val="FFFCF5"/>
                </a:solidFill>
                <a:latin typeface="Helvetica"/>
                <a:ea typeface="Helvetica"/>
                <a:cs typeface="Helvetica"/>
              </a:defRPr>
            </a:pPr>
          </a:p>
          <a:p xmlns:a="http://schemas.openxmlformats.org/drawingml/2006/main">
            <a:pPr algn="l">
              <a:lnSpc>
                <a:spcPct val="125000"/>
              </a:lnSpc>
              <a:defRPr sz="2400" b="0">
                <a:solidFill>
                  <a:srgbClr val="FFFCF5"/>
                </a:solidFill>
                <a:latin typeface="Helvetica"/>
                <a:ea typeface="Helvetica"/>
                <a:cs typeface="Helvetica"/>
              </a:defRPr>
            </a:pPr>
            <a:r>
              <a:rPr b="1">
                <a:solidFill>
                  <a:srgbClr val="FFFCF5"/>
                </a:solidFill>
                <a:latin typeface="Helvetica"/>
                <a:ea typeface="Helvetica"/>
                <a:cs typeface="Helvetica"/>
              </a:rPr>
              <a:t>Premature completion:</a:t>
            </a:r>
            <a:r>
              <a:rPr b="0">
                <a:solidFill>
                  <a:srgbClr val="FFFCF5"/>
                </a:solidFill>
                <a:latin typeface="Helvetica"/>
                <a:ea typeface="Helvetica"/>
                <a:cs typeface="Helvetica"/>
              </a:rPr>
              <a:t> see progress, declare the job done.</a:t>
            </a:r>
          </a:p>
        </p:txBody>
      </p:sp>
      <p:sp>
        <p:nvSpPr>
          <p:cNvPr id="291" name="14b-text-12">
            <a:extLst xmlns:a="http://schemas.openxmlformats.org/drawingml/2006/main">
              <a:ext uri="{FF2B5EF4-FFF2-40B4-BE49-F238E27FC236}">
                <a16:creationId xmlns:a16="http://schemas.microsoft.com/office/drawing/2014/main" id="{970C9676-0E35-490C-9C15-CFBB922DF593}"/>
              </a:ext>
            </a:extLst>
          </p:cNvPr>
          <p:cNvSpPr>
            <a:spLocks xmlns:a="http://schemas.openxmlformats.org/drawingml/2006/main"/>
          </p:cNvSpPr>
          <p:nvPr/>
        </p:nvSpPr>
        <p:spPr>
          <a:xfrm xmlns:a="http://schemas.openxmlformats.org/drawingml/2006/main">
            <a:off x="609600" y="4572000"/>
            <a:ext cx="109728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fix: an initializer, a feature list, a progress file,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feature per session, and protected acceptance criteria.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Faulty or obsolete tests may change through review.</a:t>
            </a:r>
          </a:p>
        </p:txBody>
      </p:sp>
      <p:sp>
        <p:nvSpPr>
          <p:cNvPr id="292" name="narrative-number">
            <a:extLst xmlns:a="http://schemas.openxmlformats.org/drawingml/2006/main">
              <a:ext uri="{FF2B5EF4-FFF2-40B4-BE49-F238E27FC236}">
                <a16:creationId xmlns:a16="http://schemas.microsoft.com/office/drawing/2014/main" id="{F9D56177-9DC7-4AFC-843F-CA87DC10B6B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2950117706"/>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93" name="!!area-name">
            <a:extLst xmlns:a="http://schemas.openxmlformats.org/drawingml/2006/main">
              <a:ext uri="{FF2B5EF4-FFF2-40B4-BE49-F238E27FC236}">
                <a16:creationId xmlns:a16="http://schemas.microsoft.com/office/drawing/2014/main" id="{E80A7A87-13B1-472B-B429-C92478231E6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user</a:t>
            </a:r>
          </a:p>
        </p:txBody>
      </p:sp>
      <p:pic>
        <p:nvPicPr>
          <p:cNvPr id="303" name="mini-map"/>
          <p:cNvPicPr>
            <a:picLocks xmlns:a="http://schemas.openxmlformats.org/drawingml/2006/main" noChangeAspect="1"/>
          </p:cNvPicPr>
          <p:nvPr/>
        </p:nvPicPr>
        <p:blipFill>
          <a:blip xmlns:r="http://schemas.openxmlformats.org/officeDocument/2006/relationships" xmlns:a="http://schemas.openxmlformats.org/drawingml/2006/main" r:embed="Re11ed048fa8c47b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5" name="header-divider">
            <a:extLst xmlns:a="http://schemas.openxmlformats.org/drawingml/2006/main">
              <a:ext uri="{FF2B5EF4-FFF2-40B4-BE49-F238E27FC236}">
                <a16:creationId xmlns:a16="http://schemas.microsoft.com/office/drawing/2014/main" id="{9F4A5457-9B3F-4B1E-B87A-02642BD77ED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6" name="14b-text-1">
            <a:extLst xmlns:a="http://schemas.openxmlformats.org/drawingml/2006/main">
              <a:ext uri="{FF2B5EF4-FFF2-40B4-BE49-F238E27FC236}">
                <a16:creationId xmlns:a16="http://schemas.microsoft.com/office/drawing/2014/main" id="{7D2A9DEA-7DB6-4134-81AD-51C328D35FE3}"/>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/plan</a:t>
            </a:r>
            <a:r>
              <a:rPr b="0">
                <a:solidFill>
                  <a:srgbClr val="ADACA9"/>
                </a:solidFill>
                <a:latin typeface="Helvetica"/>
                <a:ea typeface="Helvetica"/>
                <a:cs typeface="Helvetica"/>
              </a:rPr>
              <a:t> · subagents · hooks · </a:t>
            </a:r>
            <a:r>
              <a:rPr b="0">
                <a:solidFill>
                  <a:srgbClr val="FFFCF5"/>
                </a:solidFill>
                <a:latin typeface="Consolas"/>
                <a:ea typeface="Consolas"/>
                <a:cs typeface="Consolas"/>
              </a:rPr>
              <a:t>/compact</a:t>
            </a:r>
            <a:r>
              <a:rPr b="0">
                <a:solidFill>
                  <a:srgbClr val="ADACA9"/>
                </a:solidFill>
                <a:latin typeface="Helvetica"/>
                <a:ea typeface="Helvetica"/>
                <a:cs typeface="Helvetica"/>
              </a:rPr>
              <a:t> · </a:t>
            </a:r>
            <a:r>
              <a:rPr b="0">
                <a:solidFill>
                  <a:srgbClr val="FFFCF5"/>
                </a:solidFill>
                <a:latin typeface="Consolas"/>
                <a:ea typeface="Consolas"/>
                <a:cs typeface="Consolas"/>
              </a:rPr>
              <a:t>/resume</a:t>
            </a:r>
            <a:r>
              <a:rPr b="0">
                <a:solidFill>
                  <a:srgbClr val="ADACA9"/>
                </a:solidFill>
                <a:latin typeface="Helvetica"/>
                <a:ea typeface="Helvetica"/>
                <a:cs typeface="Helvetica"/>
              </a:rPr>
              <a:t> · </a:t>
            </a:r>
            <a:r>
              <a:rPr b="0">
                <a:solidFill>
                  <a:srgbClr val="FFFCF5"/>
                </a:solidFill>
                <a:latin typeface="Consolas"/>
                <a:ea typeface="Consolas"/>
                <a:cs typeface="Consolas"/>
              </a:rPr>
              <a:t>/fork</a:t>
            </a:r>
          </a:p>
        </p:txBody>
      </p:sp>
      <p:sp>
        <p:nvSpPr>
          <p:cNvPr id="297" name="14b-text-13">
            <a:extLst xmlns:a="http://schemas.openxmlformats.org/drawingml/2006/main">
              <a:ext uri="{FF2B5EF4-FFF2-40B4-BE49-F238E27FC236}">
                <a16:creationId xmlns:a16="http://schemas.microsoft.com/office/drawing/2014/main" id="{2FD40C9D-DD5D-4738-A0FB-66D8F943ED27}"/>
              </a:ext>
            </a:extLst>
          </p:cNvPr>
          <p:cNvSpPr>
            <a:spLocks xmlns:a="http://schemas.openxmlformats.org/drawingml/2006/main"/>
          </p:cNvSpPr>
          <p:nvPr/>
        </p:nvSpPr>
        <p:spPr>
          <a:xfrm xmlns:a="http://schemas.openxmlformats.org/drawingml/2006/main">
            <a:off x="609600" y="24384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Internal research eval: </a:t>
            </a:r>
            <a:r>
              <a:rPr b="1">
                <a:solidFill>
                  <a:srgbClr val="FFFCF5"/>
                </a:solidFill>
                <a:latin typeface="Helvetica"/>
                <a:ea typeface="Helvetica"/>
                <a:cs typeface="Helvetica"/>
              </a:rPr>
              <a:t>90.2% improvement</a:t>
            </a:r>
          </a:p>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over the single-agent research system.</a:t>
            </a:r>
          </a:p>
        </p:txBody>
      </p:sp>
      <p:sp>
        <p:nvSpPr>
          <p:cNvPr id="298" name="14b-text-14">
            <a:extLst xmlns:a="http://schemas.openxmlformats.org/drawingml/2006/main">
              <a:ext uri="{FF2B5EF4-FFF2-40B4-BE49-F238E27FC236}">
                <a16:creationId xmlns:a16="http://schemas.microsoft.com/office/drawing/2014/main" id="{2007744F-1369-4303-8A06-4F2FA24CFAEC}"/>
              </a:ext>
            </a:extLst>
          </p:cNvPr>
          <p:cNvSpPr>
            <a:spLocks xmlns:a="http://schemas.openxmlformats.org/drawingml/2006/main"/>
          </p:cNvSpPr>
          <p:nvPr/>
        </p:nvSpPr>
        <p:spPr>
          <a:xfrm xmlns:a="http://schemas.openxmlformats.org/drawingml/2006/main">
            <a:off x="609600" y="37338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Separate token comparison:</a:t>
            </a:r>
          </a:p>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multi-agent systems used about </a:t>
            </a:r>
            <a:r>
              <a:rPr b="1">
                <a:solidFill>
                  <a:srgbClr val="FFFCF5"/>
                </a:solidFill>
                <a:latin typeface="Helvetica"/>
                <a:ea typeface="Helvetica"/>
                <a:cs typeface="Helvetica"/>
              </a:rPr>
              <a:t>15x chat tokens</a:t>
            </a:r>
            <a:r>
              <a:rPr b="0">
                <a:solidFill>
                  <a:srgbClr val="FFFCF5"/>
                </a:solidFill>
                <a:latin typeface="Helvetica"/>
                <a:ea typeface="Helvetica"/>
                <a:cs typeface="Helvetica"/>
              </a:rPr>
              <a:t>.</a:t>
            </a:r>
          </a:p>
        </p:txBody>
      </p:sp>
      <p:sp>
        <p:nvSpPr>
          <p:cNvPr id="299" name="14b-text-15">
            <a:extLst xmlns:a="http://schemas.openxmlformats.org/drawingml/2006/main">
              <a:ext uri="{FF2B5EF4-FFF2-40B4-BE49-F238E27FC236}">
                <a16:creationId xmlns:a16="http://schemas.microsoft.com/office/drawing/2014/main" id="{15097504-815B-4B82-8385-79AD4BAA28CB}"/>
              </a:ext>
            </a:extLst>
          </p:cNvPr>
          <p:cNvSpPr>
            <a:spLocks xmlns:a="http://schemas.openxmlformats.org/drawingml/2006/main"/>
          </p:cNvSpPr>
          <p:nvPr/>
        </p:nvSpPr>
        <p:spPr>
          <a:xfrm xmlns:a="http://schemas.openxmlformats.org/drawingml/2006/main">
            <a:off x="609600" y="52070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Poor fit when agents need shared context.</a:t>
            </a:r>
          </a:p>
        </p:txBody>
      </p:sp>
      <p:sp>
        <p:nvSpPr>
          <p:cNvPr id="300" name="14b-text-16">
            <a:extLst xmlns:a="http://schemas.openxmlformats.org/drawingml/2006/main">
              <a:ext uri="{FF2B5EF4-FFF2-40B4-BE49-F238E27FC236}">
                <a16:creationId xmlns:a16="http://schemas.microsoft.com/office/drawing/2014/main" id="{F4BAD4CA-EAA6-44BB-A833-912E9637D7F2}"/>
              </a:ext>
            </a:extLst>
          </p:cNvPr>
          <p:cNvSpPr>
            <a:spLocks xmlns:a="http://schemas.openxmlformats.org/drawingml/2006/main"/>
          </p:cNvSpPr>
          <p:nvPr/>
        </p:nvSpPr>
        <p:spPr>
          <a:xfrm xmlns:a="http://schemas.openxmlformats.org/drawingml/2006/main">
            <a:off x="609600" y="5816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Anthropic, June 13, 2025</a:t>
            </a:r>
          </a:p>
        </p:txBody>
      </p:sp>
      <p:sp>
        <p:nvSpPr>
          <p:cNvPr id="301" name="narrative-number">
            <a:extLst xmlns:a="http://schemas.openxmlformats.org/drawingml/2006/main">
              <a:ext uri="{FF2B5EF4-FFF2-40B4-BE49-F238E27FC236}">
                <a16:creationId xmlns:a16="http://schemas.microsoft.com/office/drawing/2014/main" id="{DB443692-A075-4FD4-9C04-C92AF0BEBC5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845877481"/>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02" name="!!area-name">
            <a:extLst xmlns:a="http://schemas.openxmlformats.org/drawingml/2006/main">
              <a:ext uri="{FF2B5EF4-FFF2-40B4-BE49-F238E27FC236}">
                <a16:creationId xmlns:a16="http://schemas.microsoft.com/office/drawing/2014/main" id="{B121B8B8-D495-4E11-9B35-BA9B6EAA163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owner</a:t>
            </a:r>
          </a:p>
        </p:txBody>
      </p:sp>
      <p:pic>
        <p:nvPicPr>
          <p:cNvPr id="321" name="mini-map"/>
          <p:cNvPicPr>
            <a:picLocks xmlns:a="http://schemas.openxmlformats.org/drawingml/2006/main" noChangeAspect="1"/>
          </p:cNvPicPr>
          <p:nvPr/>
        </p:nvPicPr>
        <p:blipFill>
          <a:blip xmlns:r="http://schemas.openxmlformats.org/officeDocument/2006/relationships" xmlns:a="http://schemas.openxmlformats.org/drawingml/2006/main" r:embed="R235005c520f74db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04" name="slide-title">
            <a:extLst xmlns:a="http://schemas.openxmlformats.org/drawingml/2006/main">
              <a:ext uri="{FF2B5EF4-FFF2-40B4-BE49-F238E27FC236}">
                <a16:creationId xmlns:a16="http://schemas.microsoft.com/office/drawing/2014/main" id="{D70FD2B0-C5D7-4153-B88F-A37DF2295F9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the workflow. Own the loop.</a:t>
            </a:r>
          </a:p>
        </p:txBody>
      </p:sp>
      <p:sp>
        <p:nvSpPr>
          <p:cNvPr id="305" name="header-divider">
            <a:extLst xmlns:a="http://schemas.openxmlformats.org/drawingml/2006/main">
              <a:ext uri="{FF2B5EF4-FFF2-40B4-BE49-F238E27FC236}">
                <a16:creationId xmlns:a16="http://schemas.microsoft.com/office/drawing/2014/main" id="{AED5F6F9-7E0A-4C35-B037-3AE5A8295D4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06" name="15-text-1">
            <a:extLst xmlns:a="http://schemas.openxmlformats.org/drawingml/2006/main">
              <a:ext uri="{FF2B5EF4-FFF2-40B4-BE49-F238E27FC236}">
                <a16:creationId xmlns:a16="http://schemas.microsoft.com/office/drawing/2014/main" id="{16A625AE-F55E-4297-986A-722C2156441B}"/>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workflow</a:t>
            </a:r>
          </a:p>
        </p:txBody>
      </p:sp>
      <p:sp>
        <p:nvSpPr>
          <p:cNvPr id="307" name="15-text-2">
            <a:extLst xmlns:a="http://schemas.openxmlformats.org/drawingml/2006/main">
              <a:ext uri="{FF2B5EF4-FFF2-40B4-BE49-F238E27FC236}">
                <a16:creationId xmlns:a16="http://schemas.microsoft.com/office/drawing/2014/main" id="{8104AE0F-D41C-49D5-8F6B-E006DF4982A0}"/>
              </a:ext>
            </a:extLst>
          </p:cNvPr>
          <p:cNvSpPr>
            <a:spLocks xmlns:a="http://schemas.openxmlformats.org/drawingml/2006/main"/>
          </p:cNvSpPr>
          <p:nvPr/>
        </p:nvSpPr>
        <p:spPr>
          <a:xfrm xmlns:a="http://schemas.openxmlformats.org/drawingml/2006/main">
            <a:off x="609600" y="2895600"/>
            <a:ext cx="406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308" name="15-text-3">
            <a:extLst xmlns:a="http://schemas.openxmlformats.org/drawingml/2006/main">
              <a:ext uri="{FF2B5EF4-FFF2-40B4-BE49-F238E27FC236}">
                <a16:creationId xmlns:a16="http://schemas.microsoft.com/office/drawing/2014/main" id="{D5310E74-A39A-4B83-81C2-64F1B3408A12}"/>
              </a:ext>
            </a:extLst>
          </p:cNvPr>
          <p:cNvSpPr>
            <a:spLocks xmlns:a="http://schemas.openxmlformats.org/drawingml/2006/main"/>
          </p:cNvSpPr>
          <p:nvPr/>
        </p:nvSpPr>
        <p:spPr>
          <a:xfrm xmlns:a="http://schemas.openxmlformats.org/drawingml/2006/main">
            <a:off x="1219200" y="2895600"/>
            <a:ext cx="472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Retrieve the target packet.</a:t>
            </a:r>
          </a:p>
        </p:txBody>
      </p:sp>
      <p:sp>
        <p:nvSpPr>
          <p:cNvPr id="309" name="15-text-4">
            <a:extLst xmlns:a="http://schemas.openxmlformats.org/drawingml/2006/main">
              <a:ext uri="{FF2B5EF4-FFF2-40B4-BE49-F238E27FC236}">
                <a16:creationId xmlns:a16="http://schemas.microsoft.com/office/drawing/2014/main" id="{06B365E9-1EC2-457B-A9FD-11141A5B3F4F}"/>
              </a:ext>
            </a:extLst>
          </p:cNvPr>
          <p:cNvSpPr>
            <a:spLocks xmlns:a="http://schemas.openxmlformats.org/drawingml/2006/main"/>
          </p:cNvSpPr>
          <p:nvPr/>
        </p:nvSpPr>
        <p:spPr>
          <a:xfrm xmlns:a="http://schemas.openxmlformats.org/drawingml/2006/main">
            <a:off x="609600" y="3810000"/>
            <a:ext cx="406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310" name="15-text-5">
            <a:extLst xmlns:a="http://schemas.openxmlformats.org/drawingml/2006/main">
              <a:ext uri="{FF2B5EF4-FFF2-40B4-BE49-F238E27FC236}">
                <a16:creationId xmlns:a16="http://schemas.microsoft.com/office/drawing/2014/main" id="{EFEBF4CE-81D2-4EDB-A1AF-ACD415253708}"/>
              </a:ext>
            </a:extLst>
          </p:cNvPr>
          <p:cNvSpPr>
            <a:spLocks xmlns:a="http://schemas.openxmlformats.org/drawingml/2006/main"/>
          </p:cNvSpPr>
          <p:nvPr/>
        </p:nvSpPr>
        <p:spPr>
          <a:xfrm xmlns:a="http://schemas.openxmlformats.org/drawingml/2006/main">
            <a:off x="1219200" y="3810000"/>
            <a:ext cx="472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evidence.</a:t>
            </a:r>
          </a:p>
        </p:txBody>
      </p:sp>
      <p:sp>
        <p:nvSpPr>
          <p:cNvPr id="311" name="15-text-6">
            <a:extLst xmlns:a="http://schemas.openxmlformats.org/drawingml/2006/main">
              <a:ext uri="{FF2B5EF4-FFF2-40B4-BE49-F238E27FC236}">
                <a16:creationId xmlns:a16="http://schemas.microsoft.com/office/drawing/2014/main" id="{3F76B233-16F8-45BA-A90E-3A3EC64C8809}"/>
              </a:ext>
            </a:extLst>
          </p:cNvPr>
          <p:cNvSpPr>
            <a:spLocks xmlns:a="http://schemas.openxmlformats.org/drawingml/2006/main"/>
          </p:cNvSpPr>
          <p:nvPr/>
        </p:nvSpPr>
        <p:spPr>
          <a:xfrm xmlns:a="http://schemas.openxmlformats.org/drawingml/2006/main">
            <a:off x="609600" y="4724400"/>
            <a:ext cx="406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312" name="15-text-7">
            <a:extLst xmlns:a="http://schemas.openxmlformats.org/drawingml/2006/main">
              <a:ext uri="{FF2B5EF4-FFF2-40B4-BE49-F238E27FC236}">
                <a16:creationId xmlns:a16="http://schemas.microsoft.com/office/drawing/2014/main" id="{8595F2F5-BD4D-4495-AA83-D1BF16405AD4}"/>
              </a:ext>
            </a:extLst>
          </p:cNvPr>
          <p:cNvSpPr>
            <a:spLocks xmlns:a="http://schemas.openxmlformats.org/drawingml/2006/main"/>
          </p:cNvSpPr>
          <p:nvPr/>
        </p:nvSpPr>
        <p:spPr>
          <a:xfrm xmlns:a="http://schemas.openxmlformats.org/drawingml/2006/main">
            <a:off x="1219200" y="4724400"/>
            <a:ext cx="472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Compare cases.</a:t>
            </a:r>
          </a:p>
        </p:txBody>
      </p:sp>
      <p:sp>
        <p:nvSpPr>
          <p:cNvPr id="313" name="15-text-8">
            <a:extLst xmlns:a="http://schemas.openxmlformats.org/drawingml/2006/main">
              <a:ext uri="{FF2B5EF4-FFF2-40B4-BE49-F238E27FC236}">
                <a16:creationId xmlns:a16="http://schemas.microsoft.com/office/drawing/2014/main" id="{D6E5E6C8-D8E9-4136-98BB-E68F9E45A09F}"/>
              </a:ext>
            </a:extLst>
          </p:cNvPr>
          <p:cNvSpPr>
            <a:spLocks xmlns:a="http://schemas.openxmlformats.org/drawingml/2006/main"/>
          </p:cNvSpPr>
          <p:nvPr/>
        </p:nvSpPr>
        <p:spPr>
          <a:xfrm xmlns:a="http://schemas.openxmlformats.org/drawingml/2006/main">
            <a:off x="6248400" y="2895600"/>
            <a:ext cx="406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314" name="15-text-9">
            <a:extLst xmlns:a="http://schemas.openxmlformats.org/drawingml/2006/main">
              <a:ext uri="{FF2B5EF4-FFF2-40B4-BE49-F238E27FC236}">
                <a16:creationId xmlns:a16="http://schemas.microsoft.com/office/drawing/2014/main" id="{3595C3F8-B6E0-44B7-9263-2E463BBD3F25}"/>
              </a:ext>
            </a:extLst>
          </p:cNvPr>
          <p:cNvSpPr>
            <a:spLocks xmlns:a="http://schemas.openxmlformats.org/drawingml/2006/main"/>
          </p:cNvSpPr>
          <p:nvPr/>
        </p:nvSpPr>
        <p:spPr>
          <a:xfrm xmlns:a="http://schemas.openxmlformats.org/drawingml/2006/main">
            <a:off x="6858000" y="2895600"/>
            <a:ext cx="472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Reconcile findings.</a:t>
            </a:r>
          </a:p>
        </p:txBody>
      </p:sp>
      <p:sp>
        <p:nvSpPr>
          <p:cNvPr id="315" name="15-text-10">
            <a:extLst xmlns:a="http://schemas.openxmlformats.org/drawingml/2006/main">
              <a:ext uri="{FF2B5EF4-FFF2-40B4-BE49-F238E27FC236}">
                <a16:creationId xmlns:a16="http://schemas.microsoft.com/office/drawing/2014/main" id="{35330540-65D6-4B6C-AA31-0585A2752559}"/>
              </a:ext>
            </a:extLst>
          </p:cNvPr>
          <p:cNvSpPr>
            <a:spLocks xmlns:a="http://schemas.openxmlformats.org/drawingml/2006/main"/>
          </p:cNvSpPr>
          <p:nvPr/>
        </p:nvSpPr>
        <p:spPr>
          <a:xfrm xmlns:a="http://schemas.openxmlformats.org/drawingml/2006/main">
            <a:off x="6248400" y="3810000"/>
            <a:ext cx="406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316" name="15-text-11">
            <a:extLst xmlns:a="http://schemas.openxmlformats.org/drawingml/2006/main">
              <a:ext uri="{FF2B5EF4-FFF2-40B4-BE49-F238E27FC236}">
                <a16:creationId xmlns:a16="http://schemas.microsoft.com/office/drawing/2014/main" id="{D1343A3C-DD48-4F1F-954F-BD57157478B6}"/>
              </a:ext>
            </a:extLst>
          </p:cNvPr>
          <p:cNvSpPr>
            <a:spLocks xmlns:a="http://schemas.openxmlformats.org/drawingml/2006/main"/>
          </p:cNvSpPr>
          <p:nvPr/>
        </p:nvSpPr>
        <p:spPr>
          <a:xfrm xmlns:a="http://schemas.openxmlformats.org/drawingml/2006/main">
            <a:off x="6858000" y="3810000"/>
            <a:ext cx="472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Verify the brief.</a:t>
            </a:r>
          </a:p>
        </p:txBody>
      </p:sp>
      <p:sp>
        <p:nvSpPr>
          <p:cNvPr id="317" name="15-text-12">
            <a:extLst xmlns:a="http://schemas.openxmlformats.org/drawingml/2006/main">
              <a:ext uri="{FF2B5EF4-FFF2-40B4-BE49-F238E27FC236}">
                <a16:creationId xmlns:a16="http://schemas.microsoft.com/office/drawing/2014/main" id="{D2C773E1-C1BD-4EB7-9725-6531702A6A33}"/>
              </a:ext>
            </a:extLst>
          </p:cNvPr>
          <p:cNvSpPr>
            <a:spLocks xmlns:a="http://schemas.openxmlformats.org/drawingml/2006/main"/>
          </p:cNvSpPr>
          <p:nvPr/>
        </p:nvSpPr>
        <p:spPr>
          <a:xfrm xmlns:a="http://schemas.openxmlformats.org/drawingml/2006/main">
            <a:off x="6248400" y="4724400"/>
            <a:ext cx="406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
        <p:nvSpPr>
          <p:cNvPr id="318" name="15-text-13">
            <a:extLst xmlns:a="http://schemas.openxmlformats.org/drawingml/2006/main">
              <a:ext uri="{FF2B5EF4-FFF2-40B4-BE49-F238E27FC236}">
                <a16:creationId xmlns:a16="http://schemas.microsoft.com/office/drawing/2014/main" id="{900CD61C-7D84-4FDA-BDD1-9195B773B357}"/>
              </a:ext>
            </a:extLst>
          </p:cNvPr>
          <p:cNvSpPr>
            <a:spLocks xmlns:a="http://schemas.openxmlformats.org/drawingml/2006/main"/>
          </p:cNvSpPr>
          <p:nvPr/>
        </p:nvSpPr>
        <p:spPr>
          <a:xfrm xmlns:a="http://schemas.openxmlformats.org/drawingml/2006/main">
            <a:off x="6858000" y="4724400"/>
            <a:ext cx="472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Export.</a:t>
            </a:r>
          </a:p>
        </p:txBody>
      </p:sp>
      <p:sp>
        <p:nvSpPr>
          <p:cNvPr id="319" name="narrative-number">
            <a:extLst xmlns:a="http://schemas.openxmlformats.org/drawingml/2006/main">
              <a:ext uri="{FF2B5EF4-FFF2-40B4-BE49-F238E27FC236}">
                <a16:creationId xmlns:a16="http://schemas.microsoft.com/office/drawing/2014/main" id="{048649D0-6009-4D52-AC33-D0B7C464904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3955387858"/>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1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1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1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1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20" name="!!area-name">
            <a:extLst xmlns:a="http://schemas.openxmlformats.org/drawingml/2006/main">
              <a:ext uri="{FF2B5EF4-FFF2-40B4-BE49-F238E27FC236}">
                <a16:creationId xmlns:a16="http://schemas.microsoft.com/office/drawing/2014/main" id="{4CA64AEA-E08C-41A6-A598-9FE7DECC59C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owner</a:t>
            </a:r>
          </a:p>
        </p:txBody>
      </p:sp>
      <p:pic>
        <p:nvPicPr>
          <p:cNvPr id="330" name="mini-map"/>
          <p:cNvPicPr>
            <a:picLocks xmlns:a="http://schemas.openxmlformats.org/drawingml/2006/main" noChangeAspect="1"/>
          </p:cNvPicPr>
          <p:nvPr/>
        </p:nvPicPr>
        <p:blipFill>
          <a:blip xmlns:r="http://schemas.openxmlformats.org/officeDocument/2006/relationships" xmlns:a="http://schemas.openxmlformats.org/drawingml/2006/main" r:embed="R100cea1e4c3a42b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22" name="slide-title">
            <a:extLst xmlns:a="http://schemas.openxmlformats.org/drawingml/2006/main">
              <a:ext uri="{FF2B5EF4-FFF2-40B4-BE49-F238E27FC236}">
                <a16:creationId xmlns:a16="http://schemas.microsoft.com/office/drawing/2014/main" id="{4E609C7C-D2B0-48B3-977E-EF3A2D45CD8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the workflow. Own the loop.</a:t>
            </a:r>
          </a:p>
        </p:txBody>
      </p:sp>
      <p:sp>
        <p:nvSpPr>
          <p:cNvPr id="323" name="header-divider">
            <a:extLst xmlns:a="http://schemas.openxmlformats.org/drawingml/2006/main">
              <a:ext uri="{FF2B5EF4-FFF2-40B4-BE49-F238E27FC236}">
                <a16:creationId xmlns:a16="http://schemas.microsoft.com/office/drawing/2014/main" id="{F372E916-06C8-423B-B361-DE2C6D3FF05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24" name="15-text-14">
            <a:extLst xmlns:a="http://schemas.openxmlformats.org/drawingml/2006/main">
              <a:ext uri="{FF2B5EF4-FFF2-40B4-BE49-F238E27FC236}">
                <a16:creationId xmlns:a16="http://schemas.microsoft.com/office/drawing/2014/main" id="{BBBB6F5B-E2B5-4452-A7AF-EADD575DE89A}"/>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extension after measuring the workflow</a:t>
            </a:r>
          </a:p>
        </p:txBody>
      </p:sp>
      <p:sp>
        <p:nvSpPr>
          <p:cNvPr id="325" name="15-text-15">
            <a:extLst xmlns:a="http://schemas.openxmlformats.org/drawingml/2006/main">
              <a:ext uri="{FF2B5EF4-FFF2-40B4-BE49-F238E27FC236}">
                <a16:creationId xmlns:a16="http://schemas.microsoft.com/office/drawing/2014/main" id="{0CA518D4-D0BD-4B44-AD56-7AF780E5680C}"/>
              </a:ext>
            </a:extLst>
          </p:cNvPr>
          <p:cNvSpPr>
            <a:spLocks xmlns:a="http://schemas.openxmlformats.org/drawingml/2006/main"/>
          </p:cNvSpPr>
          <p:nvPr/>
        </p:nvSpPr>
        <p:spPr>
          <a:xfrm xmlns:a="http://schemas.openxmlformats.org/drawingml/2006/main">
            <a:off x="609600" y="2844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Optional workers: compare FRB-017 and FRB-031 independently.</a:t>
            </a:r>
          </a:p>
        </p:txBody>
      </p:sp>
      <p:sp>
        <p:nvSpPr>
          <p:cNvPr id="326" name="15-text-16">
            <a:extLst xmlns:a="http://schemas.openxmlformats.org/drawingml/2006/main">
              <a:ext uri="{FF2B5EF4-FFF2-40B4-BE49-F238E27FC236}">
                <a16:creationId xmlns:a16="http://schemas.microsoft.com/office/drawing/2014/main" id="{0D66ABD7-4188-46D9-AEAA-30D187E98E48}"/>
              </a:ext>
            </a:extLst>
          </p:cNvPr>
          <p:cNvSpPr>
            <a:spLocks xmlns:a="http://schemas.openxmlformats.org/drawingml/2006/main"/>
          </p:cNvSpPr>
          <p:nvPr/>
        </p:nvSpPr>
        <p:spPr>
          <a:xfrm xmlns:a="http://schemas.openxmlformats.org/drawingml/2006/main">
            <a:off x="609600" y="3581400"/>
            <a:ext cx="109728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Return evidence and uncertainty to the main analyst.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Authorized internal FRB corpus and attachments only.</a:t>
            </a:r>
          </a:p>
        </p:txBody>
      </p:sp>
      <p:sp>
        <p:nvSpPr>
          <p:cNvPr id="327" name="15-text-17">
            <a:extLst xmlns:a="http://schemas.openxmlformats.org/drawingml/2006/main">
              <a:ext uri="{FF2B5EF4-FFF2-40B4-BE49-F238E27FC236}">
                <a16:creationId xmlns:a16="http://schemas.microsoft.com/office/drawing/2014/main" id="{008B9EC6-0C4A-4009-B356-597486502FBD}"/>
              </a:ext>
            </a:extLst>
          </p:cNvPr>
          <p:cNvSpPr>
            <a:spLocks xmlns:a="http://schemas.openxmlformats.org/drawingml/2006/main"/>
          </p:cNvSpPr>
          <p:nvPr/>
        </p:nvSpPr>
        <p:spPr>
          <a:xfrm xmlns:a="http://schemas.openxmlformats.org/drawingml/2006/main">
            <a:off x="609600" y="46990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Bound retries. Save steps and revisions for resume.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Recheck freshness, access, and export receipts.</a:t>
            </a:r>
          </a:p>
        </p:txBody>
      </p:sp>
      <p:sp>
        <p:nvSpPr>
          <p:cNvPr id="328" name="narrative-number">
            <a:extLst xmlns:a="http://schemas.openxmlformats.org/drawingml/2006/main">
              <a:ext uri="{FF2B5EF4-FFF2-40B4-BE49-F238E27FC236}">
                <a16:creationId xmlns:a16="http://schemas.microsoft.com/office/drawing/2014/main" id="{5CC54B53-4061-4D07-AD47-872F19FA479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310663927"/>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29" name="!!area-name">
            <a:extLst xmlns:a="http://schemas.openxmlformats.org/drawingml/2006/main">
              <a:ext uri="{FF2B5EF4-FFF2-40B4-BE49-F238E27FC236}">
                <a16:creationId xmlns:a16="http://schemas.microsoft.com/office/drawing/2014/main" id="{05D3AEDA-53EE-4DD2-BC9B-F5BC3E8A2BC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owner</a:t>
            </a:r>
          </a:p>
        </p:txBody>
      </p:sp>
      <p:pic>
        <p:nvPicPr>
          <p:cNvPr id="344" name="mini-map"/>
          <p:cNvPicPr>
            <a:picLocks xmlns:a="http://schemas.openxmlformats.org/drawingml/2006/main" noChangeAspect="1"/>
          </p:cNvPicPr>
          <p:nvPr/>
        </p:nvPicPr>
        <p:blipFill>
          <a:blip xmlns:r="http://schemas.openxmlformats.org/officeDocument/2006/relationships" xmlns:a="http://schemas.openxmlformats.org/drawingml/2006/main" r:embed="R19f5c5ad988846f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31" name="slide-title">
            <a:extLst xmlns:a="http://schemas.openxmlformats.org/drawingml/2006/main">
              <a:ext uri="{FF2B5EF4-FFF2-40B4-BE49-F238E27FC236}">
                <a16:creationId xmlns:a16="http://schemas.microsoft.com/office/drawing/2014/main" id="{813B84D3-F463-4424-AF7D-A62B90B5089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the workflow. Own the loop.</a:t>
            </a:r>
          </a:p>
        </p:txBody>
      </p:sp>
      <p:sp>
        <p:nvSpPr>
          <p:cNvPr id="332" name="header-divider">
            <a:extLst xmlns:a="http://schemas.openxmlformats.org/drawingml/2006/main">
              <a:ext uri="{FF2B5EF4-FFF2-40B4-BE49-F238E27FC236}">
                <a16:creationId xmlns:a16="http://schemas.microsoft.com/office/drawing/2014/main" id="{7D0D8A2A-8722-4AF8-8EB1-4E82A73B58B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33" name="15-text-18">
            <a:extLst xmlns:a="http://schemas.openxmlformats.org/drawingml/2006/main">
              <a:ext uri="{FF2B5EF4-FFF2-40B4-BE49-F238E27FC236}">
                <a16:creationId xmlns:a16="http://schemas.microsoft.com/office/drawing/2014/main" id="{B5963134-0006-46BC-8C5E-D76DA407CA2A}"/>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operating limits</a:t>
            </a:r>
          </a:p>
        </p:txBody>
      </p:sp>
      <p:sp>
        <p:nvSpPr>
          <p:cNvPr id="334" name="15-text-19">
            <a:extLst xmlns:a="http://schemas.openxmlformats.org/drawingml/2006/main">
              <a:ext uri="{FF2B5EF4-FFF2-40B4-BE49-F238E27FC236}">
                <a16:creationId xmlns:a16="http://schemas.microsoft.com/office/drawing/2014/main" id="{1CEA22C4-E563-43E5-AB8C-5C821A900330}"/>
              </a:ext>
            </a:extLst>
          </p:cNvPr>
          <p:cNvSpPr>
            <a:spLocks xmlns:a="http://schemas.openxmlformats.org/drawingml/2006/main"/>
          </p:cNvSpPr>
          <p:nvPr/>
        </p:nvSpPr>
        <p:spPr>
          <a:xfrm xmlns:a="http://schemas.openxmlformats.org/drawingml/2006/main">
            <a:off x="609600" y="2844800"/>
            <a:ext cx="109728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Conflicting findings: inspect sources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or leave the result unresolved.</a:t>
            </a:r>
          </a:p>
        </p:txBody>
      </p:sp>
      <p:sp>
        <p:nvSpPr>
          <p:cNvPr id="335" name="15-text-20">
            <a:extLst xmlns:a="http://schemas.openxmlformats.org/drawingml/2006/main">
              <a:ext uri="{FF2B5EF4-FFF2-40B4-BE49-F238E27FC236}">
                <a16:creationId xmlns:a16="http://schemas.microsoft.com/office/drawing/2014/main" id="{81287403-0190-4DA1-A959-FBDC3F4B1F62}"/>
              </a:ext>
            </a:extLst>
          </p:cNvPr>
          <p:cNvSpPr>
            <a:spLocks xmlns:a="http://schemas.openxmlformats.org/drawingml/2006/main"/>
          </p:cNvSpPr>
          <p:nvPr/>
        </p:nvSpPr>
        <p:spPr>
          <a:xfrm xmlns:a="http://schemas.openxmlformats.org/drawingml/2006/main">
            <a:off x="609600" y="3860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Incomplete indexing must be explicit.</a:t>
            </a:r>
          </a:p>
        </p:txBody>
      </p:sp>
      <p:sp>
        <p:nvSpPr>
          <p:cNvPr id="336" name="15-text-21">
            <a:extLst xmlns:a="http://schemas.openxmlformats.org/drawingml/2006/main">
              <a:ext uri="{FF2B5EF4-FFF2-40B4-BE49-F238E27FC236}">
                <a16:creationId xmlns:a16="http://schemas.microsoft.com/office/drawing/2014/main" id="{A838D54F-5773-4D76-8FAF-EE38551F51F1}"/>
              </a:ext>
            </a:extLst>
          </p:cNvPr>
          <p:cNvSpPr>
            <a:spLocks xmlns:a="http://schemas.openxmlformats.org/drawingml/2006/main"/>
          </p:cNvSpPr>
          <p:nvPr/>
        </p:nvSpPr>
        <p:spPr>
          <a:xfrm xmlns:a="http://schemas.openxmlformats.org/drawingml/2006/main">
            <a:off x="609600" y="4749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Bound actions, tokens, and end-to-end latency.</a:t>
            </a:r>
          </a:p>
        </p:txBody>
      </p:sp>
      <p:sp>
        <p:nvSpPr>
          <p:cNvPr id="337" name="15-shape-22">
            <a:extLst xmlns:a="http://schemas.openxmlformats.org/drawingml/2006/main">
              <a:ext uri="{FF2B5EF4-FFF2-40B4-BE49-F238E27FC236}">
                <a16:creationId xmlns:a16="http://schemas.microsoft.com/office/drawing/2014/main" id="{82B7E45B-F445-4A48-8365-D50F8F0B18DA}"/>
              </a:ext>
            </a:extLst>
          </p:cNvPr>
          <p:cNvSpPr>
            <a:spLocks xmlns:a="http://schemas.openxmlformats.org/drawingml/2006/main"/>
          </p:cNvSpPr>
          <p:nvPr/>
        </p:nvSpPr>
        <p:spPr>
          <a:xfrm xmlns:a="http://schemas.openxmlformats.org/drawingml/2006/main">
            <a:off x="0" y="5638800"/>
            <a:ext cx="12192000" cy="1219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338" name="15-shape-23">
            <a:extLst xmlns:a="http://schemas.openxmlformats.org/drawingml/2006/main">
              <a:ext uri="{FF2B5EF4-FFF2-40B4-BE49-F238E27FC236}">
                <a16:creationId xmlns:a16="http://schemas.microsoft.com/office/drawing/2014/main" id="{1304F787-C08C-43BE-BF9C-CA47277A6CEE}"/>
              </a:ext>
            </a:extLst>
          </p:cNvPr>
          <p:cNvSpPr>
            <a:spLocks xmlns:a="http://schemas.openxmlformats.org/drawingml/2006/main"/>
          </p:cNvSpPr>
          <p:nvPr/>
        </p:nvSpPr>
        <p:spPr>
          <a:xfrm xmlns:a="http://schemas.openxmlformats.org/drawingml/2006/main">
            <a:off x="0" y="5638800"/>
            <a:ext cx="2184400" cy="1219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339" name="15-text-24">
            <a:extLst xmlns:a="http://schemas.openxmlformats.org/drawingml/2006/main">
              <a:ext uri="{FF2B5EF4-FFF2-40B4-BE49-F238E27FC236}">
                <a16:creationId xmlns:a16="http://schemas.microsoft.com/office/drawing/2014/main" id="{4FF0D9CD-7D6E-45CA-BAF8-A3B29DA797B4}"/>
              </a:ext>
            </a:extLst>
          </p:cNvPr>
          <p:cNvSpPr>
            <a:spLocks xmlns:a="http://schemas.openxmlformats.org/drawingml/2006/main"/>
          </p:cNvSpPr>
          <p:nvPr/>
        </p:nvSpPr>
        <p:spPr>
          <a:xfrm xmlns:a="http://schemas.openxmlformats.org/drawingml/2006/main">
            <a:off x="609600" y="60896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340" name="15-text-25">
            <a:extLst xmlns:a="http://schemas.openxmlformats.org/drawingml/2006/main">
              <a:ext uri="{FF2B5EF4-FFF2-40B4-BE49-F238E27FC236}">
                <a16:creationId xmlns:a16="http://schemas.microsoft.com/office/drawing/2014/main" id="{A61F26FA-D25A-4475-A294-6FF7DACB0D97}"/>
              </a:ext>
            </a:extLst>
          </p:cNvPr>
          <p:cNvSpPr>
            <a:spLocks xmlns:a="http://schemas.openxmlformats.org/drawingml/2006/main"/>
          </p:cNvSpPr>
          <p:nvPr/>
        </p:nvSpPr>
        <p:spPr>
          <a:xfrm xmlns:a="http://schemas.openxmlformats.org/drawingml/2006/main">
            <a:off x="2489200" y="5740400"/>
            <a:ext cx="90932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multi-agent before a workflow was tried.</a:t>
            </a:r>
          </a:p>
        </p:txBody>
      </p:sp>
      <p:sp>
        <p:nvSpPr>
          <p:cNvPr id="341" name="15-text-26">
            <a:extLst xmlns:a="http://schemas.openxmlformats.org/drawingml/2006/main">
              <a:ext uri="{FF2B5EF4-FFF2-40B4-BE49-F238E27FC236}">
                <a16:creationId xmlns:a16="http://schemas.microsoft.com/office/drawing/2014/main" id="{480DB482-F8BC-4E51-964D-211F32158E02}"/>
              </a:ext>
            </a:extLst>
          </p:cNvPr>
          <p:cNvSpPr>
            <a:spLocks xmlns:a="http://schemas.openxmlformats.org/drawingml/2006/main"/>
          </p:cNvSpPr>
          <p:nvPr/>
        </p:nvSpPr>
        <p:spPr>
          <a:xfrm xmlns:a="http://schemas.openxmlformats.org/drawingml/2006/main">
            <a:off x="2489200" y="6172200"/>
            <a:ext cx="9093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 bounded result can be an explicit limitation or a human handoff.</a:t>
            </a:r>
          </a:p>
        </p:txBody>
      </p:sp>
      <p:sp>
        <p:nvSpPr>
          <p:cNvPr id="342" name="narrative-number">
            <a:extLst xmlns:a="http://schemas.openxmlformats.org/drawingml/2006/main">
              <a:ext uri="{FF2B5EF4-FFF2-40B4-BE49-F238E27FC236}">
                <a16:creationId xmlns:a16="http://schemas.microsoft.com/office/drawing/2014/main" id="{414ED251-F92F-4184-8F8B-9C1A041FFE4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2966543401"/>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7"/>
                                        </p:tgtEl>
                                        <p:attrNameLst>
                                          <p:attrName>style.visibility</p:attrName>
                                        </p:attrNameLst>
                                      </p:cBhvr>
                                      <p:to>
                                        <p:strVal val="visible"/>
                                      </p:to>
                                    </p:set>
                                    <p:animEffect transition="in" filter="fade">
                                      <p:cBhvr>
                                        <p:cTn id="7" dur="300" fill="hold"/>
                                        <p:tgtEl>
                                          <p:spTgt spid="337"/>
                                        </p:tgtEl>
                                      </p:cBhvr>
                                    </p:animEffect>
                                  </p:childTnLst>
                                </p:cTn>
                              </p:par>
                              <p:par>
                                <p:cTn id="8" presetID="10" presetClass="entr" presetSubtype="0" fill="hold" nodeType="withEffect">
                                  <p:stCondLst>
                                    <p:cond delay="0"/>
                                  </p:stCondLst>
                                  <p:childTnLst>
                                    <p:set>
                                      <p:cBhvr>
                                        <p:cTn id="9" dur="1" fill="hold">
                                          <p:stCondLst>
                                            <p:cond delay="0"/>
                                          </p:stCondLst>
                                        </p:cTn>
                                        <p:tgtEl>
                                          <p:spTgt spid="338"/>
                                        </p:tgtEl>
                                        <p:attrNameLst>
                                          <p:attrName>style.visibility</p:attrName>
                                        </p:attrNameLst>
                                      </p:cBhvr>
                                      <p:to>
                                        <p:strVal val="visible"/>
                                      </p:to>
                                    </p:set>
                                    <p:animEffect transition="in" filter="fade">
                                      <p:cBhvr>
                                        <p:cTn id="10" dur="300" fill="hold"/>
                                        <p:tgtEl>
                                          <p:spTgt spid="338"/>
                                        </p:tgtEl>
                                      </p:cBhvr>
                                    </p:animEffect>
                                  </p:childTnLst>
                                </p:cTn>
                              </p:par>
                              <p:par>
                                <p:cTn id="11" presetID="10" presetClass="entr" presetSubtype="0" fill="hold" nodeType="withEffect">
                                  <p:stCondLst>
                                    <p:cond delay="0"/>
                                  </p:stCondLst>
                                  <p:childTnLst>
                                    <p:set>
                                      <p:cBhvr>
                                        <p:cTn id="12" dur="1" fill="hold">
                                          <p:stCondLst>
                                            <p:cond delay="0"/>
                                          </p:stCondLst>
                                        </p:cTn>
                                        <p:tgtEl>
                                          <p:spTgt spid="339"/>
                                        </p:tgtEl>
                                        <p:attrNameLst>
                                          <p:attrName>style.visibility</p:attrName>
                                        </p:attrNameLst>
                                      </p:cBhvr>
                                      <p:to>
                                        <p:strVal val="visible"/>
                                      </p:to>
                                    </p:set>
                                    <p:animEffect transition="in" filter="fade">
                                      <p:cBhvr>
                                        <p:cTn id="13" dur="300" fill="hold"/>
                                        <p:tgtEl>
                                          <p:spTgt spid="339"/>
                                        </p:tgtEl>
                                      </p:cBhvr>
                                    </p:animEffect>
                                  </p:childTnLst>
                                </p:cTn>
                              </p:par>
                              <p:par>
                                <p:cTn id="14" presetID="10" presetClass="entr" presetSubtype="0" fill="hold" nodeType="withEffect">
                                  <p:stCondLst>
                                    <p:cond delay="0"/>
                                  </p:stCondLst>
                                  <p:childTnLst>
                                    <p:set>
                                      <p:cBhvr>
                                        <p:cTn id="15" dur="1" fill="hold">
                                          <p:stCondLst>
                                            <p:cond delay="0"/>
                                          </p:stCondLst>
                                        </p:cTn>
                                        <p:tgtEl>
                                          <p:spTgt spid="340"/>
                                        </p:tgtEl>
                                        <p:attrNameLst>
                                          <p:attrName>style.visibility</p:attrName>
                                        </p:attrNameLst>
                                      </p:cBhvr>
                                      <p:to>
                                        <p:strVal val="visible"/>
                                      </p:to>
                                    </p:set>
                                    <p:animEffect transition="in" filter="fade">
                                      <p:cBhvr>
                                        <p:cTn id="16" dur="300" fill="hold"/>
                                        <p:tgtEl>
                                          <p:spTgt spid="340"/>
                                        </p:tgtEl>
                                      </p:cBhvr>
                                    </p:animEffect>
                                  </p:childTnLst>
                                </p:cTn>
                              </p:par>
                              <p:par>
                                <p:cTn id="17" presetID="1" presetClass="entr" presetSubtype="0" fill="hold" nodeType="withEffect">
                                  <p:stCondLst>
                                    <p:cond delay="0"/>
                                  </p:stCondLst>
                                  <p:childTnLst>
                                    <p:set>
                                      <p:cBhvr>
                                        <p:cTn id="18" dur="1" fill="hold">
                                          <p:stCondLst>
                                            <p:cond delay="0"/>
                                          </p:stCondLst>
                                        </p:cTn>
                                        <p:tgtEl>
                                          <p:spTgt spid="3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3" name="!!area-header">
            <a:extLst xmlns:a="http://schemas.openxmlformats.org/drawingml/2006/main">
              <a:ext uri="{FF2B5EF4-FFF2-40B4-BE49-F238E27FC236}">
                <a16:creationId xmlns:a16="http://schemas.microsoft.com/office/drawing/2014/main" id="{992F6DA4-D325-477F-A50F-14C7BDD02D2C}"/>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344" name="!!area-name">
            <a:extLst xmlns:a="http://schemas.openxmlformats.org/drawingml/2006/main">
              <a:ext uri="{FF2B5EF4-FFF2-40B4-BE49-F238E27FC236}">
                <a16:creationId xmlns:a16="http://schemas.microsoft.com/office/drawing/2014/main" id="{10B7CBC1-3547-4DBD-A575-9A692AA38D8E}"/>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Verification and evals</a:t>
            </a:r>
          </a:p>
        </p:txBody>
      </p:sp>
      <p:sp>
        <p:nvSpPr>
          <p:cNvPr id="345" name="!!area-beat">
            <a:extLst xmlns:a="http://schemas.openxmlformats.org/drawingml/2006/main">
              <a:ext uri="{FF2B5EF4-FFF2-40B4-BE49-F238E27FC236}">
                <a16:creationId xmlns:a16="http://schemas.microsoft.com/office/drawing/2014/main" id="{B9643184-281C-408D-9036-C79AB2A5F556}"/>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346" name="header-divider">
            <a:extLst xmlns:a="http://schemas.openxmlformats.org/drawingml/2006/main">
              <a:ext uri="{FF2B5EF4-FFF2-40B4-BE49-F238E27FC236}">
                <a16:creationId xmlns:a16="http://schemas.microsoft.com/office/drawing/2014/main" id="{ADD31DE7-E42C-4239-802F-5EA9090104D7}"/>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7" name="16-text-1">
            <a:extLst xmlns:a="http://schemas.openxmlformats.org/drawingml/2006/main">
              <a:ext uri="{FF2B5EF4-FFF2-40B4-BE49-F238E27FC236}">
                <a16:creationId xmlns:a16="http://schemas.microsoft.com/office/drawing/2014/main" id="{3A4046BD-4BE3-4737-AC00-463ABC39AF4A}"/>
              </a:ext>
            </a:extLst>
          </p:cNvPr>
          <p:cNvSpPr>
            <a:spLocks xmlns:a="http://schemas.openxmlformats.org/drawingml/2006/main"/>
          </p:cNvSpPr>
          <p:nvPr/>
        </p:nvSpPr>
        <p:spPr>
          <a:xfrm xmlns:a="http://schemas.openxmlformats.org/drawingml/2006/main">
            <a:off x="6096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write</a:t>
            </a:r>
          </a:p>
        </p:txBody>
      </p:sp>
      <p:sp>
        <p:nvSpPr>
          <p:cNvPr id="348" name="16-text-2">
            <a:extLst xmlns:a="http://schemas.openxmlformats.org/drawingml/2006/main">
              <a:ext uri="{FF2B5EF4-FFF2-40B4-BE49-F238E27FC236}">
                <a16:creationId xmlns:a16="http://schemas.microsoft.com/office/drawing/2014/main" id="{99A576AE-8BD8-4D70-A893-CE4EF5BD63E9}"/>
              </a:ext>
            </a:extLst>
          </p:cNvPr>
          <p:cNvSpPr>
            <a:spLocks xmlns:a="http://schemas.openxmlformats.org/drawingml/2006/main"/>
          </p:cNvSpPr>
          <p:nvPr/>
        </p:nvSpPr>
        <p:spPr>
          <a:xfrm xmlns:a="http://schemas.openxmlformats.org/drawingml/2006/main">
            <a:off x="34290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a:t>
            </a:r>
          </a:p>
        </p:txBody>
      </p:sp>
      <p:sp>
        <p:nvSpPr>
          <p:cNvPr id="349" name="16-text-3">
            <a:extLst xmlns:a="http://schemas.openxmlformats.org/drawingml/2006/main">
              <a:ext uri="{FF2B5EF4-FFF2-40B4-BE49-F238E27FC236}">
                <a16:creationId xmlns:a16="http://schemas.microsoft.com/office/drawing/2014/main" id="{3025A280-1E0F-45A1-B9F1-65208F6C83FC}"/>
              </a:ext>
            </a:extLst>
          </p:cNvPr>
          <p:cNvSpPr>
            <a:spLocks xmlns:a="http://schemas.openxmlformats.org/drawingml/2006/main"/>
          </p:cNvSpPr>
          <p:nvPr/>
        </p:nvSpPr>
        <p:spPr>
          <a:xfrm xmlns:a="http://schemas.openxmlformats.org/drawingml/2006/main">
            <a:off x="62484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read the failure</a:t>
            </a:r>
          </a:p>
        </p:txBody>
      </p:sp>
      <p:sp>
        <p:nvSpPr>
          <p:cNvPr id="350" name="16-text-4">
            <a:extLst xmlns:a="http://schemas.openxmlformats.org/drawingml/2006/main">
              <a:ext uri="{FF2B5EF4-FFF2-40B4-BE49-F238E27FC236}">
                <a16:creationId xmlns:a16="http://schemas.microsoft.com/office/drawing/2014/main" id="{157DBE43-474D-4CAE-B9BD-E065F9860CDD}"/>
              </a:ext>
            </a:extLst>
          </p:cNvPr>
          <p:cNvSpPr>
            <a:spLocks xmlns:a="http://schemas.openxmlformats.org/drawingml/2006/main"/>
          </p:cNvSpPr>
          <p:nvPr/>
        </p:nvSpPr>
        <p:spPr>
          <a:xfrm xmlns:a="http://schemas.openxmlformats.org/drawingml/2006/main">
            <a:off x="90678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retry</a:t>
            </a:r>
          </a:p>
        </p:txBody>
      </p:sp>
      <p:sp>
        <p:nvSpPr>
          <p:cNvPr id="351" name="16-line-6">
            <a:extLst xmlns:a="http://schemas.openxmlformats.org/drawingml/2006/main">
              <a:ext uri="{FF2B5EF4-FFF2-40B4-BE49-F238E27FC236}">
                <a16:creationId xmlns:a16="http://schemas.microsoft.com/office/drawing/2014/main" id="{5BCA16FC-89E7-4D9E-AA69-09EF1E0E606C}"/>
              </a:ext>
            </a:extLst>
          </p:cNvPr>
          <p:cNvSpPr>
            <a:spLocks xmlns:a="http://schemas.openxmlformats.org/drawingml/2006/main"/>
          </p:cNvSpPr>
          <p:nvPr/>
        </p:nvSpPr>
        <p:spPr>
          <a:xfrm xmlns:a="http://schemas.openxmlformats.org/drawingml/2006/main" flipH="0" flipV="0">
            <a:off x="2730500" y="2908300"/>
            <a:ext cx="7747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52" name="16-line-8">
            <a:extLst xmlns:a="http://schemas.openxmlformats.org/drawingml/2006/main">
              <a:ext uri="{FF2B5EF4-FFF2-40B4-BE49-F238E27FC236}">
                <a16:creationId xmlns:a16="http://schemas.microsoft.com/office/drawing/2014/main" id="{6DA08AA2-85F6-4583-B051-CADFB55828A0}"/>
              </a:ext>
            </a:extLst>
          </p:cNvPr>
          <p:cNvSpPr>
            <a:spLocks xmlns:a="http://schemas.openxmlformats.org/drawingml/2006/main"/>
          </p:cNvSpPr>
          <p:nvPr/>
        </p:nvSpPr>
        <p:spPr>
          <a:xfrm xmlns:a="http://schemas.openxmlformats.org/drawingml/2006/main" flipH="0" flipV="0">
            <a:off x="5549900" y="2908300"/>
            <a:ext cx="7747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53" name="16-line-10">
            <a:extLst xmlns:a="http://schemas.openxmlformats.org/drawingml/2006/main">
              <a:ext uri="{FF2B5EF4-FFF2-40B4-BE49-F238E27FC236}">
                <a16:creationId xmlns:a16="http://schemas.microsoft.com/office/drawing/2014/main" id="{13C80C82-E28F-481B-B5F9-E77B1349984B}"/>
              </a:ext>
            </a:extLst>
          </p:cNvPr>
          <p:cNvSpPr>
            <a:spLocks xmlns:a="http://schemas.openxmlformats.org/drawingml/2006/main"/>
          </p:cNvSpPr>
          <p:nvPr/>
        </p:nvSpPr>
        <p:spPr>
          <a:xfrm xmlns:a="http://schemas.openxmlformats.org/drawingml/2006/main" flipH="0" flipV="0">
            <a:off x="8369300" y="2908300"/>
            <a:ext cx="7747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54" name="16-text-11">
            <a:extLst xmlns:a="http://schemas.openxmlformats.org/drawingml/2006/main">
              <a:ext uri="{FF2B5EF4-FFF2-40B4-BE49-F238E27FC236}">
                <a16:creationId xmlns:a16="http://schemas.microsoft.com/office/drawing/2014/main" id="{A6239E48-51F7-42AE-9E5F-CE2080198B96}"/>
              </a:ext>
            </a:extLst>
          </p:cNvPr>
          <p:cNvSpPr>
            <a:spLocks xmlns:a="http://schemas.openxmlformats.org/drawingml/2006/main"/>
          </p:cNvSpPr>
          <p:nvPr/>
        </p:nvSpPr>
        <p:spPr>
          <a:xfrm xmlns:a="http://schemas.openxmlformats.org/drawingml/2006/main">
            <a:off x="609600" y="3581400"/>
            <a:ext cx="10972800" cy="20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"LLMs are quite happy to say</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'all tests green', yet when I run them,</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there are failures."</a:t>
            </a:r>
          </a:p>
        </p:txBody>
      </p:sp>
      <p:sp>
        <p:nvSpPr>
          <p:cNvPr id="355" name="16-text-12">
            <a:extLst xmlns:a="http://schemas.openxmlformats.org/drawingml/2006/main">
              <a:ext uri="{FF2B5EF4-FFF2-40B4-BE49-F238E27FC236}">
                <a16:creationId xmlns:a16="http://schemas.microsoft.com/office/drawing/2014/main" id="{E5ECFB04-FCFF-49B5-A490-1B759061068A}"/>
              </a:ext>
            </a:extLst>
          </p:cNvPr>
          <p:cNvSpPr>
            <a:spLocks xmlns:a="http://schemas.openxmlformats.org/drawingml/2006/main"/>
          </p:cNvSpPr>
          <p:nvPr/>
        </p:nvSpPr>
        <p:spPr>
          <a:xfrm xmlns:a="http://schemas.openxmlformats.org/drawingml/2006/main">
            <a:off x="609600" y="5765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Martin Fowler, August 2025</a:t>
            </a:r>
          </a:p>
        </p:txBody>
      </p:sp>
      <p:sp>
        <p:nvSpPr>
          <p:cNvPr id="356" name="narrative-number">
            <a:extLst xmlns:a="http://schemas.openxmlformats.org/drawingml/2006/main">
              <a:ext uri="{FF2B5EF4-FFF2-40B4-BE49-F238E27FC236}">
                <a16:creationId xmlns:a16="http://schemas.microsoft.com/office/drawing/2014/main" id="{AFCEDEEB-AA3E-48D7-ABC5-77E5B2CEECE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1900758865"/>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57" name="!!area-name">
            <a:extLst xmlns:a="http://schemas.openxmlformats.org/drawingml/2006/main">
              <a:ext uri="{FF2B5EF4-FFF2-40B4-BE49-F238E27FC236}">
                <a16:creationId xmlns:a16="http://schemas.microsoft.com/office/drawing/2014/main" id="{198337A4-A27C-4D70-9134-7BBC1698F67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user</a:t>
            </a:r>
          </a:p>
        </p:txBody>
      </p:sp>
      <p:pic>
        <p:nvPicPr>
          <p:cNvPr id="366" name="mini-map"/>
          <p:cNvPicPr>
            <a:picLocks xmlns:a="http://schemas.openxmlformats.org/drawingml/2006/main" noChangeAspect="1"/>
          </p:cNvPicPr>
          <p:nvPr/>
        </p:nvPicPr>
        <p:blipFill>
          <a:blip xmlns:r="http://schemas.openxmlformats.org/officeDocument/2006/relationships" xmlns:a="http://schemas.openxmlformats.org/drawingml/2006/main" r:embed="R5c5dc0f0566f4e9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59" name="header-divider">
            <a:extLst xmlns:a="http://schemas.openxmlformats.org/drawingml/2006/main">
              <a:ext uri="{FF2B5EF4-FFF2-40B4-BE49-F238E27FC236}">
                <a16:creationId xmlns:a16="http://schemas.microsoft.com/office/drawing/2014/main" id="{AFB0D99E-93DA-4C64-916F-1280EBE3D9F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0" name="16b-text-1">
            <a:extLst xmlns:a="http://schemas.openxmlformats.org/drawingml/2006/main">
              <a:ext uri="{FF2B5EF4-FFF2-40B4-BE49-F238E27FC236}">
                <a16:creationId xmlns:a16="http://schemas.microsoft.com/office/drawing/2014/main" id="{502E4D7E-8AA2-4010-9893-28C2A995F1E6}"/>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sp>
        <p:nvSpPr>
          <p:cNvPr id="361" name="16b-text-2">
            <a:extLst xmlns:a="http://schemas.openxmlformats.org/drawingml/2006/main">
              <a:ext uri="{FF2B5EF4-FFF2-40B4-BE49-F238E27FC236}">
                <a16:creationId xmlns:a16="http://schemas.microsoft.com/office/drawing/2014/main" id="{48679535-700B-4C15-B3D5-8073D5AEC87C}"/>
              </a:ext>
            </a:extLst>
          </p:cNvPr>
          <p:cNvSpPr>
            <a:spLocks xmlns:a="http://schemas.openxmlformats.org/drawingml/2006/main"/>
          </p:cNvSpPr>
          <p:nvPr/>
        </p:nvSpPr>
        <p:spPr>
          <a:xfrm xmlns:a="http://schemas.openxmlformats.org/drawingml/2006/main">
            <a:off x="609600" y="243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Two complementary uses of checks. This talk's organizing model:</a:t>
            </a:r>
          </a:p>
        </p:txBody>
      </p:sp>
      <p:graphicFrame>
        <p:nvGraphicFramePr>
          <p:cNvPr id="370" name="16b-table-3"/>
          <p:cNvGraphicFramePr/>
          <p:nvPr/>
        </p:nvGraphicFramePr>
        <p:xfrm>
          <a:off xmlns:a="http://schemas.openxmlformats.org/drawingml/2006/main" x="609600" y="2921000"/>
          <a:ext xmlns:a="http://schemas.openxmlformats.org/drawingml/2006/main" cx="10972800" cy="24638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01B66D"/>
                          </a:solidFill>
                          <a:latin typeface="Helvetica"/>
                          <a:ea typeface="Helvetica"/>
                          <a:cs typeface="Helvetica"/>
                        </a:rPr>
                        <a:t>Verification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Evaluation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25500">
                <a:tc>
                  <a:txBody>
                    <a:bodyPr>
                      <a:noAutofit/>
                    </a:bodyPr>
                    <a:lstStyle/>
                    <a:p>
                      <a:pPr>
                        <a:lnSpc>
                          <a:spcPct val="125000"/>
                        </a:lnSpc>
                        <a:buNone/>
                      </a:pPr>
                      <a:r>
                        <a:rPr sz="2000" b="0">
                          <a:solidFill>
                            <a:srgbClr val="FFFCF5"/>
                          </a:solidFill>
                          <a:latin typeface="Helvetica"/>
                          <a:ea typeface="Helvetica"/>
                          <a:cs typeface="Helvetica"/>
                        </a:rPr>
                        <a:t>Check an action before accepting 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Measure behavior across</a:t>
                      </a:r>
                    </a:p>
                    <a:p>
                      <a:pPr>
                        <a:lnSpc>
                          <a:spcPct val="125000"/>
                        </a:lnSpc>
                        <a:buNone/>
                      </a:pPr>
                      <a:r>
                        <a:rPr sz="2000" b="0">
                          <a:solidFill>
                            <a:srgbClr val="FFFCF5"/>
                          </a:solidFill>
                          <a:latin typeface="Helvetica"/>
                          <a:ea typeface="Helvetica"/>
                          <a:cs typeface="Helvetica"/>
                        </a:rPr>
                        <a:t>representative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82600">
                <a:tc>
                  <a:txBody>
                    <a:bodyPr>
                      <a:noAutofit/>
                    </a:bodyPr>
                    <a:lstStyle/>
                    <a:p>
                      <a:pPr>
                        <a:lnSpc>
                          <a:spcPct val="125000"/>
                        </a:lnSpc>
                        <a:buNone/>
                      </a:pPr>
                      <a:r>
                        <a:rPr sz="2000" b="0">
                          <a:solidFill>
                            <a:srgbClr val="FFFCF5"/>
                          </a:solidFill>
                          <a:latin typeface="Helvetica"/>
                          <a:ea typeface="Helvetica"/>
                          <a:cs typeface="Helvetica"/>
                        </a:rPr>
                        <a:t>Inside the loop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Outside the loop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98500">
                <a:tc>
                  <a:txBody>
                    <a:bodyPr>
                      <a:noAutofit/>
                    </a:bodyPr>
                    <a:lstStyle/>
                    <a:p>
                      <a:pPr>
                        <a:lnSpc>
                          <a:spcPct val="125000"/>
                        </a:lnSpc>
                        <a:buNone/>
                      </a:pPr>
                      <a:r>
                        <a:rPr sz="2000" b="0">
                          <a:solidFill>
                            <a:srgbClr val="FFFCF5"/>
                          </a:solidFill>
                          <a:latin typeface="Helvetica"/>
                          <a:ea typeface="Helvetica"/>
                          <a:cs typeface="Helvetica"/>
                        </a:rPr>
                        <a:t>Rules, state checks, visual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Tasks, trials, graders, suites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363" name="16b-text-4">
            <a:extLst xmlns:a="http://schemas.openxmlformats.org/drawingml/2006/main">
              <a:ext uri="{FF2B5EF4-FFF2-40B4-BE49-F238E27FC236}">
                <a16:creationId xmlns:a16="http://schemas.microsoft.com/office/drawing/2014/main" id="{2AD0A73E-9124-4784-AE45-4A7508F1B919}"/>
              </a:ext>
            </a:extLst>
          </p:cNvPr>
          <p:cNvSpPr>
            <a:spLocks xmlns:a="http://schemas.openxmlformats.org/drawingml/2006/main"/>
          </p:cNvSpPr>
          <p:nvPr/>
        </p:nvSpPr>
        <p:spPr>
          <a:xfrm xmlns:a="http://schemas.openxmlformats.org/drawingml/2006/main">
            <a:off x="609600" y="5613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Graders: code · model, with expert calibration · human</a:t>
            </a:r>
          </a:p>
        </p:txBody>
      </p:sp>
      <p:sp>
        <p:nvSpPr>
          <p:cNvPr id="364" name="narrative-number">
            <a:extLst xmlns:a="http://schemas.openxmlformats.org/drawingml/2006/main">
              <a:ext uri="{FF2B5EF4-FFF2-40B4-BE49-F238E27FC236}">
                <a16:creationId xmlns:a16="http://schemas.microsoft.com/office/drawing/2014/main" id="{48D4B924-F0DB-4790-AC3C-615032D3845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297026080"/>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65" name="!!area-name">
            <a:extLst xmlns:a="http://schemas.openxmlformats.org/drawingml/2006/main">
              <a:ext uri="{FF2B5EF4-FFF2-40B4-BE49-F238E27FC236}">
                <a16:creationId xmlns:a16="http://schemas.microsoft.com/office/drawing/2014/main" id="{87BFBE15-2C3B-46BF-BBC8-AC11EF6FDD0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user</a:t>
            </a:r>
          </a:p>
        </p:txBody>
      </p:sp>
      <p:pic>
        <p:nvPicPr>
          <p:cNvPr id="381" name="mini-map"/>
          <p:cNvPicPr>
            <a:picLocks xmlns:a="http://schemas.openxmlformats.org/drawingml/2006/main" noChangeAspect="1"/>
          </p:cNvPicPr>
          <p:nvPr/>
        </p:nvPicPr>
        <p:blipFill>
          <a:blip xmlns:r="http://schemas.openxmlformats.org/officeDocument/2006/relationships" xmlns:a="http://schemas.openxmlformats.org/drawingml/2006/main" r:embed="Re53bcc4d29e34b8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67" name="header-divider">
            <a:extLst xmlns:a="http://schemas.openxmlformats.org/drawingml/2006/main">
              <a:ext uri="{FF2B5EF4-FFF2-40B4-BE49-F238E27FC236}">
                <a16:creationId xmlns:a16="http://schemas.microsoft.com/office/drawing/2014/main" id="{1094E436-4F09-4942-B329-591DDD616D3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8" name="16b-text-1">
            <a:extLst xmlns:a="http://schemas.openxmlformats.org/drawingml/2006/main">
              <a:ext uri="{FF2B5EF4-FFF2-40B4-BE49-F238E27FC236}">
                <a16:creationId xmlns:a16="http://schemas.microsoft.com/office/drawing/2014/main" id="{3BEEFFB4-BE50-458B-B1DB-4ED0C6C98265}"/>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sp>
        <p:nvSpPr>
          <p:cNvPr id="369" name="16b-text-5">
            <a:extLst xmlns:a="http://schemas.openxmlformats.org/drawingml/2006/main">
              <a:ext uri="{FF2B5EF4-FFF2-40B4-BE49-F238E27FC236}">
                <a16:creationId xmlns:a16="http://schemas.microsoft.com/office/drawing/2014/main" id="{A5BF4A2C-69E3-4240-A3A3-017AD45D2FC2}"/>
              </a:ext>
            </a:extLst>
          </p:cNvPr>
          <p:cNvSpPr>
            <a:spLocks xmlns:a="http://schemas.openxmlformats.org/drawingml/2006/main"/>
          </p:cNvSpPr>
          <p:nvPr/>
        </p:nvSpPr>
        <p:spPr>
          <a:xfrm xmlns:a="http://schemas.openxmlformats.org/drawingml/2006/main">
            <a:off x="609600" y="2438400"/>
            <a:ext cx="109728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Check the result. Inspect the trace.</a:t>
            </a:r>
          </a:p>
        </p:txBody>
      </p:sp>
      <p:sp>
        <p:nvSpPr>
          <p:cNvPr id="370" name="16b-text-6">
            <a:extLst xmlns:a="http://schemas.openxmlformats.org/drawingml/2006/main">
              <a:ext uri="{FF2B5EF4-FFF2-40B4-BE49-F238E27FC236}">
                <a16:creationId xmlns:a16="http://schemas.microsoft.com/office/drawing/2014/main" id="{75F28FDE-0307-43C7-A3D1-B8DFADB7995C}"/>
              </a:ext>
            </a:extLst>
          </p:cNvPr>
          <p:cNvSpPr>
            <a:spLocks xmlns:a="http://schemas.openxmlformats.org/drawingml/2006/main"/>
          </p:cNvSpPr>
          <p:nvPr/>
        </p:nvSpPr>
        <p:spPr>
          <a:xfrm xmlns:a="http://schemas.openxmlformats.org/drawingml/2006/main">
            <a:off x="609600" y="3098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FRB-042 grader</a:t>
            </a:r>
          </a:p>
        </p:txBody>
      </p:sp>
      <p:sp>
        <p:nvSpPr>
          <p:cNvPr id="371" name="16b-text-7">
            <a:extLst xmlns:a="http://schemas.openxmlformats.org/drawingml/2006/main">
              <a:ext uri="{FF2B5EF4-FFF2-40B4-BE49-F238E27FC236}">
                <a16:creationId xmlns:a16="http://schemas.microsoft.com/office/drawing/2014/main" id="{A82D4CBF-E75B-4683-B201-741C577DD9AD}"/>
              </a:ext>
            </a:extLst>
          </p:cNvPr>
          <p:cNvSpPr>
            <a:spLocks xmlns:a="http://schemas.openxmlformats.org/drawingml/2006/main"/>
          </p:cNvSpPr>
          <p:nvPr/>
        </p:nvSpPr>
        <p:spPr>
          <a:xfrm xmlns:a="http://schemas.openxmlformats.org/drawingml/2006/main">
            <a:off x="609600" y="35306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slide 6</a:t>
            </a:r>
          </a:p>
        </p:txBody>
      </p:sp>
      <p:sp>
        <p:nvSpPr>
          <p:cNvPr id="372" name="16b-text-8">
            <a:extLst xmlns:a="http://schemas.openxmlformats.org/drawingml/2006/main">
              <a:ext uri="{FF2B5EF4-FFF2-40B4-BE49-F238E27FC236}">
                <a16:creationId xmlns:a16="http://schemas.microsoft.com/office/drawing/2014/main" id="{F5A1A8D5-555D-48EC-9650-930D17CD611F}"/>
              </a:ext>
            </a:extLst>
          </p:cNvPr>
          <p:cNvSpPr>
            <a:spLocks xmlns:a="http://schemas.openxmlformats.org/drawingml/2006/main"/>
          </p:cNvSpPr>
          <p:nvPr/>
        </p:nvSpPr>
        <p:spPr>
          <a:xfrm xmlns:a="http://schemas.openxmlformats.org/drawingml/2006/main">
            <a:off x="609600" y="38862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“Bearing wear is a possible cause.”</a:t>
            </a:r>
          </a:p>
        </p:txBody>
      </p:sp>
      <p:sp>
        <p:nvSpPr>
          <p:cNvPr id="373" name="16b-text-9">
            <a:extLst xmlns:a="http://schemas.openxmlformats.org/drawingml/2006/main">
              <a:ext uri="{FF2B5EF4-FFF2-40B4-BE49-F238E27FC236}">
                <a16:creationId xmlns:a16="http://schemas.microsoft.com/office/drawing/2014/main" id="{9218D111-A1B3-463B-A240-3374F2B8CD7A}"/>
              </a:ext>
            </a:extLst>
          </p:cNvPr>
          <p:cNvSpPr>
            <a:spLocks xmlns:a="http://schemas.openxmlformats.org/drawingml/2006/main"/>
          </p:cNvSpPr>
          <p:nvPr/>
        </p:nvSpPr>
        <p:spPr>
          <a:xfrm xmlns:a="http://schemas.openxmlformats.org/drawingml/2006/main">
            <a:off x="609600" y="46736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374" name="16b-text-10">
            <a:extLst xmlns:a="http://schemas.openxmlformats.org/drawingml/2006/main">
              <a:ext uri="{FF2B5EF4-FFF2-40B4-BE49-F238E27FC236}">
                <a16:creationId xmlns:a16="http://schemas.microsoft.com/office/drawing/2014/main" id="{836D152C-3423-4B91-BEA1-FD127D0EC529}"/>
              </a:ext>
            </a:extLst>
          </p:cNvPr>
          <p:cNvSpPr>
            <a:spLocks xmlns:a="http://schemas.openxmlformats.org/drawingml/2006/main"/>
          </p:cNvSpPr>
          <p:nvPr/>
        </p:nvSpPr>
        <p:spPr>
          <a:xfrm xmlns:a="http://schemas.openxmlformats.org/drawingml/2006/main">
            <a:off x="609600" y="50292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375" name="16b-text-11">
            <a:extLst xmlns:a="http://schemas.openxmlformats.org/drawingml/2006/main">
              <a:ext uri="{FF2B5EF4-FFF2-40B4-BE49-F238E27FC236}">
                <a16:creationId xmlns:a16="http://schemas.microsoft.com/office/drawing/2014/main" id="{3629F361-CED2-4987-AF13-53DB964358EF}"/>
              </a:ext>
            </a:extLst>
          </p:cNvPr>
          <p:cNvSpPr>
            <a:spLocks xmlns:a="http://schemas.openxmlformats.org/drawingml/2006/main"/>
          </p:cNvSpPr>
          <p:nvPr/>
        </p:nvSpPr>
        <p:spPr>
          <a:xfrm xmlns:a="http://schemas.openxmlformats.org/drawingml/2006/main">
            <a:off x="6248400" y="3530600"/>
            <a:ext cx="5334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Observed answer</a:t>
            </a:r>
          </a:p>
        </p:txBody>
      </p:sp>
      <p:sp>
        <p:nvSpPr>
          <p:cNvPr id="376" name="16b-text-12">
            <a:extLst xmlns:a="http://schemas.openxmlformats.org/drawingml/2006/main">
              <a:ext uri="{FF2B5EF4-FFF2-40B4-BE49-F238E27FC236}">
                <a16:creationId xmlns:a16="http://schemas.microsoft.com/office/drawing/2014/main" id="{5D4A96B6-2F8E-4C67-8CB9-C71982AAD4E1}"/>
              </a:ext>
            </a:extLst>
          </p:cNvPr>
          <p:cNvSpPr>
            <a:spLocks xmlns:a="http://schemas.openxmlformats.org/drawingml/2006/main"/>
          </p:cNvSpPr>
          <p:nvPr/>
        </p:nvSpPr>
        <p:spPr>
          <a:xfrm xmlns:a="http://schemas.openxmlformats.org/drawingml/2006/main">
            <a:off x="6248400" y="39370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377" name="16b-text-13">
            <a:extLst xmlns:a="http://schemas.openxmlformats.org/drawingml/2006/main">
              <a:ext uri="{FF2B5EF4-FFF2-40B4-BE49-F238E27FC236}">
                <a16:creationId xmlns:a16="http://schemas.microsoft.com/office/drawing/2014/main" id="{067F6610-7E2C-47BC-BFFC-F761EC5CC1AE}"/>
              </a:ext>
            </a:extLst>
          </p:cNvPr>
          <p:cNvSpPr>
            <a:spLocks xmlns:a="http://schemas.openxmlformats.org/drawingml/2006/main"/>
          </p:cNvSpPr>
          <p:nvPr/>
        </p:nvSpPr>
        <p:spPr>
          <a:xfrm xmlns:a="http://schemas.openxmlformats.org/drawingml/2006/main">
            <a:off x="6248400" y="48768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FAIL: hypothesis reported</a:t>
            </a:r>
          </a:p>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as a finding.</a:t>
            </a:r>
          </a:p>
        </p:txBody>
      </p:sp>
      <p:sp>
        <p:nvSpPr>
          <p:cNvPr id="378" name="16b-text-14">
            <a:extLst xmlns:a="http://schemas.openxmlformats.org/drawingml/2006/main">
              <a:ext uri="{FF2B5EF4-FFF2-40B4-BE49-F238E27FC236}">
                <a16:creationId xmlns:a16="http://schemas.microsoft.com/office/drawing/2014/main" id="{8F1ED909-918B-4722-838F-3858B0B30F77}"/>
              </a:ext>
            </a:extLst>
          </p:cNvPr>
          <p:cNvSpPr>
            <a:spLocks xmlns:a="http://schemas.openxmlformats.org/drawingml/2006/main"/>
          </p:cNvSpPr>
          <p:nvPr/>
        </p:nvSpPr>
        <p:spPr>
          <a:xfrm xmlns:a="http://schemas.openxmlformats.org/drawingml/2006/main">
            <a:off x="6248400" y="56134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Expected: unresolved cause.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before assigning a cause.</a:t>
            </a:r>
          </a:p>
        </p:txBody>
      </p:sp>
      <p:sp>
        <p:nvSpPr>
          <p:cNvPr id="379" name="narrative-number">
            <a:extLst xmlns:a="http://schemas.openxmlformats.org/drawingml/2006/main">
              <a:ext uri="{FF2B5EF4-FFF2-40B4-BE49-F238E27FC236}">
                <a16:creationId xmlns:a16="http://schemas.microsoft.com/office/drawing/2014/main" id="{1D0BE00B-829D-43E4-8093-36333264D89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1976582979"/>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0" name="!!area-name">
            <a:extLst xmlns:a="http://schemas.openxmlformats.org/drawingml/2006/main">
              <a:ext uri="{FF2B5EF4-FFF2-40B4-BE49-F238E27FC236}">
                <a16:creationId xmlns:a16="http://schemas.microsoft.com/office/drawing/2014/main" id="{7D324FFA-C821-448C-9588-B34FEA87246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user</a:t>
            </a:r>
          </a:p>
        </p:txBody>
      </p:sp>
      <p:pic>
        <p:nvPicPr>
          <p:cNvPr id="391" name="mini-map"/>
          <p:cNvPicPr>
            <a:picLocks xmlns:a="http://schemas.openxmlformats.org/drawingml/2006/main" noChangeAspect="1"/>
          </p:cNvPicPr>
          <p:nvPr/>
        </p:nvPicPr>
        <p:blipFill>
          <a:blip xmlns:r="http://schemas.openxmlformats.org/officeDocument/2006/relationships" xmlns:a="http://schemas.openxmlformats.org/drawingml/2006/main" r:embed="Rfc35e80f3c7c41f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82" name="header-divider">
            <a:extLst xmlns:a="http://schemas.openxmlformats.org/drawingml/2006/main">
              <a:ext uri="{FF2B5EF4-FFF2-40B4-BE49-F238E27FC236}">
                <a16:creationId xmlns:a16="http://schemas.microsoft.com/office/drawing/2014/main" id="{7D634FC6-00F1-4B61-BBA7-A100DBBB55F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3" name="16b-text-1">
            <a:extLst xmlns:a="http://schemas.openxmlformats.org/drawingml/2006/main">
              <a:ext uri="{FF2B5EF4-FFF2-40B4-BE49-F238E27FC236}">
                <a16:creationId xmlns:a16="http://schemas.microsoft.com/office/drawing/2014/main" id="{3232679F-0305-4018-A07C-5316E092FFC9}"/>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sp>
        <p:nvSpPr>
          <p:cNvPr id="384" name="16b-text-15">
            <a:extLst xmlns:a="http://schemas.openxmlformats.org/drawingml/2006/main">
              <a:ext uri="{FF2B5EF4-FFF2-40B4-BE49-F238E27FC236}">
                <a16:creationId xmlns:a16="http://schemas.microsoft.com/office/drawing/2014/main" id="{CD6B827A-9452-44B7-B705-E36623872E2C}"/>
              </a:ext>
            </a:extLst>
          </p:cNvPr>
          <p:cNvSpPr>
            <a:spLocks xmlns:a="http://schemas.openxmlformats.org/drawingml/2006/main"/>
          </p:cNvSpPr>
          <p:nvPr/>
        </p:nvSpPr>
        <p:spPr>
          <a:xfrm xmlns:a="http://schemas.openxmlformats.org/drawingml/2006/main">
            <a:off x="609600" y="2438400"/>
            <a:ext cx="30480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1064F8"/>
                </a:solidFill>
                <a:latin typeface="Consolas"/>
                <a:ea typeface="Consolas"/>
                <a:cs typeface="Consolas"/>
              </a:defRPr>
            </a:pPr>
            <a:r>
              <a:rPr b="0">
                <a:solidFill>
                  <a:srgbClr val="1064F8"/>
                </a:solidFill>
                <a:latin typeface="Consolas"/>
                <a:ea typeface="Consolas"/>
                <a:cs typeface="Consolas"/>
              </a:rPr>
              <a:t>pass@k</a:t>
            </a:r>
          </a:p>
        </p:txBody>
      </p:sp>
      <p:sp>
        <p:nvSpPr>
          <p:cNvPr id="385" name="16b-text-16">
            <a:extLst xmlns:a="http://schemas.openxmlformats.org/drawingml/2006/main">
              <a:ext uri="{FF2B5EF4-FFF2-40B4-BE49-F238E27FC236}">
                <a16:creationId xmlns:a16="http://schemas.microsoft.com/office/drawing/2014/main" id="{731225F7-2CBC-451D-893A-18C8509702A6}"/>
              </a:ext>
            </a:extLst>
          </p:cNvPr>
          <p:cNvSpPr>
            <a:spLocks xmlns:a="http://schemas.openxmlformats.org/drawingml/2006/main"/>
          </p:cNvSpPr>
          <p:nvPr/>
        </p:nvSpPr>
        <p:spPr>
          <a:xfrm xmlns:a="http://schemas.openxmlformats.org/drawingml/2006/main">
            <a:off x="4064000" y="2565400"/>
            <a:ext cx="7518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at least one of k trials succeeds.</a:t>
            </a:r>
          </a:p>
        </p:txBody>
      </p:sp>
      <p:sp>
        <p:nvSpPr>
          <p:cNvPr id="386" name="16b-text-17">
            <a:extLst xmlns:a="http://schemas.openxmlformats.org/drawingml/2006/main">
              <a:ext uri="{FF2B5EF4-FFF2-40B4-BE49-F238E27FC236}">
                <a16:creationId xmlns:a16="http://schemas.microsoft.com/office/drawing/2014/main" id="{03A96B99-7B64-4952-A306-7D1DD6D712AB}"/>
              </a:ext>
            </a:extLst>
          </p:cNvPr>
          <p:cNvSpPr>
            <a:spLocks xmlns:a="http://schemas.openxmlformats.org/drawingml/2006/main"/>
          </p:cNvSpPr>
          <p:nvPr/>
        </p:nvSpPr>
        <p:spPr>
          <a:xfrm xmlns:a="http://schemas.openxmlformats.org/drawingml/2006/main">
            <a:off x="609600" y="3835400"/>
            <a:ext cx="30480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1064F8"/>
                </a:solidFill>
                <a:latin typeface="Consolas"/>
                <a:ea typeface="Consolas"/>
                <a:cs typeface="Consolas"/>
              </a:defRPr>
            </a:pPr>
            <a:r>
              <a:rPr b="0">
                <a:solidFill>
                  <a:srgbClr val="1064F8"/>
                </a:solidFill>
                <a:latin typeface="Consolas"/>
                <a:ea typeface="Consolas"/>
                <a:cs typeface="Consolas"/>
              </a:rPr>
              <a:t>pass^k</a:t>
            </a:r>
          </a:p>
        </p:txBody>
      </p:sp>
      <p:sp>
        <p:nvSpPr>
          <p:cNvPr id="387" name="16b-text-18">
            <a:extLst xmlns:a="http://schemas.openxmlformats.org/drawingml/2006/main">
              <a:ext uri="{FF2B5EF4-FFF2-40B4-BE49-F238E27FC236}">
                <a16:creationId xmlns:a16="http://schemas.microsoft.com/office/drawing/2014/main" id="{28DD17B7-2B87-4818-B6ED-12A99AC4AD30}"/>
              </a:ext>
            </a:extLst>
          </p:cNvPr>
          <p:cNvSpPr>
            <a:spLocks xmlns:a="http://schemas.openxmlformats.org/drawingml/2006/main"/>
          </p:cNvSpPr>
          <p:nvPr/>
        </p:nvSpPr>
        <p:spPr>
          <a:xfrm xmlns:a="http://schemas.openxmlformats.org/drawingml/2006/main">
            <a:off x="4064000" y="3962400"/>
            <a:ext cx="7518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all k trials succeed.</a:t>
            </a:r>
          </a:p>
        </p:txBody>
      </p:sp>
      <p:sp>
        <p:nvSpPr>
          <p:cNvPr id="388" name="16b-text-19">
            <a:extLst xmlns:a="http://schemas.openxmlformats.org/drawingml/2006/main">
              <a:ext uri="{FF2B5EF4-FFF2-40B4-BE49-F238E27FC236}">
                <a16:creationId xmlns:a16="http://schemas.microsoft.com/office/drawing/2014/main" id="{47630E0C-0248-47F5-87F0-58050FA014F6}"/>
              </a:ext>
            </a:extLst>
          </p:cNvPr>
          <p:cNvSpPr>
            <a:spLocks xmlns:a="http://schemas.openxmlformats.org/drawingml/2006/main"/>
          </p:cNvSpPr>
          <p:nvPr/>
        </p:nvSpPr>
        <p:spPr>
          <a:xfrm xmlns:a="http://schemas.openxmlformats.org/drawingml/2006/main">
            <a:off x="609600" y="5168900"/>
            <a:ext cx="109728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Identical at k = 1. Opposite stories at k = 10.</a:t>
            </a:r>
          </a:p>
        </p:txBody>
      </p:sp>
      <p:sp>
        <p:nvSpPr>
          <p:cNvPr id="389" name="narrative-number">
            <a:extLst xmlns:a="http://schemas.openxmlformats.org/drawingml/2006/main">
              <a:ext uri="{FF2B5EF4-FFF2-40B4-BE49-F238E27FC236}">
                <a16:creationId xmlns:a16="http://schemas.microsoft.com/office/drawing/2014/main" id="{A3DED037-167A-409E-BC2A-3A83DF5D352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4222351270"/>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0" name="!!area-name">
            <a:extLst xmlns:a="http://schemas.openxmlformats.org/drawingml/2006/main">
              <a:ext uri="{FF2B5EF4-FFF2-40B4-BE49-F238E27FC236}">
                <a16:creationId xmlns:a16="http://schemas.microsoft.com/office/drawing/2014/main" id="{EFA062C8-09DC-4F31-9FDC-65DD7F46C0D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user</a:t>
            </a:r>
          </a:p>
        </p:txBody>
      </p:sp>
      <p:pic>
        <p:nvPicPr>
          <p:cNvPr id="399" name="mini-map"/>
          <p:cNvPicPr>
            <a:picLocks xmlns:a="http://schemas.openxmlformats.org/drawingml/2006/main" noChangeAspect="1"/>
          </p:cNvPicPr>
          <p:nvPr/>
        </p:nvPicPr>
        <p:blipFill>
          <a:blip xmlns:r="http://schemas.openxmlformats.org/officeDocument/2006/relationships" xmlns:a="http://schemas.openxmlformats.org/drawingml/2006/main" r:embed="R4b6cabcef884436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2" name="header-divider">
            <a:extLst xmlns:a="http://schemas.openxmlformats.org/drawingml/2006/main">
              <a:ext uri="{FF2B5EF4-FFF2-40B4-BE49-F238E27FC236}">
                <a16:creationId xmlns:a16="http://schemas.microsoft.com/office/drawing/2014/main" id="{6C19A4A6-7CC1-41F3-8270-E16FFD5612C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3" name="16b-text-1">
            <a:extLst xmlns:a="http://schemas.openxmlformats.org/drawingml/2006/main">
              <a:ext uri="{FF2B5EF4-FFF2-40B4-BE49-F238E27FC236}">
                <a16:creationId xmlns:a16="http://schemas.microsoft.com/office/drawing/2014/main" id="{6AADF4D9-9F87-4A15-B172-875F8B004571}"/>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sp>
        <p:nvSpPr>
          <p:cNvPr id="394" name="16b-text-20">
            <a:extLst xmlns:a="http://schemas.openxmlformats.org/drawingml/2006/main">
              <a:ext uri="{FF2B5EF4-FFF2-40B4-BE49-F238E27FC236}">
                <a16:creationId xmlns:a16="http://schemas.microsoft.com/office/drawing/2014/main" id="{27AE767A-84D4-4259-B745-DA717796FA3D}"/>
              </a:ext>
            </a:extLst>
          </p:cNvPr>
          <p:cNvSpPr>
            <a:spLocks xmlns:a="http://schemas.openxmlformats.org/drawingml/2006/main"/>
          </p:cNvSpPr>
          <p:nvPr/>
        </p:nvSpPr>
        <p:spPr>
          <a:xfrm xmlns:a="http://schemas.openxmlformats.org/drawingml/2006/main">
            <a:off x="609600" y="24384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Start with </a:t>
            </a:r>
            <a:r>
              <a:rPr b="1">
                <a:solidFill>
                  <a:srgbClr val="FFFCF5"/>
                </a:solidFill>
                <a:latin typeface="Helvetica"/>
                <a:ea typeface="Helvetica"/>
                <a:cs typeface="Helvetica"/>
              </a:rPr>
              <a:t>20 to 50 tasks</a:t>
            </a:r>
            <a:r>
              <a:rPr b="0">
                <a:solidFill>
                  <a:srgbClr val="FFFCF5"/>
                </a:solidFill>
                <a:latin typeface="Helvetica"/>
                <a:ea typeface="Helvetica"/>
                <a:cs typeface="Helvetica"/>
              </a:rPr>
              <a:t> drawn from real failures.</a:t>
            </a:r>
          </a:p>
        </p:txBody>
      </p:sp>
      <p:sp>
        <p:nvSpPr>
          <p:cNvPr id="395" name="16b-text-21">
            <a:extLst xmlns:a="http://schemas.openxmlformats.org/drawingml/2006/main">
              <a:ext uri="{FF2B5EF4-FFF2-40B4-BE49-F238E27FC236}">
                <a16:creationId xmlns:a16="http://schemas.microsoft.com/office/drawing/2014/main" id="{B1676A3C-E38E-4F65-BDDA-7B8BB9B3F6E3}"/>
              </a:ext>
            </a:extLst>
          </p:cNvPr>
          <p:cNvSpPr>
            <a:spLocks xmlns:a="http://schemas.openxmlformats.org/drawingml/2006/main"/>
          </p:cNvSpPr>
          <p:nvPr/>
        </p:nvSpPr>
        <p:spPr>
          <a:xfrm xmlns:a="http://schemas.openxmlformats.org/drawingml/2006/main">
            <a:off x="609600" y="36830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Read failures and refine the criteria.</a:t>
            </a:r>
          </a:p>
        </p:txBody>
      </p:sp>
      <p:sp>
        <p:nvSpPr>
          <p:cNvPr id="396" name="16b-text-22">
            <a:extLst xmlns:a="http://schemas.openxmlformats.org/drawingml/2006/main">
              <a:ext uri="{FF2B5EF4-FFF2-40B4-BE49-F238E27FC236}">
                <a16:creationId xmlns:a16="http://schemas.microsoft.com/office/drawing/2014/main" id="{11E6E018-0FBE-4FAE-8A3A-F7711274E224}"/>
              </a:ext>
            </a:extLst>
          </p:cNvPr>
          <p:cNvSpPr>
            <a:spLocks xmlns:a="http://schemas.openxmlformats.org/drawingml/2006/main"/>
          </p:cNvSpPr>
          <p:nvPr/>
        </p:nvSpPr>
        <p:spPr>
          <a:xfrm xmlns:a="http://schemas.openxmlformats.org/drawingml/2006/main">
            <a:off x="609600" y="49276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Review grader disagreements.</a:t>
            </a:r>
          </a:p>
        </p:txBody>
      </p:sp>
      <p:sp>
        <p:nvSpPr>
          <p:cNvPr id="397" name="narrative-number">
            <a:extLst xmlns:a="http://schemas.openxmlformats.org/drawingml/2006/main">
              <a:ext uri="{FF2B5EF4-FFF2-40B4-BE49-F238E27FC236}">
                <a16:creationId xmlns:a16="http://schemas.microsoft.com/office/drawing/2014/main" id="{57262273-0549-48D3-B08A-2D27CEBFF66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1161561072"/>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8" name="!!area-name">
            <a:extLst xmlns:a="http://schemas.openxmlformats.org/drawingml/2006/main">
              <a:ext uri="{FF2B5EF4-FFF2-40B4-BE49-F238E27FC236}">
                <a16:creationId xmlns:a16="http://schemas.microsoft.com/office/drawing/2014/main" id="{01AF265A-2CEE-4AF2-BFC7-E4D56021E4A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owner</a:t>
            </a:r>
          </a:p>
        </p:txBody>
      </p:sp>
      <p:pic>
        <p:nvPicPr>
          <p:cNvPr id="406" name="mini-map"/>
          <p:cNvPicPr>
            <a:picLocks xmlns:a="http://schemas.openxmlformats.org/drawingml/2006/main" noChangeAspect="1"/>
          </p:cNvPicPr>
          <p:nvPr/>
        </p:nvPicPr>
        <p:blipFill>
          <a:blip xmlns:r="http://schemas.openxmlformats.org/officeDocument/2006/relationships" xmlns:a="http://schemas.openxmlformats.org/drawingml/2006/main" r:embed="Rbfe3f2bd1c2b474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00" name="slide-title">
            <a:extLst xmlns:a="http://schemas.openxmlformats.org/drawingml/2006/main">
              <a:ext uri="{FF2B5EF4-FFF2-40B4-BE49-F238E27FC236}">
                <a16:creationId xmlns:a16="http://schemas.microsoft.com/office/drawing/2014/main" id="{9711783E-EDBE-4BB3-90E1-38595F476FE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Verify one. Evaluate many.</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Keep evaluating.</a:t>
            </a:r>
          </a:p>
        </p:txBody>
      </p:sp>
      <p:sp>
        <p:nvSpPr>
          <p:cNvPr id="401" name="header-divider">
            <a:extLst xmlns:a="http://schemas.openxmlformats.org/drawingml/2006/main">
              <a:ext uri="{FF2B5EF4-FFF2-40B4-BE49-F238E27FC236}">
                <a16:creationId xmlns:a16="http://schemas.microsoft.com/office/drawing/2014/main" id="{0E83E892-7FB2-4979-8FC6-A8BD579BBA0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2" name="17-text-1">
            <a:extLst xmlns:a="http://schemas.openxmlformats.org/drawingml/2006/main">
              <a:ext uri="{FF2B5EF4-FFF2-40B4-BE49-F238E27FC236}">
                <a16:creationId xmlns:a16="http://schemas.microsoft.com/office/drawing/2014/main" id="{A691894B-246A-4A4B-A33B-83B5CC334194}"/>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checks</a:t>
            </a:r>
          </a:p>
        </p:txBody>
      </p:sp>
      <p:graphicFrame>
        <p:nvGraphicFramePr>
          <p:cNvPr id="410" name="17-table-2"/>
          <p:cNvGraphicFramePr/>
          <p:nvPr/>
        </p:nvGraphicFramePr>
        <p:xfrm>
          <a:off xmlns:a="http://schemas.openxmlformats.org/drawingml/2006/main" x="609600" y="2921000"/>
          <a:ext xmlns:a="http://schemas.openxmlformats.org/drawingml/2006/main" cx="10972800" cy="30988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01B66D"/>
                          </a:solidFill>
                          <a:latin typeface="Helvetica"/>
                          <a:ea typeface="Helvetica"/>
                          <a:cs typeface="Helvetica"/>
                        </a:rPr>
                        <a:t>Direct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Expert judgment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IDs and revisions match</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Faithfulness to the evidence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Permissions and locations valid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Useful synthesis across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Exports match selected content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Warranted uncertainty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Citation exists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Citation supports the claim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04" name="narrative-number">
            <a:extLst xmlns:a="http://schemas.openxmlformats.org/drawingml/2006/main">
              <a:ext uri="{FF2B5EF4-FFF2-40B4-BE49-F238E27FC236}">
                <a16:creationId xmlns:a16="http://schemas.microsoft.com/office/drawing/2014/main" id="{421235E8-99F9-4825-8ACC-7CE91C31FC7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3148036213"/>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5" name="!!area-name">
            <a:extLst xmlns:a="http://schemas.openxmlformats.org/drawingml/2006/main">
              <a:ext uri="{FF2B5EF4-FFF2-40B4-BE49-F238E27FC236}">
                <a16:creationId xmlns:a16="http://schemas.microsoft.com/office/drawing/2014/main" id="{FA6AD458-BCAA-49A5-B6C0-892CF938A5F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owner</a:t>
            </a:r>
          </a:p>
        </p:txBody>
      </p:sp>
      <p:pic>
        <p:nvPicPr>
          <p:cNvPr id="426" name="mini-map"/>
          <p:cNvPicPr>
            <a:picLocks xmlns:a="http://schemas.openxmlformats.org/drawingml/2006/main" noChangeAspect="1"/>
          </p:cNvPicPr>
          <p:nvPr/>
        </p:nvPicPr>
        <p:blipFill>
          <a:blip xmlns:r="http://schemas.openxmlformats.org/officeDocument/2006/relationships" xmlns:a="http://schemas.openxmlformats.org/drawingml/2006/main" r:embed="Rbc4a34dfb74b4a3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07" name="slide-title">
            <a:extLst xmlns:a="http://schemas.openxmlformats.org/drawingml/2006/main">
              <a:ext uri="{FF2B5EF4-FFF2-40B4-BE49-F238E27FC236}">
                <a16:creationId xmlns:a16="http://schemas.microsoft.com/office/drawing/2014/main" id="{AA35ACD0-5B78-4BDD-BDAD-9542E4931F1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Verify one. Evaluate many.</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Keep evaluating.</a:t>
            </a:r>
          </a:p>
        </p:txBody>
      </p:sp>
      <p:sp>
        <p:nvSpPr>
          <p:cNvPr id="408" name="header-divider">
            <a:extLst xmlns:a="http://schemas.openxmlformats.org/drawingml/2006/main">
              <a:ext uri="{FF2B5EF4-FFF2-40B4-BE49-F238E27FC236}">
                <a16:creationId xmlns:a16="http://schemas.microsoft.com/office/drawing/2014/main" id="{A08A1379-7907-4AF1-AF68-36959C05995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9" name="17-text-3">
            <a:extLst xmlns:a="http://schemas.openxmlformats.org/drawingml/2006/main">
              <a:ext uri="{FF2B5EF4-FFF2-40B4-BE49-F238E27FC236}">
                <a16:creationId xmlns:a16="http://schemas.microsoft.com/office/drawing/2014/main" id="{B92EB9EF-13F3-450F-8D9C-2580D353A3DA}"/>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failure</a:t>
            </a:r>
          </a:p>
        </p:txBody>
      </p:sp>
      <p:sp>
        <p:nvSpPr>
          <p:cNvPr id="410" name="17-text-4">
            <a:extLst xmlns:a="http://schemas.openxmlformats.org/drawingml/2006/main">
              <a:ext uri="{FF2B5EF4-FFF2-40B4-BE49-F238E27FC236}">
                <a16:creationId xmlns:a16="http://schemas.microsoft.com/office/drawing/2014/main" id="{B3E06BAA-8FB4-4760-98AD-47CF43625A09}"/>
              </a:ext>
            </a:extLst>
          </p:cNvPr>
          <p:cNvSpPr>
            <a:spLocks xmlns:a="http://schemas.openxmlformats.org/drawingml/2006/main"/>
          </p:cNvSpPr>
          <p:nvPr/>
        </p:nvSpPr>
        <p:spPr>
          <a:xfrm xmlns:a="http://schemas.openxmlformats.org/drawingml/2006/main">
            <a:off x="609600" y="28448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11" name="17-text-5">
            <a:extLst xmlns:a="http://schemas.openxmlformats.org/drawingml/2006/main">
              <a:ext uri="{FF2B5EF4-FFF2-40B4-BE49-F238E27FC236}">
                <a16:creationId xmlns:a16="http://schemas.microsoft.com/office/drawing/2014/main" id="{493F541D-079E-44B4-9E54-8D80E5F45541}"/>
              </a:ext>
            </a:extLst>
          </p:cNvPr>
          <p:cNvSpPr>
            <a:spLocks xmlns:a="http://schemas.openxmlformats.org/drawingml/2006/main"/>
          </p:cNvSpPr>
          <p:nvPr/>
        </p:nvSpPr>
        <p:spPr>
          <a:xfrm xmlns:a="http://schemas.openxmlformats.org/drawingml/2006/main">
            <a:off x="1219200" y="2844800"/>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Inspect the failure and trace.</a:t>
            </a:r>
          </a:p>
        </p:txBody>
      </p:sp>
      <p:sp>
        <p:nvSpPr>
          <p:cNvPr id="412" name="17-text-6">
            <a:extLst xmlns:a="http://schemas.openxmlformats.org/drawingml/2006/main">
              <a:ext uri="{FF2B5EF4-FFF2-40B4-BE49-F238E27FC236}">
                <a16:creationId xmlns:a16="http://schemas.microsoft.com/office/drawing/2014/main" id="{BDE124B0-859A-4266-89A3-59F250FC1E01}"/>
              </a:ext>
            </a:extLst>
          </p:cNvPr>
          <p:cNvSpPr>
            <a:spLocks xmlns:a="http://schemas.openxmlformats.org/drawingml/2006/main"/>
          </p:cNvSpPr>
          <p:nvPr/>
        </p:nvSpPr>
        <p:spPr>
          <a:xfrm xmlns:a="http://schemas.openxmlformats.org/drawingml/2006/main">
            <a:off x="1219200" y="3225800"/>
            <a:ext cx="103632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Find the responsible component.</a:t>
            </a:r>
          </a:p>
        </p:txBody>
      </p:sp>
      <p:sp>
        <p:nvSpPr>
          <p:cNvPr id="413" name="17-text-7">
            <a:extLst xmlns:a="http://schemas.openxmlformats.org/drawingml/2006/main">
              <a:ext uri="{FF2B5EF4-FFF2-40B4-BE49-F238E27FC236}">
                <a16:creationId xmlns:a16="http://schemas.microsoft.com/office/drawing/2014/main" id="{8D85D925-59A3-4896-9EEE-16443DE82600}"/>
              </a:ext>
            </a:extLst>
          </p:cNvPr>
          <p:cNvSpPr>
            <a:spLocks xmlns:a="http://schemas.openxmlformats.org/drawingml/2006/main"/>
          </p:cNvSpPr>
          <p:nvPr/>
        </p:nvSpPr>
        <p:spPr>
          <a:xfrm xmlns:a="http://schemas.openxmlformats.org/drawingml/2006/main">
            <a:off x="609600" y="38100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414" name="17-text-8">
            <a:extLst xmlns:a="http://schemas.openxmlformats.org/drawingml/2006/main">
              <a:ext uri="{FF2B5EF4-FFF2-40B4-BE49-F238E27FC236}">
                <a16:creationId xmlns:a16="http://schemas.microsoft.com/office/drawing/2014/main" id="{64EE8327-B748-4211-8D59-6CBBCF37E015}"/>
              </a:ext>
            </a:extLst>
          </p:cNvPr>
          <p:cNvSpPr>
            <a:spLocks xmlns:a="http://schemas.openxmlformats.org/drawingml/2006/main"/>
          </p:cNvSpPr>
          <p:nvPr/>
        </p:nvSpPr>
        <p:spPr>
          <a:xfrm xmlns:a="http://schemas.openxmlformats.org/drawingml/2006/main">
            <a:off x="1219200" y="3810000"/>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Change that component.</a:t>
            </a:r>
          </a:p>
        </p:txBody>
      </p:sp>
      <p:sp>
        <p:nvSpPr>
          <p:cNvPr id="415" name="17-text-9">
            <a:extLst xmlns:a="http://schemas.openxmlformats.org/drawingml/2006/main">
              <a:ext uri="{FF2B5EF4-FFF2-40B4-BE49-F238E27FC236}">
                <a16:creationId xmlns:a16="http://schemas.microsoft.com/office/drawing/2014/main" id="{79DEEFB4-EE46-4224-BDB8-07016C708E11}"/>
              </a:ext>
            </a:extLst>
          </p:cNvPr>
          <p:cNvSpPr>
            <a:spLocks xmlns:a="http://schemas.openxmlformats.org/drawingml/2006/main"/>
          </p:cNvSpPr>
          <p:nvPr/>
        </p:nvSpPr>
        <p:spPr>
          <a:xfrm xmlns:a="http://schemas.openxmlformats.org/drawingml/2006/main">
            <a:off x="1219200" y="4191000"/>
            <a:ext cx="103632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Rerun the suite with repeated trials.</a:t>
            </a:r>
          </a:p>
        </p:txBody>
      </p:sp>
      <p:sp>
        <p:nvSpPr>
          <p:cNvPr id="416" name="17-text-10">
            <a:extLst xmlns:a="http://schemas.openxmlformats.org/drawingml/2006/main">
              <a:ext uri="{FF2B5EF4-FFF2-40B4-BE49-F238E27FC236}">
                <a16:creationId xmlns:a16="http://schemas.microsoft.com/office/drawing/2014/main" id="{3CEF1B62-0FE2-4D45-8268-0F9461D9F769}"/>
              </a:ext>
            </a:extLst>
          </p:cNvPr>
          <p:cNvSpPr>
            <a:spLocks xmlns:a="http://schemas.openxmlformats.org/drawingml/2006/main"/>
          </p:cNvSpPr>
          <p:nvPr/>
        </p:nvSpPr>
        <p:spPr>
          <a:xfrm xmlns:a="http://schemas.openxmlformats.org/drawingml/2006/main">
            <a:off x="609600" y="47752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417" name="17-text-11">
            <a:extLst xmlns:a="http://schemas.openxmlformats.org/drawingml/2006/main">
              <a:ext uri="{FF2B5EF4-FFF2-40B4-BE49-F238E27FC236}">
                <a16:creationId xmlns:a16="http://schemas.microsoft.com/office/drawing/2014/main" id="{D760C225-3373-4AF3-8A8E-95E6ADD4329C}"/>
              </a:ext>
            </a:extLst>
          </p:cNvPr>
          <p:cNvSpPr>
            <a:spLocks xmlns:a="http://schemas.openxmlformats.org/drawingml/2006/main"/>
          </p:cNvSpPr>
          <p:nvPr/>
        </p:nvSpPr>
        <p:spPr>
          <a:xfrm xmlns:a="http://schemas.openxmlformats.org/drawingml/2006/main">
            <a:off x="1219200" y="4775200"/>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Monitor production samples.</a:t>
            </a:r>
          </a:p>
        </p:txBody>
      </p:sp>
      <p:sp>
        <p:nvSpPr>
          <p:cNvPr id="418" name="17-text-12">
            <a:extLst xmlns:a="http://schemas.openxmlformats.org/drawingml/2006/main">
              <a:ext uri="{FF2B5EF4-FFF2-40B4-BE49-F238E27FC236}">
                <a16:creationId xmlns:a16="http://schemas.microsoft.com/office/drawing/2014/main" id="{42282D21-90A2-4E51-BC05-7886A6493E46}"/>
              </a:ext>
            </a:extLst>
          </p:cNvPr>
          <p:cNvSpPr>
            <a:spLocks xmlns:a="http://schemas.openxmlformats.org/drawingml/2006/main"/>
          </p:cNvSpPr>
          <p:nvPr/>
        </p:nvSpPr>
        <p:spPr>
          <a:xfrm xmlns:a="http://schemas.openxmlformats.org/drawingml/2006/main">
            <a:off x="1219200" y="5156200"/>
            <a:ext cx="103632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new failures to regression cases.</a:t>
            </a:r>
          </a:p>
        </p:txBody>
      </p:sp>
      <p:sp>
        <p:nvSpPr>
          <p:cNvPr id="419" name="17-text-13">
            <a:extLst xmlns:a="http://schemas.openxmlformats.org/drawingml/2006/main">
              <a:ext uri="{FF2B5EF4-FFF2-40B4-BE49-F238E27FC236}">
                <a16:creationId xmlns:a16="http://schemas.microsoft.com/office/drawing/2014/main" id="{B6AD6CD0-0418-4C70-BC3D-73B3DA9B7DE2}"/>
              </a:ext>
            </a:extLst>
          </p:cNvPr>
          <p:cNvSpPr>
            <a:spLocks xmlns:a="http://schemas.openxmlformats.org/drawingml/2006/main"/>
          </p:cNvSpPr>
          <p:nvPr/>
        </p:nvSpPr>
        <p:spPr>
          <a:xfrm xmlns:a="http://schemas.openxmlformats.org/drawingml/2006/main">
            <a:off x="609600" y="5613400"/>
            <a:ext cx="109728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eval suite gives evidence for a migration decision.</a:t>
            </a:r>
          </a:p>
        </p:txBody>
      </p:sp>
      <p:sp>
        <p:nvSpPr>
          <p:cNvPr id="420" name="17-shape-14">
            <a:extLst xmlns:a="http://schemas.openxmlformats.org/drawingml/2006/main">
              <a:ext uri="{FF2B5EF4-FFF2-40B4-BE49-F238E27FC236}">
                <a16:creationId xmlns:a16="http://schemas.microsoft.com/office/drawing/2014/main" id="{8E579D98-F9F3-492F-B17A-C7F156D0DF47}"/>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21" name="17-shape-15">
            <a:extLst xmlns:a="http://schemas.openxmlformats.org/drawingml/2006/main">
              <a:ext uri="{FF2B5EF4-FFF2-40B4-BE49-F238E27FC236}">
                <a16:creationId xmlns:a16="http://schemas.microsoft.com/office/drawing/2014/main" id="{220C749A-65D3-4017-83F6-8A222FD8D102}"/>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422" name="17-text-16">
            <a:extLst xmlns:a="http://schemas.openxmlformats.org/drawingml/2006/main">
              <a:ext uri="{FF2B5EF4-FFF2-40B4-BE49-F238E27FC236}">
                <a16:creationId xmlns:a16="http://schemas.microsoft.com/office/drawing/2014/main" id="{D4AED0BF-08BF-41F6-A21C-5F73A277B6E5}"/>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423" name="17-text-17">
            <a:extLst xmlns:a="http://schemas.openxmlformats.org/drawingml/2006/main">
              <a:ext uri="{FF2B5EF4-FFF2-40B4-BE49-F238E27FC236}">
                <a16:creationId xmlns:a16="http://schemas.microsoft.com/office/drawing/2014/main" id="{724264B6-CA53-4ED9-8D79-2DF44977B7DD}"/>
              </a:ext>
            </a:extLst>
          </p:cNvPr>
          <p:cNvSpPr>
            <a:spLocks xmlns:a="http://schemas.openxmlformats.org/drawingml/2006/main"/>
          </p:cNvSpPr>
          <p:nvPr/>
        </p:nvSpPr>
        <p:spPr>
          <a:xfrm xmlns:a="http://schemas.openxmlformats.org/drawingml/2006/main">
            <a:off x="2489200" y="6096000"/>
            <a:ext cx="90932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generic judge instead of error analysis. Trusting the success claim without checking the result.</a:t>
            </a:r>
          </a:p>
        </p:txBody>
      </p:sp>
      <p:sp>
        <p:nvSpPr>
          <p:cNvPr id="424" name="narrative-number">
            <a:extLst xmlns:a="http://schemas.openxmlformats.org/drawingml/2006/main">
              <a:ext uri="{FF2B5EF4-FFF2-40B4-BE49-F238E27FC236}">
                <a16:creationId xmlns:a16="http://schemas.microsoft.com/office/drawing/2014/main" id="{0D8DC8A4-4B80-45AD-8C47-AB522A05433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1426449608"/>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420"/>
                                        </p:tgtEl>
                                        <p:attrNameLst>
                                          <p:attrName>style.visibility</p:attrName>
                                        </p:attrNameLst>
                                      </p:cBhvr>
                                      <p:to>
                                        <p:strVal val="visible"/>
                                      </p:to>
                                    </p:set>
                                    <p:animEffect transition="in" filter="fade">
                                      <p:cBhvr>
                                        <p:cTn id="11" dur="300" fill="hold"/>
                                        <p:tgtEl>
                                          <p:spTgt spid="420"/>
                                        </p:tgtEl>
                                      </p:cBhvr>
                                    </p:animEffect>
                                  </p:childTnLst>
                                </p:cTn>
                              </p:par>
                              <p:par>
                                <p:cTn id="12" presetID="10" presetClass="entr" presetSubtype="0" fill="hold" nodeType="withEffect">
                                  <p:stCondLst>
                                    <p:cond delay="0"/>
                                  </p:stCondLst>
                                  <p:childTnLst>
                                    <p:set>
                                      <p:cBhvr>
                                        <p:cTn id="13" dur="1" fill="hold">
                                          <p:stCondLst>
                                            <p:cond delay="0"/>
                                          </p:stCondLst>
                                        </p:cTn>
                                        <p:tgtEl>
                                          <p:spTgt spid="421"/>
                                        </p:tgtEl>
                                        <p:attrNameLst>
                                          <p:attrName>style.visibility</p:attrName>
                                        </p:attrNameLst>
                                      </p:cBhvr>
                                      <p:to>
                                        <p:strVal val="visible"/>
                                      </p:to>
                                    </p:set>
                                    <p:animEffect transition="in" filter="fade">
                                      <p:cBhvr>
                                        <p:cTn id="14" dur="300" fill="hold"/>
                                        <p:tgtEl>
                                          <p:spTgt spid="421"/>
                                        </p:tgtEl>
                                      </p:cBhvr>
                                    </p:animEffect>
                                  </p:childTnLst>
                                </p:cTn>
                              </p:par>
                              <p:par>
                                <p:cTn id="15" presetID="10" presetClass="entr" presetSubtype="0" fill="hold" nodeType="withEffect">
                                  <p:stCondLst>
                                    <p:cond delay="0"/>
                                  </p:stCondLst>
                                  <p:childTnLst>
                                    <p:set>
                                      <p:cBhvr>
                                        <p:cTn id="16" dur="1" fill="hold">
                                          <p:stCondLst>
                                            <p:cond delay="0"/>
                                          </p:stCondLst>
                                        </p:cTn>
                                        <p:tgtEl>
                                          <p:spTgt spid="422"/>
                                        </p:tgtEl>
                                        <p:attrNameLst>
                                          <p:attrName>style.visibility</p:attrName>
                                        </p:attrNameLst>
                                      </p:cBhvr>
                                      <p:to>
                                        <p:strVal val="visible"/>
                                      </p:to>
                                    </p:set>
                                    <p:animEffect transition="in" filter="fade">
                                      <p:cBhvr>
                                        <p:cTn id="17" dur="300" fill="hold"/>
                                        <p:tgtEl>
                                          <p:spTgt spid="422"/>
                                        </p:tgtEl>
                                      </p:cBhvr>
                                    </p:animEffect>
                                  </p:childTnLst>
                                </p:cTn>
                              </p:par>
                              <p:par>
                                <p:cTn id="18" presetID="10" presetClass="entr" presetSubtype="0" fill="hold" nodeType="withEffect">
                                  <p:stCondLst>
                                    <p:cond delay="0"/>
                                  </p:stCondLst>
                                  <p:childTnLst>
                                    <p:set>
                                      <p:cBhvr>
                                        <p:cTn id="19" dur="1" fill="hold">
                                          <p:stCondLst>
                                            <p:cond delay="0"/>
                                          </p:stCondLst>
                                        </p:cTn>
                                        <p:tgtEl>
                                          <p:spTgt spid="423"/>
                                        </p:tgtEl>
                                        <p:attrNameLst>
                                          <p:attrName>style.visibility</p:attrName>
                                        </p:attrNameLst>
                                      </p:cBhvr>
                                      <p:to>
                                        <p:strVal val="visible"/>
                                      </p:to>
                                    </p:set>
                                    <p:animEffect transition="in" filter="fade">
                                      <p:cBhvr>
                                        <p:cTn id="20" dur="300" fill="hold"/>
                                        <p:tgtEl>
                                          <p:spTgt spid="4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5" name="!!area-header">
            <a:extLst xmlns:a="http://schemas.openxmlformats.org/drawingml/2006/main">
              <a:ext uri="{FF2B5EF4-FFF2-40B4-BE49-F238E27FC236}">
                <a16:creationId xmlns:a16="http://schemas.microsoft.com/office/drawing/2014/main" id="{3E357DCE-535E-4BE4-8FF1-EA8938B087BF}"/>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26" name="!!area-name">
            <a:extLst xmlns:a="http://schemas.openxmlformats.org/drawingml/2006/main">
              <a:ext uri="{FF2B5EF4-FFF2-40B4-BE49-F238E27FC236}">
                <a16:creationId xmlns:a16="http://schemas.microsoft.com/office/drawing/2014/main" id="{CAC945FF-784B-4855-8F88-9E9201E04C61}"/>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Operating it</a:t>
            </a:r>
          </a:p>
        </p:txBody>
      </p:sp>
      <p:sp>
        <p:nvSpPr>
          <p:cNvPr id="427" name="!!area-beat">
            <a:extLst xmlns:a="http://schemas.openxmlformats.org/drawingml/2006/main">
              <a:ext uri="{FF2B5EF4-FFF2-40B4-BE49-F238E27FC236}">
                <a16:creationId xmlns:a16="http://schemas.microsoft.com/office/drawing/2014/main" id="{CBC235EA-BA6D-41FA-A272-15BBC83ED858}"/>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428" name="header-divider">
            <a:extLst xmlns:a="http://schemas.openxmlformats.org/drawingml/2006/main">
              <a:ext uri="{FF2B5EF4-FFF2-40B4-BE49-F238E27FC236}">
                <a16:creationId xmlns:a16="http://schemas.microsoft.com/office/drawing/2014/main" id="{ACF7225D-B042-49DF-8BCE-A47CE010271C}"/>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29" name="18-shape-1">
            <a:extLst xmlns:a="http://schemas.openxmlformats.org/drawingml/2006/main">
              <a:ext uri="{FF2B5EF4-FFF2-40B4-BE49-F238E27FC236}">
                <a16:creationId xmlns:a16="http://schemas.microsoft.com/office/drawing/2014/main" id="{3F98BFF2-6A27-48C7-8A94-52098D17B968}"/>
              </a:ext>
            </a:extLst>
          </p:cNvPr>
          <p:cNvSpPr>
            <a:spLocks xmlns:a="http://schemas.openxmlformats.org/drawingml/2006/main"/>
          </p:cNvSpPr>
          <p:nvPr/>
        </p:nvSpPr>
        <p:spPr>
          <a:xfrm xmlns:a="http://schemas.openxmlformats.org/drawingml/2006/main">
            <a:off x="609600" y="2489200"/>
            <a:ext cx="11430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430" name="18-text-2">
            <a:extLst xmlns:a="http://schemas.openxmlformats.org/drawingml/2006/main">
              <a:ext uri="{FF2B5EF4-FFF2-40B4-BE49-F238E27FC236}">
                <a16:creationId xmlns:a16="http://schemas.microsoft.com/office/drawing/2014/main" id="{9BB64479-97D7-49D5-A108-4376E4371C78}"/>
              </a:ext>
            </a:extLst>
          </p:cNvPr>
          <p:cNvSpPr>
            <a:spLocks xmlns:a="http://schemas.openxmlformats.org/drawingml/2006/main"/>
          </p:cNvSpPr>
          <p:nvPr/>
        </p:nvSpPr>
        <p:spPr>
          <a:xfrm xmlns:a="http://schemas.openxmlformats.org/drawingml/2006/main">
            <a:off x="762000" y="2527300"/>
            <a:ext cx="838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/usage</a:t>
            </a:r>
          </a:p>
        </p:txBody>
      </p:sp>
      <p:sp>
        <p:nvSpPr>
          <p:cNvPr id="431" name="18-shape-3">
            <a:extLst xmlns:a="http://schemas.openxmlformats.org/drawingml/2006/main">
              <a:ext uri="{FF2B5EF4-FFF2-40B4-BE49-F238E27FC236}">
                <a16:creationId xmlns:a16="http://schemas.microsoft.com/office/drawing/2014/main" id="{8C1A7688-AF78-4157-907A-2398163274D7}"/>
              </a:ext>
            </a:extLst>
          </p:cNvPr>
          <p:cNvSpPr>
            <a:spLocks xmlns:a="http://schemas.openxmlformats.org/drawingml/2006/main"/>
          </p:cNvSpPr>
          <p:nvPr/>
        </p:nvSpPr>
        <p:spPr>
          <a:xfrm xmlns:a="http://schemas.openxmlformats.org/drawingml/2006/main">
            <a:off x="1854200" y="2489200"/>
            <a:ext cx="34544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432" name="18-text-4">
            <a:extLst xmlns:a="http://schemas.openxmlformats.org/drawingml/2006/main">
              <a:ext uri="{FF2B5EF4-FFF2-40B4-BE49-F238E27FC236}">
                <a16:creationId xmlns:a16="http://schemas.microsoft.com/office/drawing/2014/main" id="{F1CA8090-320D-44D1-A76E-ABACF783DABC}"/>
              </a:ext>
            </a:extLst>
          </p:cNvPr>
          <p:cNvSpPr>
            <a:spLocks xmlns:a="http://schemas.openxmlformats.org/drawingml/2006/main"/>
          </p:cNvSpPr>
          <p:nvPr/>
        </p:nvSpPr>
        <p:spPr>
          <a:xfrm xmlns:a="http://schemas.openxmlformats.org/drawingml/2006/main">
            <a:off x="2006600" y="2527300"/>
            <a:ext cx="3149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OpenTelemetry exporter</a:t>
            </a:r>
          </a:p>
        </p:txBody>
      </p:sp>
      <p:sp>
        <p:nvSpPr>
          <p:cNvPr id="433" name="18-shape-5">
            <a:extLst xmlns:a="http://schemas.openxmlformats.org/drawingml/2006/main">
              <a:ext uri="{FF2B5EF4-FFF2-40B4-BE49-F238E27FC236}">
                <a16:creationId xmlns:a16="http://schemas.microsoft.com/office/drawing/2014/main" id="{296FEFEC-C15E-4F30-BD43-215F9929A70B}"/>
              </a:ext>
            </a:extLst>
          </p:cNvPr>
          <p:cNvSpPr>
            <a:spLocks xmlns:a="http://schemas.openxmlformats.org/drawingml/2006/main"/>
          </p:cNvSpPr>
          <p:nvPr/>
        </p:nvSpPr>
        <p:spPr>
          <a:xfrm xmlns:a="http://schemas.openxmlformats.org/drawingml/2006/main">
            <a:off x="5410200" y="2489200"/>
            <a:ext cx="16891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434" name="18-text-6">
            <a:extLst xmlns:a="http://schemas.openxmlformats.org/drawingml/2006/main">
              <a:ext uri="{FF2B5EF4-FFF2-40B4-BE49-F238E27FC236}">
                <a16:creationId xmlns:a16="http://schemas.microsoft.com/office/drawing/2014/main" id="{F67C6C8C-4008-49AE-9309-726509F0B4AE}"/>
              </a:ext>
            </a:extLst>
          </p:cNvPr>
          <p:cNvSpPr>
            <a:spLocks xmlns:a="http://schemas.openxmlformats.org/drawingml/2006/main"/>
          </p:cNvSpPr>
          <p:nvPr/>
        </p:nvSpPr>
        <p:spPr>
          <a:xfrm xmlns:a="http://schemas.openxmlformats.org/drawingml/2006/main">
            <a:off x="5562600" y="2527300"/>
            <a:ext cx="1384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sandbox</a:t>
            </a:r>
          </a:p>
        </p:txBody>
      </p:sp>
      <p:sp>
        <p:nvSpPr>
          <p:cNvPr id="435" name="18-shape-7">
            <a:extLst xmlns:a="http://schemas.openxmlformats.org/drawingml/2006/main">
              <a:ext uri="{FF2B5EF4-FFF2-40B4-BE49-F238E27FC236}">
                <a16:creationId xmlns:a16="http://schemas.microsoft.com/office/drawing/2014/main" id="{41BE904E-3AEF-41C5-B512-067A96BBEB6C}"/>
              </a:ext>
            </a:extLst>
          </p:cNvPr>
          <p:cNvSpPr>
            <a:spLocks xmlns:a="http://schemas.openxmlformats.org/drawingml/2006/main"/>
          </p:cNvSpPr>
          <p:nvPr/>
        </p:nvSpPr>
        <p:spPr>
          <a:xfrm xmlns:a="http://schemas.openxmlformats.org/drawingml/2006/main">
            <a:off x="7200900" y="2489200"/>
            <a:ext cx="20574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436" name="18-text-8">
            <a:extLst xmlns:a="http://schemas.openxmlformats.org/drawingml/2006/main">
              <a:ext uri="{FF2B5EF4-FFF2-40B4-BE49-F238E27FC236}">
                <a16:creationId xmlns:a16="http://schemas.microsoft.com/office/drawing/2014/main" id="{35A7A532-6631-43E6-A3A0-E4BF040DED33}"/>
              </a:ext>
            </a:extLst>
          </p:cNvPr>
          <p:cNvSpPr>
            <a:spLocks xmlns:a="http://schemas.openxmlformats.org/drawingml/2006/main"/>
          </p:cNvSpPr>
          <p:nvPr/>
        </p:nvSpPr>
        <p:spPr>
          <a:xfrm xmlns:a="http://schemas.openxmlformats.org/drawingml/2006/main">
            <a:off x="7353300" y="2527300"/>
            <a:ext cx="1752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OAuth login</a:t>
            </a:r>
          </a:p>
        </p:txBody>
      </p:sp>
      <p:sp>
        <p:nvSpPr>
          <p:cNvPr id="437" name="18-text-9">
            <a:extLst xmlns:a="http://schemas.openxmlformats.org/drawingml/2006/main">
              <a:ext uri="{FF2B5EF4-FFF2-40B4-BE49-F238E27FC236}">
                <a16:creationId xmlns:a16="http://schemas.microsoft.com/office/drawing/2014/main" id="{79DEEB69-C44B-4D6B-B126-E97467DBC44A}"/>
              </a:ext>
            </a:extLst>
          </p:cNvPr>
          <p:cNvSpPr>
            <a:spLocks xmlns:a="http://schemas.openxmlformats.org/drawingml/2006/main"/>
          </p:cNvSpPr>
          <p:nvPr/>
        </p:nvSpPr>
        <p:spPr>
          <a:xfrm xmlns:a="http://schemas.openxmlformats.org/drawingml/2006/main">
            <a:off x="609600" y="3835400"/>
            <a:ext cx="109728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And a trust and safety team you have never met.</a:t>
            </a:r>
          </a:p>
        </p:txBody>
      </p:sp>
      <p:sp>
        <p:nvSpPr>
          <p:cNvPr id="438" name="narrative-number">
            <a:extLst xmlns:a="http://schemas.openxmlformats.org/drawingml/2006/main">
              <a:ext uri="{FF2B5EF4-FFF2-40B4-BE49-F238E27FC236}">
                <a16:creationId xmlns:a16="http://schemas.microsoft.com/office/drawing/2014/main" id="{15B6D63D-1BEF-4323-98C5-891B25E9C36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1493329664"/>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39" name="!!area-name">
            <a:extLst xmlns:a="http://schemas.openxmlformats.org/drawingml/2006/main">
              <a:ext uri="{FF2B5EF4-FFF2-40B4-BE49-F238E27FC236}">
                <a16:creationId xmlns:a16="http://schemas.microsoft.com/office/drawing/2014/main" id="{98B364FF-E9FE-4F41-B5EE-C8AA6C256C7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449" name="mini-map"/>
          <p:cNvPicPr>
            <a:picLocks xmlns:a="http://schemas.openxmlformats.org/drawingml/2006/main" noChangeAspect="1"/>
          </p:cNvPicPr>
          <p:nvPr/>
        </p:nvPicPr>
        <p:blipFill>
          <a:blip xmlns:r="http://schemas.openxmlformats.org/officeDocument/2006/relationships" xmlns:a="http://schemas.openxmlformats.org/drawingml/2006/main" r:embed="R28cea57d90d04a2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41" name="header-divider">
            <a:extLst xmlns:a="http://schemas.openxmlformats.org/drawingml/2006/main">
              <a:ext uri="{FF2B5EF4-FFF2-40B4-BE49-F238E27FC236}">
                <a16:creationId xmlns:a16="http://schemas.microsoft.com/office/drawing/2014/main" id="{E36FE033-EDCA-49A8-BD28-1DEEEE27CA6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2" name="18b-text-1">
            <a:extLst xmlns:a="http://schemas.openxmlformats.org/drawingml/2006/main">
              <a:ext uri="{FF2B5EF4-FFF2-40B4-BE49-F238E27FC236}">
                <a16:creationId xmlns:a16="http://schemas.microsoft.com/office/drawing/2014/main" id="{616E7C8F-2ADE-4862-AA7A-6519D25C0B09}"/>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443" name="18b-text-2">
            <a:extLst xmlns:a="http://schemas.openxmlformats.org/drawingml/2006/main">
              <a:ext uri="{FF2B5EF4-FFF2-40B4-BE49-F238E27FC236}">
                <a16:creationId xmlns:a16="http://schemas.microsoft.com/office/drawing/2014/main" id="{BEBA5C57-7D51-42FD-BB0D-2B61E7C7FA59}"/>
              </a:ext>
            </a:extLst>
          </p:cNvPr>
          <p:cNvSpPr>
            <a:spLocks xmlns:a="http://schemas.openxmlformats.org/drawingml/2006/main"/>
          </p:cNvSpPr>
          <p:nvPr/>
        </p:nvSpPr>
        <p:spPr>
          <a:xfrm xmlns:a="http://schemas.openxmlformats.org/drawingml/2006/main">
            <a:off x="609600" y="24892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Observability</a:t>
            </a:r>
          </a:p>
        </p:txBody>
      </p:sp>
      <p:sp>
        <p:nvSpPr>
          <p:cNvPr id="444" name="18b-text-3">
            <a:extLst xmlns:a="http://schemas.openxmlformats.org/drawingml/2006/main">
              <a:ext uri="{FF2B5EF4-FFF2-40B4-BE49-F238E27FC236}">
                <a16:creationId xmlns:a16="http://schemas.microsoft.com/office/drawing/2014/main" id="{F49E2897-1F3B-4296-9895-AB002B7591C1}"/>
              </a:ext>
            </a:extLst>
          </p:cNvPr>
          <p:cNvSpPr>
            <a:spLocks xmlns:a="http://schemas.openxmlformats.org/drawingml/2006/main"/>
          </p:cNvSpPr>
          <p:nvPr/>
        </p:nvSpPr>
        <p:spPr>
          <a:xfrm xmlns:a="http://schemas.openxmlformats.org/drawingml/2006/main">
            <a:off x="2489200" y="24384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per completed task · p95 and p99 tokens · cache hit rate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loop iterations · tool failures</a:t>
            </a:r>
          </a:p>
        </p:txBody>
      </p:sp>
      <p:sp>
        <p:nvSpPr>
          <p:cNvPr id="445" name="18b-text-4">
            <a:extLst xmlns:a="http://schemas.openxmlformats.org/drawingml/2006/main">
              <a:ext uri="{FF2B5EF4-FFF2-40B4-BE49-F238E27FC236}">
                <a16:creationId xmlns:a16="http://schemas.microsoft.com/office/drawing/2014/main" id="{BBE76D73-8980-4FCC-95ED-B5033AABBFCC}"/>
              </a:ext>
            </a:extLst>
          </p:cNvPr>
          <p:cNvSpPr>
            <a:spLocks xmlns:a="http://schemas.openxmlformats.org/drawingml/2006/main"/>
          </p:cNvSpPr>
          <p:nvPr/>
        </p:nvSpPr>
        <p:spPr>
          <a:xfrm xmlns:a="http://schemas.openxmlformats.org/drawingml/2006/main">
            <a:off x="609600" y="37338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Guardrails</a:t>
            </a:r>
          </a:p>
        </p:txBody>
      </p:sp>
      <p:sp>
        <p:nvSpPr>
          <p:cNvPr id="446" name="18b-text-5">
            <a:extLst xmlns:a="http://schemas.openxmlformats.org/drawingml/2006/main">
              <a:ext uri="{FF2B5EF4-FFF2-40B4-BE49-F238E27FC236}">
                <a16:creationId xmlns:a16="http://schemas.microsoft.com/office/drawing/2014/main" id="{52169C67-FCC5-455A-B4EB-3CD2E5A0CB26}"/>
              </a:ext>
            </a:extLst>
          </p:cNvPr>
          <p:cNvSpPr>
            <a:spLocks xmlns:a="http://schemas.openxmlformats.org/drawingml/2006/main"/>
          </p:cNvSpPr>
          <p:nvPr/>
        </p:nvSpPr>
        <p:spPr>
          <a:xfrm xmlns:a="http://schemas.openxmlformats.org/drawingml/2006/main">
            <a:off x="2489200" y="36830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classification · provenance · sandboxing · validation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circuit breakers · approvals · least privilege</a:t>
            </a:r>
          </a:p>
        </p:txBody>
      </p:sp>
      <p:sp>
        <p:nvSpPr>
          <p:cNvPr id="447" name="narrative-number">
            <a:extLst xmlns:a="http://schemas.openxmlformats.org/drawingml/2006/main">
              <a:ext uri="{FF2B5EF4-FFF2-40B4-BE49-F238E27FC236}">
                <a16:creationId xmlns:a16="http://schemas.microsoft.com/office/drawing/2014/main" id="{E25DD95E-BE1B-4FAD-AD24-A4EC2E21854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2804212852"/>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8" name="!!area-name">
            <a:extLst xmlns:a="http://schemas.openxmlformats.org/drawingml/2006/main">
              <a:ext uri="{FF2B5EF4-FFF2-40B4-BE49-F238E27FC236}">
                <a16:creationId xmlns:a16="http://schemas.microsoft.com/office/drawing/2014/main" id="{034F15F4-9CC5-4029-BE44-C24F8EC836C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463" name="mini-map"/>
          <p:cNvPicPr>
            <a:picLocks xmlns:a="http://schemas.openxmlformats.org/drawingml/2006/main" noChangeAspect="1"/>
          </p:cNvPicPr>
          <p:nvPr/>
        </p:nvPicPr>
        <p:blipFill>
          <a:blip xmlns:r="http://schemas.openxmlformats.org/officeDocument/2006/relationships" xmlns:a="http://schemas.openxmlformats.org/drawingml/2006/main" r:embed="R95da309051214a4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50" name="header-divider">
            <a:extLst xmlns:a="http://schemas.openxmlformats.org/drawingml/2006/main">
              <a:ext uri="{FF2B5EF4-FFF2-40B4-BE49-F238E27FC236}">
                <a16:creationId xmlns:a16="http://schemas.microsoft.com/office/drawing/2014/main" id="{FFD9D974-6677-4637-8516-96895DDB461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51" name="18b-text-1">
            <a:extLst xmlns:a="http://schemas.openxmlformats.org/drawingml/2006/main">
              <a:ext uri="{FF2B5EF4-FFF2-40B4-BE49-F238E27FC236}">
                <a16:creationId xmlns:a16="http://schemas.microsoft.com/office/drawing/2014/main" id="{53628927-84C7-48EB-9E44-1D5EB1AD3992}"/>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452" name="18b-text-10">
            <a:extLst xmlns:a="http://schemas.openxmlformats.org/drawingml/2006/main">
              <a:ext uri="{FF2B5EF4-FFF2-40B4-BE49-F238E27FC236}">
                <a16:creationId xmlns:a16="http://schemas.microsoft.com/office/drawing/2014/main" id="{17EC116B-4587-4F16-BD3D-7F89E5237DD9}"/>
              </a:ext>
            </a:extLst>
          </p:cNvPr>
          <p:cNvSpPr>
            <a:spLocks xmlns:a="http://schemas.openxmlformats.org/drawingml/2006/main"/>
          </p:cNvSpPr>
          <p:nvPr/>
        </p:nvSpPr>
        <p:spPr>
          <a:xfrm xmlns:a="http://schemas.openxmlformats.org/drawingml/2006/main">
            <a:off x="609600" y="24384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Security</a:t>
            </a:r>
          </a:p>
        </p:txBody>
      </p:sp>
      <p:sp>
        <p:nvSpPr>
          <p:cNvPr id="453" name="18b-line-12">
            <a:extLst xmlns:a="http://schemas.openxmlformats.org/drawingml/2006/main">
              <a:ext uri="{FF2B5EF4-FFF2-40B4-BE49-F238E27FC236}">
                <a16:creationId xmlns:a16="http://schemas.microsoft.com/office/drawing/2014/main" id="{2982899E-27BA-42F6-ACFB-85788D53DFE7}"/>
              </a:ext>
            </a:extLst>
          </p:cNvPr>
          <p:cNvSpPr>
            <a:spLocks xmlns:a="http://schemas.openxmlformats.org/drawingml/2006/main"/>
          </p:cNvSpPr>
          <p:nvPr/>
        </p:nvSpPr>
        <p:spPr>
          <a:xfrm xmlns:a="http://schemas.openxmlformats.org/drawingml/2006/main" flipH="0" flipV="0">
            <a:off x="3378200" y="3429000"/>
            <a:ext cx="1803400" cy="1524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54" name="18b-line-14">
            <a:extLst xmlns:a="http://schemas.openxmlformats.org/drawingml/2006/main">
              <a:ext uri="{FF2B5EF4-FFF2-40B4-BE49-F238E27FC236}">
                <a16:creationId xmlns:a16="http://schemas.microsoft.com/office/drawing/2014/main" id="{6D66CE14-21D7-4452-BC2A-67A9A4FCD72D}"/>
              </a:ext>
            </a:extLst>
          </p:cNvPr>
          <p:cNvSpPr>
            <a:spLocks xmlns:a="http://schemas.openxmlformats.org/drawingml/2006/main"/>
          </p:cNvSpPr>
          <p:nvPr/>
        </p:nvSpPr>
        <p:spPr>
          <a:xfrm xmlns:a="http://schemas.openxmlformats.org/drawingml/2006/main" flipH="1" flipV="0">
            <a:off x="1574800" y="4953000"/>
            <a:ext cx="36068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55" name="18b-line-16">
            <a:extLst xmlns:a="http://schemas.openxmlformats.org/drawingml/2006/main">
              <a:ext uri="{FF2B5EF4-FFF2-40B4-BE49-F238E27FC236}">
                <a16:creationId xmlns:a16="http://schemas.microsoft.com/office/drawing/2014/main" id="{748AE395-CBBB-444F-BA10-0E2608CE42D9}"/>
              </a:ext>
            </a:extLst>
          </p:cNvPr>
          <p:cNvSpPr>
            <a:spLocks xmlns:a="http://schemas.openxmlformats.org/drawingml/2006/main"/>
          </p:cNvSpPr>
          <p:nvPr/>
        </p:nvSpPr>
        <p:spPr>
          <a:xfrm xmlns:a="http://schemas.openxmlformats.org/drawingml/2006/main" flipH="0" flipV="1">
            <a:off x="1574800" y="3429000"/>
            <a:ext cx="1803400" cy="1524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56" name="18b-text-17">
            <a:extLst xmlns:a="http://schemas.openxmlformats.org/drawingml/2006/main">
              <a:ext uri="{FF2B5EF4-FFF2-40B4-BE49-F238E27FC236}">
                <a16:creationId xmlns:a16="http://schemas.microsoft.com/office/drawing/2014/main" id="{26587A88-A18A-4325-8169-D6A519EDC492}"/>
              </a:ext>
            </a:extLst>
          </p:cNvPr>
          <p:cNvSpPr>
            <a:spLocks xmlns:a="http://schemas.openxmlformats.org/drawingml/2006/main"/>
          </p:cNvSpPr>
          <p:nvPr/>
        </p:nvSpPr>
        <p:spPr>
          <a:xfrm xmlns:a="http://schemas.openxmlformats.org/drawingml/2006/main">
            <a:off x="2667000" y="3022600"/>
            <a:ext cx="1676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Private data</a:t>
            </a:r>
          </a:p>
        </p:txBody>
      </p:sp>
      <p:sp>
        <p:nvSpPr>
          <p:cNvPr id="457" name="18b-text-18">
            <a:extLst xmlns:a="http://schemas.openxmlformats.org/drawingml/2006/main">
              <a:ext uri="{FF2B5EF4-FFF2-40B4-BE49-F238E27FC236}">
                <a16:creationId xmlns:a16="http://schemas.microsoft.com/office/drawing/2014/main" id="{7FEFFA43-ECAF-432F-A31E-38C6D9E60501}"/>
              </a:ext>
            </a:extLst>
          </p:cNvPr>
          <p:cNvSpPr>
            <a:spLocks xmlns:a="http://schemas.openxmlformats.org/drawingml/2006/main"/>
          </p:cNvSpPr>
          <p:nvPr/>
        </p:nvSpPr>
        <p:spPr>
          <a:xfrm xmlns:a="http://schemas.openxmlformats.org/drawingml/2006/main">
            <a:off x="609600" y="5207000"/>
            <a:ext cx="264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Untrusted content</a:t>
            </a:r>
          </a:p>
        </p:txBody>
      </p:sp>
      <p:sp>
        <p:nvSpPr>
          <p:cNvPr id="458" name="18b-text-19">
            <a:extLst xmlns:a="http://schemas.openxmlformats.org/drawingml/2006/main">
              <a:ext uri="{FF2B5EF4-FFF2-40B4-BE49-F238E27FC236}">
                <a16:creationId xmlns:a16="http://schemas.microsoft.com/office/drawing/2014/main" id="{7C4550F7-B976-4E1F-8636-E635DB378053}"/>
              </a:ext>
            </a:extLst>
          </p:cNvPr>
          <p:cNvSpPr>
            <a:spLocks xmlns:a="http://schemas.openxmlformats.org/drawingml/2006/main"/>
          </p:cNvSpPr>
          <p:nvPr/>
        </p:nvSpPr>
        <p:spPr>
          <a:xfrm xmlns:a="http://schemas.openxmlformats.org/drawingml/2006/main">
            <a:off x="3657600" y="5207000"/>
            <a:ext cx="2590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External communication</a:t>
            </a:r>
          </a:p>
        </p:txBody>
      </p:sp>
      <p:sp>
        <p:nvSpPr>
          <p:cNvPr id="459" name="18b-text-20">
            <a:extLst xmlns:a="http://schemas.openxmlformats.org/drawingml/2006/main">
              <a:ext uri="{FF2B5EF4-FFF2-40B4-BE49-F238E27FC236}">
                <a16:creationId xmlns:a16="http://schemas.microsoft.com/office/drawing/2014/main" id="{4A248E39-D7D6-4CDF-86EB-04D6BE3A4BB8}"/>
              </a:ext>
            </a:extLst>
          </p:cNvPr>
          <p:cNvSpPr>
            <a:spLocks xmlns:a="http://schemas.openxmlformats.org/drawingml/2006/main"/>
          </p:cNvSpPr>
          <p:nvPr/>
        </p:nvSpPr>
        <p:spPr>
          <a:xfrm xmlns:a="http://schemas.openxmlformats.org/drawingml/2006/main">
            <a:off x="6248400" y="3683000"/>
            <a:ext cx="53340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Together: exfiltration risk.</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Break or constrain the path.</a:t>
            </a:r>
          </a:p>
        </p:txBody>
      </p:sp>
      <p:sp>
        <p:nvSpPr>
          <p:cNvPr id="460" name="18b-text-21">
            <a:extLst xmlns:a="http://schemas.openxmlformats.org/drawingml/2006/main">
              <a:ext uri="{FF2B5EF4-FFF2-40B4-BE49-F238E27FC236}">
                <a16:creationId xmlns:a16="http://schemas.microsoft.com/office/drawing/2014/main" id="{7DE3A897-D91A-4D6A-B55D-6A95B931EA66}"/>
              </a:ext>
            </a:extLst>
          </p:cNvPr>
          <p:cNvSpPr>
            <a:spLocks xmlns:a="http://schemas.openxmlformats.org/drawingml/2006/main"/>
          </p:cNvSpPr>
          <p:nvPr/>
        </p:nvSpPr>
        <p:spPr>
          <a:xfrm xmlns:a="http://schemas.openxmlformats.org/drawingml/2006/main">
            <a:off x="6248400" y="49530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Simon Willison, June 2025</a:t>
            </a:r>
          </a:p>
        </p:txBody>
      </p:sp>
      <p:sp>
        <p:nvSpPr>
          <p:cNvPr id="461" name="narrative-number">
            <a:extLst xmlns:a="http://schemas.openxmlformats.org/drawingml/2006/main">
              <a:ext uri="{FF2B5EF4-FFF2-40B4-BE49-F238E27FC236}">
                <a16:creationId xmlns:a16="http://schemas.microsoft.com/office/drawing/2014/main" id="{2A9E45A8-38BB-4FBD-9F28-36B7BFD85D2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1886821538"/>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2" name="!!area-name">
            <a:extLst xmlns:a="http://schemas.openxmlformats.org/drawingml/2006/main">
              <a:ext uri="{FF2B5EF4-FFF2-40B4-BE49-F238E27FC236}">
                <a16:creationId xmlns:a16="http://schemas.microsoft.com/office/drawing/2014/main" id="{BED05443-63F2-4627-ADA7-0602318E9F3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472" name="mini-map"/>
          <p:cNvPicPr>
            <a:picLocks xmlns:a="http://schemas.openxmlformats.org/drawingml/2006/main" noChangeAspect="1"/>
          </p:cNvPicPr>
          <p:nvPr/>
        </p:nvPicPr>
        <p:blipFill>
          <a:blip xmlns:r="http://schemas.openxmlformats.org/officeDocument/2006/relationships" xmlns:a="http://schemas.openxmlformats.org/drawingml/2006/main" r:embed="R04ba750241a54ba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64" name="header-divider">
            <a:extLst xmlns:a="http://schemas.openxmlformats.org/drawingml/2006/main">
              <a:ext uri="{FF2B5EF4-FFF2-40B4-BE49-F238E27FC236}">
                <a16:creationId xmlns:a16="http://schemas.microsoft.com/office/drawing/2014/main" id="{043C8C02-79C6-477C-8F03-FF234D7ED8D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65" name="18b-text-1">
            <a:extLst xmlns:a="http://schemas.openxmlformats.org/drawingml/2006/main">
              <a:ext uri="{FF2B5EF4-FFF2-40B4-BE49-F238E27FC236}">
                <a16:creationId xmlns:a16="http://schemas.microsoft.com/office/drawing/2014/main" id="{702354DA-DB20-45EB-927D-5941CF972CCF}"/>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466" name="18b-text-6">
            <a:extLst xmlns:a="http://schemas.openxmlformats.org/drawingml/2006/main">
              <a:ext uri="{FF2B5EF4-FFF2-40B4-BE49-F238E27FC236}">
                <a16:creationId xmlns:a16="http://schemas.microsoft.com/office/drawing/2014/main" id="{DBA6302C-BB73-46BC-A40E-8A142C6839F1}"/>
              </a:ext>
            </a:extLst>
          </p:cNvPr>
          <p:cNvSpPr>
            <a:spLocks xmlns:a="http://schemas.openxmlformats.org/drawingml/2006/main"/>
          </p:cNvSpPr>
          <p:nvPr/>
        </p:nvSpPr>
        <p:spPr>
          <a:xfrm xmlns:a="http://schemas.openxmlformats.org/drawingml/2006/main">
            <a:off x="609600" y="24892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Identity</a:t>
            </a:r>
          </a:p>
        </p:txBody>
      </p:sp>
      <p:sp>
        <p:nvSpPr>
          <p:cNvPr id="467" name="18b-text-7">
            <a:extLst xmlns:a="http://schemas.openxmlformats.org/drawingml/2006/main">
              <a:ext uri="{FF2B5EF4-FFF2-40B4-BE49-F238E27FC236}">
                <a16:creationId xmlns:a16="http://schemas.microsoft.com/office/drawing/2014/main" id="{9E5CA73E-3DF5-4F41-BFDC-293DA4CA17B6}"/>
              </a:ext>
            </a:extLst>
          </p:cNvPr>
          <p:cNvSpPr>
            <a:spLocks xmlns:a="http://schemas.openxmlformats.org/drawingml/2006/main"/>
          </p:cNvSpPr>
          <p:nvPr/>
        </p:nvSpPr>
        <p:spPr>
          <a:xfrm xmlns:a="http://schemas.openxmlformats.org/drawingml/2006/main">
            <a:off x="2489200" y="24384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Design pattern: workload identity with short-lived delegation.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Requirements: no token passthrough; minimal scopes.</a:t>
            </a:r>
          </a:p>
        </p:txBody>
      </p:sp>
      <p:sp>
        <p:nvSpPr>
          <p:cNvPr id="468" name="18b-text-8">
            <a:extLst xmlns:a="http://schemas.openxmlformats.org/drawingml/2006/main">
              <a:ext uri="{FF2B5EF4-FFF2-40B4-BE49-F238E27FC236}">
                <a16:creationId xmlns:a16="http://schemas.microsoft.com/office/drawing/2014/main" id="{A3AC89B2-0CDD-4E27-837A-59FDCC9FADAF}"/>
              </a:ext>
            </a:extLst>
          </p:cNvPr>
          <p:cNvSpPr>
            <a:spLocks xmlns:a="http://schemas.openxmlformats.org/drawingml/2006/main"/>
          </p:cNvSpPr>
          <p:nvPr/>
        </p:nvSpPr>
        <p:spPr>
          <a:xfrm xmlns:a="http://schemas.openxmlformats.org/drawingml/2006/main">
            <a:off x="609600" y="38608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Governance</a:t>
            </a:r>
          </a:p>
        </p:txBody>
      </p:sp>
      <p:sp>
        <p:nvSpPr>
          <p:cNvPr id="469" name="18b-text-9">
            <a:extLst xmlns:a="http://schemas.openxmlformats.org/drawingml/2006/main">
              <a:ext uri="{FF2B5EF4-FFF2-40B4-BE49-F238E27FC236}">
                <a16:creationId xmlns:a16="http://schemas.microsoft.com/office/drawing/2014/main" id="{5E730A2E-28B1-4EC6-9064-004248D282CB}"/>
              </a:ext>
            </a:extLst>
          </p:cNvPr>
          <p:cNvSpPr>
            <a:spLocks xmlns:a="http://schemas.openxmlformats.org/drawingml/2006/main"/>
          </p:cNvSpPr>
          <p:nvPr/>
        </p:nvSpPr>
        <p:spPr>
          <a:xfrm xmlns:a="http://schemas.openxmlformats.org/drawingml/2006/main">
            <a:off x="2489200" y="38100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EU AI Act Article 50: disclosure duties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covered direct AI interactions.</a:t>
            </a:r>
          </a:p>
        </p:txBody>
      </p:sp>
      <p:sp>
        <p:nvSpPr>
          <p:cNvPr id="470" name="narrative-number">
            <a:extLst xmlns:a="http://schemas.openxmlformats.org/drawingml/2006/main">
              <a:ext uri="{FF2B5EF4-FFF2-40B4-BE49-F238E27FC236}">
                <a16:creationId xmlns:a16="http://schemas.microsoft.com/office/drawing/2014/main" id="{9F1F320A-57E6-45C5-9E95-C876194CF89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2530728677"/>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1" name="!!area-name">
            <a:extLst xmlns:a="http://schemas.openxmlformats.org/drawingml/2006/main">
              <a:ext uri="{FF2B5EF4-FFF2-40B4-BE49-F238E27FC236}">
                <a16:creationId xmlns:a16="http://schemas.microsoft.com/office/drawing/2014/main" id="{CEF653E8-9008-4B7F-8B8E-B0467C0B85D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480" name="mini-map"/>
          <p:cNvPicPr>
            <a:picLocks xmlns:a="http://schemas.openxmlformats.org/drawingml/2006/main" noChangeAspect="1"/>
          </p:cNvPicPr>
          <p:nvPr/>
        </p:nvPicPr>
        <p:blipFill>
          <a:blip xmlns:r="http://schemas.openxmlformats.org/officeDocument/2006/relationships" xmlns:a="http://schemas.openxmlformats.org/drawingml/2006/main" r:embed="R6cab367c192e4fd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73" name="header-divider">
            <a:extLst xmlns:a="http://schemas.openxmlformats.org/drawingml/2006/main">
              <a:ext uri="{FF2B5EF4-FFF2-40B4-BE49-F238E27FC236}">
                <a16:creationId xmlns:a16="http://schemas.microsoft.com/office/drawing/2014/main" id="{8B459EA6-0396-4BEE-BC21-1A7906B409B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74" name="18b-text-1">
            <a:extLst xmlns:a="http://schemas.openxmlformats.org/drawingml/2006/main">
              <a:ext uri="{FF2B5EF4-FFF2-40B4-BE49-F238E27FC236}">
                <a16:creationId xmlns:a16="http://schemas.microsoft.com/office/drawing/2014/main" id="{38A3AE5F-CD49-4CE1-A381-7661E9EB7A7E}"/>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475" name="18b-text-22">
            <a:extLst xmlns:a="http://schemas.openxmlformats.org/drawingml/2006/main">
              <a:ext uri="{FF2B5EF4-FFF2-40B4-BE49-F238E27FC236}">
                <a16:creationId xmlns:a16="http://schemas.microsoft.com/office/drawing/2014/main" id="{255346A9-7B7D-4D6F-BE79-E135846EB2AA}"/>
              </a:ext>
            </a:extLst>
          </p:cNvPr>
          <p:cNvSpPr>
            <a:spLocks xmlns:a="http://schemas.openxmlformats.org/drawingml/2006/main"/>
          </p:cNvSpPr>
          <p:nvPr/>
        </p:nvSpPr>
        <p:spPr>
          <a:xfrm xmlns:a="http://schemas.openxmlformats.org/drawingml/2006/main">
            <a:off x="609600" y="24384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EchoLeak, June 2025.</a:t>
            </a:r>
            <a:r>
              <a:rPr b="0">
                <a:solidFill>
                  <a:srgbClr val="FFFCF5"/>
                </a:solidFill>
                <a:latin typeface="Helvetica"/>
                <a:ea typeface="Helvetica"/>
                <a:cs typeface="Helvetica"/>
              </a:rPr>
              <a:t> Researcher-demonstrated vulnerability.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evidence of exploitation reported.</a:t>
            </a:r>
          </a:p>
        </p:txBody>
      </p:sp>
      <p:sp>
        <p:nvSpPr>
          <p:cNvPr id="476" name="18b-text-23">
            <a:extLst xmlns:a="http://schemas.openxmlformats.org/drawingml/2006/main">
              <a:ext uri="{FF2B5EF4-FFF2-40B4-BE49-F238E27FC236}">
                <a16:creationId xmlns:a16="http://schemas.microsoft.com/office/drawing/2014/main" id="{100ABF7C-0CA5-424D-92B6-27E074E5B8F9}"/>
              </a:ext>
            </a:extLst>
          </p:cNvPr>
          <p:cNvSpPr>
            <a:spLocks xmlns:a="http://schemas.openxmlformats.org/drawingml/2006/main"/>
          </p:cNvSpPr>
          <p:nvPr/>
        </p:nvSpPr>
        <p:spPr>
          <a:xfrm xmlns:a="http://schemas.openxmlformats.org/drawingml/2006/main">
            <a:off x="609600" y="35814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Replit, July 2025.</a:t>
            </a:r>
            <a:r>
              <a:rPr b="0">
                <a:solidFill>
                  <a:srgbClr val="FFFCF5"/>
                </a:solidFill>
                <a:latin typeface="Helvetica"/>
                <a:ea typeface="Helvetica"/>
                <a:cs typeface="Helvetica"/>
              </a:rPr>
              <a:t> Reported production database deletion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during a code freeze. Fortune / AI Incident Database.</a:t>
            </a:r>
          </a:p>
        </p:txBody>
      </p:sp>
      <p:sp>
        <p:nvSpPr>
          <p:cNvPr id="477" name="18b-text-24">
            <a:extLst xmlns:a="http://schemas.openxmlformats.org/drawingml/2006/main">
              <a:ext uri="{FF2B5EF4-FFF2-40B4-BE49-F238E27FC236}">
                <a16:creationId xmlns:a16="http://schemas.microsoft.com/office/drawing/2014/main" id="{106B79B1-9959-43F9-802D-6C1F5052610F}"/>
              </a:ext>
            </a:extLst>
          </p:cNvPr>
          <p:cNvSpPr>
            <a:spLocks xmlns:a="http://schemas.openxmlformats.org/drawingml/2006/main"/>
          </p:cNvSpPr>
          <p:nvPr/>
        </p:nvSpPr>
        <p:spPr>
          <a:xfrm xmlns:a="http://schemas.openxmlformats.org/drawingml/2006/main">
            <a:off x="609600" y="47244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Moffatt v. Air Canada, February 2024.</a:t>
            </a:r>
            <a:r>
              <a:rPr b="0">
                <a:solidFill>
                  <a:srgbClr val="FFFCF5"/>
                </a:solidFill>
                <a:latin typeface="Helvetica"/>
                <a:ea typeface="Helvetica"/>
                <a:cs typeface="Helvetica"/>
              </a:rPr>
              <a:t> Reported liability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misleading chatbot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McCarthy Tétrault, secondary commentary.</a:t>
            </a:r>
          </a:p>
        </p:txBody>
      </p:sp>
      <p:sp>
        <p:nvSpPr>
          <p:cNvPr id="478" name="narrative-number">
            <a:extLst xmlns:a="http://schemas.openxmlformats.org/drawingml/2006/main">
              <a:ext uri="{FF2B5EF4-FFF2-40B4-BE49-F238E27FC236}">
                <a16:creationId xmlns:a16="http://schemas.microsoft.com/office/drawing/2014/main" id="{5AF40FEA-8ED3-43C6-9291-61A0A0DC6D6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3439375868"/>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9" name="!!area-name">
            <a:extLst xmlns:a="http://schemas.openxmlformats.org/drawingml/2006/main">
              <a:ext uri="{FF2B5EF4-FFF2-40B4-BE49-F238E27FC236}">
                <a16:creationId xmlns:a16="http://schemas.microsoft.com/office/drawing/2014/main" id="{A984748C-867D-4CFE-8E64-10943F83793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owner</a:t>
            </a:r>
          </a:p>
        </p:txBody>
      </p:sp>
      <p:pic>
        <p:nvPicPr>
          <p:cNvPr id="498" name="mini-map"/>
          <p:cNvPicPr>
            <a:picLocks xmlns:a="http://schemas.openxmlformats.org/drawingml/2006/main" noChangeAspect="1"/>
          </p:cNvPicPr>
          <p:nvPr/>
        </p:nvPicPr>
        <p:blipFill>
          <a:blip xmlns:r="http://schemas.openxmlformats.org/officeDocument/2006/relationships" xmlns:a="http://schemas.openxmlformats.org/drawingml/2006/main" r:embed="Rdfb48c3242b3487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81" name="slide-title">
            <a:extLst xmlns:a="http://schemas.openxmlformats.org/drawingml/2006/main">
              <a:ext uri="{FF2B5EF4-FFF2-40B4-BE49-F238E27FC236}">
                <a16:creationId xmlns:a16="http://schemas.microsoft.com/office/drawing/2014/main" id="{B881CA3E-F53D-4834-AE0A-38AECADFB09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own the approval process.</a:t>
            </a:r>
          </a:p>
        </p:txBody>
      </p:sp>
      <p:sp>
        <p:nvSpPr>
          <p:cNvPr id="482" name="header-divider">
            <a:extLst xmlns:a="http://schemas.openxmlformats.org/drawingml/2006/main">
              <a:ext uri="{FF2B5EF4-FFF2-40B4-BE49-F238E27FC236}">
                <a16:creationId xmlns:a16="http://schemas.microsoft.com/office/drawing/2014/main" id="{DA82A0D5-8558-47E6-83CA-AF4D796C7A8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01" name="19-table-1"/>
          <p:cNvGraphicFramePr/>
          <p:nvPr/>
        </p:nvGraphicFramePr>
        <p:xfrm>
          <a:off xmlns:a="http://schemas.openxmlformats.org/drawingml/2006/main" x="609600" y="2438400"/>
          <a:ext xmlns:a="http://schemas.openxmlformats.org/drawingml/2006/main" cx="10972800" cy="18288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FDAD00"/>
                          </a:solidFill>
                          <a:latin typeface="Helvetica"/>
                          <a:ea typeface="Helvetica"/>
                          <a:cs typeface="Helvetica"/>
                        </a:rPr>
                        <a:t>Coding-agent control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DAD00"/>
                          </a:solidFill>
                          <a:latin typeface="Helvetica"/>
                          <a:ea typeface="Helvetica"/>
                          <a:cs typeface="Helvetica"/>
                        </a:rPr>
                        <a:t>Illustrative FRB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06400">
                <a:tc>
                  <a:txBody>
                    <a:bodyPr>
                      <a:noAutofit/>
                    </a:bodyPr>
                    <a:lstStyle/>
                    <a:p>
                      <a:pPr>
                        <a:lnSpc>
                          <a:spcPct val="125000"/>
                        </a:lnSpc>
                        <a:buNone/>
                      </a:pPr>
                      <a:r>
                        <a:rPr sz="2000" b="0">
                          <a:solidFill>
                            <a:srgbClr val="FFFCF5"/>
                          </a:solidFill>
                          <a:latin typeface="Helvetica"/>
                          <a:ea typeface="Helvetica"/>
                          <a:cs typeface="Helvetica"/>
                        </a:rPr>
                        <a:t>Sandbox and login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 FRB access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06400">
                <a:tc>
                  <a:txBody>
                    <a:bodyPr>
                      <a:noAutofit/>
                    </a:bodyPr>
                    <a:lstStyle/>
                    <a:p>
                      <a:pPr>
                        <a:lnSpc>
                          <a:spcPct val="125000"/>
                        </a:lnSpc>
                        <a:buNone/>
                      </a:pPr>
                      <a:r>
                        <a:rPr sz="2000" b="0">
                          <a:solidFill>
                            <a:srgbClr val="FFFCF5"/>
                          </a:solidFill>
                          <a:latin typeface="Helvetica"/>
                          <a:ea typeface="Helvetica"/>
                          <a:cs typeface="Helvetica"/>
                        </a:rPr>
                        <a:t>Approval prompt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Allowed exports. Human conclusions.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58800">
                <a:tc>
                  <a:txBody>
                    <a:bodyPr>
                      <a:noAutofit/>
                    </a:bodyPr>
                    <a:lstStyle/>
                    <a:p>
                      <a:pPr>
                        <a:lnSpc>
                          <a:spcPct val="125000"/>
                        </a:lnSpc>
                        <a:buNone/>
                      </a:pPr>
                      <a:r>
                        <a:rPr sz="2000" b="0">
                          <a:solidFill>
                            <a:srgbClr val="FFFCF5"/>
                          </a:solidFill>
                          <a:latin typeface="Helvetica"/>
                          <a:ea typeface="Helvetica"/>
                          <a:cs typeface="Helvetica"/>
                        </a:rPr>
                        <a:t>Audit log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An accountable FRB trace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84" name="19-text-2">
            <a:extLst xmlns:a="http://schemas.openxmlformats.org/drawingml/2006/main">
              <a:ext uri="{FF2B5EF4-FFF2-40B4-BE49-F238E27FC236}">
                <a16:creationId xmlns:a16="http://schemas.microsoft.com/office/drawing/2014/main" id="{038AF76B-4486-4EF5-A689-D4BE09805DE6}"/>
              </a:ext>
            </a:extLst>
          </p:cNvPr>
          <p:cNvSpPr>
            <a:spLocks xmlns:a="http://schemas.openxmlformats.org/drawingml/2006/main"/>
          </p:cNvSpPr>
          <p:nvPr/>
        </p:nvSpPr>
        <p:spPr>
          <a:xfrm xmlns:a="http://schemas.openxmlformats.org/drawingml/2006/main">
            <a:off x="609600" y="4343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Trace: request · FRB-042-MIN r2 · workers · synthesis · export</a:t>
            </a:r>
          </a:p>
        </p:txBody>
      </p:sp>
      <p:sp>
        <p:nvSpPr>
          <p:cNvPr id="485" name="19-text-3">
            <a:extLst xmlns:a="http://schemas.openxmlformats.org/drawingml/2006/main">
              <a:ext uri="{FF2B5EF4-FFF2-40B4-BE49-F238E27FC236}">
                <a16:creationId xmlns:a16="http://schemas.microsoft.com/office/drawing/2014/main" id="{C3EA43FA-1B57-431F-B182-93A1BBF8E5F6}"/>
              </a:ext>
            </a:extLst>
          </p:cNvPr>
          <p:cNvSpPr>
            <a:spLocks xmlns:a="http://schemas.openxmlformats.org/drawingml/2006/main"/>
          </p:cNvSpPr>
          <p:nvPr/>
        </p:nvSpPr>
        <p:spPr>
          <a:xfrm xmlns:a="http://schemas.openxmlformats.org/drawingml/2006/main">
            <a:off x="609600" y="48260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Monitor freshness, parsing/tool and quality failures.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per completed brief. End-to-end latency.</a:t>
            </a:r>
          </a:p>
        </p:txBody>
      </p:sp>
      <p:sp>
        <p:nvSpPr>
          <p:cNvPr id="486" name="19-shape-4">
            <a:extLst xmlns:a="http://schemas.openxmlformats.org/drawingml/2006/main">
              <a:ext uri="{FF2B5EF4-FFF2-40B4-BE49-F238E27FC236}">
                <a16:creationId xmlns:a16="http://schemas.microsoft.com/office/drawing/2014/main" id="{21BE5B9A-B086-40E4-914D-9817F859CA78}"/>
              </a:ext>
            </a:extLst>
          </p:cNvPr>
          <p:cNvSpPr>
            <a:spLocks xmlns:a="http://schemas.openxmlformats.org/drawingml/2006/main"/>
          </p:cNvSpPr>
          <p:nvPr/>
        </p:nvSpPr>
        <p:spPr>
          <a:xfrm xmlns:a="http://schemas.openxmlformats.org/drawingml/2006/main">
            <a:off x="0" y="5638800"/>
            <a:ext cx="12192000" cy="1219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87" name="19-shape-5">
            <a:extLst xmlns:a="http://schemas.openxmlformats.org/drawingml/2006/main">
              <a:ext uri="{FF2B5EF4-FFF2-40B4-BE49-F238E27FC236}">
                <a16:creationId xmlns:a16="http://schemas.microsoft.com/office/drawing/2014/main" id="{5C2D85A3-172C-442D-9162-87F216C44F61}"/>
              </a:ext>
            </a:extLst>
          </p:cNvPr>
          <p:cNvSpPr>
            <a:spLocks xmlns:a="http://schemas.openxmlformats.org/drawingml/2006/main"/>
          </p:cNvSpPr>
          <p:nvPr/>
        </p:nvSpPr>
        <p:spPr>
          <a:xfrm xmlns:a="http://schemas.openxmlformats.org/drawingml/2006/main">
            <a:off x="0" y="5638800"/>
            <a:ext cx="2184400" cy="12192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88" name="19-text-6">
            <a:extLst xmlns:a="http://schemas.openxmlformats.org/drawingml/2006/main">
              <a:ext uri="{FF2B5EF4-FFF2-40B4-BE49-F238E27FC236}">
                <a16:creationId xmlns:a16="http://schemas.microsoft.com/office/drawing/2014/main" id="{15B068D0-D2A1-4428-A607-534B3B0B4E1B}"/>
              </a:ext>
            </a:extLst>
          </p:cNvPr>
          <p:cNvSpPr>
            <a:spLocks xmlns:a="http://schemas.openxmlformats.org/drawingml/2006/main"/>
          </p:cNvSpPr>
          <p:nvPr/>
        </p:nvSpPr>
        <p:spPr>
          <a:xfrm xmlns:a="http://schemas.openxmlformats.org/drawingml/2006/main">
            <a:off x="609600" y="60896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489" name="19-text-7">
            <a:extLst xmlns:a="http://schemas.openxmlformats.org/drawingml/2006/main">
              <a:ext uri="{FF2B5EF4-FFF2-40B4-BE49-F238E27FC236}">
                <a16:creationId xmlns:a16="http://schemas.microsoft.com/office/drawing/2014/main" id="{8694A8F0-342A-49FB-8DA3-742BC8144252}"/>
              </a:ext>
            </a:extLst>
          </p:cNvPr>
          <p:cNvSpPr>
            <a:spLocks xmlns:a="http://schemas.openxmlformats.org/drawingml/2006/main"/>
          </p:cNvSpPr>
          <p:nvPr/>
        </p:nvSpPr>
        <p:spPr>
          <a:xfrm xmlns:a="http://schemas.openxmlformats.org/drawingml/2006/main">
            <a:off x="2489200" y="5803900"/>
            <a:ext cx="49530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lethal trifecta, assembled one integration at a time.</a:t>
            </a:r>
          </a:p>
        </p:txBody>
      </p:sp>
      <p:sp>
        <p:nvSpPr>
          <p:cNvPr id="490" name="19-line-9">
            <a:extLst xmlns:a="http://schemas.openxmlformats.org/drawingml/2006/main">
              <a:ext uri="{FF2B5EF4-FFF2-40B4-BE49-F238E27FC236}">
                <a16:creationId xmlns:a16="http://schemas.microsoft.com/office/drawing/2014/main" id="{C7801520-DEE5-4D5D-969E-B545658ECE8F}"/>
              </a:ext>
            </a:extLst>
          </p:cNvPr>
          <p:cNvSpPr>
            <a:spLocks xmlns:a="http://schemas.openxmlformats.org/drawingml/2006/main"/>
          </p:cNvSpPr>
          <p:nvPr/>
        </p:nvSpPr>
        <p:spPr>
          <a:xfrm xmlns:a="http://schemas.openxmlformats.org/drawingml/2006/main" flipH="0" flipV="0">
            <a:off x="9042400" y="5918200"/>
            <a:ext cx="1016000" cy="3048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91" name="19-line-11">
            <a:extLst xmlns:a="http://schemas.openxmlformats.org/drawingml/2006/main">
              <a:ext uri="{FF2B5EF4-FFF2-40B4-BE49-F238E27FC236}">
                <a16:creationId xmlns:a16="http://schemas.microsoft.com/office/drawing/2014/main" id="{969AF92A-D9EC-48E8-A25C-618CBB1E758C}"/>
              </a:ext>
            </a:extLst>
          </p:cNvPr>
          <p:cNvSpPr>
            <a:spLocks xmlns:a="http://schemas.openxmlformats.org/drawingml/2006/main"/>
          </p:cNvSpPr>
          <p:nvPr/>
        </p:nvSpPr>
        <p:spPr>
          <a:xfrm xmlns:a="http://schemas.openxmlformats.org/drawingml/2006/main" flipH="1" flipV="0">
            <a:off x="8077200" y="6223000"/>
            <a:ext cx="19812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92" name="19-line-13">
            <a:extLst xmlns:a="http://schemas.openxmlformats.org/drawingml/2006/main">
              <a:ext uri="{FF2B5EF4-FFF2-40B4-BE49-F238E27FC236}">
                <a16:creationId xmlns:a16="http://schemas.microsoft.com/office/drawing/2014/main" id="{D7BA8FFE-842B-40D2-8E20-1F1965AD2EB8}"/>
              </a:ext>
            </a:extLst>
          </p:cNvPr>
          <p:cNvSpPr>
            <a:spLocks xmlns:a="http://schemas.openxmlformats.org/drawingml/2006/main"/>
          </p:cNvSpPr>
          <p:nvPr/>
        </p:nvSpPr>
        <p:spPr>
          <a:xfrm xmlns:a="http://schemas.openxmlformats.org/drawingml/2006/main" flipH="0" flipV="1">
            <a:off x="8077200" y="5918200"/>
            <a:ext cx="965200" cy="3048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93" name="19-text-14">
            <a:extLst xmlns:a="http://schemas.openxmlformats.org/drawingml/2006/main">
              <a:ext uri="{FF2B5EF4-FFF2-40B4-BE49-F238E27FC236}">
                <a16:creationId xmlns:a16="http://schemas.microsoft.com/office/drawing/2014/main" id="{AF72AB2A-B473-4525-A0A0-8CD0BBBECDBD}"/>
              </a:ext>
            </a:extLst>
          </p:cNvPr>
          <p:cNvSpPr>
            <a:spLocks xmlns:a="http://schemas.openxmlformats.org/drawingml/2006/main"/>
          </p:cNvSpPr>
          <p:nvPr/>
        </p:nvSpPr>
        <p:spPr>
          <a:xfrm xmlns:a="http://schemas.openxmlformats.org/drawingml/2006/main">
            <a:off x="8432800" y="5638800"/>
            <a:ext cx="18415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Private data</a:t>
            </a:r>
          </a:p>
        </p:txBody>
      </p:sp>
      <p:sp>
        <p:nvSpPr>
          <p:cNvPr id="494" name="19-text-15">
            <a:extLst xmlns:a="http://schemas.openxmlformats.org/drawingml/2006/main">
              <a:ext uri="{FF2B5EF4-FFF2-40B4-BE49-F238E27FC236}">
                <a16:creationId xmlns:a16="http://schemas.microsoft.com/office/drawing/2014/main" id="{B364875A-C82D-4FCD-9DA4-E50F3826CFE5}"/>
              </a:ext>
            </a:extLst>
          </p:cNvPr>
          <p:cNvSpPr>
            <a:spLocks xmlns:a="http://schemas.openxmlformats.org/drawingml/2006/main"/>
          </p:cNvSpPr>
          <p:nvPr/>
        </p:nvSpPr>
        <p:spPr>
          <a:xfrm xmlns:a="http://schemas.openxmlformats.org/drawingml/2006/main">
            <a:off x="7061200" y="6426200"/>
            <a:ext cx="1981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Untrusted content</a:t>
            </a:r>
          </a:p>
        </p:txBody>
      </p:sp>
      <p:sp>
        <p:nvSpPr>
          <p:cNvPr id="495" name="19-text-16">
            <a:extLst xmlns:a="http://schemas.openxmlformats.org/drawingml/2006/main">
              <a:ext uri="{FF2B5EF4-FFF2-40B4-BE49-F238E27FC236}">
                <a16:creationId xmlns:a16="http://schemas.microsoft.com/office/drawing/2014/main" id="{1D799AED-CD52-40DF-AC95-0DFF94155C7F}"/>
              </a:ext>
            </a:extLst>
          </p:cNvPr>
          <p:cNvSpPr>
            <a:spLocks xmlns:a="http://schemas.openxmlformats.org/drawingml/2006/main"/>
          </p:cNvSpPr>
          <p:nvPr/>
        </p:nvSpPr>
        <p:spPr>
          <a:xfrm xmlns:a="http://schemas.openxmlformats.org/drawingml/2006/main">
            <a:off x="9093200" y="6426200"/>
            <a:ext cx="2489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External communication</a:t>
            </a:r>
          </a:p>
        </p:txBody>
      </p:sp>
      <p:sp>
        <p:nvSpPr>
          <p:cNvPr id="496" name="narrative-number">
            <a:extLst xmlns:a="http://schemas.openxmlformats.org/drawingml/2006/main">
              <a:ext uri="{FF2B5EF4-FFF2-40B4-BE49-F238E27FC236}">
                <a16:creationId xmlns:a16="http://schemas.microsoft.com/office/drawing/2014/main" id="{7340D966-5663-4112-95C2-C3DB22BCF3B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3082876131"/>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6"/>
                                        </p:tgtEl>
                                        <p:attrNameLst>
                                          <p:attrName>style.visibility</p:attrName>
                                        </p:attrNameLst>
                                      </p:cBhvr>
                                      <p:to>
                                        <p:strVal val="visible"/>
                                      </p:to>
                                    </p:set>
                                    <p:animEffect transition="in" filter="fade">
                                      <p:cBhvr>
                                        <p:cTn id="7" dur="300" fill="hold"/>
                                        <p:tgtEl>
                                          <p:spTgt spid="486"/>
                                        </p:tgtEl>
                                      </p:cBhvr>
                                    </p:animEffect>
                                  </p:childTnLst>
                                </p:cTn>
                              </p:par>
                              <p:par>
                                <p:cTn id="8" presetID="10" presetClass="entr" presetSubtype="0" fill="hold" nodeType="withEffect">
                                  <p:stCondLst>
                                    <p:cond delay="0"/>
                                  </p:stCondLst>
                                  <p:childTnLst>
                                    <p:set>
                                      <p:cBhvr>
                                        <p:cTn id="9" dur="1" fill="hold">
                                          <p:stCondLst>
                                            <p:cond delay="0"/>
                                          </p:stCondLst>
                                        </p:cTn>
                                        <p:tgtEl>
                                          <p:spTgt spid="487"/>
                                        </p:tgtEl>
                                        <p:attrNameLst>
                                          <p:attrName>style.visibility</p:attrName>
                                        </p:attrNameLst>
                                      </p:cBhvr>
                                      <p:to>
                                        <p:strVal val="visible"/>
                                      </p:to>
                                    </p:set>
                                    <p:animEffect transition="in" filter="fade">
                                      <p:cBhvr>
                                        <p:cTn id="10" dur="300" fill="hold"/>
                                        <p:tgtEl>
                                          <p:spTgt spid="487"/>
                                        </p:tgtEl>
                                      </p:cBhvr>
                                    </p:animEffect>
                                  </p:childTnLst>
                                </p:cTn>
                              </p:par>
                              <p:par>
                                <p:cTn id="11" presetID="10" presetClass="entr" presetSubtype="0" fill="hold" nodeType="withEffect">
                                  <p:stCondLst>
                                    <p:cond delay="0"/>
                                  </p:stCondLst>
                                  <p:childTnLst>
                                    <p:set>
                                      <p:cBhvr>
                                        <p:cTn id="12" dur="1" fill="hold">
                                          <p:stCondLst>
                                            <p:cond delay="0"/>
                                          </p:stCondLst>
                                        </p:cTn>
                                        <p:tgtEl>
                                          <p:spTgt spid="488"/>
                                        </p:tgtEl>
                                        <p:attrNameLst>
                                          <p:attrName>style.visibility</p:attrName>
                                        </p:attrNameLst>
                                      </p:cBhvr>
                                      <p:to>
                                        <p:strVal val="visible"/>
                                      </p:to>
                                    </p:set>
                                    <p:animEffect transition="in" filter="fade">
                                      <p:cBhvr>
                                        <p:cTn id="13" dur="300" fill="hold"/>
                                        <p:tgtEl>
                                          <p:spTgt spid="488"/>
                                        </p:tgtEl>
                                      </p:cBhvr>
                                    </p:animEffect>
                                  </p:childTnLst>
                                </p:cTn>
                              </p:par>
                              <p:par>
                                <p:cTn id="14" presetID="10" presetClass="entr" presetSubtype="0" fill="hold" nodeType="withEffect">
                                  <p:stCondLst>
                                    <p:cond delay="0"/>
                                  </p:stCondLst>
                                  <p:childTnLst>
                                    <p:set>
                                      <p:cBhvr>
                                        <p:cTn id="15" dur="1" fill="hold">
                                          <p:stCondLst>
                                            <p:cond delay="0"/>
                                          </p:stCondLst>
                                        </p:cTn>
                                        <p:tgtEl>
                                          <p:spTgt spid="489"/>
                                        </p:tgtEl>
                                        <p:attrNameLst>
                                          <p:attrName>style.visibility</p:attrName>
                                        </p:attrNameLst>
                                      </p:cBhvr>
                                      <p:to>
                                        <p:strVal val="visible"/>
                                      </p:to>
                                    </p:set>
                                    <p:animEffect transition="in" filter="fade">
                                      <p:cBhvr>
                                        <p:cTn id="16" dur="300" fill="hold"/>
                                        <p:tgtEl>
                                          <p:spTgt spid="489"/>
                                        </p:tgtEl>
                                      </p:cBhvr>
                                    </p:animEffect>
                                  </p:childTnLst>
                                </p:cTn>
                              </p:par>
                              <p:par>
                                <p:cTn id="17" presetID="1" presetClass="entr" presetSubtype="0" fill="hold" nodeType="withEffect">
                                  <p:stCondLst>
                                    <p:cond delay="0"/>
                                  </p:stCondLst>
                                  <p:childTnLst>
                                    <p:set>
                                      <p:cBhvr>
                                        <p:cTn id="18" dur="1" fill="hold">
                                          <p:stCondLst>
                                            <p:cond delay="0"/>
                                          </p:stCondLst>
                                        </p:cTn>
                                        <p:tgtEl>
                                          <p:spTgt spid="49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9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9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9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9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499" name="19b-image-1"/>
          <p:cNvPicPr>
            <a:picLocks xmlns:a="http://schemas.openxmlformats.org/drawingml/2006/main" noChangeAspect="1"/>
          </p:cNvPicPr>
          <p:nvPr/>
        </p:nvPicPr>
        <p:blipFill>
          <a:blip xmlns:r="http://schemas.openxmlformats.org/officeDocument/2006/relationships" xmlns:a="http://schemas.openxmlformats.org/drawingml/2006/main" r:embed="R988a978453b64c1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498" name="narrative-number">
            <a:extLst xmlns:a="http://schemas.openxmlformats.org/drawingml/2006/main">
              <a:ext uri="{FF2B5EF4-FFF2-40B4-BE49-F238E27FC236}">
                <a16:creationId xmlns:a16="http://schemas.microsoft.com/office/drawing/2014/main" id="{67C72966-97FD-481F-BAB2-B5F1ED50640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3555882938"/>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99" name="section-label">
            <a:extLst xmlns:a="http://schemas.openxmlformats.org/drawingml/2006/main">
              <a:ext uri="{FF2B5EF4-FFF2-40B4-BE49-F238E27FC236}">
                <a16:creationId xmlns:a16="http://schemas.microsoft.com/office/drawing/2014/main" id="{884E3180-4361-413F-94AA-F96952C35973}"/>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500" name="section-rule">
            <a:extLst xmlns:a="http://schemas.openxmlformats.org/drawingml/2006/main">
              <a:ext uri="{FF2B5EF4-FFF2-40B4-BE49-F238E27FC236}">
                <a16:creationId xmlns:a16="http://schemas.microsoft.com/office/drawing/2014/main" id="{12051A2B-56C2-45D5-8702-FC4822196E57}"/>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01" name="section-title">
            <a:extLst xmlns:a="http://schemas.openxmlformats.org/drawingml/2006/main">
              <a:ext uri="{FF2B5EF4-FFF2-40B4-BE49-F238E27FC236}">
                <a16:creationId xmlns:a16="http://schemas.microsoft.com/office/drawing/2014/main" id="{ABBC0B95-9D77-4674-A9FF-90EF115FA294}"/>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502" name="narrative-number">
            <a:extLst xmlns:a="http://schemas.openxmlformats.org/drawingml/2006/main">
              <a:ext uri="{FF2B5EF4-FFF2-40B4-BE49-F238E27FC236}">
                <a16:creationId xmlns:a16="http://schemas.microsoft.com/office/drawing/2014/main" id="{489374AD-386A-4C1C-AD4F-45CBAE20278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1207063024"/>
      </p:ext>
    </p:extLst>
  </p:cSld>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03" name="!!area-name">
            <a:extLst xmlns:a="http://schemas.openxmlformats.org/drawingml/2006/main">
              <a:ext uri="{FF2B5EF4-FFF2-40B4-BE49-F238E27FC236}">
                <a16:creationId xmlns:a16="http://schemas.microsoft.com/office/drawing/2014/main" id="{15D24BAF-A0E1-49E1-A1AA-403B19CF0F9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510" name="mini-map"/>
          <p:cNvPicPr>
            <a:picLocks xmlns:a="http://schemas.openxmlformats.org/drawingml/2006/main" noChangeAspect="1"/>
          </p:cNvPicPr>
          <p:nvPr/>
        </p:nvPicPr>
        <p:blipFill>
          <a:blip xmlns:r="http://schemas.openxmlformats.org/officeDocument/2006/relationships" xmlns:a="http://schemas.openxmlformats.org/drawingml/2006/main" r:embed="R3407013584c549e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05" name="slide-title">
            <a:extLst xmlns:a="http://schemas.openxmlformats.org/drawingml/2006/main">
              <a:ext uri="{FF2B5EF4-FFF2-40B4-BE49-F238E27FC236}">
                <a16:creationId xmlns:a16="http://schemas.microsoft.com/office/drawing/2014/main" id="{3C73828C-0DA9-4B33-A36D-E68222198CB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506" name="header-divider">
            <a:extLst xmlns:a="http://schemas.openxmlformats.org/drawingml/2006/main">
              <a:ext uri="{FF2B5EF4-FFF2-40B4-BE49-F238E27FC236}">
                <a16:creationId xmlns:a16="http://schemas.microsoft.com/office/drawing/2014/main" id="{B9240C32-DF1A-49DC-B5D7-974A0BEA347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13" name="21-table-1"/>
          <p:cNvGraphicFramePr/>
          <p:nvPr/>
        </p:nvGraphicFramePr>
        <p:xfrm>
          <a:off xmlns:a="http://schemas.openxmlformats.org/drawingml/2006/main" x="609600" y="2438400"/>
          <a:ext xmlns:a="http://schemas.openxmlformats.org/drawingml/2006/main" cx="10972800" cy="34544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01B66D"/>
                          </a:solidFill>
                          <a:latin typeface="Helvetica"/>
                          <a:ea typeface="Helvetica"/>
                          <a:cs typeface="Helvetica"/>
                        </a:rPr>
                        <a:t>You already do this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It becomes this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Harness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Tool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Eval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The same, with a new schema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Least privilege for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Operations: cost, latency,</a:t>
                      </a:r>
                    </a:p>
                    <a:p>
                      <a:pPr>
                        <a:lnSpc>
                          <a:spcPct val="125000"/>
                        </a:lnSpc>
                        <a:buNone/>
                      </a:pPr>
                      <a:r>
                        <a:rPr sz="2000" b="0">
                          <a:solidFill>
                            <a:srgbClr val="FFFCF5"/>
                          </a:solidFill>
                          <a:latin typeface="Helvetica"/>
                          <a:ea typeface="Helvetica"/>
                          <a:cs typeface="Helvetica"/>
                        </a:rPr>
                        <a:t>incidents, rollback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The same, in tokens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08" name="narrative-number">
            <a:extLst xmlns:a="http://schemas.openxmlformats.org/drawingml/2006/main">
              <a:ext uri="{FF2B5EF4-FFF2-40B4-BE49-F238E27FC236}">
                <a16:creationId xmlns:a16="http://schemas.microsoft.com/office/drawing/2014/main" id="{F3153BA7-98C8-4DC6-AF58-604F0FE3A83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1311494673"/>
      </p:ext>
    </p:extLst>
  </p:cSld>
</p:sld>
</file>

<file path=ppt/slides/slide5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09" name="!!area-name">
            <a:extLst xmlns:a="http://schemas.openxmlformats.org/drawingml/2006/main">
              <a:ext uri="{FF2B5EF4-FFF2-40B4-BE49-F238E27FC236}">
                <a16:creationId xmlns:a16="http://schemas.microsoft.com/office/drawing/2014/main" id="{9E1F12D8-EF1E-40EB-8F05-8BCA5965E8A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518" name="mini-map"/>
          <p:cNvPicPr>
            <a:picLocks xmlns:a="http://schemas.openxmlformats.org/drawingml/2006/main" noChangeAspect="1"/>
          </p:cNvPicPr>
          <p:nvPr/>
        </p:nvPicPr>
        <p:blipFill>
          <a:blip xmlns:r="http://schemas.openxmlformats.org/officeDocument/2006/relationships" xmlns:a="http://schemas.openxmlformats.org/drawingml/2006/main" r:embed="Rebfab110e0f3414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11" name="slide-title">
            <a:extLst xmlns:a="http://schemas.openxmlformats.org/drawingml/2006/main">
              <a:ext uri="{FF2B5EF4-FFF2-40B4-BE49-F238E27FC236}">
                <a16:creationId xmlns:a16="http://schemas.microsoft.com/office/drawing/2014/main" id="{B93AC59B-C2DB-40C4-AB5D-293DFFA1D1C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512" name="header-divider">
            <a:extLst xmlns:a="http://schemas.openxmlformats.org/drawingml/2006/main">
              <a:ext uri="{FF2B5EF4-FFF2-40B4-BE49-F238E27FC236}">
                <a16:creationId xmlns:a16="http://schemas.microsoft.com/office/drawing/2014/main" id="{F40C0358-8C32-4C9F-BB75-356FB95F067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13" name="21-text-2">
            <a:extLst xmlns:a="http://schemas.openxmlformats.org/drawingml/2006/main">
              <a:ext uri="{FF2B5EF4-FFF2-40B4-BE49-F238E27FC236}">
                <a16:creationId xmlns:a16="http://schemas.microsoft.com/office/drawing/2014/main" id="{BC1BE607-23C4-4884-AEA9-4885DD7F4DCB}"/>
              </a:ext>
            </a:extLst>
          </p:cNvPr>
          <p:cNvSpPr>
            <a:spLocks xmlns:a="http://schemas.openxmlformats.org/drawingml/2006/main"/>
          </p:cNvSpPr>
          <p:nvPr/>
        </p:nvSpPr>
        <p:spPr>
          <a:xfrm xmlns:a="http://schemas.openxmlformats.org/drawingml/2006/main">
            <a:off x="609600" y="243840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Engineers at incident.io, Sentry, Elsevier, and others crossed over in months, not years.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twenty-five-year veteran: about two months.</a:t>
            </a:r>
          </a:p>
        </p:txBody>
      </p:sp>
      <p:sp>
        <p:nvSpPr>
          <p:cNvPr id="514" name="21-text-3">
            <a:extLst xmlns:a="http://schemas.openxmlformats.org/drawingml/2006/main">
              <a:ext uri="{FF2B5EF4-FFF2-40B4-BE49-F238E27FC236}">
                <a16:creationId xmlns:a16="http://schemas.microsoft.com/office/drawing/2014/main" id="{C0012305-AF9A-4896-ACD9-817DF8A416AD}"/>
              </a:ext>
            </a:extLst>
          </p:cNvPr>
          <p:cNvSpPr>
            <a:spLocks xmlns:a="http://schemas.openxmlformats.org/drawingml/2006/main"/>
          </p:cNvSpPr>
          <p:nvPr/>
        </p:nvSpPr>
        <p:spPr>
          <a:xfrm xmlns:a="http://schemas.openxmlformats.org/drawingml/2006/main">
            <a:off x="609600" y="4165600"/>
            <a:ext cx="109728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"For experienced engineers who know how to break problems down, AI tools are an incredible force multiplier."</a:t>
            </a:r>
          </a:p>
        </p:txBody>
      </p:sp>
      <p:sp>
        <p:nvSpPr>
          <p:cNvPr id="515" name="21-text-4">
            <a:extLst xmlns:a="http://schemas.openxmlformats.org/drawingml/2006/main">
              <a:ext uri="{FF2B5EF4-FFF2-40B4-BE49-F238E27FC236}">
                <a16:creationId xmlns:a16="http://schemas.microsoft.com/office/drawing/2014/main" id="{B23FD46B-6720-476D-86AA-015E587A7B7B}"/>
              </a:ext>
            </a:extLst>
          </p:cNvPr>
          <p:cNvSpPr>
            <a:spLocks xmlns:a="http://schemas.openxmlformats.org/drawingml/2006/main"/>
          </p:cNvSpPr>
          <p:nvPr/>
        </p:nvSpPr>
        <p:spPr>
          <a:xfrm xmlns:a="http://schemas.openxmlformats.org/drawingml/2006/main">
            <a:off x="609600" y="56642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Matt Morgis, Elsevier, via The Pragmatic Engineer, March 2025</a:t>
            </a:r>
          </a:p>
        </p:txBody>
      </p:sp>
      <p:sp>
        <p:nvSpPr>
          <p:cNvPr id="516" name="narrative-number">
            <a:extLst xmlns:a="http://schemas.openxmlformats.org/drawingml/2006/main">
              <a:ext uri="{FF2B5EF4-FFF2-40B4-BE49-F238E27FC236}">
                <a16:creationId xmlns:a16="http://schemas.microsoft.com/office/drawing/2014/main" id="{B72B69D5-4B85-4860-B99C-B8AA83A57C8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1642206044"/>
      </p:ext>
    </p:extLst>
  </p:cSld>
</p:sld>
</file>

<file path=ppt/slides/slide5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7" name="!!area-name">
            <a:extLst xmlns:a="http://schemas.openxmlformats.org/drawingml/2006/main">
              <a:ext uri="{FF2B5EF4-FFF2-40B4-BE49-F238E27FC236}">
                <a16:creationId xmlns:a16="http://schemas.microsoft.com/office/drawing/2014/main" id="{70DCE9EB-326A-4CB5-A880-39153690C6A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533" name="mini-map"/>
          <p:cNvPicPr>
            <a:picLocks xmlns:a="http://schemas.openxmlformats.org/drawingml/2006/main" noChangeAspect="1"/>
          </p:cNvPicPr>
          <p:nvPr/>
        </p:nvPicPr>
        <p:blipFill>
          <a:blip xmlns:r="http://schemas.openxmlformats.org/officeDocument/2006/relationships" xmlns:a="http://schemas.openxmlformats.org/drawingml/2006/main" r:embed="Rd15c9a605cd64f8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19" name="slide-title">
            <a:extLst xmlns:a="http://schemas.openxmlformats.org/drawingml/2006/main">
              <a:ext uri="{FF2B5EF4-FFF2-40B4-BE49-F238E27FC236}">
                <a16:creationId xmlns:a16="http://schemas.microsoft.com/office/drawing/2014/main" id="{6A867363-C257-4E8A-9C6B-112ED9BB003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is new</a:t>
            </a:r>
          </a:p>
        </p:txBody>
      </p:sp>
      <p:sp>
        <p:nvSpPr>
          <p:cNvPr id="520" name="header-divider">
            <a:extLst xmlns:a="http://schemas.openxmlformats.org/drawingml/2006/main">
              <a:ext uri="{FF2B5EF4-FFF2-40B4-BE49-F238E27FC236}">
                <a16:creationId xmlns:a16="http://schemas.microsoft.com/office/drawing/2014/main" id="{BF188395-A8D9-4D28-8B29-69CC4BFD16D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21" name="22-text-1">
            <a:extLst xmlns:a="http://schemas.openxmlformats.org/drawingml/2006/main">
              <a:ext uri="{FF2B5EF4-FFF2-40B4-BE49-F238E27FC236}">
                <a16:creationId xmlns:a16="http://schemas.microsoft.com/office/drawing/2014/main" id="{3B5BC594-7C60-47B3-93FA-581882D1DA9E}"/>
              </a:ext>
            </a:extLst>
          </p:cNvPr>
          <p:cNvSpPr>
            <a:spLocks xmlns:a="http://schemas.openxmlformats.org/drawingml/2006/main"/>
          </p:cNvSpPr>
          <p:nvPr/>
        </p:nvSpPr>
        <p:spPr>
          <a:xfrm xmlns:a="http://schemas.openxmlformats.org/drawingml/2006/main">
            <a:off x="609600" y="4216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Prompt engineering</a:t>
            </a:r>
          </a:p>
        </p:txBody>
      </p:sp>
      <p:sp>
        <p:nvSpPr>
          <p:cNvPr id="522" name="22-line-3">
            <a:extLst xmlns:a="http://schemas.openxmlformats.org/drawingml/2006/main">
              <a:ext uri="{FF2B5EF4-FFF2-40B4-BE49-F238E27FC236}">
                <a16:creationId xmlns:a16="http://schemas.microsoft.com/office/drawing/2014/main" id="{EB362F6E-0B0D-41CC-AE2C-9EBB9DA9839F}"/>
              </a:ext>
            </a:extLst>
          </p:cNvPr>
          <p:cNvSpPr>
            <a:spLocks xmlns:a="http://schemas.openxmlformats.org/drawingml/2006/main"/>
          </p:cNvSpPr>
          <p:nvPr/>
        </p:nvSpPr>
        <p:spPr>
          <a:xfrm xmlns:a="http://schemas.openxmlformats.org/drawingml/2006/main" flipH="0" flipV="0">
            <a:off x="609600" y="4699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23" name="22-text-4">
            <a:extLst xmlns:a="http://schemas.openxmlformats.org/drawingml/2006/main">
              <a:ext uri="{FF2B5EF4-FFF2-40B4-BE49-F238E27FC236}">
                <a16:creationId xmlns:a16="http://schemas.microsoft.com/office/drawing/2014/main" id="{E908A827-CDB6-417E-A564-9DA1111D87F7}"/>
              </a:ext>
            </a:extLst>
          </p:cNvPr>
          <p:cNvSpPr>
            <a:spLocks xmlns:a="http://schemas.openxmlformats.org/drawingml/2006/main"/>
          </p:cNvSpPr>
          <p:nvPr/>
        </p:nvSpPr>
        <p:spPr>
          <a:xfrm xmlns:a="http://schemas.openxmlformats.org/drawingml/2006/main">
            <a:off x="609600" y="4851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2023</a:t>
            </a:r>
          </a:p>
        </p:txBody>
      </p:sp>
      <p:sp>
        <p:nvSpPr>
          <p:cNvPr id="524" name="22-text-5">
            <a:extLst xmlns:a="http://schemas.openxmlformats.org/drawingml/2006/main">
              <a:ext uri="{FF2B5EF4-FFF2-40B4-BE49-F238E27FC236}">
                <a16:creationId xmlns:a16="http://schemas.microsoft.com/office/drawing/2014/main" id="{8CB34FA1-26E8-41EB-957D-1FA142E1149D}"/>
              </a:ext>
            </a:extLst>
          </p:cNvPr>
          <p:cNvSpPr>
            <a:spLocks xmlns:a="http://schemas.openxmlformats.org/drawingml/2006/main"/>
          </p:cNvSpPr>
          <p:nvPr/>
        </p:nvSpPr>
        <p:spPr>
          <a:xfrm xmlns:a="http://schemas.openxmlformats.org/drawingml/2006/main">
            <a:off x="4368800" y="3327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engineering</a:t>
            </a:r>
          </a:p>
        </p:txBody>
      </p:sp>
      <p:sp>
        <p:nvSpPr>
          <p:cNvPr id="525" name="22-line-7">
            <a:extLst xmlns:a="http://schemas.openxmlformats.org/drawingml/2006/main">
              <a:ext uri="{FF2B5EF4-FFF2-40B4-BE49-F238E27FC236}">
                <a16:creationId xmlns:a16="http://schemas.microsoft.com/office/drawing/2014/main" id="{9A57F725-0A8A-46AE-92D9-8CE96D8FA31F}"/>
              </a:ext>
            </a:extLst>
          </p:cNvPr>
          <p:cNvSpPr>
            <a:spLocks xmlns:a="http://schemas.openxmlformats.org/drawingml/2006/main"/>
          </p:cNvSpPr>
          <p:nvPr/>
        </p:nvSpPr>
        <p:spPr>
          <a:xfrm xmlns:a="http://schemas.openxmlformats.org/drawingml/2006/main" flipH="0" flipV="0">
            <a:off x="4368800" y="3810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26" name="22-text-8">
            <a:extLst xmlns:a="http://schemas.openxmlformats.org/drawingml/2006/main">
              <a:ext uri="{FF2B5EF4-FFF2-40B4-BE49-F238E27FC236}">
                <a16:creationId xmlns:a16="http://schemas.microsoft.com/office/drawing/2014/main" id="{EC01E3B4-EEAE-40E8-851A-7CB447B0EE65}"/>
              </a:ext>
            </a:extLst>
          </p:cNvPr>
          <p:cNvSpPr>
            <a:spLocks xmlns:a="http://schemas.openxmlformats.org/drawingml/2006/main"/>
          </p:cNvSpPr>
          <p:nvPr/>
        </p:nvSpPr>
        <p:spPr>
          <a:xfrm xmlns:a="http://schemas.openxmlformats.org/drawingml/2006/main">
            <a:off x="4368800" y="3962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2025</a:t>
            </a:r>
          </a:p>
        </p:txBody>
      </p:sp>
      <p:sp>
        <p:nvSpPr>
          <p:cNvPr id="527" name="22-text-9">
            <a:extLst xmlns:a="http://schemas.openxmlformats.org/drawingml/2006/main">
              <a:ext uri="{FF2B5EF4-FFF2-40B4-BE49-F238E27FC236}">
                <a16:creationId xmlns:a16="http://schemas.microsoft.com/office/drawing/2014/main" id="{68A90364-77B4-4A69-947A-FAC111DF8748}"/>
              </a:ext>
            </a:extLst>
          </p:cNvPr>
          <p:cNvSpPr>
            <a:spLocks xmlns:a="http://schemas.openxmlformats.org/drawingml/2006/main"/>
          </p:cNvSpPr>
          <p:nvPr/>
        </p:nvSpPr>
        <p:spPr>
          <a:xfrm xmlns:a="http://schemas.openxmlformats.org/drawingml/2006/main">
            <a:off x="8128000" y="2438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Harness engineering</a:t>
            </a:r>
          </a:p>
        </p:txBody>
      </p:sp>
      <p:sp>
        <p:nvSpPr>
          <p:cNvPr id="528" name="22-line-11">
            <a:extLst xmlns:a="http://schemas.openxmlformats.org/drawingml/2006/main">
              <a:ext uri="{FF2B5EF4-FFF2-40B4-BE49-F238E27FC236}">
                <a16:creationId xmlns:a16="http://schemas.microsoft.com/office/drawing/2014/main" id="{331F2126-5A72-412A-8C3A-618AA107DA8E}"/>
              </a:ext>
            </a:extLst>
          </p:cNvPr>
          <p:cNvSpPr>
            <a:spLocks xmlns:a="http://schemas.openxmlformats.org/drawingml/2006/main"/>
          </p:cNvSpPr>
          <p:nvPr/>
        </p:nvSpPr>
        <p:spPr>
          <a:xfrm xmlns:a="http://schemas.openxmlformats.org/drawingml/2006/main" flipH="0" flipV="0">
            <a:off x="8128000" y="2921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29" name="22-text-12">
            <a:extLst xmlns:a="http://schemas.openxmlformats.org/drawingml/2006/main">
              <a:ext uri="{FF2B5EF4-FFF2-40B4-BE49-F238E27FC236}">
                <a16:creationId xmlns:a16="http://schemas.microsoft.com/office/drawing/2014/main" id="{9CCAC908-B72C-4E51-B9BD-ADAC9ED09BBF}"/>
              </a:ext>
            </a:extLst>
          </p:cNvPr>
          <p:cNvSpPr>
            <a:spLocks xmlns:a="http://schemas.openxmlformats.org/drawingml/2006/main"/>
          </p:cNvSpPr>
          <p:nvPr/>
        </p:nvSpPr>
        <p:spPr>
          <a:xfrm xmlns:a="http://schemas.openxmlformats.org/drawingml/2006/main">
            <a:off x="8128000" y="3073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2026</a:t>
            </a:r>
          </a:p>
        </p:txBody>
      </p:sp>
      <p:sp>
        <p:nvSpPr>
          <p:cNvPr id="530" name="22-text-13">
            <a:extLst xmlns:a="http://schemas.openxmlformats.org/drawingml/2006/main">
              <a:ext uri="{FF2B5EF4-FFF2-40B4-BE49-F238E27FC236}">
                <a16:creationId xmlns:a16="http://schemas.microsoft.com/office/drawing/2014/main" id="{25ACEB6C-B686-439F-8EB2-6E2625A24F24}"/>
              </a:ext>
            </a:extLst>
          </p:cNvPr>
          <p:cNvSpPr>
            <a:spLocks xmlns:a="http://schemas.openxmlformats.org/drawingml/2006/main"/>
          </p:cNvSpPr>
          <p:nvPr/>
        </p:nvSpPr>
        <p:spPr>
          <a:xfrm xmlns:a="http://schemas.openxmlformats.org/drawingml/2006/main">
            <a:off x="609600" y="5613400"/>
            <a:ext cx="10972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Each one absorbs the last.</a:t>
            </a:r>
          </a:p>
        </p:txBody>
      </p:sp>
      <p:sp>
        <p:nvSpPr>
          <p:cNvPr id="531" name="narrative-number">
            <a:extLst xmlns:a="http://schemas.openxmlformats.org/drawingml/2006/main">
              <a:ext uri="{FF2B5EF4-FFF2-40B4-BE49-F238E27FC236}">
                <a16:creationId xmlns:a16="http://schemas.microsoft.com/office/drawing/2014/main" id="{724C67B0-8376-426B-8773-6C851CEA7E8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1117817709"/>
      </p:ext>
    </p:extLst>
  </p:cSld>
</p:sld>
</file>

<file path=ppt/slides/slide5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32" name="!!area-name">
            <a:extLst xmlns:a="http://schemas.openxmlformats.org/drawingml/2006/main">
              <a:ext uri="{FF2B5EF4-FFF2-40B4-BE49-F238E27FC236}">
                <a16:creationId xmlns:a16="http://schemas.microsoft.com/office/drawing/2014/main" id="{82E5CE25-F2E8-4F3B-8DEA-C7CE0DE0EB5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545" name="mini-map"/>
          <p:cNvPicPr>
            <a:picLocks xmlns:a="http://schemas.openxmlformats.org/drawingml/2006/main" noChangeAspect="1"/>
          </p:cNvPicPr>
          <p:nvPr/>
        </p:nvPicPr>
        <p:blipFill>
          <a:blip xmlns:r="http://schemas.openxmlformats.org/officeDocument/2006/relationships" xmlns:a="http://schemas.openxmlformats.org/drawingml/2006/main" r:embed="Rfdb91bafdae54df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34" name="header-divider">
            <a:extLst xmlns:a="http://schemas.openxmlformats.org/drawingml/2006/main">
              <a:ext uri="{FF2B5EF4-FFF2-40B4-BE49-F238E27FC236}">
                <a16:creationId xmlns:a16="http://schemas.microsoft.com/office/drawing/2014/main" id="{9B10E717-1A9F-4759-9252-0BCA4A21AA5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35" name="22b-text-1">
            <a:extLst xmlns:a="http://schemas.openxmlformats.org/drawingml/2006/main">
              <a:ext uri="{FF2B5EF4-FFF2-40B4-BE49-F238E27FC236}">
                <a16:creationId xmlns:a16="http://schemas.microsoft.com/office/drawing/2014/main" id="{47FCEE1B-A6E7-4F44-8F2F-96EEF822B9C4}"/>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Prompt engineering (2023) · Context engineering (2025) · Harness engineering (2026)</a:t>
            </a:r>
          </a:p>
        </p:txBody>
      </p:sp>
      <p:sp>
        <p:nvSpPr>
          <p:cNvPr id="536" name="22b-text-2">
            <a:extLst xmlns:a="http://schemas.openxmlformats.org/drawingml/2006/main">
              <a:ext uri="{FF2B5EF4-FFF2-40B4-BE49-F238E27FC236}">
                <a16:creationId xmlns:a16="http://schemas.microsoft.com/office/drawing/2014/main" id="{49902FBE-9B6A-4B34-A0AE-BF6CF2D7855B}"/>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behavior intuition. Informed by reading outputs.</a:t>
            </a:r>
          </a:p>
        </p:txBody>
      </p:sp>
      <p:sp>
        <p:nvSpPr>
          <p:cNvPr id="537" name="22b-text-3">
            <a:extLst xmlns:a="http://schemas.openxmlformats.org/drawingml/2006/main">
              <a:ext uri="{FF2B5EF4-FFF2-40B4-BE49-F238E27FC236}">
                <a16:creationId xmlns:a16="http://schemas.microsoft.com/office/drawing/2014/main" id="{8DA2BEDF-50B6-4BCF-8FEE-5A2DE2D2183F}"/>
              </a:ext>
            </a:extLst>
          </p:cNvPr>
          <p:cNvSpPr>
            <a:spLocks xmlns:a="http://schemas.openxmlformats.org/drawingml/2006/main"/>
          </p:cNvSpPr>
          <p:nvPr/>
        </p:nvSpPr>
        <p:spPr>
          <a:xfrm xmlns:a="http://schemas.openxmlformats.org/drawingml/2006/main">
            <a:off x="609600" y="2971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engineering.</a:t>
            </a:r>
          </a:p>
        </p:txBody>
      </p:sp>
      <p:sp>
        <p:nvSpPr>
          <p:cNvPr id="538" name="22b-text-4">
            <a:extLst xmlns:a="http://schemas.openxmlformats.org/drawingml/2006/main">
              <a:ext uri="{FF2B5EF4-FFF2-40B4-BE49-F238E27FC236}">
                <a16:creationId xmlns:a16="http://schemas.microsoft.com/office/drawing/2014/main" id="{AE9E1234-381E-49F7-90B6-461CAAE5515E}"/>
              </a:ext>
            </a:extLst>
          </p:cNvPr>
          <p:cNvSpPr>
            <a:spLocks xmlns:a="http://schemas.openxmlformats.org/drawingml/2006/main"/>
          </p:cNvSpPr>
          <p:nvPr/>
        </p:nvSpPr>
        <p:spPr>
          <a:xfrm xmlns:a="http://schemas.openxmlformats.org/drawingml/2006/main">
            <a:off x="609600" y="3505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 design, for a caller that reads the description every time.</a:t>
            </a:r>
          </a:p>
        </p:txBody>
      </p:sp>
      <p:sp>
        <p:nvSpPr>
          <p:cNvPr id="539" name="22b-text-5">
            <a:extLst xmlns:a="http://schemas.openxmlformats.org/drawingml/2006/main">
              <a:ext uri="{FF2B5EF4-FFF2-40B4-BE49-F238E27FC236}">
                <a16:creationId xmlns:a16="http://schemas.microsoft.com/office/drawing/2014/main" id="{0193D758-F759-459B-82A8-47C414A6FA3C}"/>
              </a:ext>
            </a:extLst>
          </p:cNvPr>
          <p:cNvSpPr>
            <a:spLocks xmlns:a="http://schemas.openxmlformats.org/drawingml/2006/main"/>
          </p:cNvSpPr>
          <p:nvPr/>
        </p:nvSpPr>
        <p:spPr>
          <a:xfrm xmlns:a="http://schemas.openxmlformats.org/drawingml/2006/main">
            <a:off x="609600" y="4038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Harness and loop design.</a:t>
            </a:r>
          </a:p>
        </p:txBody>
      </p:sp>
      <p:sp>
        <p:nvSpPr>
          <p:cNvPr id="540" name="22b-text-6">
            <a:extLst xmlns:a="http://schemas.openxmlformats.org/drawingml/2006/main">
              <a:ext uri="{FF2B5EF4-FFF2-40B4-BE49-F238E27FC236}">
                <a16:creationId xmlns:a16="http://schemas.microsoft.com/office/drawing/2014/main" id="{C33439B3-6648-4ECB-9408-DEF33B78869F}"/>
              </a:ext>
            </a:extLst>
          </p:cNvPr>
          <p:cNvSpPr>
            <a:spLocks xmlns:a="http://schemas.openxmlformats.org/drawingml/2006/main"/>
          </p:cNvSpPr>
          <p:nvPr/>
        </p:nvSpPr>
        <p:spPr>
          <a:xfrm xmlns:a="http://schemas.openxmlformats.org/drawingml/2006/main">
            <a:off x="609600" y="457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Evals and error analysis.</a:t>
            </a:r>
          </a:p>
        </p:txBody>
      </p:sp>
      <p:sp>
        <p:nvSpPr>
          <p:cNvPr id="541" name="22b-text-7">
            <a:extLst xmlns:a="http://schemas.openxmlformats.org/drawingml/2006/main">
              <a:ext uri="{FF2B5EF4-FFF2-40B4-BE49-F238E27FC236}">
                <a16:creationId xmlns:a16="http://schemas.microsoft.com/office/drawing/2014/main" id="{79D858E9-0E27-456A-9988-F6F95FB65A36}"/>
              </a:ext>
            </a:extLst>
          </p:cNvPr>
          <p:cNvSpPr>
            <a:spLocks xmlns:a="http://schemas.openxmlformats.org/drawingml/2006/main"/>
          </p:cNvSpPr>
          <p:nvPr/>
        </p:nvSpPr>
        <p:spPr>
          <a:xfrm xmlns:a="http://schemas.openxmlformats.org/drawingml/2006/main">
            <a:off x="609600" y="5105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AI security. The attack surface is the model's reasoning.</a:t>
            </a:r>
          </a:p>
        </p:txBody>
      </p:sp>
      <p:sp>
        <p:nvSpPr>
          <p:cNvPr id="542" name="22b-text-8">
            <a:extLst xmlns:a="http://schemas.openxmlformats.org/drawingml/2006/main">
              <a:ext uri="{FF2B5EF4-FFF2-40B4-BE49-F238E27FC236}">
                <a16:creationId xmlns:a16="http://schemas.microsoft.com/office/drawing/2014/main" id="{87C231F0-3BAC-4F84-B86A-3CC3B319A819}"/>
              </a:ext>
            </a:extLst>
          </p:cNvPr>
          <p:cNvSpPr>
            <a:spLocks xmlns:a="http://schemas.openxmlformats.org/drawingml/2006/main"/>
          </p:cNvSpPr>
          <p:nvPr/>
        </p:nvSpPr>
        <p:spPr>
          <a:xfrm xmlns:a="http://schemas.openxmlformats.org/drawingml/2006/main">
            <a:off x="609600" y="5638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and latency as design constraints.</a:t>
            </a:r>
          </a:p>
        </p:txBody>
      </p:sp>
      <p:sp>
        <p:nvSpPr>
          <p:cNvPr id="543" name="narrative-number">
            <a:extLst xmlns:a="http://schemas.openxmlformats.org/drawingml/2006/main">
              <a:ext uri="{FF2B5EF4-FFF2-40B4-BE49-F238E27FC236}">
                <a16:creationId xmlns:a16="http://schemas.microsoft.com/office/drawing/2014/main" id="{5B54A590-16FC-4C24-B791-043ED62FF0A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3636535554"/>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5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44" name="!!area-name">
            <a:extLst xmlns:a="http://schemas.openxmlformats.org/drawingml/2006/main">
              <a:ext uri="{FF2B5EF4-FFF2-40B4-BE49-F238E27FC236}">
                <a16:creationId xmlns:a16="http://schemas.microsoft.com/office/drawing/2014/main" id="{2137F59B-4363-4CA0-B722-798B5A09F87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552" name="mini-map"/>
          <p:cNvPicPr>
            <a:picLocks xmlns:a="http://schemas.openxmlformats.org/drawingml/2006/main" noChangeAspect="1"/>
          </p:cNvPicPr>
          <p:nvPr/>
        </p:nvPicPr>
        <p:blipFill>
          <a:blip xmlns:r="http://schemas.openxmlformats.org/officeDocument/2006/relationships" xmlns:a="http://schemas.openxmlformats.org/drawingml/2006/main" r:embed="R35d75f73905944e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46" name="header-divider">
            <a:extLst xmlns:a="http://schemas.openxmlformats.org/drawingml/2006/main">
              <a:ext uri="{FF2B5EF4-FFF2-40B4-BE49-F238E27FC236}">
                <a16:creationId xmlns:a16="http://schemas.microsoft.com/office/drawing/2014/main" id="{4735D837-D2A5-4426-9D2C-D89ACA92356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47" name="22b-text-1">
            <a:extLst xmlns:a="http://schemas.openxmlformats.org/drawingml/2006/main">
              <a:ext uri="{FF2B5EF4-FFF2-40B4-BE49-F238E27FC236}">
                <a16:creationId xmlns:a16="http://schemas.microsoft.com/office/drawing/2014/main" id="{25E93288-C4D5-4ECB-8FC4-FF5D8C6694D9}"/>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Prompt engineering (2023) · Context engineering (2025) · Harness engineering (2026)</a:t>
            </a:r>
          </a:p>
        </p:txBody>
      </p:sp>
      <p:sp>
        <p:nvSpPr>
          <p:cNvPr id="548" name="22b-text-9">
            <a:extLst xmlns:a="http://schemas.openxmlformats.org/drawingml/2006/main">
              <a:ext uri="{FF2B5EF4-FFF2-40B4-BE49-F238E27FC236}">
                <a16:creationId xmlns:a16="http://schemas.microsoft.com/office/drawing/2014/main" id="{010F0D30-877B-48AA-B3E2-4C1135DE8913}"/>
              </a:ext>
            </a:extLst>
          </p:cNvPr>
          <p:cNvSpPr>
            <a:spLocks xmlns:a="http://schemas.openxmlformats.org/drawingml/2006/main"/>
          </p:cNvSpPr>
          <p:nvPr/>
        </p:nvSpPr>
        <p:spPr>
          <a:xfrm xmlns:a="http://schemas.openxmlformats.org/drawingml/2006/main">
            <a:off x="609600" y="2438400"/>
            <a:ext cx="10972800" cy="269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"Getting comfortable with evaluations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iterating on non-deterministic</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outputs is the biggest challenge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most devs have."</a:t>
            </a:r>
          </a:p>
        </p:txBody>
      </p:sp>
      <p:sp>
        <p:nvSpPr>
          <p:cNvPr id="549" name="22b-text-10">
            <a:extLst xmlns:a="http://schemas.openxmlformats.org/drawingml/2006/main">
              <a:ext uri="{FF2B5EF4-FFF2-40B4-BE49-F238E27FC236}">
                <a16:creationId xmlns:a16="http://schemas.microsoft.com/office/drawing/2014/main" id="{037CE2E3-4BFA-4307-88BB-A85D1C1F009E}"/>
              </a:ext>
            </a:extLst>
          </p:cNvPr>
          <p:cNvSpPr>
            <a:spLocks xmlns:a="http://schemas.openxmlformats.org/drawingml/2006/main"/>
          </p:cNvSpPr>
          <p:nvPr/>
        </p:nvSpPr>
        <p:spPr>
          <a:xfrm xmlns:a="http://schemas.openxmlformats.org/drawingml/2006/main">
            <a:off x="609600" y="5435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Ross McNairn, Wordsmith, via The Pragmatic Engineer, March 2025</a:t>
            </a:r>
          </a:p>
        </p:txBody>
      </p:sp>
      <p:sp>
        <p:nvSpPr>
          <p:cNvPr id="550" name="narrative-number">
            <a:extLst xmlns:a="http://schemas.openxmlformats.org/drawingml/2006/main">
              <a:ext uri="{FF2B5EF4-FFF2-40B4-BE49-F238E27FC236}">
                <a16:creationId xmlns:a16="http://schemas.microsoft.com/office/drawing/2014/main" id="{D78DB30F-F171-4D92-B8DB-2FE097D65BE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211797061"/>
      </p:ext>
    </p:extLst>
  </p:cSld>
</p:sld>
</file>

<file path=ppt/slides/slide5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51" name="!!area-name">
            <a:extLst xmlns:a="http://schemas.openxmlformats.org/drawingml/2006/main">
              <a:ext uri="{FF2B5EF4-FFF2-40B4-BE49-F238E27FC236}">
                <a16:creationId xmlns:a16="http://schemas.microsoft.com/office/drawing/2014/main" id="{A605176A-AEF9-4EA9-BF03-EAE2324E3CF4}"/>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552" name="header-divider">
            <a:extLst xmlns:a="http://schemas.openxmlformats.org/drawingml/2006/main">
              <a:ext uri="{FF2B5EF4-FFF2-40B4-BE49-F238E27FC236}">
                <a16:creationId xmlns:a16="http://schemas.microsoft.com/office/drawing/2014/main" id="{DE28DC63-75B8-4F1F-A3DA-572308CDC3B8}"/>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53" name="23-shape-1">
            <a:extLst xmlns:a="http://schemas.openxmlformats.org/drawingml/2006/main">
              <a:ext uri="{FF2B5EF4-FFF2-40B4-BE49-F238E27FC236}">
                <a16:creationId xmlns:a16="http://schemas.microsoft.com/office/drawing/2014/main" id="{B81150C1-DE53-48A2-9A81-DBFA9C9D388B}"/>
              </a:ext>
            </a:extLst>
          </p:cNvPr>
          <p:cNvSpPr>
            <a:spLocks xmlns:a="http://schemas.openxmlformats.org/drawingml/2006/main"/>
          </p:cNvSpPr>
          <p:nvPr/>
        </p:nvSpPr>
        <p:spPr>
          <a:xfrm xmlns:a="http://schemas.openxmlformats.org/drawingml/2006/main">
            <a:off x="0" y="12700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54" name="23-shape-2">
            <a:extLst xmlns:a="http://schemas.openxmlformats.org/drawingml/2006/main">
              <a:ext uri="{FF2B5EF4-FFF2-40B4-BE49-F238E27FC236}">
                <a16:creationId xmlns:a16="http://schemas.microsoft.com/office/drawing/2014/main" id="{BD65DF10-E752-46F7-9B55-24C0A52C008C}"/>
              </a:ext>
            </a:extLst>
          </p:cNvPr>
          <p:cNvSpPr>
            <a:spLocks xmlns:a="http://schemas.openxmlformats.org/drawingml/2006/main"/>
          </p:cNvSpPr>
          <p:nvPr/>
        </p:nvSpPr>
        <p:spPr>
          <a:xfrm xmlns:a="http://schemas.openxmlformats.org/drawingml/2006/main">
            <a:off x="0" y="1270000"/>
            <a:ext cx="3454400" cy="7112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555" name="23-text-3">
            <a:extLst xmlns:a="http://schemas.openxmlformats.org/drawingml/2006/main">
              <a:ext uri="{FF2B5EF4-FFF2-40B4-BE49-F238E27FC236}">
                <a16:creationId xmlns:a16="http://schemas.microsoft.com/office/drawing/2014/main" id="{D550D917-797F-42C2-BD75-FEFE8EA3B7F8}"/>
              </a:ext>
            </a:extLst>
          </p:cNvPr>
          <p:cNvSpPr>
            <a:spLocks xmlns:a="http://schemas.openxmlformats.org/drawingml/2006/main"/>
          </p:cNvSpPr>
          <p:nvPr/>
        </p:nvSpPr>
        <p:spPr>
          <a:xfrm xmlns:a="http://schemas.openxmlformats.org/drawingml/2006/main">
            <a:off x="609600" y="14224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Models</a:t>
            </a:r>
          </a:p>
        </p:txBody>
      </p:sp>
      <p:sp>
        <p:nvSpPr>
          <p:cNvPr id="556" name="23-text-4">
            <a:extLst xmlns:a="http://schemas.openxmlformats.org/drawingml/2006/main">
              <a:ext uri="{FF2B5EF4-FFF2-40B4-BE49-F238E27FC236}">
                <a16:creationId xmlns:a16="http://schemas.microsoft.com/office/drawing/2014/main" id="{10733AD5-E618-43A0-82FC-484D9ADC9545}"/>
              </a:ext>
            </a:extLst>
          </p:cNvPr>
          <p:cNvSpPr>
            <a:spLocks xmlns:a="http://schemas.openxmlformats.org/drawingml/2006/main"/>
          </p:cNvSpPr>
          <p:nvPr/>
        </p:nvSpPr>
        <p:spPr>
          <a:xfrm xmlns:a="http://schemas.openxmlformats.org/drawingml/2006/main">
            <a:off x="3759200" y="13081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Choosing and changing models without testing them on your task.</a:t>
            </a:r>
          </a:p>
        </p:txBody>
      </p:sp>
      <p:sp>
        <p:nvSpPr>
          <p:cNvPr id="557" name="23-shape-5">
            <a:extLst xmlns:a="http://schemas.openxmlformats.org/drawingml/2006/main">
              <a:ext uri="{FF2B5EF4-FFF2-40B4-BE49-F238E27FC236}">
                <a16:creationId xmlns:a16="http://schemas.microsoft.com/office/drawing/2014/main" id="{DD419E1E-AD74-4580-93AF-943BB81CE17E}"/>
              </a:ext>
            </a:extLst>
          </p:cNvPr>
          <p:cNvSpPr>
            <a:spLocks xmlns:a="http://schemas.openxmlformats.org/drawingml/2006/main"/>
          </p:cNvSpPr>
          <p:nvPr/>
        </p:nvSpPr>
        <p:spPr>
          <a:xfrm xmlns:a="http://schemas.openxmlformats.org/drawingml/2006/main">
            <a:off x="0" y="20701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58" name="23-shape-6">
            <a:extLst xmlns:a="http://schemas.openxmlformats.org/drawingml/2006/main">
              <a:ext uri="{FF2B5EF4-FFF2-40B4-BE49-F238E27FC236}">
                <a16:creationId xmlns:a16="http://schemas.microsoft.com/office/drawing/2014/main" id="{317D8942-6FA0-40E9-9E65-482CF9E4AF43}"/>
              </a:ext>
            </a:extLst>
          </p:cNvPr>
          <p:cNvSpPr>
            <a:spLocks xmlns:a="http://schemas.openxmlformats.org/drawingml/2006/main"/>
          </p:cNvSpPr>
          <p:nvPr/>
        </p:nvSpPr>
        <p:spPr>
          <a:xfrm xmlns:a="http://schemas.openxmlformats.org/drawingml/2006/main">
            <a:off x="0" y="20701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59" name="23-text-7">
            <a:extLst xmlns:a="http://schemas.openxmlformats.org/drawingml/2006/main">
              <a:ext uri="{FF2B5EF4-FFF2-40B4-BE49-F238E27FC236}">
                <a16:creationId xmlns:a16="http://schemas.microsoft.com/office/drawing/2014/main" id="{BF80BB19-2683-4A73-9DF6-21D3A7D88E61}"/>
              </a:ext>
            </a:extLst>
          </p:cNvPr>
          <p:cNvSpPr>
            <a:spLocks xmlns:a="http://schemas.openxmlformats.org/drawingml/2006/main"/>
          </p:cNvSpPr>
          <p:nvPr/>
        </p:nvSpPr>
        <p:spPr>
          <a:xfrm xmlns:a="http://schemas.openxmlformats.org/drawingml/2006/main">
            <a:off x="609600" y="22225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p:txBody>
      </p:sp>
      <p:sp>
        <p:nvSpPr>
          <p:cNvPr id="560" name="23-text-8">
            <a:extLst xmlns:a="http://schemas.openxmlformats.org/drawingml/2006/main">
              <a:ext uri="{FF2B5EF4-FFF2-40B4-BE49-F238E27FC236}">
                <a16:creationId xmlns:a16="http://schemas.microsoft.com/office/drawing/2014/main" id="{881224F1-0D6E-40E6-BB94-B8587A86CE27}"/>
              </a:ext>
            </a:extLst>
          </p:cNvPr>
          <p:cNvSpPr>
            <a:spLocks xmlns:a="http://schemas.openxmlformats.org/drawingml/2006/main"/>
          </p:cNvSpPr>
          <p:nvPr/>
        </p:nvSpPr>
        <p:spPr>
          <a:xfrm xmlns:a="http://schemas.openxmlformats.org/drawingml/2006/main">
            <a:off x="3759200" y="21082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instead of curating.</a:t>
            </a:r>
          </a:p>
        </p:txBody>
      </p:sp>
      <p:sp>
        <p:nvSpPr>
          <p:cNvPr id="561" name="23-shape-9">
            <a:extLst xmlns:a="http://schemas.openxmlformats.org/drawingml/2006/main">
              <a:ext uri="{FF2B5EF4-FFF2-40B4-BE49-F238E27FC236}">
                <a16:creationId xmlns:a16="http://schemas.microsoft.com/office/drawing/2014/main" id="{89A744CD-608A-494A-80F3-EE433D0E3420}"/>
              </a:ext>
            </a:extLst>
          </p:cNvPr>
          <p:cNvSpPr>
            <a:spLocks xmlns:a="http://schemas.openxmlformats.org/drawingml/2006/main"/>
          </p:cNvSpPr>
          <p:nvPr/>
        </p:nvSpPr>
        <p:spPr>
          <a:xfrm xmlns:a="http://schemas.openxmlformats.org/drawingml/2006/main">
            <a:off x="0" y="28702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62" name="23-shape-10">
            <a:extLst xmlns:a="http://schemas.openxmlformats.org/drawingml/2006/main">
              <a:ext uri="{FF2B5EF4-FFF2-40B4-BE49-F238E27FC236}">
                <a16:creationId xmlns:a16="http://schemas.microsoft.com/office/drawing/2014/main" id="{0604710D-CB70-47C0-9F8C-C5D2DA3FDC3B}"/>
              </a:ext>
            </a:extLst>
          </p:cNvPr>
          <p:cNvSpPr>
            <a:spLocks xmlns:a="http://schemas.openxmlformats.org/drawingml/2006/main"/>
          </p:cNvSpPr>
          <p:nvPr/>
        </p:nvSpPr>
        <p:spPr>
          <a:xfrm xmlns:a="http://schemas.openxmlformats.org/drawingml/2006/main">
            <a:off x="0" y="28702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63" name="23-text-11">
            <a:extLst xmlns:a="http://schemas.openxmlformats.org/drawingml/2006/main">
              <a:ext uri="{FF2B5EF4-FFF2-40B4-BE49-F238E27FC236}">
                <a16:creationId xmlns:a16="http://schemas.microsoft.com/office/drawing/2014/main" id="{03402FE3-D116-43CA-8FEB-819261D1714A}"/>
              </a:ext>
            </a:extLst>
          </p:cNvPr>
          <p:cNvSpPr>
            <a:spLocks xmlns:a="http://schemas.openxmlformats.org/drawingml/2006/main"/>
          </p:cNvSpPr>
          <p:nvPr/>
        </p:nvSpPr>
        <p:spPr>
          <a:xfrm xmlns:a="http://schemas.openxmlformats.org/drawingml/2006/main">
            <a:off x="609600" y="30226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a:t>
            </a:r>
          </a:p>
        </p:txBody>
      </p:sp>
      <p:sp>
        <p:nvSpPr>
          <p:cNvPr id="564" name="23-text-12">
            <a:extLst xmlns:a="http://schemas.openxmlformats.org/drawingml/2006/main">
              <a:ext uri="{FF2B5EF4-FFF2-40B4-BE49-F238E27FC236}">
                <a16:creationId xmlns:a16="http://schemas.microsoft.com/office/drawing/2014/main" id="{8824D59A-125F-4867-87F5-C77A089FF180}"/>
              </a:ext>
            </a:extLst>
          </p:cNvPr>
          <p:cNvSpPr>
            <a:spLocks xmlns:a="http://schemas.openxmlformats.org/drawingml/2006/main"/>
          </p:cNvSpPr>
          <p:nvPr/>
        </p:nvSpPr>
        <p:spPr>
          <a:xfrm xmlns:a="http://schemas.openxmlformats.org/drawingml/2006/main">
            <a:off x="3759200" y="29083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the API surface without evaluating task fit.</a:t>
            </a:r>
          </a:p>
        </p:txBody>
      </p:sp>
      <p:sp>
        <p:nvSpPr>
          <p:cNvPr id="565" name="23-shape-13">
            <a:extLst xmlns:a="http://schemas.openxmlformats.org/drawingml/2006/main">
              <a:ext uri="{FF2B5EF4-FFF2-40B4-BE49-F238E27FC236}">
                <a16:creationId xmlns:a16="http://schemas.microsoft.com/office/drawing/2014/main" id="{DB806905-D53B-47CA-B8BB-9FF40BF1366C}"/>
              </a:ext>
            </a:extLst>
          </p:cNvPr>
          <p:cNvSpPr>
            <a:spLocks xmlns:a="http://schemas.openxmlformats.org/drawingml/2006/main"/>
          </p:cNvSpPr>
          <p:nvPr/>
        </p:nvSpPr>
        <p:spPr>
          <a:xfrm xmlns:a="http://schemas.openxmlformats.org/drawingml/2006/main">
            <a:off x="0" y="36703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66" name="23-shape-14">
            <a:extLst xmlns:a="http://schemas.openxmlformats.org/drawingml/2006/main">
              <a:ext uri="{FF2B5EF4-FFF2-40B4-BE49-F238E27FC236}">
                <a16:creationId xmlns:a16="http://schemas.microsoft.com/office/drawing/2014/main" id="{2B898F7D-0699-446E-8751-20543D76A690}"/>
              </a:ext>
            </a:extLst>
          </p:cNvPr>
          <p:cNvSpPr>
            <a:spLocks xmlns:a="http://schemas.openxmlformats.org/drawingml/2006/main"/>
          </p:cNvSpPr>
          <p:nvPr/>
        </p:nvSpPr>
        <p:spPr>
          <a:xfrm xmlns:a="http://schemas.openxmlformats.org/drawingml/2006/main">
            <a:off x="0" y="36703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67" name="23-text-15">
            <a:extLst xmlns:a="http://schemas.openxmlformats.org/drawingml/2006/main">
              <a:ext uri="{FF2B5EF4-FFF2-40B4-BE49-F238E27FC236}">
                <a16:creationId xmlns:a16="http://schemas.microsoft.com/office/drawing/2014/main" id="{2976C9F8-84A4-4C07-A2D1-06AA07D2E92A}"/>
              </a:ext>
            </a:extLst>
          </p:cNvPr>
          <p:cNvSpPr>
            <a:spLocks xmlns:a="http://schemas.openxmlformats.org/drawingml/2006/main"/>
          </p:cNvSpPr>
          <p:nvPr/>
        </p:nvSpPr>
        <p:spPr>
          <a:xfrm xmlns:a="http://schemas.openxmlformats.org/drawingml/2006/main">
            <a:off x="609600" y="38227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568" name="23-text-16">
            <a:extLst xmlns:a="http://schemas.openxmlformats.org/drawingml/2006/main">
              <a:ext uri="{FF2B5EF4-FFF2-40B4-BE49-F238E27FC236}">
                <a16:creationId xmlns:a16="http://schemas.microsoft.com/office/drawing/2014/main" id="{85498877-98AA-4FFE-90F7-00BEBFCA8179}"/>
              </a:ext>
            </a:extLst>
          </p:cNvPr>
          <p:cNvSpPr>
            <a:spLocks xmlns:a="http://schemas.openxmlformats.org/drawingml/2006/main"/>
          </p:cNvSpPr>
          <p:nvPr/>
        </p:nvSpPr>
        <p:spPr>
          <a:xfrm xmlns:a="http://schemas.openxmlformats.org/drawingml/2006/main">
            <a:off x="3759200" y="37084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multi-agent before a workflow was tried.</a:t>
            </a:r>
          </a:p>
        </p:txBody>
      </p:sp>
      <p:sp>
        <p:nvSpPr>
          <p:cNvPr id="569" name="23-shape-17">
            <a:extLst xmlns:a="http://schemas.openxmlformats.org/drawingml/2006/main">
              <a:ext uri="{FF2B5EF4-FFF2-40B4-BE49-F238E27FC236}">
                <a16:creationId xmlns:a16="http://schemas.microsoft.com/office/drawing/2014/main" id="{E85CC6C4-B9F3-48E6-9B36-45B6E875E1B9}"/>
              </a:ext>
            </a:extLst>
          </p:cNvPr>
          <p:cNvSpPr>
            <a:spLocks xmlns:a="http://schemas.openxmlformats.org/drawingml/2006/main"/>
          </p:cNvSpPr>
          <p:nvPr/>
        </p:nvSpPr>
        <p:spPr>
          <a:xfrm xmlns:a="http://schemas.openxmlformats.org/drawingml/2006/main">
            <a:off x="0" y="4470400"/>
            <a:ext cx="12192000" cy="965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70" name="23-shape-18">
            <a:extLst xmlns:a="http://schemas.openxmlformats.org/drawingml/2006/main">
              <a:ext uri="{FF2B5EF4-FFF2-40B4-BE49-F238E27FC236}">
                <a16:creationId xmlns:a16="http://schemas.microsoft.com/office/drawing/2014/main" id="{DE428C61-7FBE-4169-82D0-3A7003273123}"/>
              </a:ext>
            </a:extLst>
          </p:cNvPr>
          <p:cNvSpPr>
            <a:spLocks xmlns:a="http://schemas.openxmlformats.org/drawingml/2006/main"/>
          </p:cNvSpPr>
          <p:nvPr/>
        </p:nvSpPr>
        <p:spPr>
          <a:xfrm xmlns:a="http://schemas.openxmlformats.org/drawingml/2006/main">
            <a:off x="0" y="4470400"/>
            <a:ext cx="3454400" cy="9652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571" name="23-text-19">
            <a:extLst xmlns:a="http://schemas.openxmlformats.org/drawingml/2006/main">
              <a:ext uri="{FF2B5EF4-FFF2-40B4-BE49-F238E27FC236}">
                <a16:creationId xmlns:a16="http://schemas.microsoft.com/office/drawing/2014/main" id="{B040DC96-F5BD-4283-965B-6C8E54B4B16A}"/>
              </a:ext>
            </a:extLst>
          </p:cNvPr>
          <p:cNvSpPr>
            <a:spLocks xmlns:a="http://schemas.openxmlformats.org/drawingml/2006/main"/>
          </p:cNvSpPr>
          <p:nvPr/>
        </p:nvSpPr>
        <p:spPr>
          <a:xfrm xmlns:a="http://schemas.openxmlformats.org/drawingml/2006/main">
            <a:off x="609600" y="47498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Evals</a:t>
            </a:r>
          </a:p>
        </p:txBody>
      </p:sp>
      <p:sp>
        <p:nvSpPr>
          <p:cNvPr id="572" name="23-text-20">
            <a:extLst xmlns:a="http://schemas.openxmlformats.org/drawingml/2006/main">
              <a:ext uri="{FF2B5EF4-FFF2-40B4-BE49-F238E27FC236}">
                <a16:creationId xmlns:a16="http://schemas.microsoft.com/office/drawing/2014/main" id="{04A179A1-F0E9-46F5-9E3C-6B1D1C2975EB}"/>
              </a:ext>
            </a:extLst>
          </p:cNvPr>
          <p:cNvSpPr>
            <a:spLocks xmlns:a="http://schemas.openxmlformats.org/drawingml/2006/main"/>
          </p:cNvSpPr>
          <p:nvPr/>
        </p:nvSpPr>
        <p:spPr>
          <a:xfrm xmlns:a="http://schemas.openxmlformats.org/drawingml/2006/main">
            <a:off x="3759200" y="4508500"/>
            <a:ext cx="78232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generic judge instead of error analysis. Trusting the success claim without checking the result.</a:t>
            </a:r>
          </a:p>
        </p:txBody>
      </p:sp>
      <p:sp>
        <p:nvSpPr>
          <p:cNvPr id="573" name="23-shape-21">
            <a:extLst xmlns:a="http://schemas.openxmlformats.org/drawingml/2006/main">
              <a:ext uri="{FF2B5EF4-FFF2-40B4-BE49-F238E27FC236}">
                <a16:creationId xmlns:a16="http://schemas.microsoft.com/office/drawing/2014/main" id="{F640DFCF-070A-4C26-A1E3-B4CB23123AFF}"/>
              </a:ext>
            </a:extLst>
          </p:cNvPr>
          <p:cNvSpPr>
            <a:spLocks xmlns:a="http://schemas.openxmlformats.org/drawingml/2006/main"/>
          </p:cNvSpPr>
          <p:nvPr/>
        </p:nvSpPr>
        <p:spPr>
          <a:xfrm xmlns:a="http://schemas.openxmlformats.org/drawingml/2006/main">
            <a:off x="0" y="55245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74" name="23-shape-22">
            <a:extLst xmlns:a="http://schemas.openxmlformats.org/drawingml/2006/main">
              <a:ext uri="{FF2B5EF4-FFF2-40B4-BE49-F238E27FC236}">
                <a16:creationId xmlns:a16="http://schemas.microsoft.com/office/drawing/2014/main" id="{8C11B995-CF7C-4CB8-87C0-132F7635CE4B}"/>
              </a:ext>
            </a:extLst>
          </p:cNvPr>
          <p:cNvSpPr>
            <a:spLocks xmlns:a="http://schemas.openxmlformats.org/drawingml/2006/main"/>
          </p:cNvSpPr>
          <p:nvPr/>
        </p:nvSpPr>
        <p:spPr>
          <a:xfrm xmlns:a="http://schemas.openxmlformats.org/drawingml/2006/main">
            <a:off x="0" y="5524500"/>
            <a:ext cx="3454400" cy="7112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575" name="23-text-23">
            <a:extLst xmlns:a="http://schemas.openxmlformats.org/drawingml/2006/main">
              <a:ext uri="{FF2B5EF4-FFF2-40B4-BE49-F238E27FC236}">
                <a16:creationId xmlns:a16="http://schemas.microsoft.com/office/drawing/2014/main" id="{97AD498F-2E6A-4D74-932C-CF36837307DA}"/>
              </a:ext>
            </a:extLst>
          </p:cNvPr>
          <p:cNvSpPr>
            <a:spLocks xmlns:a="http://schemas.openxmlformats.org/drawingml/2006/main"/>
          </p:cNvSpPr>
          <p:nvPr/>
        </p:nvSpPr>
        <p:spPr>
          <a:xfrm xmlns:a="http://schemas.openxmlformats.org/drawingml/2006/main">
            <a:off x="609600" y="56769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Operating</a:t>
            </a:r>
          </a:p>
        </p:txBody>
      </p:sp>
      <p:sp>
        <p:nvSpPr>
          <p:cNvPr id="576" name="23-text-24">
            <a:extLst xmlns:a="http://schemas.openxmlformats.org/drawingml/2006/main">
              <a:ext uri="{FF2B5EF4-FFF2-40B4-BE49-F238E27FC236}">
                <a16:creationId xmlns:a16="http://schemas.microsoft.com/office/drawing/2014/main" id="{5C88A802-95EC-43DC-9B93-C1C5A9BD8B25}"/>
              </a:ext>
            </a:extLst>
          </p:cNvPr>
          <p:cNvSpPr>
            <a:spLocks xmlns:a="http://schemas.openxmlformats.org/drawingml/2006/main"/>
          </p:cNvSpPr>
          <p:nvPr/>
        </p:nvSpPr>
        <p:spPr>
          <a:xfrm xmlns:a="http://schemas.openxmlformats.org/drawingml/2006/main">
            <a:off x="3759200" y="55626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lethal trifecta, assembled one integration at a time.</a:t>
            </a:r>
          </a:p>
        </p:txBody>
      </p:sp>
      <p:sp>
        <p:nvSpPr>
          <p:cNvPr id="577" name="narrative-number">
            <a:extLst xmlns:a="http://schemas.openxmlformats.org/drawingml/2006/main">
              <a:ext uri="{FF2B5EF4-FFF2-40B4-BE49-F238E27FC236}">
                <a16:creationId xmlns:a16="http://schemas.microsoft.com/office/drawing/2014/main" id="{9EDF78DD-D731-493B-B125-22322AF2B8C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2280771124"/>
      </p:ext>
    </p:extLst>
  </p:cSld>
</p:sld>
</file>

<file path=ppt/slides/slide5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78" name="!!area-name">
            <a:extLst xmlns:a="http://schemas.openxmlformats.org/drawingml/2006/main">
              <a:ext uri="{FF2B5EF4-FFF2-40B4-BE49-F238E27FC236}">
                <a16:creationId xmlns:a16="http://schemas.microsoft.com/office/drawing/2014/main" id="{72C60F41-B1D8-4C4F-8AE3-443B94EC000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96" name="mini-map"/>
          <p:cNvPicPr>
            <a:picLocks xmlns:a="http://schemas.openxmlformats.org/drawingml/2006/main" noChangeAspect="1"/>
          </p:cNvPicPr>
          <p:nvPr/>
        </p:nvPicPr>
        <p:blipFill>
          <a:blip xmlns:r="http://schemas.openxmlformats.org/officeDocument/2006/relationships" xmlns:a="http://schemas.openxmlformats.org/drawingml/2006/main" r:embed="R31bfbd1268194e9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80" name="slide-title">
            <a:extLst xmlns:a="http://schemas.openxmlformats.org/drawingml/2006/main">
              <a:ext uri="{FF2B5EF4-FFF2-40B4-BE49-F238E27FC236}">
                <a16:creationId xmlns:a16="http://schemas.microsoft.com/office/drawing/2014/main" id="{816E588D-8EDE-4614-AB4C-4BE830053E1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581" name="header-divider">
            <a:extLst xmlns:a="http://schemas.openxmlformats.org/drawingml/2006/main">
              <a:ext uri="{FF2B5EF4-FFF2-40B4-BE49-F238E27FC236}">
                <a16:creationId xmlns:a16="http://schemas.microsoft.com/office/drawing/2014/main" id="{7074238F-9DF4-4F93-BA0D-1394F3A2FCF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82" name="24-shape-1">
            <a:extLst xmlns:a="http://schemas.openxmlformats.org/drawingml/2006/main">
              <a:ext uri="{FF2B5EF4-FFF2-40B4-BE49-F238E27FC236}">
                <a16:creationId xmlns:a16="http://schemas.microsoft.com/office/drawing/2014/main" id="{F0286CF7-6BEF-4598-BE84-657BDAC0AA49}"/>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83" name="24-text-2">
            <a:extLst xmlns:a="http://schemas.openxmlformats.org/drawingml/2006/main">
              <a:ext uri="{FF2B5EF4-FFF2-40B4-BE49-F238E27FC236}">
                <a16:creationId xmlns:a16="http://schemas.microsoft.com/office/drawing/2014/main" id="{F8A4CD47-16A8-4D5F-B15C-3F05F75F42FB}"/>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584" name="24-text-3">
            <a:extLst xmlns:a="http://schemas.openxmlformats.org/drawingml/2006/main">
              <a:ext uri="{FF2B5EF4-FFF2-40B4-BE49-F238E27FC236}">
                <a16:creationId xmlns:a16="http://schemas.microsoft.com/office/drawing/2014/main" id="{5435D847-D00D-4D43-A229-9C9BB81D45E7}"/>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Look before you build.</a:t>
            </a:r>
          </a:p>
        </p:txBody>
      </p:sp>
      <p:sp>
        <p:nvSpPr>
          <p:cNvPr id="585" name="24-shape-4">
            <a:extLst xmlns:a="http://schemas.openxmlformats.org/drawingml/2006/main">
              <a:ext uri="{FF2B5EF4-FFF2-40B4-BE49-F238E27FC236}">
                <a16:creationId xmlns:a16="http://schemas.microsoft.com/office/drawing/2014/main" id="{C52E3029-69CB-4AED-B907-CDAB3ADC65F0}"/>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86" name="24-text-5">
            <a:extLst xmlns:a="http://schemas.openxmlformats.org/drawingml/2006/main">
              <a:ext uri="{FF2B5EF4-FFF2-40B4-BE49-F238E27FC236}">
                <a16:creationId xmlns:a16="http://schemas.microsoft.com/office/drawing/2014/main" id="{BD4893E5-0F8B-4257-9CA5-6707DA9E37F8}"/>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87" name="24-text-6">
            <a:extLst xmlns:a="http://schemas.openxmlformats.org/drawingml/2006/main">
              <a:ext uri="{FF2B5EF4-FFF2-40B4-BE49-F238E27FC236}">
                <a16:creationId xmlns:a16="http://schemas.microsoft.com/office/drawing/2014/main" id="{A0A36418-8945-4554-A3CC-23820DE3C264}"/>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constrained.</a:t>
            </a:r>
          </a:p>
        </p:txBody>
      </p:sp>
      <p:sp>
        <p:nvSpPr>
          <p:cNvPr id="588" name="24-shape-7">
            <a:extLst xmlns:a="http://schemas.openxmlformats.org/drawingml/2006/main">
              <a:ext uri="{FF2B5EF4-FFF2-40B4-BE49-F238E27FC236}">
                <a16:creationId xmlns:a16="http://schemas.microsoft.com/office/drawing/2014/main" id="{423046AC-74A7-4E15-9767-B823E1F07590}"/>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89" name="24-text-8">
            <a:extLst xmlns:a="http://schemas.openxmlformats.org/drawingml/2006/main">
              <a:ext uri="{FF2B5EF4-FFF2-40B4-BE49-F238E27FC236}">
                <a16:creationId xmlns:a16="http://schemas.microsoft.com/office/drawing/2014/main" id="{85548371-3D6B-4F4C-8835-A111E4488406}"/>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90" name="24-text-9">
            <a:extLst xmlns:a="http://schemas.openxmlformats.org/drawingml/2006/main">
              <a:ext uri="{FF2B5EF4-FFF2-40B4-BE49-F238E27FC236}">
                <a16:creationId xmlns:a16="http://schemas.microsoft.com/office/drawing/2014/main" id="{DF0C7922-7359-4C47-8810-8CF10F60AE3E}"/>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Own the harness.</a:t>
            </a:r>
          </a:p>
        </p:txBody>
      </p:sp>
      <p:sp>
        <p:nvSpPr>
          <p:cNvPr id="591" name="24-shape-10">
            <a:extLst xmlns:a="http://schemas.openxmlformats.org/drawingml/2006/main">
              <a:ext uri="{FF2B5EF4-FFF2-40B4-BE49-F238E27FC236}">
                <a16:creationId xmlns:a16="http://schemas.microsoft.com/office/drawing/2014/main" id="{27EE0F61-3D56-4519-9FA7-4E9A49C066EA}"/>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92" name="24-text-11">
            <a:extLst xmlns:a="http://schemas.openxmlformats.org/drawingml/2006/main">
              <a:ext uri="{FF2B5EF4-FFF2-40B4-BE49-F238E27FC236}">
                <a16:creationId xmlns:a16="http://schemas.microsoft.com/office/drawing/2014/main" id="{2F1E6BAE-1B03-4734-87DF-C9BADABE4268}"/>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593" name="24-text-12">
            <a:extLst xmlns:a="http://schemas.openxmlformats.org/drawingml/2006/main">
              <a:ext uri="{FF2B5EF4-FFF2-40B4-BE49-F238E27FC236}">
                <a16:creationId xmlns:a16="http://schemas.microsoft.com/office/drawing/2014/main" id="{2C787537-5580-4BCC-ADAA-2422D344C257}"/>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as your evals earn it.</a:t>
            </a:r>
          </a:p>
        </p:txBody>
      </p:sp>
      <p:sp>
        <p:nvSpPr>
          <p:cNvPr id="594" name="narrative-number">
            <a:extLst xmlns:a="http://schemas.openxmlformats.org/drawingml/2006/main">
              <a:ext uri="{FF2B5EF4-FFF2-40B4-BE49-F238E27FC236}">
                <a16:creationId xmlns:a16="http://schemas.microsoft.com/office/drawing/2014/main" id="{1A6E38DE-29F3-425F-BC8A-72CF8C886D5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2956668917"/>
      </p:ext>
    </p:extLst>
  </p:cSld>
</p:sld>
</file>

<file path=ppt/slides/slide6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95" name="!!area-name">
            <a:extLst xmlns:a="http://schemas.openxmlformats.org/drawingml/2006/main">
              <a:ext uri="{FF2B5EF4-FFF2-40B4-BE49-F238E27FC236}">
                <a16:creationId xmlns:a16="http://schemas.microsoft.com/office/drawing/2014/main" id="{B77A4E10-C233-4E92-8297-C5986C43092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605" name="mini-map"/>
          <p:cNvPicPr>
            <a:picLocks xmlns:a="http://schemas.openxmlformats.org/drawingml/2006/main" noChangeAspect="1"/>
          </p:cNvPicPr>
          <p:nvPr/>
        </p:nvPicPr>
        <p:blipFill>
          <a:blip xmlns:r="http://schemas.openxmlformats.org/officeDocument/2006/relationships" xmlns:a="http://schemas.openxmlformats.org/drawingml/2006/main" r:embed="R4860318452494a1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97" name="slide-title">
            <a:extLst xmlns:a="http://schemas.openxmlformats.org/drawingml/2006/main">
              <a:ext uri="{FF2B5EF4-FFF2-40B4-BE49-F238E27FC236}">
                <a16:creationId xmlns:a16="http://schemas.microsoft.com/office/drawing/2014/main" id="{2A3E8719-39E5-4DEC-9360-AF5EE4F8E43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598" name="header-divider">
            <a:extLst xmlns:a="http://schemas.openxmlformats.org/drawingml/2006/main">
              <a:ext uri="{FF2B5EF4-FFF2-40B4-BE49-F238E27FC236}">
                <a16:creationId xmlns:a16="http://schemas.microsoft.com/office/drawing/2014/main" id="{D3E7B5BF-0573-4AF6-8DAD-7828601D6B7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99" name="24-text-13">
            <a:extLst xmlns:a="http://schemas.openxmlformats.org/drawingml/2006/main">
              <a:ext uri="{FF2B5EF4-FFF2-40B4-BE49-F238E27FC236}">
                <a16:creationId xmlns:a16="http://schemas.microsoft.com/office/drawing/2014/main" id="{EE7C286F-E124-436A-A2B3-9F5C47EA7DD9}"/>
              </a:ext>
            </a:extLst>
          </p:cNvPr>
          <p:cNvSpPr>
            <a:spLocks xmlns:a="http://schemas.openxmlformats.org/drawingml/2006/main"/>
          </p:cNvSpPr>
          <p:nvPr/>
        </p:nvSpPr>
        <p:spPr>
          <a:xfrm xmlns:a="http://schemas.openxmlformats.org/drawingml/2006/main">
            <a:off x="609600" y="2438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Review 20 to 50 outputs.</a:t>
            </a:r>
          </a:p>
        </p:txBody>
      </p:sp>
      <p:sp>
        <p:nvSpPr>
          <p:cNvPr id="600" name="24-text-14">
            <a:extLst xmlns:a="http://schemas.openxmlformats.org/drawingml/2006/main">
              <a:ext uri="{FF2B5EF4-FFF2-40B4-BE49-F238E27FC236}">
                <a16:creationId xmlns:a16="http://schemas.microsoft.com/office/drawing/2014/main" id="{2BD1A588-1C3F-4426-A45F-360B90C904AF}"/>
              </a:ext>
            </a:extLst>
          </p:cNvPr>
          <p:cNvSpPr>
            <a:spLocks xmlns:a="http://schemas.openxmlformats.org/drawingml/2006/main"/>
          </p:cNvSpPr>
          <p:nvPr/>
        </p:nvSpPr>
        <p:spPr>
          <a:xfrm xmlns:a="http://schemas.openxmlformats.org/drawingml/2006/main">
            <a:off x="609600" y="3251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Record the input, observed behavior,</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expected behavior, and check.</a:t>
            </a:r>
          </a:p>
        </p:txBody>
      </p:sp>
      <p:sp>
        <p:nvSpPr>
          <p:cNvPr id="601" name="24-text-15">
            <a:extLst xmlns:a="http://schemas.openxmlformats.org/drawingml/2006/main">
              <a:ext uri="{FF2B5EF4-FFF2-40B4-BE49-F238E27FC236}">
                <a16:creationId xmlns:a16="http://schemas.microsoft.com/office/drawing/2014/main" id="{9E55C9AC-DF0E-47C2-91C6-43DF7E2720C4}"/>
              </a:ext>
            </a:extLst>
          </p:cNvPr>
          <p:cNvSpPr>
            <a:spLocks xmlns:a="http://schemas.openxmlformats.org/drawingml/2006/main"/>
          </p:cNvSpPr>
          <p:nvPr/>
        </p:nvSpPr>
        <p:spPr>
          <a:xfrm xmlns:a="http://schemas.openxmlformats.org/drawingml/2006/main">
            <a:off x="609600" y="4343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callback. Use your own system’s outputs.</a:t>
            </a:r>
          </a:p>
        </p:txBody>
      </p:sp>
      <p:graphicFrame>
        <p:nvGraphicFramePr>
          <p:cNvPr id="611" name="24-table-16"/>
          <p:cNvGraphicFramePr/>
          <p:nvPr/>
        </p:nvGraphicFramePr>
        <p:xfrm>
          <a:off xmlns:a="http://schemas.openxmlformats.org/drawingml/2006/main" x="609600" y="4749800"/>
          <a:ext xmlns:a="http://schemas.openxmlformats.org/drawingml/2006/main" cx="10972800" cy="1371600"/>
        </p:xfrm>
        <a:graphic xmlns:a="http://schemas.openxmlformats.org/drawingml/2006/main">
          <a:graphicData uri="http://schemas.openxmlformats.org/drawingml/2006/table">
            <a:tbl>
              <a:tblPr firstRow="0" firstCol="0" lastCol="0" bandRow="0" bandCol="0"/>
              <a:tblGrid>
                <a:gridCol w="2743200"/>
                <a:gridCol w="2743200"/>
                <a:gridCol w="2743200"/>
                <a:gridCol w="2743200"/>
              </a:tblGrid>
              <a:tr h="406400">
                <a:tc>
                  <a:txBody>
                    <a:bodyPr>
                      <a:noAutofit/>
                    </a:bodyPr>
                    <a:lstStyle/>
                    <a:p>
                      <a:pPr>
                        <a:lnSpc>
                          <a:spcPct val="125000"/>
                        </a:lnSpc>
                        <a:buNone/>
                      </a:pPr>
                      <a:r>
                        <a:rPr sz="2000" b="1">
                          <a:solidFill>
                            <a:srgbClr val="01B66D"/>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Observed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FRB-042</a:t>
                      </a:r>
                    </a:p>
                    <a:p>
                      <a:pPr>
                        <a:lnSpc>
                          <a:spcPct val="125000"/>
                        </a:lnSpc>
                        <a:buNone/>
                      </a:pPr>
                      <a:r>
                        <a:rPr sz="2000" b="0">
                          <a:solidFill>
                            <a:srgbClr val="FFFCF5"/>
                          </a:solidFill>
                          <a:latin typeface="Helvetica"/>
                          <a:ea typeface="Helvetica"/>
                          <a:cs typeface="Helvetica"/>
                        </a:rPr>
                        <a:t>summary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Bearing wear</a:t>
                      </a:r>
                    </a:p>
                    <a:p>
                      <a:pPr>
                        <a:lnSpc>
                          <a:spcPct val="125000"/>
                        </a:lnSpc>
                        <a:buNone/>
                      </a:pPr>
                      <a:r>
                        <a:rPr sz="2000" b="0">
                          <a:solidFill>
                            <a:srgbClr val="FFFCF5"/>
                          </a:solidFill>
                          <a:latin typeface="Helvetica"/>
                          <a:ea typeface="Helvetica"/>
                          <a:cs typeface="Helvetica"/>
                        </a:rPr>
                        <a:t>confirmed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Cause remains</a:t>
                      </a:r>
                    </a:p>
                    <a:p>
                      <a:pPr>
                        <a:lnSpc>
                          <a:spcPct val="125000"/>
                        </a:lnSpc>
                        <a:buNone/>
                      </a:pPr>
                      <a:r>
                        <a:rPr sz="2000" b="0">
                          <a:solidFill>
                            <a:srgbClr val="FFFCF5"/>
                          </a:solidFill>
                          <a:latin typeface="Helvetica"/>
                          <a:ea typeface="Helvetica"/>
                          <a:cs typeface="Helvetica"/>
                        </a:rPr>
                        <a:t>unresolved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Does the source</a:t>
                      </a:r>
                    </a:p>
                    <a:p>
                      <a:pPr>
                        <a:lnSpc>
                          <a:spcPct val="125000"/>
                        </a:lnSpc>
                        <a:buNone/>
                      </a:pPr>
                      <a:r>
                        <a:rPr sz="2000" b="0">
                          <a:solidFill>
                            <a:srgbClr val="FFFCF5"/>
                          </a:solidFill>
                          <a:latin typeface="Helvetica"/>
                          <a:ea typeface="Helvetica"/>
                          <a:cs typeface="Helvetica"/>
                        </a:rPr>
                        <a:t>support the claim?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603" name="narrative-number">
            <a:extLst xmlns:a="http://schemas.openxmlformats.org/drawingml/2006/main">
              <a:ext uri="{FF2B5EF4-FFF2-40B4-BE49-F238E27FC236}">
                <a16:creationId xmlns:a16="http://schemas.microsoft.com/office/drawing/2014/main" id="{3638E1E3-D5E4-410B-AB38-B20DD934669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2465059055"/>
      </p:ext>
    </p:extLst>
  </p:cSld>
</p:sld>
</file>

<file path=ppt/slides/slide6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04" name="slide-title">
            <a:extLst xmlns:a="http://schemas.openxmlformats.org/drawingml/2006/main">
              <a:ext uri="{FF2B5EF4-FFF2-40B4-BE49-F238E27FC236}">
                <a16:creationId xmlns:a16="http://schemas.microsoft.com/office/drawing/2014/main" id="{59375370-5BF9-4130-A704-7D95B2DE0F32}"/>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605" name="header-divider">
            <a:extLst xmlns:a="http://schemas.openxmlformats.org/drawingml/2006/main">
              <a:ext uri="{FF2B5EF4-FFF2-40B4-BE49-F238E27FC236}">
                <a16:creationId xmlns:a16="http://schemas.microsoft.com/office/drawing/2014/main" id="{E2A4973B-6B6F-4060-B667-2339D6736DE2}"/>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06" name="25-text-1">
            <a:extLst xmlns:a="http://schemas.openxmlformats.org/drawingml/2006/main">
              <a:ext uri="{FF2B5EF4-FFF2-40B4-BE49-F238E27FC236}">
                <a16:creationId xmlns:a16="http://schemas.microsoft.com/office/drawing/2014/main" id="{A417C4F8-F9FE-43AE-A9DB-D0F45999798A}"/>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607" name="25-text-2">
            <a:extLst xmlns:a="http://schemas.openxmlformats.org/drawingml/2006/main">
              <a:ext uri="{FF2B5EF4-FFF2-40B4-BE49-F238E27FC236}">
                <a16:creationId xmlns:a16="http://schemas.microsoft.com/office/drawing/2014/main" id="{E8230C61-B653-4EA8-A340-290E353F6EA5}"/>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608" name="25-text-3">
            <a:extLst xmlns:a="http://schemas.openxmlformats.org/drawingml/2006/main">
              <a:ext uri="{FF2B5EF4-FFF2-40B4-BE49-F238E27FC236}">
                <a16:creationId xmlns:a16="http://schemas.microsoft.com/office/drawing/2014/main" id="{AF0EBDEC-27F5-477D-8C57-ADC3166A3374}"/>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609" name="25-text-4">
            <a:extLst xmlns:a="http://schemas.openxmlformats.org/drawingml/2006/main">
              <a:ext uri="{FF2B5EF4-FFF2-40B4-BE49-F238E27FC236}">
                <a16:creationId xmlns:a16="http://schemas.microsoft.com/office/drawing/2014/main" id="{29218D5E-040F-40E8-8FC9-DDC1BFAE7F38}"/>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610" name="25-text-5">
            <a:extLst xmlns:a="http://schemas.openxmlformats.org/drawingml/2006/main">
              <a:ext uri="{FF2B5EF4-FFF2-40B4-BE49-F238E27FC236}">
                <a16:creationId xmlns:a16="http://schemas.microsoft.com/office/drawing/2014/main" id="{0E3BED4C-6780-4D3A-A5F1-212E7883B6EF}"/>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611" name="25-text-6">
            <a:extLst xmlns:a="http://schemas.openxmlformats.org/drawingml/2006/main">
              <a:ext uri="{FF2B5EF4-FFF2-40B4-BE49-F238E27FC236}">
                <a16:creationId xmlns:a16="http://schemas.microsoft.com/office/drawing/2014/main" id="{AAA654C7-FABB-4562-BC61-4D010CEA018B}"/>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612" name="25-text-7">
            <a:extLst xmlns:a="http://schemas.openxmlformats.org/drawingml/2006/main">
              <a:ext uri="{FF2B5EF4-FFF2-40B4-BE49-F238E27FC236}">
                <a16:creationId xmlns:a16="http://schemas.microsoft.com/office/drawing/2014/main" id="{97838C81-9DF5-43D8-BB57-B104D5C97F69}"/>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613" name="25-text-8">
            <a:extLst xmlns:a="http://schemas.openxmlformats.org/drawingml/2006/main">
              <a:ext uri="{FF2B5EF4-FFF2-40B4-BE49-F238E27FC236}">
                <a16:creationId xmlns:a16="http://schemas.microsoft.com/office/drawing/2014/main" id="{A3010E61-4FC5-43C0-97B1-EABE02448EA3}"/>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614" name="25-text-9">
            <a:extLst xmlns:a="http://schemas.openxmlformats.org/drawingml/2006/main">
              <a:ext uri="{FF2B5EF4-FFF2-40B4-BE49-F238E27FC236}">
                <a16:creationId xmlns:a16="http://schemas.microsoft.com/office/drawing/2014/main" id="{6AD5693B-A20E-4EB7-8D67-6F82711E55CA}"/>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615" name="25-text-10">
            <a:extLst xmlns:a="http://schemas.openxmlformats.org/drawingml/2006/main">
              <a:ext uri="{FF2B5EF4-FFF2-40B4-BE49-F238E27FC236}">
                <a16:creationId xmlns:a16="http://schemas.microsoft.com/office/drawing/2014/main" id="{BF94E88F-2A56-4FCF-BAF9-9BCFA73B6521}"/>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616" name="25-text-11">
            <a:extLst xmlns:a="http://schemas.openxmlformats.org/drawingml/2006/main">
              <a:ext uri="{FF2B5EF4-FFF2-40B4-BE49-F238E27FC236}">
                <a16:creationId xmlns:a16="http://schemas.microsoft.com/office/drawing/2014/main" id="{10F7A90C-F4B7-4E81-BFED-8509899AF156}"/>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617" name="25-text-12">
            <a:extLst xmlns:a="http://schemas.openxmlformats.org/drawingml/2006/main">
              <a:ext uri="{FF2B5EF4-FFF2-40B4-BE49-F238E27FC236}">
                <a16:creationId xmlns:a16="http://schemas.microsoft.com/office/drawing/2014/main" id="{FC582F77-103D-4272-B16A-0CF0671A1FE7}"/>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618" name="narrative-number">
            <a:extLst xmlns:a="http://schemas.openxmlformats.org/drawingml/2006/main">
              <a:ext uri="{FF2B5EF4-FFF2-40B4-BE49-F238E27FC236}">
                <a16:creationId xmlns:a16="http://schemas.microsoft.com/office/drawing/2014/main" id="{9E4E87CB-5CC4-4C14-AA5A-EBFD1F05DDE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304272969"/>
      </p:ext>
    </p:extLst>
  </p:cSld>
</p:sld>
</file>

<file path=ppt/slides/slide6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19" name="26-text-1">
            <a:extLst xmlns:a="http://schemas.openxmlformats.org/drawingml/2006/main">
              <a:ext uri="{FF2B5EF4-FFF2-40B4-BE49-F238E27FC236}">
                <a16:creationId xmlns:a16="http://schemas.microsoft.com/office/drawing/2014/main" id="{9E196CC7-DC28-4103-8389-A0D44ED00075}"/>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620" name="26-text-2">
            <a:extLst xmlns:a="http://schemas.openxmlformats.org/drawingml/2006/main">
              <a:ext uri="{FF2B5EF4-FFF2-40B4-BE49-F238E27FC236}">
                <a16:creationId xmlns:a16="http://schemas.microsoft.com/office/drawing/2014/main" id="{2A73AB5B-E07C-4B95-8D76-F9B4F7FF3033}"/>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621" name="26-text-3">
            <a:extLst xmlns:a="http://schemas.openxmlformats.org/drawingml/2006/main">
              <a:ext uri="{FF2B5EF4-FFF2-40B4-BE49-F238E27FC236}">
                <a16:creationId xmlns:a16="http://schemas.microsoft.com/office/drawing/2014/main" id="{C7DD0752-AAB7-4F92-A69C-22C4E9112172}"/>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622" name="narrative-number">
            <a:extLst xmlns:a="http://schemas.openxmlformats.org/drawingml/2006/main">
              <a:ext uri="{FF2B5EF4-FFF2-40B4-BE49-F238E27FC236}">
                <a16:creationId xmlns:a16="http://schemas.microsoft.com/office/drawing/2014/main" id="{81B2DE38-0016-4E1D-90B0-EA2FC6986FD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2518161390"/>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2026-09-16T01:07:42.8520000Z</dcterms:created>
  <dcterms:modified xsi:type="dcterms:W3CDTF">2026-09-16T01:07:42.8520000Z</dcterms:modified>
</coreProperties>
</file>