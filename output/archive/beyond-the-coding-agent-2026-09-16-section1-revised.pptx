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21d5d67df534339" /><Relationship Type="http://schemas.openxmlformats.org/officeDocument/2006/relationships/extended-properties" Target="/docProps/app.xml" Id="Rfb0bd4ae38ac4094" /><Relationship Type="http://schemas.openxmlformats.org/officeDocument/2006/relationships/officeDocument" Target="/ppt/presentation.xml" Id="R26ae662fdb064519"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8464d306130b4272"/>
    <p:sldMasterId xmlns:r="http://schemas.openxmlformats.org/officeDocument/2006/relationships" id="2147483650" r:id="R04f4b66e3aca46a2"/>
  </p:sldMasterIdLst>
  <p:notesMasterIdLst>
    <p:notesMasterId xmlns:r="http://schemas.openxmlformats.org/officeDocument/2006/relationships" r:id="Rd01eb5b117ff4a17"/>
  </p:notesMasterIdLst>
  <p:sldIdLst>
    <p:sldId xmlns:r="http://schemas.openxmlformats.org/officeDocument/2006/relationships" id="256" r:id="R084e05c29ba140ac"/>
    <p:sldId xmlns:r="http://schemas.openxmlformats.org/officeDocument/2006/relationships" id="257" r:id="R7cf47a0278f24e50"/>
    <p:sldId xmlns:r="http://schemas.openxmlformats.org/officeDocument/2006/relationships" id="258" r:id="R62f45554495e4d12"/>
    <p:sldId xmlns:r="http://schemas.openxmlformats.org/officeDocument/2006/relationships" id="259" r:id="R984101713e984a13"/>
    <p:sldId xmlns:r="http://schemas.openxmlformats.org/officeDocument/2006/relationships" id="260" r:id="Rfc04e10e31424733"/>
    <p:sldId xmlns:r="http://schemas.openxmlformats.org/officeDocument/2006/relationships" id="261" r:id="Rc3824c18675442d3"/>
    <p:sldId xmlns:r="http://schemas.openxmlformats.org/officeDocument/2006/relationships" id="262" r:id="Rdcdbe66f3e384462"/>
    <p:sldId xmlns:r="http://schemas.openxmlformats.org/officeDocument/2006/relationships" id="263" r:id="R37738b31711640bd"/>
    <p:sldId xmlns:r="http://schemas.openxmlformats.org/officeDocument/2006/relationships" id="264" r:id="R919f7bd732a245fa"/>
    <p:sldId xmlns:r="http://schemas.openxmlformats.org/officeDocument/2006/relationships" id="265" r:id="R9d31f28490be42b9"/>
    <p:sldId xmlns:r="http://schemas.openxmlformats.org/officeDocument/2006/relationships" id="266" r:id="Ra42754cd4668429d"/>
    <p:sldId xmlns:r="http://schemas.openxmlformats.org/officeDocument/2006/relationships" id="267" r:id="R11bfad91cc5a49f6"/>
    <p:sldId xmlns:r="http://schemas.openxmlformats.org/officeDocument/2006/relationships" id="268" r:id="Re455715109f24474"/>
    <p:sldId xmlns:r="http://schemas.openxmlformats.org/officeDocument/2006/relationships" id="269" r:id="R549c84c3f67b438b"/>
    <p:sldId xmlns:r="http://schemas.openxmlformats.org/officeDocument/2006/relationships" id="270" r:id="Rf7f0560752034014"/>
    <p:sldId xmlns:r="http://schemas.openxmlformats.org/officeDocument/2006/relationships" id="271" r:id="R9cb066ba1022484e"/>
    <p:sldId xmlns:r="http://schemas.openxmlformats.org/officeDocument/2006/relationships" id="272" r:id="R1f9437712bbb4a4c"/>
    <p:sldId xmlns:r="http://schemas.openxmlformats.org/officeDocument/2006/relationships" id="273" r:id="Rde7fcd86929c47ef"/>
    <p:sldId xmlns:r="http://schemas.openxmlformats.org/officeDocument/2006/relationships" id="274" r:id="R4af9d737db3c4479"/>
    <p:sldId xmlns:r="http://schemas.openxmlformats.org/officeDocument/2006/relationships" id="275" r:id="R9f7d8e0c1015421d"/>
    <p:sldId xmlns:r="http://schemas.openxmlformats.org/officeDocument/2006/relationships" id="276" r:id="R4dbbb7bb0bd24593"/>
    <p:sldId xmlns:r="http://schemas.openxmlformats.org/officeDocument/2006/relationships" id="277" r:id="R01a1f05df44145fb"/>
    <p:sldId xmlns:r="http://schemas.openxmlformats.org/officeDocument/2006/relationships" id="278" r:id="Rda53866be14f47c9"/>
    <p:sldId xmlns:r="http://schemas.openxmlformats.org/officeDocument/2006/relationships" id="279" r:id="R45e2adf646aa4b2b"/>
    <p:sldId xmlns:r="http://schemas.openxmlformats.org/officeDocument/2006/relationships" id="280" r:id="Rf15bd7f7f45849b5"/>
    <p:sldId xmlns:r="http://schemas.openxmlformats.org/officeDocument/2006/relationships" id="281" r:id="R2bf5dcac6c004bd1"/>
    <p:sldId xmlns:r="http://schemas.openxmlformats.org/officeDocument/2006/relationships" id="282" r:id="Re4799f83ca604e8c"/>
    <p:sldId xmlns:r="http://schemas.openxmlformats.org/officeDocument/2006/relationships" id="283" r:id="R2bd56d68a7694a17"/>
    <p:sldId xmlns:r="http://schemas.openxmlformats.org/officeDocument/2006/relationships" id="284" r:id="R5b906eeff7b948b9"/>
    <p:sldId xmlns:r="http://schemas.openxmlformats.org/officeDocument/2006/relationships" id="285" r:id="R88ee46ba02a048c9"/>
    <p:sldId xmlns:r="http://schemas.openxmlformats.org/officeDocument/2006/relationships" id="286" r:id="R8712e52eefac445c"/>
    <p:sldId xmlns:r="http://schemas.openxmlformats.org/officeDocument/2006/relationships" id="287" r:id="Rfaab2d174e004fcd"/>
    <p:sldId xmlns:r="http://schemas.openxmlformats.org/officeDocument/2006/relationships" id="288" r:id="R199826db699443a5"/>
    <p:sldId xmlns:r="http://schemas.openxmlformats.org/officeDocument/2006/relationships" id="289" r:id="R7a757c4379484287"/>
    <p:sldId xmlns:r="http://schemas.openxmlformats.org/officeDocument/2006/relationships" id="290" r:id="Rcd24f080cc264fd1"/>
    <p:sldId xmlns:r="http://schemas.openxmlformats.org/officeDocument/2006/relationships" id="291" r:id="R09f978fcf81c4b89"/>
    <p:sldId xmlns:r="http://schemas.openxmlformats.org/officeDocument/2006/relationships" id="292" r:id="R4f900a58027d4156"/>
    <p:sldId xmlns:r="http://schemas.openxmlformats.org/officeDocument/2006/relationships" id="293" r:id="R02e3ecd4d5314819"/>
    <p:sldId xmlns:r="http://schemas.openxmlformats.org/officeDocument/2006/relationships" id="294" r:id="R94806010e2734cf9"/>
    <p:sldId xmlns:r="http://schemas.openxmlformats.org/officeDocument/2006/relationships" id="295" r:id="R81634691d7f44869"/>
    <p:sldId xmlns:r="http://schemas.openxmlformats.org/officeDocument/2006/relationships" id="296" r:id="R28ae7b731c974d4e"/>
    <p:sldId xmlns:r="http://schemas.openxmlformats.org/officeDocument/2006/relationships" id="297" r:id="R9e85e3148a364e55"/>
    <p:sldId xmlns:r="http://schemas.openxmlformats.org/officeDocument/2006/relationships" id="298" r:id="R0c9d45ebb19e413d"/>
    <p:sldId xmlns:r="http://schemas.openxmlformats.org/officeDocument/2006/relationships" id="299" r:id="Rfc3b13905ad04813"/>
    <p:sldId xmlns:r="http://schemas.openxmlformats.org/officeDocument/2006/relationships" id="300" r:id="R9f032147732e45a1"/>
    <p:sldId xmlns:r="http://schemas.openxmlformats.org/officeDocument/2006/relationships" id="301" r:id="Rfe906c8e6e554ae5"/>
    <p:sldId xmlns:r="http://schemas.openxmlformats.org/officeDocument/2006/relationships" id="302" r:id="R22f58aa339674c45"/>
    <p:sldId xmlns:r="http://schemas.openxmlformats.org/officeDocument/2006/relationships" id="303" r:id="Rce5e51b40db54f52"/>
    <p:sldId xmlns:r="http://schemas.openxmlformats.org/officeDocument/2006/relationships" id="304" r:id="Re2e5785b380242bf"/>
    <p:sldId xmlns:r="http://schemas.openxmlformats.org/officeDocument/2006/relationships" id="305" r:id="R569c0b7153bd422c"/>
    <p:sldId xmlns:r="http://schemas.openxmlformats.org/officeDocument/2006/relationships" id="306" r:id="Rea670365c72a4c4a"/>
    <p:sldId xmlns:r="http://schemas.openxmlformats.org/officeDocument/2006/relationships" id="307" r:id="R2f5a13123bbc40c1"/>
    <p:sldId xmlns:r="http://schemas.openxmlformats.org/officeDocument/2006/relationships" id="308" r:id="Re45484c292114fde"/>
    <p:sldId xmlns:r="http://schemas.openxmlformats.org/officeDocument/2006/relationships" id="309" r:id="Rc7997de1ac2e48b7"/>
    <p:sldId xmlns:r="http://schemas.openxmlformats.org/officeDocument/2006/relationships" id="310" r:id="R0c265db003824c09"/>
    <p:sldId xmlns:r="http://schemas.openxmlformats.org/officeDocument/2006/relationships" id="311" r:id="Re2c0e270d56b4926"/>
    <p:sldId xmlns:r="http://schemas.openxmlformats.org/officeDocument/2006/relationships" id="312" r:id="Reae9a4c56cfc497a"/>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845a8c3a99d499f" /><Relationship Type="http://schemas.openxmlformats.org/officeDocument/2006/relationships/slideMaster" Target="/ppt/slideMasters/slideMaster1.xml" Id="R8464d306130b4272" /><Relationship Type="http://schemas.openxmlformats.org/officeDocument/2006/relationships/slideMaster" Target="/ppt/slideMasters/slideMaster2.xml" Id="R04f4b66e3aca46a2" /><Relationship Type="http://schemas.openxmlformats.org/officeDocument/2006/relationships/notesMaster" Target="/ppt/notesMasters/notesMaster1.xml" Id="Rd01eb5b117ff4a17" /><Relationship Type="http://schemas.openxmlformats.org/officeDocument/2006/relationships/presProps" Target="/ppt/presProps.xml" Id="R43a5de5c812245f9" /><Relationship Type="http://schemas.openxmlformats.org/officeDocument/2006/relationships/tableStyles" Target="/ppt/tableStyles.xml" Id="R346c2190410747ea" /><Relationship Type="http://schemas.openxmlformats.org/officeDocument/2006/relationships/slide" Target="/ppt/slides/slide1.xml" Id="R084e05c29ba140ac" /><Relationship Type="http://schemas.openxmlformats.org/officeDocument/2006/relationships/slide" Target="/ppt/slides/slide2.xml" Id="R7cf47a0278f24e50" /><Relationship Type="http://schemas.openxmlformats.org/officeDocument/2006/relationships/slide" Target="/ppt/slides/slide3.xml" Id="R62f45554495e4d12" /><Relationship Type="http://schemas.openxmlformats.org/officeDocument/2006/relationships/slide" Target="/ppt/slides/slide4.xml" Id="R984101713e984a13" /><Relationship Type="http://schemas.openxmlformats.org/officeDocument/2006/relationships/slide" Target="/ppt/slides/slide5.xml" Id="Rfc04e10e31424733" /><Relationship Type="http://schemas.openxmlformats.org/officeDocument/2006/relationships/slide" Target="/ppt/slides/slide6.xml" Id="Rc3824c18675442d3" /><Relationship Type="http://schemas.openxmlformats.org/officeDocument/2006/relationships/slide" Target="/ppt/slides/slide7.xml" Id="Rdcdbe66f3e384462" /><Relationship Type="http://schemas.openxmlformats.org/officeDocument/2006/relationships/slide" Target="/ppt/slides/slide8.xml" Id="R37738b31711640bd" /><Relationship Type="http://schemas.openxmlformats.org/officeDocument/2006/relationships/slide" Target="/ppt/slides/slide9.xml" Id="R919f7bd732a245fa" /><Relationship Type="http://schemas.openxmlformats.org/officeDocument/2006/relationships/slide" Target="/ppt/slides/slide10.xml" Id="R9d31f28490be42b9" /><Relationship Type="http://schemas.openxmlformats.org/officeDocument/2006/relationships/slide" Target="/ppt/slides/slide11.xml" Id="Ra42754cd4668429d" /><Relationship Type="http://schemas.openxmlformats.org/officeDocument/2006/relationships/slide" Target="/ppt/slides/slide12.xml" Id="R11bfad91cc5a49f6" /><Relationship Type="http://schemas.openxmlformats.org/officeDocument/2006/relationships/slide" Target="/ppt/slides/slide13.xml" Id="Re455715109f24474" /><Relationship Type="http://schemas.openxmlformats.org/officeDocument/2006/relationships/slide" Target="/ppt/slides/slide14.xml" Id="R549c84c3f67b438b" /><Relationship Type="http://schemas.openxmlformats.org/officeDocument/2006/relationships/slide" Target="/ppt/slides/slide15.xml" Id="Rf7f0560752034014" /><Relationship Type="http://schemas.openxmlformats.org/officeDocument/2006/relationships/slide" Target="/ppt/slides/slide16.xml" Id="R9cb066ba1022484e" /><Relationship Type="http://schemas.openxmlformats.org/officeDocument/2006/relationships/slide" Target="/ppt/slides/slide17.xml" Id="R1f9437712bbb4a4c" /><Relationship Type="http://schemas.openxmlformats.org/officeDocument/2006/relationships/slide" Target="/ppt/slides/slide18.xml" Id="Rde7fcd86929c47ef" /><Relationship Type="http://schemas.openxmlformats.org/officeDocument/2006/relationships/slide" Target="/ppt/slides/slide19.xml" Id="R4af9d737db3c4479" /><Relationship Type="http://schemas.openxmlformats.org/officeDocument/2006/relationships/slide" Target="/ppt/slides/slide20.xml" Id="R9f7d8e0c1015421d" /><Relationship Type="http://schemas.openxmlformats.org/officeDocument/2006/relationships/slide" Target="/ppt/slides/slide21.xml" Id="R4dbbb7bb0bd24593" /><Relationship Type="http://schemas.openxmlformats.org/officeDocument/2006/relationships/slide" Target="/ppt/slides/slide22.xml" Id="R01a1f05df44145fb" /><Relationship Type="http://schemas.openxmlformats.org/officeDocument/2006/relationships/slide" Target="/ppt/slides/slide23.xml" Id="Rda53866be14f47c9" /><Relationship Type="http://schemas.openxmlformats.org/officeDocument/2006/relationships/slide" Target="/ppt/slides/slide24.xml" Id="R45e2adf646aa4b2b" /><Relationship Type="http://schemas.openxmlformats.org/officeDocument/2006/relationships/slide" Target="/ppt/slides/slide25.xml" Id="Rf15bd7f7f45849b5" /><Relationship Type="http://schemas.openxmlformats.org/officeDocument/2006/relationships/slide" Target="/ppt/slides/slide26.xml" Id="R2bf5dcac6c004bd1" /><Relationship Type="http://schemas.openxmlformats.org/officeDocument/2006/relationships/slide" Target="/ppt/slides/slide27.xml" Id="Re4799f83ca604e8c" /><Relationship Type="http://schemas.openxmlformats.org/officeDocument/2006/relationships/slide" Target="/ppt/slides/slide28.xml" Id="R2bd56d68a7694a17" /><Relationship Type="http://schemas.openxmlformats.org/officeDocument/2006/relationships/slide" Target="/ppt/slides/slide29.xml" Id="R5b906eeff7b948b9" /><Relationship Type="http://schemas.openxmlformats.org/officeDocument/2006/relationships/slide" Target="/ppt/slides/slide30.xml" Id="R88ee46ba02a048c9" /><Relationship Type="http://schemas.openxmlformats.org/officeDocument/2006/relationships/slide" Target="/ppt/slides/slide31.xml" Id="R8712e52eefac445c" /><Relationship Type="http://schemas.openxmlformats.org/officeDocument/2006/relationships/slide" Target="/ppt/slides/slide32.xml" Id="Rfaab2d174e004fcd" /><Relationship Type="http://schemas.openxmlformats.org/officeDocument/2006/relationships/slide" Target="/ppt/slides/slide33.xml" Id="R199826db699443a5" /><Relationship Type="http://schemas.openxmlformats.org/officeDocument/2006/relationships/slide" Target="/ppt/slides/slide34.xml" Id="R7a757c4379484287" /><Relationship Type="http://schemas.openxmlformats.org/officeDocument/2006/relationships/slide" Target="/ppt/slides/slide35.xml" Id="Rcd24f080cc264fd1" /><Relationship Type="http://schemas.openxmlformats.org/officeDocument/2006/relationships/slide" Target="/ppt/slides/slide36.xml" Id="R09f978fcf81c4b89" /><Relationship Type="http://schemas.openxmlformats.org/officeDocument/2006/relationships/slide" Target="/ppt/slides/slide37.xml" Id="R4f900a58027d4156" /><Relationship Type="http://schemas.openxmlformats.org/officeDocument/2006/relationships/slide" Target="/ppt/slides/slide38.xml" Id="R02e3ecd4d5314819" /><Relationship Type="http://schemas.openxmlformats.org/officeDocument/2006/relationships/slide" Target="/ppt/slides/slide39.xml" Id="R94806010e2734cf9" /><Relationship Type="http://schemas.openxmlformats.org/officeDocument/2006/relationships/slide" Target="/ppt/slides/slide40.xml" Id="R81634691d7f44869" /><Relationship Type="http://schemas.openxmlformats.org/officeDocument/2006/relationships/slide" Target="/ppt/slides/slide41.xml" Id="R28ae7b731c974d4e" /><Relationship Type="http://schemas.openxmlformats.org/officeDocument/2006/relationships/slide" Target="/ppt/slides/slide42.xml" Id="R9e85e3148a364e55" /><Relationship Type="http://schemas.openxmlformats.org/officeDocument/2006/relationships/slide" Target="/ppt/slides/slide43.xml" Id="R0c9d45ebb19e413d" /><Relationship Type="http://schemas.openxmlformats.org/officeDocument/2006/relationships/slide" Target="/ppt/slides/slide44.xml" Id="Rfc3b13905ad04813" /><Relationship Type="http://schemas.openxmlformats.org/officeDocument/2006/relationships/slide" Target="/ppt/slides/slide45.xml" Id="R9f032147732e45a1" /><Relationship Type="http://schemas.openxmlformats.org/officeDocument/2006/relationships/slide" Target="/ppt/slides/slide46.xml" Id="Rfe906c8e6e554ae5" /><Relationship Type="http://schemas.openxmlformats.org/officeDocument/2006/relationships/slide" Target="/ppt/slides/slide47.xml" Id="R22f58aa339674c45" /><Relationship Type="http://schemas.openxmlformats.org/officeDocument/2006/relationships/slide" Target="/ppt/slides/slide48.xml" Id="Rce5e51b40db54f52" /><Relationship Type="http://schemas.openxmlformats.org/officeDocument/2006/relationships/slide" Target="/ppt/slides/slide49.xml" Id="Re2e5785b380242bf" /><Relationship Type="http://schemas.openxmlformats.org/officeDocument/2006/relationships/slide" Target="/ppt/slides/slide50.xml" Id="R569c0b7153bd422c" /><Relationship Type="http://schemas.openxmlformats.org/officeDocument/2006/relationships/slide" Target="/ppt/slides/slide51.xml" Id="Rea670365c72a4c4a" /><Relationship Type="http://schemas.openxmlformats.org/officeDocument/2006/relationships/slide" Target="/ppt/slides/slide52.xml" Id="R2f5a13123bbc40c1" /><Relationship Type="http://schemas.openxmlformats.org/officeDocument/2006/relationships/slide" Target="/ppt/slides/slide53.xml" Id="Re45484c292114fde" /><Relationship Type="http://schemas.openxmlformats.org/officeDocument/2006/relationships/slide" Target="/ppt/slides/slide54.xml" Id="Rc7997de1ac2e48b7" /><Relationship Type="http://schemas.openxmlformats.org/officeDocument/2006/relationships/slide" Target="/ppt/slides/slide55.xml" Id="R0c265db003824c09" /><Relationship Type="http://schemas.openxmlformats.org/officeDocument/2006/relationships/slide" Target="/ppt/slides/slide56.xml" Id="Re2c0e270d56b4926" /><Relationship Type="http://schemas.openxmlformats.org/officeDocument/2006/relationships/slide" Target="/ppt/slides/slide57.xml" Id="Reae9a4c56cfc497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320037825afc47c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46e6f088d8c4d1a" /><Relationship Type="http://schemas.openxmlformats.org/officeDocument/2006/relationships/notesMaster" Target="/ppt/notesMasters/notesMaster1.xml" Id="Rc412762f1a5e4883" /></Relationships>
</file>

<file path=ppt/notesSlides/_rels/notesSlide2.xml.rels>&#65279;<?xml version="1.0" encoding="utf-8"?><Relationships xmlns="http://schemas.openxmlformats.org/package/2006/relationships"><Relationship Type="http://schemas.openxmlformats.org/officeDocument/2006/relationships/slide" Target="/ppt/slides/slide2.xml" Id="R53d1e779a72d4462" /><Relationship Type="http://schemas.openxmlformats.org/officeDocument/2006/relationships/notesMaster" Target="/ppt/notesMasters/notesMaster1.xml" Id="Rcf4ece30ebf6419c" /></Relationships>
</file>

<file path=ppt/notesSlides/_rels/notesSlide3.xml.rels>&#65279;<?xml version="1.0" encoding="utf-8"?><Relationships xmlns="http://schemas.openxmlformats.org/package/2006/relationships"><Relationship Type="http://schemas.openxmlformats.org/officeDocument/2006/relationships/slide" Target="/ppt/slides/slide3.xml" Id="R175650c2ce4749c9" /><Relationship Type="http://schemas.openxmlformats.org/officeDocument/2006/relationships/notesMaster" Target="/ppt/notesMasters/notesMaster1.xml" Id="Rfadf635842a149d7" /></Relationships>
</file>

<file path=ppt/notesSlides/_rels/notesSlide4.xml.rels>&#65279;<?xml version="1.0" encoding="utf-8"?><Relationships xmlns="http://schemas.openxmlformats.org/package/2006/relationships"><Relationship Type="http://schemas.openxmlformats.org/officeDocument/2006/relationships/slide" Target="/ppt/slides/slide4.xml" Id="Ra30151c0c95c4eaf" /><Relationship Type="http://schemas.openxmlformats.org/officeDocument/2006/relationships/notesMaster" Target="/ppt/notesMasters/notesMaster1.xml" Id="R3f1a2baba29447e9" /></Relationships>
</file>

<file path=ppt/notesSlides/_rels/notesSlide5.xml.rels>&#65279;<?xml version="1.0" encoding="utf-8"?><Relationships xmlns="http://schemas.openxmlformats.org/package/2006/relationships"><Relationship Type="http://schemas.openxmlformats.org/officeDocument/2006/relationships/slide" Target="/ppt/slides/slide5.xml" Id="R2c841adf36e24ab8" /><Relationship Type="http://schemas.openxmlformats.org/officeDocument/2006/relationships/notesMaster" Target="/ppt/notesMasters/notesMaster1.xml" Id="R3630404e90c24a45" /></Relationships>
</file>

<file path=ppt/notesSlides/_rels/notesSlide6.xml.rels>&#65279;<?xml version="1.0" encoding="utf-8"?><Relationships xmlns="http://schemas.openxmlformats.org/package/2006/relationships"><Relationship Type="http://schemas.openxmlformats.org/officeDocument/2006/relationships/slide" Target="/ppt/slides/slide6.xml" Id="R38a6075e0c0a4f1a" /><Relationship Type="http://schemas.openxmlformats.org/officeDocument/2006/relationships/notesMaster" Target="/ppt/notesMasters/notesMaster1.xml" Id="Rc2909d72031b4afa" /></Relationships>
</file>

<file path=ppt/notesSlides/_rels/notesSlide7.xml.rels>&#65279;<?xml version="1.0" encoding="utf-8"?><Relationships xmlns="http://schemas.openxmlformats.org/package/2006/relationships"><Relationship Type="http://schemas.openxmlformats.org/officeDocument/2006/relationships/slide" Target="/ppt/slides/slide7.xml" Id="R171a23ec7e5e4b1e" /><Relationship Type="http://schemas.openxmlformats.org/officeDocument/2006/relationships/notesMaster" Target="/ppt/notesMasters/notesMaster1.xml" Id="R928e96f0eb294906" /></Relationships>
</file>

<file path=ppt/notesSlides/_rels/notesSlide8.xml.rels>&#65279;<?xml version="1.0" encoding="utf-8"?><Relationships xmlns="http://schemas.openxmlformats.org/package/2006/relationships"><Relationship Type="http://schemas.openxmlformats.org/officeDocument/2006/relationships/slide" Target="/ppt/slides/slide8.xml" Id="R6a85f2eb9ac04a00" /><Relationship Type="http://schemas.openxmlformats.org/officeDocument/2006/relationships/notesMaster" Target="/ppt/notesMasters/notesMaster1.xml" Id="R50d71c71532a4e56" /></Relationships>
</file>

<file path=ppt/notesSlides/_rels/notesSlide9.xml.rels>&#65279;<?xml version="1.0" encoding="utf-8"?><Relationships xmlns="http://schemas.openxmlformats.org/package/2006/relationships"><Relationship Type="http://schemas.openxmlformats.org/officeDocument/2006/relationships/slide" Target="/ppt/slides/slide9.xml" Id="R9a01902b71e845ee" /><Relationship Type="http://schemas.openxmlformats.org/officeDocument/2006/relationships/notesMaster" Target="/ppt/notesMasters/notesMaster1.xml" Id="Re5611073c615416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b9f008617064344" /><Relationship Type="http://schemas.openxmlformats.org/officeDocument/2006/relationships/notesMaster" Target="/ppt/notesMasters/notesMaster1.xml" Id="Rb7bade6d03964f3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4cb3aaea5a14f44" /><Relationship Type="http://schemas.openxmlformats.org/officeDocument/2006/relationships/notesMaster" Target="/ppt/notesMasters/notesMaster1.xml" Id="R1cc316bd4a4149b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6e6089ee39b413a" /><Relationship Type="http://schemas.openxmlformats.org/officeDocument/2006/relationships/notesMaster" Target="/ppt/notesMasters/notesMaster1.xml" Id="R9bd675b9f2e54cc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8c02c01eb5b4478" /><Relationship Type="http://schemas.openxmlformats.org/officeDocument/2006/relationships/notesMaster" Target="/ppt/notesMasters/notesMaster1.xml" Id="R1ae5326577b24df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5569f65677a4976" /><Relationship Type="http://schemas.openxmlformats.org/officeDocument/2006/relationships/notesMaster" Target="/ppt/notesMasters/notesMaster1.xml" Id="Rda29a3d41b8a433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8047ec8ad60476a" /><Relationship Type="http://schemas.openxmlformats.org/officeDocument/2006/relationships/notesMaster" Target="/ppt/notesMasters/notesMaster1.xml" Id="Rff1d3fd437be437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11d899867d7451d" /><Relationship Type="http://schemas.openxmlformats.org/officeDocument/2006/relationships/notesMaster" Target="/ppt/notesMasters/notesMaster1.xml" Id="Re0fe3b2d1599476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762a881166141f7" /><Relationship Type="http://schemas.openxmlformats.org/officeDocument/2006/relationships/notesMaster" Target="/ppt/notesMasters/notesMaster1.xml" Id="Ra7db205b0a0f446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04fd6cc40654a15" /><Relationship Type="http://schemas.openxmlformats.org/officeDocument/2006/relationships/notesMaster" Target="/ppt/notesMasters/notesMaster1.xml" Id="Rcc82fbc430aa40b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0e3625e28a04b43" /><Relationship Type="http://schemas.openxmlformats.org/officeDocument/2006/relationships/notesMaster" Target="/ppt/notesMasters/notesMaster1.xml" Id="R4206c517ce364b8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af9b1ec26e947c4" /><Relationship Type="http://schemas.openxmlformats.org/officeDocument/2006/relationships/notesMaster" Target="/ppt/notesMasters/notesMaster1.xml" Id="Rccc705900a4240d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28a51bff4c54537" /><Relationship Type="http://schemas.openxmlformats.org/officeDocument/2006/relationships/notesMaster" Target="/ppt/notesMasters/notesMaster1.xml" Id="Re507fe777e594bf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6271fdcddfd4ec8" /><Relationship Type="http://schemas.openxmlformats.org/officeDocument/2006/relationships/notesMaster" Target="/ppt/notesMasters/notesMaster1.xml" Id="Rbe8088b0962e482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db48d0d5f7c490a" /><Relationship Type="http://schemas.openxmlformats.org/officeDocument/2006/relationships/notesMaster" Target="/ppt/notesMasters/notesMaster1.xml" Id="R35679c3346df470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7f1c53804b64bfb" /><Relationship Type="http://schemas.openxmlformats.org/officeDocument/2006/relationships/notesMaster" Target="/ppt/notesMasters/notesMaster1.xml" Id="Re043a60592fb475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08a77f72a224bc3" /><Relationship Type="http://schemas.openxmlformats.org/officeDocument/2006/relationships/notesMaster" Target="/ppt/notesMasters/notesMaster1.xml" Id="R677104fe5ba8430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78f3ca6c4164e37" /><Relationship Type="http://schemas.openxmlformats.org/officeDocument/2006/relationships/notesMaster" Target="/ppt/notesMasters/notesMaster1.xml" Id="R247eb8f91925499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4415553ab374029" /><Relationship Type="http://schemas.openxmlformats.org/officeDocument/2006/relationships/notesMaster" Target="/ppt/notesMasters/notesMaster1.xml" Id="R9218ae9b3559440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bdb1f5bfc29481b" /><Relationship Type="http://schemas.openxmlformats.org/officeDocument/2006/relationships/notesMaster" Target="/ppt/notesMasters/notesMaster1.xml" Id="R0c453071e47f4fb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53cbb711af54d55" /><Relationship Type="http://schemas.openxmlformats.org/officeDocument/2006/relationships/notesMaster" Target="/ppt/notesMasters/notesMaster1.xml" Id="R7a85fa9793b745f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b3ef50a87174d89" /><Relationship Type="http://schemas.openxmlformats.org/officeDocument/2006/relationships/notesMaster" Target="/ppt/notesMasters/notesMaster1.xml" Id="R5b7844fa7b764d1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c1a14e14086416c" /><Relationship Type="http://schemas.openxmlformats.org/officeDocument/2006/relationships/notesMaster" Target="/ppt/notesMasters/notesMaster1.xml" Id="R6268706b8d74409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a10b1a2c9b042b8" /><Relationship Type="http://schemas.openxmlformats.org/officeDocument/2006/relationships/notesMaster" Target="/ppt/notesMasters/notesMaster1.xml" Id="R8d6d56b4e9184fd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60212abedf34556" /><Relationship Type="http://schemas.openxmlformats.org/officeDocument/2006/relationships/notesMaster" Target="/ppt/notesMasters/notesMaster1.xml" Id="Re84a244323244a8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cdb9d989b42444b4" /><Relationship Type="http://schemas.openxmlformats.org/officeDocument/2006/relationships/notesMaster" Target="/ppt/notesMasters/notesMaster1.xml" Id="R6ae531c43565476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c4a0d35294b48d9" /><Relationship Type="http://schemas.openxmlformats.org/officeDocument/2006/relationships/notesMaster" Target="/ppt/notesMasters/notesMaster1.xml" Id="R766afcd5cd5f43c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3229b34af684802" /><Relationship Type="http://schemas.openxmlformats.org/officeDocument/2006/relationships/notesMaster" Target="/ppt/notesMasters/notesMaster1.xml" Id="R51c73734485c43cf"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06c7fe4c5614717" /><Relationship Type="http://schemas.openxmlformats.org/officeDocument/2006/relationships/notesMaster" Target="/ppt/notesMasters/notesMaster1.xml" Id="Re3ad7dacbbe548b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95dd5a355c64c4b" /><Relationship Type="http://schemas.openxmlformats.org/officeDocument/2006/relationships/notesMaster" Target="/ppt/notesMasters/notesMaster1.xml" Id="Rfa45ee4ff31a4ab5"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f0b67db29cb54449" /><Relationship Type="http://schemas.openxmlformats.org/officeDocument/2006/relationships/notesMaster" Target="/ppt/notesMasters/notesMaster1.xml" Id="Rdfe89ba93f0c4ae2"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9b58fbc21ee9406f" /><Relationship Type="http://schemas.openxmlformats.org/officeDocument/2006/relationships/notesMaster" Target="/ppt/notesMasters/notesMaster1.xml" Id="Ra0f435c975624ae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463a3746dbc94bd5" /><Relationship Type="http://schemas.openxmlformats.org/officeDocument/2006/relationships/notesMaster" Target="/ppt/notesMasters/notesMaster1.xml" Id="Rf6ad3ca01dd14edb"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fdf98e9f425f41b6" /><Relationship Type="http://schemas.openxmlformats.org/officeDocument/2006/relationships/notesMaster" Target="/ppt/notesMasters/notesMaster1.xml" Id="R97b38da058c242f1"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ae5f2ab57e124521" /><Relationship Type="http://schemas.openxmlformats.org/officeDocument/2006/relationships/notesMaster" Target="/ppt/notesMasters/notesMaster1.xml" Id="Re6504292d7ec49c4"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d2b9237afdbf4e9a" /><Relationship Type="http://schemas.openxmlformats.org/officeDocument/2006/relationships/notesMaster" Target="/ppt/notesMasters/notesMaster1.xml" Id="Rc4bc39e608f44c18"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097a7429ee5a403c" /><Relationship Type="http://schemas.openxmlformats.org/officeDocument/2006/relationships/notesMaster" Target="/ppt/notesMasters/notesMaster1.xml" Id="R3838cd97bb2147a0"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0dfba277e9dd47f6" /><Relationship Type="http://schemas.openxmlformats.org/officeDocument/2006/relationships/notesMaster" Target="/ppt/notesMasters/notesMaster1.xml" Id="R3a12c394c54149a9"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ee15c0fdc3f147ab" /><Relationship Type="http://schemas.openxmlformats.org/officeDocument/2006/relationships/notesMaster" Target="/ppt/notesMasters/notesMaster1.xml" Id="R1a9a67f3cb7f49af"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01839d7224e24168" /><Relationship Type="http://schemas.openxmlformats.org/officeDocument/2006/relationships/notesMaster" Target="/ppt/notesMasters/notesMaster1.xml" Id="Rb971b87106ff48f8"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ab801dfed3cd4d79" /><Relationship Type="http://schemas.openxmlformats.org/officeDocument/2006/relationships/notesMaster" Target="/ppt/notesMasters/notesMaster1.xml" Id="R49d146cc7bbd4ff5"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40a30d4fab9a41dc" /><Relationship Type="http://schemas.openxmlformats.org/officeDocument/2006/relationships/notesMaster" Target="/ppt/notesMasters/notesMaster1.xml" Id="Rbb4f2426c51d4889"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913d69e00e984713" /><Relationship Type="http://schemas.openxmlformats.org/officeDocument/2006/relationships/notesMaster" Target="/ppt/notesMasters/notesMaster1.xml" Id="R9f0eb8814ba44265"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f02be9863f9e40ac" /><Relationship Type="http://schemas.openxmlformats.org/officeDocument/2006/relationships/notesMaster" Target="/ppt/notesMasters/notesMaster1.xml" Id="R197357cfbb8347de"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d801e03a14f74ca4" /><Relationship Type="http://schemas.openxmlformats.org/officeDocument/2006/relationships/notesMaster" Target="/ppt/notesMasters/notesMaster1.xml" Id="R4cccfcef35b841dd"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a534412719cf4026" /><Relationship Type="http://schemas.openxmlformats.org/officeDocument/2006/relationships/notesMaster" Target="/ppt/notesMasters/notesMaster1.xml" Id="Rc641be2e48ff4a75"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411548f8eb92413d" /><Relationship Type="http://schemas.openxmlformats.org/officeDocument/2006/relationships/notesMaster" Target="/ppt/notesMasters/notesMaster1.xml" Id="R003b37111d774fe4"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311104174abe4472" /><Relationship Type="http://schemas.openxmlformats.org/officeDocument/2006/relationships/notesMaster" Target="/ppt/notesMasters/notesMaster1.xml" Id="Ra9d9ec5560ea4160"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3cf7db5320034b99" /><Relationship Type="http://schemas.openxmlformats.org/officeDocument/2006/relationships/notesMaster" Target="/ppt/notesMasters/notesMaster1.xml" Id="R6e1348cd43fd444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Welcome. A brief greeting while the title is visible.</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First, what changes when AI becomes part of the product. Then the six engineering areas. Finally, making the transition and your questions.</a:t>
            </a:r>
          </a:p>
          <a:p xmlns:a="http://schemas.openxmlformats.org/drawingml/2006/main">
            <a:r>
              <a:t/>
            </a:r>
          </a:p>
          <a:p xmlns:a="http://schemas.openxmlformats.org/drawingml/2006/main">
            <a:r>
              <a:rPr b="1"/>
              <a:t>You'll leave with a map of the engineering responsibilities, an understanding of what production readiness requires, and a starting point for your own transition.</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Pause before the opening metaphor, without repeating the agenda.</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You've probably seen a coding agent do something impressive.</a:t>
            </a:r>
            <a:r>
              <a:rPr b="0"/>
              <a:t> Andrej Karpathy captures the gap between that moment and a product with these two lines.</a:t>
            </a:r>
          </a:p>
          <a:p xmlns:a="http://schemas.openxmlformats.org/drawingml/2006/main">
            <a:r>
              <a:t/>
            </a:r>
          </a:p>
          <a:p xmlns:a="http://schemas.openxmlformats.org/drawingml/2006/main">
            <a:r>
              <a:rPr b="1"/>
              <a:t>A demo shows that a useful path exists. A product needs reliable behavior across its intended use, including a safe response when it can't complete the task.</a:t>
            </a:r>
          </a:p>
          <a:p xmlns:a="http://schemas.openxmlformats.org/drawingml/2006/main">
            <a:r>
              <a:t/>
            </a:r>
          </a:p>
          <a:p xmlns:a="http://schemas.openxmlformats.org/drawingml/2006/main">
            <a:r>
              <a:rPr b="1"/>
              <a:t>When AI becomes part of the product, engineering that behavior becomes your responsibility.</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This talk focuses on products built around foundation models. Your software engineering skills are the foundation.</a:t>
            </a:r>
          </a:p>
          <a:p xmlns:a="http://schemas.openxmlformats.org/drawingml/2006/main">
            <a:r>
              <a:t/>
            </a:r>
          </a:p>
          <a:p xmlns:a="http://schemas.openxmlformats.org/drawingml/2006/main">
            <a:r>
              <a:rPr b="0"/>
              <a:t>ML engineers typically focus on models and the pipelines that produce them. AI engineers typically focus on products around those models. </a:t>
            </a:r>
            <a:r>
              <a:rPr b="1"/>
              <a:t>The roles overlap.</a:t>
            </a:r>
          </a:p>
          <a:p xmlns:a="http://schemas.openxmlformats.org/drawingml/2006/main">
            <a:r>
              <a:t/>
            </a:r>
          </a:p>
          <a:p xmlns:a="http://schemas.openxmlformats.org/drawingml/2006/main">
            <a:r>
              <a:rPr b="1"/>
              <a:t>The added responsibility is measuring and controlling the model's contribution to the product's behavior.</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The distinction is where the model-dependent behavior lives.</a:t>
            </a:r>
            <a:r>
              <a:rPr b="0"/>
              <a:t> During development, AI helps you build the software. In the delivered product, users depend on model output or actions during use.</a:t>
            </a:r>
          </a:p>
          <a:p xmlns:a="http://schemas.openxmlformats.org/drawingml/2006/main">
            <a:r>
              <a:t/>
            </a:r>
          </a:p>
          <a:p xmlns:a="http://schemas.openxmlformats.org/drawingml/2006/main">
            <a:r>
              <a:rPr b="1"/>
              <a:t>Human review can exist on either side.</a:t>
            </a:r>
            <a:r>
              <a:rPr b="0"/>
              <a:t> Your team owns the AI system's behavior and operating limits. You design its checks, permissions, approval steps, and failure handling.</a:t>
            </a:r>
          </a:p>
          <a:p xmlns:a="http://schemas.openxmlformats.org/drawingml/2006/main">
            <a:r>
              <a:t/>
            </a:r>
          </a:p>
          <a:p xmlns:a="http://schemas.openxmlformats.org/drawingml/2006/main">
            <a:r>
              <a:rPr b="1"/>
              <a:t>In a predefined workflow, code fixes the path. An agent can let the model select the next action. Your code still enforces permissions and limits.</a:t>
            </a:r>
            <a:r>
              <a:rPr b="0"/>
              <a:t> This added responsibility is why we will examine agentic systems and the system around the model.</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0"/>
              <a:t>These are the commitments behind the six areas we are about to examine. </a:t>
            </a:r>
            <a:r>
              <a:rPr b="1"/>
              <a:t>Using AI changes how you build. Engineering AI changes what you are responsible for.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The distinction is where the model-dependent behavior lives.</a:t>
            </a:r>
            <a:r>
              <a:rPr b="0"/>
              <a:t> During development, AI helps you build the software. In the delivered product, users depend on model output or actions during use.</a:t>
            </a:r>
          </a:p>
          <a:p xmlns:a="http://schemas.openxmlformats.org/drawingml/2006/main">
            <a:r>
              <a:t/>
            </a:r>
          </a:p>
          <a:p xmlns:a="http://schemas.openxmlformats.org/drawingml/2006/main">
            <a:r>
              <a:rPr b="1"/>
              <a:t>Human review can exist on either side.</a:t>
            </a:r>
            <a:r>
              <a:rPr b="0"/>
              <a:t> Your team owns the AI system's behavior and operating limits. You design its checks, permissions, approval steps, and failure handling.</a:t>
            </a:r>
          </a:p>
          <a:p xmlns:a="http://schemas.openxmlformats.org/drawingml/2006/main">
            <a:r>
              <a:t/>
            </a:r>
          </a:p>
          <a:p xmlns:a="http://schemas.openxmlformats.org/drawingml/2006/main">
            <a:r>
              <a:rPr b="1"/>
              <a:t>In a predefined workflow, code fixes the path. An agent can let the model select the next action. Your code still enforces permissions and limits.</a:t>
            </a:r>
            <a:r>
              <a:rPr b="0"/>
              <a:t> This added responsibility is why we will examine agentic systems and the system around the model.</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0"/>
              <a:t>These are the commitments behind the six areas we are about to examine. </a:t>
            </a:r>
            <a:r>
              <a:rPr b="1"/>
              <a:t>Using AI changes how you build. Engineering AI changes what you are responsible for.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Let's look at the system around the model, and the engineering each part requires.</a:t>
            </a:r>
          </a:p>
          <a:p xmlns:a="http://schemas.openxmlformats.org/drawingml/2006/main">
            <a:r>
              <a:t/>
            </a:r>
          </a:p>
          <a:p xmlns:a="http://schemas.openxmlformats.org/drawingml/2006/main">
            <a:r>
              <a:rPr b="0"/>
              <a:t>Advance to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 decent model with a great harness beats a great model with a bad harness.”</a:t>
            </a:r>
          </a:p>
          <a:p xmlns:a="http://schemas.openxmlformats.org/drawingml/2006/main">
            <a:r>
              <a:t/>
            </a:r>
          </a:p>
          <a:p xmlns:a="http://schemas.openxmlformats.org/drawingml/2006/main">
            <a:r>
              <a:rPr b="0"/>
              <a:t>Osmani is describing his engineering experience. Evaluate the model inside the system you are building, because the surrounding context, tools, and control flow shape the result.</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The model interprets the task and supplied context and produces a response or proposed action. Choosing one includes its version, settings, and the service or environment where it runs. Choosing a model for a coding task is a familiar version of this decision.</a:t>
            </a:r>
          </a:p>
          <a:p xmlns:a="http://schemas.openxmlformats.org/drawingml/2006/main">
            <a:r>
              <a:t/>
            </a:r>
          </a:p>
          <a:p xmlns:a="http://schemas.openxmlformats.org/drawingml/2006/main">
            <a:r>
              <a:rPr b="1"/>
              <a:t>Data sensitivity determines which options are eligible.</a:t>
            </a:r>
            <a:r>
              <a:rPr b="0"/>
              <a:t> For this audience, CUI and export-controlled information bring familiar constraints. Establish which services and environments are approved for the data, then compare task quality, cost, and latency within that set. </a:t>
            </a:r>
            <a:r>
              <a:rPr b="1"/>
              <a:t>A model appearing in a picker does not establish approval for your records.</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eligibility. Understand the data and permitted use before ranking candidates. Approval can constrain the choice even when another model appears more capable.</a:t>
            </a:r>
          </a:p>
          <a:p xmlns:a="http://schemas.openxmlformats.org/drawingml/2006/main">
            <a:r>
              <a:t/>
            </a:r>
          </a:p>
          <a:p xmlns:a="http://schemas.openxmlformats.org/drawingml/2006/main">
            <a:r>
              <a:rPr b="0"/>
              <a:t>Second, task fit. Compare eligible configurations on representative work inside the intended workflow. Include reasoning settings in that comparison. Measure cost and latency for completed tasks, including the retries and checks needed to obtain an acceptable result.</a:t>
            </a:r>
          </a:p>
          <a:p xmlns:a="http://schemas.openxmlformats.org/drawingml/2006/main">
            <a:r>
              <a:t/>
            </a:r>
          </a:p>
          <a:p xmlns:a="http://schemas.openxmlformats.org/drawingml/2006/main">
            <a:r>
              <a:rPr b="0"/>
              <a:t>Third, one configuration or routing. One model provides a simpler baseline. Routing can match different work to different models, while adding configurations and routing behavior to evaluate. Begin with one unless measurements justify more.</a:t>
            </a:r>
          </a:p>
          <a:p xmlns:a="http://schemas.openxmlformats.org/drawingml/2006/main">
            <a:r>
              <a:t/>
            </a:r>
          </a:p>
          <a:p xmlns:a="http://schemas.openxmlformats.org/drawingml/2006/main">
            <a:r>
              <a:rPr b="0"/>
              <a:t>Fourth, changes. Pinned versions need a migration plan. Moving aliases need regression monitoring. In either case, a model choice remains a dependency the team must maintain.</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Tasks change, coverage becomes stale, and model versions retire. A pinned snapshot also does not freeze prompts, retrieval, or tools. The headline pitfall is </a:t>
            </a:r>
            <a:r>
              <a:rPr b="1"/>
              <a:t>Choosing and changing models without testing them on your task.</a:t>
            </a:r>
            <a:r>
              <a:rPr b="0"/>
              <a:t> Inspect failures before deciding which component needs replacement.</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Assume the FRB corpus includes CUI and ECI. For this example, the approved models are older and less capable for the intended synthesis than newer alternatives outside the approved environment. That reflects a constraint familiar to this audience, not a universal claim about sensitive-data deployments.</a:t>
            </a:r>
          </a:p>
          <a:p xmlns:a="http://schemas.openxmlformats.org/drawingml/2006/main">
            <a:r>
              <a:t/>
            </a:r>
          </a:p>
          <a:p xmlns:a="http://schemas.openxmlformats.org/drawingml/2006/main">
            <a:r>
              <a:rPr b="0"/>
              <a:t>Start with one eligible configuration. Test whether it can produce faithful summaries and supported findings. A possible cause must remain a possible cause. If it cannot reliably produce the full brief, evaluate a narrower task, such as preparing cited findings for an engineer to reconcile, or a more structured workflow with review. Those changes still need evidence that they work. If they do not meet the requirement, limit or defer that capability.</a:t>
            </a:r>
          </a:p>
          <a:p xmlns:a="http://schemas.openxmlformats.org/drawingml/2006/main">
            <a:r>
              <a:t/>
            </a:r>
          </a:p>
          <a:p xmlns:a="http://schemas.openxmlformats.org/drawingml/2006/main">
            <a:r>
              <a:rPr b="0"/>
              <a:t>The goal is useful work within the data constraints, without lowering the evidence requirement or sending restricted records to an unapproved fallback. Revisit the design when measured needs or suitable approved options change.</a:t>
            </a:r>
          </a:p>
          <a:p xmlns:a="http://schemas.openxmlformats.org/drawingml/2006/main">
            <a:r>
              <a:t/>
            </a:r>
          </a:p>
          <a:p xmlns:a="http://schemas.openxmlformats.org/drawingml/2006/main">
            <a:r>
              <a:rPr b="0"/>
              <a:t>That choice now depends on what information the model receives. Context and knowledge is next.</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“Context, therefore, must be treated as a finite resource with diminishing marginal returns.”</a:t>
            </a:r>
          </a:p>
          <a:p xmlns:a="http://schemas.openxmlformats.org/drawingml/2006/main">
            <a:r>
              <a:t/>
            </a:r>
          </a:p>
          <a:p xmlns:a="http://schemas.openxmlformats.org/drawingml/2006/main">
            <a:r>
              <a:rPr b="0"/>
              <a:t>You decide what information the model receives for its next step. A larger context window does not establish that every available piece of information will help.</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Context engineering selects, organizes, and maintains instructions, task state, evidence, tool results, and useful history. Prompt engineering focuses on the instructions within that wider set. A coding agent combines repository instructions, relevant files, and test output to decide what to do next.</a:t>
            </a:r>
          </a:p>
          <a:p xmlns:a="http://schemas.openxmlformats.org/drawingml/2006/main">
            <a:r>
              <a:t/>
            </a:r>
          </a:p>
          <a:p xmlns:a="http://schemas.openxmlformats.org/drawingml/2006/main">
            <a:r>
              <a:rPr b="0"/>
              <a:t>RAG retrieves relevant information and supplies it to the model. That can mean authorized internal records. It does not require open-web access.</a:t>
            </a:r>
          </a:p>
          <a:p xmlns:a="http://schemas.openxmlformats.org/drawingml/2006/main">
            <a:r>
              <a:t/>
            </a:r>
          </a:p>
          <a:p xmlns:a="http://schemas.openxmlformats.org/drawingml/2006/main">
            <a:r>
              <a:rPr b="0"/>
              <a:t>A missing passage, stale version, or lost qualification can change the basis of the answer. More text does not establish better evidence. Inspect what reached the model and what was left out.</a:t>
            </a:r>
          </a:p>
          <a:p xmlns:a="http://schemas.openxmlformats.org/drawingml/2006/main">
            <a:r>
              <a:t/>
            </a:r>
          </a:p>
          <a:p xmlns:a="http://schemas.openxmlformats.org/drawingml/2006/main">
            <a:r>
              <a:rPr b="0"/>
              <a:t>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what belongs in the next step? Preserve relevant detail and uncertainty, while removing repetition that adds no evidence. A summary saves space but can lose meaning, so retain access to the source.</a:t>
            </a:r>
          </a:p>
          <a:p xmlns:a="http://schemas.openxmlformats.org/drawingml/2006/main">
            <a:r>
              <a:t/>
            </a:r>
          </a:p>
          <a:p xmlns:a="http://schemas.openxmlformats.org/drawingml/2006/main">
            <a:r>
              <a:rPr b="0"/>
              <a:t>Second, how will retrieval find it? Keyword search matches terms and identifiers. Semantic search uses similarity of meaning and can help when wording differs, while still missing an exact identifier. Hybrid retrieval combines the signals and adds result-merging work. Use direct lookup when the source is known. Compare the approaches on the evidence your tasks need.</a:t>
            </a:r>
          </a:p>
          <a:p xmlns:a="http://schemas.openxmlformats.org/drawingml/2006/main">
            <a:r>
              <a:t/>
            </a:r>
          </a:p>
          <a:p xmlns:a="http://schemas.openxmlformats.org/drawingml/2006/main">
            <a:r>
              <a:rPr b="0"/>
              <a:t>Third, what persists? Compaction summarizes the current conversation. Persistent memory can retain selected information across sessions. Both need decisions about freshness and what must survive. Keep important constraints, unresolved questions, and source references. Stable prefixes may help caching, but correctness and access take priority over those savings.</a:t>
            </a:r>
          </a:p>
          <a:p xmlns:a="http://schemas.openxmlformats.org/drawingml/2006/main">
            <a:r>
              <a:t/>
            </a:r>
          </a:p>
          <a:p xmlns:a="http://schemas.openxmlformats.org/drawingml/2006/main">
            <a:r>
              <a:rPr b="0"/>
              <a:t>Fourth, provenance and scope. Keep document identity, revision, and source location attached to evidence. Enforce the user's access outside the model. A user's permission to read a record does not establish that every processing service may receive it.</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adding instead of curating.</a:t>
            </a:r>
            <a:r>
              <a:rPr b="0"/>
              <a:t> Inspect retrieval coverage, summaries, and source freshness as records change. Repeated copies do not create independent evidence, and findings from one case must not drift into another.</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preliminary briefing, FRB-042-BRF revision one, slide six, says bearing wear is a possible cause. The later minutes, FRB-042-MIN revision two, section three, leave the cause unresolved and require inspection. These are different documents, with distinct identities and source locations.</a:t>
            </a:r>
          </a:p>
          <a:p xmlns:a="http://schemas.openxmlformats.org/drawingml/2006/main">
            <a:r>
              <a:t/>
            </a:r>
          </a:p>
          <a:p xmlns:a="http://schemas.openxmlformats.org/drawingml/2006/main">
            <a:r>
              <a:rPr b="0"/>
              <a:t>Retrieve both relevant passages. Keep the unresolved cause and outstanding inspection in any working summary. When comparing other boards, keep their established findings attached to their own cases. Refresh versions and access before finalizing the brief. Missing, unreadable, or inaccessible evidence becomes an explicit limitation.</a:t>
            </a:r>
          </a:p>
          <a:p xmlns:a="http://schemas.openxmlformats.org/drawingml/2006/main">
            <a:r>
              <a:t/>
            </a:r>
          </a:p>
          <a:p xmlns:a="http://schemas.openxmlformats.org/drawingml/2006/main">
            <a:r>
              <a:rPr b="0"/>
              <a:t>The approved-processing constraint also applies to the services preparing this context. Focused evidence is a design to evaluate with the available model, not a promise that it removes every capability limit.</a:t>
            </a:r>
          </a:p>
          <a:p xmlns:a="http://schemas.openxmlformats.org/drawingml/2006/main">
            <a:r>
              <a:t/>
            </a:r>
          </a:p>
          <a:p xmlns:a="http://schemas.openxmlformats.org/drawingml/2006/main">
            <a:r>
              <a:rPr b="0"/>
              <a:t>The next question is how the system obtains information and acts on it. That is the tool contract.</a:t>
            </a:r>
          </a:p>
          <a:p xmlns:a="http://schemas.openxmlformats.org/drawingml/2006/main">
            <a:r>
              <a:t/>
            </a:r>
          </a:p>
          <a:p xmlns:a="http://schemas.openxmlformats.org/drawingml/2006/main">
            <a:r>
              <a:rPr b="1"/>
              <a:t>Context is a budget, not a bucket.</a:t>
            </a:r>
          </a:p>
          <a:p xmlns:a="http://schemas.openxmlformats.org/drawingml/2006/main">
            <a:r>
              <a:t/>
            </a:r>
          </a:p>
          <a:p xmlns:a="http://schemas.openxmlformats.org/drawingml/2006/main">
            <a:r>
              <a:rPr b="0"/>
              <a:t>Advance to slide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“Agents are only as effective as the tools we give them.”</a:t>
            </a:r>
          </a:p>
          <a:p xmlns:a="http://schemas.openxmlformats.org/drawingml/2006/main">
            <a:r>
              <a:t/>
            </a:r>
          </a:p>
          <a:p xmlns:a="http://schemas.openxmlformats.org/drawingml/2006/main">
            <a:r>
              <a:rPr b="0"/>
              <a:t>A tool is a contract between the system and a model caller. Its name, description, inputs, results, and execution rules all contribute to that contract.</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A tool exposes an operation the model can request. Software checks the request, executes a permitted operation, and returns a result. Reading a repository file or running tests through a coding agent are familiar examples.</a:t>
            </a:r>
          </a:p>
          <a:p xmlns:a="http://schemas.openxmlformats.org/drawingml/2006/main">
            <a:r>
              <a:t/>
            </a:r>
          </a:p>
          <a:p xmlns:a="http://schemas.openxmlformats.org/drawingml/2006/main">
            <a:r>
              <a:rPr b="0"/>
              <a:t>Extensibility adds capabilities through these interfaces. MCP provides a common way for an AI application to connect to external systems and discover and call their tools. It also supports resources and prompt templates. The useful operations and their enforced boundaries remain engineering work.</a:t>
            </a:r>
          </a:p>
          <a:p xmlns:a="http://schemas.openxmlformats.org/drawingml/2006/main">
            <a:r>
              <a:t/>
            </a:r>
          </a:p>
          <a:p xmlns:a="http://schemas.openxmlformats.org/drawingml/2006/main">
            <a:r>
              <a:rPr b="0"/>
              <a:t>Similar names can lead to the wrong selection. Unclear inputs can produce an unsuitable request. An incomplete result can leave the caller unable to tell what happened. When a tool accesses data or changes state, those mistakes have consequences beyond the response text.</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which capabilities and what granularity? Many small operations offer flexibility but require the caller to assemble more steps. A task-oriented operation can do more in code, while embedding more assumptions about the workflow. Begin with distinct capabilities and evaluate the boundary on real tasks.</a:t>
            </a:r>
          </a:p>
          <a:p xmlns:a="http://schemas.openxmlformats.org/drawingml/2006/main">
            <a:r>
              <a:t/>
            </a:r>
          </a:p>
          <a:p xmlns:a="http://schemas.openxmlformats.org/drawingml/2006/main">
            <a:r>
              <a:rPr b="0"/>
              <a:t>Second, the contract. Design descriptions, inputs, results, and errors together. Return useful context with stable identifiers. Sparse payloads can omit evidence, while excessive detail adds material the model must process. Evaluate actual selections and arguments, and keep the implementation aligned with the definition.</a:t>
            </a:r>
          </a:p>
          <a:p xmlns:a="http://schemas.openxmlformats.org/drawingml/2006/main">
            <a:r>
              <a:t/>
            </a:r>
          </a:p>
          <a:p xmlns:a="http://schemas.openxmlformats.org/drawingml/2006/main">
            <a:r>
              <a:rPr b="0"/>
              <a:t>Third, execution rules. </a:t>
            </a:r>
            <a:r>
              <a:rPr b="1"/>
              <a:t>Validate inputs and enforce authorization in code.</a:t>
            </a:r>
            <a:r>
              <a:rPr b="0"/>
              <a:t> This applies to reads as well as writes. A well-formed request, a successful connection, or a model's recommendation does not grant permission.</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copying the API surface without evaluating task fit.</a:t>
            </a:r>
            <a:r>
              <a:rPr b="0"/>
              <a:t> Prune overlapping capabilities, maintain contracts as behavior changes, and distinguish confirmed results, known failures, and unknown outcomes.</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Consider Export cited brief. Parsing and indexing are background services; the agent-facing export takes a checked draft, citations, and a permitted destination.</a:t>
            </a:r>
          </a:p>
          <a:p xmlns:a="http://schemas.openxmlformats.org/drawingml/2006/main">
            <a:r>
              <a:t/>
            </a:r>
          </a:p>
          <a:p xmlns:a="http://schemas.openxmlformats.org/drawingml/2006/main">
            <a:r>
              <a:rPr b="0"/>
              <a:t>The service must establish that the exact content being exported passed its checks. The caller saying it was checked is insufficient. Changed content requires renewed verification. Enforce access and the destination in code. Preserve citations, unresolved findings, and limitations rather than generating a fresh summary during export.</a:t>
            </a:r>
          </a:p>
          <a:p xmlns:a="http://schemas.openxmlformats.org/drawingml/2006/main">
            <a:r>
              <a:t/>
            </a:r>
          </a:p>
          <a:p xmlns:a="http://schemas.openxmlformats.org/drawingml/2006/main">
            <a:r>
              <a:rPr b="0"/>
              <a:t>Return a receipt when completion is confirmed. If the operation fails or its outcome is unknown, say so explicitly. An MCP connection could expose this tool, but the application service must implement those guarantees.</a:t>
            </a:r>
          </a:p>
          <a:p xmlns:a="http://schemas.openxmlformats.org/drawingml/2006/main">
            <a:r>
              <a:t/>
            </a:r>
          </a:p>
          <a:p xmlns:a="http://schemas.openxmlformats.org/drawingml/2006/main">
            <a:r>
              <a:rPr b="0"/>
              <a:t>The result now tells the execution controller what it can establish. Orchestration decides what happens next.</a:t>
            </a:r>
          </a:p>
          <a:p xmlns:a="http://schemas.openxmlformats.org/drawingml/2006/main">
            <a:r>
              <a:t/>
            </a:r>
          </a:p>
          <a:p xmlns:a="http://schemas.openxmlformats.org/drawingml/2006/main">
            <a:r>
              <a:rPr b="1"/>
              <a:t>A description guides the model. Code enforces the contract.</a:t>
            </a:r>
          </a:p>
          <a:p xmlns:a="http://schemas.openxmlformats.org/drawingml/2006/main">
            <a:r>
              <a:t/>
            </a:r>
          </a:p>
          <a:p xmlns:a="http://schemas.openxmlformats.org/drawingml/2006/main">
            <a:r>
              <a:rPr b="0"/>
              <a:t>Advance to slide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“we recommend finding the simplest solution possible, and only increasing complexity when needed.”</a:t>
            </a:r>
          </a:p>
          <a:p xmlns:a="http://schemas.openxmlformats.org/drawingml/2006/main">
            <a:r>
              <a:t/>
            </a:r>
          </a:p>
          <a:p xmlns:a="http://schemas.openxmlformats.org/drawingml/2006/main">
            <a:r>
              <a:rPr b="0"/>
              <a:t>Decide which steps code fixes and which decisions the model makes. Then establish the conditions under which that work may continue.</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Orchestration determines the next step, carries execution state, coordinates work, and handles completion or interruption. A workflow controls a path through code. An agent loop lets the model choose actions from intermediate results. A bounded design can combine them. The coding agent's inspect, edit, check, and retry loop is a familiar example.</a:t>
            </a:r>
          </a:p>
          <a:p xmlns:a="http://schemas.openxmlformats.org/drawingml/2006/main">
            <a:r>
              <a:t/>
            </a:r>
          </a:p>
          <a:p xmlns:a="http://schemas.openxmlformats.org/drawingml/2006/main">
            <a:r>
              <a:rPr b="0"/>
              <a:t>A useful intermediate answer is only part of a completed task. The system still needs to reach its checks, perform permitted actions, and establish what actually happened. Repeated work also consumes resources, and a retry can repeat a side effect.</a:t>
            </a:r>
          </a:p>
          <a:p xmlns:a="http://schemas.openxmlformats.org/drawingml/2006/main">
            <a:r>
              <a:t/>
            </a:r>
          </a:p>
          <a:p xmlns:a="http://schemas.openxmlformats.org/drawingml/2006/main">
            <a:r>
              <a:rPr b="0"/>
              <a:t>Advance to slide 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who chooses the next step? Use code for known paths and required gates. Allow model judgment where adaptation helps. A proposed plan does not enforce permissions or prerequisites. Inspect the executed path and preserve acceptance criteria as branches change.</a:t>
            </a:r>
          </a:p>
          <a:p xmlns:a="http://schemas.openxmlformats.org/drawingml/2006/main">
            <a:r>
              <a:t/>
            </a:r>
          </a:p>
          <a:p xmlns:a="http://schemas.openxmlformats.org/drawingml/2006/main">
            <a:r>
              <a:rPr b="0"/>
              <a:t>Second, delegation. Start with a bounded workflow. Multiple agents can divide independent work, while adding handoffs, reconciliation, and resource use. Add workers when measured whole-task quality, cost, or latency justifies them. Keep assignments and expected results explicit. Model choice remains the earlier decision; this is about dividing the work.</a:t>
            </a:r>
          </a:p>
          <a:p xmlns:a="http://schemas.openxmlformats.org/drawingml/2006/main">
            <a:r>
              <a:t/>
            </a:r>
          </a:p>
          <a:p xmlns:a="http://schemas.openxmlformats.org/drawingml/2006/main">
            <a:r>
              <a:rPr b="0"/>
              <a:t>Third, stopping and recovery. Define completion checks and action, token, retry, and latency limits. Save the state needed to continue. Distinguish confirmed success, known failure, and an unknown outcome. Recheck source freshness and authorization on resume.</a:t>
            </a:r>
          </a:p>
          <a:p xmlns:a="http://schemas.openxmlformats.org/drawingml/2006/main">
            <a:r>
              <a:t/>
            </a:r>
          </a:p>
          <a:p xmlns:a="http://schemas.openxmlformats.org/drawingml/2006/main">
            <a:r>
              <a:rPr b="0"/>
              <a:t>Advance to slide 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multi-agent before a workflow was tried.</a:t>
            </a:r>
            <a:r>
              <a:rPr b="0"/>
              <a:t> Other failures include loops without progress, early completion claims, and handoffs that lose evidence. </a:t>
            </a:r>
            <a:r>
              <a:rPr b="1"/>
              <a:t>A timeout does not establish that an action failed.</a:t>
            </a:r>
            <a:r>
              <a:rPr b="0"/>
              <a:t> Inspect what happened before repeating it.</a:t>
            </a:r>
          </a:p>
          <a:p xmlns:a="http://schemas.openxmlformats.org/drawingml/2006/main">
            <a:r>
              <a:t/>
            </a:r>
          </a:p>
          <a:p xmlns:a="http://schemas.openxmlformats.org/drawingml/2006/main">
            <a:r>
              <a:rPr b="0"/>
              <a:t>Advance to slide 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Begin with six stages: retrieve the packet, inspect evidence, compare cases, reconcile findings, verify the brief, and export. Model judgment operates within stages. Code preserves the conditions for moving to export.</a:t>
            </a:r>
          </a:p>
          <a:p xmlns:a="http://schemas.openxmlformats.org/drawingml/2006/main">
            <a:r>
              <a:t/>
            </a:r>
          </a:p>
          <a:p xmlns:a="http://schemas.openxmlformats.org/drawingml/2006/main">
            <a:r>
              <a:rPr b="0"/>
              <a:t>Save the source revisions, working draft, completed stages, and check results. A changed draft needs verification again. Changed evidence on resume returns the affected work to inspection and reconciliation.</a:t>
            </a:r>
          </a:p>
          <a:p xmlns:a="http://schemas.openxmlformats.org/drawingml/2006/main">
            <a:r>
              <a:t/>
            </a:r>
          </a:p>
          <a:p xmlns:a="http://schemas.openxmlformats.org/drawingml/2006/main">
            <a:r>
              <a:rPr b="0"/>
              <a:t>If the matching export receipt confirms completion, return it. If a confirmed failure establishes that export did not complete, address the cause and retry only within policy and the remaining budget. If completion is unknown, inspect the export state. If it remains unknown, preserve that uncertainty and hand off.</a:t>
            </a:r>
          </a:p>
          <a:p xmlns:a="http://schemas.openxmlformats.org/drawingml/2006/main">
            <a:r>
              <a:t/>
            </a:r>
          </a:p>
          <a:p xmlns:a="http://schemas.openxmlformats.org/drawingml/2006/main">
            <a:r>
              <a:rPr b="0"/>
              <a:t>At a work limit, stop and state what is incomplete. A limited brief still needs its checks before export. Independent comparisons could become worker assignments later, but remain within the same approved scope and cannot export on their own.</a:t>
            </a:r>
          </a:p>
          <a:p xmlns:a="http://schemas.openxmlformats.org/drawingml/2006/main">
            <a:r>
              <a:t/>
            </a:r>
          </a:p>
          <a:p xmlns:a="http://schemas.openxmlformats.org/drawingml/2006/main">
            <a:r>
              <a:rPr b="0"/>
              <a:t>The workflow now has a verification stage. Next, we define what its checks should establish.</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“Error analysis is the most important activity in evals.”</a:t>
            </a:r>
          </a:p>
          <a:p xmlns:a="http://schemas.openxmlformats.org/drawingml/2006/main">
            <a:r>
              <a:t/>
            </a:r>
          </a:p>
          <a:p xmlns:a="http://schemas.openxmlformats.org/drawingml/2006/main">
            <a:r>
              <a:rPr b="0"/>
              <a:t>Inspect the result and the trace before choosing a repair. A score becomes useful when the team understands the behavior behind it.</a:t>
            </a:r>
          </a:p>
          <a:p xmlns:a="http://schemas.openxmlformats.org/drawingml/2006/main">
            <a:r>
              <a:t/>
            </a:r>
          </a:p>
          <a:p xmlns:a="http://schemas.openxmlformats.org/drawingml/2006/main">
            <a:r>
              <a:rPr b="0"/>
              <a:t>Advance to slide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Verification informs acceptance of a particular result or action. Evaluation measures behavior across representative cases and repeated attempts. The same checks can serve both purposes. Evals are tests of an AI system. Ordinary software tests remain part of the work.</a:t>
            </a:r>
          </a:p>
          <a:p xmlns:a="http://schemas.openxmlformats.org/drawingml/2006/main">
            <a:r>
              <a:t/>
            </a:r>
          </a:p>
          <a:p xmlns:a="http://schemas.openxmlformats.org/drawingml/2006/main">
            <a:r>
              <a:rPr b="0"/>
              <a:t>A coding agent running repository checks gives you evidence to inspect. Its statement that everything passed still needs to agree with the actual result and the task's requirements.</a:t>
            </a:r>
          </a:p>
          <a:p xmlns:a="http://schemas.openxmlformats.org/drawingml/2006/main">
            <a:r>
              <a:t/>
            </a:r>
          </a:p>
          <a:p xmlns:a="http://schemas.openxmlformats.org/drawingml/2006/main">
            <a:r>
              <a:rPr b="0"/>
              <a:t>A successful demonstration shows a useful path. A product needs evidence about intended use and its important failure cases. </a:t>
            </a:r>
            <a:r>
              <a:rPr b="1"/>
              <a:t>An implementation can pass interface checks while producing an unsupported conclusion.</a:t>
            </a:r>
            <a:r>
              <a:rPr b="0"/>
              <a:t> Evaluate the outcome the user depends on, including required constraints.</a:t>
            </a:r>
          </a:p>
          <a:p xmlns:a="http://schemas.openxmlformats.org/drawingml/2006/main">
            <a:r>
              <a:t/>
            </a:r>
          </a:p>
          <a:p xmlns:a="http://schemas.openxmlformats.org/drawingml/2006/main">
            <a:r>
              <a:rPr b="0"/>
              <a:t>Advance to slide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success criteria. Define acceptable outcomes, serious failures, and useful limitations with domain experts. Broad criteria can be hard to apply consistently. Narrow checks can miss important behavior or reject valid variation. Reviewing outputs helps expose requirements you did not initially express.</a:t>
            </a:r>
          </a:p>
          <a:p xmlns:a="http://schemas.openxmlformats.org/drawingml/2006/main">
            <a:r>
              <a:t/>
            </a:r>
          </a:p>
          <a:p xmlns:a="http://schemas.openxmlformats.org/drawingml/2006/main">
            <a:r>
              <a:rPr b="0"/>
              <a:t>Second, which graders? Code checks are useful for conditions you can establish directly, such as a reference resolving or an expected state existing. Model graders can help judge varied outputs against criteria, but add cost and can disagree with experts. Expert review supplies domain judgment and uses limited expert time.</a:t>
            </a:r>
          </a:p>
          <a:p xmlns:a="http://schemas.openxmlformats.org/drawingml/2006/main">
            <a:r>
              <a:t/>
            </a:r>
          </a:p>
          <a:p xmlns:a="http://schemas.openxmlformats.org/drawingml/2006/main">
            <a:r>
              <a:rPr b="0"/>
              <a:t>Use direct checks where they fit. Compare model-grader decisions with expert decisions, inspect disagreements, and recheck as tasks or graders change. </a:t>
            </a:r>
            <a:r>
              <a:rPr b="1"/>
              <a:t>A grader also needs evaluation.</a:t>
            </a:r>
            <a:r>
              <a:rPr b="0"/>
              <a:t> In this example, a model that can receive the data is not automatically a suitable grader.</a:t>
            </a:r>
          </a:p>
          <a:p xmlns:a="http://schemas.openxmlformats.org/drawingml/2006/main">
            <a:r>
              <a:t/>
            </a:r>
          </a:p>
          <a:p xmlns:a="http://schemas.openxmlformats.org/drawingml/2006/main">
            <a:r>
              <a:rPr b="0"/>
              <a:t>Third, cases and trials. Begin with manageable cases from real work and failures, then expand coverage. Include conditions where a limitation or handoff is correct. Repeat trials where consistency matters. One successful attempt and reliable repeated use answer different questions. Preserve established cases for regression checks and add production failures.</a:t>
            </a:r>
          </a:p>
          <a:p xmlns:a="http://schemas.openxmlformats.org/drawingml/2006/main">
            <a:r>
              <a:t/>
            </a:r>
          </a:p>
          <a:p xmlns:a="http://schemas.openxmlformats.org/drawingml/2006/main">
            <a:r>
              <a:rPr b="0"/>
              <a:t>Advance to slide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a generic judge instead of error analysis. Trusting the success claim without checking the result.</a:t>
            </a:r>
            <a:r>
              <a:rPr b="0"/>
              <a:t> Inspect actual outcomes, representative coverage, and the grader itself before selecting a repair. Evaluation continues after deployment and after changes to the model or harness.</a:t>
            </a:r>
          </a:p>
          <a:p xmlns:a="http://schemas.openxmlformats.org/drawingml/2006/main">
            <a:r>
              <a:t/>
            </a:r>
          </a:p>
          <a:p xmlns:a="http://schemas.openxmlformats.org/drawingml/2006/main">
            <a:r>
              <a:rPr b="0"/>
              <a:t>Advance to slide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answer says, “The board confirmed bearing wear,” and cites FRB-042-MIN revision two, section three, paragraph two. That reference exists. The direct reference check passes.</a:t>
            </a:r>
          </a:p>
          <a:p xmlns:a="http://schemas.openxmlformats.org/drawingml/2006/main">
            <a:r>
              <a:t/>
            </a:r>
          </a:p>
          <a:p xmlns:a="http://schemas.openxmlformats.org/drawingml/2006/main">
            <a:r>
              <a:rPr b="0"/>
              <a:t>But the minutes leave the cause unresolved and require inspection before assigning one. The source-support check fails. </a:t>
            </a:r>
            <a:r>
              <a:rPr b="1"/>
              <a:t>Citation existence and semantic support are different checks.</a:t>
            </a:r>
            <a:r>
              <a:rPr b="0"/>
              <a:t> The expected answer preserves the unresolved cause and outstanding inspection.</a:t>
            </a:r>
          </a:p>
          <a:p xmlns:a="http://schemas.openxmlformats.org/drawingml/2006/main">
            <a:r>
              <a:t/>
            </a:r>
          </a:p>
          <a:p xmlns:a="http://schemas.openxmlformats.org/drawingml/2006/main">
            <a:r>
              <a:rPr b="0"/>
              <a:t>Use an authorized expert, or a suitable expert-calibrated model grader within the approved data scope, for that judgment. The failing draft cannot proceed to export. Corrected content must be checked again.</a:t>
            </a:r>
          </a:p>
          <a:p xmlns:a="http://schemas.openxmlformats.org/drawingml/2006/main">
            <a:r>
              <a:t/>
            </a:r>
          </a:p>
          <a:p xmlns:a="http://schemas.openxmlformats.org/drawingml/2006/main">
            <a:r>
              <a:rPr b="0"/>
              <a:t>Retain this as one regression case within the broader suite. Inspect the trace: did parsing, retrieval, compaction, or synthesis lose the qualification? Repair what the evidence identifies and rerun relevant cases. Passing this single check does not establish every other requirement.</a:t>
            </a:r>
          </a:p>
          <a:p xmlns:a="http://schemas.openxmlformats.org/drawingml/2006/main">
            <a:r>
              <a:t/>
            </a:r>
          </a:p>
          <a:p xmlns:a="http://schemas.openxmlformats.org/drawingml/2006/main">
            <a:r>
              <a:rPr b="0"/>
              <a:t>Production operations connects that evidence to response during real use.</a:t>
            </a:r>
          </a:p>
          <a:p xmlns:a="http://schemas.openxmlformats.org/drawingml/2006/main">
            <a:r>
              <a:t/>
            </a:r>
          </a:p>
          <a:p xmlns:a="http://schemas.openxmlformats.org/drawingml/2006/main">
            <a:r>
              <a:rPr b="1"/>
              <a:t>Check the action before accepting it. Measure behavior across representative cases. Keep both checks running as the system changes.</a:t>
            </a:r>
          </a:p>
          <a:p xmlns:a="http://schemas.openxmlformats.org/drawingml/2006/main">
            <a:r>
              <a:t/>
            </a:r>
          </a:p>
          <a:p xmlns:a="http://schemas.openxmlformats.org/drawingml/2006/main">
            <a:r>
              <a:rPr b="0"/>
              <a:t>Advance to slide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“The next wave of agent failures won't be about what agents can't do. It'll be about what teams can't observe.”</a:t>
            </a:r>
          </a:p>
          <a:p xmlns:a="http://schemas.openxmlformats.org/drawingml/2006/main">
            <a:r>
              <a:t/>
            </a:r>
          </a:p>
          <a:p xmlns:a="http://schemas.openxmlformats.org/drawingml/2006/main">
            <a:r>
              <a:rPr b="0"/>
              <a:t>That is Guillermo Rauch's perspective, quoted in Datadog's report. The team needs evidence of actual behavior and responsibility for responding when the system departs from its intended use.</a:t>
            </a:r>
          </a:p>
          <a:p xmlns:a="http://schemas.openxmlformats.org/drawingml/2006/main">
            <a:r>
              <a:t/>
            </a:r>
          </a:p>
          <a:p xmlns:a="http://schemas.openxmlformats.org/drawingml/2006/main">
            <a:r>
              <a:rPr b="0"/>
              <a:t>Advance to slide 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Production operations keeps the deployed system observable, controlled, and accountable. Observability connects actions and outcomes. Guardrails constrain behavior. Identity and security establish access and authority. Governance assigns responsibility for changes and incidents. Permissions, execution limits, and usage information are familiar from coding agents; a deployed product needs a responsible team behind them.</a:t>
            </a:r>
          </a:p>
          <a:p xmlns:a="http://schemas.openxmlformats.org/drawingml/2006/main">
            <a:r>
              <a:t/>
            </a:r>
          </a:p>
          <a:p xmlns:a="http://schemas.openxmlformats.org/drawingml/2006/main">
            <a:r>
              <a:rPr b="0"/>
              <a:t>Models, prompts, records, permissions, and services can change without a corresponding application-code change. Quality, cost, latency, and access may change with them. New integrations also create combinations of capabilities that deserve a fresh review.</a:t>
            </a:r>
          </a:p>
          <a:p xmlns:a="http://schemas.openxmlformats.org/drawingml/2006/main">
            <a:r>
              <a:t/>
            </a:r>
          </a:p>
          <a:p xmlns:a="http://schemas.openxmlformats.org/drawingml/2006/main">
            <a:r>
              <a:rPr b="0"/>
              <a:t>Advance to slide 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authority. Define whose scope an action uses, which records it permits, and where information may go. Start with least privilege and enforce boundaries outside the model. Broader access makes more tasks possible and expands what a wrong request can affect.</a:t>
            </a:r>
          </a:p>
          <a:p xmlns:a="http://schemas.openxmlformats.org/drawingml/2006/main">
            <a:r>
              <a:t/>
            </a:r>
          </a:p>
          <a:p xmlns:a="http://schemas.openxmlformats.org/drawingml/2006/main">
            <a:r>
              <a:rPr b="0"/>
              <a:t>Second, observation. Connect requests to source revisions, observable actions, checks, and outcomes. Track quality, cost per completed task, and end-to-end latency, including retries and verification. Choose evidence that supports investigation and protect access to it. More telemetry also creates more information to manage.</a:t>
            </a:r>
          </a:p>
          <a:p xmlns:a="http://schemas.openxmlformats.org/drawingml/2006/main">
            <a:r>
              <a:t/>
            </a:r>
          </a:p>
          <a:p xmlns:a="http://schemas.openxmlformats.org/drawingml/2006/main">
            <a:r>
              <a:rPr b="0"/>
              <a:t>Third, operating limits and handoff. Orchestration implements the run's rules. Here, assign the product policy and response: what happens when a check fails, evidence is unavailable, or a budget is exhausted? The person taking over needs the task, known state, relevant evidence, and unresolved questions.</a:t>
            </a:r>
          </a:p>
          <a:p xmlns:a="http://schemas.openxmlformats.org/drawingml/2006/main">
            <a:r>
              <a:t/>
            </a:r>
          </a:p>
          <a:p xmlns:a="http://schemas.openxmlformats.org/drawingml/2006/main">
            <a:r>
              <a:rPr b="0"/>
              <a:t>Fourth, accountability. Identify who approves changes and who investigates incidents. Keep a way to restrict a capability or revert a problematic configuration. Evaluate changes and monitor their effects. Reverting configuration does not automatically undo an action already completed.</a:t>
            </a:r>
          </a:p>
          <a:p xmlns:a="http://schemas.openxmlformats.org/drawingml/2006/main">
            <a:r>
              <a:t/>
            </a:r>
          </a:p>
          <a:p xmlns:a="http://schemas.openxmlformats.org/drawingml/2006/main">
            <a:r>
              <a:rPr b="0"/>
              <a:t>Advance to slide 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the lethal trifecta, assembled one integration at a time.</a:t>
            </a:r>
            <a:r>
              <a:rPr b="0"/>
              <a:t> Willison describes private data, untrusted content, and external communication combining into a potential path for data theft. A document can contain instructions, and an outbound request can carry information. Review the combined path and break or constrain it.</a:t>
            </a:r>
          </a:p>
          <a:p xmlns:a="http://schemas.openxmlformats.org/drawingml/2006/main">
            <a:r>
              <a:t/>
            </a:r>
          </a:p>
          <a:p xmlns:a="http://schemas.openxmlformats.org/drawingml/2006/main">
            <a:r>
              <a:rPr b="0"/>
              <a:t>This is one threat model, not a complete safety test. A probabilistic filter can contribute to protection but is insufficient as the sole security boundary.</a:t>
            </a:r>
          </a:p>
          <a:p xmlns:a="http://schemas.openxmlformats.org/drawingml/2006/main">
            <a:r>
              <a:t/>
            </a:r>
          </a:p>
          <a:p xmlns:a="http://schemas.openxmlformats.org/drawingml/2006/main">
            <a:r>
              <a:rPr b="0"/>
              <a:t>Advance to slide 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operating agreement carries forward our approved processing scope and permitted export destinations. Apply those restrictions to derived context, traces, and evaluation artifacts too.</a:t>
            </a:r>
          </a:p>
          <a:p xmlns:a="http://schemas.openxmlformats.org/drawingml/2006/main">
            <a:r>
              <a:t/>
            </a:r>
          </a:p>
          <a:p xmlns:a="http://schemas.openxmlformats.org/drawingml/2006/main">
            <a:r>
              <a:rPr b="0"/>
              <a:t>Connect each brief to the source revisions, actions, checks, and export receipt or unknown state. Monitor supported findings, freshness, parsing and tool failures, cost per completed brief, and latency. Assign an authorized responder for failed checks, missing evidence, exhausted budgets, and unresolved export outcomes.</a:t>
            </a:r>
          </a:p>
          <a:p xmlns:a="http://schemas.openxmlformats.org/drawingml/2006/main">
            <a:r>
              <a:t/>
            </a:r>
          </a:p>
          <a:p xmlns:a="http://schemas.openxmlformats.org/drawingml/2006/main">
            <a:r>
              <a:rPr b="1"/>
              <a:t>People remain responsible for official causes, decisions, and board records.</a:t>
            </a:r>
            <a:r>
              <a:rPr b="0"/>
              <a:t> If failures increase, the team investigates the evidence, repairs the responsible component, reruns the relevant evals, and monitors after the change. Useful controls and signals need people accountable for acting on them.</a:t>
            </a:r>
          </a:p>
          <a:p xmlns:a="http://schemas.openxmlformats.org/drawingml/2006/main">
            <a:r>
              <a:t/>
            </a:r>
          </a:p>
          <a:p xmlns:a="http://schemas.openxmlformats.org/drawingml/2006/main">
            <a:r>
              <a:rPr b="1"/>
              <a:t>The system needs evidence of its behavior and people accountable for responding.</a:t>
            </a:r>
          </a:p>
          <a:p xmlns:a="http://schemas.openxmlformats.org/drawingml/2006/main">
            <a:r>
              <a:t/>
            </a:r>
          </a:p>
          <a:p xmlns:a="http://schemas.openxmlformats.org/drawingml/2006/main">
            <a:r>
              <a:rPr b="0"/>
              <a:t>Advance to slide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WRAP</a:t>
            </a:r>
          </a:p>
          <a:p xmlns:a="http://schemas.openxmlformats.org/drawingml/2006/main">
            <a:r>
              <a:t/>
            </a:r>
          </a:p>
          <a:p xmlns:a="http://schemas.openxmlformats.org/drawingml/2006/main">
            <a:r>
              <a:rPr b="0"/>
              <a:t>We have followed one system through six connected responsibilities: eligible models, useful context, tool contracts, execution control, evidence of quality, and production operations. A change in one can affect the others.</a:t>
            </a:r>
          </a:p>
          <a:p xmlns:a="http://schemas.openxmlformats.org/drawingml/2006/main">
            <a:r>
              <a:t/>
            </a:r>
          </a:p>
          <a:p xmlns:a="http://schemas.openxmlformats.org/drawingml/2006/main">
            <a:r>
              <a:rPr b="0"/>
              <a:t>The diagram is now a map of engineering work you can identify, test, and improve. Much of it builds on software engineering skills you already have. The next section connects those foundations to the additional competencies you need.</a:t>
            </a:r>
          </a:p>
          <a:p xmlns:a="http://schemas.openxmlformats.org/drawingml/2006/main">
            <a:r>
              <a:t/>
            </a:r>
          </a:p>
          <a:p xmlns:a="http://schemas.openxmlformats.org/drawingml/2006/main">
            <a:r>
              <a:rPr b="1"/>
              <a:t>The responsibilities connect. Your existing engineering skills give you a foundation.</a:t>
            </a:r>
          </a:p>
          <a:p xmlns:a="http://schemas.openxmlformats.org/drawingml/2006/main">
            <a:r>
              <a:t/>
            </a:r>
          </a:p>
          <a:p xmlns:a="http://schemas.openxmlformats.org/drawingml/2006/main">
            <a:r>
              <a:rPr b="0"/>
              <a:t>Advance to slide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Everything in the section we just covered was engineering. </a:t>
            </a:r>
            <a:r>
              <a:rPr b="1"/>
              <a:t>Most of it is engineering you already do.</a:t>
            </a:r>
          </a:p>
          <a:p xmlns:a="http://schemas.openxmlformats.org/drawingml/2006/main">
            <a:r>
              <a:t/>
            </a:r>
          </a:p>
          <a:p xmlns:a="http://schemas.openxmlformats.org/drawingml/2006/main">
            <a:r>
              <a:rPr b="0"/>
              <a:t>Advance to slide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The introductory bridge was spoken on slide 41.</a:t>
            </a:r>
          </a:p>
          <a:p xmlns:a="http://schemas.openxmlformats.org/drawingml/2006/main">
            <a:r>
              <a:t/>
            </a:r>
          </a:p>
          <a:p xmlns:a="http://schemas.openxmlformats.org/drawingml/2006/main">
            <a:r>
              <a:rPr b="1"/>
              <a:t>Decomposition and systems thinking transfer whole.</a:t>
            </a:r>
            <a:r>
              <a:rPr b="0"/>
              <a:t> Matt Morgis at Elsevier: "For experienced engineers who know how to break problems down, AI tools are an incredible force multiplier." The harness is a systems design problem. </a:t>
            </a:r>
            <a:r>
              <a:rPr b="1"/>
              <a:t>Interface design becomes tool design.</a:t>
            </a:r>
            <a:r>
              <a:rPr b="0"/>
              <a:t> The same instincts about contracts, naming, granularity, and error handling. The caller changed. </a:t>
            </a:r>
            <a:r>
              <a:rPr b="1"/>
              <a:t>Testing discipline extends to evals.</a:t>
            </a:r>
            <a:r>
              <a:rPr b="0"/>
              <a:t> The habit of checking before accepting a result transfers. Ordinary tests remain part of the machinery. Observability transfers with a new schema: traces, spans, p95s. Security transfers: least privilege now applies to tools. Operations transfer: cost, latency, incident response, rollback. The units changed to tokens.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Field evidence. Gergely Orosz profiled engineers at incident.io, Sentry, Elsevier, and others who crossed over in months, not years. One twenty-five-year veteran became his company's generative AI expert in about two months, by reading and prototyping.</a:t>
            </a:r>
          </a:p>
          <a:p xmlns:a="http://schemas.openxmlformats.org/drawingml/2006/main">
            <a:r>
              <a:t/>
            </a:r>
          </a:p>
          <a:p xmlns:a="http://schemas.openxmlformats.org/drawingml/2006/main">
            <a:r>
              <a:rPr b="1"/>
              <a:t>You are not starting over. You are adding a layer.</a:t>
            </a:r>
          </a:p>
          <a:p xmlns:a="http://schemas.openxmlformats.org/drawingml/2006/main">
            <a:r>
              <a:t/>
            </a:r>
          </a:p>
          <a:p xmlns:a="http://schemas.openxmlformats.org/drawingml/2006/main">
            <a:r>
              <a:rPr b="0"/>
              <a:t>Advance to slide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The introductory bridge was spoken on slide 41.</a:t>
            </a:r>
          </a:p>
          <a:p xmlns:a="http://schemas.openxmlformats.org/drawingml/2006/main">
            <a:r>
              <a:t/>
            </a:r>
          </a:p>
          <a:p xmlns:a="http://schemas.openxmlformats.org/drawingml/2006/main">
            <a:r>
              <a:rPr b="1"/>
              <a:t>Decomposition and systems thinking transfer whole.</a:t>
            </a:r>
            <a:r>
              <a:rPr b="0"/>
              <a:t> Matt Morgis at Elsevier: "For experienced engineers who know how to break problems down, AI tools are an incredible force multiplier." The harness is a systems design problem. </a:t>
            </a:r>
            <a:r>
              <a:rPr b="1"/>
              <a:t>Interface design becomes tool design.</a:t>
            </a:r>
            <a:r>
              <a:rPr b="0"/>
              <a:t> The same instincts about contracts, naming, granularity, and error handling. The caller changed. </a:t>
            </a:r>
            <a:r>
              <a:rPr b="1"/>
              <a:t>Testing discipline extends to evals.</a:t>
            </a:r>
            <a:r>
              <a:rPr b="0"/>
              <a:t> The habit of checking before accepting a result transfers. Ordinary tests remain part of the machinery. Observability transfers with a new schema: traces, spans, p95s. Security transfers: least privilege now applies to tools. Operations transfer: cost, latency, incident response, rollback. The units changed to tokens.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Field evidence. Gergely Orosz profiled engineers at incident.io, Sentry, Elsevier, and others who crossed over in months, not years. One twenty-five-year veteran became his company's generative AI expert in about two months, by reading and prototyping.</a:t>
            </a:r>
          </a:p>
          <a:p xmlns:a="http://schemas.openxmlformats.org/drawingml/2006/main">
            <a:r>
              <a:t/>
            </a:r>
          </a:p>
          <a:p xmlns:a="http://schemas.openxmlformats.org/drawingml/2006/main">
            <a:r>
              <a:rPr b="1"/>
              <a:t>You are not starting over. You are adding a layer.</a:t>
            </a:r>
          </a:p>
          <a:p xmlns:a="http://schemas.openxmlformats.org/drawingml/2006/main">
            <a:r>
              <a:t/>
            </a:r>
          </a:p>
          <a:p xmlns:a="http://schemas.openxmlformats.org/drawingml/2006/main">
            <a:r>
              <a:rPr b="0"/>
              <a:t>Advance to slide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Prompt engineering, context engineering, harness engineering.</a:t>
            </a:r>
            <a:r>
              <a:rPr b="0"/>
              <a:t> This is a teaching frame for expanding responsibility. The years mark vocabulary in cited posts, not the invention of these practices.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competencies are unranked. Model behavior intuition, informed by reading outputs. Context engineering. Tool design for a caller that reads the description every time. Harness and loop design. </a:t>
            </a:r>
            <a:r>
              <a:rPr b="1"/>
              <a:t>Evals and error analysis.</a:t>
            </a:r>
            <a:r>
              <a:rPr b="0"/>
              <a:t> AI security, because the attack surface is now the model's reasoning. And cost and latency as first-class design constraints.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one most engineers find hardest, from Ross McNairn at Wordsmith: </a:t>
            </a:r>
            <a:r>
              <a:rPr b="1"/>
              <a:t>"Getting comfortable with evaluations and iterating on non-deterministic outputs is the biggest challenge most devs have."</a:t>
            </a:r>
          </a:p>
          <a:p xmlns:a="http://schemas.openxmlformats.org/drawingml/2006/main">
            <a:r>
              <a:t/>
            </a:r>
          </a:p>
          <a:p xmlns:a="http://schemas.openxmlformats.org/drawingml/2006/main">
            <a:r>
              <a:rPr b="1"/>
              <a:t>The new skill is not prompting. It is being comfortable measuring a system you cannot fully specify.</a:t>
            </a:r>
          </a:p>
          <a:p xmlns:a="http://schemas.openxmlformats.org/drawingml/2006/main">
            <a:r>
              <a:t/>
            </a:r>
          </a:p>
          <a:p xmlns:a="http://schemas.openxmlformats.org/drawingml/2006/main">
            <a:r>
              <a:rPr b="0"/>
              <a:t>Advance to slide 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Prompt engineering, context engineering, harness engineering.</a:t>
            </a:r>
            <a:r>
              <a:rPr b="0"/>
              <a:t> This is a teaching frame for expanding responsibility. The years mark vocabulary in cited posts, not the invention of these practices.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competencies are unranked. Model behavior intuition, informed by reading outputs. Context engineering. Tool design for a caller that reads the description every time. Harness and loop design. </a:t>
            </a:r>
            <a:r>
              <a:rPr b="1"/>
              <a:t>Evals and error analysis.</a:t>
            </a:r>
            <a:r>
              <a:rPr b="0"/>
              <a:t> AI security, because the attack surface is now the model's reasoning. And cost and latency as first-class design constraints.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one most engineers find hardest, from Ross McNairn at Wordsmith: </a:t>
            </a:r>
            <a:r>
              <a:rPr b="1"/>
              <a:t>"Getting comfortable with evaluations and iterating on non-deterministic outputs is the biggest challenge most devs have."</a:t>
            </a:r>
          </a:p>
          <a:p xmlns:a="http://schemas.openxmlformats.org/drawingml/2006/main">
            <a:r>
              <a:t/>
            </a:r>
          </a:p>
          <a:p xmlns:a="http://schemas.openxmlformats.org/drawingml/2006/main">
            <a:r>
              <a:rPr b="1"/>
              <a:t>The new skill is not prompting. It is being comfortable measuring a system you cannot fully specify.</a:t>
            </a:r>
          </a:p>
          <a:p xmlns:a="http://schemas.openxmlformats.org/drawingml/2006/main">
            <a:r>
              <a:t/>
            </a:r>
          </a:p>
          <a:p xmlns:a="http://schemas.openxmlformats.org/drawingml/2006/main">
            <a:r>
              <a:rPr b="0"/>
              <a:t>Advance to slide 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Prompt engineering, context engineering, harness engineering.</a:t>
            </a:r>
            <a:r>
              <a:rPr b="0"/>
              <a:t> This is a teaching frame for expanding responsibility. The years mark vocabulary in cited posts, not the invention of these practices.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competencies are unranked. Model behavior intuition, informed by reading outputs. Context engineering. Tool design for a caller that reads the description every time. Harness and loop design. </a:t>
            </a:r>
            <a:r>
              <a:rPr b="1"/>
              <a:t>Evals and error analysis.</a:t>
            </a:r>
            <a:r>
              <a:rPr b="0"/>
              <a:t> AI security, because the attack surface is now the model's reasoning. And cost and latency as first-class design constraints.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one most engineers find hardest, from Ross McNairn at Wordsmith: </a:t>
            </a:r>
            <a:r>
              <a:rPr b="1"/>
              <a:t>"Getting comfortable with evaluations and iterating on non-deterministic outputs is the biggest challenge most devs have."</a:t>
            </a:r>
          </a:p>
          <a:p xmlns:a="http://schemas.openxmlformats.org/drawingml/2006/main">
            <a:r>
              <a:t/>
            </a:r>
          </a:p>
          <a:p xmlns:a="http://schemas.openxmlformats.org/drawingml/2006/main">
            <a:r>
              <a:rPr b="1"/>
              <a:t>The new skill is not prompting. It is being comfortable measuring a system you cannot fully specify.</a:t>
            </a:r>
          </a:p>
          <a:p xmlns:a="http://schemas.openxmlformats.org/drawingml/2006/main">
            <a:r>
              <a:t/>
            </a:r>
          </a:p>
          <a:p xmlns:a="http://schemas.openxmlformats.org/drawingml/2006/main">
            <a:r>
              <a:rPr b="0"/>
              <a:t>Advance to slide 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 Let them read it.</a:t>
            </a:r>
          </a:p>
          <a:p xmlns:a="http://schemas.openxmlformats.org/drawingml/2006/main">
            <a:r>
              <a:t/>
            </a:r>
          </a:p>
          <a:p xmlns:a="http://schemas.openxmlformats.org/drawingml/2006/main">
            <a:r>
              <a:rPr b="0"/>
              <a:t>You have seen all six.</a:t>
            </a:r>
          </a:p>
          <a:p xmlns:a="http://schemas.openxmlformats.org/drawingml/2006/main">
            <a:r>
              <a:t/>
            </a:r>
          </a:p>
          <a:p xmlns:a="http://schemas.openxmlformats.org/drawingml/2006/main">
            <a:r>
              <a:rPr b="1"/>
              <a:t>Every one is a symptom of the same thing: treating the demo as the product.</a:t>
            </a:r>
            <a:r>
              <a:rPr b="0"/>
              <a:t> works.any() shipped as works.all().</a:t>
            </a:r>
          </a:p>
          <a:p xmlns:a="http://schemas.openxmlformats.org/drawingml/2006/main">
            <a:r>
              <a:t/>
            </a:r>
          </a:p>
          <a:p xmlns:a="http://schemas.openxmlformats.org/drawingml/2006/main">
            <a:r>
              <a:rPr b="0"/>
              <a:t>One more that is not on the map: reaching for a framework before understanding the loop. Anthropic's warning is that frameworks "create extra layers of abstraction that can obscure the underlying prompts and responses." Learn the loop first.</a:t>
            </a:r>
          </a:p>
          <a:p xmlns:a="http://schemas.openxmlformats.org/drawingml/2006/main">
            <a:r>
              <a:t/>
            </a:r>
          </a:p>
          <a:p xmlns:a="http://schemas.openxmlformats.org/drawingml/2006/main">
            <a:r>
              <a:rPr b="1"/>
              <a:t>Every pitfall on this list is a demo mistaken for a product.</a:t>
            </a:r>
          </a:p>
          <a:p xmlns:a="http://schemas.openxmlformats.org/drawingml/2006/main">
            <a:r>
              <a:t/>
            </a:r>
          </a:p>
          <a:p xmlns:a="http://schemas.openxmlformats.org/drawingml/2006/main">
            <a:r>
              <a:rPr b="0"/>
              <a:t>Advance to slide 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Four steps. </a:t>
            </a:r>
            <a:r>
              <a:rPr b="1"/>
              <a:t>Look before you build. Review twenty to fifty outputs by hand.</a:t>
            </a:r>
            <a:r>
              <a:rPr b="0"/>
              <a:t> Record the input, observed behavior, expected behavior, and check. That is your first eval material.</a:t>
            </a:r>
          </a:p>
          <a:p xmlns:a="http://schemas.openxmlformats.org/drawingml/2006/main">
            <a:r>
              <a:t/>
            </a:r>
          </a:p>
          <a:p xmlns:a="http://schemas.openxmlformats.org/drawingml/2006/main">
            <a:r>
              <a:rPr b="1"/>
              <a:t>Start constrained. One model call with retrieval and examples. Then a workflow. Add a loop only when it demonstrably improves outcomes.</a:t>
            </a:r>
          </a:p>
          <a:p xmlns:a="http://schemas.openxmlformats.org/drawingml/2006/main">
            <a:r>
              <a:t/>
            </a:r>
          </a:p>
          <a:p xmlns:a="http://schemas.openxmlformats.org/drawingml/2006/main">
            <a:r>
              <a:rPr b="0"/>
              <a:t>Own the harness: prompts, context, control flow. Understand the loop before choosing a framework.</a:t>
            </a:r>
          </a:p>
          <a:p xmlns:a="http://schemas.openxmlformats.org/drawingml/2006/main">
            <a:r>
              <a:t/>
            </a:r>
          </a:p>
          <a:p xmlns:a="http://schemas.openxmlformats.org/drawingml/2006/main">
            <a:r>
              <a:rPr b="1"/>
              <a:t>Add autonomy as your evals earn it.</a:t>
            </a:r>
            <a:r>
              <a:rPr b="0"/>
              <a:t> Each increase needs checks that catch what it breaks.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For our FRB summary, record the false confirmation, the unresolved cause, and the source-support check. </a:t>
            </a:r>
            <a:r>
              <a:rPr b="1"/>
              <a:t>Use this same record for your own system.</a:t>
            </a:r>
          </a:p>
          <a:p xmlns:a="http://schemas.openxmlformats.org/drawingml/2006/main">
            <a:r>
              <a:t/>
            </a:r>
          </a:p>
          <a:p xmlns:a="http://schemas.openxmlformats.org/drawingml/2006/main">
            <a:r>
              <a:rPr b="0"/>
              <a:t>Story #3.</a:t>
            </a:r>
          </a:p>
          <a:p xmlns:a="http://schemas.openxmlformats.org/drawingml/2006/main">
            <a:r>
              <a:t/>
            </a:r>
          </a:p>
          <a:p xmlns:a="http://schemas.openxmlformats.org/drawingml/2006/main">
            <a:r>
              <a:rPr b="1"/>
              <a:t>[your story #3]</a:t>
            </a:r>
            <a:r>
              <a:rPr b="0"/>
              <a:t> What you would tell yourself at the start of the transition. It must show one thing you would do earlier, and what it would have saved. Thirty seconds.</a:t>
            </a:r>
          </a:p>
          <a:p xmlns:a="http://schemas.openxmlformats.org/drawingml/2006/main">
            <a:r>
              <a:t/>
            </a:r>
          </a:p>
          <a:p xmlns:a="http://schemas.openxmlformats.org/drawingml/2006/main">
            <a:r>
              <a:rPr b="1"/>
              <a:t>Autonomy is earned by evals, one step at a time.</a:t>
            </a:r>
            <a:r>
              <a:rPr b="0"/>
              <a:t> Advance to slide 46 on the last word.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Four steps. </a:t>
            </a:r>
            <a:r>
              <a:rPr b="1"/>
              <a:t>Look before you build. Review twenty to fifty outputs by hand.</a:t>
            </a:r>
            <a:r>
              <a:rPr b="0"/>
              <a:t> Record the input, observed behavior, expected behavior, and check. That is your first eval material.</a:t>
            </a:r>
          </a:p>
          <a:p xmlns:a="http://schemas.openxmlformats.org/drawingml/2006/main">
            <a:r>
              <a:t/>
            </a:r>
          </a:p>
          <a:p xmlns:a="http://schemas.openxmlformats.org/drawingml/2006/main">
            <a:r>
              <a:rPr b="1"/>
              <a:t>Start constrained. One model call with retrieval and examples. Then a workflow. Add a loop only when it demonstrably improves outcomes.</a:t>
            </a:r>
          </a:p>
          <a:p xmlns:a="http://schemas.openxmlformats.org/drawingml/2006/main">
            <a:r>
              <a:t/>
            </a:r>
          </a:p>
          <a:p xmlns:a="http://schemas.openxmlformats.org/drawingml/2006/main">
            <a:r>
              <a:rPr b="0"/>
              <a:t>Own the harness: prompts, context, control flow. Understand the loop before choosing a framework.</a:t>
            </a:r>
          </a:p>
          <a:p xmlns:a="http://schemas.openxmlformats.org/drawingml/2006/main">
            <a:r>
              <a:t/>
            </a:r>
          </a:p>
          <a:p xmlns:a="http://schemas.openxmlformats.org/drawingml/2006/main">
            <a:r>
              <a:rPr b="1"/>
              <a:t>Add autonomy as your evals earn it.</a:t>
            </a:r>
            <a:r>
              <a:rPr b="0"/>
              <a:t> Each increase needs checks that catch what it breaks.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For our FRB summary, record the false confirmation, the unresolved cause, and the source-support check. </a:t>
            </a:r>
            <a:r>
              <a:rPr b="1"/>
              <a:t>Use this same record for your own system.</a:t>
            </a:r>
          </a:p>
          <a:p xmlns:a="http://schemas.openxmlformats.org/drawingml/2006/main">
            <a:r>
              <a:t/>
            </a:r>
          </a:p>
          <a:p xmlns:a="http://schemas.openxmlformats.org/drawingml/2006/main">
            <a:r>
              <a:rPr b="0"/>
              <a:t>Story #3.</a:t>
            </a:r>
          </a:p>
          <a:p xmlns:a="http://schemas.openxmlformats.org/drawingml/2006/main">
            <a:r>
              <a:t/>
            </a:r>
          </a:p>
          <a:p xmlns:a="http://schemas.openxmlformats.org/drawingml/2006/main">
            <a:r>
              <a:rPr b="1"/>
              <a:t>[your story #3]</a:t>
            </a:r>
            <a:r>
              <a:rPr b="0"/>
              <a:t> What you would tell yourself at the start of the transition. It must show one thing you would do earlier, and what it would have saved. Thirty seconds.</a:t>
            </a:r>
          </a:p>
          <a:p xmlns:a="http://schemas.openxmlformats.org/drawingml/2006/main">
            <a:r>
              <a:t/>
            </a:r>
          </a:p>
          <a:p xmlns:a="http://schemas.openxmlformats.org/drawingml/2006/main">
            <a:r>
              <a:rPr b="1"/>
              <a:t>Autonomy is earned by evals, one step at a time.</a:t>
            </a:r>
            <a:r>
              <a:rPr b="0"/>
              <a:t> Advance to slide 46 on the last word.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Advance to slide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Let’s use the remaining time for your questions.</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b9b15775d2240c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92893b9156e9470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4f34e3ef5b0d4c8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B5BEB966-E381-4492-8DFE-3E01F0BBEE4D}"/>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4c202445d7b4c2f" /><Relationship Type="http://schemas.openxmlformats.org/officeDocument/2006/relationships/slideLayout" Target="/ppt/slideLayouts/slideLayout1.xml" Id="R9c85137ac0eb4fe7"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f3c32ae2effe44d8" /><Relationship Type="http://schemas.openxmlformats.org/officeDocument/2006/relationships/slideLayout" Target="/ppt/slideLayouts/slideLayout2.xml" Id="R59a65eae074747d1" /><Relationship Type="http://schemas.openxmlformats.org/officeDocument/2006/relationships/slideLayout" Target="/ppt/slideLayouts/slideLayout3.xml" Id="Rae8f4dbc7e86495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c85137ac0eb4fe7"/>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59a65eae074747d1"/>
    <p:sldLayoutId xmlns:r="http://schemas.openxmlformats.org/officeDocument/2006/relationships" id="2147483652" r:id="Rae8f4dbc7e86495a"/>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643e90929205435e" /><Relationship Type="http://schemas.openxmlformats.org/officeDocument/2006/relationships/notesSlide" Target="/ppt/notesSlides/notesSlide1.xml" Id="Rd781cee7b91c4ec2"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a1735af209654de8" /><Relationship Type="http://schemas.openxmlformats.org/officeDocument/2006/relationships/image" Target="/ppt/media/image.png" Id="R42262e8276234762" /><Relationship Type="http://schemas.openxmlformats.org/officeDocument/2006/relationships/notesSlide" Target="/ppt/notesSlides/notesSlide2.xml" Id="R03de3372d2434999"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8cb85c71b32c4a27" /><Relationship Type="http://schemas.openxmlformats.org/officeDocument/2006/relationships/notesSlide" Target="/ppt/notesSlides/notesSlide3.xml" Id="R48fc4b1f707542b9"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2a78477ad0404098" /><Relationship Type="http://schemas.openxmlformats.org/officeDocument/2006/relationships/notesSlide" Target="/ppt/notesSlides/notesSlide4.xml" Id="R02dd9b5f23cc44a8"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2512d484fab948af" /><Relationship Type="http://schemas.openxmlformats.org/officeDocument/2006/relationships/notesSlide" Target="/ppt/notesSlides/notesSlide5.xml" Id="Rb7b4c9d9d3174ef4"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98027257f8034a8c" /><Relationship Type="http://schemas.openxmlformats.org/officeDocument/2006/relationships/notesSlide" Target="/ppt/notesSlides/notesSlide6.xml" Id="R733455a0ee184876"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55d14fb0fb5648b3" /><Relationship Type="http://schemas.openxmlformats.org/officeDocument/2006/relationships/notesSlide" Target="/ppt/notesSlides/notesSlide7.xml" Id="R56982ac8888b4498"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a294614a895446fd" /><Relationship Type="http://schemas.openxmlformats.org/officeDocument/2006/relationships/notesSlide" Target="/ppt/notesSlides/notesSlide8.xml" Id="R89a1d599aaec42f9"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5a4d237a35e14d44" /><Relationship Type="http://schemas.openxmlformats.org/officeDocument/2006/relationships/notesSlide" Target="/ppt/notesSlides/notesSlide9.xml" Id="Rb29af9892ac6446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2ac8c9b009db4ffc" /><Relationship Type="http://schemas.openxmlformats.org/officeDocument/2006/relationships/image" Target="/ppt/media/image2.png" Id="R7118457e118241bb" /><Relationship Type="http://schemas.openxmlformats.org/officeDocument/2006/relationships/notesSlide" Target="/ppt/notesSlides/notesSlide10.xml" Id="R0a99b8298c22492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f697908d6e104b5f" /><Relationship Type="http://schemas.openxmlformats.org/officeDocument/2006/relationships/image" Target="/ppt/media/image3.png" Id="R14a81dd9ebb64c99" /><Relationship Type="http://schemas.openxmlformats.org/officeDocument/2006/relationships/notesSlide" Target="/ppt/notesSlides/notesSlide11.xml" Id="Re2c8147ed17d4ae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0576522234d5411c" /><Relationship Type="http://schemas.openxmlformats.org/officeDocument/2006/relationships/image" Target="/ppt/media/image4.png" Id="R0080910a13de4dc1" /><Relationship Type="http://schemas.openxmlformats.org/officeDocument/2006/relationships/notesSlide" Target="/ppt/notesSlides/notesSlide12.xml" Id="R7bd5cc24090f435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6c5ec9229f2d4a9f" /><Relationship Type="http://schemas.openxmlformats.org/officeDocument/2006/relationships/image" Target="/ppt/media/image5.png" Id="R8c5fdcec97b84ec9" /><Relationship Type="http://schemas.openxmlformats.org/officeDocument/2006/relationships/notesSlide" Target="/ppt/notesSlides/notesSlide13.xml" Id="R44a21aa8644e4cb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4c02c689cbc94433" /><Relationship Type="http://schemas.openxmlformats.org/officeDocument/2006/relationships/image" Target="/ppt/media/image6.png" Id="Rd53e8ff871d24d93" /><Relationship Type="http://schemas.openxmlformats.org/officeDocument/2006/relationships/notesSlide" Target="/ppt/notesSlides/notesSlide14.xml" Id="R1cf99a273963414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ad1c3da8d8e448c7" /><Relationship Type="http://schemas.openxmlformats.org/officeDocument/2006/relationships/image" Target="/ppt/media/image7.png" Id="Rad7ffb6c54fb49b1" /><Relationship Type="http://schemas.openxmlformats.org/officeDocument/2006/relationships/notesSlide" Target="/ppt/notesSlides/notesSlide15.xml" Id="R4b104a29131c4fd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a767b403c4054627" /><Relationship Type="http://schemas.openxmlformats.org/officeDocument/2006/relationships/image" Target="/ppt/media/image8.png" Id="R06b224b45e4a4bd0" /><Relationship Type="http://schemas.openxmlformats.org/officeDocument/2006/relationships/image" Target="/ppt/media/image9.png" Id="R7c313e1af3eb4716" /><Relationship Type="http://schemas.openxmlformats.org/officeDocument/2006/relationships/notesSlide" Target="/ppt/notesSlides/notesSlide16.xml" Id="R648bc9c301f844e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484e628c522d4e30" /><Relationship Type="http://schemas.openxmlformats.org/officeDocument/2006/relationships/image" Target="/ppt/media/image10.png" Id="R2f9c0d99ed644688" /><Relationship Type="http://schemas.openxmlformats.org/officeDocument/2006/relationships/notesSlide" Target="/ppt/notesSlides/notesSlide17.xml" Id="Ra33e7da3a992430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a939aefa63784507" /><Relationship Type="http://schemas.openxmlformats.org/officeDocument/2006/relationships/image" Target="/ppt/media/image11.png" Id="R6ed8812acca1496a" /><Relationship Type="http://schemas.openxmlformats.org/officeDocument/2006/relationships/notesSlide" Target="/ppt/notesSlides/notesSlide18.xml" Id="Rd21ad61a36bb46b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c852f3e8bacb4777" /><Relationship Type="http://schemas.openxmlformats.org/officeDocument/2006/relationships/image" Target="/ppt/media/image12.png" Id="R602bc983c2884a80" /><Relationship Type="http://schemas.openxmlformats.org/officeDocument/2006/relationships/notesSlide" Target="/ppt/notesSlides/notesSlide19.xml" Id="R95873686b9fa435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942d8a0e22da4c67" /><Relationship Type="http://schemas.openxmlformats.org/officeDocument/2006/relationships/image" Target="/ppt/media/image13.png" Id="R55bf5089b00c4e4b" /><Relationship Type="http://schemas.openxmlformats.org/officeDocument/2006/relationships/notesSlide" Target="/ppt/notesSlides/notesSlide20.xml" Id="R65d583bbe2db445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ca8e2b3ede4441b0" /><Relationship Type="http://schemas.openxmlformats.org/officeDocument/2006/relationships/image" Target="/ppt/media/image14.png" Id="Ra355ad1e7976455d" /><Relationship Type="http://schemas.openxmlformats.org/officeDocument/2006/relationships/image" Target="/ppt/media/image15.png" Id="R54bcee60d7034668" /><Relationship Type="http://schemas.openxmlformats.org/officeDocument/2006/relationships/notesSlide" Target="/ppt/notesSlides/notesSlide21.xml" Id="R1dc531aa87d3459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66eb7d3d1b6d408c" /><Relationship Type="http://schemas.openxmlformats.org/officeDocument/2006/relationships/image" Target="/ppt/media/image16.png" Id="R5dfa70ac9cad458d" /><Relationship Type="http://schemas.openxmlformats.org/officeDocument/2006/relationships/notesSlide" Target="/ppt/notesSlides/notesSlide22.xml" Id="R5ab2b11133cc493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1cd96eada9064b1f" /><Relationship Type="http://schemas.openxmlformats.org/officeDocument/2006/relationships/image" Target="/ppt/media/image17.png" Id="R7e40e8f254584620" /><Relationship Type="http://schemas.openxmlformats.org/officeDocument/2006/relationships/notesSlide" Target="/ppt/notesSlides/notesSlide23.xml" Id="R4f6328805f154a5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c8a8669bd0984b5a" /><Relationship Type="http://schemas.openxmlformats.org/officeDocument/2006/relationships/image" Target="/ppt/media/image18.png" Id="Ra4a4598fd35a4b23" /><Relationship Type="http://schemas.openxmlformats.org/officeDocument/2006/relationships/notesSlide" Target="/ppt/notesSlides/notesSlide24.xml" Id="R5e26e3d9dd934dd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f5bf69f0e7c04ab7" /><Relationship Type="http://schemas.openxmlformats.org/officeDocument/2006/relationships/image" Target="/ppt/media/image19.png" Id="R0db0d1ad0f4d4131" /><Relationship Type="http://schemas.openxmlformats.org/officeDocument/2006/relationships/notesSlide" Target="/ppt/notesSlides/notesSlide25.xml" Id="Rf11130c8524a4c8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5fe7f04fbb6d4502" /><Relationship Type="http://schemas.openxmlformats.org/officeDocument/2006/relationships/image" Target="/ppt/media/image20.png" Id="R24881fb27a0f4f40" /><Relationship Type="http://schemas.openxmlformats.org/officeDocument/2006/relationships/image" Target="/ppt/media/image21.png" Id="R51df21ff4250496d" /><Relationship Type="http://schemas.openxmlformats.org/officeDocument/2006/relationships/notesSlide" Target="/ppt/notesSlides/notesSlide26.xml" Id="Rab809de4429648f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4bc41df7f2e449bf" /><Relationship Type="http://schemas.openxmlformats.org/officeDocument/2006/relationships/image" Target="/ppt/media/image22.png" Id="R0adecdc5e8264e9a" /><Relationship Type="http://schemas.openxmlformats.org/officeDocument/2006/relationships/notesSlide" Target="/ppt/notesSlides/notesSlide27.xml" Id="Rc48fcd3690234c1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55e89f181c664fac" /><Relationship Type="http://schemas.openxmlformats.org/officeDocument/2006/relationships/image" Target="/ppt/media/image23.png" Id="Rd620283a39d64bfe" /><Relationship Type="http://schemas.openxmlformats.org/officeDocument/2006/relationships/notesSlide" Target="/ppt/notesSlides/notesSlide28.xml" Id="R417c8dd7b0a3417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03367e5655ae487d" /><Relationship Type="http://schemas.openxmlformats.org/officeDocument/2006/relationships/image" Target="/ppt/media/image24.png" Id="R6f2977eee48d4588" /><Relationship Type="http://schemas.openxmlformats.org/officeDocument/2006/relationships/notesSlide" Target="/ppt/notesSlides/notesSlide29.xml" Id="Rc63a0b2afabf4b5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c60e3387b1f84492" /><Relationship Type="http://schemas.openxmlformats.org/officeDocument/2006/relationships/image" Target="/ppt/media/image25.png" Id="R26fbca95f29a494e" /><Relationship Type="http://schemas.openxmlformats.org/officeDocument/2006/relationships/notesSlide" Target="/ppt/notesSlides/notesSlide30.xml" Id="Re55597e0df66484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411a9c5afad34e71" /><Relationship Type="http://schemas.openxmlformats.org/officeDocument/2006/relationships/image" Target="/ppt/media/image26.png" Id="Rbbe430dbe1bd4532" /><Relationship Type="http://schemas.openxmlformats.org/officeDocument/2006/relationships/image" Target="/ppt/media/image27.png" Id="R68c75ef6ae544806" /><Relationship Type="http://schemas.openxmlformats.org/officeDocument/2006/relationships/notesSlide" Target="/ppt/notesSlides/notesSlide31.xml" Id="R88970a597146447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f1e6d8a9a440472d" /><Relationship Type="http://schemas.openxmlformats.org/officeDocument/2006/relationships/image" Target="/ppt/media/image28.png" Id="R3a8289ef15ea4f49" /><Relationship Type="http://schemas.openxmlformats.org/officeDocument/2006/relationships/notesSlide" Target="/ppt/notesSlides/notesSlide32.xml" Id="Rc3a3b6d12c15428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e44670bc67234e12" /><Relationship Type="http://schemas.openxmlformats.org/officeDocument/2006/relationships/image" Target="/ppt/media/image29.png" Id="Rb4a8faa0eb3c48c5" /><Relationship Type="http://schemas.openxmlformats.org/officeDocument/2006/relationships/notesSlide" Target="/ppt/notesSlides/notesSlide33.xml" Id="Re452a48f87a343d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eb5d73d3dbf5469c" /><Relationship Type="http://schemas.openxmlformats.org/officeDocument/2006/relationships/image" Target="/ppt/media/image30.png" Id="Rae057280e7ba4a08" /><Relationship Type="http://schemas.openxmlformats.org/officeDocument/2006/relationships/notesSlide" Target="/ppt/notesSlides/notesSlide34.xml" Id="Rc561fd61270b466e"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ad01388a22684ef9" /><Relationship Type="http://schemas.openxmlformats.org/officeDocument/2006/relationships/image" Target="/ppt/media/image31.png" Id="R4ce40996bac545f6" /><Relationship Type="http://schemas.openxmlformats.org/officeDocument/2006/relationships/notesSlide" Target="/ppt/notesSlides/notesSlide35.xml" Id="Rf535097b549c401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372da7e0814a49dd" /><Relationship Type="http://schemas.openxmlformats.org/officeDocument/2006/relationships/image" Target="/ppt/media/image32.png" Id="Rece8d1ab2c804ca7" /><Relationship Type="http://schemas.openxmlformats.org/officeDocument/2006/relationships/image" Target="/ppt/media/image33.png" Id="R643c80b0b2f349dd" /><Relationship Type="http://schemas.openxmlformats.org/officeDocument/2006/relationships/notesSlide" Target="/ppt/notesSlides/notesSlide36.xml" Id="R31c642ffd2604e2b"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d2e429814ce54157" /><Relationship Type="http://schemas.openxmlformats.org/officeDocument/2006/relationships/image" Target="/ppt/media/image34.png" Id="R5d7175a2ee6245b0" /><Relationship Type="http://schemas.openxmlformats.org/officeDocument/2006/relationships/notesSlide" Target="/ppt/notesSlides/notesSlide37.xml" Id="R350b6157556240e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bd2ed52e9c304804" /><Relationship Type="http://schemas.openxmlformats.org/officeDocument/2006/relationships/image" Target="/ppt/media/image35.png" Id="R0f4be9c2f84a463c" /><Relationship Type="http://schemas.openxmlformats.org/officeDocument/2006/relationships/notesSlide" Target="/ppt/notesSlides/notesSlide38.xml" Id="Reb979ee804974dd3"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e5633efc34c34262" /><Relationship Type="http://schemas.openxmlformats.org/officeDocument/2006/relationships/image" Target="/ppt/media/image36.png" Id="R31d1ca98464f43dd" /><Relationship Type="http://schemas.openxmlformats.org/officeDocument/2006/relationships/notesSlide" Target="/ppt/notesSlides/notesSlide39.xml" Id="Rcec80c6290b14fd2"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288409e8ee7a4eba" /><Relationship Type="http://schemas.openxmlformats.org/officeDocument/2006/relationships/image" Target="/ppt/media/image37.png" Id="Rc3899c52823e4272" /><Relationship Type="http://schemas.openxmlformats.org/officeDocument/2006/relationships/notesSlide" Target="/ppt/notesSlides/notesSlide40.xml" Id="R7aaf5d5a29e64dab"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9754d515166e45fa" /><Relationship Type="http://schemas.openxmlformats.org/officeDocument/2006/relationships/image" Target="/ppt/media/image38.png" Id="R098a5525a079442f" /><Relationship Type="http://schemas.openxmlformats.org/officeDocument/2006/relationships/image" Target="/ppt/media/image39.png" Id="Ra66c97b38ae84436" /><Relationship Type="http://schemas.openxmlformats.org/officeDocument/2006/relationships/notesSlide" Target="/ppt/notesSlides/notesSlide41.xml" Id="R1edf656b933d4f77"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e57ee1f8badf4202" /><Relationship Type="http://schemas.openxmlformats.org/officeDocument/2006/relationships/image" Target="/ppt/media/image40.png" Id="Rebd6afeb5c2048cb" /><Relationship Type="http://schemas.openxmlformats.org/officeDocument/2006/relationships/notesSlide" Target="/ppt/notesSlides/notesSlide42.xml" Id="Rbfe897415d034ddc"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9c832a0704cc46b6" /><Relationship Type="http://schemas.openxmlformats.org/officeDocument/2006/relationships/image" Target="/ppt/media/image41.png" Id="Rd73ae7e16014422a" /><Relationship Type="http://schemas.openxmlformats.org/officeDocument/2006/relationships/notesSlide" Target="/ppt/notesSlides/notesSlide43.xml" Id="R6d39eb3efde44b3f"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5070239731684f49" /><Relationship Type="http://schemas.openxmlformats.org/officeDocument/2006/relationships/image" Target="/ppt/media/image42.png" Id="R265acabedd3547e9" /><Relationship Type="http://schemas.openxmlformats.org/officeDocument/2006/relationships/notesSlide" Target="/ppt/notesSlides/notesSlide44.xml" Id="R1af86e6f81a146f7"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c56de3253411499b" /><Relationship Type="http://schemas.openxmlformats.org/officeDocument/2006/relationships/image" Target="/ppt/media/image43.png" Id="Rf94de4177ea547fb" /><Relationship Type="http://schemas.openxmlformats.org/officeDocument/2006/relationships/notesSlide" Target="/ppt/notesSlides/notesSlide45.xml" Id="R6c8bcad0464c4df3"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ead20616d3594944" /><Relationship Type="http://schemas.openxmlformats.org/officeDocument/2006/relationships/image" Target="/ppt/media/image44.png" Id="R81b52c132bb04a7b" /><Relationship Type="http://schemas.openxmlformats.org/officeDocument/2006/relationships/notesSlide" Target="/ppt/notesSlides/notesSlide46.xml" Id="Ra662b084660447d5"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d3717f3035ad4784" /><Relationship Type="http://schemas.openxmlformats.org/officeDocument/2006/relationships/notesSlide" Target="/ppt/notesSlides/notesSlide47.xml" Id="R8c672e8bc3bd441d"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257b693520da4416" /><Relationship Type="http://schemas.openxmlformats.org/officeDocument/2006/relationships/image" Target="/ppt/media/image45.png" Id="R2d9cd49b0acd4f71" /><Relationship Type="http://schemas.openxmlformats.org/officeDocument/2006/relationships/notesSlide" Target="/ppt/notesSlides/notesSlide48.xml" Id="Rf13bbfc285354856"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727d66c3022d40c7" /><Relationship Type="http://schemas.openxmlformats.org/officeDocument/2006/relationships/image" Target="/ppt/media/image45.png" Id="R624a881630d44dcd" /><Relationship Type="http://schemas.openxmlformats.org/officeDocument/2006/relationships/notesSlide" Target="/ppt/notesSlides/notesSlide49.xml" Id="Re68bc30161a1442f"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6bc6d14071c442cd" /><Relationship Type="http://schemas.openxmlformats.org/officeDocument/2006/relationships/image" Target="/ppt/media/image46.png" Id="R1edee51c02f74bcc" /><Relationship Type="http://schemas.openxmlformats.org/officeDocument/2006/relationships/notesSlide" Target="/ppt/notesSlides/notesSlide50.xml" Id="R0e0d229bab1947d3"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8846651fcf214f7e" /><Relationship Type="http://schemas.openxmlformats.org/officeDocument/2006/relationships/image" Target="/ppt/media/image47.png" Id="R8d63eaa282264a6d" /><Relationship Type="http://schemas.openxmlformats.org/officeDocument/2006/relationships/notesSlide" Target="/ppt/notesSlides/notesSlide51.xml" Id="R6bbc4b4e236d4795"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d19716792de14bd3" /><Relationship Type="http://schemas.openxmlformats.org/officeDocument/2006/relationships/image" Target="/ppt/media/image47.png" Id="R014bf6f0c3254890" /><Relationship Type="http://schemas.openxmlformats.org/officeDocument/2006/relationships/notesSlide" Target="/ppt/notesSlides/notesSlide52.xml" Id="Rdbe8d17efbc14ba6"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e686c7ae92b94ee7" /><Relationship Type="http://schemas.openxmlformats.org/officeDocument/2006/relationships/notesSlide" Target="/ppt/notesSlides/notesSlide53.xml" Id="R66a6e80b133f432d" /></Relationships>
</file>

<file path=ppt/slides/_rels/slide54.xml.rels>&#65279;<?xml version="1.0" encoding="utf-8"?><Relationships xmlns="http://schemas.openxmlformats.org/package/2006/relationships"><Relationship Type="http://schemas.openxmlformats.org/officeDocument/2006/relationships/slideLayout" Target="/ppt/slideLayouts/slideLayout2.xml" Id="Rf89d3bde68ce468f" /><Relationship Type="http://schemas.openxmlformats.org/officeDocument/2006/relationships/image" Target="/ppt/media/image48.png" Id="R021d0308fd704048" /><Relationship Type="http://schemas.openxmlformats.org/officeDocument/2006/relationships/notesSlide" Target="/ppt/notesSlides/notesSlide54.xml" Id="R630cf2b01d5b4988" /></Relationships>
</file>

<file path=ppt/slides/_rels/slide55.xml.rels>&#65279;<?xml version="1.0" encoding="utf-8"?><Relationships xmlns="http://schemas.openxmlformats.org/package/2006/relationships"><Relationship Type="http://schemas.openxmlformats.org/officeDocument/2006/relationships/slideLayout" Target="/ppt/slideLayouts/slideLayout2.xml" Id="Rfc823a89e3b14e86" /><Relationship Type="http://schemas.openxmlformats.org/officeDocument/2006/relationships/image" Target="/ppt/media/image48.png" Id="R558e5280a8c14850" /><Relationship Type="http://schemas.openxmlformats.org/officeDocument/2006/relationships/notesSlide" Target="/ppt/notesSlides/notesSlide55.xml" Id="R4ee206c394194de1" /></Relationships>
</file>

<file path=ppt/slides/_rels/slide56.xml.rels>&#65279;<?xml version="1.0" encoding="utf-8"?><Relationships xmlns="http://schemas.openxmlformats.org/package/2006/relationships"><Relationship Type="http://schemas.openxmlformats.org/officeDocument/2006/relationships/slideLayout" Target="/ppt/slideLayouts/slideLayout2.xml" Id="R76f97483d9a44175" /><Relationship Type="http://schemas.openxmlformats.org/officeDocument/2006/relationships/notesSlide" Target="/ppt/notesSlides/notesSlide56.xml" Id="Rd6cd0a76d7c24e3a" /></Relationships>
</file>

<file path=ppt/slides/_rels/slide57.xml.rels>&#65279;<?xml version="1.0" encoding="utf-8"?><Relationships xmlns="http://schemas.openxmlformats.org/package/2006/relationships"><Relationship Type="http://schemas.openxmlformats.org/officeDocument/2006/relationships/slideLayout" Target="/ppt/slideLayouts/slideLayout2.xml" Id="R1d63b996d6334ee9" /><Relationship Type="http://schemas.openxmlformats.org/officeDocument/2006/relationships/notesSlide" Target="/ppt/notesSlides/notesSlide57.xml" Id="R7882f53875be43e7"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F84A18FF-2ACD-4DBD-9F74-3C992DDB358D}"/>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132A3EA1-9DBF-446A-8F5A-FF674E4B740E}"/>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99DA8C40-9746-44B9-877B-09BD867EB08B}"/>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E6E3BB94-4096-4946-8390-2270CC2DC30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895081673"/>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2" name="02-image-1"/>
          <p:cNvPicPr>
            <a:picLocks xmlns:a="http://schemas.openxmlformats.org/drawingml/2006/main" noChangeAspect="1"/>
          </p:cNvPicPr>
          <p:nvPr/>
        </p:nvPicPr>
        <p:blipFill>
          <a:blip xmlns:r="http://schemas.openxmlformats.org/officeDocument/2006/relationships" xmlns:a="http://schemas.openxmlformats.org/drawingml/2006/main" r:embed="R42262e8276234762"/>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6" name="02-text-2">
            <a:extLst xmlns:a="http://schemas.openxmlformats.org/drawingml/2006/main">
              <a:ext uri="{FF2B5EF4-FFF2-40B4-BE49-F238E27FC236}">
                <a16:creationId xmlns:a16="http://schemas.microsoft.com/office/drawing/2014/main" id="{EDCC091D-5B50-4DE8-88A2-AE9D1DF2ABF5}"/>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7" name="02-text-3">
            <a:extLst xmlns:a="http://schemas.openxmlformats.org/drawingml/2006/main">
              <a:ext uri="{FF2B5EF4-FFF2-40B4-BE49-F238E27FC236}">
                <a16:creationId xmlns:a16="http://schemas.microsoft.com/office/drawing/2014/main" id="{F6D384F6-EA9D-4B98-B668-B4454525FA4A}"/>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8" name="02-text-4">
            <a:extLst xmlns:a="http://schemas.openxmlformats.org/drawingml/2006/main">
              <a:ext uri="{FF2B5EF4-FFF2-40B4-BE49-F238E27FC236}">
                <a16:creationId xmlns:a16="http://schemas.microsoft.com/office/drawing/2014/main" id="{06E29B56-5FEE-4398-A6A0-C54BEE9B56A4}"/>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9" name="02-text-5">
            <a:extLst xmlns:a="http://schemas.openxmlformats.org/drawingml/2006/main">
              <a:ext uri="{FF2B5EF4-FFF2-40B4-BE49-F238E27FC236}">
                <a16:creationId xmlns:a16="http://schemas.microsoft.com/office/drawing/2014/main" id="{C7004B51-7EC2-4F75-96C1-EE9FDECBBD1A}"/>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0" name="02-text-6">
            <a:extLst xmlns:a="http://schemas.openxmlformats.org/drawingml/2006/main">
              <a:ext uri="{FF2B5EF4-FFF2-40B4-BE49-F238E27FC236}">
                <a16:creationId xmlns:a16="http://schemas.microsoft.com/office/drawing/2014/main" id="{4677ACB8-CE48-4023-A61F-06A62599AF2B}"/>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1" name="narrative-number">
            <a:extLst xmlns:a="http://schemas.openxmlformats.org/drawingml/2006/main">
              <a:ext uri="{FF2B5EF4-FFF2-40B4-BE49-F238E27FC236}">
                <a16:creationId xmlns:a16="http://schemas.microsoft.com/office/drawing/2014/main" id="{0519C42A-5865-4B83-9479-91C509620E9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2030814843"/>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 name="03-text-1">
            <a:extLst xmlns:a="http://schemas.openxmlformats.org/drawingml/2006/main">
              <a:ext uri="{FF2B5EF4-FFF2-40B4-BE49-F238E27FC236}">
                <a16:creationId xmlns:a16="http://schemas.microsoft.com/office/drawing/2014/main" id="{6E06DB55-0191-4C30-A113-95C0446EDE27}"/>
              </a:ext>
            </a:extLst>
          </p:cNvPr>
          <p:cNvSpPr>
            <a:spLocks xmlns:a="http://schemas.openxmlformats.org/drawingml/2006/main"/>
          </p:cNvSpPr>
          <p:nvPr/>
        </p:nvSpPr>
        <p:spPr>
          <a:xfrm xmlns:a="http://schemas.openxmlformats.org/drawingml/2006/main">
            <a:off x="609600" y="4572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Agenda</a:t>
            </a:r>
          </a:p>
        </p:txBody>
      </p:sp>
      <p:sp>
        <p:nvSpPr>
          <p:cNvPr id="13" name="03-text-2">
            <a:extLst xmlns:a="http://schemas.openxmlformats.org/drawingml/2006/main">
              <a:ext uri="{FF2B5EF4-FFF2-40B4-BE49-F238E27FC236}">
                <a16:creationId xmlns:a16="http://schemas.microsoft.com/office/drawing/2014/main" id="{A4A035CE-38E5-4780-BC21-09180435191B}"/>
              </a:ext>
            </a:extLst>
          </p:cNvPr>
          <p:cNvSpPr>
            <a:spLocks xmlns:a="http://schemas.openxmlformats.org/drawingml/2006/main"/>
          </p:cNvSpPr>
          <p:nvPr/>
        </p:nvSpPr>
        <p:spPr>
          <a:xfrm xmlns:a="http://schemas.openxmlformats.org/drawingml/2006/main">
            <a:off x="609600" y="12700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14" name="03-text-3">
            <a:extLst xmlns:a="http://schemas.openxmlformats.org/drawingml/2006/main">
              <a:ext uri="{FF2B5EF4-FFF2-40B4-BE49-F238E27FC236}">
                <a16:creationId xmlns:a16="http://schemas.microsoft.com/office/drawing/2014/main" id="{88CEAEDE-C6BD-4BD2-9548-2F71060EADF9}"/>
              </a:ext>
            </a:extLst>
          </p:cNvPr>
          <p:cNvSpPr>
            <a:spLocks xmlns:a="http://schemas.openxmlformats.org/drawingml/2006/main"/>
          </p:cNvSpPr>
          <p:nvPr/>
        </p:nvSpPr>
        <p:spPr>
          <a:xfrm xmlns:a="http://schemas.openxmlformats.org/drawingml/2006/main">
            <a:off x="1117600" y="12700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changes when AI becomes part of the product</a:t>
            </a:r>
          </a:p>
        </p:txBody>
      </p:sp>
      <p:sp>
        <p:nvSpPr>
          <p:cNvPr id="15" name="03-text-4">
            <a:extLst xmlns:a="http://schemas.openxmlformats.org/drawingml/2006/main">
              <a:ext uri="{FF2B5EF4-FFF2-40B4-BE49-F238E27FC236}">
                <a16:creationId xmlns:a16="http://schemas.microsoft.com/office/drawing/2014/main" id="{953A70F7-2B4C-4DD4-A650-3F2A2F85676C}"/>
              </a:ext>
            </a:extLst>
          </p:cNvPr>
          <p:cNvSpPr>
            <a:spLocks xmlns:a="http://schemas.openxmlformats.org/drawingml/2006/main"/>
          </p:cNvSpPr>
          <p:nvPr/>
        </p:nvSpPr>
        <p:spPr>
          <a:xfrm xmlns:a="http://schemas.openxmlformats.org/drawingml/2006/main">
            <a:off x="609600" y="18796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16" name="03-text-5">
            <a:extLst xmlns:a="http://schemas.openxmlformats.org/drawingml/2006/main">
              <a:ext uri="{FF2B5EF4-FFF2-40B4-BE49-F238E27FC236}">
                <a16:creationId xmlns:a16="http://schemas.microsoft.com/office/drawing/2014/main" id="{1EA723B4-AD7B-46AD-9245-72CF9157642F}"/>
              </a:ext>
            </a:extLst>
          </p:cNvPr>
          <p:cNvSpPr>
            <a:spLocks xmlns:a="http://schemas.openxmlformats.org/drawingml/2006/main"/>
          </p:cNvSpPr>
          <p:nvPr/>
        </p:nvSpPr>
        <p:spPr>
          <a:xfrm xmlns:a="http://schemas.openxmlformats.org/drawingml/2006/main">
            <a:off x="1117600" y="18796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AI engineers actually engineer</a:t>
            </a:r>
          </a:p>
        </p:txBody>
      </p:sp>
      <p:sp>
        <p:nvSpPr>
          <p:cNvPr id="17" name="03-text-6">
            <a:extLst xmlns:a="http://schemas.openxmlformats.org/drawingml/2006/main">
              <a:ext uri="{FF2B5EF4-FFF2-40B4-BE49-F238E27FC236}">
                <a16:creationId xmlns:a16="http://schemas.microsoft.com/office/drawing/2014/main" id="{1FAE1B0D-121D-4E0C-881A-BD31DB6A59B8}"/>
              </a:ext>
            </a:extLst>
          </p:cNvPr>
          <p:cNvSpPr>
            <a:spLocks xmlns:a="http://schemas.openxmlformats.org/drawingml/2006/main"/>
          </p:cNvSpPr>
          <p:nvPr/>
        </p:nvSpPr>
        <p:spPr>
          <a:xfrm xmlns:a="http://schemas.openxmlformats.org/drawingml/2006/main">
            <a:off x="609600" y="33401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18" name="03-text-7">
            <a:extLst xmlns:a="http://schemas.openxmlformats.org/drawingml/2006/main">
              <a:ext uri="{FF2B5EF4-FFF2-40B4-BE49-F238E27FC236}">
                <a16:creationId xmlns:a16="http://schemas.microsoft.com/office/drawing/2014/main" id="{B624F384-DF4E-4FFD-92D7-D871DC910F0D}"/>
              </a:ext>
            </a:extLst>
          </p:cNvPr>
          <p:cNvSpPr>
            <a:spLocks xmlns:a="http://schemas.openxmlformats.org/drawingml/2006/main"/>
          </p:cNvSpPr>
          <p:nvPr/>
        </p:nvSpPr>
        <p:spPr>
          <a:xfrm xmlns:a="http://schemas.openxmlformats.org/drawingml/2006/main">
            <a:off x="1117600" y="33401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Making the transition</a:t>
            </a:r>
          </a:p>
        </p:txBody>
      </p:sp>
      <p:sp>
        <p:nvSpPr>
          <p:cNvPr id="19" name="03-text-8">
            <a:extLst xmlns:a="http://schemas.openxmlformats.org/drawingml/2006/main">
              <a:ext uri="{FF2B5EF4-FFF2-40B4-BE49-F238E27FC236}">
                <a16:creationId xmlns:a16="http://schemas.microsoft.com/office/drawing/2014/main" id="{C259C10D-A06A-44CB-B979-656BCDB23483}"/>
              </a:ext>
            </a:extLst>
          </p:cNvPr>
          <p:cNvSpPr>
            <a:spLocks xmlns:a="http://schemas.openxmlformats.org/drawingml/2006/main"/>
          </p:cNvSpPr>
          <p:nvPr/>
        </p:nvSpPr>
        <p:spPr>
          <a:xfrm xmlns:a="http://schemas.openxmlformats.org/drawingml/2006/main">
            <a:off x="609600" y="42799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0" name="03-text-9">
            <a:extLst xmlns:a="http://schemas.openxmlformats.org/drawingml/2006/main">
              <a:ext uri="{FF2B5EF4-FFF2-40B4-BE49-F238E27FC236}">
                <a16:creationId xmlns:a16="http://schemas.microsoft.com/office/drawing/2014/main" id="{33552883-386E-4A8B-B6EB-BEF1E20CED75}"/>
              </a:ext>
            </a:extLst>
          </p:cNvPr>
          <p:cNvSpPr>
            <a:spLocks xmlns:a="http://schemas.openxmlformats.org/drawingml/2006/main"/>
          </p:cNvSpPr>
          <p:nvPr/>
        </p:nvSpPr>
        <p:spPr>
          <a:xfrm xmlns:a="http://schemas.openxmlformats.org/drawingml/2006/main">
            <a:off x="1117600" y="42799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Questions and discussion</a:t>
            </a:r>
          </a:p>
        </p:txBody>
      </p:sp>
      <p:sp>
        <p:nvSpPr>
          <p:cNvPr id="21" name="03-text-10">
            <a:extLst xmlns:a="http://schemas.openxmlformats.org/drawingml/2006/main">
              <a:ext uri="{FF2B5EF4-FFF2-40B4-BE49-F238E27FC236}">
                <a16:creationId xmlns:a16="http://schemas.microsoft.com/office/drawing/2014/main" id="{8262A7F8-A020-4E02-B0EA-9CBAB572444E}"/>
              </a:ext>
            </a:extLst>
          </p:cNvPr>
          <p:cNvSpPr>
            <a:spLocks xmlns:a="http://schemas.openxmlformats.org/drawingml/2006/main"/>
          </p:cNvSpPr>
          <p:nvPr/>
        </p:nvSpPr>
        <p:spPr>
          <a:xfrm xmlns:a="http://schemas.openxmlformats.org/drawingml/2006/main">
            <a:off x="1117600" y="2362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064F8"/>
                </a:solidFill>
                <a:latin typeface="Helvetica"/>
                <a:ea typeface="Helvetica"/>
                <a:cs typeface="Helvetica"/>
              </a:defRPr>
            </a:pPr>
            <a:r>
              <a:rPr b="0">
                <a:solidFill>
                  <a:srgbClr val="1064F8"/>
                </a:solidFill>
                <a:latin typeface="Helvetica"/>
                <a:ea typeface="Helvetica"/>
                <a:cs typeface="Helvetica"/>
              </a:rPr>
              <a:t>Models</a:t>
            </a:r>
          </a:p>
        </p:txBody>
      </p:sp>
      <p:sp>
        <p:nvSpPr>
          <p:cNvPr id="22" name="03-text-11">
            <a:extLst xmlns:a="http://schemas.openxmlformats.org/drawingml/2006/main">
              <a:ext uri="{FF2B5EF4-FFF2-40B4-BE49-F238E27FC236}">
                <a16:creationId xmlns:a16="http://schemas.microsoft.com/office/drawing/2014/main" id="{AFF5B5B1-D670-45A2-9812-03D99D3A4F7F}"/>
              </a:ext>
            </a:extLst>
          </p:cNvPr>
          <p:cNvSpPr>
            <a:spLocks xmlns:a="http://schemas.openxmlformats.org/drawingml/2006/main"/>
          </p:cNvSpPr>
          <p:nvPr/>
        </p:nvSpPr>
        <p:spPr>
          <a:xfrm xmlns:a="http://schemas.openxmlformats.org/drawingml/2006/main">
            <a:off x="4597400" y="2362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Context and knowledge</a:t>
            </a:r>
          </a:p>
        </p:txBody>
      </p:sp>
      <p:sp>
        <p:nvSpPr>
          <p:cNvPr id="23" name="03-text-12">
            <a:extLst xmlns:a="http://schemas.openxmlformats.org/drawingml/2006/main">
              <a:ext uri="{FF2B5EF4-FFF2-40B4-BE49-F238E27FC236}">
                <a16:creationId xmlns:a16="http://schemas.microsoft.com/office/drawing/2014/main" id="{6B3EBA61-45CE-474B-910E-5D05D5149BFF}"/>
              </a:ext>
            </a:extLst>
          </p:cNvPr>
          <p:cNvSpPr>
            <a:spLocks xmlns:a="http://schemas.openxmlformats.org/drawingml/2006/main"/>
          </p:cNvSpPr>
          <p:nvPr/>
        </p:nvSpPr>
        <p:spPr>
          <a:xfrm xmlns:a="http://schemas.openxmlformats.org/drawingml/2006/main">
            <a:off x="8432800" y="2362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Tools and extensibility</a:t>
            </a:r>
          </a:p>
        </p:txBody>
      </p:sp>
      <p:sp>
        <p:nvSpPr>
          <p:cNvPr id="24" name="03-text-13">
            <a:extLst xmlns:a="http://schemas.openxmlformats.org/drawingml/2006/main">
              <a:ext uri="{FF2B5EF4-FFF2-40B4-BE49-F238E27FC236}">
                <a16:creationId xmlns:a16="http://schemas.microsoft.com/office/drawing/2014/main" id="{FF6335C6-CDAE-4F76-8B82-A188AA4FBBDD}"/>
              </a:ext>
            </a:extLst>
          </p:cNvPr>
          <p:cNvSpPr>
            <a:spLocks xmlns:a="http://schemas.openxmlformats.org/drawingml/2006/main"/>
          </p:cNvSpPr>
          <p:nvPr/>
        </p:nvSpPr>
        <p:spPr>
          <a:xfrm xmlns:a="http://schemas.openxmlformats.org/drawingml/2006/main">
            <a:off x="1117600" y="2743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Orchestration</a:t>
            </a:r>
          </a:p>
        </p:txBody>
      </p:sp>
      <p:sp>
        <p:nvSpPr>
          <p:cNvPr id="25" name="03-text-14">
            <a:extLst xmlns:a="http://schemas.openxmlformats.org/drawingml/2006/main">
              <a:ext uri="{FF2B5EF4-FFF2-40B4-BE49-F238E27FC236}">
                <a16:creationId xmlns:a16="http://schemas.microsoft.com/office/drawing/2014/main" id="{54A6D438-83B0-49DD-A524-853181CE7C91}"/>
              </a:ext>
            </a:extLst>
          </p:cNvPr>
          <p:cNvSpPr>
            <a:spLocks xmlns:a="http://schemas.openxmlformats.org/drawingml/2006/main"/>
          </p:cNvSpPr>
          <p:nvPr/>
        </p:nvSpPr>
        <p:spPr>
          <a:xfrm xmlns:a="http://schemas.openxmlformats.org/drawingml/2006/main">
            <a:off x="4597400" y="2743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01B66D"/>
                </a:solidFill>
                <a:latin typeface="Helvetica"/>
                <a:ea typeface="Helvetica"/>
                <a:cs typeface="Helvetica"/>
              </a:defRPr>
            </a:pPr>
            <a:r>
              <a:rPr b="0">
                <a:solidFill>
                  <a:srgbClr val="01B66D"/>
                </a:solidFill>
                <a:latin typeface="Helvetica"/>
                <a:ea typeface="Helvetica"/>
                <a:cs typeface="Helvetica"/>
              </a:rPr>
              <a:t>Verification and evals</a:t>
            </a:r>
          </a:p>
        </p:txBody>
      </p:sp>
      <p:sp>
        <p:nvSpPr>
          <p:cNvPr id="26" name="03-text-15">
            <a:extLst xmlns:a="http://schemas.openxmlformats.org/drawingml/2006/main">
              <a:ext uri="{FF2B5EF4-FFF2-40B4-BE49-F238E27FC236}">
                <a16:creationId xmlns:a16="http://schemas.microsoft.com/office/drawing/2014/main" id="{E75AB331-3A7D-4A07-995C-23873BE63E97}"/>
              </a:ext>
            </a:extLst>
          </p:cNvPr>
          <p:cNvSpPr>
            <a:spLocks xmlns:a="http://schemas.openxmlformats.org/drawingml/2006/main"/>
          </p:cNvSpPr>
          <p:nvPr/>
        </p:nvSpPr>
        <p:spPr>
          <a:xfrm xmlns:a="http://schemas.openxmlformats.org/drawingml/2006/main">
            <a:off x="8432800" y="2743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DAD00"/>
                </a:solidFill>
                <a:latin typeface="Helvetica"/>
                <a:ea typeface="Helvetica"/>
                <a:cs typeface="Helvetica"/>
              </a:defRPr>
            </a:pPr>
            <a:r>
              <a:rPr b="0">
                <a:solidFill>
                  <a:srgbClr val="FDAD00"/>
                </a:solidFill>
                <a:latin typeface="Helvetica"/>
                <a:ea typeface="Helvetica"/>
                <a:cs typeface="Helvetica"/>
              </a:rPr>
              <a:t>Production operations</a:t>
            </a:r>
          </a:p>
        </p:txBody>
      </p:sp>
      <p:sp>
        <p:nvSpPr>
          <p:cNvPr id="27" name="03-text-16">
            <a:extLst xmlns:a="http://schemas.openxmlformats.org/drawingml/2006/main">
              <a:ext uri="{FF2B5EF4-FFF2-40B4-BE49-F238E27FC236}">
                <a16:creationId xmlns:a16="http://schemas.microsoft.com/office/drawing/2014/main" id="{327863FD-DCE3-4DB1-8A12-72E7A956C248}"/>
              </a:ext>
            </a:extLst>
          </p:cNvPr>
          <p:cNvSpPr>
            <a:spLocks xmlns:a="http://schemas.openxmlformats.org/drawingml/2006/main"/>
          </p:cNvSpPr>
          <p:nvPr/>
        </p:nvSpPr>
        <p:spPr>
          <a:xfrm xmlns:a="http://schemas.openxmlformats.org/drawingml/2006/main">
            <a:off x="1117600" y="3784600"/>
            <a:ext cx="10464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Skills that transfer, new competencies, and where to start</a:t>
            </a:r>
          </a:p>
        </p:txBody>
      </p:sp>
      <p:sp>
        <p:nvSpPr>
          <p:cNvPr id="28" name="03-shape-17">
            <a:extLst xmlns:a="http://schemas.openxmlformats.org/drawingml/2006/main">
              <a:ext uri="{FF2B5EF4-FFF2-40B4-BE49-F238E27FC236}">
                <a16:creationId xmlns:a16="http://schemas.microsoft.com/office/drawing/2014/main" id="{D2459426-C087-427B-9D83-DAE0F4128EFA}"/>
              </a:ext>
            </a:extLst>
          </p:cNvPr>
          <p:cNvSpPr>
            <a:spLocks xmlns:a="http://schemas.openxmlformats.org/drawingml/2006/main"/>
          </p:cNvSpPr>
          <p:nvPr/>
        </p:nvSpPr>
        <p:spPr>
          <a:xfrm xmlns:a="http://schemas.openxmlformats.org/drawingml/2006/main">
            <a:off x="609600" y="49403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 name="03-text-18">
            <a:extLst xmlns:a="http://schemas.openxmlformats.org/drawingml/2006/main">
              <a:ext uri="{FF2B5EF4-FFF2-40B4-BE49-F238E27FC236}">
                <a16:creationId xmlns:a16="http://schemas.microsoft.com/office/drawing/2014/main" id="{E185B1D5-024B-4152-9B4F-AFC07A78CAA5}"/>
              </a:ext>
            </a:extLst>
          </p:cNvPr>
          <p:cNvSpPr>
            <a:spLocks xmlns:a="http://schemas.openxmlformats.org/drawingml/2006/main"/>
          </p:cNvSpPr>
          <p:nvPr/>
        </p:nvSpPr>
        <p:spPr>
          <a:xfrm xmlns:a="http://schemas.openxmlformats.org/drawingml/2006/main">
            <a:off x="609600" y="5168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You'll leave with</a:t>
            </a:r>
          </a:p>
        </p:txBody>
      </p:sp>
      <p:sp>
        <p:nvSpPr>
          <p:cNvPr id="30" name="03-text-19">
            <a:extLst xmlns:a="http://schemas.openxmlformats.org/drawingml/2006/main">
              <a:ext uri="{FF2B5EF4-FFF2-40B4-BE49-F238E27FC236}">
                <a16:creationId xmlns:a16="http://schemas.microsoft.com/office/drawing/2014/main" id="{A92AEEB1-8385-48B3-80F4-4B4016C8CD58}"/>
              </a:ext>
            </a:extLst>
          </p:cNvPr>
          <p:cNvSpPr>
            <a:spLocks xmlns:a="http://schemas.openxmlformats.org/drawingml/2006/main"/>
          </p:cNvSpPr>
          <p:nvPr/>
        </p:nvSpPr>
        <p:spPr>
          <a:xfrm xmlns:a="http://schemas.openxmlformats.org/drawingml/2006/main">
            <a:off x="6096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map of the engineering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responsibilities</a:t>
            </a:r>
          </a:p>
        </p:txBody>
      </p:sp>
      <p:sp>
        <p:nvSpPr>
          <p:cNvPr id="31" name="03-text-20">
            <a:extLst xmlns:a="http://schemas.openxmlformats.org/drawingml/2006/main">
              <a:ext uri="{FF2B5EF4-FFF2-40B4-BE49-F238E27FC236}">
                <a16:creationId xmlns:a16="http://schemas.microsoft.com/office/drawing/2014/main" id="{AB917649-45D8-4599-A6FD-0822A04ACF18}"/>
              </a:ext>
            </a:extLst>
          </p:cNvPr>
          <p:cNvSpPr>
            <a:spLocks xmlns:a="http://schemas.openxmlformats.org/drawingml/2006/main"/>
          </p:cNvSpPr>
          <p:nvPr/>
        </p:nvSpPr>
        <p:spPr>
          <a:xfrm xmlns:a="http://schemas.openxmlformats.org/drawingml/2006/main">
            <a:off x="43688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understanding of what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production readiness requires</a:t>
            </a:r>
          </a:p>
        </p:txBody>
      </p:sp>
      <p:sp>
        <p:nvSpPr>
          <p:cNvPr id="32" name="03-text-21">
            <a:extLst xmlns:a="http://schemas.openxmlformats.org/drawingml/2006/main">
              <a:ext uri="{FF2B5EF4-FFF2-40B4-BE49-F238E27FC236}">
                <a16:creationId xmlns:a16="http://schemas.microsoft.com/office/drawing/2014/main" id="{EB4560BD-5FF4-4904-B29C-DEBE2AB3A11C}"/>
              </a:ext>
            </a:extLst>
          </p:cNvPr>
          <p:cNvSpPr>
            <a:spLocks xmlns:a="http://schemas.openxmlformats.org/drawingml/2006/main"/>
          </p:cNvSpPr>
          <p:nvPr/>
        </p:nvSpPr>
        <p:spPr>
          <a:xfrm xmlns:a="http://schemas.openxmlformats.org/drawingml/2006/main">
            <a:off x="81280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starting point for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own transition</a:t>
            </a:r>
          </a:p>
        </p:txBody>
      </p:sp>
      <p:sp>
        <p:nvSpPr>
          <p:cNvPr id="33" name="narrative-number">
            <a:extLst xmlns:a="http://schemas.openxmlformats.org/drawingml/2006/main">
              <a:ext uri="{FF2B5EF4-FFF2-40B4-BE49-F238E27FC236}">
                <a16:creationId xmlns:a16="http://schemas.microsoft.com/office/drawing/2014/main" id="{DD9AD6CD-234C-4C71-9DC6-D831BF9CC95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3807090563"/>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 name="section-label">
            <a:extLst xmlns:a="http://schemas.openxmlformats.org/drawingml/2006/main">
              <a:ext uri="{FF2B5EF4-FFF2-40B4-BE49-F238E27FC236}">
                <a16:creationId xmlns:a16="http://schemas.microsoft.com/office/drawing/2014/main" id="{ED68D085-378D-477E-A423-C2B9E8147297}"/>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1</a:t>
            </a:r>
          </a:p>
        </p:txBody>
      </p:sp>
      <p:sp>
        <p:nvSpPr>
          <p:cNvPr id="35" name="section-rule">
            <a:extLst xmlns:a="http://schemas.openxmlformats.org/drawingml/2006/main">
              <a:ext uri="{FF2B5EF4-FFF2-40B4-BE49-F238E27FC236}">
                <a16:creationId xmlns:a16="http://schemas.microsoft.com/office/drawing/2014/main" id="{A43584F8-9131-47D3-87F9-E4F2DCD1F754}"/>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 name="section-title">
            <a:extLst xmlns:a="http://schemas.openxmlformats.org/drawingml/2006/main">
              <a:ext uri="{FF2B5EF4-FFF2-40B4-BE49-F238E27FC236}">
                <a16:creationId xmlns:a16="http://schemas.microsoft.com/office/drawing/2014/main" id="{854F08B2-D05A-4923-89E7-69F8F10C1522}"/>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changes when AI</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becomes part of the product</a:t>
            </a:r>
          </a:p>
        </p:txBody>
      </p:sp>
      <p:sp>
        <p:nvSpPr>
          <p:cNvPr id="37" name="narrative-number">
            <a:extLst xmlns:a="http://schemas.openxmlformats.org/drawingml/2006/main">
              <a:ext uri="{FF2B5EF4-FFF2-40B4-BE49-F238E27FC236}">
                <a16:creationId xmlns:a16="http://schemas.microsoft.com/office/drawing/2014/main" id="{B45103D4-D26D-43EE-8657-97C16C3D9FC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2342545692"/>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 name="05-text-1">
            <a:extLst xmlns:a="http://schemas.openxmlformats.org/drawingml/2006/main">
              <a:ext uri="{FF2B5EF4-FFF2-40B4-BE49-F238E27FC236}">
                <a16:creationId xmlns:a16="http://schemas.microsoft.com/office/drawing/2014/main" id="{A331C4D0-EF39-408A-A3F7-7414C4CDF6F3}"/>
              </a:ext>
            </a:extLst>
          </p:cNvPr>
          <p:cNvSpPr>
            <a:spLocks xmlns:a="http://schemas.openxmlformats.org/drawingml/2006/main"/>
          </p:cNvSpPr>
          <p:nvPr/>
        </p:nvSpPr>
        <p:spPr>
          <a:xfrm xmlns:a="http://schemas.openxmlformats.org/drawingml/2006/main">
            <a:off x="609600" y="2260600"/>
            <a:ext cx="10972800" cy="233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demo    = </a:t>
            </a:r>
            <a:r>
              <a:rPr b="0">
                <a:solidFill>
                  <a:srgbClr val="FFFCF5"/>
                </a:solidFill>
                <a:latin typeface="Consolas"/>
                <a:ea typeface="Consolas"/>
                <a:cs typeface="Consolas"/>
              </a:rPr>
              <a:t>works</a:t>
            </a:r>
            <a:r>
              <a:rPr b="0">
                <a:solidFill>
                  <a:srgbClr val="FDAD00"/>
                </a:solidFill>
                <a:latin typeface="Consolas"/>
                <a:ea typeface="Consolas"/>
                <a:cs typeface="Consolas"/>
              </a:rPr>
              <a:t>.any()</a:t>
            </a:r>
          </a:p>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product =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39" name="05-text-2">
            <a:extLst xmlns:a="http://schemas.openxmlformats.org/drawingml/2006/main">
              <a:ext uri="{FF2B5EF4-FFF2-40B4-BE49-F238E27FC236}">
                <a16:creationId xmlns:a16="http://schemas.microsoft.com/office/drawing/2014/main" id="{35EE4249-64DC-4B1F-A991-F221D0B0C9C8}"/>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Andrej Karpathy, June 2025</a:t>
            </a:r>
          </a:p>
        </p:txBody>
      </p:sp>
      <p:sp>
        <p:nvSpPr>
          <p:cNvPr id="40" name="narrative-number">
            <a:extLst xmlns:a="http://schemas.openxmlformats.org/drawingml/2006/main">
              <a:ext uri="{FF2B5EF4-FFF2-40B4-BE49-F238E27FC236}">
                <a16:creationId xmlns:a16="http://schemas.microsoft.com/office/drawing/2014/main" id="{CB610DB1-9E27-4ED7-96A1-8E7314C067F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3016123985"/>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 name="06-text-1">
            <a:extLst xmlns:a="http://schemas.openxmlformats.org/drawingml/2006/main">
              <a:ext uri="{FF2B5EF4-FFF2-40B4-BE49-F238E27FC236}">
                <a16:creationId xmlns:a16="http://schemas.microsoft.com/office/drawing/2014/main" id="{DC57A211-1311-4899-8F06-A885C07E2972}"/>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42" name="06-text-2">
            <a:extLst xmlns:a="http://schemas.openxmlformats.org/drawingml/2006/main">
              <a:ext uri="{FF2B5EF4-FFF2-40B4-BE49-F238E27FC236}">
                <a16:creationId xmlns:a16="http://schemas.microsoft.com/office/drawing/2014/main" id="{81C3794B-2165-4355-9114-F68B7398D0F6}"/>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43" name="narrative-number">
            <a:extLst xmlns:a="http://schemas.openxmlformats.org/drawingml/2006/main">
              <a:ext uri="{FF2B5EF4-FFF2-40B4-BE49-F238E27FC236}">
                <a16:creationId xmlns:a16="http://schemas.microsoft.com/office/drawing/2014/main" id="{1993C193-0146-4D75-8C2D-9342796E414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2300885234"/>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graphicFrame>
        <p:nvGraphicFramePr>
          <p:cNvPr id="46" name="07-table-1"/>
          <p:cNvGraphicFramePr/>
          <p:nvPr/>
        </p:nvGraphicFramePr>
        <p:xfrm>
          <a:off xmlns:a="http://schemas.openxmlformats.org/drawingml/2006/main" x="609600" y="863600"/>
          <a:ext xmlns:a="http://schemas.openxmlformats.org/drawingml/2006/main" cx="10972800" cy="4648200"/>
        </p:xfrm>
        <a:graphic xmlns:a="http://schemas.openxmlformats.org/drawingml/2006/main">
          <a:graphicData uri="http://schemas.openxmlformats.org/drawingml/2006/table">
            <a:tbl>
              <a:tblPr firstRow="0" firstCol="0" lastCol="0" bandRow="0" bandCol="0"/>
              <a:tblGrid>
                <a:gridCol w="5334000"/>
                <a:gridCol w="304800"/>
                <a:gridCol w="5334000"/>
              </a:tblGrid>
              <a:tr h="1143000">
                <a:tc>
                  <a:txBody>
                    <a:bodyPr>
                      <a:noAutofit/>
                    </a:bodyPr>
                    <a:lstStyle/>
                    <a:p>
                      <a:pPr>
                        <a:lnSpc>
                          <a:spcPct val="125000"/>
                        </a:lnSpc>
                        <a:buNone/>
                      </a:pPr>
                      <a:r>
                        <a:rPr sz="2400" b="1">
                          <a:solidFill>
                            <a:srgbClr val="F948BE"/>
                          </a:solidFill>
                          <a:latin typeface="Helvetica"/>
                          <a:ea typeface="Helvetica"/>
                          <a:cs typeface="Helvetica"/>
                        </a:rPr>
                        <a:t>AI during software</a:t>
                      </a:r>
                    </a:p>
                    <a:p>
                      <a:pPr>
                        <a:lnSpc>
                          <a:spcPct val="125000"/>
                        </a:lnSpc>
                        <a:buNone/>
                      </a:pPr>
                      <a:r>
                        <a:rPr sz="2400" b="1">
                          <a:solidFill>
                            <a:srgbClr val="F948BE"/>
                          </a:solidFill>
                          <a:latin typeface="Helvetica"/>
                          <a:ea typeface="Helvetica"/>
                          <a:cs typeface="Helvetica"/>
                        </a:rPr>
                        <a:t>development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AI in the product</a:t>
                      </a:r>
                    </a:p>
                    <a:p>
                      <a:pPr>
                        <a:lnSpc>
                          <a:spcPct val="125000"/>
                        </a:lnSpc>
                        <a:buNone/>
                      </a:pPr>
                      <a:r>
                        <a:rPr sz="2400" b="1">
                          <a:solidFill>
                            <a:srgbClr val="F948BE"/>
                          </a:solidFill>
                          <a:latin typeface="Helvetica"/>
                          <a:ea typeface="Helvetica"/>
                          <a:cs typeface="Helvetica"/>
                        </a:rPr>
                        <a:t>you deliver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193800">
                <a:tc>
                  <a:txBody>
                    <a:bodyPr>
                      <a:noAutofit/>
                    </a:bodyPr>
                    <a:lstStyle/>
                    <a:p>
                      <a:pPr>
                        <a:lnSpc>
                          <a:spcPct val="125000"/>
                        </a:lnSpc>
                        <a:buNone/>
                      </a:pPr>
                      <a:r>
                        <a:rPr sz="2000" b="0">
                          <a:solidFill>
                            <a:srgbClr val="FFFCF5"/>
                          </a:solidFill>
                          <a:latin typeface="Helvetica"/>
                          <a:ea typeface="Helvetica"/>
                          <a:cs typeface="Helvetica"/>
                        </a:rPr>
                        <a:t>AI helps you build the software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AI contributes to its behavior</a:t>
                      </a:r>
                    </a:p>
                    <a:p>
                      <a:pPr>
                        <a:lnSpc>
                          <a:spcPct val="125000"/>
                        </a:lnSpc>
                        <a:buNone/>
                      </a:pPr>
                      <a:r>
                        <a:rPr sz="2000" b="0">
                          <a:solidFill>
                            <a:srgbClr val="FFFCF5"/>
                          </a:solidFill>
                          <a:latin typeface="Helvetica"/>
                          <a:ea typeface="Helvetica"/>
                          <a:cs typeface="Helvetica"/>
                        </a:rPr>
                        <a:t>during use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041400">
                <a:tc>
                  <a:txBody>
                    <a:bodyPr>
                      <a:noAutofit/>
                    </a:bodyPr>
                    <a:lstStyle/>
                    <a:p>
                      <a:pPr>
                        <a:lnSpc>
                          <a:spcPct val="125000"/>
                        </a:lnSpc>
                        <a:buNone/>
                      </a:pPr>
                      <a:r>
                        <a:rPr sz="2000" b="0">
                          <a:solidFill>
                            <a:srgbClr val="FFFCF5"/>
                          </a:solidFill>
                          <a:latin typeface="Helvetica"/>
                          <a:ea typeface="Helvetica"/>
                          <a:cs typeface="Helvetica"/>
                        </a:rPr>
                        <a:t>You review and test what you ship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 also evaluate model behavior</a:t>
                      </a:r>
                    </a:p>
                    <a:p>
                      <a:pPr>
                        <a:lnSpc>
                          <a:spcPct val="125000"/>
                        </a:lnSpc>
                        <a:buNone/>
                      </a:pPr>
                      <a:r>
                        <a:rPr sz="2000" b="0">
                          <a:solidFill>
                            <a:srgbClr val="FFFCF5"/>
                          </a:solidFill>
                          <a:latin typeface="Helvetica"/>
                          <a:ea typeface="Helvetica"/>
                          <a:cs typeface="Helvetica"/>
                        </a:rPr>
                        <a:t>across representative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270000">
                <a:tc>
                  <a:txBody>
                    <a:bodyPr>
                      <a:noAutofit/>
                    </a:bodyPr>
                    <a:lstStyle/>
                    <a:p>
                      <a:pPr>
                        <a:lnSpc>
                          <a:spcPct val="125000"/>
                        </a:lnSpc>
                        <a:buNone/>
                      </a:pPr>
                      <a:r>
                        <a:rPr sz="2000" b="0">
                          <a:solidFill>
                            <a:srgbClr val="FFFCF5"/>
                          </a:solidFill>
                          <a:latin typeface="Helvetica"/>
                          <a:ea typeface="Helvetica"/>
                          <a:cs typeface="Helvetica"/>
                        </a:rPr>
                        <a:t>Your coding-tool provider operates</a:t>
                      </a:r>
                    </a:p>
                    <a:p>
                      <a:pPr>
                        <a:lnSpc>
                          <a:spcPct val="125000"/>
                        </a:lnSpc>
                        <a:buNone/>
                      </a:pPr>
                      <a:r>
                        <a:rPr sz="2000" b="0">
                          <a:solidFill>
                            <a:srgbClr val="FFFCF5"/>
                          </a:solidFill>
                          <a:latin typeface="Helvetica"/>
                          <a:ea typeface="Helvetica"/>
                          <a:cs typeface="Helvetica"/>
                        </a:rPr>
                        <a:t>the agent platform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Your team owns the AI system's</a:t>
                      </a:r>
                    </a:p>
                    <a:p>
                      <a:pPr>
                        <a:lnSpc>
                          <a:spcPct val="125000"/>
                        </a:lnSpc>
                        <a:buNone/>
                      </a:pPr>
                      <a:r>
                        <a:rPr sz="2000" b="0">
                          <a:solidFill>
                            <a:srgbClr val="FFFCF5"/>
                          </a:solidFill>
                          <a:latin typeface="Helvetica"/>
                          <a:ea typeface="Helvetica"/>
                          <a:cs typeface="Helvetica"/>
                        </a:rPr>
                        <a:t>behavior and operating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5" name="narrative-number">
            <a:extLst xmlns:a="http://schemas.openxmlformats.org/drawingml/2006/main">
              <a:ext uri="{FF2B5EF4-FFF2-40B4-BE49-F238E27FC236}">
                <a16:creationId xmlns:a16="http://schemas.microsoft.com/office/drawing/2014/main" id="{39E6597D-2C49-4812-AC9E-FAEABEC400F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3014490121"/>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 name="07-text-2">
            <a:extLst xmlns:a="http://schemas.openxmlformats.org/drawingml/2006/main">
              <a:ext uri="{FF2B5EF4-FFF2-40B4-BE49-F238E27FC236}">
                <a16:creationId xmlns:a16="http://schemas.microsoft.com/office/drawing/2014/main" id="{EC355686-F197-4BA8-89E6-F441785E55E0}"/>
              </a:ext>
            </a:extLst>
          </p:cNvPr>
          <p:cNvSpPr>
            <a:spLocks xmlns:a="http://schemas.openxmlformats.org/drawingml/2006/main"/>
          </p:cNvSpPr>
          <p:nvPr/>
        </p:nvSpPr>
        <p:spPr>
          <a:xfrm xmlns:a="http://schemas.openxmlformats.org/drawingml/2006/main">
            <a:off x="1397000" y="863600"/>
            <a:ext cx="94996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Production readiness</a:t>
            </a:r>
          </a:p>
        </p:txBody>
      </p:sp>
      <p:sp>
        <p:nvSpPr>
          <p:cNvPr id="47" name="07-text-3">
            <a:extLst xmlns:a="http://schemas.openxmlformats.org/drawingml/2006/main">
              <a:ext uri="{FF2B5EF4-FFF2-40B4-BE49-F238E27FC236}">
                <a16:creationId xmlns:a16="http://schemas.microsoft.com/office/drawing/2014/main" id="{BC03C73D-FEA2-4475-8F9A-8C75478FEE03}"/>
              </a:ext>
            </a:extLst>
          </p:cNvPr>
          <p:cNvSpPr>
            <a:spLocks xmlns:a="http://schemas.openxmlformats.org/drawingml/2006/main"/>
          </p:cNvSpPr>
          <p:nvPr/>
        </p:nvSpPr>
        <p:spPr>
          <a:xfrm xmlns:a="http://schemas.openxmlformats.org/drawingml/2006/main">
            <a:off x="1397000" y="1676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8" name="07-text-4">
            <a:extLst xmlns:a="http://schemas.openxmlformats.org/drawingml/2006/main">
              <a:ext uri="{FF2B5EF4-FFF2-40B4-BE49-F238E27FC236}">
                <a16:creationId xmlns:a16="http://schemas.microsoft.com/office/drawing/2014/main" id="{8E6DDFBB-B561-4734-9375-74B65721E0C6}"/>
              </a:ext>
            </a:extLst>
          </p:cNvPr>
          <p:cNvSpPr>
            <a:spLocks xmlns:a="http://schemas.openxmlformats.org/drawingml/2006/main"/>
          </p:cNvSpPr>
          <p:nvPr/>
        </p:nvSpPr>
        <p:spPr>
          <a:xfrm xmlns:a="http://schemas.openxmlformats.org/drawingml/2006/main">
            <a:off x="1905000" y="1676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compelling prototype is not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 production readiness.</a:t>
            </a:r>
          </a:p>
        </p:txBody>
      </p:sp>
      <p:sp>
        <p:nvSpPr>
          <p:cNvPr id="49" name="07-text-5">
            <a:extLst xmlns:a="http://schemas.openxmlformats.org/drawingml/2006/main">
              <a:ext uri="{FF2B5EF4-FFF2-40B4-BE49-F238E27FC236}">
                <a16:creationId xmlns:a16="http://schemas.microsoft.com/office/drawing/2014/main" id="{5AB56CA5-8A86-4C86-BE35-02B88E6E52CC}"/>
              </a:ext>
            </a:extLst>
          </p:cNvPr>
          <p:cNvSpPr>
            <a:spLocks xmlns:a="http://schemas.openxmlformats.org/drawingml/2006/main"/>
          </p:cNvSpPr>
          <p:nvPr/>
        </p:nvSpPr>
        <p:spPr>
          <a:xfrm xmlns:a="http://schemas.openxmlformats.org/drawingml/2006/main">
            <a:off x="1397000" y="3200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0" name="07-text-6">
            <a:extLst xmlns:a="http://schemas.openxmlformats.org/drawingml/2006/main">
              <a:ext uri="{FF2B5EF4-FFF2-40B4-BE49-F238E27FC236}">
                <a16:creationId xmlns:a16="http://schemas.microsoft.com/office/drawing/2014/main" id="{1C54D443-F711-47DB-8C9D-91043A3E776C}"/>
              </a:ext>
            </a:extLst>
          </p:cNvPr>
          <p:cNvSpPr>
            <a:spLocks xmlns:a="http://schemas.openxmlformats.org/drawingml/2006/main"/>
          </p:cNvSpPr>
          <p:nvPr/>
        </p:nvSpPr>
        <p:spPr>
          <a:xfrm xmlns:a="http://schemas.openxmlformats.org/drawingml/2006/main">
            <a:off x="1905000" y="3200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Traditional tests are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but no longer sufficient.</a:t>
            </a:r>
          </a:p>
        </p:txBody>
      </p:sp>
      <p:sp>
        <p:nvSpPr>
          <p:cNvPr id="51" name="07-text-7">
            <a:extLst xmlns:a="http://schemas.openxmlformats.org/drawingml/2006/main">
              <a:ext uri="{FF2B5EF4-FFF2-40B4-BE49-F238E27FC236}">
                <a16:creationId xmlns:a16="http://schemas.microsoft.com/office/drawing/2014/main" id="{ACF24DFA-FECB-4381-98E1-CCD6242EF4DC}"/>
              </a:ext>
            </a:extLst>
          </p:cNvPr>
          <p:cNvSpPr>
            <a:spLocks xmlns:a="http://schemas.openxmlformats.org/drawingml/2006/main"/>
          </p:cNvSpPr>
          <p:nvPr/>
        </p:nvSpPr>
        <p:spPr>
          <a:xfrm xmlns:a="http://schemas.openxmlformats.org/drawingml/2006/main">
            <a:off x="1397000" y="4724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2" name="07-text-8">
            <a:extLst xmlns:a="http://schemas.openxmlformats.org/drawingml/2006/main">
              <a:ext uri="{FF2B5EF4-FFF2-40B4-BE49-F238E27FC236}">
                <a16:creationId xmlns:a16="http://schemas.microsoft.com/office/drawing/2014/main" id="{2A237651-5764-4957-9055-258207C7135F}"/>
              </a:ext>
            </a:extLst>
          </p:cNvPr>
          <p:cNvSpPr>
            <a:spLocks xmlns:a="http://schemas.openxmlformats.org/drawingml/2006/main"/>
          </p:cNvSpPr>
          <p:nvPr/>
        </p:nvSpPr>
        <p:spPr>
          <a:xfrm xmlns:a="http://schemas.openxmlformats.org/drawingml/2006/main">
            <a:off x="1905000" y="4724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does not stop at deployment.</a:t>
            </a:r>
          </a:p>
        </p:txBody>
      </p:sp>
      <p:sp>
        <p:nvSpPr>
          <p:cNvPr id="53" name="07-text-9">
            <a:extLst xmlns:a="http://schemas.openxmlformats.org/drawingml/2006/main">
              <a:ext uri="{FF2B5EF4-FFF2-40B4-BE49-F238E27FC236}">
                <a16:creationId xmlns:a16="http://schemas.microsoft.com/office/drawing/2014/main" id="{A27B1098-5175-4673-BEB5-F9E0B8F31504}"/>
              </a:ext>
            </a:extLst>
          </p:cNvPr>
          <p:cNvSpPr>
            <a:spLocks xmlns:a="http://schemas.openxmlformats.org/drawingml/2006/main"/>
          </p:cNvSpPr>
          <p:nvPr/>
        </p:nvSpPr>
        <p:spPr>
          <a:xfrm xmlns:a="http://schemas.openxmlformats.org/drawingml/2006/main">
            <a:off x="1905000" y="2603500"/>
            <a:ext cx="899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FFFCF5"/>
                </a:solidFill>
                <a:latin typeface="Consolas"/>
                <a:ea typeface="Consolas"/>
                <a:cs typeface="Consolas"/>
              </a:rPr>
              <a:t>works</a:t>
            </a:r>
            <a:r>
              <a:rPr b="0">
                <a:solidFill>
                  <a:srgbClr val="FDAD00"/>
                </a:solidFill>
                <a:latin typeface="Consolas"/>
                <a:ea typeface="Consolas"/>
                <a:cs typeface="Consolas"/>
              </a:rPr>
              <a:t>.any()</a:t>
            </a:r>
            <a:r>
              <a:rPr b="0">
                <a:solidFill>
                  <a:srgbClr val="ADACA9"/>
                </a:solidFill>
                <a:latin typeface="Helvetica"/>
                <a:ea typeface="Helvetica"/>
                <a:cs typeface="Helvetica"/>
              </a:rPr>
              <a:t> is not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54" name="narrative-number">
            <a:extLst xmlns:a="http://schemas.openxmlformats.org/drawingml/2006/main">
              <a:ext uri="{FF2B5EF4-FFF2-40B4-BE49-F238E27FC236}">
                <a16:creationId xmlns:a16="http://schemas.microsoft.com/office/drawing/2014/main" id="{28F6A9AD-0A0F-4F7E-806D-F5E440959C9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1359182226"/>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5" name="section-label">
            <a:extLst xmlns:a="http://schemas.openxmlformats.org/drawingml/2006/main">
              <a:ext uri="{FF2B5EF4-FFF2-40B4-BE49-F238E27FC236}">
                <a16:creationId xmlns:a16="http://schemas.microsoft.com/office/drawing/2014/main" id="{0016278D-34F9-443C-A1EA-2799897AE469}"/>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56" name="section-rule">
            <a:extLst xmlns:a="http://schemas.openxmlformats.org/drawingml/2006/main">
              <a:ext uri="{FF2B5EF4-FFF2-40B4-BE49-F238E27FC236}">
                <a16:creationId xmlns:a16="http://schemas.microsoft.com/office/drawing/2014/main" id="{C0FDA169-E1F1-49B7-B8DA-959DE8BC9B02}"/>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7" name="section-title">
            <a:extLst xmlns:a="http://schemas.openxmlformats.org/drawingml/2006/main">
              <a:ext uri="{FF2B5EF4-FFF2-40B4-BE49-F238E27FC236}">
                <a16:creationId xmlns:a16="http://schemas.microsoft.com/office/drawing/2014/main" id="{990E0DD7-1331-47A5-8648-58A6A3FCA76A}"/>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58" name="narrative-number">
            <a:extLst xmlns:a="http://schemas.openxmlformats.org/drawingml/2006/main">
              <a:ext uri="{FF2B5EF4-FFF2-40B4-BE49-F238E27FC236}">
                <a16:creationId xmlns:a16="http://schemas.microsoft.com/office/drawing/2014/main" id="{5E1EC89E-A906-4AC4-874E-75FD7420DB0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1191496750"/>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1" name="09-image-1"/>
          <p:cNvPicPr>
            <a:picLocks xmlns:a="http://schemas.openxmlformats.org/drawingml/2006/main" noChangeAspect="1"/>
          </p:cNvPicPr>
          <p:nvPr/>
        </p:nvPicPr>
        <p:blipFill>
          <a:blip xmlns:r="http://schemas.openxmlformats.org/officeDocument/2006/relationships" xmlns:a="http://schemas.openxmlformats.org/drawingml/2006/main" r:embed="R7118457e118241b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0" name="narrative-number">
            <a:extLst xmlns:a="http://schemas.openxmlformats.org/drawingml/2006/main">
              <a:ext uri="{FF2B5EF4-FFF2-40B4-BE49-F238E27FC236}">
                <a16:creationId xmlns:a16="http://schemas.microsoft.com/office/drawing/2014/main" id="{04EC0184-377B-42C7-A8D1-FF7A1AC2724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994648184"/>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3" name="09-image-2"/>
          <p:cNvPicPr>
            <a:picLocks xmlns:a="http://schemas.openxmlformats.org/drawingml/2006/main" noChangeAspect="1"/>
          </p:cNvPicPr>
          <p:nvPr/>
        </p:nvPicPr>
        <p:blipFill>
          <a:blip xmlns:r="http://schemas.openxmlformats.org/officeDocument/2006/relationships" xmlns:a="http://schemas.openxmlformats.org/drawingml/2006/main" r:embed="R14a81dd9ebb64c9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2" name="narrative-number">
            <a:extLst xmlns:a="http://schemas.openxmlformats.org/drawingml/2006/main">
              <a:ext uri="{FF2B5EF4-FFF2-40B4-BE49-F238E27FC236}">
                <a16:creationId xmlns:a16="http://schemas.microsoft.com/office/drawing/2014/main" id="{6D8F06B8-2CFA-42E5-9367-ACAF381A224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970587676"/>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5" name="09-image-3"/>
          <p:cNvPicPr>
            <a:picLocks xmlns:a="http://schemas.openxmlformats.org/drawingml/2006/main" noChangeAspect="1"/>
          </p:cNvPicPr>
          <p:nvPr/>
        </p:nvPicPr>
        <p:blipFill>
          <a:blip xmlns:r="http://schemas.openxmlformats.org/officeDocument/2006/relationships" xmlns:a="http://schemas.openxmlformats.org/drawingml/2006/main" r:embed="R0080910a13de4dc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4" name="narrative-number">
            <a:extLst xmlns:a="http://schemas.openxmlformats.org/drawingml/2006/main">
              <a:ext uri="{FF2B5EF4-FFF2-40B4-BE49-F238E27FC236}">
                <a16:creationId xmlns:a16="http://schemas.microsoft.com/office/drawing/2014/main" id="{EBDF3AA5-097D-4C96-9888-FED9FED392F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4149465126"/>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7" name="09-image-4"/>
          <p:cNvPicPr>
            <a:picLocks xmlns:a="http://schemas.openxmlformats.org/drawingml/2006/main" noChangeAspect="1"/>
          </p:cNvPicPr>
          <p:nvPr/>
        </p:nvPicPr>
        <p:blipFill>
          <a:blip xmlns:r="http://schemas.openxmlformats.org/officeDocument/2006/relationships" xmlns:a="http://schemas.openxmlformats.org/drawingml/2006/main" r:embed="R8c5fdcec97b84ec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6" name="narrative-number">
            <a:extLst xmlns:a="http://schemas.openxmlformats.org/drawingml/2006/main">
              <a:ext uri="{FF2B5EF4-FFF2-40B4-BE49-F238E27FC236}">
                <a16:creationId xmlns:a16="http://schemas.microsoft.com/office/drawing/2014/main" id="{68A0822F-1B7C-4AE9-97D1-F9F8131F604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676407059"/>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9" name="09-image-5"/>
          <p:cNvPicPr>
            <a:picLocks xmlns:a="http://schemas.openxmlformats.org/drawingml/2006/main" noChangeAspect="1"/>
          </p:cNvPicPr>
          <p:nvPr/>
        </p:nvPicPr>
        <p:blipFill>
          <a:blip xmlns:r="http://schemas.openxmlformats.org/officeDocument/2006/relationships" xmlns:a="http://schemas.openxmlformats.org/drawingml/2006/main" r:embed="Rd53e8ff871d24d9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8" name="narrative-number">
            <a:extLst xmlns:a="http://schemas.openxmlformats.org/drawingml/2006/main">
              <a:ext uri="{FF2B5EF4-FFF2-40B4-BE49-F238E27FC236}">
                <a16:creationId xmlns:a16="http://schemas.microsoft.com/office/drawing/2014/main" id="{FD7FD44F-9310-4066-900C-437553C6DBE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672320630"/>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1" name="09-image-6"/>
          <p:cNvPicPr>
            <a:picLocks xmlns:a="http://schemas.openxmlformats.org/drawingml/2006/main" noChangeAspect="1"/>
          </p:cNvPicPr>
          <p:nvPr/>
        </p:nvPicPr>
        <p:blipFill>
          <a:blip xmlns:r="http://schemas.openxmlformats.org/officeDocument/2006/relationships" xmlns:a="http://schemas.openxmlformats.org/drawingml/2006/main" r:embed="Rad7ffb6c54fb49b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0" name="narrative-number">
            <a:extLst xmlns:a="http://schemas.openxmlformats.org/drawingml/2006/main">
              <a:ext uri="{FF2B5EF4-FFF2-40B4-BE49-F238E27FC236}">
                <a16:creationId xmlns:a16="http://schemas.microsoft.com/office/drawing/2014/main" id="{E7112669-EAB1-4438-B9EE-FB2FA6A9546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4060465364"/>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1" name="!!area-name">
            <a:extLst xmlns:a="http://schemas.openxmlformats.org/drawingml/2006/main">
              <a:ext uri="{FF2B5EF4-FFF2-40B4-BE49-F238E27FC236}">
                <a16:creationId xmlns:a16="http://schemas.microsoft.com/office/drawing/2014/main" id="{E67B6CDB-F017-4010-B73A-FD494B95137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Perspective</a:t>
            </a:r>
          </a:p>
        </p:txBody>
      </p:sp>
      <p:pic>
        <p:nvPicPr>
          <p:cNvPr id="80" name="mini-map"/>
          <p:cNvPicPr>
            <a:picLocks xmlns:a="http://schemas.openxmlformats.org/drawingml/2006/main" noChangeAspect="1"/>
          </p:cNvPicPr>
          <p:nvPr/>
        </p:nvPicPr>
        <p:blipFill>
          <a:blip xmlns:r="http://schemas.openxmlformats.org/officeDocument/2006/relationships" xmlns:a="http://schemas.openxmlformats.org/drawingml/2006/main" r:embed="R06b224b45e4a4bd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3" name="header-divider">
            <a:extLst xmlns:a="http://schemas.openxmlformats.org/drawingml/2006/main">
              <a:ext uri="{FF2B5EF4-FFF2-40B4-BE49-F238E27FC236}">
                <a16:creationId xmlns:a16="http://schemas.microsoft.com/office/drawing/2014/main" id="{35551A93-84C8-4667-8EF1-265EF778466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74" name="10-text-1">
            <a:extLst xmlns:a="http://schemas.openxmlformats.org/drawingml/2006/main">
              <a:ext uri="{FF2B5EF4-FFF2-40B4-BE49-F238E27FC236}">
                <a16:creationId xmlns:a16="http://schemas.microsoft.com/office/drawing/2014/main" id="{BEFD7EE7-3EA1-4E3A-8FD9-960505CA786F}"/>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harness beats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bad harness.”</a:t>
            </a:r>
          </a:p>
        </p:txBody>
      </p:sp>
      <p:sp>
        <p:nvSpPr>
          <p:cNvPr id="75" name="10-text-2">
            <a:extLst xmlns:a="http://schemas.openxmlformats.org/drawingml/2006/main">
              <a:ext uri="{FF2B5EF4-FFF2-40B4-BE49-F238E27FC236}">
                <a16:creationId xmlns:a16="http://schemas.microsoft.com/office/drawing/2014/main" id="{6974FFA8-63F1-4230-95D7-64765B6BAA5B}"/>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Addy Osmani</a:t>
            </a:r>
          </a:p>
        </p:txBody>
      </p:sp>
      <p:sp>
        <p:nvSpPr>
          <p:cNvPr id="76" name="10-text-3">
            <a:extLst xmlns:a="http://schemas.openxmlformats.org/drawingml/2006/main">
              <a:ext uri="{FF2B5EF4-FFF2-40B4-BE49-F238E27FC236}">
                <a16:creationId xmlns:a16="http://schemas.microsoft.com/office/drawing/2014/main" id="{00988E41-024B-422F-940B-69EC63CC545F}"/>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Agent Harness Engineering, April 2026</a:t>
            </a:r>
          </a:p>
        </p:txBody>
      </p:sp>
      <p:pic>
        <p:nvPicPr>
          <p:cNvPr id="85" name="10-image-4"/>
          <p:cNvPicPr>
            <a:picLocks xmlns:a="http://schemas.openxmlformats.org/drawingml/2006/main" noChangeAspect="1"/>
          </p:cNvPicPr>
          <p:nvPr/>
        </p:nvPicPr>
        <p:blipFill>
          <a:blip xmlns:r="http://schemas.openxmlformats.org/officeDocument/2006/relationships" xmlns:a="http://schemas.openxmlformats.org/drawingml/2006/main" r:embed="R7c313e1af3eb4716"/>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78" name="narrative-number">
            <a:extLst xmlns:a="http://schemas.openxmlformats.org/drawingml/2006/main">
              <a:ext uri="{FF2B5EF4-FFF2-40B4-BE49-F238E27FC236}">
                <a16:creationId xmlns:a16="http://schemas.microsoft.com/office/drawing/2014/main" id="{2A040E16-BD33-4FAA-BB71-E65CFC59633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1303016210"/>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9" name="!!area-name">
            <a:extLst xmlns:a="http://schemas.openxmlformats.org/drawingml/2006/main">
              <a:ext uri="{FF2B5EF4-FFF2-40B4-BE49-F238E27FC236}">
                <a16:creationId xmlns:a16="http://schemas.microsoft.com/office/drawing/2014/main" id="{6C18C4BA-421D-441E-85B3-E2211BB72BE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What and why</a:t>
            </a:r>
          </a:p>
        </p:txBody>
      </p:sp>
      <p:pic>
        <p:nvPicPr>
          <p:cNvPr id="89" name="mini-map"/>
          <p:cNvPicPr>
            <a:picLocks xmlns:a="http://schemas.openxmlformats.org/drawingml/2006/main" noChangeAspect="1"/>
          </p:cNvPicPr>
          <p:nvPr/>
        </p:nvPicPr>
        <p:blipFill>
          <a:blip xmlns:r="http://schemas.openxmlformats.org/officeDocument/2006/relationships" xmlns:a="http://schemas.openxmlformats.org/drawingml/2006/main" r:embed="R2f9c0d99ed64468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81" name="slide-title">
            <a:extLst xmlns:a="http://schemas.openxmlformats.org/drawingml/2006/main">
              <a:ext uri="{FF2B5EF4-FFF2-40B4-BE49-F238E27FC236}">
                <a16:creationId xmlns:a16="http://schemas.microsoft.com/office/drawing/2014/main" id="{A51636E7-E53D-4134-9758-7E0F419CEF2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in the system</a:t>
            </a:r>
          </a:p>
        </p:txBody>
      </p:sp>
      <p:sp>
        <p:nvSpPr>
          <p:cNvPr id="82" name="header-divider">
            <a:extLst xmlns:a="http://schemas.openxmlformats.org/drawingml/2006/main">
              <a:ext uri="{FF2B5EF4-FFF2-40B4-BE49-F238E27FC236}">
                <a16:creationId xmlns:a16="http://schemas.microsoft.com/office/drawing/2014/main" id="{1EDC1430-3763-4C3B-B05A-E2466A9857C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83" name="11-text-1">
            <a:extLst xmlns:a="http://schemas.openxmlformats.org/drawingml/2006/main">
              <a:ext uri="{FF2B5EF4-FFF2-40B4-BE49-F238E27FC236}">
                <a16:creationId xmlns:a16="http://schemas.microsoft.com/office/drawing/2014/main" id="{5761070C-9D20-41CF-A9E3-6F3B877E836C}"/>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What it is</a:t>
            </a:r>
          </a:p>
        </p:txBody>
      </p:sp>
      <p:sp>
        <p:nvSpPr>
          <p:cNvPr id="84" name="11-text-2">
            <a:extLst xmlns:a="http://schemas.openxmlformats.org/drawingml/2006/main">
              <a:ext uri="{FF2B5EF4-FFF2-40B4-BE49-F238E27FC236}">
                <a16:creationId xmlns:a16="http://schemas.microsoft.com/office/drawing/2014/main" id="{F675B89F-4CEB-4CCE-B588-00E9185DA931}"/>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Interprets the task and context.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Produces a response or proposed action.</a:t>
            </a:r>
          </a:p>
        </p:txBody>
      </p:sp>
      <p:sp>
        <p:nvSpPr>
          <p:cNvPr id="85" name="11-text-3">
            <a:extLst xmlns:a="http://schemas.openxmlformats.org/drawingml/2006/main">
              <a:ext uri="{FF2B5EF4-FFF2-40B4-BE49-F238E27FC236}">
                <a16:creationId xmlns:a16="http://schemas.microsoft.com/office/drawing/2014/main" id="{62959BB4-AA82-4447-B446-69BAA82D1D25}"/>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Why it matters</a:t>
            </a:r>
          </a:p>
        </p:txBody>
      </p:sp>
      <p:sp>
        <p:nvSpPr>
          <p:cNvPr id="86" name="11-text-4">
            <a:extLst xmlns:a="http://schemas.openxmlformats.org/drawingml/2006/main">
              <a:ext uri="{FF2B5EF4-FFF2-40B4-BE49-F238E27FC236}">
                <a16:creationId xmlns:a16="http://schemas.microsoft.com/office/drawing/2014/main" id="{7BE41DE4-B4E5-4797-BF8E-6D2E333FC4E8}"/>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Eligible for the data.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Capable on the task.</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Within cost and latency requirements.</a:t>
            </a:r>
          </a:p>
        </p:txBody>
      </p:sp>
      <p:sp>
        <p:nvSpPr>
          <p:cNvPr id="87" name="narrative-number">
            <a:extLst xmlns:a="http://schemas.openxmlformats.org/drawingml/2006/main">
              <a:ext uri="{FF2B5EF4-FFF2-40B4-BE49-F238E27FC236}">
                <a16:creationId xmlns:a16="http://schemas.microsoft.com/office/drawing/2014/main" id="{68DF440F-B03E-40C6-8083-E4EDFD25985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57816271"/>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88" name="!!area-name">
            <a:extLst xmlns:a="http://schemas.openxmlformats.org/drawingml/2006/main">
              <a:ext uri="{FF2B5EF4-FFF2-40B4-BE49-F238E27FC236}">
                <a16:creationId xmlns:a16="http://schemas.microsoft.com/office/drawing/2014/main" id="{FCDBA5F9-EF3A-4CDB-8754-C575F71A0C1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Decisions</a:t>
            </a:r>
          </a:p>
        </p:txBody>
      </p:sp>
      <p:pic>
        <p:nvPicPr>
          <p:cNvPr id="102" name="mini-map"/>
          <p:cNvPicPr>
            <a:picLocks xmlns:a="http://schemas.openxmlformats.org/drawingml/2006/main" noChangeAspect="1"/>
          </p:cNvPicPr>
          <p:nvPr/>
        </p:nvPicPr>
        <p:blipFill>
          <a:blip xmlns:r="http://schemas.openxmlformats.org/officeDocument/2006/relationships" xmlns:a="http://schemas.openxmlformats.org/drawingml/2006/main" r:embed="R6ed8812acca1496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90" name="slide-title">
            <a:extLst xmlns:a="http://schemas.openxmlformats.org/drawingml/2006/main">
              <a:ext uri="{FF2B5EF4-FFF2-40B4-BE49-F238E27FC236}">
                <a16:creationId xmlns:a16="http://schemas.microsoft.com/office/drawing/2014/main" id="{4B16172F-75CB-4D37-9567-E54118208A1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 selection</a:t>
            </a:r>
          </a:p>
        </p:txBody>
      </p:sp>
      <p:sp>
        <p:nvSpPr>
          <p:cNvPr id="91" name="header-divider">
            <a:extLst xmlns:a="http://schemas.openxmlformats.org/drawingml/2006/main">
              <a:ext uri="{FF2B5EF4-FFF2-40B4-BE49-F238E27FC236}">
                <a16:creationId xmlns:a16="http://schemas.microsoft.com/office/drawing/2014/main" id="{F40964E1-4E70-485D-AD96-2D82535FD14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92" name="12-text-1">
            <a:extLst xmlns:a="http://schemas.openxmlformats.org/drawingml/2006/main">
              <a:ext uri="{FF2B5EF4-FFF2-40B4-BE49-F238E27FC236}">
                <a16:creationId xmlns:a16="http://schemas.microsoft.com/office/drawing/2014/main" id="{C83010C3-D151-4623-908D-3AC8FFDF8B48}"/>
              </a:ext>
            </a:extLst>
          </p:cNvPr>
          <p:cNvSpPr>
            <a:spLocks xmlns:a="http://schemas.openxmlformats.org/drawingml/2006/main"/>
          </p:cNvSpPr>
          <p:nvPr/>
        </p:nvSpPr>
        <p:spPr>
          <a:xfrm xmlns:a="http://schemas.openxmlformats.org/drawingml/2006/main">
            <a:off x="609600" y="24384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Data and deployment</a:t>
            </a:r>
          </a:p>
        </p:txBody>
      </p:sp>
      <p:sp>
        <p:nvSpPr>
          <p:cNvPr id="93" name="12-text-2">
            <a:extLst xmlns:a="http://schemas.openxmlformats.org/drawingml/2006/main">
              <a:ext uri="{FF2B5EF4-FFF2-40B4-BE49-F238E27FC236}">
                <a16:creationId xmlns:a16="http://schemas.microsoft.com/office/drawing/2014/main" id="{03C0A4ED-7ABB-4156-915A-B5DB7D4B850D}"/>
              </a:ext>
            </a:extLst>
          </p:cNvPr>
          <p:cNvSpPr>
            <a:spLocks xmlns:a="http://schemas.openxmlformats.org/drawingml/2006/main"/>
          </p:cNvSpPr>
          <p:nvPr/>
        </p:nvSpPr>
        <p:spPr>
          <a:xfrm xmlns:a="http://schemas.openxmlformats.org/drawingml/2006/main">
            <a:off x="4368800" y="24384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Approved service, environment, and intended use.</a:t>
            </a:r>
          </a:p>
        </p:txBody>
      </p:sp>
      <p:sp>
        <p:nvSpPr>
          <p:cNvPr id="94" name="12-text-3">
            <a:extLst xmlns:a="http://schemas.openxmlformats.org/drawingml/2006/main">
              <a:ext uri="{FF2B5EF4-FFF2-40B4-BE49-F238E27FC236}">
                <a16:creationId xmlns:a16="http://schemas.microsoft.com/office/drawing/2014/main" id="{DA5424D1-CDA2-43DE-B03F-E450F78D1FA3}"/>
              </a:ext>
            </a:extLst>
          </p:cNvPr>
          <p:cNvSpPr>
            <a:spLocks xmlns:a="http://schemas.openxmlformats.org/drawingml/2006/main"/>
          </p:cNvSpPr>
          <p:nvPr/>
        </p:nvSpPr>
        <p:spPr>
          <a:xfrm xmlns:a="http://schemas.openxmlformats.org/drawingml/2006/main">
            <a:off x="609600" y="33528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Task fit and settings</a:t>
            </a:r>
          </a:p>
        </p:txBody>
      </p:sp>
      <p:sp>
        <p:nvSpPr>
          <p:cNvPr id="95" name="12-text-4">
            <a:extLst xmlns:a="http://schemas.openxmlformats.org/drawingml/2006/main">
              <a:ext uri="{FF2B5EF4-FFF2-40B4-BE49-F238E27FC236}">
                <a16:creationId xmlns:a16="http://schemas.microsoft.com/office/drawing/2014/main" id="{C882C7F3-C404-4BA2-89FB-AD520275E542}"/>
              </a:ext>
            </a:extLst>
          </p:cNvPr>
          <p:cNvSpPr>
            <a:spLocks xmlns:a="http://schemas.openxmlformats.org/drawingml/2006/main"/>
          </p:cNvSpPr>
          <p:nvPr/>
        </p:nvSpPr>
        <p:spPr>
          <a:xfrm xmlns:a="http://schemas.openxmlformats.org/drawingml/2006/main">
            <a:off x="4368800" y="33528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quality, cost, and latency on your tasks.</a:t>
            </a:r>
          </a:p>
        </p:txBody>
      </p:sp>
      <p:sp>
        <p:nvSpPr>
          <p:cNvPr id="96" name="12-text-5">
            <a:extLst xmlns:a="http://schemas.openxmlformats.org/drawingml/2006/main">
              <a:ext uri="{FF2B5EF4-FFF2-40B4-BE49-F238E27FC236}">
                <a16:creationId xmlns:a16="http://schemas.microsoft.com/office/drawing/2014/main" id="{3985D627-2214-4F0B-B78F-6C865EA4EDC5}"/>
              </a:ext>
            </a:extLst>
          </p:cNvPr>
          <p:cNvSpPr>
            <a:spLocks xmlns:a="http://schemas.openxmlformats.org/drawingml/2006/main"/>
          </p:cNvSpPr>
          <p:nvPr/>
        </p:nvSpPr>
        <p:spPr>
          <a:xfrm xmlns:a="http://schemas.openxmlformats.org/drawingml/2006/main">
            <a:off x="609600" y="42672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One model or routing?</a:t>
            </a:r>
          </a:p>
        </p:txBody>
      </p:sp>
      <p:sp>
        <p:nvSpPr>
          <p:cNvPr id="97" name="12-text-6">
            <a:extLst xmlns:a="http://schemas.openxmlformats.org/drawingml/2006/main">
              <a:ext uri="{FF2B5EF4-FFF2-40B4-BE49-F238E27FC236}">
                <a16:creationId xmlns:a16="http://schemas.microsoft.com/office/drawing/2014/main" id="{6CD5B8AF-81F2-42C9-A0C1-E7503F834136}"/>
              </a:ext>
            </a:extLst>
          </p:cNvPr>
          <p:cNvSpPr>
            <a:spLocks xmlns:a="http://schemas.openxmlformats.org/drawingml/2006/main"/>
          </p:cNvSpPr>
          <p:nvPr/>
        </p:nvSpPr>
        <p:spPr>
          <a:xfrm xmlns:a="http://schemas.openxmlformats.org/drawingml/2006/main">
            <a:off x="4368800" y="42672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Begin with one. Add routes when measurements justify them.</a:t>
            </a:r>
          </a:p>
        </p:txBody>
      </p:sp>
      <p:sp>
        <p:nvSpPr>
          <p:cNvPr id="98" name="12-text-7">
            <a:extLst xmlns:a="http://schemas.openxmlformats.org/drawingml/2006/main">
              <a:ext uri="{FF2B5EF4-FFF2-40B4-BE49-F238E27FC236}">
                <a16:creationId xmlns:a16="http://schemas.microsoft.com/office/drawing/2014/main" id="{C3AE55AE-E5B8-40DE-81C9-369679FF63B7}"/>
              </a:ext>
            </a:extLst>
          </p:cNvPr>
          <p:cNvSpPr>
            <a:spLocks xmlns:a="http://schemas.openxmlformats.org/drawingml/2006/main"/>
          </p:cNvSpPr>
          <p:nvPr/>
        </p:nvSpPr>
        <p:spPr>
          <a:xfrm xmlns:a="http://schemas.openxmlformats.org/drawingml/2006/main">
            <a:off x="609600" y="51816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Version changes</a:t>
            </a:r>
          </a:p>
        </p:txBody>
      </p:sp>
      <p:sp>
        <p:nvSpPr>
          <p:cNvPr id="99" name="12-text-8">
            <a:extLst xmlns:a="http://schemas.openxmlformats.org/drawingml/2006/main">
              <a:ext uri="{FF2B5EF4-FFF2-40B4-BE49-F238E27FC236}">
                <a16:creationId xmlns:a16="http://schemas.microsoft.com/office/drawing/2014/main" id="{C11807E1-4FC7-4D9A-BB6E-84269FA5838F}"/>
              </a:ext>
            </a:extLst>
          </p:cNvPr>
          <p:cNvSpPr>
            <a:spLocks xmlns:a="http://schemas.openxmlformats.org/drawingml/2006/main"/>
          </p:cNvSpPr>
          <p:nvPr/>
        </p:nvSpPr>
        <p:spPr>
          <a:xfrm xmlns:a="http://schemas.openxmlformats.org/drawingml/2006/main">
            <a:off x="4368800" y="51816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Pinned: plan migration. Alias: monitor regressions.</a:t>
            </a:r>
          </a:p>
        </p:txBody>
      </p:sp>
      <p:sp>
        <p:nvSpPr>
          <p:cNvPr id="100" name="narrative-number">
            <a:extLst xmlns:a="http://schemas.openxmlformats.org/drawingml/2006/main">
              <a:ext uri="{FF2B5EF4-FFF2-40B4-BE49-F238E27FC236}">
                <a16:creationId xmlns:a16="http://schemas.microsoft.com/office/drawing/2014/main" id="{E42ACE29-CF0F-48AB-85C0-AAF7A811A1E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3649448716"/>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01" name="!!area-name">
            <a:extLst xmlns:a="http://schemas.openxmlformats.org/drawingml/2006/main">
              <a:ext uri="{FF2B5EF4-FFF2-40B4-BE49-F238E27FC236}">
                <a16:creationId xmlns:a16="http://schemas.microsoft.com/office/drawing/2014/main" id="{0EF2B535-254A-4DE2-8D61-F3C3FCC12A7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Challenges and pitfalls</a:t>
            </a:r>
          </a:p>
        </p:txBody>
      </p:sp>
      <p:pic>
        <p:nvPicPr>
          <p:cNvPr id="115" name="mini-map"/>
          <p:cNvPicPr>
            <a:picLocks xmlns:a="http://schemas.openxmlformats.org/drawingml/2006/main" noChangeAspect="1"/>
          </p:cNvPicPr>
          <p:nvPr/>
        </p:nvPicPr>
        <p:blipFill>
          <a:blip xmlns:r="http://schemas.openxmlformats.org/officeDocument/2006/relationships" xmlns:a="http://schemas.openxmlformats.org/drawingml/2006/main" r:embed="R602bc983c2884a8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03" name="slide-title">
            <a:extLst xmlns:a="http://schemas.openxmlformats.org/drawingml/2006/main">
              <a:ext uri="{FF2B5EF4-FFF2-40B4-BE49-F238E27FC236}">
                <a16:creationId xmlns:a16="http://schemas.microsoft.com/office/drawing/2014/main" id="{08AD0DB1-DDAB-4EA3-8FC2-C47F52FA34D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Model-selection pitfalls</a:t>
            </a:r>
          </a:p>
        </p:txBody>
      </p:sp>
      <p:sp>
        <p:nvSpPr>
          <p:cNvPr id="104" name="header-divider">
            <a:extLst xmlns:a="http://schemas.openxmlformats.org/drawingml/2006/main">
              <a:ext uri="{FF2B5EF4-FFF2-40B4-BE49-F238E27FC236}">
                <a16:creationId xmlns:a16="http://schemas.microsoft.com/office/drawing/2014/main" id="{EED26799-6697-4418-B951-438201B26B3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05" name="13-text-1">
            <a:extLst xmlns:a="http://schemas.openxmlformats.org/drawingml/2006/main">
              <a:ext uri="{FF2B5EF4-FFF2-40B4-BE49-F238E27FC236}">
                <a16:creationId xmlns:a16="http://schemas.microsoft.com/office/drawing/2014/main" id="{A38621E4-D8B5-4231-BFD8-C9398CE8A12A}"/>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Access</a:t>
            </a:r>
          </a:p>
        </p:txBody>
      </p:sp>
      <p:sp>
        <p:nvSpPr>
          <p:cNvPr id="106" name="13-text-2">
            <a:extLst xmlns:a="http://schemas.openxmlformats.org/drawingml/2006/main">
              <a:ext uri="{FF2B5EF4-FFF2-40B4-BE49-F238E27FC236}">
                <a16:creationId xmlns:a16="http://schemas.microsoft.com/office/drawing/2014/main" id="{CF1AB2B4-9F0C-4C85-A6F3-F5411798A3BB}"/>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Availability does not establish approval.</a:t>
            </a:r>
          </a:p>
        </p:txBody>
      </p:sp>
      <p:sp>
        <p:nvSpPr>
          <p:cNvPr id="107" name="13-text-3">
            <a:extLst xmlns:a="http://schemas.openxmlformats.org/drawingml/2006/main">
              <a:ext uri="{FF2B5EF4-FFF2-40B4-BE49-F238E27FC236}">
                <a16:creationId xmlns:a16="http://schemas.microsoft.com/office/drawing/2014/main" id="{F189E114-59A2-4705-B3E7-CC618A98D682}"/>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Coverage</a:t>
            </a:r>
          </a:p>
        </p:txBody>
      </p:sp>
      <p:sp>
        <p:nvSpPr>
          <p:cNvPr id="108" name="13-text-4">
            <a:extLst xmlns:a="http://schemas.openxmlformats.org/drawingml/2006/main">
              <a:ext uri="{FF2B5EF4-FFF2-40B4-BE49-F238E27FC236}">
                <a16:creationId xmlns:a16="http://schemas.microsoft.com/office/drawing/2014/main" id="{FE944A18-F9E5-4DA5-A88B-E9775ED75E26}"/>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Task changes can leave gaps.</a:t>
            </a:r>
          </a:p>
        </p:txBody>
      </p:sp>
      <p:sp>
        <p:nvSpPr>
          <p:cNvPr id="109" name="13-text-5">
            <a:extLst xmlns:a="http://schemas.openxmlformats.org/drawingml/2006/main">
              <a:ext uri="{FF2B5EF4-FFF2-40B4-BE49-F238E27FC236}">
                <a16:creationId xmlns:a16="http://schemas.microsoft.com/office/drawing/2014/main" id="{E3CDE4DF-767E-484A-8A6C-BFDCDF304291}"/>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Dependencies</a:t>
            </a:r>
          </a:p>
        </p:txBody>
      </p:sp>
      <p:sp>
        <p:nvSpPr>
          <p:cNvPr id="110" name="13-text-6">
            <a:extLst xmlns:a="http://schemas.openxmlformats.org/drawingml/2006/main">
              <a:ext uri="{FF2B5EF4-FFF2-40B4-BE49-F238E27FC236}">
                <a16:creationId xmlns:a16="http://schemas.microsoft.com/office/drawing/2014/main" id="{7441C59D-5341-4EFA-8CB3-F7B7F53FD742}"/>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pinned model does not freeze the system.</a:t>
            </a:r>
          </a:p>
        </p:txBody>
      </p:sp>
      <p:sp>
        <p:nvSpPr>
          <p:cNvPr id="111" name="13-text-7">
            <a:extLst xmlns:a="http://schemas.openxmlformats.org/drawingml/2006/main">
              <a:ext uri="{FF2B5EF4-FFF2-40B4-BE49-F238E27FC236}">
                <a16:creationId xmlns:a16="http://schemas.microsoft.com/office/drawing/2014/main" id="{3AEBF48D-679E-48BA-A185-37C944BAB428}"/>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12" name="13-text-8">
            <a:extLst xmlns:a="http://schemas.openxmlformats.org/drawingml/2006/main">
              <a:ext uri="{FF2B5EF4-FFF2-40B4-BE49-F238E27FC236}">
                <a16:creationId xmlns:a16="http://schemas.microsoft.com/office/drawing/2014/main" id="{D31917BB-7D7D-456B-BEC2-9D93946E4AD0}"/>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Choosing and changing models without testing them on your task.</a:t>
            </a:r>
          </a:p>
        </p:txBody>
      </p:sp>
      <p:sp>
        <p:nvSpPr>
          <p:cNvPr id="113" name="narrative-number">
            <a:extLst xmlns:a="http://schemas.openxmlformats.org/drawingml/2006/main">
              <a:ext uri="{FF2B5EF4-FFF2-40B4-BE49-F238E27FC236}">
                <a16:creationId xmlns:a16="http://schemas.microsoft.com/office/drawing/2014/main" id="{35D9E9A1-DDAE-4B50-B3AA-88F1A7A10F7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2105214979"/>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14" name="!!area-name">
            <a:extLst xmlns:a="http://schemas.openxmlformats.org/drawingml/2006/main">
              <a:ext uri="{FF2B5EF4-FFF2-40B4-BE49-F238E27FC236}">
                <a16:creationId xmlns:a16="http://schemas.microsoft.com/office/drawing/2014/main" id="{1CC12C36-89AC-4AB2-87B1-E9EDAEEED97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FRB application</a:t>
            </a:r>
          </a:p>
        </p:txBody>
      </p:sp>
      <p:pic>
        <p:nvPicPr>
          <p:cNvPr id="122" name="mini-map"/>
          <p:cNvPicPr>
            <a:picLocks xmlns:a="http://schemas.openxmlformats.org/drawingml/2006/main" noChangeAspect="1"/>
          </p:cNvPicPr>
          <p:nvPr/>
        </p:nvPicPr>
        <p:blipFill>
          <a:blip xmlns:r="http://schemas.openxmlformats.org/officeDocument/2006/relationships" xmlns:a="http://schemas.openxmlformats.org/drawingml/2006/main" r:embed="R55bf5089b00c4e4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16" name="slide-title">
            <a:extLst xmlns:a="http://schemas.openxmlformats.org/drawingml/2006/main">
              <a:ext uri="{FF2B5EF4-FFF2-40B4-BE49-F238E27FC236}">
                <a16:creationId xmlns:a16="http://schemas.microsoft.com/office/drawing/2014/main" id="{0DA2D11F-CC81-4B58-80D9-7E842D5F045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for the FRB brief</a:t>
            </a:r>
          </a:p>
        </p:txBody>
      </p:sp>
      <p:sp>
        <p:nvSpPr>
          <p:cNvPr id="117" name="header-divider">
            <a:extLst xmlns:a="http://schemas.openxmlformats.org/drawingml/2006/main">
              <a:ext uri="{FF2B5EF4-FFF2-40B4-BE49-F238E27FC236}">
                <a16:creationId xmlns:a16="http://schemas.microsoft.com/office/drawing/2014/main" id="{FB7B5EF2-D59B-4101-B38F-17CD9A35EF1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18" name="14-text-1">
            <a:extLst xmlns:a="http://schemas.openxmlformats.org/drawingml/2006/main">
              <a:ext uri="{FF2B5EF4-FFF2-40B4-BE49-F238E27FC236}">
                <a16:creationId xmlns:a16="http://schemas.microsoft.com/office/drawing/2014/main" id="{30CFF117-D5B0-4E70-8869-A0F697BB8617}"/>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design. No model results claimed.</a:t>
            </a:r>
          </a:p>
        </p:txBody>
      </p:sp>
      <p:graphicFrame>
        <p:nvGraphicFramePr>
          <p:cNvPr id="126" name="14-table-2"/>
          <p:cNvGraphicFramePr/>
          <p:nvPr/>
        </p:nvGraphicFramePr>
        <p:xfrm>
          <a:off xmlns:a="http://schemas.openxmlformats.org/drawingml/2006/main" x="609600" y="2895600"/>
          <a:ext xmlns:a="http://schemas.openxmlformats.org/drawingml/2006/main" cx="10972800" cy="32004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1064F8"/>
                          </a:solidFill>
                          <a:latin typeface="Helvetica"/>
                          <a:ea typeface="Helvetica"/>
                          <a:cs typeface="Helvetica"/>
                        </a:rPr>
                        <a:t>Choice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Starting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Constraint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CUI/ECI corpus. Approved options assumed older</a:t>
                      </a:r>
                    </a:p>
                    <a:p>
                      <a:pPr>
                        <a:lnSpc>
                          <a:spcPct val="125000"/>
                        </a:lnSpc>
                        <a:buNone/>
                      </a:pPr>
                      <a:r>
                        <a:rPr sz="2000" b="0">
                          <a:solidFill>
                            <a:srgbClr val="FFFCF5"/>
                          </a:solidFill>
                          <a:latin typeface="Helvetica"/>
                          <a:ea typeface="Helvetica"/>
                          <a:cs typeface="Helvetica"/>
                        </a:rPr>
                        <a:t>and less capable for this synthesis.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Configuration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one eligible configuration on the FRB task.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If quality falls short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narrower scope and human review.</a:t>
                      </a:r>
                    </a:p>
                    <a:p>
                      <a:pPr>
                        <a:lnSpc>
                          <a:spcPct val="125000"/>
                        </a:lnSpc>
                        <a:buNone/>
                      </a:pPr>
                      <a:r>
                        <a:rPr sz="2000" b="0">
                          <a:solidFill>
                            <a:srgbClr val="FFFCF5"/>
                          </a:solidFill>
                          <a:latin typeface="Helvetica"/>
                          <a:ea typeface="Helvetica"/>
                          <a:cs typeface="Helvetica"/>
                        </a:rPr>
                        <a:t>Keep the evidence requirement.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20" name="narrative-number">
            <a:extLst xmlns:a="http://schemas.openxmlformats.org/drawingml/2006/main">
              <a:ext uri="{FF2B5EF4-FFF2-40B4-BE49-F238E27FC236}">
                <a16:creationId xmlns:a16="http://schemas.microsoft.com/office/drawing/2014/main" id="{D43D781A-C2DF-4D8D-BF43-B640AD2883A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355874498"/>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1" name="!!area-name">
            <a:extLst xmlns:a="http://schemas.openxmlformats.org/drawingml/2006/main">
              <a:ext uri="{FF2B5EF4-FFF2-40B4-BE49-F238E27FC236}">
                <a16:creationId xmlns:a16="http://schemas.microsoft.com/office/drawing/2014/main" id="{BA93F247-721A-4364-9B1F-AA998B1C1F7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Perspective</a:t>
            </a:r>
          </a:p>
        </p:txBody>
      </p:sp>
      <p:pic>
        <p:nvPicPr>
          <p:cNvPr id="130" name="mini-map"/>
          <p:cNvPicPr>
            <a:picLocks xmlns:a="http://schemas.openxmlformats.org/drawingml/2006/main" noChangeAspect="1"/>
          </p:cNvPicPr>
          <p:nvPr/>
        </p:nvPicPr>
        <p:blipFill>
          <a:blip xmlns:r="http://schemas.openxmlformats.org/officeDocument/2006/relationships" xmlns:a="http://schemas.openxmlformats.org/drawingml/2006/main" r:embed="Ra355ad1e7976455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23" name="header-divider">
            <a:extLst xmlns:a="http://schemas.openxmlformats.org/drawingml/2006/main">
              <a:ext uri="{FF2B5EF4-FFF2-40B4-BE49-F238E27FC236}">
                <a16:creationId xmlns:a16="http://schemas.microsoft.com/office/drawing/2014/main" id="{317B42B1-E07C-47AE-9AD7-5AC201FD2BB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4" name="15-text-1">
            <a:extLst xmlns:a="http://schemas.openxmlformats.org/drawingml/2006/main">
              <a:ext uri="{FF2B5EF4-FFF2-40B4-BE49-F238E27FC236}">
                <a16:creationId xmlns:a16="http://schemas.microsoft.com/office/drawing/2014/main" id="{0F687CD5-5F35-4A97-80E3-9EFE8592F957}"/>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“Context, therefore, must be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treated as a finite resource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diminishing marginal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returns.”</a:t>
            </a:r>
          </a:p>
        </p:txBody>
      </p:sp>
      <p:sp>
        <p:nvSpPr>
          <p:cNvPr id="125" name="15-text-2">
            <a:extLst xmlns:a="http://schemas.openxmlformats.org/drawingml/2006/main">
              <a:ext uri="{FF2B5EF4-FFF2-40B4-BE49-F238E27FC236}">
                <a16:creationId xmlns:a16="http://schemas.microsoft.com/office/drawing/2014/main" id="{40955ECF-51A0-441D-989F-47E605CF7CFF}"/>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26" name="15-text-3">
            <a:extLst xmlns:a="http://schemas.openxmlformats.org/drawingml/2006/main">
              <a:ext uri="{FF2B5EF4-FFF2-40B4-BE49-F238E27FC236}">
                <a16:creationId xmlns:a16="http://schemas.microsoft.com/office/drawing/2014/main" id="{150C3CCB-491A-4A1C-826D-EEEC93E2D6F5}"/>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Effective context engineering for AI agents, September 2025</a:t>
            </a:r>
          </a:p>
        </p:txBody>
      </p:sp>
      <p:pic>
        <p:nvPicPr>
          <p:cNvPr id="135" name="15-image-4"/>
          <p:cNvPicPr>
            <a:picLocks xmlns:a="http://schemas.openxmlformats.org/drawingml/2006/main" noChangeAspect="1"/>
          </p:cNvPicPr>
          <p:nvPr/>
        </p:nvPicPr>
        <p:blipFill>
          <a:blip xmlns:r="http://schemas.openxmlformats.org/officeDocument/2006/relationships" xmlns:a="http://schemas.openxmlformats.org/drawingml/2006/main" r:embed="R54bcee60d7034668"/>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28" name="narrative-number">
            <a:extLst xmlns:a="http://schemas.openxmlformats.org/drawingml/2006/main">
              <a:ext uri="{FF2B5EF4-FFF2-40B4-BE49-F238E27FC236}">
                <a16:creationId xmlns:a16="http://schemas.microsoft.com/office/drawing/2014/main" id="{916DA766-14CF-4EE3-A2CC-CEFE626448C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1419844484"/>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9" name="!!area-name">
            <a:extLst xmlns:a="http://schemas.openxmlformats.org/drawingml/2006/main">
              <a:ext uri="{FF2B5EF4-FFF2-40B4-BE49-F238E27FC236}">
                <a16:creationId xmlns:a16="http://schemas.microsoft.com/office/drawing/2014/main" id="{A42D3B03-800A-462E-BA75-81DEE241F3F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What and why</a:t>
            </a:r>
          </a:p>
        </p:txBody>
      </p:sp>
      <p:pic>
        <p:nvPicPr>
          <p:cNvPr id="139" name="mini-map"/>
          <p:cNvPicPr>
            <a:picLocks xmlns:a="http://schemas.openxmlformats.org/drawingml/2006/main" noChangeAspect="1"/>
          </p:cNvPicPr>
          <p:nvPr/>
        </p:nvPicPr>
        <p:blipFill>
          <a:blip xmlns:r="http://schemas.openxmlformats.org/officeDocument/2006/relationships" xmlns:a="http://schemas.openxmlformats.org/drawingml/2006/main" r:embed="R5dfa70ac9cad458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1" name="slide-title">
            <a:extLst xmlns:a="http://schemas.openxmlformats.org/drawingml/2006/main">
              <a:ext uri="{FF2B5EF4-FFF2-40B4-BE49-F238E27FC236}">
                <a16:creationId xmlns:a16="http://schemas.microsoft.com/office/drawing/2014/main" id="{4BE224B2-4162-440C-8B1F-ED270950095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for the next step</a:t>
            </a:r>
          </a:p>
        </p:txBody>
      </p:sp>
      <p:sp>
        <p:nvSpPr>
          <p:cNvPr id="132" name="header-divider">
            <a:extLst xmlns:a="http://schemas.openxmlformats.org/drawingml/2006/main">
              <a:ext uri="{FF2B5EF4-FFF2-40B4-BE49-F238E27FC236}">
                <a16:creationId xmlns:a16="http://schemas.microsoft.com/office/drawing/2014/main" id="{423F2D8A-B36E-4A62-A7D4-01444E4C5AD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3" name="16-text-1">
            <a:extLst xmlns:a="http://schemas.openxmlformats.org/drawingml/2006/main">
              <a:ext uri="{FF2B5EF4-FFF2-40B4-BE49-F238E27FC236}">
                <a16:creationId xmlns:a16="http://schemas.microsoft.com/office/drawing/2014/main" id="{A0A9772B-8576-4454-A1BD-229176843F8D}"/>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What it is</a:t>
            </a:r>
          </a:p>
        </p:txBody>
      </p:sp>
      <p:sp>
        <p:nvSpPr>
          <p:cNvPr id="134" name="16-text-2">
            <a:extLst xmlns:a="http://schemas.openxmlformats.org/drawingml/2006/main">
              <a:ext uri="{FF2B5EF4-FFF2-40B4-BE49-F238E27FC236}">
                <a16:creationId xmlns:a16="http://schemas.microsoft.com/office/drawing/2014/main" id="{35AB27A5-517F-4C82-8A46-9596D8CD08DA}"/>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Select and maintain information for the next model step.</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RAG supplies retrieved knowledge.</a:t>
            </a:r>
          </a:p>
        </p:txBody>
      </p:sp>
      <p:sp>
        <p:nvSpPr>
          <p:cNvPr id="135" name="16-text-3">
            <a:extLst xmlns:a="http://schemas.openxmlformats.org/drawingml/2006/main">
              <a:ext uri="{FF2B5EF4-FFF2-40B4-BE49-F238E27FC236}">
                <a16:creationId xmlns:a16="http://schemas.microsoft.com/office/drawing/2014/main" id="{FEE6CA95-2EE0-46C1-8AA8-94C57B830651}"/>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Why it matters</a:t>
            </a:r>
          </a:p>
        </p:txBody>
      </p:sp>
      <p:sp>
        <p:nvSpPr>
          <p:cNvPr id="136" name="16-text-4">
            <a:extLst xmlns:a="http://schemas.openxmlformats.org/drawingml/2006/main">
              <a:ext uri="{FF2B5EF4-FFF2-40B4-BE49-F238E27FC236}">
                <a16:creationId xmlns:a16="http://schemas.microsoft.com/office/drawing/2014/main" id="{0BA19D69-E97C-40B8-ABC3-5873BF02C285}"/>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Relevant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Preserved constraints.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Current, traceable sources.</a:t>
            </a:r>
          </a:p>
        </p:txBody>
      </p:sp>
      <p:sp>
        <p:nvSpPr>
          <p:cNvPr id="137" name="narrative-number">
            <a:extLst xmlns:a="http://schemas.openxmlformats.org/drawingml/2006/main">
              <a:ext uri="{FF2B5EF4-FFF2-40B4-BE49-F238E27FC236}">
                <a16:creationId xmlns:a16="http://schemas.microsoft.com/office/drawing/2014/main" id="{6CCD1EE0-23C3-434D-AF50-EF4A3B8CDB9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2173706971"/>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8" name="!!area-name">
            <a:extLst xmlns:a="http://schemas.openxmlformats.org/drawingml/2006/main">
              <a:ext uri="{FF2B5EF4-FFF2-40B4-BE49-F238E27FC236}">
                <a16:creationId xmlns:a16="http://schemas.microsoft.com/office/drawing/2014/main" id="{6A7DFA08-1621-4B89-A0CF-3240EE8228C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Decisions</a:t>
            </a:r>
          </a:p>
        </p:txBody>
      </p:sp>
      <p:pic>
        <p:nvPicPr>
          <p:cNvPr id="152" name="mini-map"/>
          <p:cNvPicPr>
            <a:picLocks xmlns:a="http://schemas.openxmlformats.org/drawingml/2006/main" noChangeAspect="1"/>
          </p:cNvPicPr>
          <p:nvPr/>
        </p:nvPicPr>
        <p:blipFill>
          <a:blip xmlns:r="http://schemas.openxmlformats.org/officeDocument/2006/relationships" xmlns:a="http://schemas.openxmlformats.org/drawingml/2006/main" r:embed="R7e40e8f25458462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40" name="slide-title">
            <a:extLst xmlns:a="http://schemas.openxmlformats.org/drawingml/2006/main">
              <a:ext uri="{FF2B5EF4-FFF2-40B4-BE49-F238E27FC236}">
                <a16:creationId xmlns:a16="http://schemas.microsoft.com/office/drawing/2014/main" id="{E9B5C019-3C91-4685-BA9C-A593BA4C766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decisions</a:t>
            </a:r>
          </a:p>
        </p:txBody>
      </p:sp>
      <p:sp>
        <p:nvSpPr>
          <p:cNvPr id="141" name="header-divider">
            <a:extLst xmlns:a="http://schemas.openxmlformats.org/drawingml/2006/main">
              <a:ext uri="{FF2B5EF4-FFF2-40B4-BE49-F238E27FC236}">
                <a16:creationId xmlns:a16="http://schemas.microsoft.com/office/drawing/2014/main" id="{3B91D723-C66C-4C16-B6DB-671558A3A62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42" name="17-text-1">
            <a:extLst xmlns:a="http://schemas.openxmlformats.org/drawingml/2006/main">
              <a:ext uri="{FF2B5EF4-FFF2-40B4-BE49-F238E27FC236}">
                <a16:creationId xmlns:a16="http://schemas.microsoft.com/office/drawing/2014/main" id="{A6BA0281-D180-4915-91A2-3BC703A77145}"/>
              </a:ext>
            </a:extLst>
          </p:cNvPr>
          <p:cNvSpPr>
            <a:spLocks xmlns:a="http://schemas.openxmlformats.org/drawingml/2006/main"/>
          </p:cNvSpPr>
          <p:nvPr/>
        </p:nvSpPr>
        <p:spPr>
          <a:xfrm xmlns:a="http://schemas.openxmlformats.org/drawingml/2006/main">
            <a:off x="609600" y="24384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What enters the step?</a:t>
            </a:r>
          </a:p>
        </p:txBody>
      </p:sp>
      <p:sp>
        <p:nvSpPr>
          <p:cNvPr id="143" name="17-text-2">
            <a:extLst xmlns:a="http://schemas.openxmlformats.org/drawingml/2006/main">
              <a:ext uri="{FF2B5EF4-FFF2-40B4-BE49-F238E27FC236}">
                <a16:creationId xmlns:a16="http://schemas.microsoft.com/office/drawing/2014/main" id="{3440CE64-E153-4421-B273-CC71DF793E3D}"/>
              </a:ext>
            </a:extLst>
          </p:cNvPr>
          <p:cNvSpPr>
            <a:spLocks xmlns:a="http://schemas.openxmlformats.org/drawingml/2006/main"/>
          </p:cNvSpPr>
          <p:nvPr/>
        </p:nvSpPr>
        <p:spPr>
          <a:xfrm xmlns:a="http://schemas.openxmlformats.org/drawingml/2006/main">
            <a:off x="4368800" y="24384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Useful instructions, state, and evidence. Remove repetition.</a:t>
            </a:r>
          </a:p>
        </p:txBody>
      </p:sp>
      <p:sp>
        <p:nvSpPr>
          <p:cNvPr id="144" name="17-text-3">
            <a:extLst xmlns:a="http://schemas.openxmlformats.org/drawingml/2006/main">
              <a:ext uri="{FF2B5EF4-FFF2-40B4-BE49-F238E27FC236}">
                <a16:creationId xmlns:a16="http://schemas.microsoft.com/office/drawing/2014/main" id="{9B6485C0-38C4-4D01-B038-A0A6CF3A95AE}"/>
              </a:ext>
            </a:extLst>
          </p:cNvPr>
          <p:cNvSpPr>
            <a:spLocks xmlns:a="http://schemas.openxmlformats.org/drawingml/2006/main"/>
          </p:cNvSpPr>
          <p:nvPr/>
        </p:nvSpPr>
        <p:spPr>
          <a:xfrm xmlns:a="http://schemas.openxmlformats.org/drawingml/2006/main">
            <a:off x="609600" y="33528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How is it retrieved?</a:t>
            </a:r>
          </a:p>
        </p:txBody>
      </p:sp>
      <p:sp>
        <p:nvSpPr>
          <p:cNvPr id="145" name="17-text-4">
            <a:extLst xmlns:a="http://schemas.openxmlformats.org/drawingml/2006/main">
              <a:ext uri="{FF2B5EF4-FFF2-40B4-BE49-F238E27FC236}">
                <a16:creationId xmlns:a16="http://schemas.microsoft.com/office/drawing/2014/main" id="{611CAFEE-37FD-4B5F-AD11-38281E5D01CA}"/>
              </a:ext>
            </a:extLst>
          </p:cNvPr>
          <p:cNvSpPr>
            <a:spLocks xmlns:a="http://schemas.openxmlformats.org/drawingml/2006/main"/>
          </p:cNvSpPr>
          <p:nvPr/>
        </p:nvSpPr>
        <p:spPr>
          <a:xfrm xmlns:a="http://schemas.openxmlformats.org/drawingml/2006/main">
            <a:off x="4368800" y="33528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Keyword, semantic, or hybrid. Choose for the data and task.</a:t>
            </a:r>
          </a:p>
        </p:txBody>
      </p:sp>
      <p:sp>
        <p:nvSpPr>
          <p:cNvPr id="146" name="17-text-5">
            <a:extLst xmlns:a="http://schemas.openxmlformats.org/drawingml/2006/main">
              <a:ext uri="{FF2B5EF4-FFF2-40B4-BE49-F238E27FC236}">
                <a16:creationId xmlns:a16="http://schemas.microsoft.com/office/drawing/2014/main" id="{0CDAA10F-34EF-4079-96E7-95356FF44D71}"/>
              </a:ext>
            </a:extLst>
          </p:cNvPr>
          <p:cNvSpPr>
            <a:spLocks xmlns:a="http://schemas.openxmlformats.org/drawingml/2006/main"/>
          </p:cNvSpPr>
          <p:nvPr/>
        </p:nvSpPr>
        <p:spPr>
          <a:xfrm xmlns:a="http://schemas.openxmlformats.org/drawingml/2006/main">
            <a:off x="609600" y="42672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What persists?</a:t>
            </a:r>
          </a:p>
        </p:txBody>
      </p:sp>
      <p:sp>
        <p:nvSpPr>
          <p:cNvPr id="147" name="17-text-6">
            <a:extLst xmlns:a="http://schemas.openxmlformats.org/drawingml/2006/main">
              <a:ext uri="{FF2B5EF4-FFF2-40B4-BE49-F238E27FC236}">
                <a16:creationId xmlns:a16="http://schemas.microsoft.com/office/drawing/2014/main" id="{780AEE7F-AE95-4B10-831B-955C9B03D474}"/>
              </a:ext>
            </a:extLst>
          </p:cNvPr>
          <p:cNvSpPr>
            <a:spLocks xmlns:a="http://schemas.openxmlformats.org/drawingml/2006/main"/>
          </p:cNvSpPr>
          <p:nvPr/>
        </p:nvSpPr>
        <p:spPr>
          <a:xfrm xmlns:a="http://schemas.openxmlformats.org/drawingml/2006/main">
            <a:off x="4368800" y="42672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essential constraints. Refresh summaries and memory.</a:t>
            </a:r>
          </a:p>
        </p:txBody>
      </p:sp>
      <p:sp>
        <p:nvSpPr>
          <p:cNvPr id="148" name="17-text-7">
            <a:extLst xmlns:a="http://schemas.openxmlformats.org/drawingml/2006/main">
              <a:ext uri="{FF2B5EF4-FFF2-40B4-BE49-F238E27FC236}">
                <a16:creationId xmlns:a16="http://schemas.microsoft.com/office/drawing/2014/main" id="{D756D26F-3EBB-453B-A386-32E8D3CC8A2D}"/>
              </a:ext>
            </a:extLst>
          </p:cNvPr>
          <p:cNvSpPr>
            <a:spLocks xmlns:a="http://schemas.openxmlformats.org/drawingml/2006/main"/>
          </p:cNvSpPr>
          <p:nvPr/>
        </p:nvSpPr>
        <p:spPr>
          <a:xfrm xmlns:a="http://schemas.openxmlformats.org/drawingml/2006/main">
            <a:off x="609600" y="51816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Which sources and scope?</a:t>
            </a:r>
          </a:p>
        </p:txBody>
      </p:sp>
      <p:sp>
        <p:nvSpPr>
          <p:cNvPr id="149" name="17-text-8">
            <a:extLst xmlns:a="http://schemas.openxmlformats.org/drawingml/2006/main">
              <a:ext uri="{FF2B5EF4-FFF2-40B4-BE49-F238E27FC236}">
                <a16:creationId xmlns:a16="http://schemas.microsoft.com/office/drawing/2014/main" id="{9F48B011-1D6F-4740-869E-142756E6C63B}"/>
              </a:ext>
            </a:extLst>
          </p:cNvPr>
          <p:cNvSpPr>
            <a:spLocks xmlns:a="http://schemas.openxmlformats.org/drawingml/2006/main"/>
          </p:cNvSpPr>
          <p:nvPr/>
        </p:nvSpPr>
        <p:spPr>
          <a:xfrm xmlns:a="http://schemas.openxmlformats.org/drawingml/2006/main">
            <a:off x="4368800" y="51816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Preserve identity and revision. Enforce authorized access.</a:t>
            </a:r>
          </a:p>
        </p:txBody>
      </p:sp>
      <p:sp>
        <p:nvSpPr>
          <p:cNvPr id="150" name="narrative-number">
            <a:extLst xmlns:a="http://schemas.openxmlformats.org/drawingml/2006/main">
              <a:ext uri="{FF2B5EF4-FFF2-40B4-BE49-F238E27FC236}">
                <a16:creationId xmlns:a16="http://schemas.microsoft.com/office/drawing/2014/main" id="{BE79627A-0FA5-41A3-A4E0-A1608C66A52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4126247684"/>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1" name="!!area-name">
            <a:extLst xmlns:a="http://schemas.openxmlformats.org/drawingml/2006/main">
              <a:ext uri="{FF2B5EF4-FFF2-40B4-BE49-F238E27FC236}">
                <a16:creationId xmlns:a16="http://schemas.microsoft.com/office/drawing/2014/main" id="{3DAD6092-D171-4A6F-8824-C84157953F3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Challenges and pitfalls</a:t>
            </a:r>
          </a:p>
        </p:txBody>
      </p:sp>
      <p:pic>
        <p:nvPicPr>
          <p:cNvPr id="165" name="mini-map"/>
          <p:cNvPicPr>
            <a:picLocks xmlns:a="http://schemas.openxmlformats.org/drawingml/2006/main" noChangeAspect="1"/>
          </p:cNvPicPr>
          <p:nvPr/>
        </p:nvPicPr>
        <p:blipFill>
          <a:blip xmlns:r="http://schemas.openxmlformats.org/officeDocument/2006/relationships" xmlns:a="http://schemas.openxmlformats.org/drawingml/2006/main" r:embed="Ra4a4598fd35a4b2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53" name="slide-title">
            <a:extLst xmlns:a="http://schemas.openxmlformats.org/drawingml/2006/main">
              <a:ext uri="{FF2B5EF4-FFF2-40B4-BE49-F238E27FC236}">
                <a16:creationId xmlns:a16="http://schemas.microsoft.com/office/drawing/2014/main" id="{CA1F7E60-31F5-4017-BFFE-E5A7BB2969C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pitfalls</a:t>
            </a:r>
          </a:p>
        </p:txBody>
      </p:sp>
      <p:sp>
        <p:nvSpPr>
          <p:cNvPr id="154" name="header-divider">
            <a:extLst xmlns:a="http://schemas.openxmlformats.org/drawingml/2006/main">
              <a:ext uri="{FF2B5EF4-FFF2-40B4-BE49-F238E27FC236}">
                <a16:creationId xmlns:a16="http://schemas.microsoft.com/office/drawing/2014/main" id="{62BFA363-DF3F-4CA9-9F90-DE714DA50EC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55" name="18-text-1">
            <a:extLst xmlns:a="http://schemas.openxmlformats.org/drawingml/2006/main">
              <a:ext uri="{FF2B5EF4-FFF2-40B4-BE49-F238E27FC236}">
                <a16:creationId xmlns:a16="http://schemas.microsoft.com/office/drawing/2014/main" id="{A38F184E-738F-4CDD-B151-158380FF391B}"/>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Coverage</a:t>
            </a:r>
          </a:p>
        </p:txBody>
      </p:sp>
      <p:sp>
        <p:nvSpPr>
          <p:cNvPr id="156" name="18-text-2">
            <a:extLst xmlns:a="http://schemas.openxmlformats.org/drawingml/2006/main">
              <a:ext uri="{FF2B5EF4-FFF2-40B4-BE49-F238E27FC236}">
                <a16:creationId xmlns:a16="http://schemas.microsoft.com/office/drawing/2014/main" id="{B8CCD0D2-C405-4696-B56D-BEF8B30A8139}"/>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Decisive evidence can be missing.</a:t>
            </a:r>
          </a:p>
        </p:txBody>
      </p:sp>
      <p:sp>
        <p:nvSpPr>
          <p:cNvPr id="157" name="18-text-3">
            <a:extLst xmlns:a="http://schemas.openxmlformats.org/drawingml/2006/main">
              <a:ext uri="{FF2B5EF4-FFF2-40B4-BE49-F238E27FC236}">
                <a16:creationId xmlns:a16="http://schemas.microsoft.com/office/drawing/2014/main" id="{3AB64A06-CD32-4A02-8B1F-6E0B75FFBD4C}"/>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Summaries</a:t>
            </a:r>
          </a:p>
        </p:txBody>
      </p:sp>
      <p:sp>
        <p:nvSpPr>
          <p:cNvPr id="158" name="18-text-4">
            <a:extLst xmlns:a="http://schemas.openxmlformats.org/drawingml/2006/main">
              <a:ext uri="{FF2B5EF4-FFF2-40B4-BE49-F238E27FC236}">
                <a16:creationId xmlns:a16="http://schemas.microsoft.com/office/drawing/2014/main" id="{49FC5DC1-E70A-41B2-99CD-C24FB021B30A}"/>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Qualifications can disappear.</a:t>
            </a:r>
          </a:p>
        </p:txBody>
      </p:sp>
      <p:sp>
        <p:nvSpPr>
          <p:cNvPr id="159" name="18-text-5">
            <a:extLst xmlns:a="http://schemas.openxmlformats.org/drawingml/2006/main">
              <a:ext uri="{FF2B5EF4-FFF2-40B4-BE49-F238E27FC236}">
                <a16:creationId xmlns:a16="http://schemas.microsoft.com/office/drawing/2014/main" id="{09B990FF-B0B2-4E2F-BAE9-37CA4E97C901}"/>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Sources</a:t>
            </a:r>
          </a:p>
        </p:txBody>
      </p:sp>
      <p:sp>
        <p:nvSpPr>
          <p:cNvPr id="160" name="18-text-6">
            <a:extLst xmlns:a="http://schemas.openxmlformats.org/drawingml/2006/main">
              <a:ext uri="{FF2B5EF4-FFF2-40B4-BE49-F238E27FC236}">
                <a16:creationId xmlns:a16="http://schemas.microsoft.com/office/drawing/2014/main" id="{0E375F73-024A-483B-A73D-9EFBC38E5604}"/>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Versions and identities must remain traceable.</a:t>
            </a:r>
          </a:p>
        </p:txBody>
      </p:sp>
      <p:sp>
        <p:nvSpPr>
          <p:cNvPr id="161" name="18-text-7">
            <a:extLst xmlns:a="http://schemas.openxmlformats.org/drawingml/2006/main">
              <a:ext uri="{FF2B5EF4-FFF2-40B4-BE49-F238E27FC236}">
                <a16:creationId xmlns:a16="http://schemas.microsoft.com/office/drawing/2014/main" id="{1A8B2600-4875-4AD6-9699-785ECE29A8AA}"/>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162" name="18-text-8">
            <a:extLst xmlns:a="http://schemas.openxmlformats.org/drawingml/2006/main">
              <a:ext uri="{FF2B5EF4-FFF2-40B4-BE49-F238E27FC236}">
                <a16:creationId xmlns:a16="http://schemas.microsoft.com/office/drawing/2014/main" id="{1DED286E-558E-4236-814F-9E5ABD0808FA}"/>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instead of curating.</a:t>
            </a:r>
          </a:p>
        </p:txBody>
      </p:sp>
      <p:sp>
        <p:nvSpPr>
          <p:cNvPr id="163" name="narrative-number">
            <a:extLst xmlns:a="http://schemas.openxmlformats.org/drawingml/2006/main">
              <a:ext uri="{FF2B5EF4-FFF2-40B4-BE49-F238E27FC236}">
                <a16:creationId xmlns:a16="http://schemas.microsoft.com/office/drawing/2014/main" id="{00C50040-70D4-4171-B2DB-9D5A9AFF97D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1927085453"/>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4" name="!!area-name">
            <a:extLst xmlns:a="http://schemas.openxmlformats.org/drawingml/2006/main">
              <a:ext uri="{FF2B5EF4-FFF2-40B4-BE49-F238E27FC236}">
                <a16:creationId xmlns:a16="http://schemas.microsoft.com/office/drawing/2014/main" id="{73805BFD-3A6C-4500-A675-5D01817DF77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FRB application</a:t>
            </a:r>
          </a:p>
        </p:txBody>
      </p:sp>
      <p:pic>
        <p:nvPicPr>
          <p:cNvPr id="181" name="mini-map"/>
          <p:cNvPicPr>
            <a:picLocks xmlns:a="http://schemas.openxmlformats.org/drawingml/2006/main" noChangeAspect="1"/>
          </p:cNvPicPr>
          <p:nvPr/>
        </p:nvPicPr>
        <p:blipFill>
          <a:blip xmlns:r="http://schemas.openxmlformats.org/officeDocument/2006/relationships" xmlns:a="http://schemas.openxmlformats.org/drawingml/2006/main" r:embed="R0db0d1ad0f4d413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6" name="slide-title">
            <a:extLst xmlns:a="http://schemas.openxmlformats.org/drawingml/2006/main">
              <a:ext uri="{FF2B5EF4-FFF2-40B4-BE49-F238E27FC236}">
                <a16:creationId xmlns:a16="http://schemas.microsoft.com/office/drawing/2014/main" id="{ACC47EF8-B741-4174-9B30-75B5B6F722E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Evidence for the FRB brief</a:t>
            </a:r>
          </a:p>
        </p:txBody>
      </p:sp>
      <p:sp>
        <p:nvSpPr>
          <p:cNvPr id="167" name="header-divider">
            <a:extLst xmlns:a="http://schemas.openxmlformats.org/drawingml/2006/main">
              <a:ext uri="{FF2B5EF4-FFF2-40B4-BE49-F238E27FC236}">
                <a16:creationId xmlns:a16="http://schemas.microsoft.com/office/drawing/2014/main" id="{26FDB4A9-955B-4E5E-B48F-A57106294C6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8" name="19-text-1">
            <a:extLst xmlns:a="http://schemas.openxmlformats.org/drawingml/2006/main">
              <a:ext uri="{FF2B5EF4-FFF2-40B4-BE49-F238E27FC236}">
                <a16:creationId xmlns:a16="http://schemas.microsoft.com/office/drawing/2014/main" id="{67AE1A2B-2548-40AC-AB26-9E816B056A96}"/>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evidence.</a:t>
            </a:r>
          </a:p>
        </p:txBody>
      </p:sp>
      <p:sp>
        <p:nvSpPr>
          <p:cNvPr id="169" name="19-text-2">
            <a:extLst xmlns:a="http://schemas.openxmlformats.org/drawingml/2006/main">
              <a:ext uri="{FF2B5EF4-FFF2-40B4-BE49-F238E27FC236}">
                <a16:creationId xmlns:a16="http://schemas.microsoft.com/office/drawing/2014/main" id="{DC92A3C2-6B18-462A-A2D0-09D081A34FA7}"/>
              </a:ext>
            </a:extLst>
          </p:cNvPr>
          <p:cNvSpPr>
            <a:spLocks xmlns:a="http://schemas.openxmlformats.org/drawingml/2006/main"/>
          </p:cNvSpPr>
          <p:nvPr/>
        </p:nvSpPr>
        <p:spPr>
          <a:xfrm xmlns:a="http://schemas.openxmlformats.org/drawingml/2006/main">
            <a:off x="609600" y="2844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August 19,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slide 6</a:t>
            </a:r>
          </a:p>
        </p:txBody>
      </p:sp>
      <p:sp>
        <p:nvSpPr>
          <p:cNvPr id="170" name="19-text-3">
            <a:extLst xmlns:a="http://schemas.openxmlformats.org/drawingml/2006/main">
              <a:ext uri="{FF2B5EF4-FFF2-40B4-BE49-F238E27FC236}">
                <a16:creationId xmlns:a16="http://schemas.microsoft.com/office/drawing/2014/main" id="{C7B128D6-481F-423B-8B8E-84D7095C343C}"/>
              </a:ext>
            </a:extLst>
          </p:cNvPr>
          <p:cNvSpPr>
            <a:spLocks xmlns:a="http://schemas.openxmlformats.org/drawingml/2006/main"/>
          </p:cNvSpPr>
          <p:nvPr/>
        </p:nvSpPr>
        <p:spPr>
          <a:xfrm xmlns:a="http://schemas.openxmlformats.org/drawingml/2006/main">
            <a:off x="609600" y="33274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 is 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possible cause.”</a:t>
            </a:r>
          </a:p>
        </p:txBody>
      </p:sp>
      <p:sp>
        <p:nvSpPr>
          <p:cNvPr id="171" name="19-text-4">
            <a:extLst xmlns:a="http://schemas.openxmlformats.org/drawingml/2006/main">
              <a:ext uri="{FF2B5EF4-FFF2-40B4-BE49-F238E27FC236}">
                <a16:creationId xmlns:a16="http://schemas.microsoft.com/office/drawing/2014/main" id="{81ABBFF8-5245-4092-93B6-214EDF48987F}"/>
              </a:ext>
            </a:extLst>
          </p:cNvPr>
          <p:cNvSpPr>
            <a:spLocks xmlns:a="http://schemas.openxmlformats.org/drawingml/2006/main"/>
          </p:cNvSpPr>
          <p:nvPr/>
        </p:nvSpPr>
        <p:spPr>
          <a:xfrm xmlns:a="http://schemas.openxmlformats.org/drawingml/2006/main">
            <a:off x="609600" y="4368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August 22,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§3, paragraph 2</a:t>
            </a:r>
          </a:p>
        </p:txBody>
      </p:sp>
      <p:sp>
        <p:nvSpPr>
          <p:cNvPr id="172" name="19-text-5">
            <a:extLst xmlns:a="http://schemas.openxmlformats.org/drawingml/2006/main">
              <a:ext uri="{FF2B5EF4-FFF2-40B4-BE49-F238E27FC236}">
                <a16:creationId xmlns:a16="http://schemas.microsoft.com/office/drawing/2014/main" id="{ADDBE972-33F7-4639-A2E9-6BDDBD414C63}"/>
              </a:ext>
            </a:extLst>
          </p:cNvPr>
          <p:cNvSpPr>
            <a:spLocks xmlns:a="http://schemas.openxmlformats.org/drawingml/2006/main"/>
          </p:cNvSpPr>
          <p:nvPr/>
        </p:nvSpPr>
        <p:spPr>
          <a:xfrm xmlns:a="http://schemas.openxmlformats.org/drawingml/2006/main">
            <a:off x="609600" y="50800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173" name="19-text-6">
            <a:extLst xmlns:a="http://schemas.openxmlformats.org/drawingml/2006/main">
              <a:ext uri="{FF2B5EF4-FFF2-40B4-BE49-F238E27FC236}">
                <a16:creationId xmlns:a16="http://schemas.microsoft.com/office/drawing/2014/main" id="{071DA20F-7144-457E-843E-C4C51FA2A77B}"/>
              </a:ext>
            </a:extLst>
          </p:cNvPr>
          <p:cNvSpPr>
            <a:spLocks xmlns:a="http://schemas.openxmlformats.org/drawingml/2006/main"/>
          </p:cNvSpPr>
          <p:nvPr/>
        </p:nvSpPr>
        <p:spPr>
          <a:xfrm xmlns:a="http://schemas.openxmlformats.org/drawingml/2006/main">
            <a:off x="6248400" y="2844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a:t>
            </a:r>
          </a:p>
        </p:txBody>
      </p:sp>
      <p:sp>
        <p:nvSpPr>
          <p:cNvPr id="174" name="19-text-7">
            <a:extLst xmlns:a="http://schemas.openxmlformats.org/drawingml/2006/main">
              <a:ext uri="{FF2B5EF4-FFF2-40B4-BE49-F238E27FC236}">
                <a16:creationId xmlns:a16="http://schemas.microsoft.com/office/drawing/2014/main" id="{481923CD-E735-42BA-81ED-3E557009FCBB}"/>
              </a:ext>
            </a:extLst>
          </p:cNvPr>
          <p:cNvSpPr>
            <a:spLocks xmlns:a="http://schemas.openxmlformats.org/drawingml/2006/main"/>
          </p:cNvSpPr>
          <p:nvPr/>
        </p:nvSpPr>
        <p:spPr>
          <a:xfrm xmlns:a="http://schemas.openxmlformats.org/drawingml/2006/main">
            <a:off x="6248400" y="32258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Relevant passages with</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their source identities.</a:t>
            </a:r>
          </a:p>
        </p:txBody>
      </p:sp>
      <p:sp>
        <p:nvSpPr>
          <p:cNvPr id="175" name="19-text-8">
            <a:extLst xmlns:a="http://schemas.openxmlformats.org/drawingml/2006/main">
              <a:ext uri="{FF2B5EF4-FFF2-40B4-BE49-F238E27FC236}">
                <a16:creationId xmlns:a16="http://schemas.microsoft.com/office/drawing/2014/main" id="{3EE4ED17-100F-4823-AE79-13248204832B}"/>
              </a:ext>
            </a:extLst>
          </p:cNvPr>
          <p:cNvSpPr>
            <a:spLocks xmlns:a="http://schemas.openxmlformats.org/drawingml/2006/main"/>
          </p:cNvSpPr>
          <p:nvPr/>
        </p:nvSpPr>
        <p:spPr>
          <a:xfrm xmlns:a="http://schemas.openxmlformats.org/drawingml/2006/main">
            <a:off x="6248400" y="40132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Retain</a:t>
            </a:r>
          </a:p>
        </p:txBody>
      </p:sp>
      <p:sp>
        <p:nvSpPr>
          <p:cNvPr id="176" name="19-text-9">
            <a:extLst xmlns:a="http://schemas.openxmlformats.org/drawingml/2006/main">
              <a:ext uri="{FF2B5EF4-FFF2-40B4-BE49-F238E27FC236}">
                <a16:creationId xmlns:a16="http://schemas.microsoft.com/office/drawing/2014/main" id="{35DA28FE-C12C-4BE9-8A98-FF962EF03B39}"/>
              </a:ext>
            </a:extLst>
          </p:cNvPr>
          <p:cNvSpPr>
            <a:spLocks xmlns:a="http://schemas.openxmlformats.org/drawingml/2006/main"/>
          </p:cNvSpPr>
          <p:nvPr/>
        </p:nvSpPr>
        <p:spPr>
          <a:xfrm xmlns:a="http://schemas.openxmlformats.org/drawingml/2006/main">
            <a:off x="6248400" y="43942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Unresolved cause.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177" name="19-text-10">
            <a:extLst xmlns:a="http://schemas.openxmlformats.org/drawingml/2006/main">
              <a:ext uri="{FF2B5EF4-FFF2-40B4-BE49-F238E27FC236}">
                <a16:creationId xmlns:a16="http://schemas.microsoft.com/office/drawing/2014/main" id="{B8300CEF-0D00-4002-BB2B-63D9170312ED}"/>
              </a:ext>
            </a:extLst>
          </p:cNvPr>
          <p:cNvSpPr>
            <a:spLocks xmlns:a="http://schemas.openxmlformats.org/drawingml/2006/main"/>
          </p:cNvSpPr>
          <p:nvPr/>
        </p:nvSpPr>
        <p:spPr>
          <a:xfrm xmlns:a="http://schemas.openxmlformats.org/drawingml/2006/main">
            <a:off x="6248400" y="51816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Refresh</a:t>
            </a:r>
          </a:p>
        </p:txBody>
      </p:sp>
      <p:sp>
        <p:nvSpPr>
          <p:cNvPr id="178" name="19-text-11">
            <a:extLst xmlns:a="http://schemas.openxmlformats.org/drawingml/2006/main">
              <a:ext uri="{FF2B5EF4-FFF2-40B4-BE49-F238E27FC236}">
                <a16:creationId xmlns:a16="http://schemas.microsoft.com/office/drawing/2014/main" id="{7040254A-E7C2-4E8E-946C-E535B34D21E1}"/>
              </a:ext>
            </a:extLst>
          </p:cNvPr>
          <p:cNvSpPr>
            <a:spLocks xmlns:a="http://schemas.openxmlformats.org/drawingml/2006/main"/>
          </p:cNvSpPr>
          <p:nvPr/>
        </p:nvSpPr>
        <p:spPr>
          <a:xfrm xmlns:a="http://schemas.openxmlformats.org/drawingml/2006/main">
            <a:off x="6248400" y="55626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Source versions and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before finalizing.</a:t>
            </a:r>
          </a:p>
        </p:txBody>
      </p:sp>
      <p:sp>
        <p:nvSpPr>
          <p:cNvPr id="179" name="narrative-number">
            <a:extLst xmlns:a="http://schemas.openxmlformats.org/drawingml/2006/main">
              <a:ext uri="{FF2B5EF4-FFF2-40B4-BE49-F238E27FC236}">
                <a16:creationId xmlns:a16="http://schemas.microsoft.com/office/drawing/2014/main" id="{56A0AA1F-BFDB-4A58-9E0D-CFEE9A0B639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739962279"/>
      </p:ext>
    </p:extLst>
  </p:cSld>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80" name="!!area-name">
            <a:extLst xmlns:a="http://schemas.openxmlformats.org/drawingml/2006/main">
              <a:ext uri="{FF2B5EF4-FFF2-40B4-BE49-F238E27FC236}">
                <a16:creationId xmlns:a16="http://schemas.microsoft.com/office/drawing/2014/main" id="{197DFA3F-C9AF-498B-BB03-05353DE4C6E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Perspective</a:t>
            </a:r>
          </a:p>
        </p:txBody>
      </p:sp>
      <p:pic>
        <p:nvPicPr>
          <p:cNvPr id="189" name="mini-map"/>
          <p:cNvPicPr>
            <a:picLocks xmlns:a="http://schemas.openxmlformats.org/drawingml/2006/main" noChangeAspect="1"/>
          </p:cNvPicPr>
          <p:nvPr/>
        </p:nvPicPr>
        <p:blipFill>
          <a:blip xmlns:r="http://schemas.openxmlformats.org/officeDocument/2006/relationships" xmlns:a="http://schemas.openxmlformats.org/drawingml/2006/main" r:embed="R24881fb27a0f4f4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82" name="header-divider">
            <a:extLst xmlns:a="http://schemas.openxmlformats.org/drawingml/2006/main">
              <a:ext uri="{FF2B5EF4-FFF2-40B4-BE49-F238E27FC236}">
                <a16:creationId xmlns:a16="http://schemas.microsoft.com/office/drawing/2014/main" id="{5CF494A6-21F2-4EB4-9BE1-DF023698E8F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83" name="20-text-1">
            <a:extLst xmlns:a="http://schemas.openxmlformats.org/drawingml/2006/main">
              <a:ext uri="{FF2B5EF4-FFF2-40B4-BE49-F238E27FC236}">
                <a16:creationId xmlns:a16="http://schemas.microsoft.com/office/drawing/2014/main" id="{EF7BBF11-A440-49BD-903B-F80D81E42032}"/>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“Agents are only as effective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as the tools we give them.”</a:t>
            </a:r>
          </a:p>
        </p:txBody>
      </p:sp>
      <p:sp>
        <p:nvSpPr>
          <p:cNvPr id="184" name="20-text-2">
            <a:extLst xmlns:a="http://schemas.openxmlformats.org/drawingml/2006/main">
              <a:ext uri="{FF2B5EF4-FFF2-40B4-BE49-F238E27FC236}">
                <a16:creationId xmlns:a16="http://schemas.microsoft.com/office/drawing/2014/main" id="{1CF2D626-AD42-4426-B018-6AC54F3CA43D}"/>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85" name="20-text-3">
            <a:extLst xmlns:a="http://schemas.openxmlformats.org/drawingml/2006/main">
              <a:ext uri="{FF2B5EF4-FFF2-40B4-BE49-F238E27FC236}">
                <a16:creationId xmlns:a16="http://schemas.microsoft.com/office/drawing/2014/main" id="{4F6CD2FD-38F0-4318-B5E9-A501A1D9B772}"/>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Writing effective tools for agents, with agents, September 2025</a:t>
            </a:r>
          </a:p>
        </p:txBody>
      </p:sp>
      <p:pic>
        <p:nvPicPr>
          <p:cNvPr id="194" name="20-image-4"/>
          <p:cNvPicPr>
            <a:picLocks xmlns:a="http://schemas.openxmlformats.org/drawingml/2006/main" noChangeAspect="1"/>
          </p:cNvPicPr>
          <p:nvPr/>
        </p:nvPicPr>
        <p:blipFill>
          <a:blip xmlns:r="http://schemas.openxmlformats.org/officeDocument/2006/relationships" xmlns:a="http://schemas.openxmlformats.org/drawingml/2006/main" r:embed="R51df21ff4250496d"/>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87" name="narrative-number">
            <a:extLst xmlns:a="http://schemas.openxmlformats.org/drawingml/2006/main">
              <a:ext uri="{FF2B5EF4-FFF2-40B4-BE49-F238E27FC236}">
                <a16:creationId xmlns:a16="http://schemas.microsoft.com/office/drawing/2014/main" id="{B2D88B15-F654-49E5-B450-74706D42161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2242141320"/>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88" name="!!area-name">
            <a:extLst xmlns:a="http://schemas.openxmlformats.org/drawingml/2006/main">
              <a:ext uri="{FF2B5EF4-FFF2-40B4-BE49-F238E27FC236}">
                <a16:creationId xmlns:a16="http://schemas.microsoft.com/office/drawing/2014/main" id="{FFDF227B-DFA7-4C07-AAD7-9503EA5F4A6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What and why</a:t>
            </a:r>
          </a:p>
        </p:txBody>
      </p:sp>
      <p:pic>
        <p:nvPicPr>
          <p:cNvPr id="198" name="mini-map"/>
          <p:cNvPicPr>
            <a:picLocks xmlns:a="http://schemas.openxmlformats.org/drawingml/2006/main" noChangeAspect="1"/>
          </p:cNvPicPr>
          <p:nvPr/>
        </p:nvPicPr>
        <p:blipFill>
          <a:blip xmlns:r="http://schemas.openxmlformats.org/officeDocument/2006/relationships" xmlns:a="http://schemas.openxmlformats.org/drawingml/2006/main" r:embed="R0adecdc5e8264e9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0" name="slide-title">
            <a:extLst xmlns:a="http://schemas.openxmlformats.org/drawingml/2006/main">
              <a:ext uri="{FF2B5EF4-FFF2-40B4-BE49-F238E27FC236}">
                <a16:creationId xmlns:a16="http://schemas.microsoft.com/office/drawing/2014/main" id="{D0FCD256-0165-4AE8-97C6-4D97A942713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Tools and connections</a:t>
            </a:r>
          </a:p>
        </p:txBody>
      </p:sp>
      <p:sp>
        <p:nvSpPr>
          <p:cNvPr id="191" name="header-divider">
            <a:extLst xmlns:a="http://schemas.openxmlformats.org/drawingml/2006/main">
              <a:ext uri="{FF2B5EF4-FFF2-40B4-BE49-F238E27FC236}">
                <a16:creationId xmlns:a16="http://schemas.microsoft.com/office/drawing/2014/main" id="{AD546994-D24B-434D-A7A5-C911E72996F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92" name="21-text-1">
            <a:extLst xmlns:a="http://schemas.openxmlformats.org/drawingml/2006/main">
              <a:ext uri="{FF2B5EF4-FFF2-40B4-BE49-F238E27FC236}">
                <a16:creationId xmlns:a16="http://schemas.microsoft.com/office/drawing/2014/main" id="{2ECEA102-9B58-42F6-9152-1161BEE26E07}"/>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What it is</a:t>
            </a:r>
          </a:p>
        </p:txBody>
      </p:sp>
      <p:sp>
        <p:nvSpPr>
          <p:cNvPr id="193" name="21-text-2">
            <a:extLst xmlns:a="http://schemas.openxmlformats.org/drawingml/2006/main">
              <a:ext uri="{FF2B5EF4-FFF2-40B4-BE49-F238E27FC236}">
                <a16:creationId xmlns:a16="http://schemas.microsoft.com/office/drawing/2014/main" id="{BE7FF4C4-FC4B-4F8C-A573-ED0EAF3E8071}"/>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Tool: an operation with defined inputs, results, and execution rules.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MCP: a common integration interface.</a:t>
            </a:r>
          </a:p>
        </p:txBody>
      </p:sp>
      <p:sp>
        <p:nvSpPr>
          <p:cNvPr id="194" name="21-text-3">
            <a:extLst xmlns:a="http://schemas.openxmlformats.org/drawingml/2006/main">
              <a:ext uri="{FF2B5EF4-FFF2-40B4-BE49-F238E27FC236}">
                <a16:creationId xmlns:a16="http://schemas.microsoft.com/office/drawing/2014/main" id="{5BB03318-D183-4F04-B5FC-31624101E069}"/>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Why it matters</a:t>
            </a:r>
          </a:p>
        </p:txBody>
      </p:sp>
      <p:sp>
        <p:nvSpPr>
          <p:cNvPr id="195" name="21-text-4">
            <a:extLst xmlns:a="http://schemas.openxmlformats.org/drawingml/2006/main">
              <a:ext uri="{FF2B5EF4-FFF2-40B4-BE49-F238E27FC236}">
                <a16:creationId xmlns:a16="http://schemas.microsoft.com/office/drawing/2014/main" id="{FDEA4372-2B3B-4512-8E8B-31704EDE52E3}"/>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Useful capabilities.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Clear results.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Enforced boundaries.</a:t>
            </a:r>
          </a:p>
        </p:txBody>
      </p:sp>
      <p:sp>
        <p:nvSpPr>
          <p:cNvPr id="196" name="narrative-number">
            <a:extLst xmlns:a="http://schemas.openxmlformats.org/drawingml/2006/main">
              <a:ext uri="{FF2B5EF4-FFF2-40B4-BE49-F238E27FC236}">
                <a16:creationId xmlns:a16="http://schemas.microsoft.com/office/drawing/2014/main" id="{9A3BFD0B-D733-4166-8E6B-73CCBD35CF0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988489263"/>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7" name="!!area-name">
            <a:extLst xmlns:a="http://schemas.openxmlformats.org/drawingml/2006/main">
              <a:ext uri="{FF2B5EF4-FFF2-40B4-BE49-F238E27FC236}">
                <a16:creationId xmlns:a16="http://schemas.microsoft.com/office/drawing/2014/main" id="{16D855CF-A252-419C-A06F-BDDB263074C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Decisions</a:t>
            </a:r>
          </a:p>
        </p:txBody>
      </p:sp>
      <p:pic>
        <p:nvPicPr>
          <p:cNvPr id="209" name="mini-map"/>
          <p:cNvPicPr>
            <a:picLocks xmlns:a="http://schemas.openxmlformats.org/drawingml/2006/main" noChangeAspect="1"/>
          </p:cNvPicPr>
          <p:nvPr/>
        </p:nvPicPr>
        <p:blipFill>
          <a:blip xmlns:r="http://schemas.openxmlformats.org/officeDocument/2006/relationships" xmlns:a="http://schemas.openxmlformats.org/drawingml/2006/main" r:embed="Rd620283a39d64bf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9" name="slide-title">
            <a:extLst xmlns:a="http://schemas.openxmlformats.org/drawingml/2006/main">
              <a:ext uri="{FF2B5EF4-FFF2-40B4-BE49-F238E27FC236}">
                <a16:creationId xmlns:a16="http://schemas.microsoft.com/office/drawing/2014/main" id="{0B9890B3-2BDC-44A9-956A-D44E76A9FC6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decisions</a:t>
            </a:r>
          </a:p>
        </p:txBody>
      </p:sp>
      <p:sp>
        <p:nvSpPr>
          <p:cNvPr id="200" name="header-divider">
            <a:extLst xmlns:a="http://schemas.openxmlformats.org/drawingml/2006/main">
              <a:ext uri="{FF2B5EF4-FFF2-40B4-BE49-F238E27FC236}">
                <a16:creationId xmlns:a16="http://schemas.microsoft.com/office/drawing/2014/main" id="{8E933846-B79E-476B-B321-69B72F06515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01" name="22-text-1">
            <a:extLst xmlns:a="http://schemas.openxmlformats.org/drawingml/2006/main">
              <a:ext uri="{FF2B5EF4-FFF2-40B4-BE49-F238E27FC236}">
                <a16:creationId xmlns:a16="http://schemas.microsoft.com/office/drawing/2014/main" id="{0168FE43-0F88-4A5F-B2B6-E067F6E0B388}"/>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Capabilities and granularity</a:t>
            </a:r>
          </a:p>
        </p:txBody>
      </p:sp>
      <p:sp>
        <p:nvSpPr>
          <p:cNvPr id="202" name="22-text-2">
            <a:extLst xmlns:a="http://schemas.openxmlformats.org/drawingml/2006/main">
              <a:ext uri="{FF2B5EF4-FFF2-40B4-BE49-F238E27FC236}">
                <a16:creationId xmlns:a16="http://schemas.microsoft.com/office/drawing/2014/main" id="{985D5947-4DEA-4477-A989-ED6F329886D6}"/>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Distinct operations that fit the task. Evaluate flexibility against coordination work.</a:t>
            </a:r>
          </a:p>
        </p:txBody>
      </p:sp>
      <p:sp>
        <p:nvSpPr>
          <p:cNvPr id="203" name="22-text-3">
            <a:extLst xmlns:a="http://schemas.openxmlformats.org/drawingml/2006/main">
              <a:ext uri="{FF2B5EF4-FFF2-40B4-BE49-F238E27FC236}">
                <a16:creationId xmlns:a16="http://schemas.microsoft.com/office/drawing/2014/main" id="{9BF9D4AA-6EC3-4191-A5E7-E0D2AE8B3924}"/>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 usable contract</a:t>
            </a:r>
          </a:p>
        </p:txBody>
      </p:sp>
      <p:sp>
        <p:nvSpPr>
          <p:cNvPr id="204" name="22-text-4">
            <a:extLst xmlns:a="http://schemas.openxmlformats.org/drawingml/2006/main">
              <a:ext uri="{FF2B5EF4-FFF2-40B4-BE49-F238E27FC236}">
                <a16:creationId xmlns:a16="http://schemas.microsoft.com/office/drawing/2014/main" id="{D5B30FC4-74CE-49FA-90EB-15F4DDF54BFF}"/>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Descriptions, inputs, results, and errors must agree.</a:t>
            </a:r>
          </a:p>
        </p:txBody>
      </p:sp>
      <p:sp>
        <p:nvSpPr>
          <p:cNvPr id="205" name="22-text-5">
            <a:extLst xmlns:a="http://schemas.openxmlformats.org/drawingml/2006/main">
              <a:ext uri="{FF2B5EF4-FFF2-40B4-BE49-F238E27FC236}">
                <a16:creationId xmlns:a16="http://schemas.microsoft.com/office/drawing/2014/main" id="{C9832E00-1C62-42D8-8C7E-A739AB71083E}"/>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Permitted execution</a:t>
            </a:r>
          </a:p>
        </p:txBody>
      </p:sp>
      <p:sp>
        <p:nvSpPr>
          <p:cNvPr id="206" name="22-text-6">
            <a:extLst xmlns:a="http://schemas.openxmlformats.org/drawingml/2006/main">
              <a:ext uri="{FF2B5EF4-FFF2-40B4-BE49-F238E27FC236}">
                <a16:creationId xmlns:a16="http://schemas.microsoft.com/office/drawing/2014/main" id="{FC0477FC-A136-41B2-B10D-F1E97C82E03D}"/>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Validate and authorize in code. Scope reads and writes.</a:t>
            </a:r>
          </a:p>
        </p:txBody>
      </p:sp>
      <p:sp>
        <p:nvSpPr>
          <p:cNvPr id="207" name="narrative-number">
            <a:extLst xmlns:a="http://schemas.openxmlformats.org/drawingml/2006/main">
              <a:ext uri="{FF2B5EF4-FFF2-40B4-BE49-F238E27FC236}">
                <a16:creationId xmlns:a16="http://schemas.microsoft.com/office/drawing/2014/main" id="{04476A0C-26CB-44EE-8AA5-152E0110E43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2801766258"/>
      </p:ext>
    </p:extLst>
  </p:cSld>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8" name="!!area-name">
            <a:extLst xmlns:a="http://schemas.openxmlformats.org/drawingml/2006/main">
              <a:ext uri="{FF2B5EF4-FFF2-40B4-BE49-F238E27FC236}">
                <a16:creationId xmlns:a16="http://schemas.microsoft.com/office/drawing/2014/main" id="{FD31F0E0-2B25-494D-B800-9E1F4BDD89F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Challenges and pitfalls</a:t>
            </a:r>
          </a:p>
        </p:txBody>
      </p:sp>
      <p:pic>
        <p:nvPicPr>
          <p:cNvPr id="222" name="mini-map"/>
          <p:cNvPicPr>
            <a:picLocks xmlns:a="http://schemas.openxmlformats.org/drawingml/2006/main" noChangeAspect="1"/>
          </p:cNvPicPr>
          <p:nvPr/>
        </p:nvPicPr>
        <p:blipFill>
          <a:blip xmlns:r="http://schemas.openxmlformats.org/officeDocument/2006/relationships" xmlns:a="http://schemas.openxmlformats.org/drawingml/2006/main" r:embed="R6f2977eee48d458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10" name="slide-title">
            <a:extLst xmlns:a="http://schemas.openxmlformats.org/drawingml/2006/main">
              <a:ext uri="{FF2B5EF4-FFF2-40B4-BE49-F238E27FC236}">
                <a16:creationId xmlns:a16="http://schemas.microsoft.com/office/drawing/2014/main" id="{985A81DF-7C8C-4BA4-818E-DFCB3B419EE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pitfalls</a:t>
            </a:r>
          </a:p>
        </p:txBody>
      </p:sp>
      <p:sp>
        <p:nvSpPr>
          <p:cNvPr id="211" name="header-divider">
            <a:extLst xmlns:a="http://schemas.openxmlformats.org/drawingml/2006/main">
              <a:ext uri="{FF2B5EF4-FFF2-40B4-BE49-F238E27FC236}">
                <a16:creationId xmlns:a16="http://schemas.microsoft.com/office/drawing/2014/main" id="{0DEE9029-1F46-4CF1-89EF-D041FF6B879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2" name="23-text-1">
            <a:extLst xmlns:a="http://schemas.openxmlformats.org/drawingml/2006/main">
              <a:ext uri="{FF2B5EF4-FFF2-40B4-BE49-F238E27FC236}">
                <a16:creationId xmlns:a16="http://schemas.microsoft.com/office/drawing/2014/main" id="{BEB3F29F-DEEE-4046-BEDD-BDAE93DBB241}"/>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set</a:t>
            </a:r>
          </a:p>
        </p:txBody>
      </p:sp>
      <p:sp>
        <p:nvSpPr>
          <p:cNvPr id="213" name="23-text-2">
            <a:extLst xmlns:a="http://schemas.openxmlformats.org/drawingml/2006/main">
              <a:ext uri="{FF2B5EF4-FFF2-40B4-BE49-F238E27FC236}">
                <a16:creationId xmlns:a16="http://schemas.microsoft.com/office/drawing/2014/main" id="{47B5FEBF-4F6D-4111-8B37-A95552737C87}"/>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Overlapping purposes confuse selection.</a:t>
            </a:r>
          </a:p>
        </p:txBody>
      </p:sp>
      <p:sp>
        <p:nvSpPr>
          <p:cNvPr id="214" name="23-text-3">
            <a:extLst xmlns:a="http://schemas.openxmlformats.org/drawingml/2006/main">
              <a:ext uri="{FF2B5EF4-FFF2-40B4-BE49-F238E27FC236}">
                <a16:creationId xmlns:a16="http://schemas.microsoft.com/office/drawing/2014/main" id="{16DD9C4A-012E-4DB7-B483-829E61693944}"/>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Contract</a:t>
            </a:r>
          </a:p>
        </p:txBody>
      </p:sp>
      <p:sp>
        <p:nvSpPr>
          <p:cNvPr id="215" name="23-text-4">
            <a:extLst xmlns:a="http://schemas.openxmlformats.org/drawingml/2006/main">
              <a:ext uri="{FF2B5EF4-FFF2-40B4-BE49-F238E27FC236}">
                <a16:creationId xmlns:a16="http://schemas.microsoft.com/office/drawing/2014/main" id="{F148A1FE-FE79-4D3A-AD56-D58FA9E70030}"/>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Description, schema, and behavior can drift.</a:t>
            </a:r>
          </a:p>
        </p:txBody>
      </p:sp>
      <p:sp>
        <p:nvSpPr>
          <p:cNvPr id="216" name="23-text-5">
            <a:extLst xmlns:a="http://schemas.openxmlformats.org/drawingml/2006/main">
              <a:ext uri="{FF2B5EF4-FFF2-40B4-BE49-F238E27FC236}">
                <a16:creationId xmlns:a16="http://schemas.microsoft.com/office/drawing/2014/main" id="{D54BE2D5-1F7C-4920-BB76-B11B0872F933}"/>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Outcomes</a:t>
            </a:r>
          </a:p>
        </p:txBody>
      </p:sp>
      <p:sp>
        <p:nvSpPr>
          <p:cNvPr id="217" name="23-text-6">
            <a:extLst xmlns:a="http://schemas.openxmlformats.org/drawingml/2006/main">
              <a:ext uri="{FF2B5EF4-FFF2-40B4-BE49-F238E27FC236}">
                <a16:creationId xmlns:a16="http://schemas.microsoft.com/office/drawing/2014/main" id="{E6326C6A-9F56-4302-A4F8-D115F7232CB6}"/>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Success, failure, and uncertainty need distinct results.</a:t>
            </a:r>
          </a:p>
        </p:txBody>
      </p:sp>
      <p:sp>
        <p:nvSpPr>
          <p:cNvPr id="218" name="23-text-7">
            <a:extLst xmlns:a="http://schemas.openxmlformats.org/drawingml/2006/main">
              <a:ext uri="{FF2B5EF4-FFF2-40B4-BE49-F238E27FC236}">
                <a16:creationId xmlns:a16="http://schemas.microsoft.com/office/drawing/2014/main" id="{95B8115C-8610-4432-A32A-212AA54A2669}"/>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19" name="23-text-8">
            <a:extLst xmlns:a="http://schemas.openxmlformats.org/drawingml/2006/main">
              <a:ext uri="{FF2B5EF4-FFF2-40B4-BE49-F238E27FC236}">
                <a16:creationId xmlns:a16="http://schemas.microsoft.com/office/drawing/2014/main" id="{E3F78B5C-5AAC-4391-9F25-EF6B50D28184}"/>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copying the API surface without evaluating task fit.</a:t>
            </a:r>
          </a:p>
        </p:txBody>
      </p:sp>
      <p:sp>
        <p:nvSpPr>
          <p:cNvPr id="220" name="narrative-number">
            <a:extLst xmlns:a="http://schemas.openxmlformats.org/drawingml/2006/main">
              <a:ext uri="{FF2B5EF4-FFF2-40B4-BE49-F238E27FC236}">
                <a16:creationId xmlns:a16="http://schemas.microsoft.com/office/drawing/2014/main" id="{29FA9785-E0AA-4DC0-BEA6-A0AD2F6370F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117419861"/>
      </p:ext>
    </p:extLst>
  </p:cSld>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1" name="!!area-name">
            <a:extLst xmlns:a="http://schemas.openxmlformats.org/drawingml/2006/main">
              <a:ext uri="{FF2B5EF4-FFF2-40B4-BE49-F238E27FC236}">
                <a16:creationId xmlns:a16="http://schemas.microsoft.com/office/drawing/2014/main" id="{B6C7A8A2-4E31-4500-B941-CD81EF025F9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FRB application</a:t>
            </a:r>
          </a:p>
        </p:txBody>
      </p:sp>
      <p:pic>
        <p:nvPicPr>
          <p:cNvPr id="229" name="mini-map"/>
          <p:cNvPicPr>
            <a:picLocks xmlns:a="http://schemas.openxmlformats.org/drawingml/2006/main" noChangeAspect="1"/>
          </p:cNvPicPr>
          <p:nvPr/>
        </p:nvPicPr>
        <p:blipFill>
          <a:blip xmlns:r="http://schemas.openxmlformats.org/officeDocument/2006/relationships" xmlns:a="http://schemas.openxmlformats.org/drawingml/2006/main" r:embed="R26fbca95f29a494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23" name="slide-title">
            <a:extLst xmlns:a="http://schemas.openxmlformats.org/drawingml/2006/main">
              <a:ext uri="{FF2B5EF4-FFF2-40B4-BE49-F238E27FC236}">
                <a16:creationId xmlns:a16="http://schemas.microsoft.com/office/drawing/2014/main" id="{AD5337D4-A0F1-4C40-9CE2-76FCED1A778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Export cited brief</a:t>
            </a:r>
          </a:p>
        </p:txBody>
      </p:sp>
      <p:sp>
        <p:nvSpPr>
          <p:cNvPr id="224" name="header-divider">
            <a:extLst xmlns:a="http://schemas.openxmlformats.org/drawingml/2006/main">
              <a:ext uri="{FF2B5EF4-FFF2-40B4-BE49-F238E27FC236}">
                <a16:creationId xmlns:a16="http://schemas.microsoft.com/office/drawing/2014/main" id="{6F495CE1-93FA-43B5-9B56-521E52F9AD3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25" name="24-text-1">
            <a:extLst xmlns:a="http://schemas.openxmlformats.org/drawingml/2006/main">
              <a:ext uri="{FF2B5EF4-FFF2-40B4-BE49-F238E27FC236}">
                <a16:creationId xmlns:a16="http://schemas.microsoft.com/office/drawing/2014/main" id="{ACB9EFB0-04BC-420D-83F8-FE937244386A}"/>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Export cited brief contract.</a:t>
            </a:r>
          </a:p>
        </p:txBody>
      </p:sp>
      <p:graphicFrame>
        <p:nvGraphicFramePr>
          <p:cNvPr id="233" name="24-table-2"/>
          <p:cNvGraphicFramePr/>
          <p:nvPr/>
        </p:nvGraphicFramePr>
        <p:xfrm>
          <a:off xmlns:a="http://schemas.openxmlformats.org/drawingml/2006/main" x="609600" y="2895600"/>
          <a:ext xmlns:a="http://schemas.openxmlformats.org/drawingml/2006/main" cx="10972800" cy="33528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F948BE"/>
                          </a:solidFill>
                          <a:latin typeface="Helvetica"/>
                          <a:ea typeface="Helvetica"/>
                          <a:cs typeface="Helvetica"/>
                        </a:rPr>
                        <a:t>Contract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Requirement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58800">
                <a:tc>
                  <a:txBody>
                    <a:bodyPr>
                      <a:noAutofit/>
                    </a:bodyPr>
                    <a:lstStyle/>
                    <a:p>
                      <a:pPr>
                        <a:lnSpc>
                          <a:spcPct val="125000"/>
                        </a:lnSpc>
                        <a:buNone/>
                      </a:pPr>
                      <a:r>
                        <a:rPr sz="2000" b="0">
                          <a:solidFill>
                            <a:srgbClr val="FFFCF5"/>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Checked draft, citations, destination.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Exact draft passed verification.</a:t>
                      </a:r>
                    </a:p>
                    <a:p>
                      <a:pPr>
                        <a:lnSpc>
                          <a:spcPct val="125000"/>
                        </a:lnSpc>
                        <a:buNone/>
                      </a:pPr>
                      <a:r>
                        <a:rPr sz="2000" b="0">
                          <a:solidFill>
                            <a:srgbClr val="FFFCF5"/>
                          </a:solidFill>
                          <a:latin typeface="Helvetica"/>
                          <a:ea typeface="Helvetica"/>
                          <a:cs typeface="Helvetica"/>
                        </a:rPr>
                        <a:t>Access and destination permitted.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Output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Matching content and citations, with uncertainty preserved.</a:t>
                      </a:r>
                    </a:p>
                    <a:p>
                      <a:pPr>
                        <a:lnSpc>
                          <a:spcPct val="125000"/>
                        </a:lnSpc>
                        <a:buNone/>
                      </a:pPr>
                      <a:r>
                        <a:rPr sz="2000" b="0">
                          <a:solidFill>
                            <a:srgbClr val="FFFCF5"/>
                          </a:solidFill>
                          <a:latin typeface="Helvetica"/>
                          <a:ea typeface="Helvetica"/>
                          <a:cs typeface="Helvetica"/>
                        </a:rPr>
                        <a:t>Export receipt.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Failure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Known failure or unknown outcome stays explicit.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27" name="narrative-number">
            <a:extLst xmlns:a="http://schemas.openxmlformats.org/drawingml/2006/main">
              <a:ext uri="{FF2B5EF4-FFF2-40B4-BE49-F238E27FC236}">
                <a16:creationId xmlns:a16="http://schemas.microsoft.com/office/drawing/2014/main" id="{1D13CD87-C353-427A-AB86-DC9D93E40F4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718494725"/>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8" name="!!area-name">
            <a:extLst xmlns:a="http://schemas.openxmlformats.org/drawingml/2006/main">
              <a:ext uri="{FF2B5EF4-FFF2-40B4-BE49-F238E27FC236}">
                <a16:creationId xmlns:a16="http://schemas.microsoft.com/office/drawing/2014/main" id="{12D8516E-1E75-4980-B7BC-D1145002EB0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Perspective</a:t>
            </a:r>
          </a:p>
        </p:txBody>
      </p:sp>
      <p:pic>
        <p:nvPicPr>
          <p:cNvPr id="237" name="mini-map"/>
          <p:cNvPicPr>
            <a:picLocks xmlns:a="http://schemas.openxmlformats.org/drawingml/2006/main" noChangeAspect="1"/>
          </p:cNvPicPr>
          <p:nvPr/>
        </p:nvPicPr>
        <p:blipFill>
          <a:blip xmlns:r="http://schemas.openxmlformats.org/officeDocument/2006/relationships" xmlns:a="http://schemas.openxmlformats.org/drawingml/2006/main" r:embed="Rbbe430dbe1bd453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0" name="header-divider">
            <a:extLst xmlns:a="http://schemas.openxmlformats.org/drawingml/2006/main">
              <a:ext uri="{FF2B5EF4-FFF2-40B4-BE49-F238E27FC236}">
                <a16:creationId xmlns:a16="http://schemas.microsoft.com/office/drawing/2014/main" id="{22864714-514E-45EA-B964-2D49C34E3B6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31" name="25-text-1">
            <a:extLst xmlns:a="http://schemas.openxmlformats.org/drawingml/2006/main">
              <a:ext uri="{FF2B5EF4-FFF2-40B4-BE49-F238E27FC236}">
                <a16:creationId xmlns:a16="http://schemas.microsoft.com/office/drawing/2014/main" id="{38712E82-033F-479A-B4A3-A0590EDE403B}"/>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“we recommend finding the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simplest solution possible,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only increasing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complexity when needed.”</a:t>
            </a:r>
          </a:p>
        </p:txBody>
      </p:sp>
      <p:sp>
        <p:nvSpPr>
          <p:cNvPr id="232" name="25-text-2">
            <a:extLst xmlns:a="http://schemas.openxmlformats.org/drawingml/2006/main">
              <a:ext uri="{FF2B5EF4-FFF2-40B4-BE49-F238E27FC236}">
                <a16:creationId xmlns:a16="http://schemas.microsoft.com/office/drawing/2014/main" id="{2DAB3113-7D0D-4112-9542-3FAB6702B912}"/>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33" name="25-text-3">
            <a:extLst xmlns:a="http://schemas.openxmlformats.org/drawingml/2006/main">
              <a:ext uri="{FF2B5EF4-FFF2-40B4-BE49-F238E27FC236}">
                <a16:creationId xmlns:a16="http://schemas.microsoft.com/office/drawing/2014/main" id="{9394F325-F0D3-419F-8E47-434D224FAB8D}"/>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Building effective agents, December 2024</a:t>
            </a:r>
          </a:p>
        </p:txBody>
      </p:sp>
      <p:pic>
        <p:nvPicPr>
          <p:cNvPr id="242" name="25-image-4"/>
          <p:cNvPicPr>
            <a:picLocks xmlns:a="http://schemas.openxmlformats.org/drawingml/2006/main" noChangeAspect="1"/>
          </p:cNvPicPr>
          <p:nvPr/>
        </p:nvPicPr>
        <p:blipFill>
          <a:blip xmlns:r="http://schemas.openxmlformats.org/officeDocument/2006/relationships" xmlns:a="http://schemas.openxmlformats.org/drawingml/2006/main" r:embed="R68c75ef6ae544806"/>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35" name="narrative-number">
            <a:extLst xmlns:a="http://schemas.openxmlformats.org/drawingml/2006/main">
              <a:ext uri="{FF2B5EF4-FFF2-40B4-BE49-F238E27FC236}">
                <a16:creationId xmlns:a16="http://schemas.microsoft.com/office/drawing/2014/main" id="{7C37A2C3-78F6-440D-A164-22998DB032D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597705695"/>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6" name="!!area-name">
            <a:extLst xmlns:a="http://schemas.openxmlformats.org/drawingml/2006/main">
              <a:ext uri="{FF2B5EF4-FFF2-40B4-BE49-F238E27FC236}">
                <a16:creationId xmlns:a16="http://schemas.microsoft.com/office/drawing/2014/main" id="{E20A8AA5-F418-417F-BFCF-ABE97797EC5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What and why</a:t>
            </a:r>
          </a:p>
        </p:txBody>
      </p:sp>
      <p:pic>
        <p:nvPicPr>
          <p:cNvPr id="246" name="mini-map"/>
          <p:cNvPicPr>
            <a:picLocks xmlns:a="http://schemas.openxmlformats.org/drawingml/2006/main" noChangeAspect="1"/>
          </p:cNvPicPr>
          <p:nvPr/>
        </p:nvPicPr>
        <p:blipFill>
          <a:blip xmlns:r="http://schemas.openxmlformats.org/officeDocument/2006/relationships" xmlns:a="http://schemas.openxmlformats.org/drawingml/2006/main" r:embed="R3a8289ef15ea4f4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8" name="slide-title">
            <a:extLst xmlns:a="http://schemas.openxmlformats.org/drawingml/2006/main">
              <a:ext uri="{FF2B5EF4-FFF2-40B4-BE49-F238E27FC236}">
                <a16:creationId xmlns:a16="http://schemas.microsoft.com/office/drawing/2014/main" id="{AF6ABC28-58D9-4284-A070-E4CA5EC71C7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control</a:t>
            </a:r>
          </a:p>
        </p:txBody>
      </p:sp>
      <p:sp>
        <p:nvSpPr>
          <p:cNvPr id="239" name="header-divider">
            <a:extLst xmlns:a="http://schemas.openxmlformats.org/drawingml/2006/main">
              <a:ext uri="{FF2B5EF4-FFF2-40B4-BE49-F238E27FC236}">
                <a16:creationId xmlns:a16="http://schemas.microsoft.com/office/drawing/2014/main" id="{ED574747-8581-44A7-BA86-08ED01A57D7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0" name="26-text-1">
            <a:extLst xmlns:a="http://schemas.openxmlformats.org/drawingml/2006/main">
              <a:ext uri="{FF2B5EF4-FFF2-40B4-BE49-F238E27FC236}">
                <a16:creationId xmlns:a16="http://schemas.microsoft.com/office/drawing/2014/main" id="{8B8D1690-B9B5-4EA0-9CBC-F72E78E95FE1}"/>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What it is</a:t>
            </a:r>
          </a:p>
        </p:txBody>
      </p:sp>
      <p:sp>
        <p:nvSpPr>
          <p:cNvPr id="241" name="26-text-2">
            <a:extLst xmlns:a="http://schemas.openxmlformats.org/drawingml/2006/main">
              <a:ext uri="{FF2B5EF4-FFF2-40B4-BE49-F238E27FC236}">
                <a16:creationId xmlns:a16="http://schemas.microsoft.com/office/drawing/2014/main" id="{E2AA9261-7C5E-411F-A671-4FDF1383D51C}"/>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Sequence work, carry state, coordinate, stop, and recover.</a:t>
            </a:r>
          </a:p>
        </p:txBody>
      </p:sp>
      <p:sp>
        <p:nvSpPr>
          <p:cNvPr id="242" name="26-text-3">
            <a:extLst xmlns:a="http://schemas.openxmlformats.org/drawingml/2006/main">
              <a:ext uri="{FF2B5EF4-FFF2-40B4-BE49-F238E27FC236}">
                <a16:creationId xmlns:a16="http://schemas.microsoft.com/office/drawing/2014/main" id="{7E7CE550-6A72-4DB9-8DB0-0C2E891AAF7F}"/>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Why it matters</a:t>
            </a:r>
          </a:p>
        </p:txBody>
      </p:sp>
      <p:sp>
        <p:nvSpPr>
          <p:cNvPr id="243" name="26-text-4">
            <a:extLst xmlns:a="http://schemas.openxmlformats.org/drawingml/2006/main">
              <a:ext uri="{FF2B5EF4-FFF2-40B4-BE49-F238E27FC236}">
                <a16:creationId xmlns:a16="http://schemas.microsoft.com/office/drawing/2014/main" id="{33F4A3DB-C093-4772-9056-CE86656A62A6}"/>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Reach checked outcomes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within enforced limits.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Combine code-controlled paths and model judgment.</a:t>
            </a:r>
          </a:p>
        </p:txBody>
      </p:sp>
      <p:sp>
        <p:nvSpPr>
          <p:cNvPr id="244" name="narrative-number">
            <a:extLst xmlns:a="http://schemas.openxmlformats.org/drawingml/2006/main">
              <a:ext uri="{FF2B5EF4-FFF2-40B4-BE49-F238E27FC236}">
                <a16:creationId xmlns:a16="http://schemas.microsoft.com/office/drawing/2014/main" id="{A723167C-3E76-4F72-B167-29383E4372B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486384949"/>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5" name="!!area-name">
            <a:extLst xmlns:a="http://schemas.openxmlformats.org/drawingml/2006/main">
              <a:ext uri="{FF2B5EF4-FFF2-40B4-BE49-F238E27FC236}">
                <a16:creationId xmlns:a16="http://schemas.microsoft.com/office/drawing/2014/main" id="{1CBB14D8-8E81-4096-AD07-27334F03101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Decisions</a:t>
            </a:r>
          </a:p>
        </p:txBody>
      </p:sp>
      <p:pic>
        <p:nvPicPr>
          <p:cNvPr id="257" name="mini-map"/>
          <p:cNvPicPr>
            <a:picLocks xmlns:a="http://schemas.openxmlformats.org/drawingml/2006/main" noChangeAspect="1"/>
          </p:cNvPicPr>
          <p:nvPr/>
        </p:nvPicPr>
        <p:blipFill>
          <a:blip xmlns:r="http://schemas.openxmlformats.org/officeDocument/2006/relationships" xmlns:a="http://schemas.openxmlformats.org/drawingml/2006/main" r:embed="Rb4a8faa0eb3c48c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47" name="slide-title">
            <a:extLst xmlns:a="http://schemas.openxmlformats.org/drawingml/2006/main">
              <a:ext uri="{FF2B5EF4-FFF2-40B4-BE49-F238E27FC236}">
                <a16:creationId xmlns:a16="http://schemas.microsoft.com/office/drawing/2014/main" id="{1440A9D3-CA65-4DB7-BCE7-405308CDF5A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Orchestration decisions</a:t>
            </a:r>
          </a:p>
        </p:txBody>
      </p:sp>
      <p:sp>
        <p:nvSpPr>
          <p:cNvPr id="248" name="header-divider">
            <a:extLst xmlns:a="http://schemas.openxmlformats.org/drawingml/2006/main">
              <a:ext uri="{FF2B5EF4-FFF2-40B4-BE49-F238E27FC236}">
                <a16:creationId xmlns:a16="http://schemas.microsoft.com/office/drawing/2014/main" id="{5ED63B36-C5EC-4285-A6E1-E060F626366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9" name="27-text-1">
            <a:extLst xmlns:a="http://schemas.openxmlformats.org/drawingml/2006/main">
              <a:ext uri="{FF2B5EF4-FFF2-40B4-BE49-F238E27FC236}">
                <a16:creationId xmlns:a16="http://schemas.microsoft.com/office/drawing/2014/main" id="{487FC6E9-4D8E-4167-AC4A-12C3121E8B55}"/>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Who chooses the next step?</a:t>
            </a:r>
          </a:p>
        </p:txBody>
      </p:sp>
      <p:sp>
        <p:nvSpPr>
          <p:cNvPr id="250" name="27-text-2">
            <a:extLst xmlns:a="http://schemas.openxmlformats.org/drawingml/2006/main">
              <a:ext uri="{FF2B5EF4-FFF2-40B4-BE49-F238E27FC236}">
                <a16:creationId xmlns:a16="http://schemas.microsoft.com/office/drawing/2014/main" id="{58396B51-91D9-4102-A1FC-C5834162F36F}"/>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for required gates. Model judgment where adaptation helps.</a:t>
            </a:r>
          </a:p>
        </p:txBody>
      </p:sp>
      <p:sp>
        <p:nvSpPr>
          <p:cNvPr id="251" name="27-text-3">
            <a:extLst xmlns:a="http://schemas.openxmlformats.org/drawingml/2006/main">
              <a:ext uri="{FF2B5EF4-FFF2-40B4-BE49-F238E27FC236}">
                <a16:creationId xmlns:a16="http://schemas.microsoft.com/office/drawing/2014/main" id="{5854B49A-F258-41E9-88A9-1C635DBB8DEC}"/>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When should work be delegated?</a:t>
            </a:r>
          </a:p>
        </p:txBody>
      </p:sp>
      <p:sp>
        <p:nvSpPr>
          <p:cNvPr id="252" name="27-text-4">
            <a:extLst xmlns:a="http://schemas.openxmlformats.org/drawingml/2006/main">
              <a:ext uri="{FF2B5EF4-FFF2-40B4-BE49-F238E27FC236}">
                <a16:creationId xmlns:a16="http://schemas.microsoft.com/office/drawing/2014/main" id="{D0AC5217-896F-4190-ADBA-7F9AA07BCE11}"/>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Begin with a bounded workflow. Add workers after measured benefit.</a:t>
            </a:r>
          </a:p>
        </p:txBody>
      </p:sp>
      <p:sp>
        <p:nvSpPr>
          <p:cNvPr id="253" name="27-text-5">
            <a:extLst xmlns:a="http://schemas.openxmlformats.org/drawingml/2006/main">
              <a:ext uri="{FF2B5EF4-FFF2-40B4-BE49-F238E27FC236}">
                <a16:creationId xmlns:a16="http://schemas.microsoft.com/office/drawing/2014/main" id="{F0D7F0BF-B695-431F-B329-51B8885169A5}"/>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How does work stop or recover?</a:t>
            </a:r>
          </a:p>
        </p:txBody>
      </p:sp>
      <p:sp>
        <p:nvSpPr>
          <p:cNvPr id="254" name="27-text-6">
            <a:extLst xmlns:a="http://schemas.openxmlformats.org/drawingml/2006/main">
              <a:ext uri="{FF2B5EF4-FFF2-40B4-BE49-F238E27FC236}">
                <a16:creationId xmlns:a16="http://schemas.microsoft.com/office/drawing/2014/main" id="{353BB5A7-3140-4AB4-A8C8-341E316025A2}"/>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checks, saved state, bounded retries, and handoff.</a:t>
            </a:r>
          </a:p>
        </p:txBody>
      </p:sp>
      <p:sp>
        <p:nvSpPr>
          <p:cNvPr id="255" name="narrative-number">
            <a:extLst xmlns:a="http://schemas.openxmlformats.org/drawingml/2006/main">
              <a:ext uri="{FF2B5EF4-FFF2-40B4-BE49-F238E27FC236}">
                <a16:creationId xmlns:a16="http://schemas.microsoft.com/office/drawing/2014/main" id="{F359575B-FA4E-4882-85C2-A73CBF7EF2D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27</a:t>
            </a:r>
          </a:p>
        </p:txBody>
      </p:sp>
    </p:spTree>
    <p:extLst>
      <p:ext uri="{BB962C8B-B14F-4D97-AF65-F5344CB8AC3E}">
        <p14:creationId xmlns:p14="http://schemas.microsoft.com/office/powerpoint/2010/main" val="2162465969"/>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56" name="!!area-name">
            <a:extLst xmlns:a="http://schemas.openxmlformats.org/drawingml/2006/main">
              <a:ext uri="{FF2B5EF4-FFF2-40B4-BE49-F238E27FC236}">
                <a16:creationId xmlns:a16="http://schemas.microsoft.com/office/drawing/2014/main" id="{5A66A11A-8697-4968-943B-A6E9E270A19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Challenges and pitfalls</a:t>
            </a:r>
          </a:p>
        </p:txBody>
      </p:sp>
      <p:pic>
        <p:nvPicPr>
          <p:cNvPr id="270" name="mini-map"/>
          <p:cNvPicPr>
            <a:picLocks xmlns:a="http://schemas.openxmlformats.org/drawingml/2006/main" noChangeAspect="1"/>
          </p:cNvPicPr>
          <p:nvPr/>
        </p:nvPicPr>
        <p:blipFill>
          <a:blip xmlns:r="http://schemas.openxmlformats.org/officeDocument/2006/relationships" xmlns:a="http://schemas.openxmlformats.org/drawingml/2006/main" r:embed="Rae057280e7ba4a0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58" name="slide-title">
            <a:extLst xmlns:a="http://schemas.openxmlformats.org/drawingml/2006/main">
              <a:ext uri="{FF2B5EF4-FFF2-40B4-BE49-F238E27FC236}">
                <a16:creationId xmlns:a16="http://schemas.microsoft.com/office/drawing/2014/main" id="{B576F784-B98E-4D22-AABB-B84D0FB169C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pitfalls</a:t>
            </a:r>
          </a:p>
        </p:txBody>
      </p:sp>
      <p:sp>
        <p:nvSpPr>
          <p:cNvPr id="259" name="header-divider">
            <a:extLst xmlns:a="http://schemas.openxmlformats.org/drawingml/2006/main">
              <a:ext uri="{FF2B5EF4-FFF2-40B4-BE49-F238E27FC236}">
                <a16:creationId xmlns:a16="http://schemas.microsoft.com/office/drawing/2014/main" id="{20A67EBA-EFA0-4239-9475-A2527B4A6CE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60" name="28-text-1">
            <a:extLst xmlns:a="http://schemas.openxmlformats.org/drawingml/2006/main">
              <a:ext uri="{FF2B5EF4-FFF2-40B4-BE49-F238E27FC236}">
                <a16:creationId xmlns:a16="http://schemas.microsoft.com/office/drawing/2014/main" id="{6ED4407B-33E2-4AF3-A928-73BF1FDB6BFA}"/>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Gates</a:t>
            </a:r>
          </a:p>
        </p:txBody>
      </p:sp>
      <p:sp>
        <p:nvSpPr>
          <p:cNvPr id="261" name="28-text-2">
            <a:extLst xmlns:a="http://schemas.openxmlformats.org/drawingml/2006/main">
              <a:ext uri="{FF2B5EF4-FFF2-40B4-BE49-F238E27FC236}">
                <a16:creationId xmlns:a16="http://schemas.microsoft.com/office/drawing/2014/main" id="{25566815-CA32-4FE5-930F-EDC32C1C568D}"/>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proposed plan does not enforce prerequisites.</a:t>
            </a:r>
          </a:p>
        </p:txBody>
      </p:sp>
      <p:sp>
        <p:nvSpPr>
          <p:cNvPr id="262" name="28-text-3">
            <a:extLst xmlns:a="http://schemas.openxmlformats.org/drawingml/2006/main">
              <a:ext uri="{FF2B5EF4-FFF2-40B4-BE49-F238E27FC236}">
                <a16:creationId xmlns:a16="http://schemas.microsoft.com/office/drawing/2014/main" id="{6E329B5B-301B-4D08-AE71-A6C59CA31CDA}"/>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Progress</a:t>
            </a:r>
          </a:p>
        </p:txBody>
      </p:sp>
      <p:sp>
        <p:nvSpPr>
          <p:cNvPr id="263" name="28-text-4">
            <a:extLst xmlns:a="http://schemas.openxmlformats.org/drawingml/2006/main">
              <a:ext uri="{FF2B5EF4-FFF2-40B4-BE49-F238E27FC236}">
                <a16:creationId xmlns:a16="http://schemas.microsoft.com/office/drawing/2014/main" id="{236C1862-58A9-4C85-9544-8D14D36A69B6}"/>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Repeated work can exhaust the budget.</a:t>
            </a:r>
          </a:p>
        </p:txBody>
      </p:sp>
      <p:sp>
        <p:nvSpPr>
          <p:cNvPr id="264" name="28-text-5">
            <a:extLst xmlns:a="http://schemas.openxmlformats.org/drawingml/2006/main">
              <a:ext uri="{FF2B5EF4-FFF2-40B4-BE49-F238E27FC236}">
                <a16:creationId xmlns:a16="http://schemas.microsoft.com/office/drawing/2014/main" id="{31D18B09-F1C3-4665-8CA3-ACDE861645FB}"/>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265" name="28-text-6">
            <a:extLst xmlns:a="http://schemas.openxmlformats.org/drawingml/2006/main">
              <a:ext uri="{FF2B5EF4-FFF2-40B4-BE49-F238E27FC236}">
                <a16:creationId xmlns:a16="http://schemas.microsoft.com/office/drawing/2014/main" id="{D4567F03-C771-434A-94F8-9FCA42238439}"/>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timeout does not establish failure.</a:t>
            </a:r>
          </a:p>
        </p:txBody>
      </p:sp>
      <p:sp>
        <p:nvSpPr>
          <p:cNvPr id="266" name="28-text-7">
            <a:extLst xmlns:a="http://schemas.openxmlformats.org/drawingml/2006/main">
              <a:ext uri="{FF2B5EF4-FFF2-40B4-BE49-F238E27FC236}">
                <a16:creationId xmlns:a16="http://schemas.microsoft.com/office/drawing/2014/main" id="{C616ADF5-3D4D-44C7-B007-AE32DFA34C4B}"/>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67" name="28-text-8">
            <a:extLst xmlns:a="http://schemas.openxmlformats.org/drawingml/2006/main">
              <a:ext uri="{FF2B5EF4-FFF2-40B4-BE49-F238E27FC236}">
                <a16:creationId xmlns:a16="http://schemas.microsoft.com/office/drawing/2014/main" id="{C6B0F4E5-52FC-4E1B-AB31-4B6E6E19071E}"/>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multi-agent before a workflow was tried.</a:t>
            </a:r>
          </a:p>
        </p:txBody>
      </p:sp>
      <p:sp>
        <p:nvSpPr>
          <p:cNvPr id="268" name="narrative-number">
            <a:extLst xmlns:a="http://schemas.openxmlformats.org/drawingml/2006/main">
              <a:ext uri="{FF2B5EF4-FFF2-40B4-BE49-F238E27FC236}">
                <a16:creationId xmlns:a16="http://schemas.microsoft.com/office/drawing/2014/main" id="{0D4D93A6-0398-4DCD-9AB0-A1B4F6A476E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28</a:t>
            </a:r>
          </a:p>
        </p:txBody>
      </p:sp>
    </p:spTree>
    <p:extLst>
      <p:ext uri="{BB962C8B-B14F-4D97-AF65-F5344CB8AC3E}">
        <p14:creationId xmlns:p14="http://schemas.microsoft.com/office/powerpoint/2010/main" val="3967199123"/>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9" name="!!area-name">
            <a:extLst xmlns:a="http://schemas.openxmlformats.org/drawingml/2006/main">
              <a:ext uri="{FF2B5EF4-FFF2-40B4-BE49-F238E27FC236}">
                <a16:creationId xmlns:a16="http://schemas.microsoft.com/office/drawing/2014/main" id="{2384A50F-5EF6-4AE8-915B-6C9A68A34D4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FRB application</a:t>
            </a:r>
          </a:p>
        </p:txBody>
      </p:sp>
      <p:pic>
        <p:nvPicPr>
          <p:cNvPr id="290" name="mini-map"/>
          <p:cNvPicPr>
            <a:picLocks xmlns:a="http://schemas.openxmlformats.org/drawingml/2006/main" noChangeAspect="1"/>
          </p:cNvPicPr>
          <p:nvPr/>
        </p:nvPicPr>
        <p:blipFill>
          <a:blip xmlns:r="http://schemas.openxmlformats.org/officeDocument/2006/relationships" xmlns:a="http://schemas.openxmlformats.org/drawingml/2006/main" r:embed="R4ce40996bac545f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71" name="slide-title">
            <a:extLst xmlns:a="http://schemas.openxmlformats.org/drawingml/2006/main">
              <a:ext uri="{FF2B5EF4-FFF2-40B4-BE49-F238E27FC236}">
                <a16:creationId xmlns:a16="http://schemas.microsoft.com/office/drawing/2014/main" id="{BF36F587-BDC9-4B39-A850-B5A64BD2833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Workflow for the FRB brief</a:t>
            </a:r>
          </a:p>
        </p:txBody>
      </p:sp>
      <p:sp>
        <p:nvSpPr>
          <p:cNvPr id="272" name="header-divider">
            <a:extLst xmlns:a="http://schemas.openxmlformats.org/drawingml/2006/main">
              <a:ext uri="{FF2B5EF4-FFF2-40B4-BE49-F238E27FC236}">
                <a16:creationId xmlns:a16="http://schemas.microsoft.com/office/drawing/2014/main" id="{A4A74A24-F6D9-46C2-93AD-6C34473206A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3" name="29-text-1">
            <a:extLst xmlns:a="http://schemas.openxmlformats.org/drawingml/2006/main">
              <a:ext uri="{FF2B5EF4-FFF2-40B4-BE49-F238E27FC236}">
                <a16:creationId xmlns:a16="http://schemas.microsoft.com/office/drawing/2014/main" id="{D76E8ECA-BE6B-4229-A6AC-1963D51AC89E}"/>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bounded workflow.</a:t>
            </a:r>
          </a:p>
        </p:txBody>
      </p:sp>
      <p:sp>
        <p:nvSpPr>
          <p:cNvPr id="274" name="29-text-2">
            <a:extLst xmlns:a="http://schemas.openxmlformats.org/drawingml/2006/main">
              <a:ext uri="{FF2B5EF4-FFF2-40B4-BE49-F238E27FC236}">
                <a16:creationId xmlns:a16="http://schemas.microsoft.com/office/drawing/2014/main" id="{1D894985-C054-4603-9AF6-3356BAEB0CC3}"/>
              </a:ext>
            </a:extLst>
          </p:cNvPr>
          <p:cNvSpPr>
            <a:spLocks xmlns:a="http://schemas.openxmlformats.org/drawingml/2006/main"/>
          </p:cNvSpPr>
          <p:nvPr/>
        </p:nvSpPr>
        <p:spPr>
          <a:xfrm xmlns:a="http://schemas.openxmlformats.org/drawingml/2006/main">
            <a:off x="609600" y="28448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275" name="29-text-3">
            <a:extLst xmlns:a="http://schemas.openxmlformats.org/drawingml/2006/main">
              <a:ext uri="{FF2B5EF4-FFF2-40B4-BE49-F238E27FC236}">
                <a16:creationId xmlns:a16="http://schemas.microsoft.com/office/drawing/2014/main" id="{BF47573B-8D0D-4AA5-B83F-1589DCF355E5}"/>
              </a:ext>
            </a:extLst>
          </p:cNvPr>
          <p:cNvSpPr>
            <a:spLocks xmlns:a="http://schemas.openxmlformats.org/drawingml/2006/main"/>
          </p:cNvSpPr>
          <p:nvPr/>
        </p:nvSpPr>
        <p:spPr>
          <a:xfrm xmlns:a="http://schemas.openxmlformats.org/drawingml/2006/main">
            <a:off x="1219200" y="28448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Retrieve the packet.</a:t>
            </a:r>
          </a:p>
        </p:txBody>
      </p:sp>
      <p:sp>
        <p:nvSpPr>
          <p:cNvPr id="276" name="29-text-4">
            <a:extLst xmlns:a="http://schemas.openxmlformats.org/drawingml/2006/main">
              <a:ext uri="{FF2B5EF4-FFF2-40B4-BE49-F238E27FC236}">
                <a16:creationId xmlns:a16="http://schemas.microsoft.com/office/drawing/2014/main" id="{9622D9C4-0073-4EF9-9F6C-F9CC43D08B17}"/>
              </a:ext>
            </a:extLst>
          </p:cNvPr>
          <p:cNvSpPr>
            <a:spLocks xmlns:a="http://schemas.openxmlformats.org/drawingml/2006/main"/>
          </p:cNvSpPr>
          <p:nvPr/>
        </p:nvSpPr>
        <p:spPr>
          <a:xfrm xmlns:a="http://schemas.openxmlformats.org/drawingml/2006/main">
            <a:off x="6248400" y="28448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277" name="29-text-5">
            <a:extLst xmlns:a="http://schemas.openxmlformats.org/drawingml/2006/main">
              <a:ext uri="{FF2B5EF4-FFF2-40B4-BE49-F238E27FC236}">
                <a16:creationId xmlns:a16="http://schemas.microsoft.com/office/drawing/2014/main" id="{E21CE554-19F6-475D-BBF2-D416518997B8}"/>
              </a:ext>
            </a:extLst>
          </p:cNvPr>
          <p:cNvSpPr>
            <a:spLocks xmlns:a="http://schemas.openxmlformats.org/drawingml/2006/main"/>
          </p:cNvSpPr>
          <p:nvPr/>
        </p:nvSpPr>
        <p:spPr>
          <a:xfrm xmlns:a="http://schemas.openxmlformats.org/drawingml/2006/main">
            <a:off x="6858000" y="28448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evidence.</a:t>
            </a:r>
          </a:p>
        </p:txBody>
      </p:sp>
      <p:sp>
        <p:nvSpPr>
          <p:cNvPr id="278" name="29-text-6">
            <a:extLst xmlns:a="http://schemas.openxmlformats.org/drawingml/2006/main">
              <a:ext uri="{FF2B5EF4-FFF2-40B4-BE49-F238E27FC236}">
                <a16:creationId xmlns:a16="http://schemas.microsoft.com/office/drawing/2014/main" id="{F557B5B2-85FB-4179-A9FE-78EF28D59E6F}"/>
              </a:ext>
            </a:extLst>
          </p:cNvPr>
          <p:cNvSpPr>
            <a:spLocks xmlns:a="http://schemas.openxmlformats.org/drawingml/2006/main"/>
          </p:cNvSpPr>
          <p:nvPr/>
        </p:nvSpPr>
        <p:spPr>
          <a:xfrm xmlns:a="http://schemas.openxmlformats.org/drawingml/2006/main">
            <a:off x="609600" y="35560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279" name="29-text-7">
            <a:extLst xmlns:a="http://schemas.openxmlformats.org/drawingml/2006/main">
              <a:ext uri="{FF2B5EF4-FFF2-40B4-BE49-F238E27FC236}">
                <a16:creationId xmlns:a16="http://schemas.microsoft.com/office/drawing/2014/main" id="{9EDFD054-86CE-4FE6-85E8-DE1AA802E206}"/>
              </a:ext>
            </a:extLst>
          </p:cNvPr>
          <p:cNvSpPr>
            <a:spLocks xmlns:a="http://schemas.openxmlformats.org/drawingml/2006/main"/>
          </p:cNvSpPr>
          <p:nvPr/>
        </p:nvSpPr>
        <p:spPr>
          <a:xfrm xmlns:a="http://schemas.openxmlformats.org/drawingml/2006/main">
            <a:off x="1219200" y="35560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Compare cases.</a:t>
            </a:r>
          </a:p>
        </p:txBody>
      </p:sp>
      <p:sp>
        <p:nvSpPr>
          <p:cNvPr id="280" name="29-text-8">
            <a:extLst xmlns:a="http://schemas.openxmlformats.org/drawingml/2006/main">
              <a:ext uri="{FF2B5EF4-FFF2-40B4-BE49-F238E27FC236}">
                <a16:creationId xmlns:a16="http://schemas.microsoft.com/office/drawing/2014/main" id="{9EC0FEE7-3AF8-4A74-AAD4-8768F38BBC49}"/>
              </a:ext>
            </a:extLst>
          </p:cNvPr>
          <p:cNvSpPr>
            <a:spLocks xmlns:a="http://schemas.openxmlformats.org/drawingml/2006/main"/>
          </p:cNvSpPr>
          <p:nvPr/>
        </p:nvSpPr>
        <p:spPr>
          <a:xfrm xmlns:a="http://schemas.openxmlformats.org/drawingml/2006/main">
            <a:off x="6248400" y="35560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81" name="29-text-9">
            <a:extLst xmlns:a="http://schemas.openxmlformats.org/drawingml/2006/main">
              <a:ext uri="{FF2B5EF4-FFF2-40B4-BE49-F238E27FC236}">
                <a16:creationId xmlns:a16="http://schemas.microsoft.com/office/drawing/2014/main" id="{C1CE9F5C-BA6D-46D9-8918-152D817BDF23}"/>
              </a:ext>
            </a:extLst>
          </p:cNvPr>
          <p:cNvSpPr>
            <a:spLocks xmlns:a="http://schemas.openxmlformats.org/drawingml/2006/main"/>
          </p:cNvSpPr>
          <p:nvPr/>
        </p:nvSpPr>
        <p:spPr>
          <a:xfrm xmlns:a="http://schemas.openxmlformats.org/drawingml/2006/main">
            <a:off x="6858000" y="35560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Reconcile findings.</a:t>
            </a:r>
          </a:p>
        </p:txBody>
      </p:sp>
      <p:sp>
        <p:nvSpPr>
          <p:cNvPr id="282" name="29-text-10">
            <a:extLst xmlns:a="http://schemas.openxmlformats.org/drawingml/2006/main">
              <a:ext uri="{FF2B5EF4-FFF2-40B4-BE49-F238E27FC236}">
                <a16:creationId xmlns:a16="http://schemas.microsoft.com/office/drawing/2014/main" id="{266F3CA6-3E65-4DE0-BB24-83B19B53AFF6}"/>
              </a:ext>
            </a:extLst>
          </p:cNvPr>
          <p:cNvSpPr>
            <a:spLocks xmlns:a="http://schemas.openxmlformats.org/drawingml/2006/main"/>
          </p:cNvSpPr>
          <p:nvPr/>
        </p:nvSpPr>
        <p:spPr>
          <a:xfrm xmlns:a="http://schemas.openxmlformats.org/drawingml/2006/main">
            <a:off x="609600" y="42672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
        <p:nvSpPr>
          <p:cNvPr id="283" name="29-text-11">
            <a:extLst xmlns:a="http://schemas.openxmlformats.org/drawingml/2006/main">
              <a:ext uri="{FF2B5EF4-FFF2-40B4-BE49-F238E27FC236}">
                <a16:creationId xmlns:a16="http://schemas.microsoft.com/office/drawing/2014/main" id="{3F997163-A339-4BB8-880B-FA6784AD8860}"/>
              </a:ext>
            </a:extLst>
          </p:cNvPr>
          <p:cNvSpPr>
            <a:spLocks xmlns:a="http://schemas.openxmlformats.org/drawingml/2006/main"/>
          </p:cNvSpPr>
          <p:nvPr/>
        </p:nvSpPr>
        <p:spPr>
          <a:xfrm xmlns:a="http://schemas.openxmlformats.org/drawingml/2006/main">
            <a:off x="1219200" y="42672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Verify the brief.</a:t>
            </a:r>
          </a:p>
        </p:txBody>
      </p:sp>
      <p:sp>
        <p:nvSpPr>
          <p:cNvPr id="284" name="29-text-12">
            <a:extLst xmlns:a="http://schemas.openxmlformats.org/drawingml/2006/main">
              <a:ext uri="{FF2B5EF4-FFF2-40B4-BE49-F238E27FC236}">
                <a16:creationId xmlns:a16="http://schemas.microsoft.com/office/drawing/2014/main" id="{7E903C06-C166-4639-B3B6-41CC7650FD71}"/>
              </a:ext>
            </a:extLst>
          </p:cNvPr>
          <p:cNvSpPr>
            <a:spLocks xmlns:a="http://schemas.openxmlformats.org/drawingml/2006/main"/>
          </p:cNvSpPr>
          <p:nvPr/>
        </p:nvSpPr>
        <p:spPr>
          <a:xfrm xmlns:a="http://schemas.openxmlformats.org/drawingml/2006/main">
            <a:off x="6248400" y="42672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
        <p:nvSpPr>
          <p:cNvPr id="285" name="29-text-13">
            <a:extLst xmlns:a="http://schemas.openxmlformats.org/drawingml/2006/main">
              <a:ext uri="{FF2B5EF4-FFF2-40B4-BE49-F238E27FC236}">
                <a16:creationId xmlns:a16="http://schemas.microsoft.com/office/drawing/2014/main" id="{E60026E1-E08E-4B56-B31F-0C839A9ED5E1}"/>
              </a:ext>
            </a:extLst>
          </p:cNvPr>
          <p:cNvSpPr>
            <a:spLocks xmlns:a="http://schemas.openxmlformats.org/drawingml/2006/main"/>
          </p:cNvSpPr>
          <p:nvPr/>
        </p:nvSpPr>
        <p:spPr>
          <a:xfrm xmlns:a="http://schemas.openxmlformats.org/drawingml/2006/main">
            <a:off x="6858000" y="42672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Export.</a:t>
            </a:r>
          </a:p>
        </p:txBody>
      </p:sp>
      <p:sp>
        <p:nvSpPr>
          <p:cNvPr id="286" name="29-text-14">
            <a:extLst xmlns:a="http://schemas.openxmlformats.org/drawingml/2006/main">
              <a:ext uri="{FF2B5EF4-FFF2-40B4-BE49-F238E27FC236}">
                <a16:creationId xmlns:a16="http://schemas.microsoft.com/office/drawing/2014/main" id="{834960C9-336F-4699-B754-13286830B6E4}"/>
              </a:ext>
            </a:extLst>
          </p:cNvPr>
          <p:cNvSpPr>
            <a:spLocks xmlns:a="http://schemas.openxmlformats.org/drawingml/2006/main"/>
          </p:cNvSpPr>
          <p:nvPr/>
        </p:nvSpPr>
        <p:spPr>
          <a:xfrm xmlns:a="http://schemas.openxmlformats.org/drawingml/2006/main">
            <a:off x="609600" y="497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Export only after checks pass on the exact draft.</a:t>
            </a:r>
          </a:p>
        </p:txBody>
      </p:sp>
      <p:sp>
        <p:nvSpPr>
          <p:cNvPr id="287" name="29-text-15">
            <a:extLst xmlns:a="http://schemas.openxmlformats.org/drawingml/2006/main">
              <a:ext uri="{FF2B5EF4-FFF2-40B4-BE49-F238E27FC236}">
                <a16:creationId xmlns:a16="http://schemas.microsoft.com/office/drawing/2014/main" id="{E01FFF49-8032-4E65-B727-54AD6531489F}"/>
              </a:ext>
            </a:extLst>
          </p:cNvPr>
          <p:cNvSpPr>
            <a:spLocks xmlns:a="http://schemas.openxmlformats.org/drawingml/2006/main"/>
          </p:cNvSpPr>
          <p:nvPr/>
        </p:nvSpPr>
        <p:spPr>
          <a:xfrm xmlns:a="http://schemas.openxmlformats.org/drawingml/2006/main">
            <a:off x="609600" y="55118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an unknown export outcome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before deciding whether to retry.</a:t>
            </a:r>
          </a:p>
        </p:txBody>
      </p:sp>
      <p:sp>
        <p:nvSpPr>
          <p:cNvPr id="288" name="narrative-number">
            <a:extLst xmlns:a="http://schemas.openxmlformats.org/drawingml/2006/main">
              <a:ext uri="{FF2B5EF4-FFF2-40B4-BE49-F238E27FC236}">
                <a16:creationId xmlns:a16="http://schemas.microsoft.com/office/drawing/2014/main" id="{B752FD20-5EF2-4D7D-B0D3-B06CDCB6855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29</a:t>
            </a:r>
          </a:p>
        </p:txBody>
      </p:sp>
    </p:spTree>
    <p:extLst>
      <p:ext uri="{BB962C8B-B14F-4D97-AF65-F5344CB8AC3E}">
        <p14:creationId xmlns:p14="http://schemas.microsoft.com/office/powerpoint/2010/main" val="1082726968"/>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9" name="!!area-name">
            <a:extLst xmlns:a="http://schemas.openxmlformats.org/drawingml/2006/main">
              <a:ext uri="{FF2B5EF4-FFF2-40B4-BE49-F238E27FC236}">
                <a16:creationId xmlns:a16="http://schemas.microsoft.com/office/drawing/2014/main" id="{17F5B2B7-16F0-4136-8282-106C379270F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Perspective</a:t>
            </a:r>
          </a:p>
        </p:txBody>
      </p:sp>
      <p:pic>
        <p:nvPicPr>
          <p:cNvPr id="298" name="mini-map"/>
          <p:cNvPicPr>
            <a:picLocks xmlns:a="http://schemas.openxmlformats.org/drawingml/2006/main" noChangeAspect="1"/>
          </p:cNvPicPr>
          <p:nvPr/>
        </p:nvPicPr>
        <p:blipFill>
          <a:blip xmlns:r="http://schemas.openxmlformats.org/officeDocument/2006/relationships" xmlns:a="http://schemas.openxmlformats.org/drawingml/2006/main" r:embed="Rece8d1ab2c804ca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91" name="header-divider">
            <a:extLst xmlns:a="http://schemas.openxmlformats.org/drawingml/2006/main">
              <a:ext uri="{FF2B5EF4-FFF2-40B4-BE49-F238E27FC236}">
                <a16:creationId xmlns:a16="http://schemas.microsoft.com/office/drawing/2014/main" id="{40F7D673-E16A-4D6D-B0D7-BB9CA8FB003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2" name="30-text-1">
            <a:extLst xmlns:a="http://schemas.openxmlformats.org/drawingml/2006/main">
              <a:ext uri="{FF2B5EF4-FFF2-40B4-BE49-F238E27FC236}">
                <a16:creationId xmlns:a16="http://schemas.microsoft.com/office/drawing/2014/main" id="{6CA771CF-4995-4404-8998-8EB206646554}"/>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“Error analysis is the most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important activity in evals.”</a:t>
            </a:r>
          </a:p>
        </p:txBody>
      </p:sp>
      <p:sp>
        <p:nvSpPr>
          <p:cNvPr id="293" name="30-text-2">
            <a:extLst xmlns:a="http://schemas.openxmlformats.org/drawingml/2006/main">
              <a:ext uri="{FF2B5EF4-FFF2-40B4-BE49-F238E27FC236}">
                <a16:creationId xmlns:a16="http://schemas.microsoft.com/office/drawing/2014/main" id="{A44BB511-8B1A-4E6B-AF5F-66480B65DD66}"/>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and Shreya Shankar</a:t>
            </a:r>
          </a:p>
        </p:txBody>
      </p:sp>
      <p:sp>
        <p:nvSpPr>
          <p:cNvPr id="294" name="30-text-3">
            <a:extLst xmlns:a="http://schemas.openxmlformats.org/drawingml/2006/main">
              <a:ext uri="{FF2B5EF4-FFF2-40B4-BE49-F238E27FC236}">
                <a16:creationId xmlns:a16="http://schemas.microsoft.com/office/drawing/2014/main" id="{A58FF4ED-28D9-4EB2-964C-A49C709133AD}"/>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AI Evals: Everything You Need to Know, September 2026</a:t>
            </a:r>
          </a:p>
        </p:txBody>
      </p:sp>
      <p:pic>
        <p:nvPicPr>
          <p:cNvPr id="303" name="30-image-4"/>
          <p:cNvPicPr>
            <a:picLocks xmlns:a="http://schemas.openxmlformats.org/drawingml/2006/main" noChangeAspect="1"/>
          </p:cNvPicPr>
          <p:nvPr/>
        </p:nvPicPr>
        <p:blipFill>
          <a:blip xmlns:r="http://schemas.openxmlformats.org/officeDocument/2006/relationships" xmlns:a="http://schemas.openxmlformats.org/drawingml/2006/main" r:embed="R643c80b0b2f349dd"/>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96" name="narrative-number">
            <a:extLst xmlns:a="http://schemas.openxmlformats.org/drawingml/2006/main">
              <a:ext uri="{FF2B5EF4-FFF2-40B4-BE49-F238E27FC236}">
                <a16:creationId xmlns:a16="http://schemas.microsoft.com/office/drawing/2014/main" id="{2C98DE68-0FFC-480B-A797-7BB5D176979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30</a:t>
            </a:r>
          </a:p>
        </p:txBody>
      </p:sp>
    </p:spTree>
    <p:extLst>
      <p:ext uri="{BB962C8B-B14F-4D97-AF65-F5344CB8AC3E}">
        <p14:creationId xmlns:p14="http://schemas.microsoft.com/office/powerpoint/2010/main" val="1364117757"/>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97" name="!!area-name">
            <a:extLst xmlns:a="http://schemas.openxmlformats.org/drawingml/2006/main">
              <a:ext uri="{FF2B5EF4-FFF2-40B4-BE49-F238E27FC236}">
                <a16:creationId xmlns:a16="http://schemas.microsoft.com/office/drawing/2014/main" id="{DEA8EFCF-EA1C-431F-BF58-C8F4E5F147A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What and why</a:t>
            </a:r>
          </a:p>
        </p:txBody>
      </p:sp>
      <p:pic>
        <p:nvPicPr>
          <p:cNvPr id="307" name="mini-map"/>
          <p:cNvPicPr>
            <a:picLocks xmlns:a="http://schemas.openxmlformats.org/drawingml/2006/main" noChangeAspect="1"/>
          </p:cNvPicPr>
          <p:nvPr/>
        </p:nvPicPr>
        <p:blipFill>
          <a:blip xmlns:r="http://schemas.openxmlformats.org/officeDocument/2006/relationships" xmlns:a="http://schemas.openxmlformats.org/drawingml/2006/main" r:embed="R5d7175a2ee6245b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99" name="slide-title">
            <a:extLst xmlns:a="http://schemas.openxmlformats.org/drawingml/2006/main">
              <a:ext uri="{FF2B5EF4-FFF2-40B4-BE49-F238E27FC236}">
                <a16:creationId xmlns:a16="http://schemas.microsoft.com/office/drawing/2014/main" id="{D207D4BE-E89B-41E9-817F-A32B1A7D954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Verification and evaluation</a:t>
            </a:r>
          </a:p>
        </p:txBody>
      </p:sp>
      <p:sp>
        <p:nvSpPr>
          <p:cNvPr id="300" name="header-divider">
            <a:extLst xmlns:a="http://schemas.openxmlformats.org/drawingml/2006/main">
              <a:ext uri="{FF2B5EF4-FFF2-40B4-BE49-F238E27FC236}">
                <a16:creationId xmlns:a16="http://schemas.microsoft.com/office/drawing/2014/main" id="{51AADA96-6A77-4297-8DA0-C7B338C5D6B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01" name="31-text-1">
            <a:extLst xmlns:a="http://schemas.openxmlformats.org/drawingml/2006/main">
              <a:ext uri="{FF2B5EF4-FFF2-40B4-BE49-F238E27FC236}">
                <a16:creationId xmlns:a16="http://schemas.microsoft.com/office/drawing/2014/main" id="{A76F30A3-E5D2-4E65-A513-9B75D04B995F}"/>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What it is</a:t>
            </a:r>
          </a:p>
        </p:txBody>
      </p:sp>
      <p:sp>
        <p:nvSpPr>
          <p:cNvPr id="302" name="31-text-2">
            <a:extLst xmlns:a="http://schemas.openxmlformats.org/drawingml/2006/main">
              <a:ext uri="{FF2B5EF4-FFF2-40B4-BE49-F238E27FC236}">
                <a16:creationId xmlns:a16="http://schemas.microsoft.com/office/drawing/2014/main" id="{45D717D1-AE74-4EAD-BE0F-B989F4437321}"/>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Verification: acceptance of this result.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behavior across cases and repeated trials.</a:t>
            </a:r>
          </a:p>
        </p:txBody>
      </p:sp>
      <p:sp>
        <p:nvSpPr>
          <p:cNvPr id="303" name="31-text-3">
            <a:extLst xmlns:a="http://schemas.openxmlformats.org/drawingml/2006/main">
              <a:ext uri="{FF2B5EF4-FFF2-40B4-BE49-F238E27FC236}">
                <a16:creationId xmlns:a16="http://schemas.microsoft.com/office/drawing/2014/main" id="{4E3E8977-28EE-4438-A1AF-6780B696E2D2}"/>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Why it matters</a:t>
            </a:r>
          </a:p>
        </p:txBody>
      </p:sp>
      <p:sp>
        <p:nvSpPr>
          <p:cNvPr id="304" name="31-text-4">
            <a:extLst xmlns:a="http://schemas.openxmlformats.org/drawingml/2006/main">
              <a:ext uri="{FF2B5EF4-FFF2-40B4-BE49-F238E27FC236}">
                <a16:creationId xmlns:a16="http://schemas.microsoft.com/office/drawing/2014/main" id="{AC3CB75B-80E3-4692-8549-73B4F8FDB120}"/>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Ordinary tests remain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Check outcomes, required constraints, and consistency.</a:t>
            </a:r>
          </a:p>
        </p:txBody>
      </p:sp>
      <p:sp>
        <p:nvSpPr>
          <p:cNvPr id="305" name="narrative-number">
            <a:extLst xmlns:a="http://schemas.openxmlformats.org/drawingml/2006/main">
              <a:ext uri="{FF2B5EF4-FFF2-40B4-BE49-F238E27FC236}">
                <a16:creationId xmlns:a16="http://schemas.microsoft.com/office/drawing/2014/main" id="{BBF6C231-1941-4CFB-9F02-6F507FCF292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31</a:t>
            </a:r>
          </a:p>
        </p:txBody>
      </p:sp>
    </p:spTree>
    <p:extLst>
      <p:ext uri="{BB962C8B-B14F-4D97-AF65-F5344CB8AC3E}">
        <p14:creationId xmlns:p14="http://schemas.microsoft.com/office/powerpoint/2010/main" val="1284591291"/>
      </p:ext>
    </p:extLst>
  </p:cSld>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06" name="!!area-name">
            <a:extLst xmlns:a="http://schemas.openxmlformats.org/drawingml/2006/main">
              <a:ext uri="{FF2B5EF4-FFF2-40B4-BE49-F238E27FC236}">
                <a16:creationId xmlns:a16="http://schemas.microsoft.com/office/drawing/2014/main" id="{3D0DB0E1-E376-48B6-912A-13738888DE2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Decisions</a:t>
            </a:r>
          </a:p>
        </p:txBody>
      </p:sp>
      <p:pic>
        <p:nvPicPr>
          <p:cNvPr id="318" name="mini-map"/>
          <p:cNvPicPr>
            <a:picLocks xmlns:a="http://schemas.openxmlformats.org/drawingml/2006/main" noChangeAspect="1"/>
          </p:cNvPicPr>
          <p:nvPr/>
        </p:nvPicPr>
        <p:blipFill>
          <a:blip xmlns:r="http://schemas.openxmlformats.org/officeDocument/2006/relationships" xmlns:a="http://schemas.openxmlformats.org/drawingml/2006/main" r:embed="R0f4be9c2f84a463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08" name="slide-title">
            <a:extLst xmlns:a="http://schemas.openxmlformats.org/drawingml/2006/main">
              <a:ext uri="{FF2B5EF4-FFF2-40B4-BE49-F238E27FC236}">
                <a16:creationId xmlns:a16="http://schemas.microsoft.com/office/drawing/2014/main" id="{21AA74FC-192A-4E58-8AE4-F339B8C7EDF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decisions</a:t>
            </a:r>
          </a:p>
        </p:txBody>
      </p:sp>
      <p:sp>
        <p:nvSpPr>
          <p:cNvPr id="309" name="header-divider">
            <a:extLst xmlns:a="http://schemas.openxmlformats.org/drawingml/2006/main">
              <a:ext uri="{FF2B5EF4-FFF2-40B4-BE49-F238E27FC236}">
                <a16:creationId xmlns:a16="http://schemas.microsoft.com/office/drawing/2014/main" id="{885A7D15-256E-47B7-87DA-79832955B61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10" name="32-text-1">
            <a:extLst xmlns:a="http://schemas.openxmlformats.org/drawingml/2006/main">
              <a:ext uri="{FF2B5EF4-FFF2-40B4-BE49-F238E27FC236}">
                <a16:creationId xmlns:a16="http://schemas.microsoft.com/office/drawing/2014/main" id="{95C09E03-A738-469C-9ABD-89245CB1C9EF}"/>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counts as success?</a:t>
            </a:r>
          </a:p>
        </p:txBody>
      </p:sp>
      <p:sp>
        <p:nvSpPr>
          <p:cNvPr id="311" name="32-text-2">
            <a:extLst xmlns:a="http://schemas.openxmlformats.org/drawingml/2006/main">
              <a:ext uri="{FF2B5EF4-FFF2-40B4-BE49-F238E27FC236}">
                <a16:creationId xmlns:a16="http://schemas.microsoft.com/office/drawing/2014/main" id="{8F4E9BBC-9071-4C35-AABB-EEE21F17FEEF}"/>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Outcomes, serious failures, and useful limitations.</a:t>
            </a:r>
          </a:p>
        </p:txBody>
      </p:sp>
      <p:sp>
        <p:nvSpPr>
          <p:cNvPr id="312" name="32-text-3">
            <a:extLst xmlns:a="http://schemas.openxmlformats.org/drawingml/2006/main">
              <a:ext uri="{FF2B5EF4-FFF2-40B4-BE49-F238E27FC236}">
                <a16:creationId xmlns:a16="http://schemas.microsoft.com/office/drawing/2014/main" id="{0E0FA9D4-E3AE-4ED7-B6EF-6A0C37CCDAF5}"/>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checks fit?</a:t>
            </a:r>
          </a:p>
        </p:txBody>
      </p:sp>
      <p:sp>
        <p:nvSpPr>
          <p:cNvPr id="313" name="32-text-4">
            <a:extLst xmlns:a="http://schemas.openxmlformats.org/drawingml/2006/main">
              <a:ext uri="{FF2B5EF4-FFF2-40B4-BE49-F238E27FC236}">
                <a16:creationId xmlns:a16="http://schemas.microsoft.com/office/drawing/2014/main" id="{E723B745-B971-49F8-8656-CA496DACF702}"/>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checks, model graders, expert review. Evaluate grader agreement.</a:t>
            </a:r>
          </a:p>
        </p:txBody>
      </p:sp>
      <p:sp>
        <p:nvSpPr>
          <p:cNvPr id="314" name="32-text-5">
            <a:extLst xmlns:a="http://schemas.openxmlformats.org/drawingml/2006/main">
              <a:ext uri="{FF2B5EF4-FFF2-40B4-BE49-F238E27FC236}">
                <a16:creationId xmlns:a16="http://schemas.microsoft.com/office/drawing/2014/main" id="{CACA1E16-6F19-44B0-9105-ADD99061F70C}"/>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cases and trials?</a:t>
            </a:r>
          </a:p>
        </p:txBody>
      </p:sp>
      <p:sp>
        <p:nvSpPr>
          <p:cNvPr id="315" name="32-text-6">
            <a:extLst xmlns:a="http://schemas.openxmlformats.org/drawingml/2006/main">
              <a:ext uri="{FF2B5EF4-FFF2-40B4-BE49-F238E27FC236}">
                <a16:creationId xmlns:a16="http://schemas.microsoft.com/office/drawing/2014/main" id="{96B33943-BD20-4C12-9D73-DBAE1BC78BF3}"/>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Representative work, known failures, and repeated attempts.</a:t>
            </a:r>
          </a:p>
        </p:txBody>
      </p:sp>
      <p:sp>
        <p:nvSpPr>
          <p:cNvPr id="316" name="narrative-number">
            <a:extLst xmlns:a="http://schemas.openxmlformats.org/drawingml/2006/main">
              <a:ext uri="{FF2B5EF4-FFF2-40B4-BE49-F238E27FC236}">
                <a16:creationId xmlns:a16="http://schemas.microsoft.com/office/drawing/2014/main" id="{8247DB1F-9F3A-47B1-9185-D7189B5A78D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32</a:t>
            </a:r>
          </a:p>
        </p:txBody>
      </p:sp>
    </p:spTree>
    <p:extLst>
      <p:ext uri="{BB962C8B-B14F-4D97-AF65-F5344CB8AC3E}">
        <p14:creationId xmlns:p14="http://schemas.microsoft.com/office/powerpoint/2010/main" val="1477119076"/>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17" name="!!area-name">
            <a:extLst xmlns:a="http://schemas.openxmlformats.org/drawingml/2006/main">
              <a:ext uri="{FF2B5EF4-FFF2-40B4-BE49-F238E27FC236}">
                <a16:creationId xmlns:a16="http://schemas.microsoft.com/office/drawing/2014/main" id="{0CEC8633-AAE0-4CDF-9D5D-8DBEE57000A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Challenges and pitfalls</a:t>
            </a:r>
          </a:p>
        </p:txBody>
      </p:sp>
      <p:pic>
        <p:nvPicPr>
          <p:cNvPr id="332" name="mini-map"/>
          <p:cNvPicPr>
            <a:picLocks xmlns:a="http://schemas.openxmlformats.org/drawingml/2006/main" noChangeAspect="1"/>
          </p:cNvPicPr>
          <p:nvPr/>
        </p:nvPicPr>
        <p:blipFill>
          <a:blip xmlns:r="http://schemas.openxmlformats.org/officeDocument/2006/relationships" xmlns:a="http://schemas.openxmlformats.org/drawingml/2006/main" r:embed="R31d1ca98464f43d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19" name="slide-title">
            <a:extLst xmlns:a="http://schemas.openxmlformats.org/drawingml/2006/main">
              <a:ext uri="{FF2B5EF4-FFF2-40B4-BE49-F238E27FC236}">
                <a16:creationId xmlns:a16="http://schemas.microsoft.com/office/drawing/2014/main" id="{84DE526C-38FE-4324-916A-A9BDB15C461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pitfalls</a:t>
            </a:r>
          </a:p>
        </p:txBody>
      </p:sp>
      <p:sp>
        <p:nvSpPr>
          <p:cNvPr id="320" name="header-divider">
            <a:extLst xmlns:a="http://schemas.openxmlformats.org/drawingml/2006/main">
              <a:ext uri="{FF2B5EF4-FFF2-40B4-BE49-F238E27FC236}">
                <a16:creationId xmlns:a16="http://schemas.microsoft.com/office/drawing/2014/main" id="{CFFDDA9C-FA75-41E2-BE90-3B1D27BF8A6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21" name="33-text-1">
            <a:extLst xmlns:a="http://schemas.openxmlformats.org/drawingml/2006/main">
              <a:ext uri="{FF2B5EF4-FFF2-40B4-BE49-F238E27FC236}">
                <a16:creationId xmlns:a16="http://schemas.microsoft.com/office/drawing/2014/main" id="{4B5C2CA1-48C0-46B3-9AFC-B219055687E2}"/>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Outcome</a:t>
            </a:r>
          </a:p>
        </p:txBody>
      </p:sp>
      <p:sp>
        <p:nvSpPr>
          <p:cNvPr id="322" name="33-text-2">
            <a:extLst xmlns:a="http://schemas.openxmlformats.org/drawingml/2006/main">
              <a:ext uri="{FF2B5EF4-FFF2-40B4-BE49-F238E27FC236}">
                <a16:creationId xmlns:a16="http://schemas.microsoft.com/office/drawing/2014/main" id="{8EC2063C-70E4-40B4-B2E1-A7A31586BED0}"/>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actual result.</a:t>
            </a:r>
          </a:p>
        </p:txBody>
      </p:sp>
      <p:sp>
        <p:nvSpPr>
          <p:cNvPr id="323" name="33-text-3">
            <a:extLst xmlns:a="http://schemas.openxmlformats.org/drawingml/2006/main">
              <a:ext uri="{FF2B5EF4-FFF2-40B4-BE49-F238E27FC236}">
                <a16:creationId xmlns:a16="http://schemas.microsoft.com/office/drawing/2014/main" id="{8A8E677E-5DAD-431C-B9D6-8B8C60AA8224}"/>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324" name="33-text-4">
            <a:extLst xmlns:a="http://schemas.openxmlformats.org/drawingml/2006/main">
              <a:ext uri="{FF2B5EF4-FFF2-40B4-BE49-F238E27FC236}">
                <a16:creationId xmlns:a16="http://schemas.microsoft.com/office/drawing/2014/main" id="{5A88FC52-E5B4-4005-907D-496A0ECC0F27}"/>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disagreement with expert judgment.</a:t>
            </a:r>
          </a:p>
        </p:txBody>
      </p:sp>
      <p:sp>
        <p:nvSpPr>
          <p:cNvPr id="325" name="33-text-5">
            <a:extLst xmlns:a="http://schemas.openxmlformats.org/drawingml/2006/main">
              <a:ext uri="{FF2B5EF4-FFF2-40B4-BE49-F238E27FC236}">
                <a16:creationId xmlns:a16="http://schemas.microsoft.com/office/drawing/2014/main" id="{30583F38-62DB-4F25-B573-0C41967BFF86}"/>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Coverage</a:t>
            </a:r>
          </a:p>
        </p:txBody>
      </p:sp>
      <p:sp>
        <p:nvSpPr>
          <p:cNvPr id="326" name="33-text-6">
            <a:extLst xmlns:a="http://schemas.openxmlformats.org/drawingml/2006/main">
              <a:ext uri="{FF2B5EF4-FFF2-40B4-BE49-F238E27FC236}">
                <a16:creationId xmlns:a16="http://schemas.microsoft.com/office/drawing/2014/main" id="{88D40DB0-E0F8-49C1-A244-C9BFEFA41535}"/>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 failures and recheck after changes.</a:t>
            </a:r>
          </a:p>
        </p:txBody>
      </p:sp>
      <p:sp>
        <p:nvSpPr>
          <p:cNvPr id="327" name="33-text-7">
            <a:extLst xmlns:a="http://schemas.openxmlformats.org/drawingml/2006/main">
              <a:ext uri="{FF2B5EF4-FFF2-40B4-BE49-F238E27FC236}">
                <a16:creationId xmlns:a16="http://schemas.microsoft.com/office/drawing/2014/main" id="{51744D16-4DD9-445F-AC07-A3BA5DE4B903}"/>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result and the trace before choosing a repair.</a:t>
            </a:r>
          </a:p>
        </p:txBody>
      </p:sp>
      <p:sp>
        <p:nvSpPr>
          <p:cNvPr id="328" name="33-text-8">
            <a:extLst xmlns:a="http://schemas.openxmlformats.org/drawingml/2006/main">
              <a:ext uri="{FF2B5EF4-FFF2-40B4-BE49-F238E27FC236}">
                <a16:creationId xmlns:a16="http://schemas.microsoft.com/office/drawing/2014/main" id="{B87AC5D4-EBC5-42BD-A415-D57EADC341D9}"/>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Pitfall</a:t>
            </a:r>
          </a:p>
        </p:txBody>
      </p:sp>
      <p:sp>
        <p:nvSpPr>
          <p:cNvPr id="329" name="33-text-9">
            <a:extLst xmlns:a="http://schemas.openxmlformats.org/drawingml/2006/main">
              <a:ext uri="{FF2B5EF4-FFF2-40B4-BE49-F238E27FC236}">
                <a16:creationId xmlns:a16="http://schemas.microsoft.com/office/drawing/2014/main" id="{91109E0C-398C-4431-B31F-B2B3B9789F5D}"/>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 generic judge instead of error analysis.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Trusting the success claim without checking the result.</a:t>
            </a:r>
          </a:p>
        </p:txBody>
      </p:sp>
      <p:sp>
        <p:nvSpPr>
          <p:cNvPr id="330" name="narrative-number">
            <a:extLst xmlns:a="http://schemas.openxmlformats.org/drawingml/2006/main">
              <a:ext uri="{FF2B5EF4-FFF2-40B4-BE49-F238E27FC236}">
                <a16:creationId xmlns:a16="http://schemas.microsoft.com/office/drawing/2014/main" id="{6DAFFEAE-EEB2-4A23-89DE-693BEAE51B8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33</a:t>
            </a:r>
          </a:p>
        </p:txBody>
      </p:sp>
    </p:spTree>
    <p:extLst>
      <p:ext uri="{BB962C8B-B14F-4D97-AF65-F5344CB8AC3E}">
        <p14:creationId xmlns:p14="http://schemas.microsoft.com/office/powerpoint/2010/main" val="3163764820"/>
      </p:ext>
    </p:extLst>
  </p:cSld>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1" name="!!area-name">
            <a:extLst xmlns:a="http://schemas.openxmlformats.org/drawingml/2006/main">
              <a:ext uri="{FF2B5EF4-FFF2-40B4-BE49-F238E27FC236}">
                <a16:creationId xmlns:a16="http://schemas.microsoft.com/office/drawing/2014/main" id="{47162F5A-8998-4AE3-BB74-33067E83887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FRB application</a:t>
            </a:r>
          </a:p>
        </p:txBody>
      </p:sp>
      <p:pic>
        <p:nvPicPr>
          <p:cNvPr id="347" name="mini-map"/>
          <p:cNvPicPr>
            <a:picLocks xmlns:a="http://schemas.openxmlformats.org/drawingml/2006/main" noChangeAspect="1"/>
          </p:cNvPicPr>
          <p:nvPr/>
        </p:nvPicPr>
        <p:blipFill>
          <a:blip xmlns:r="http://schemas.openxmlformats.org/officeDocument/2006/relationships" xmlns:a="http://schemas.openxmlformats.org/drawingml/2006/main" r:embed="Rc3899c52823e427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33" name="slide-title">
            <a:extLst xmlns:a="http://schemas.openxmlformats.org/drawingml/2006/main">
              <a:ext uri="{FF2B5EF4-FFF2-40B4-BE49-F238E27FC236}">
                <a16:creationId xmlns:a16="http://schemas.microsoft.com/office/drawing/2014/main" id="{D195F96E-27E1-4D5F-8517-1019E2E5DEB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Does the source support the claim?</a:t>
            </a:r>
          </a:p>
        </p:txBody>
      </p:sp>
      <p:sp>
        <p:nvSpPr>
          <p:cNvPr id="334" name="header-divider">
            <a:extLst xmlns:a="http://schemas.openxmlformats.org/drawingml/2006/main">
              <a:ext uri="{FF2B5EF4-FFF2-40B4-BE49-F238E27FC236}">
                <a16:creationId xmlns:a16="http://schemas.microsoft.com/office/drawing/2014/main" id="{74FDE86D-803A-48BD-8ED8-FAB7EFA2F5C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35" name="34-text-1">
            <a:extLst xmlns:a="http://schemas.openxmlformats.org/drawingml/2006/main">
              <a:ext uri="{FF2B5EF4-FFF2-40B4-BE49-F238E27FC236}">
                <a16:creationId xmlns:a16="http://schemas.microsoft.com/office/drawing/2014/main" id="{05F4054E-A7FE-46FB-AC79-FAF882FDF9F9}"/>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source-support check.</a:t>
            </a:r>
          </a:p>
        </p:txBody>
      </p:sp>
      <p:sp>
        <p:nvSpPr>
          <p:cNvPr id="336" name="34-text-2">
            <a:extLst xmlns:a="http://schemas.openxmlformats.org/drawingml/2006/main">
              <a:ext uri="{FF2B5EF4-FFF2-40B4-BE49-F238E27FC236}">
                <a16:creationId xmlns:a16="http://schemas.microsoft.com/office/drawing/2014/main" id="{640838D4-5221-4D32-A773-2ADA390C47BD}"/>
              </a:ext>
            </a:extLst>
          </p:cNvPr>
          <p:cNvSpPr>
            <a:spLocks xmlns:a="http://schemas.openxmlformats.org/drawingml/2006/main"/>
          </p:cNvSpPr>
          <p:nvPr/>
        </p:nvSpPr>
        <p:spPr>
          <a:xfrm xmlns:a="http://schemas.openxmlformats.org/drawingml/2006/main">
            <a:off x="609600" y="284480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p:txBody>
      </p:sp>
      <p:sp>
        <p:nvSpPr>
          <p:cNvPr id="337" name="34-text-3">
            <a:extLst xmlns:a="http://schemas.openxmlformats.org/drawingml/2006/main">
              <a:ext uri="{FF2B5EF4-FFF2-40B4-BE49-F238E27FC236}">
                <a16:creationId xmlns:a16="http://schemas.microsoft.com/office/drawing/2014/main" id="{A7C5A4F1-F20D-4D9F-9FCF-A7133B9F66FE}"/>
              </a:ext>
            </a:extLst>
          </p:cNvPr>
          <p:cNvSpPr>
            <a:spLocks xmlns:a="http://schemas.openxmlformats.org/drawingml/2006/main"/>
          </p:cNvSpPr>
          <p:nvPr/>
        </p:nvSpPr>
        <p:spPr>
          <a:xfrm xmlns:a="http://schemas.openxmlformats.org/drawingml/2006/main">
            <a:off x="609600" y="3251200"/>
            <a:ext cx="5334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338" name="34-text-4">
            <a:extLst xmlns:a="http://schemas.openxmlformats.org/drawingml/2006/main">
              <a:ext uri="{FF2B5EF4-FFF2-40B4-BE49-F238E27FC236}">
                <a16:creationId xmlns:a16="http://schemas.microsoft.com/office/drawing/2014/main" id="{11371DF7-D204-431D-9DE6-46F8BE5B7C41}"/>
              </a:ext>
            </a:extLst>
          </p:cNvPr>
          <p:cNvSpPr>
            <a:spLocks xmlns:a="http://schemas.openxmlformats.org/drawingml/2006/main"/>
          </p:cNvSpPr>
          <p:nvPr/>
        </p:nvSpPr>
        <p:spPr>
          <a:xfrm xmlns:a="http://schemas.openxmlformats.org/drawingml/2006/main">
            <a:off x="6248400" y="284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Answer citing these minutes</a:t>
            </a:r>
          </a:p>
        </p:txBody>
      </p:sp>
      <p:sp>
        <p:nvSpPr>
          <p:cNvPr id="339" name="34-text-5">
            <a:extLst xmlns:a="http://schemas.openxmlformats.org/drawingml/2006/main">
              <a:ext uri="{FF2B5EF4-FFF2-40B4-BE49-F238E27FC236}">
                <a16:creationId xmlns:a16="http://schemas.microsoft.com/office/drawing/2014/main" id="{5D80F3A1-182D-488D-AFA2-FF45EC366ABC}"/>
              </a:ext>
            </a:extLst>
          </p:cNvPr>
          <p:cNvSpPr>
            <a:spLocks xmlns:a="http://schemas.openxmlformats.org/drawingml/2006/main"/>
          </p:cNvSpPr>
          <p:nvPr/>
        </p:nvSpPr>
        <p:spPr>
          <a:xfrm xmlns:a="http://schemas.openxmlformats.org/drawingml/2006/main">
            <a:off x="6248400" y="3251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board confirmed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a:t>
            </a:r>
          </a:p>
        </p:txBody>
      </p:sp>
      <p:sp>
        <p:nvSpPr>
          <p:cNvPr id="340" name="34-text-6">
            <a:extLst xmlns:a="http://schemas.openxmlformats.org/drawingml/2006/main">
              <a:ext uri="{FF2B5EF4-FFF2-40B4-BE49-F238E27FC236}">
                <a16:creationId xmlns:a16="http://schemas.microsoft.com/office/drawing/2014/main" id="{3759C032-D5B7-4AD0-AF4E-9557AB4DD6AA}"/>
              </a:ext>
            </a:extLst>
          </p:cNvPr>
          <p:cNvSpPr>
            <a:spLocks xmlns:a="http://schemas.openxmlformats.org/drawingml/2006/main"/>
          </p:cNvSpPr>
          <p:nvPr/>
        </p:nvSpPr>
        <p:spPr>
          <a:xfrm xmlns:a="http://schemas.openxmlformats.org/drawingml/2006/main">
            <a:off x="609600" y="49022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Citation exists: PASS</a:t>
            </a:r>
          </a:p>
        </p:txBody>
      </p:sp>
      <p:sp>
        <p:nvSpPr>
          <p:cNvPr id="341" name="34-text-7">
            <a:extLst xmlns:a="http://schemas.openxmlformats.org/drawingml/2006/main">
              <a:ext uri="{FF2B5EF4-FFF2-40B4-BE49-F238E27FC236}">
                <a16:creationId xmlns:a16="http://schemas.microsoft.com/office/drawing/2014/main" id="{A5B6942E-0AEA-49BA-A9BC-45FA5A8BAC4C}"/>
              </a:ext>
            </a:extLst>
          </p:cNvPr>
          <p:cNvSpPr>
            <a:spLocks xmlns:a="http://schemas.openxmlformats.org/drawingml/2006/main"/>
          </p:cNvSpPr>
          <p:nvPr/>
        </p:nvSpPr>
        <p:spPr>
          <a:xfrm xmlns:a="http://schemas.openxmlformats.org/drawingml/2006/main">
            <a:off x="609600" y="538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Claim supported: FAIL</a:t>
            </a:r>
          </a:p>
        </p:txBody>
      </p:sp>
      <p:sp>
        <p:nvSpPr>
          <p:cNvPr id="342" name="34-text-8">
            <a:extLst xmlns:a="http://schemas.openxmlformats.org/drawingml/2006/main">
              <a:ext uri="{FF2B5EF4-FFF2-40B4-BE49-F238E27FC236}">
                <a16:creationId xmlns:a16="http://schemas.microsoft.com/office/drawing/2014/main" id="{1067DA06-483E-4D51-9449-A207D2796ACB}"/>
              </a:ext>
            </a:extLst>
          </p:cNvPr>
          <p:cNvSpPr>
            <a:spLocks xmlns:a="http://schemas.openxmlformats.org/drawingml/2006/main"/>
          </p:cNvSpPr>
          <p:nvPr/>
        </p:nvSpPr>
        <p:spPr>
          <a:xfrm xmlns:a="http://schemas.openxmlformats.org/drawingml/2006/main">
            <a:off x="6248400" y="4445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Expected</a:t>
            </a:r>
          </a:p>
        </p:txBody>
      </p:sp>
      <p:sp>
        <p:nvSpPr>
          <p:cNvPr id="343" name="34-text-9">
            <a:extLst xmlns:a="http://schemas.openxmlformats.org/drawingml/2006/main">
              <a:ext uri="{FF2B5EF4-FFF2-40B4-BE49-F238E27FC236}">
                <a16:creationId xmlns:a16="http://schemas.microsoft.com/office/drawing/2014/main" id="{E1845100-28F4-46D3-8B1D-431BDB00BEEC}"/>
              </a:ext>
            </a:extLst>
          </p:cNvPr>
          <p:cNvSpPr>
            <a:spLocks xmlns:a="http://schemas.openxmlformats.org/drawingml/2006/main"/>
          </p:cNvSpPr>
          <p:nvPr/>
        </p:nvSpPr>
        <p:spPr>
          <a:xfrm xmlns:a="http://schemas.openxmlformats.org/drawingml/2006/main">
            <a:off x="6248400" y="48768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344" name="34-text-10">
            <a:extLst xmlns:a="http://schemas.openxmlformats.org/drawingml/2006/main">
              <a:ext uri="{FF2B5EF4-FFF2-40B4-BE49-F238E27FC236}">
                <a16:creationId xmlns:a16="http://schemas.microsoft.com/office/drawing/2014/main" id="{DAB4A672-F60D-4C48-BE09-62F82B6E4BD4}"/>
              </a:ext>
            </a:extLst>
          </p:cNvPr>
          <p:cNvSpPr>
            <a:spLocks xmlns:a="http://schemas.openxmlformats.org/drawingml/2006/main"/>
          </p:cNvSpPr>
          <p:nvPr/>
        </p:nvSpPr>
        <p:spPr>
          <a:xfrm xmlns:a="http://schemas.openxmlformats.org/drawingml/2006/main">
            <a:off x="609600" y="584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this failure as a regression case.</a:t>
            </a:r>
          </a:p>
        </p:txBody>
      </p:sp>
      <p:sp>
        <p:nvSpPr>
          <p:cNvPr id="345" name="narrative-number">
            <a:extLst xmlns:a="http://schemas.openxmlformats.org/drawingml/2006/main">
              <a:ext uri="{FF2B5EF4-FFF2-40B4-BE49-F238E27FC236}">
                <a16:creationId xmlns:a16="http://schemas.microsoft.com/office/drawing/2014/main" id="{7B16589D-4857-4DD2-B47D-2085E25E296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34</a:t>
            </a:r>
          </a:p>
        </p:txBody>
      </p:sp>
    </p:spTree>
    <p:extLst>
      <p:ext uri="{BB962C8B-B14F-4D97-AF65-F5344CB8AC3E}">
        <p14:creationId xmlns:p14="http://schemas.microsoft.com/office/powerpoint/2010/main" val="590105886"/>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6" name="!!area-name">
            <a:extLst xmlns:a="http://schemas.openxmlformats.org/drawingml/2006/main">
              <a:ext uri="{FF2B5EF4-FFF2-40B4-BE49-F238E27FC236}">
                <a16:creationId xmlns:a16="http://schemas.microsoft.com/office/drawing/2014/main" id="{068C7E9D-0EAD-41B2-80B0-006F05A5AF1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Production operations</a:t>
            </a:r>
            <a:r>
              <a:rPr b="0">
                <a:solidFill>
                  <a:srgbClr val="ADACA9"/>
                </a:solidFill>
                <a:latin typeface="Helvetica"/>
                <a:ea typeface="Helvetica"/>
                <a:cs typeface="Helvetica"/>
              </a:rPr>
              <a:t> · Perspective</a:t>
            </a:r>
          </a:p>
        </p:txBody>
      </p:sp>
      <p:pic>
        <p:nvPicPr>
          <p:cNvPr id="355" name="mini-map"/>
          <p:cNvPicPr>
            <a:picLocks xmlns:a="http://schemas.openxmlformats.org/drawingml/2006/main" noChangeAspect="1"/>
          </p:cNvPicPr>
          <p:nvPr/>
        </p:nvPicPr>
        <p:blipFill>
          <a:blip xmlns:r="http://schemas.openxmlformats.org/officeDocument/2006/relationships" xmlns:a="http://schemas.openxmlformats.org/drawingml/2006/main" r:embed="R098a5525a079442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48" name="header-divider">
            <a:extLst xmlns:a="http://schemas.openxmlformats.org/drawingml/2006/main">
              <a:ext uri="{FF2B5EF4-FFF2-40B4-BE49-F238E27FC236}">
                <a16:creationId xmlns:a16="http://schemas.microsoft.com/office/drawing/2014/main" id="{F327ECC0-21DD-424B-9529-2BDB5755E5A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9" name="35-text-1">
            <a:extLst xmlns:a="http://schemas.openxmlformats.org/drawingml/2006/main">
              <a:ext uri="{FF2B5EF4-FFF2-40B4-BE49-F238E27FC236}">
                <a16:creationId xmlns:a16="http://schemas.microsoft.com/office/drawing/2014/main" id="{9062B97C-E5E7-4059-A259-3B597DB7BAF5}"/>
              </a:ext>
            </a:extLst>
          </p:cNvPr>
          <p:cNvSpPr>
            <a:spLocks xmlns:a="http://schemas.openxmlformats.org/drawingml/2006/main"/>
          </p:cNvSpPr>
          <p:nvPr/>
        </p:nvSpPr>
        <p:spPr>
          <a:xfrm xmlns:a="http://schemas.openxmlformats.org/drawingml/2006/main">
            <a:off x="609600" y="2438400"/>
            <a:ext cx="7213600" cy="340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next wave of agent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failures won't be about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what agents can't do.</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It'll be about what teams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can't observe.”</a:t>
            </a:r>
          </a:p>
        </p:txBody>
      </p:sp>
      <p:pic>
        <p:nvPicPr>
          <p:cNvPr id="358" name="35-image-2"/>
          <p:cNvPicPr>
            <a:picLocks xmlns:a="http://schemas.openxmlformats.org/drawingml/2006/main" noChangeAspect="1"/>
          </p:cNvPicPr>
          <p:nvPr/>
        </p:nvPicPr>
        <p:blipFill>
          <a:blip xmlns:r="http://schemas.openxmlformats.org/officeDocument/2006/relationships" xmlns:a="http://schemas.openxmlformats.org/drawingml/2006/main" r:embed="Ra66c97b38ae84436"/>
          <a:stretch xmlns:a="http://schemas.openxmlformats.org/drawingml/2006/main"/>
        </p:blipFill>
        <p:spPr>
          <a:xfrm xmlns:a="http://schemas.openxmlformats.org/drawingml/2006/main">
            <a:off x="8432800" y="2438400"/>
            <a:ext cx="2844800" cy="2844800"/>
          </a:xfrm>
          <a:prstGeom xmlns:a="http://schemas.openxmlformats.org/drawingml/2006/main" prst="rect">
            <a:avLst/>
          </a:prstGeom>
        </p:spPr>
      </p:pic>
      <p:sp>
        <p:nvSpPr>
          <p:cNvPr id="351" name="35-text-3">
            <a:extLst xmlns:a="http://schemas.openxmlformats.org/drawingml/2006/main">
              <a:ext uri="{FF2B5EF4-FFF2-40B4-BE49-F238E27FC236}">
                <a16:creationId xmlns:a16="http://schemas.microsoft.com/office/drawing/2014/main" id="{BCD70265-5653-4FCD-AF49-F0416A69049B}"/>
              </a:ext>
            </a:extLst>
          </p:cNvPr>
          <p:cNvSpPr>
            <a:spLocks xmlns:a="http://schemas.openxmlformats.org/drawingml/2006/main"/>
          </p:cNvSpPr>
          <p:nvPr/>
        </p:nvSpPr>
        <p:spPr>
          <a:xfrm xmlns:a="http://schemas.openxmlformats.org/drawingml/2006/main">
            <a:off x="8128000" y="5334000"/>
            <a:ext cx="34544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Guillermo Rauch</a:t>
            </a:r>
          </a:p>
        </p:txBody>
      </p:sp>
      <p:sp>
        <p:nvSpPr>
          <p:cNvPr id="352" name="35-text-4">
            <a:extLst xmlns:a="http://schemas.openxmlformats.org/drawingml/2006/main">
              <a:ext uri="{FF2B5EF4-FFF2-40B4-BE49-F238E27FC236}">
                <a16:creationId xmlns:a16="http://schemas.microsoft.com/office/drawing/2014/main" id="{CE708550-72BB-4C43-8E7E-90EC7D0196E3}"/>
              </a:ext>
            </a:extLst>
          </p:cNvPr>
          <p:cNvSpPr>
            <a:spLocks xmlns:a="http://schemas.openxmlformats.org/drawingml/2006/main"/>
          </p:cNvSpPr>
          <p:nvPr/>
        </p:nvSpPr>
        <p:spPr>
          <a:xfrm xmlns:a="http://schemas.openxmlformats.org/drawingml/2006/main">
            <a:off x="8128000" y="5740400"/>
            <a:ext cx="345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State of AI Engineering,</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Datadog, 2026</a:t>
            </a:r>
          </a:p>
        </p:txBody>
      </p:sp>
      <p:sp>
        <p:nvSpPr>
          <p:cNvPr id="353" name="narrative-number">
            <a:extLst xmlns:a="http://schemas.openxmlformats.org/drawingml/2006/main">
              <a:ext uri="{FF2B5EF4-FFF2-40B4-BE49-F238E27FC236}">
                <a16:creationId xmlns:a16="http://schemas.microsoft.com/office/drawing/2014/main" id="{C2981CD7-7E84-41D8-B8F7-AE4C5FD39B1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35</a:t>
            </a:r>
          </a:p>
        </p:txBody>
      </p:sp>
    </p:spTree>
    <p:extLst>
      <p:ext uri="{BB962C8B-B14F-4D97-AF65-F5344CB8AC3E}">
        <p14:creationId xmlns:p14="http://schemas.microsoft.com/office/powerpoint/2010/main" val="1005116093"/>
      </p:ext>
    </p:extLst>
  </p:cSld>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54" name="!!area-name">
            <a:extLst xmlns:a="http://schemas.openxmlformats.org/drawingml/2006/main">
              <a:ext uri="{FF2B5EF4-FFF2-40B4-BE49-F238E27FC236}">
                <a16:creationId xmlns:a16="http://schemas.microsoft.com/office/drawing/2014/main" id="{032A9F7A-DB59-4D56-9BF6-FFDC753B1D6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Production operations</a:t>
            </a:r>
            <a:r>
              <a:rPr b="0">
                <a:solidFill>
                  <a:srgbClr val="ADACA9"/>
                </a:solidFill>
                <a:latin typeface="Helvetica"/>
                <a:ea typeface="Helvetica"/>
                <a:cs typeface="Helvetica"/>
              </a:rPr>
              <a:t> · What and why</a:t>
            </a:r>
          </a:p>
        </p:txBody>
      </p:sp>
      <p:pic>
        <p:nvPicPr>
          <p:cNvPr id="364" name="mini-map"/>
          <p:cNvPicPr>
            <a:picLocks xmlns:a="http://schemas.openxmlformats.org/drawingml/2006/main" noChangeAspect="1"/>
          </p:cNvPicPr>
          <p:nvPr/>
        </p:nvPicPr>
        <p:blipFill>
          <a:blip xmlns:r="http://schemas.openxmlformats.org/officeDocument/2006/relationships" xmlns:a="http://schemas.openxmlformats.org/drawingml/2006/main" r:embed="Rebd6afeb5c2048c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56" name="slide-title">
            <a:extLst xmlns:a="http://schemas.openxmlformats.org/drawingml/2006/main">
              <a:ext uri="{FF2B5EF4-FFF2-40B4-BE49-F238E27FC236}">
                <a16:creationId xmlns:a16="http://schemas.microsoft.com/office/drawing/2014/main" id="{2C02BA8B-7073-46C0-A0B3-F9EED9E66AD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Production operations</a:t>
            </a:r>
          </a:p>
        </p:txBody>
      </p:sp>
      <p:sp>
        <p:nvSpPr>
          <p:cNvPr id="357" name="header-divider">
            <a:extLst xmlns:a="http://schemas.openxmlformats.org/drawingml/2006/main">
              <a:ext uri="{FF2B5EF4-FFF2-40B4-BE49-F238E27FC236}">
                <a16:creationId xmlns:a16="http://schemas.microsoft.com/office/drawing/2014/main" id="{1EAAC3C1-C315-4414-BFCF-29922B91659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58" name="36-text-1">
            <a:extLst xmlns:a="http://schemas.openxmlformats.org/drawingml/2006/main">
              <a:ext uri="{FF2B5EF4-FFF2-40B4-BE49-F238E27FC236}">
                <a16:creationId xmlns:a16="http://schemas.microsoft.com/office/drawing/2014/main" id="{9792C235-58C6-4736-A825-E17BA7E6C33A}"/>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What it is</a:t>
            </a:r>
          </a:p>
        </p:txBody>
      </p:sp>
      <p:sp>
        <p:nvSpPr>
          <p:cNvPr id="359" name="36-text-2">
            <a:extLst xmlns:a="http://schemas.openxmlformats.org/drawingml/2006/main">
              <a:ext uri="{FF2B5EF4-FFF2-40B4-BE49-F238E27FC236}">
                <a16:creationId xmlns:a16="http://schemas.microsoft.com/office/drawing/2014/main" id="{9A3B5B16-E3CA-4E47-9FFC-69C18D6F2797}"/>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Keep the deployed system observable, controlled, and accountable.</a:t>
            </a:r>
          </a:p>
        </p:txBody>
      </p:sp>
      <p:sp>
        <p:nvSpPr>
          <p:cNvPr id="360" name="36-text-3">
            <a:extLst xmlns:a="http://schemas.openxmlformats.org/drawingml/2006/main">
              <a:ext uri="{FF2B5EF4-FFF2-40B4-BE49-F238E27FC236}">
                <a16:creationId xmlns:a16="http://schemas.microsoft.com/office/drawing/2014/main" id="{081B4C51-7E7F-464C-9F04-E0456C1FF394}"/>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Why it matters</a:t>
            </a:r>
          </a:p>
        </p:txBody>
      </p:sp>
      <p:sp>
        <p:nvSpPr>
          <p:cNvPr id="361" name="36-text-4">
            <a:extLst xmlns:a="http://schemas.openxmlformats.org/drawingml/2006/main">
              <a:ext uri="{FF2B5EF4-FFF2-40B4-BE49-F238E27FC236}">
                <a16:creationId xmlns:a16="http://schemas.microsoft.com/office/drawing/2014/main" id="{85FA5BE3-5C56-4136-9806-90F11CDBF442}"/>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Behavior, access, cost, and latency change over time.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Failures need an accountable response.</a:t>
            </a:r>
          </a:p>
        </p:txBody>
      </p:sp>
      <p:sp>
        <p:nvSpPr>
          <p:cNvPr id="362" name="narrative-number">
            <a:extLst xmlns:a="http://schemas.openxmlformats.org/drawingml/2006/main">
              <a:ext uri="{FF2B5EF4-FFF2-40B4-BE49-F238E27FC236}">
                <a16:creationId xmlns:a16="http://schemas.microsoft.com/office/drawing/2014/main" id="{739DC849-5922-4699-B3E8-6DDA9D3A2BC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36</a:t>
            </a:r>
          </a:p>
        </p:txBody>
      </p:sp>
    </p:spTree>
    <p:extLst>
      <p:ext uri="{BB962C8B-B14F-4D97-AF65-F5344CB8AC3E}">
        <p14:creationId xmlns:p14="http://schemas.microsoft.com/office/powerpoint/2010/main" val="3002835199"/>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63" name="!!area-name">
            <a:extLst xmlns:a="http://schemas.openxmlformats.org/drawingml/2006/main">
              <a:ext uri="{FF2B5EF4-FFF2-40B4-BE49-F238E27FC236}">
                <a16:creationId xmlns:a16="http://schemas.microsoft.com/office/drawing/2014/main" id="{9082AF0A-A86B-4F85-91E2-B240F2FAEC2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Production operations</a:t>
            </a:r>
            <a:r>
              <a:rPr b="0">
                <a:solidFill>
                  <a:srgbClr val="ADACA9"/>
                </a:solidFill>
                <a:latin typeface="Helvetica"/>
                <a:ea typeface="Helvetica"/>
                <a:cs typeface="Helvetica"/>
              </a:rPr>
              <a:t> · Decisions</a:t>
            </a:r>
          </a:p>
        </p:txBody>
      </p:sp>
      <p:pic>
        <p:nvPicPr>
          <p:cNvPr id="377" name="mini-map"/>
          <p:cNvPicPr>
            <a:picLocks xmlns:a="http://schemas.openxmlformats.org/drawingml/2006/main" noChangeAspect="1"/>
          </p:cNvPicPr>
          <p:nvPr/>
        </p:nvPicPr>
        <p:blipFill>
          <a:blip xmlns:r="http://schemas.openxmlformats.org/officeDocument/2006/relationships" xmlns:a="http://schemas.openxmlformats.org/drawingml/2006/main" r:embed="Rd73ae7e16014422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65" name="slide-title">
            <a:extLst xmlns:a="http://schemas.openxmlformats.org/drawingml/2006/main">
              <a:ext uri="{FF2B5EF4-FFF2-40B4-BE49-F238E27FC236}">
                <a16:creationId xmlns:a16="http://schemas.microsoft.com/office/drawing/2014/main" id="{DACEE7C7-FEB6-407E-90D2-F3432B03057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Production decisions</a:t>
            </a:r>
          </a:p>
        </p:txBody>
      </p:sp>
      <p:sp>
        <p:nvSpPr>
          <p:cNvPr id="366" name="header-divider">
            <a:extLst xmlns:a="http://schemas.openxmlformats.org/drawingml/2006/main">
              <a:ext uri="{FF2B5EF4-FFF2-40B4-BE49-F238E27FC236}">
                <a16:creationId xmlns:a16="http://schemas.microsoft.com/office/drawing/2014/main" id="{DCAB3264-6763-40F2-927E-33F546BD69A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7" name="37-text-1">
            <a:extLst xmlns:a="http://schemas.openxmlformats.org/drawingml/2006/main">
              <a:ext uri="{FF2B5EF4-FFF2-40B4-BE49-F238E27FC236}">
                <a16:creationId xmlns:a16="http://schemas.microsoft.com/office/drawing/2014/main" id="{3814BD11-537F-4E00-8183-3BD5A438C0CC}"/>
              </a:ext>
            </a:extLst>
          </p:cNvPr>
          <p:cNvSpPr>
            <a:spLocks xmlns:a="http://schemas.openxmlformats.org/drawingml/2006/main"/>
          </p:cNvSpPr>
          <p:nvPr/>
        </p:nvSpPr>
        <p:spPr>
          <a:xfrm xmlns:a="http://schemas.openxmlformats.org/drawingml/2006/main">
            <a:off x="609600" y="24384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Authority</a:t>
            </a:r>
          </a:p>
        </p:txBody>
      </p:sp>
      <p:sp>
        <p:nvSpPr>
          <p:cNvPr id="368" name="37-text-2">
            <a:extLst xmlns:a="http://schemas.openxmlformats.org/drawingml/2006/main">
              <a:ext uri="{FF2B5EF4-FFF2-40B4-BE49-F238E27FC236}">
                <a16:creationId xmlns:a16="http://schemas.microsoft.com/office/drawing/2014/main" id="{654526E2-8544-43B1-9D84-2A00F2701327}"/>
              </a:ext>
            </a:extLst>
          </p:cNvPr>
          <p:cNvSpPr>
            <a:spLocks xmlns:a="http://schemas.openxmlformats.org/drawingml/2006/main"/>
          </p:cNvSpPr>
          <p:nvPr/>
        </p:nvSpPr>
        <p:spPr>
          <a:xfrm xmlns:a="http://schemas.openxmlformats.org/drawingml/2006/main">
            <a:off x="4368800" y="24384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identity, scope, and permitted destinations.</a:t>
            </a:r>
          </a:p>
        </p:txBody>
      </p:sp>
      <p:sp>
        <p:nvSpPr>
          <p:cNvPr id="369" name="37-text-3">
            <a:extLst xmlns:a="http://schemas.openxmlformats.org/drawingml/2006/main">
              <a:ext uri="{FF2B5EF4-FFF2-40B4-BE49-F238E27FC236}">
                <a16:creationId xmlns:a16="http://schemas.microsoft.com/office/drawing/2014/main" id="{82A63AE0-B0AA-4AB8-81DC-3259056BEBB4}"/>
              </a:ext>
            </a:extLst>
          </p:cNvPr>
          <p:cNvSpPr>
            <a:spLocks xmlns:a="http://schemas.openxmlformats.org/drawingml/2006/main"/>
          </p:cNvSpPr>
          <p:nvPr/>
        </p:nvSpPr>
        <p:spPr>
          <a:xfrm xmlns:a="http://schemas.openxmlformats.org/drawingml/2006/main">
            <a:off x="609600" y="33528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Observation</a:t>
            </a:r>
          </a:p>
        </p:txBody>
      </p:sp>
      <p:sp>
        <p:nvSpPr>
          <p:cNvPr id="370" name="37-text-4">
            <a:extLst xmlns:a="http://schemas.openxmlformats.org/drawingml/2006/main">
              <a:ext uri="{FF2B5EF4-FFF2-40B4-BE49-F238E27FC236}">
                <a16:creationId xmlns:a16="http://schemas.microsoft.com/office/drawing/2014/main" id="{F4FD0C15-8524-4A34-88C4-DE98321D627F}"/>
              </a:ext>
            </a:extLst>
          </p:cNvPr>
          <p:cNvSpPr>
            <a:spLocks xmlns:a="http://schemas.openxmlformats.org/drawingml/2006/main"/>
          </p:cNvSpPr>
          <p:nvPr/>
        </p:nvSpPr>
        <p:spPr>
          <a:xfrm xmlns:a="http://schemas.openxmlformats.org/drawingml/2006/main">
            <a:off x="4368800" y="33528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Connect evidence to outcomes, quality, cost, and latency.</a:t>
            </a:r>
          </a:p>
        </p:txBody>
      </p:sp>
      <p:sp>
        <p:nvSpPr>
          <p:cNvPr id="371" name="37-text-5">
            <a:extLst xmlns:a="http://schemas.openxmlformats.org/drawingml/2006/main">
              <a:ext uri="{FF2B5EF4-FFF2-40B4-BE49-F238E27FC236}">
                <a16:creationId xmlns:a16="http://schemas.microsoft.com/office/drawing/2014/main" id="{4A23C922-A42D-48A6-A745-2275ABD95047}"/>
              </a:ext>
            </a:extLst>
          </p:cNvPr>
          <p:cNvSpPr>
            <a:spLocks xmlns:a="http://schemas.openxmlformats.org/drawingml/2006/main"/>
          </p:cNvSpPr>
          <p:nvPr/>
        </p:nvSpPr>
        <p:spPr>
          <a:xfrm xmlns:a="http://schemas.openxmlformats.org/drawingml/2006/main">
            <a:off x="609600" y="42672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Limits and handoff</a:t>
            </a:r>
          </a:p>
        </p:txBody>
      </p:sp>
      <p:sp>
        <p:nvSpPr>
          <p:cNvPr id="372" name="37-text-6">
            <a:extLst xmlns:a="http://schemas.openxmlformats.org/drawingml/2006/main">
              <a:ext uri="{FF2B5EF4-FFF2-40B4-BE49-F238E27FC236}">
                <a16:creationId xmlns:a16="http://schemas.microsoft.com/office/drawing/2014/main" id="{A97521ED-9EA9-4DA0-8C3B-07C876374B76}"/>
              </a:ext>
            </a:extLst>
          </p:cNvPr>
          <p:cNvSpPr>
            <a:spLocks xmlns:a="http://schemas.openxmlformats.org/drawingml/2006/main"/>
          </p:cNvSpPr>
          <p:nvPr/>
        </p:nvSpPr>
        <p:spPr>
          <a:xfrm xmlns:a="http://schemas.openxmlformats.org/drawingml/2006/main">
            <a:off x="4368800" y="42672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Set the policy and assign the authorized responder.</a:t>
            </a:r>
          </a:p>
        </p:txBody>
      </p:sp>
      <p:sp>
        <p:nvSpPr>
          <p:cNvPr id="373" name="37-text-7">
            <a:extLst xmlns:a="http://schemas.openxmlformats.org/drawingml/2006/main">
              <a:ext uri="{FF2B5EF4-FFF2-40B4-BE49-F238E27FC236}">
                <a16:creationId xmlns:a16="http://schemas.microsoft.com/office/drawing/2014/main" id="{7E321371-BD24-4622-BB93-EFB546435AD4}"/>
              </a:ext>
            </a:extLst>
          </p:cNvPr>
          <p:cNvSpPr>
            <a:spLocks xmlns:a="http://schemas.openxmlformats.org/drawingml/2006/main"/>
          </p:cNvSpPr>
          <p:nvPr/>
        </p:nvSpPr>
        <p:spPr>
          <a:xfrm xmlns:a="http://schemas.openxmlformats.org/drawingml/2006/main">
            <a:off x="609600" y="51816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Changes and incidents</a:t>
            </a:r>
          </a:p>
        </p:txBody>
      </p:sp>
      <p:sp>
        <p:nvSpPr>
          <p:cNvPr id="374" name="37-text-8">
            <a:extLst xmlns:a="http://schemas.openxmlformats.org/drawingml/2006/main">
              <a:ext uri="{FF2B5EF4-FFF2-40B4-BE49-F238E27FC236}">
                <a16:creationId xmlns:a16="http://schemas.microsoft.com/office/drawing/2014/main" id="{770B8356-CEAA-467D-93D3-EBFFFB513318}"/>
              </a:ext>
            </a:extLst>
          </p:cNvPr>
          <p:cNvSpPr>
            <a:spLocks xmlns:a="http://schemas.openxmlformats.org/drawingml/2006/main"/>
          </p:cNvSpPr>
          <p:nvPr/>
        </p:nvSpPr>
        <p:spPr>
          <a:xfrm xmlns:a="http://schemas.openxmlformats.org/drawingml/2006/main">
            <a:off x="4368800" y="51816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changes. Keep a way to restrict or revert configuration.</a:t>
            </a:r>
          </a:p>
        </p:txBody>
      </p:sp>
      <p:sp>
        <p:nvSpPr>
          <p:cNvPr id="375" name="narrative-number">
            <a:extLst xmlns:a="http://schemas.openxmlformats.org/drawingml/2006/main">
              <a:ext uri="{FF2B5EF4-FFF2-40B4-BE49-F238E27FC236}">
                <a16:creationId xmlns:a16="http://schemas.microsoft.com/office/drawing/2014/main" id="{57B7704A-D233-4E6F-980B-F9457E3723E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37</a:t>
            </a:r>
          </a:p>
        </p:txBody>
      </p:sp>
    </p:spTree>
    <p:extLst>
      <p:ext uri="{BB962C8B-B14F-4D97-AF65-F5344CB8AC3E}">
        <p14:creationId xmlns:p14="http://schemas.microsoft.com/office/powerpoint/2010/main" val="2970642995"/>
      </p:ext>
    </p:extLst>
  </p:cSld>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76" name="!!area-name">
            <a:extLst xmlns:a="http://schemas.openxmlformats.org/drawingml/2006/main">
              <a:ext uri="{FF2B5EF4-FFF2-40B4-BE49-F238E27FC236}">
                <a16:creationId xmlns:a16="http://schemas.microsoft.com/office/drawing/2014/main" id="{9AD79D55-445B-4388-97DF-0D355B0535F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Production operations</a:t>
            </a:r>
            <a:r>
              <a:rPr b="0">
                <a:solidFill>
                  <a:srgbClr val="ADACA9"/>
                </a:solidFill>
                <a:latin typeface="Helvetica"/>
                <a:ea typeface="Helvetica"/>
                <a:cs typeface="Helvetica"/>
              </a:rPr>
              <a:t> · Challenges and pitfalls</a:t>
            </a:r>
          </a:p>
        </p:txBody>
      </p:sp>
      <p:pic>
        <p:nvPicPr>
          <p:cNvPr id="391" name="mini-map"/>
          <p:cNvPicPr>
            <a:picLocks xmlns:a="http://schemas.openxmlformats.org/drawingml/2006/main" noChangeAspect="1"/>
          </p:cNvPicPr>
          <p:nvPr/>
        </p:nvPicPr>
        <p:blipFill>
          <a:blip xmlns:r="http://schemas.openxmlformats.org/officeDocument/2006/relationships" xmlns:a="http://schemas.openxmlformats.org/drawingml/2006/main" r:embed="R265acabedd3547e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78" name="slide-title">
            <a:extLst xmlns:a="http://schemas.openxmlformats.org/drawingml/2006/main">
              <a:ext uri="{FF2B5EF4-FFF2-40B4-BE49-F238E27FC236}">
                <a16:creationId xmlns:a16="http://schemas.microsoft.com/office/drawing/2014/main" id="{EF9A797D-EA7D-4CD8-9BF3-2B3D7559D36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Risks across integrations</a:t>
            </a:r>
          </a:p>
        </p:txBody>
      </p:sp>
      <p:sp>
        <p:nvSpPr>
          <p:cNvPr id="379" name="header-divider">
            <a:extLst xmlns:a="http://schemas.openxmlformats.org/drawingml/2006/main">
              <a:ext uri="{FF2B5EF4-FFF2-40B4-BE49-F238E27FC236}">
                <a16:creationId xmlns:a16="http://schemas.microsoft.com/office/drawing/2014/main" id="{CC514F49-F79C-4032-8986-CBE691DFF21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80" name="38-text-1">
            <a:extLst xmlns:a="http://schemas.openxmlformats.org/drawingml/2006/main">
              <a:ext uri="{FF2B5EF4-FFF2-40B4-BE49-F238E27FC236}">
                <a16:creationId xmlns:a16="http://schemas.microsoft.com/office/drawing/2014/main" id="{439073FC-ACA5-44E9-996D-2F85D04714A7}"/>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Private data</a:t>
            </a:r>
          </a:p>
        </p:txBody>
      </p:sp>
      <p:sp>
        <p:nvSpPr>
          <p:cNvPr id="381" name="38-text-2">
            <a:extLst xmlns:a="http://schemas.openxmlformats.org/drawingml/2006/main">
              <a:ext uri="{FF2B5EF4-FFF2-40B4-BE49-F238E27FC236}">
                <a16:creationId xmlns:a16="http://schemas.microsoft.com/office/drawing/2014/main" id="{EA8CF489-1297-403A-9BD1-6490D073AA0D}"/>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Information the system can access.</a:t>
            </a:r>
          </a:p>
        </p:txBody>
      </p:sp>
      <p:sp>
        <p:nvSpPr>
          <p:cNvPr id="382" name="38-text-3">
            <a:extLst xmlns:a="http://schemas.openxmlformats.org/drawingml/2006/main">
              <a:ext uri="{FF2B5EF4-FFF2-40B4-BE49-F238E27FC236}">
                <a16:creationId xmlns:a16="http://schemas.microsoft.com/office/drawing/2014/main" id="{B6581ED7-F66B-4F4B-89E7-7800F37314F6}"/>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Untrusted content</a:t>
            </a:r>
          </a:p>
        </p:txBody>
      </p:sp>
      <p:sp>
        <p:nvSpPr>
          <p:cNvPr id="383" name="38-text-4">
            <a:extLst xmlns:a="http://schemas.openxmlformats.org/drawingml/2006/main">
              <a:ext uri="{FF2B5EF4-FFF2-40B4-BE49-F238E27FC236}">
                <a16:creationId xmlns:a16="http://schemas.microsoft.com/office/drawing/2014/main" id="{9D531C07-035B-49FF-A7BE-3E7E2C7189AC}"/>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can arrive inside documents.</a:t>
            </a:r>
          </a:p>
        </p:txBody>
      </p:sp>
      <p:sp>
        <p:nvSpPr>
          <p:cNvPr id="384" name="38-text-5">
            <a:extLst xmlns:a="http://schemas.openxmlformats.org/drawingml/2006/main">
              <a:ext uri="{FF2B5EF4-FFF2-40B4-BE49-F238E27FC236}">
                <a16:creationId xmlns:a16="http://schemas.microsoft.com/office/drawing/2014/main" id="{A120B6B4-95AF-4FFA-8FF1-3D96924DE89E}"/>
              </a:ext>
            </a:extLst>
          </p:cNvPr>
          <p:cNvSpPr>
            <a:spLocks xmlns:a="http://schemas.openxmlformats.org/drawingml/2006/main"/>
          </p:cNvSpPr>
          <p:nvPr/>
        </p:nvSpPr>
        <p:spPr>
          <a:xfrm xmlns:a="http://schemas.openxmlformats.org/drawingml/2006/main">
            <a:off x="609600" y="40132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External communication</a:t>
            </a:r>
          </a:p>
        </p:txBody>
      </p:sp>
      <p:sp>
        <p:nvSpPr>
          <p:cNvPr id="385" name="38-text-6">
            <a:extLst xmlns:a="http://schemas.openxmlformats.org/drawingml/2006/main">
              <a:ext uri="{FF2B5EF4-FFF2-40B4-BE49-F238E27FC236}">
                <a16:creationId xmlns:a16="http://schemas.microsoft.com/office/drawing/2014/main" id="{47E5952F-E6FE-4704-B788-DC28C96489E7}"/>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Outbound actions can carry information.</a:t>
            </a:r>
          </a:p>
        </p:txBody>
      </p:sp>
      <p:sp>
        <p:nvSpPr>
          <p:cNvPr id="386" name="38-text-7">
            <a:extLst xmlns:a="http://schemas.openxmlformats.org/drawingml/2006/main">
              <a:ext uri="{FF2B5EF4-FFF2-40B4-BE49-F238E27FC236}">
                <a16:creationId xmlns:a16="http://schemas.microsoft.com/office/drawing/2014/main" id="{FE384BAF-F3D9-44B5-9DBE-338DCE18DC69}"/>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probabilistic filter is insufficient as the sole security boundary.</a:t>
            </a:r>
          </a:p>
        </p:txBody>
      </p:sp>
      <p:sp>
        <p:nvSpPr>
          <p:cNvPr id="387" name="38-text-8">
            <a:extLst xmlns:a="http://schemas.openxmlformats.org/drawingml/2006/main">
              <a:ext uri="{FF2B5EF4-FFF2-40B4-BE49-F238E27FC236}">
                <a16:creationId xmlns:a16="http://schemas.microsoft.com/office/drawing/2014/main" id="{AEF2A350-05AC-4362-98C5-AB1B96953551}"/>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Pitfall</a:t>
            </a:r>
          </a:p>
        </p:txBody>
      </p:sp>
      <p:sp>
        <p:nvSpPr>
          <p:cNvPr id="388" name="38-text-9">
            <a:extLst xmlns:a="http://schemas.openxmlformats.org/drawingml/2006/main">
              <a:ext uri="{FF2B5EF4-FFF2-40B4-BE49-F238E27FC236}">
                <a16:creationId xmlns:a16="http://schemas.microsoft.com/office/drawing/2014/main" id="{AD6EF82B-5D36-4C0D-8240-3DC6AEFF9E0C}"/>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the lethal trifecta, assembled one integration at a time.</a:t>
            </a:r>
          </a:p>
        </p:txBody>
      </p:sp>
      <p:sp>
        <p:nvSpPr>
          <p:cNvPr id="389" name="narrative-number">
            <a:extLst xmlns:a="http://schemas.openxmlformats.org/drawingml/2006/main">
              <a:ext uri="{FF2B5EF4-FFF2-40B4-BE49-F238E27FC236}">
                <a16:creationId xmlns:a16="http://schemas.microsoft.com/office/drawing/2014/main" id="{8B455A13-488A-4F5A-9567-4D56C2EB152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38</a:t>
            </a:r>
          </a:p>
        </p:txBody>
      </p:sp>
    </p:spTree>
    <p:extLst>
      <p:ext uri="{BB962C8B-B14F-4D97-AF65-F5344CB8AC3E}">
        <p14:creationId xmlns:p14="http://schemas.microsoft.com/office/powerpoint/2010/main" val="132879159"/>
      </p:ext>
    </p:extLst>
  </p:cSld>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0" name="!!area-name">
            <a:extLst xmlns:a="http://schemas.openxmlformats.org/drawingml/2006/main">
              <a:ext uri="{FF2B5EF4-FFF2-40B4-BE49-F238E27FC236}">
                <a16:creationId xmlns:a16="http://schemas.microsoft.com/office/drawing/2014/main" id="{C80B4136-D5DB-488F-B06E-C5B2D8FA218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Production operations</a:t>
            </a:r>
            <a:r>
              <a:rPr b="0">
                <a:solidFill>
                  <a:srgbClr val="ADACA9"/>
                </a:solidFill>
                <a:latin typeface="Helvetica"/>
                <a:ea typeface="Helvetica"/>
                <a:cs typeface="Helvetica"/>
              </a:rPr>
              <a:t> · FRB application</a:t>
            </a:r>
          </a:p>
        </p:txBody>
      </p:sp>
      <p:pic>
        <p:nvPicPr>
          <p:cNvPr id="398" name="mini-map"/>
          <p:cNvPicPr>
            <a:picLocks xmlns:a="http://schemas.openxmlformats.org/drawingml/2006/main" noChangeAspect="1"/>
          </p:cNvPicPr>
          <p:nvPr/>
        </p:nvPicPr>
        <p:blipFill>
          <a:blip xmlns:r="http://schemas.openxmlformats.org/officeDocument/2006/relationships" xmlns:a="http://schemas.openxmlformats.org/drawingml/2006/main" r:embed="Rf94de4177ea547f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2" name="slide-title">
            <a:extLst xmlns:a="http://schemas.openxmlformats.org/drawingml/2006/main">
              <a:ext uri="{FF2B5EF4-FFF2-40B4-BE49-F238E27FC236}">
                <a16:creationId xmlns:a16="http://schemas.microsoft.com/office/drawing/2014/main" id="{61EBADF1-3B2C-40A0-A572-89D2423EA49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FRB operating agreement</a:t>
            </a:r>
          </a:p>
        </p:txBody>
      </p:sp>
      <p:sp>
        <p:nvSpPr>
          <p:cNvPr id="393" name="header-divider">
            <a:extLst xmlns:a="http://schemas.openxmlformats.org/drawingml/2006/main">
              <a:ext uri="{FF2B5EF4-FFF2-40B4-BE49-F238E27FC236}">
                <a16:creationId xmlns:a16="http://schemas.microsoft.com/office/drawing/2014/main" id="{E36387B7-D969-4B2C-916E-E24EE448AF2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4" name="39-text-1">
            <a:extLst xmlns:a="http://schemas.openxmlformats.org/drawingml/2006/main">
              <a:ext uri="{FF2B5EF4-FFF2-40B4-BE49-F238E27FC236}">
                <a16:creationId xmlns:a16="http://schemas.microsoft.com/office/drawing/2014/main" id="{5670A519-9CE3-4F20-9E93-E3D52F0D7A0D}"/>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operating agreement.</a:t>
            </a:r>
          </a:p>
        </p:txBody>
      </p:sp>
      <p:graphicFrame>
        <p:nvGraphicFramePr>
          <p:cNvPr id="402" name="39-table-2"/>
          <p:cNvGraphicFramePr/>
          <p:nvPr/>
        </p:nvGraphicFramePr>
        <p:xfrm>
          <a:off xmlns:a="http://schemas.openxmlformats.org/drawingml/2006/main" x="609600" y="2895600"/>
          <a:ext xmlns:a="http://schemas.openxmlformats.org/drawingml/2006/main" cx="10972800" cy="30988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FDAD00"/>
                          </a:solidFill>
                          <a:latin typeface="Helvetica"/>
                          <a:ea typeface="Helvetica"/>
                          <a:cs typeface="Helvetica"/>
                        </a:rPr>
                        <a:t>Responsibility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DAD00"/>
                          </a:solidFill>
                          <a:latin typeface="Helvetica"/>
                          <a:ea typeface="Helvetica"/>
                          <a:cs typeface="Helvetica"/>
                        </a:rPr>
                        <a:t>FRB rule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Approved scope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Records, services, destinations, traces, and eval artifacts.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Evidence and signals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Revisions, checks, export state.</a:t>
                      </a:r>
                    </a:p>
                    <a:p>
                      <a:pPr>
                        <a:lnSpc>
                          <a:spcPct val="125000"/>
                        </a:lnSpc>
                        <a:buNone/>
                      </a:pPr>
                      <a:r>
                        <a:rPr sz="2000" b="0">
                          <a:solidFill>
                            <a:srgbClr val="FFFCF5"/>
                          </a:solidFill>
                          <a:latin typeface="Helvetica"/>
                          <a:ea typeface="Helvetica"/>
                          <a:cs typeface="Helvetica"/>
                        </a:rPr>
                        <a:t>Quality, freshness, cost,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limits. An assigned, authorized responder.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Accountability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Review changes. People own official findings and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396" name="narrative-number">
            <a:extLst xmlns:a="http://schemas.openxmlformats.org/drawingml/2006/main">
              <a:ext uri="{FF2B5EF4-FFF2-40B4-BE49-F238E27FC236}">
                <a16:creationId xmlns:a16="http://schemas.microsoft.com/office/drawing/2014/main" id="{BF7CE24A-9677-419F-A4DE-F17E7567B88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39</a:t>
            </a:r>
          </a:p>
        </p:txBody>
      </p:sp>
    </p:spTree>
    <p:extLst>
      <p:ext uri="{BB962C8B-B14F-4D97-AF65-F5344CB8AC3E}">
        <p14:creationId xmlns:p14="http://schemas.microsoft.com/office/powerpoint/2010/main" val="2060067032"/>
      </p:ext>
    </p:extLst>
  </p:cSld>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399" name="40-image-1"/>
          <p:cNvPicPr>
            <a:picLocks xmlns:a="http://schemas.openxmlformats.org/drawingml/2006/main" noChangeAspect="1"/>
          </p:cNvPicPr>
          <p:nvPr/>
        </p:nvPicPr>
        <p:blipFill>
          <a:blip xmlns:r="http://schemas.openxmlformats.org/officeDocument/2006/relationships" xmlns:a="http://schemas.openxmlformats.org/drawingml/2006/main" r:embed="R81b52c132bb04a7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398" name="narrative-number">
            <a:extLst xmlns:a="http://schemas.openxmlformats.org/drawingml/2006/main">
              <a:ext uri="{FF2B5EF4-FFF2-40B4-BE49-F238E27FC236}">
                <a16:creationId xmlns:a16="http://schemas.microsoft.com/office/drawing/2014/main" id="{D33F0CD5-3A1B-4DE8-92CB-CE149987FD5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40</a:t>
            </a:r>
          </a:p>
        </p:txBody>
      </p:sp>
    </p:spTree>
    <p:extLst>
      <p:ext uri="{BB962C8B-B14F-4D97-AF65-F5344CB8AC3E}">
        <p14:creationId xmlns:p14="http://schemas.microsoft.com/office/powerpoint/2010/main" val="376209926"/>
      </p:ext>
    </p:extLst>
  </p:cSld>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9" name="section-label">
            <a:extLst xmlns:a="http://schemas.openxmlformats.org/drawingml/2006/main">
              <a:ext uri="{FF2B5EF4-FFF2-40B4-BE49-F238E27FC236}">
                <a16:creationId xmlns:a16="http://schemas.microsoft.com/office/drawing/2014/main" id="{E9CBEF38-0844-4508-8916-9E288B9EEE54}"/>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400" name="section-rule">
            <a:extLst xmlns:a="http://schemas.openxmlformats.org/drawingml/2006/main">
              <a:ext uri="{FF2B5EF4-FFF2-40B4-BE49-F238E27FC236}">
                <a16:creationId xmlns:a16="http://schemas.microsoft.com/office/drawing/2014/main" id="{F374D204-9474-44D4-9525-39A474CCAEC2}"/>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1" name="section-title">
            <a:extLst xmlns:a="http://schemas.openxmlformats.org/drawingml/2006/main">
              <a:ext uri="{FF2B5EF4-FFF2-40B4-BE49-F238E27FC236}">
                <a16:creationId xmlns:a16="http://schemas.microsoft.com/office/drawing/2014/main" id="{28B7EA9C-156B-48C9-BC2F-FECC4AE0012E}"/>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402" name="narrative-number">
            <a:extLst xmlns:a="http://schemas.openxmlformats.org/drawingml/2006/main">
              <a:ext uri="{FF2B5EF4-FFF2-40B4-BE49-F238E27FC236}">
                <a16:creationId xmlns:a16="http://schemas.microsoft.com/office/drawing/2014/main" id="{61D52D83-2F43-4739-8C7E-1FA978E9566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41</a:t>
            </a:r>
          </a:p>
        </p:txBody>
      </p:sp>
    </p:spTree>
    <p:extLst>
      <p:ext uri="{BB962C8B-B14F-4D97-AF65-F5344CB8AC3E}">
        <p14:creationId xmlns:p14="http://schemas.microsoft.com/office/powerpoint/2010/main" val="2034527063"/>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3" name="!!area-name">
            <a:extLst xmlns:a="http://schemas.openxmlformats.org/drawingml/2006/main">
              <a:ext uri="{FF2B5EF4-FFF2-40B4-BE49-F238E27FC236}">
                <a16:creationId xmlns:a16="http://schemas.microsoft.com/office/drawing/2014/main" id="{E725A8F1-014E-4E75-990A-00F4E81D32B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410" name="mini-map"/>
          <p:cNvPicPr>
            <a:picLocks xmlns:a="http://schemas.openxmlformats.org/drawingml/2006/main" noChangeAspect="1"/>
          </p:cNvPicPr>
          <p:nvPr/>
        </p:nvPicPr>
        <p:blipFill>
          <a:blip xmlns:r="http://schemas.openxmlformats.org/officeDocument/2006/relationships" xmlns:a="http://schemas.openxmlformats.org/drawingml/2006/main" r:embed="R2d9cd49b0acd4f7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05" name="slide-title">
            <a:extLst xmlns:a="http://schemas.openxmlformats.org/drawingml/2006/main">
              <a:ext uri="{FF2B5EF4-FFF2-40B4-BE49-F238E27FC236}">
                <a16:creationId xmlns:a16="http://schemas.microsoft.com/office/drawing/2014/main" id="{E0109D84-BEFB-401B-B78A-2BBEA2240AE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406" name="header-divider">
            <a:extLst xmlns:a="http://schemas.openxmlformats.org/drawingml/2006/main">
              <a:ext uri="{FF2B5EF4-FFF2-40B4-BE49-F238E27FC236}">
                <a16:creationId xmlns:a16="http://schemas.microsoft.com/office/drawing/2014/main" id="{D027F013-DAD0-421D-857A-1914876C568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13" name="42-table-1"/>
          <p:cNvGraphicFramePr/>
          <p:nvPr/>
        </p:nvGraphicFramePr>
        <p:xfrm>
          <a:off xmlns:a="http://schemas.openxmlformats.org/drawingml/2006/main" x="609600" y="2438400"/>
          <a:ext xmlns:a="http://schemas.openxmlformats.org/drawingml/2006/main" cx="10972800" cy="34544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01B66D"/>
                          </a:solidFill>
                          <a:latin typeface="Helvetica"/>
                          <a:ea typeface="Helvetica"/>
                          <a:cs typeface="Helvetica"/>
                        </a:rPr>
                        <a:t>You already do this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It becomes this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Harness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Tool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Eval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The same, with a new schema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Least privilege for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Operations: cost, latency,</a:t>
                      </a:r>
                    </a:p>
                    <a:p>
                      <a:pPr>
                        <a:lnSpc>
                          <a:spcPct val="125000"/>
                        </a:lnSpc>
                        <a:buNone/>
                      </a:pPr>
                      <a:r>
                        <a:rPr sz="2000" b="0">
                          <a:solidFill>
                            <a:srgbClr val="FFFCF5"/>
                          </a:solidFill>
                          <a:latin typeface="Helvetica"/>
                          <a:ea typeface="Helvetica"/>
                          <a:cs typeface="Helvetica"/>
                        </a:rPr>
                        <a:t>incidents, rollback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The same, in tokens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08" name="narrative-number">
            <a:extLst xmlns:a="http://schemas.openxmlformats.org/drawingml/2006/main">
              <a:ext uri="{FF2B5EF4-FFF2-40B4-BE49-F238E27FC236}">
                <a16:creationId xmlns:a16="http://schemas.microsoft.com/office/drawing/2014/main" id="{2EB3AAC2-0F26-4C75-A2BB-B66BD761BE7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42</a:t>
            </a:r>
          </a:p>
        </p:txBody>
      </p:sp>
    </p:spTree>
    <p:extLst>
      <p:ext uri="{BB962C8B-B14F-4D97-AF65-F5344CB8AC3E}">
        <p14:creationId xmlns:p14="http://schemas.microsoft.com/office/powerpoint/2010/main" val="3374000416"/>
      </p:ext>
    </p:extLst>
  </p:cSld>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9" name="!!area-name">
            <a:extLst xmlns:a="http://schemas.openxmlformats.org/drawingml/2006/main">
              <a:ext uri="{FF2B5EF4-FFF2-40B4-BE49-F238E27FC236}">
                <a16:creationId xmlns:a16="http://schemas.microsoft.com/office/drawing/2014/main" id="{5D2E0AA1-B439-48CA-88FD-908A11ACF9A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418" name="mini-map"/>
          <p:cNvPicPr>
            <a:picLocks xmlns:a="http://schemas.openxmlformats.org/drawingml/2006/main" noChangeAspect="1"/>
          </p:cNvPicPr>
          <p:nvPr/>
        </p:nvPicPr>
        <p:blipFill>
          <a:blip xmlns:r="http://schemas.openxmlformats.org/officeDocument/2006/relationships" xmlns:a="http://schemas.openxmlformats.org/drawingml/2006/main" r:embed="R624a881630d44dc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11" name="slide-title">
            <a:extLst xmlns:a="http://schemas.openxmlformats.org/drawingml/2006/main">
              <a:ext uri="{FF2B5EF4-FFF2-40B4-BE49-F238E27FC236}">
                <a16:creationId xmlns:a16="http://schemas.microsoft.com/office/drawing/2014/main" id="{9EB69261-E6C3-4E7C-BD9A-202BC109B67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412" name="header-divider">
            <a:extLst xmlns:a="http://schemas.openxmlformats.org/drawingml/2006/main">
              <a:ext uri="{FF2B5EF4-FFF2-40B4-BE49-F238E27FC236}">
                <a16:creationId xmlns:a16="http://schemas.microsoft.com/office/drawing/2014/main" id="{47BF0625-DE03-4F8F-9618-2DA29D02E81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13" name="42-text-2">
            <a:extLst xmlns:a="http://schemas.openxmlformats.org/drawingml/2006/main">
              <a:ext uri="{FF2B5EF4-FFF2-40B4-BE49-F238E27FC236}">
                <a16:creationId xmlns:a16="http://schemas.microsoft.com/office/drawing/2014/main" id="{3860ECB1-7819-4699-B0BF-7969C364724A}"/>
              </a:ext>
            </a:extLst>
          </p:cNvPr>
          <p:cNvSpPr>
            <a:spLocks xmlns:a="http://schemas.openxmlformats.org/drawingml/2006/main"/>
          </p:cNvSpPr>
          <p:nvPr/>
        </p:nvSpPr>
        <p:spPr>
          <a:xfrm xmlns:a="http://schemas.openxmlformats.org/drawingml/2006/main">
            <a:off x="609600" y="243840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Engineers at incident.io, Sentry, Elsevier, and others crossed over in months, not years.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twenty-five-year veteran: about two months.</a:t>
            </a:r>
          </a:p>
        </p:txBody>
      </p:sp>
      <p:sp>
        <p:nvSpPr>
          <p:cNvPr id="414" name="42-text-3">
            <a:extLst xmlns:a="http://schemas.openxmlformats.org/drawingml/2006/main">
              <a:ext uri="{FF2B5EF4-FFF2-40B4-BE49-F238E27FC236}">
                <a16:creationId xmlns:a16="http://schemas.microsoft.com/office/drawing/2014/main" id="{D4F9B9C4-041B-46FE-929A-BCD608F9B882}"/>
              </a:ext>
            </a:extLst>
          </p:cNvPr>
          <p:cNvSpPr>
            <a:spLocks xmlns:a="http://schemas.openxmlformats.org/drawingml/2006/main"/>
          </p:cNvSpPr>
          <p:nvPr/>
        </p:nvSpPr>
        <p:spPr>
          <a:xfrm xmlns:a="http://schemas.openxmlformats.org/drawingml/2006/main">
            <a:off x="609600" y="4165600"/>
            <a:ext cx="109728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"For experienced engineers who know how to break problems down, AI tools are an incredible force multiplier."</a:t>
            </a:r>
          </a:p>
        </p:txBody>
      </p:sp>
      <p:sp>
        <p:nvSpPr>
          <p:cNvPr id="415" name="42-text-4">
            <a:extLst xmlns:a="http://schemas.openxmlformats.org/drawingml/2006/main">
              <a:ext uri="{FF2B5EF4-FFF2-40B4-BE49-F238E27FC236}">
                <a16:creationId xmlns:a16="http://schemas.microsoft.com/office/drawing/2014/main" id="{9B9393F5-388A-4D4C-A867-9373E277D357}"/>
              </a:ext>
            </a:extLst>
          </p:cNvPr>
          <p:cNvSpPr>
            <a:spLocks xmlns:a="http://schemas.openxmlformats.org/drawingml/2006/main"/>
          </p:cNvSpPr>
          <p:nvPr/>
        </p:nvSpPr>
        <p:spPr>
          <a:xfrm xmlns:a="http://schemas.openxmlformats.org/drawingml/2006/main">
            <a:off x="609600" y="56642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Matt Morgis, Elsevier, via The Pragmatic Engineer, March 2025</a:t>
            </a:r>
          </a:p>
        </p:txBody>
      </p:sp>
      <p:sp>
        <p:nvSpPr>
          <p:cNvPr id="416" name="narrative-number">
            <a:extLst xmlns:a="http://schemas.openxmlformats.org/drawingml/2006/main">
              <a:ext uri="{FF2B5EF4-FFF2-40B4-BE49-F238E27FC236}">
                <a16:creationId xmlns:a16="http://schemas.microsoft.com/office/drawing/2014/main" id="{2D889BE6-EB13-4873-BC1F-E10396EC173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42</a:t>
            </a:r>
          </a:p>
        </p:txBody>
      </p:sp>
    </p:spTree>
    <p:extLst>
      <p:ext uri="{BB962C8B-B14F-4D97-AF65-F5344CB8AC3E}">
        <p14:creationId xmlns:p14="http://schemas.microsoft.com/office/powerpoint/2010/main" val="2398098140"/>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7" name="!!area-name">
            <a:extLst xmlns:a="http://schemas.openxmlformats.org/drawingml/2006/main">
              <a:ext uri="{FF2B5EF4-FFF2-40B4-BE49-F238E27FC236}">
                <a16:creationId xmlns:a16="http://schemas.microsoft.com/office/drawing/2014/main" id="{7333DDAB-D956-4B7A-955C-86211D7885D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433" name="mini-map"/>
          <p:cNvPicPr>
            <a:picLocks xmlns:a="http://schemas.openxmlformats.org/drawingml/2006/main" noChangeAspect="1"/>
          </p:cNvPicPr>
          <p:nvPr/>
        </p:nvPicPr>
        <p:blipFill>
          <a:blip xmlns:r="http://schemas.openxmlformats.org/officeDocument/2006/relationships" xmlns:a="http://schemas.openxmlformats.org/drawingml/2006/main" r:embed="R1edee51c02f74bc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19" name="slide-title">
            <a:extLst xmlns:a="http://schemas.openxmlformats.org/drawingml/2006/main">
              <a:ext uri="{FF2B5EF4-FFF2-40B4-BE49-F238E27FC236}">
                <a16:creationId xmlns:a16="http://schemas.microsoft.com/office/drawing/2014/main" id="{CDF25917-A26A-4DED-9329-BC2D52AB5EC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is new</a:t>
            </a:r>
          </a:p>
        </p:txBody>
      </p:sp>
      <p:sp>
        <p:nvSpPr>
          <p:cNvPr id="420" name="header-divider">
            <a:extLst xmlns:a="http://schemas.openxmlformats.org/drawingml/2006/main">
              <a:ext uri="{FF2B5EF4-FFF2-40B4-BE49-F238E27FC236}">
                <a16:creationId xmlns:a16="http://schemas.microsoft.com/office/drawing/2014/main" id="{8E4E32D8-10F0-4114-848D-2E2EF95889B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21" name="43-text-1">
            <a:extLst xmlns:a="http://schemas.openxmlformats.org/drawingml/2006/main">
              <a:ext uri="{FF2B5EF4-FFF2-40B4-BE49-F238E27FC236}">
                <a16:creationId xmlns:a16="http://schemas.microsoft.com/office/drawing/2014/main" id="{587E302F-1A6F-4246-B3C6-8A9ABEE4EA26}"/>
              </a:ext>
            </a:extLst>
          </p:cNvPr>
          <p:cNvSpPr>
            <a:spLocks xmlns:a="http://schemas.openxmlformats.org/drawingml/2006/main"/>
          </p:cNvSpPr>
          <p:nvPr/>
        </p:nvSpPr>
        <p:spPr>
          <a:xfrm xmlns:a="http://schemas.openxmlformats.org/drawingml/2006/main">
            <a:off x="609600" y="4216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Prompt engineering</a:t>
            </a:r>
          </a:p>
        </p:txBody>
      </p:sp>
      <p:sp>
        <p:nvSpPr>
          <p:cNvPr id="422" name="43-line-3">
            <a:extLst xmlns:a="http://schemas.openxmlformats.org/drawingml/2006/main">
              <a:ext uri="{FF2B5EF4-FFF2-40B4-BE49-F238E27FC236}">
                <a16:creationId xmlns:a16="http://schemas.microsoft.com/office/drawing/2014/main" id="{6E47E3D4-CA17-4487-895E-03B1850A6F6B}"/>
              </a:ext>
            </a:extLst>
          </p:cNvPr>
          <p:cNvSpPr>
            <a:spLocks xmlns:a="http://schemas.openxmlformats.org/drawingml/2006/main"/>
          </p:cNvSpPr>
          <p:nvPr/>
        </p:nvSpPr>
        <p:spPr>
          <a:xfrm xmlns:a="http://schemas.openxmlformats.org/drawingml/2006/main" flipH="0" flipV="0">
            <a:off x="609600" y="4699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23" name="43-text-4">
            <a:extLst xmlns:a="http://schemas.openxmlformats.org/drawingml/2006/main">
              <a:ext uri="{FF2B5EF4-FFF2-40B4-BE49-F238E27FC236}">
                <a16:creationId xmlns:a16="http://schemas.microsoft.com/office/drawing/2014/main" id="{14910CCA-E40A-42F3-A441-C124EC9AFBA4}"/>
              </a:ext>
            </a:extLst>
          </p:cNvPr>
          <p:cNvSpPr>
            <a:spLocks xmlns:a="http://schemas.openxmlformats.org/drawingml/2006/main"/>
          </p:cNvSpPr>
          <p:nvPr/>
        </p:nvSpPr>
        <p:spPr>
          <a:xfrm xmlns:a="http://schemas.openxmlformats.org/drawingml/2006/main">
            <a:off x="609600" y="4851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2023</a:t>
            </a:r>
          </a:p>
        </p:txBody>
      </p:sp>
      <p:sp>
        <p:nvSpPr>
          <p:cNvPr id="424" name="43-text-5">
            <a:extLst xmlns:a="http://schemas.openxmlformats.org/drawingml/2006/main">
              <a:ext uri="{FF2B5EF4-FFF2-40B4-BE49-F238E27FC236}">
                <a16:creationId xmlns:a16="http://schemas.microsoft.com/office/drawing/2014/main" id="{84F67FA1-79D6-4092-B1A5-2FD547F750CC}"/>
              </a:ext>
            </a:extLst>
          </p:cNvPr>
          <p:cNvSpPr>
            <a:spLocks xmlns:a="http://schemas.openxmlformats.org/drawingml/2006/main"/>
          </p:cNvSpPr>
          <p:nvPr/>
        </p:nvSpPr>
        <p:spPr>
          <a:xfrm xmlns:a="http://schemas.openxmlformats.org/drawingml/2006/main">
            <a:off x="4368800" y="3327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engineering</a:t>
            </a:r>
          </a:p>
        </p:txBody>
      </p:sp>
      <p:sp>
        <p:nvSpPr>
          <p:cNvPr id="425" name="43-line-7">
            <a:extLst xmlns:a="http://schemas.openxmlformats.org/drawingml/2006/main">
              <a:ext uri="{FF2B5EF4-FFF2-40B4-BE49-F238E27FC236}">
                <a16:creationId xmlns:a16="http://schemas.microsoft.com/office/drawing/2014/main" id="{BA6470C4-DD1D-4903-B650-E790CE6BB386}"/>
              </a:ext>
            </a:extLst>
          </p:cNvPr>
          <p:cNvSpPr>
            <a:spLocks xmlns:a="http://schemas.openxmlformats.org/drawingml/2006/main"/>
          </p:cNvSpPr>
          <p:nvPr/>
        </p:nvSpPr>
        <p:spPr>
          <a:xfrm xmlns:a="http://schemas.openxmlformats.org/drawingml/2006/main" flipH="0" flipV="0">
            <a:off x="4368800" y="3810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26" name="43-text-8">
            <a:extLst xmlns:a="http://schemas.openxmlformats.org/drawingml/2006/main">
              <a:ext uri="{FF2B5EF4-FFF2-40B4-BE49-F238E27FC236}">
                <a16:creationId xmlns:a16="http://schemas.microsoft.com/office/drawing/2014/main" id="{AD09A5F6-7F42-4226-B1EA-244B89C5EF65}"/>
              </a:ext>
            </a:extLst>
          </p:cNvPr>
          <p:cNvSpPr>
            <a:spLocks xmlns:a="http://schemas.openxmlformats.org/drawingml/2006/main"/>
          </p:cNvSpPr>
          <p:nvPr/>
        </p:nvSpPr>
        <p:spPr>
          <a:xfrm xmlns:a="http://schemas.openxmlformats.org/drawingml/2006/main">
            <a:off x="4368800" y="3962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2025</a:t>
            </a:r>
          </a:p>
        </p:txBody>
      </p:sp>
      <p:sp>
        <p:nvSpPr>
          <p:cNvPr id="427" name="43-text-9">
            <a:extLst xmlns:a="http://schemas.openxmlformats.org/drawingml/2006/main">
              <a:ext uri="{FF2B5EF4-FFF2-40B4-BE49-F238E27FC236}">
                <a16:creationId xmlns:a16="http://schemas.microsoft.com/office/drawing/2014/main" id="{C18AA9D3-6D75-4728-9523-69C8F8056AFA}"/>
              </a:ext>
            </a:extLst>
          </p:cNvPr>
          <p:cNvSpPr>
            <a:spLocks xmlns:a="http://schemas.openxmlformats.org/drawingml/2006/main"/>
          </p:cNvSpPr>
          <p:nvPr/>
        </p:nvSpPr>
        <p:spPr>
          <a:xfrm xmlns:a="http://schemas.openxmlformats.org/drawingml/2006/main">
            <a:off x="8128000" y="2438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Harness engineering</a:t>
            </a:r>
          </a:p>
        </p:txBody>
      </p:sp>
      <p:sp>
        <p:nvSpPr>
          <p:cNvPr id="428" name="43-line-11">
            <a:extLst xmlns:a="http://schemas.openxmlformats.org/drawingml/2006/main">
              <a:ext uri="{FF2B5EF4-FFF2-40B4-BE49-F238E27FC236}">
                <a16:creationId xmlns:a16="http://schemas.microsoft.com/office/drawing/2014/main" id="{804FB62E-7F01-4D96-88D3-33E7EE7F10C7}"/>
              </a:ext>
            </a:extLst>
          </p:cNvPr>
          <p:cNvSpPr>
            <a:spLocks xmlns:a="http://schemas.openxmlformats.org/drawingml/2006/main"/>
          </p:cNvSpPr>
          <p:nvPr/>
        </p:nvSpPr>
        <p:spPr>
          <a:xfrm xmlns:a="http://schemas.openxmlformats.org/drawingml/2006/main" flipH="0" flipV="0">
            <a:off x="8128000" y="2921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29" name="43-text-12">
            <a:extLst xmlns:a="http://schemas.openxmlformats.org/drawingml/2006/main">
              <a:ext uri="{FF2B5EF4-FFF2-40B4-BE49-F238E27FC236}">
                <a16:creationId xmlns:a16="http://schemas.microsoft.com/office/drawing/2014/main" id="{4B89B51E-3E86-4207-A83F-EACBC32ADAE0}"/>
              </a:ext>
            </a:extLst>
          </p:cNvPr>
          <p:cNvSpPr>
            <a:spLocks xmlns:a="http://schemas.openxmlformats.org/drawingml/2006/main"/>
          </p:cNvSpPr>
          <p:nvPr/>
        </p:nvSpPr>
        <p:spPr>
          <a:xfrm xmlns:a="http://schemas.openxmlformats.org/drawingml/2006/main">
            <a:off x="8128000" y="3073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2026</a:t>
            </a:r>
          </a:p>
        </p:txBody>
      </p:sp>
      <p:sp>
        <p:nvSpPr>
          <p:cNvPr id="430" name="43-text-13">
            <a:extLst xmlns:a="http://schemas.openxmlformats.org/drawingml/2006/main">
              <a:ext uri="{FF2B5EF4-FFF2-40B4-BE49-F238E27FC236}">
                <a16:creationId xmlns:a16="http://schemas.microsoft.com/office/drawing/2014/main" id="{2DF2310F-5C34-4612-B4E5-4AC1BB437414}"/>
              </a:ext>
            </a:extLst>
          </p:cNvPr>
          <p:cNvSpPr>
            <a:spLocks xmlns:a="http://schemas.openxmlformats.org/drawingml/2006/main"/>
          </p:cNvSpPr>
          <p:nvPr/>
        </p:nvSpPr>
        <p:spPr>
          <a:xfrm xmlns:a="http://schemas.openxmlformats.org/drawingml/2006/main">
            <a:off x="609600" y="5613400"/>
            <a:ext cx="10972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Each one absorbs the last.</a:t>
            </a:r>
          </a:p>
        </p:txBody>
      </p:sp>
      <p:sp>
        <p:nvSpPr>
          <p:cNvPr id="431" name="narrative-number">
            <a:extLst xmlns:a="http://schemas.openxmlformats.org/drawingml/2006/main">
              <a:ext uri="{FF2B5EF4-FFF2-40B4-BE49-F238E27FC236}">
                <a16:creationId xmlns:a16="http://schemas.microsoft.com/office/drawing/2014/main" id="{5D246D26-0D89-4AE9-BA58-492C784AEAA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4048502191"/>
      </p:ext>
    </p:extLst>
  </p:cSld>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32" name="!!area-name">
            <a:extLst xmlns:a="http://schemas.openxmlformats.org/drawingml/2006/main">
              <a:ext uri="{FF2B5EF4-FFF2-40B4-BE49-F238E27FC236}">
                <a16:creationId xmlns:a16="http://schemas.microsoft.com/office/drawing/2014/main" id="{76EA659D-5CDD-4EEF-BD99-513D0DF9279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445" name="mini-map"/>
          <p:cNvPicPr>
            <a:picLocks xmlns:a="http://schemas.openxmlformats.org/drawingml/2006/main" noChangeAspect="1"/>
          </p:cNvPicPr>
          <p:nvPr/>
        </p:nvPicPr>
        <p:blipFill>
          <a:blip xmlns:r="http://schemas.openxmlformats.org/officeDocument/2006/relationships" xmlns:a="http://schemas.openxmlformats.org/drawingml/2006/main" r:embed="R8d63eaa282264a6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34" name="header-divider">
            <a:extLst xmlns:a="http://schemas.openxmlformats.org/drawingml/2006/main">
              <a:ext uri="{FF2B5EF4-FFF2-40B4-BE49-F238E27FC236}">
                <a16:creationId xmlns:a16="http://schemas.microsoft.com/office/drawing/2014/main" id="{8203192A-1BC8-4090-A123-F211389A74C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35" name="43b-text-1">
            <a:extLst xmlns:a="http://schemas.openxmlformats.org/drawingml/2006/main">
              <a:ext uri="{FF2B5EF4-FFF2-40B4-BE49-F238E27FC236}">
                <a16:creationId xmlns:a16="http://schemas.microsoft.com/office/drawing/2014/main" id="{77EDB5A6-B15A-403B-A20A-16B66468A454}"/>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Prompt engineering (2023) · Context engineering (2025) · Harness engineering (2026)</a:t>
            </a:r>
          </a:p>
        </p:txBody>
      </p:sp>
      <p:sp>
        <p:nvSpPr>
          <p:cNvPr id="436" name="43b-text-2">
            <a:extLst xmlns:a="http://schemas.openxmlformats.org/drawingml/2006/main">
              <a:ext uri="{FF2B5EF4-FFF2-40B4-BE49-F238E27FC236}">
                <a16:creationId xmlns:a16="http://schemas.microsoft.com/office/drawing/2014/main" id="{403258C0-C769-4EE1-8AFD-84B771D48801}"/>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behavior intuition. Informed by reading outputs.</a:t>
            </a:r>
          </a:p>
        </p:txBody>
      </p:sp>
      <p:sp>
        <p:nvSpPr>
          <p:cNvPr id="437" name="43b-text-3">
            <a:extLst xmlns:a="http://schemas.openxmlformats.org/drawingml/2006/main">
              <a:ext uri="{FF2B5EF4-FFF2-40B4-BE49-F238E27FC236}">
                <a16:creationId xmlns:a16="http://schemas.microsoft.com/office/drawing/2014/main" id="{52FF73E8-A337-4C51-8A8B-58D7379C443B}"/>
              </a:ext>
            </a:extLst>
          </p:cNvPr>
          <p:cNvSpPr>
            <a:spLocks xmlns:a="http://schemas.openxmlformats.org/drawingml/2006/main"/>
          </p:cNvSpPr>
          <p:nvPr/>
        </p:nvSpPr>
        <p:spPr>
          <a:xfrm xmlns:a="http://schemas.openxmlformats.org/drawingml/2006/main">
            <a:off x="609600" y="2971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engineering.</a:t>
            </a:r>
          </a:p>
        </p:txBody>
      </p:sp>
      <p:sp>
        <p:nvSpPr>
          <p:cNvPr id="438" name="43b-text-4">
            <a:extLst xmlns:a="http://schemas.openxmlformats.org/drawingml/2006/main">
              <a:ext uri="{FF2B5EF4-FFF2-40B4-BE49-F238E27FC236}">
                <a16:creationId xmlns:a16="http://schemas.microsoft.com/office/drawing/2014/main" id="{A489710A-4553-4C91-B031-3FA1B297051E}"/>
              </a:ext>
            </a:extLst>
          </p:cNvPr>
          <p:cNvSpPr>
            <a:spLocks xmlns:a="http://schemas.openxmlformats.org/drawingml/2006/main"/>
          </p:cNvSpPr>
          <p:nvPr/>
        </p:nvSpPr>
        <p:spPr>
          <a:xfrm xmlns:a="http://schemas.openxmlformats.org/drawingml/2006/main">
            <a:off x="609600" y="3505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 design, for a caller that reads the description every time.</a:t>
            </a:r>
          </a:p>
        </p:txBody>
      </p:sp>
      <p:sp>
        <p:nvSpPr>
          <p:cNvPr id="439" name="43b-text-5">
            <a:extLst xmlns:a="http://schemas.openxmlformats.org/drawingml/2006/main">
              <a:ext uri="{FF2B5EF4-FFF2-40B4-BE49-F238E27FC236}">
                <a16:creationId xmlns:a16="http://schemas.microsoft.com/office/drawing/2014/main" id="{A72FAE57-4A9F-4889-809B-1A28B8A355C3}"/>
              </a:ext>
            </a:extLst>
          </p:cNvPr>
          <p:cNvSpPr>
            <a:spLocks xmlns:a="http://schemas.openxmlformats.org/drawingml/2006/main"/>
          </p:cNvSpPr>
          <p:nvPr/>
        </p:nvSpPr>
        <p:spPr>
          <a:xfrm xmlns:a="http://schemas.openxmlformats.org/drawingml/2006/main">
            <a:off x="609600" y="4038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Harness and loop design.</a:t>
            </a:r>
          </a:p>
        </p:txBody>
      </p:sp>
      <p:sp>
        <p:nvSpPr>
          <p:cNvPr id="440" name="43b-text-6">
            <a:extLst xmlns:a="http://schemas.openxmlformats.org/drawingml/2006/main">
              <a:ext uri="{FF2B5EF4-FFF2-40B4-BE49-F238E27FC236}">
                <a16:creationId xmlns:a16="http://schemas.microsoft.com/office/drawing/2014/main" id="{146F6DDC-FCF6-434D-918B-04CBCBD44EC2}"/>
              </a:ext>
            </a:extLst>
          </p:cNvPr>
          <p:cNvSpPr>
            <a:spLocks xmlns:a="http://schemas.openxmlformats.org/drawingml/2006/main"/>
          </p:cNvSpPr>
          <p:nvPr/>
        </p:nvSpPr>
        <p:spPr>
          <a:xfrm xmlns:a="http://schemas.openxmlformats.org/drawingml/2006/main">
            <a:off x="609600" y="457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Evals and error analysis.</a:t>
            </a:r>
          </a:p>
        </p:txBody>
      </p:sp>
      <p:sp>
        <p:nvSpPr>
          <p:cNvPr id="441" name="43b-text-7">
            <a:extLst xmlns:a="http://schemas.openxmlformats.org/drawingml/2006/main">
              <a:ext uri="{FF2B5EF4-FFF2-40B4-BE49-F238E27FC236}">
                <a16:creationId xmlns:a16="http://schemas.microsoft.com/office/drawing/2014/main" id="{7D83FACF-F79D-413F-9EEA-542F2E837187}"/>
              </a:ext>
            </a:extLst>
          </p:cNvPr>
          <p:cNvSpPr>
            <a:spLocks xmlns:a="http://schemas.openxmlformats.org/drawingml/2006/main"/>
          </p:cNvSpPr>
          <p:nvPr/>
        </p:nvSpPr>
        <p:spPr>
          <a:xfrm xmlns:a="http://schemas.openxmlformats.org/drawingml/2006/main">
            <a:off x="609600" y="5105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AI security. The attack surface is the model's reasoning.</a:t>
            </a:r>
          </a:p>
        </p:txBody>
      </p:sp>
      <p:sp>
        <p:nvSpPr>
          <p:cNvPr id="442" name="43b-text-8">
            <a:extLst xmlns:a="http://schemas.openxmlformats.org/drawingml/2006/main">
              <a:ext uri="{FF2B5EF4-FFF2-40B4-BE49-F238E27FC236}">
                <a16:creationId xmlns:a16="http://schemas.microsoft.com/office/drawing/2014/main" id="{5EBAA672-5ADE-479E-A964-779F11D90438}"/>
              </a:ext>
            </a:extLst>
          </p:cNvPr>
          <p:cNvSpPr>
            <a:spLocks xmlns:a="http://schemas.openxmlformats.org/drawingml/2006/main"/>
          </p:cNvSpPr>
          <p:nvPr/>
        </p:nvSpPr>
        <p:spPr>
          <a:xfrm xmlns:a="http://schemas.openxmlformats.org/drawingml/2006/main">
            <a:off x="609600" y="5638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and latency as design constraints.</a:t>
            </a:r>
          </a:p>
        </p:txBody>
      </p:sp>
      <p:sp>
        <p:nvSpPr>
          <p:cNvPr id="443" name="narrative-number">
            <a:extLst xmlns:a="http://schemas.openxmlformats.org/drawingml/2006/main">
              <a:ext uri="{FF2B5EF4-FFF2-40B4-BE49-F238E27FC236}">
                <a16:creationId xmlns:a16="http://schemas.microsoft.com/office/drawing/2014/main" id="{23ABBFF0-9A12-4952-B1CE-F9F71CBE6D2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1474051186"/>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4" name="!!area-name">
            <a:extLst xmlns:a="http://schemas.openxmlformats.org/drawingml/2006/main">
              <a:ext uri="{FF2B5EF4-FFF2-40B4-BE49-F238E27FC236}">
                <a16:creationId xmlns:a16="http://schemas.microsoft.com/office/drawing/2014/main" id="{7284CC95-E1EF-46AE-9FAD-5F385F88ADC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452" name="mini-map"/>
          <p:cNvPicPr>
            <a:picLocks xmlns:a="http://schemas.openxmlformats.org/drawingml/2006/main" noChangeAspect="1"/>
          </p:cNvPicPr>
          <p:nvPr/>
        </p:nvPicPr>
        <p:blipFill>
          <a:blip xmlns:r="http://schemas.openxmlformats.org/officeDocument/2006/relationships" xmlns:a="http://schemas.openxmlformats.org/drawingml/2006/main" r:embed="R014bf6f0c325489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46" name="header-divider">
            <a:extLst xmlns:a="http://schemas.openxmlformats.org/drawingml/2006/main">
              <a:ext uri="{FF2B5EF4-FFF2-40B4-BE49-F238E27FC236}">
                <a16:creationId xmlns:a16="http://schemas.microsoft.com/office/drawing/2014/main" id="{1BF0B787-3D01-4DB2-841B-83E5D73A75B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7" name="43b-text-1">
            <a:extLst xmlns:a="http://schemas.openxmlformats.org/drawingml/2006/main">
              <a:ext uri="{FF2B5EF4-FFF2-40B4-BE49-F238E27FC236}">
                <a16:creationId xmlns:a16="http://schemas.microsoft.com/office/drawing/2014/main" id="{FF0318C3-72E5-4810-90DD-F8F1D1820499}"/>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Prompt engineering (2023) · Context engineering (2025) · Harness engineering (2026)</a:t>
            </a:r>
          </a:p>
        </p:txBody>
      </p:sp>
      <p:sp>
        <p:nvSpPr>
          <p:cNvPr id="448" name="43b-text-9">
            <a:extLst xmlns:a="http://schemas.openxmlformats.org/drawingml/2006/main">
              <a:ext uri="{FF2B5EF4-FFF2-40B4-BE49-F238E27FC236}">
                <a16:creationId xmlns:a16="http://schemas.microsoft.com/office/drawing/2014/main" id="{87EB8973-7B24-49FE-85D5-42C987ABC8CB}"/>
              </a:ext>
            </a:extLst>
          </p:cNvPr>
          <p:cNvSpPr>
            <a:spLocks xmlns:a="http://schemas.openxmlformats.org/drawingml/2006/main"/>
          </p:cNvSpPr>
          <p:nvPr/>
        </p:nvSpPr>
        <p:spPr>
          <a:xfrm xmlns:a="http://schemas.openxmlformats.org/drawingml/2006/main">
            <a:off x="609600" y="2438400"/>
            <a:ext cx="10972800" cy="269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"Getting comfortable with evaluations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iterating on non-deterministic</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outputs is the biggest challenge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most devs have."</a:t>
            </a:r>
          </a:p>
        </p:txBody>
      </p:sp>
      <p:sp>
        <p:nvSpPr>
          <p:cNvPr id="449" name="43b-text-10">
            <a:extLst xmlns:a="http://schemas.openxmlformats.org/drawingml/2006/main">
              <a:ext uri="{FF2B5EF4-FFF2-40B4-BE49-F238E27FC236}">
                <a16:creationId xmlns:a16="http://schemas.microsoft.com/office/drawing/2014/main" id="{AA3F5EF9-FE32-4E27-87ED-653073E68EF6}"/>
              </a:ext>
            </a:extLst>
          </p:cNvPr>
          <p:cNvSpPr>
            <a:spLocks xmlns:a="http://schemas.openxmlformats.org/drawingml/2006/main"/>
          </p:cNvSpPr>
          <p:nvPr/>
        </p:nvSpPr>
        <p:spPr>
          <a:xfrm xmlns:a="http://schemas.openxmlformats.org/drawingml/2006/main">
            <a:off x="609600" y="54356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Ross McNairn, Wordsmith, via The Pragmatic Engineer, March 2025</a:t>
            </a:r>
          </a:p>
        </p:txBody>
      </p:sp>
      <p:sp>
        <p:nvSpPr>
          <p:cNvPr id="450" name="narrative-number">
            <a:extLst xmlns:a="http://schemas.openxmlformats.org/drawingml/2006/main">
              <a:ext uri="{FF2B5EF4-FFF2-40B4-BE49-F238E27FC236}">
                <a16:creationId xmlns:a16="http://schemas.microsoft.com/office/drawing/2014/main" id="{DBB2F7E4-543A-4A72-B300-00927958DC6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3397963981"/>
      </p:ext>
    </p:extLst>
  </p:cSld>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51" name="!!area-name">
            <a:extLst xmlns:a="http://schemas.openxmlformats.org/drawingml/2006/main">
              <a:ext uri="{FF2B5EF4-FFF2-40B4-BE49-F238E27FC236}">
                <a16:creationId xmlns:a16="http://schemas.microsoft.com/office/drawing/2014/main" id="{A0AA6E7B-6A48-45CC-BC45-4433A8ED8D7D}"/>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452" name="header-divider">
            <a:extLst xmlns:a="http://schemas.openxmlformats.org/drawingml/2006/main">
              <a:ext uri="{FF2B5EF4-FFF2-40B4-BE49-F238E27FC236}">
                <a16:creationId xmlns:a16="http://schemas.microsoft.com/office/drawing/2014/main" id="{82C25210-6F79-48AD-B265-B259BE4C7C62}"/>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53" name="44-shape-1">
            <a:extLst xmlns:a="http://schemas.openxmlformats.org/drawingml/2006/main">
              <a:ext uri="{FF2B5EF4-FFF2-40B4-BE49-F238E27FC236}">
                <a16:creationId xmlns:a16="http://schemas.microsoft.com/office/drawing/2014/main" id="{58F60955-2127-465B-AC6A-D7B5CE33693B}"/>
              </a:ext>
            </a:extLst>
          </p:cNvPr>
          <p:cNvSpPr>
            <a:spLocks xmlns:a="http://schemas.openxmlformats.org/drawingml/2006/main"/>
          </p:cNvSpPr>
          <p:nvPr/>
        </p:nvSpPr>
        <p:spPr>
          <a:xfrm xmlns:a="http://schemas.openxmlformats.org/drawingml/2006/main">
            <a:off x="0" y="12700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54" name="44-shape-2">
            <a:extLst xmlns:a="http://schemas.openxmlformats.org/drawingml/2006/main">
              <a:ext uri="{FF2B5EF4-FFF2-40B4-BE49-F238E27FC236}">
                <a16:creationId xmlns:a16="http://schemas.microsoft.com/office/drawing/2014/main" id="{B4EB325A-57A3-4844-A302-3A21C366FB56}"/>
              </a:ext>
            </a:extLst>
          </p:cNvPr>
          <p:cNvSpPr>
            <a:spLocks xmlns:a="http://schemas.openxmlformats.org/drawingml/2006/main"/>
          </p:cNvSpPr>
          <p:nvPr/>
        </p:nvSpPr>
        <p:spPr>
          <a:xfrm xmlns:a="http://schemas.openxmlformats.org/drawingml/2006/main">
            <a:off x="0" y="1270000"/>
            <a:ext cx="3454400" cy="7112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455" name="44-text-3">
            <a:extLst xmlns:a="http://schemas.openxmlformats.org/drawingml/2006/main">
              <a:ext uri="{FF2B5EF4-FFF2-40B4-BE49-F238E27FC236}">
                <a16:creationId xmlns:a16="http://schemas.microsoft.com/office/drawing/2014/main" id="{8E3C24AF-219C-4E0E-8947-61AB795F5B9E}"/>
              </a:ext>
            </a:extLst>
          </p:cNvPr>
          <p:cNvSpPr>
            <a:spLocks xmlns:a="http://schemas.openxmlformats.org/drawingml/2006/main"/>
          </p:cNvSpPr>
          <p:nvPr/>
        </p:nvSpPr>
        <p:spPr>
          <a:xfrm xmlns:a="http://schemas.openxmlformats.org/drawingml/2006/main">
            <a:off x="609600" y="14224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Models</a:t>
            </a:r>
          </a:p>
        </p:txBody>
      </p:sp>
      <p:sp>
        <p:nvSpPr>
          <p:cNvPr id="456" name="44-text-4">
            <a:extLst xmlns:a="http://schemas.openxmlformats.org/drawingml/2006/main">
              <a:ext uri="{FF2B5EF4-FFF2-40B4-BE49-F238E27FC236}">
                <a16:creationId xmlns:a16="http://schemas.microsoft.com/office/drawing/2014/main" id="{ACE0539E-B0F4-427A-AE7F-2325AC62BA02}"/>
              </a:ext>
            </a:extLst>
          </p:cNvPr>
          <p:cNvSpPr>
            <a:spLocks xmlns:a="http://schemas.openxmlformats.org/drawingml/2006/main"/>
          </p:cNvSpPr>
          <p:nvPr/>
        </p:nvSpPr>
        <p:spPr>
          <a:xfrm xmlns:a="http://schemas.openxmlformats.org/drawingml/2006/main">
            <a:off x="3759200" y="13081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Choosing and changing models without testing them on your task.</a:t>
            </a:r>
          </a:p>
        </p:txBody>
      </p:sp>
      <p:sp>
        <p:nvSpPr>
          <p:cNvPr id="457" name="44-shape-5">
            <a:extLst xmlns:a="http://schemas.openxmlformats.org/drawingml/2006/main">
              <a:ext uri="{FF2B5EF4-FFF2-40B4-BE49-F238E27FC236}">
                <a16:creationId xmlns:a16="http://schemas.microsoft.com/office/drawing/2014/main" id="{E8151DF8-4C03-4F88-AA7B-89307E15BCA6}"/>
              </a:ext>
            </a:extLst>
          </p:cNvPr>
          <p:cNvSpPr>
            <a:spLocks xmlns:a="http://schemas.openxmlformats.org/drawingml/2006/main"/>
          </p:cNvSpPr>
          <p:nvPr/>
        </p:nvSpPr>
        <p:spPr>
          <a:xfrm xmlns:a="http://schemas.openxmlformats.org/drawingml/2006/main">
            <a:off x="0" y="20701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58" name="44-shape-6">
            <a:extLst xmlns:a="http://schemas.openxmlformats.org/drawingml/2006/main">
              <a:ext uri="{FF2B5EF4-FFF2-40B4-BE49-F238E27FC236}">
                <a16:creationId xmlns:a16="http://schemas.microsoft.com/office/drawing/2014/main" id="{10A33CD1-2313-48E9-8D72-B9450619A4C2}"/>
              </a:ext>
            </a:extLst>
          </p:cNvPr>
          <p:cNvSpPr>
            <a:spLocks xmlns:a="http://schemas.openxmlformats.org/drawingml/2006/main"/>
          </p:cNvSpPr>
          <p:nvPr/>
        </p:nvSpPr>
        <p:spPr>
          <a:xfrm xmlns:a="http://schemas.openxmlformats.org/drawingml/2006/main">
            <a:off x="0" y="20701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59" name="44-text-7">
            <a:extLst xmlns:a="http://schemas.openxmlformats.org/drawingml/2006/main">
              <a:ext uri="{FF2B5EF4-FFF2-40B4-BE49-F238E27FC236}">
                <a16:creationId xmlns:a16="http://schemas.microsoft.com/office/drawing/2014/main" id="{01EF6244-C9C1-4A7C-A559-0F9071F1A9DC}"/>
              </a:ext>
            </a:extLst>
          </p:cNvPr>
          <p:cNvSpPr>
            <a:spLocks xmlns:a="http://schemas.openxmlformats.org/drawingml/2006/main"/>
          </p:cNvSpPr>
          <p:nvPr/>
        </p:nvSpPr>
        <p:spPr>
          <a:xfrm xmlns:a="http://schemas.openxmlformats.org/drawingml/2006/main">
            <a:off x="609600" y="22225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p:txBody>
      </p:sp>
      <p:sp>
        <p:nvSpPr>
          <p:cNvPr id="460" name="44-text-8">
            <a:extLst xmlns:a="http://schemas.openxmlformats.org/drawingml/2006/main">
              <a:ext uri="{FF2B5EF4-FFF2-40B4-BE49-F238E27FC236}">
                <a16:creationId xmlns:a16="http://schemas.microsoft.com/office/drawing/2014/main" id="{5415BF2B-C061-4141-8331-A48777745041}"/>
              </a:ext>
            </a:extLst>
          </p:cNvPr>
          <p:cNvSpPr>
            <a:spLocks xmlns:a="http://schemas.openxmlformats.org/drawingml/2006/main"/>
          </p:cNvSpPr>
          <p:nvPr/>
        </p:nvSpPr>
        <p:spPr>
          <a:xfrm xmlns:a="http://schemas.openxmlformats.org/drawingml/2006/main">
            <a:off x="3759200" y="21082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instead of curating.</a:t>
            </a:r>
          </a:p>
        </p:txBody>
      </p:sp>
      <p:sp>
        <p:nvSpPr>
          <p:cNvPr id="461" name="44-shape-9">
            <a:extLst xmlns:a="http://schemas.openxmlformats.org/drawingml/2006/main">
              <a:ext uri="{FF2B5EF4-FFF2-40B4-BE49-F238E27FC236}">
                <a16:creationId xmlns:a16="http://schemas.microsoft.com/office/drawing/2014/main" id="{209D87FB-A918-452D-8064-1956BBF2E944}"/>
              </a:ext>
            </a:extLst>
          </p:cNvPr>
          <p:cNvSpPr>
            <a:spLocks xmlns:a="http://schemas.openxmlformats.org/drawingml/2006/main"/>
          </p:cNvSpPr>
          <p:nvPr/>
        </p:nvSpPr>
        <p:spPr>
          <a:xfrm xmlns:a="http://schemas.openxmlformats.org/drawingml/2006/main">
            <a:off x="0" y="28702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62" name="44-shape-10">
            <a:extLst xmlns:a="http://schemas.openxmlformats.org/drawingml/2006/main">
              <a:ext uri="{FF2B5EF4-FFF2-40B4-BE49-F238E27FC236}">
                <a16:creationId xmlns:a16="http://schemas.microsoft.com/office/drawing/2014/main" id="{E86661F7-5041-46C3-A28D-009018BBE606}"/>
              </a:ext>
            </a:extLst>
          </p:cNvPr>
          <p:cNvSpPr>
            <a:spLocks xmlns:a="http://schemas.openxmlformats.org/drawingml/2006/main"/>
          </p:cNvSpPr>
          <p:nvPr/>
        </p:nvSpPr>
        <p:spPr>
          <a:xfrm xmlns:a="http://schemas.openxmlformats.org/drawingml/2006/main">
            <a:off x="0" y="28702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63" name="44-text-11">
            <a:extLst xmlns:a="http://schemas.openxmlformats.org/drawingml/2006/main">
              <a:ext uri="{FF2B5EF4-FFF2-40B4-BE49-F238E27FC236}">
                <a16:creationId xmlns:a16="http://schemas.microsoft.com/office/drawing/2014/main" id="{28695992-54A7-4F59-B828-E6962E584E2E}"/>
              </a:ext>
            </a:extLst>
          </p:cNvPr>
          <p:cNvSpPr>
            <a:spLocks xmlns:a="http://schemas.openxmlformats.org/drawingml/2006/main"/>
          </p:cNvSpPr>
          <p:nvPr/>
        </p:nvSpPr>
        <p:spPr>
          <a:xfrm xmlns:a="http://schemas.openxmlformats.org/drawingml/2006/main">
            <a:off x="609600" y="30226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a:t>
            </a:r>
          </a:p>
        </p:txBody>
      </p:sp>
      <p:sp>
        <p:nvSpPr>
          <p:cNvPr id="464" name="44-text-12">
            <a:extLst xmlns:a="http://schemas.openxmlformats.org/drawingml/2006/main">
              <a:ext uri="{FF2B5EF4-FFF2-40B4-BE49-F238E27FC236}">
                <a16:creationId xmlns:a16="http://schemas.microsoft.com/office/drawing/2014/main" id="{C1697CFE-C9E4-429E-BFC9-F5D270D22632}"/>
              </a:ext>
            </a:extLst>
          </p:cNvPr>
          <p:cNvSpPr>
            <a:spLocks xmlns:a="http://schemas.openxmlformats.org/drawingml/2006/main"/>
          </p:cNvSpPr>
          <p:nvPr/>
        </p:nvSpPr>
        <p:spPr>
          <a:xfrm xmlns:a="http://schemas.openxmlformats.org/drawingml/2006/main">
            <a:off x="3759200" y="29083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the API surface without evaluating task fit.</a:t>
            </a:r>
          </a:p>
        </p:txBody>
      </p:sp>
      <p:sp>
        <p:nvSpPr>
          <p:cNvPr id="465" name="44-shape-13">
            <a:extLst xmlns:a="http://schemas.openxmlformats.org/drawingml/2006/main">
              <a:ext uri="{FF2B5EF4-FFF2-40B4-BE49-F238E27FC236}">
                <a16:creationId xmlns:a16="http://schemas.microsoft.com/office/drawing/2014/main" id="{24C5E5EB-B60F-478D-A846-2F46B1517D31}"/>
              </a:ext>
            </a:extLst>
          </p:cNvPr>
          <p:cNvSpPr>
            <a:spLocks xmlns:a="http://schemas.openxmlformats.org/drawingml/2006/main"/>
          </p:cNvSpPr>
          <p:nvPr/>
        </p:nvSpPr>
        <p:spPr>
          <a:xfrm xmlns:a="http://schemas.openxmlformats.org/drawingml/2006/main">
            <a:off x="0" y="36703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66" name="44-shape-14">
            <a:extLst xmlns:a="http://schemas.openxmlformats.org/drawingml/2006/main">
              <a:ext uri="{FF2B5EF4-FFF2-40B4-BE49-F238E27FC236}">
                <a16:creationId xmlns:a16="http://schemas.microsoft.com/office/drawing/2014/main" id="{E68719D6-F99C-4A77-9E6F-1606FB97ED83}"/>
              </a:ext>
            </a:extLst>
          </p:cNvPr>
          <p:cNvSpPr>
            <a:spLocks xmlns:a="http://schemas.openxmlformats.org/drawingml/2006/main"/>
          </p:cNvSpPr>
          <p:nvPr/>
        </p:nvSpPr>
        <p:spPr>
          <a:xfrm xmlns:a="http://schemas.openxmlformats.org/drawingml/2006/main">
            <a:off x="0" y="36703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67" name="44-text-15">
            <a:extLst xmlns:a="http://schemas.openxmlformats.org/drawingml/2006/main">
              <a:ext uri="{FF2B5EF4-FFF2-40B4-BE49-F238E27FC236}">
                <a16:creationId xmlns:a16="http://schemas.microsoft.com/office/drawing/2014/main" id="{505B36E3-4C99-48F3-B997-9462E7704DB0}"/>
              </a:ext>
            </a:extLst>
          </p:cNvPr>
          <p:cNvSpPr>
            <a:spLocks xmlns:a="http://schemas.openxmlformats.org/drawingml/2006/main"/>
          </p:cNvSpPr>
          <p:nvPr/>
        </p:nvSpPr>
        <p:spPr>
          <a:xfrm xmlns:a="http://schemas.openxmlformats.org/drawingml/2006/main">
            <a:off x="609600" y="38227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468" name="44-text-16">
            <a:extLst xmlns:a="http://schemas.openxmlformats.org/drawingml/2006/main">
              <a:ext uri="{FF2B5EF4-FFF2-40B4-BE49-F238E27FC236}">
                <a16:creationId xmlns:a16="http://schemas.microsoft.com/office/drawing/2014/main" id="{6278E114-2429-4424-A410-65364EB96C3D}"/>
              </a:ext>
            </a:extLst>
          </p:cNvPr>
          <p:cNvSpPr>
            <a:spLocks xmlns:a="http://schemas.openxmlformats.org/drawingml/2006/main"/>
          </p:cNvSpPr>
          <p:nvPr/>
        </p:nvSpPr>
        <p:spPr>
          <a:xfrm xmlns:a="http://schemas.openxmlformats.org/drawingml/2006/main">
            <a:off x="3759200" y="37084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multi-agent before a workflow was tried.</a:t>
            </a:r>
          </a:p>
        </p:txBody>
      </p:sp>
      <p:sp>
        <p:nvSpPr>
          <p:cNvPr id="469" name="44-shape-17">
            <a:extLst xmlns:a="http://schemas.openxmlformats.org/drawingml/2006/main">
              <a:ext uri="{FF2B5EF4-FFF2-40B4-BE49-F238E27FC236}">
                <a16:creationId xmlns:a16="http://schemas.microsoft.com/office/drawing/2014/main" id="{F59D7C81-6DB6-495F-A551-447F827903AB}"/>
              </a:ext>
            </a:extLst>
          </p:cNvPr>
          <p:cNvSpPr>
            <a:spLocks xmlns:a="http://schemas.openxmlformats.org/drawingml/2006/main"/>
          </p:cNvSpPr>
          <p:nvPr/>
        </p:nvSpPr>
        <p:spPr>
          <a:xfrm xmlns:a="http://schemas.openxmlformats.org/drawingml/2006/main">
            <a:off x="0" y="4470400"/>
            <a:ext cx="12192000" cy="965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70" name="44-shape-18">
            <a:extLst xmlns:a="http://schemas.openxmlformats.org/drawingml/2006/main">
              <a:ext uri="{FF2B5EF4-FFF2-40B4-BE49-F238E27FC236}">
                <a16:creationId xmlns:a16="http://schemas.microsoft.com/office/drawing/2014/main" id="{DFAA5293-71C7-4C46-8CDD-10761B1E73C6}"/>
              </a:ext>
            </a:extLst>
          </p:cNvPr>
          <p:cNvSpPr>
            <a:spLocks xmlns:a="http://schemas.openxmlformats.org/drawingml/2006/main"/>
          </p:cNvSpPr>
          <p:nvPr/>
        </p:nvSpPr>
        <p:spPr>
          <a:xfrm xmlns:a="http://schemas.openxmlformats.org/drawingml/2006/main">
            <a:off x="0" y="4470400"/>
            <a:ext cx="3454400" cy="9652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471" name="44-text-19">
            <a:extLst xmlns:a="http://schemas.openxmlformats.org/drawingml/2006/main">
              <a:ext uri="{FF2B5EF4-FFF2-40B4-BE49-F238E27FC236}">
                <a16:creationId xmlns:a16="http://schemas.microsoft.com/office/drawing/2014/main" id="{C612991D-B66B-45FB-B36D-5DF34947C7E2}"/>
              </a:ext>
            </a:extLst>
          </p:cNvPr>
          <p:cNvSpPr>
            <a:spLocks xmlns:a="http://schemas.openxmlformats.org/drawingml/2006/main"/>
          </p:cNvSpPr>
          <p:nvPr/>
        </p:nvSpPr>
        <p:spPr>
          <a:xfrm xmlns:a="http://schemas.openxmlformats.org/drawingml/2006/main">
            <a:off x="609600" y="47498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Evals</a:t>
            </a:r>
          </a:p>
        </p:txBody>
      </p:sp>
      <p:sp>
        <p:nvSpPr>
          <p:cNvPr id="472" name="44-text-20">
            <a:extLst xmlns:a="http://schemas.openxmlformats.org/drawingml/2006/main">
              <a:ext uri="{FF2B5EF4-FFF2-40B4-BE49-F238E27FC236}">
                <a16:creationId xmlns:a16="http://schemas.microsoft.com/office/drawing/2014/main" id="{E75F7BE2-175C-4C7E-B0E0-4ACB568FF3A2}"/>
              </a:ext>
            </a:extLst>
          </p:cNvPr>
          <p:cNvSpPr>
            <a:spLocks xmlns:a="http://schemas.openxmlformats.org/drawingml/2006/main"/>
          </p:cNvSpPr>
          <p:nvPr/>
        </p:nvSpPr>
        <p:spPr>
          <a:xfrm xmlns:a="http://schemas.openxmlformats.org/drawingml/2006/main">
            <a:off x="3759200" y="4508500"/>
            <a:ext cx="78232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generic judge instead of error analysis. Trusting the success claim without checking the result.</a:t>
            </a:r>
          </a:p>
        </p:txBody>
      </p:sp>
      <p:sp>
        <p:nvSpPr>
          <p:cNvPr id="473" name="44-shape-21">
            <a:extLst xmlns:a="http://schemas.openxmlformats.org/drawingml/2006/main">
              <a:ext uri="{FF2B5EF4-FFF2-40B4-BE49-F238E27FC236}">
                <a16:creationId xmlns:a16="http://schemas.microsoft.com/office/drawing/2014/main" id="{758EBAEF-2C56-4EF0-B8A4-FF376F9DFB8F}"/>
              </a:ext>
            </a:extLst>
          </p:cNvPr>
          <p:cNvSpPr>
            <a:spLocks xmlns:a="http://schemas.openxmlformats.org/drawingml/2006/main"/>
          </p:cNvSpPr>
          <p:nvPr/>
        </p:nvSpPr>
        <p:spPr>
          <a:xfrm xmlns:a="http://schemas.openxmlformats.org/drawingml/2006/main">
            <a:off x="0" y="55245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74" name="44-shape-22">
            <a:extLst xmlns:a="http://schemas.openxmlformats.org/drawingml/2006/main">
              <a:ext uri="{FF2B5EF4-FFF2-40B4-BE49-F238E27FC236}">
                <a16:creationId xmlns:a16="http://schemas.microsoft.com/office/drawing/2014/main" id="{277BABB4-0CAF-4B64-9BFB-B2343A632170}"/>
              </a:ext>
            </a:extLst>
          </p:cNvPr>
          <p:cNvSpPr>
            <a:spLocks xmlns:a="http://schemas.openxmlformats.org/drawingml/2006/main"/>
          </p:cNvSpPr>
          <p:nvPr/>
        </p:nvSpPr>
        <p:spPr>
          <a:xfrm xmlns:a="http://schemas.openxmlformats.org/drawingml/2006/main">
            <a:off x="0" y="5524500"/>
            <a:ext cx="3454400" cy="7112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75" name="44-text-23">
            <a:extLst xmlns:a="http://schemas.openxmlformats.org/drawingml/2006/main">
              <a:ext uri="{FF2B5EF4-FFF2-40B4-BE49-F238E27FC236}">
                <a16:creationId xmlns:a16="http://schemas.microsoft.com/office/drawing/2014/main" id="{1687BC62-0E58-4C50-BA3D-CC20B23937AC}"/>
              </a:ext>
            </a:extLst>
          </p:cNvPr>
          <p:cNvSpPr>
            <a:spLocks xmlns:a="http://schemas.openxmlformats.org/drawingml/2006/main"/>
          </p:cNvSpPr>
          <p:nvPr/>
        </p:nvSpPr>
        <p:spPr>
          <a:xfrm xmlns:a="http://schemas.openxmlformats.org/drawingml/2006/main">
            <a:off x="609600" y="5676900"/>
            <a:ext cx="284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Production operations</a:t>
            </a:r>
          </a:p>
        </p:txBody>
      </p:sp>
      <p:sp>
        <p:nvSpPr>
          <p:cNvPr id="476" name="44-text-24">
            <a:extLst xmlns:a="http://schemas.openxmlformats.org/drawingml/2006/main">
              <a:ext uri="{FF2B5EF4-FFF2-40B4-BE49-F238E27FC236}">
                <a16:creationId xmlns:a16="http://schemas.microsoft.com/office/drawing/2014/main" id="{3D3AECBF-8360-43A5-82B7-7D6047E6E224}"/>
              </a:ext>
            </a:extLst>
          </p:cNvPr>
          <p:cNvSpPr>
            <a:spLocks xmlns:a="http://schemas.openxmlformats.org/drawingml/2006/main"/>
          </p:cNvSpPr>
          <p:nvPr/>
        </p:nvSpPr>
        <p:spPr>
          <a:xfrm xmlns:a="http://schemas.openxmlformats.org/drawingml/2006/main">
            <a:off x="3759200" y="55626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lethal trifecta, assembled one integration at a time.</a:t>
            </a:r>
          </a:p>
        </p:txBody>
      </p:sp>
      <p:sp>
        <p:nvSpPr>
          <p:cNvPr id="477" name="narrative-number">
            <a:extLst xmlns:a="http://schemas.openxmlformats.org/drawingml/2006/main">
              <a:ext uri="{FF2B5EF4-FFF2-40B4-BE49-F238E27FC236}">
                <a16:creationId xmlns:a16="http://schemas.microsoft.com/office/drawing/2014/main" id="{A502467D-C48B-4ECA-B0DC-7ECA7CDFA52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44</a:t>
            </a:r>
          </a:p>
        </p:txBody>
      </p:sp>
    </p:spTree>
    <p:extLst>
      <p:ext uri="{BB962C8B-B14F-4D97-AF65-F5344CB8AC3E}">
        <p14:creationId xmlns:p14="http://schemas.microsoft.com/office/powerpoint/2010/main" val="1050031302"/>
      </p:ext>
    </p:extLst>
  </p:cSld>
</p:sld>
</file>

<file path=ppt/slides/slide5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8" name="!!area-name">
            <a:extLst xmlns:a="http://schemas.openxmlformats.org/drawingml/2006/main">
              <a:ext uri="{FF2B5EF4-FFF2-40B4-BE49-F238E27FC236}">
                <a16:creationId xmlns:a16="http://schemas.microsoft.com/office/drawing/2014/main" id="{3E2740AB-AAAF-481F-B559-6E71D0BBCC8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496" name="mini-map"/>
          <p:cNvPicPr>
            <a:picLocks xmlns:a="http://schemas.openxmlformats.org/drawingml/2006/main" noChangeAspect="1"/>
          </p:cNvPicPr>
          <p:nvPr/>
        </p:nvPicPr>
        <p:blipFill>
          <a:blip xmlns:r="http://schemas.openxmlformats.org/officeDocument/2006/relationships" xmlns:a="http://schemas.openxmlformats.org/drawingml/2006/main" r:embed="R021d0308fd70404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80" name="slide-title">
            <a:extLst xmlns:a="http://schemas.openxmlformats.org/drawingml/2006/main">
              <a:ext uri="{FF2B5EF4-FFF2-40B4-BE49-F238E27FC236}">
                <a16:creationId xmlns:a16="http://schemas.microsoft.com/office/drawing/2014/main" id="{7CAE4C5C-14F2-441B-AF20-13F42014973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481" name="header-divider">
            <a:extLst xmlns:a="http://schemas.openxmlformats.org/drawingml/2006/main">
              <a:ext uri="{FF2B5EF4-FFF2-40B4-BE49-F238E27FC236}">
                <a16:creationId xmlns:a16="http://schemas.microsoft.com/office/drawing/2014/main" id="{205DAB7B-AF08-4EF5-B906-467192FEF05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82" name="45-shape-1">
            <a:extLst xmlns:a="http://schemas.openxmlformats.org/drawingml/2006/main">
              <a:ext uri="{FF2B5EF4-FFF2-40B4-BE49-F238E27FC236}">
                <a16:creationId xmlns:a16="http://schemas.microsoft.com/office/drawing/2014/main" id="{B0F1C1B2-CAAE-407D-9503-648D776FFD2D}"/>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83" name="45-text-2">
            <a:extLst xmlns:a="http://schemas.openxmlformats.org/drawingml/2006/main">
              <a:ext uri="{FF2B5EF4-FFF2-40B4-BE49-F238E27FC236}">
                <a16:creationId xmlns:a16="http://schemas.microsoft.com/office/drawing/2014/main" id="{3D79D7F2-9587-408B-A4A7-6A781ABCA8F1}"/>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84" name="45-text-3">
            <a:extLst xmlns:a="http://schemas.openxmlformats.org/drawingml/2006/main">
              <a:ext uri="{FF2B5EF4-FFF2-40B4-BE49-F238E27FC236}">
                <a16:creationId xmlns:a16="http://schemas.microsoft.com/office/drawing/2014/main" id="{3820BC60-C06B-4E7F-8675-3A213AFB25EA}"/>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Look before you build.</a:t>
            </a:r>
          </a:p>
        </p:txBody>
      </p:sp>
      <p:sp>
        <p:nvSpPr>
          <p:cNvPr id="485" name="45-shape-4">
            <a:extLst xmlns:a="http://schemas.openxmlformats.org/drawingml/2006/main">
              <a:ext uri="{FF2B5EF4-FFF2-40B4-BE49-F238E27FC236}">
                <a16:creationId xmlns:a16="http://schemas.microsoft.com/office/drawing/2014/main" id="{57928ED8-1A19-40CA-AE87-D6CD0BD551E3}"/>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86" name="45-text-5">
            <a:extLst xmlns:a="http://schemas.openxmlformats.org/drawingml/2006/main">
              <a:ext uri="{FF2B5EF4-FFF2-40B4-BE49-F238E27FC236}">
                <a16:creationId xmlns:a16="http://schemas.microsoft.com/office/drawing/2014/main" id="{135440B5-2412-4215-8BD5-E6958ADAEF24}"/>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487" name="45-text-6">
            <a:extLst xmlns:a="http://schemas.openxmlformats.org/drawingml/2006/main">
              <a:ext uri="{FF2B5EF4-FFF2-40B4-BE49-F238E27FC236}">
                <a16:creationId xmlns:a16="http://schemas.microsoft.com/office/drawing/2014/main" id="{249037DA-C707-45D2-B9A6-B23BCA3FFCB4}"/>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constrained.</a:t>
            </a:r>
          </a:p>
        </p:txBody>
      </p:sp>
      <p:sp>
        <p:nvSpPr>
          <p:cNvPr id="488" name="45-shape-7">
            <a:extLst xmlns:a="http://schemas.openxmlformats.org/drawingml/2006/main">
              <a:ext uri="{FF2B5EF4-FFF2-40B4-BE49-F238E27FC236}">
                <a16:creationId xmlns:a16="http://schemas.microsoft.com/office/drawing/2014/main" id="{E75772C3-69A4-47F6-A358-2E05104FE71E}"/>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89" name="45-text-8">
            <a:extLst xmlns:a="http://schemas.openxmlformats.org/drawingml/2006/main">
              <a:ext uri="{FF2B5EF4-FFF2-40B4-BE49-F238E27FC236}">
                <a16:creationId xmlns:a16="http://schemas.microsoft.com/office/drawing/2014/main" id="{254C5D35-CB64-473F-B0D9-6721D968E514}"/>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490" name="45-text-9">
            <a:extLst xmlns:a="http://schemas.openxmlformats.org/drawingml/2006/main">
              <a:ext uri="{FF2B5EF4-FFF2-40B4-BE49-F238E27FC236}">
                <a16:creationId xmlns:a16="http://schemas.microsoft.com/office/drawing/2014/main" id="{AAE01D9A-7ECA-4DF0-BA2F-E7118ADB6F28}"/>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Own the harness.</a:t>
            </a:r>
          </a:p>
        </p:txBody>
      </p:sp>
      <p:sp>
        <p:nvSpPr>
          <p:cNvPr id="491" name="45-shape-10">
            <a:extLst xmlns:a="http://schemas.openxmlformats.org/drawingml/2006/main">
              <a:ext uri="{FF2B5EF4-FFF2-40B4-BE49-F238E27FC236}">
                <a16:creationId xmlns:a16="http://schemas.microsoft.com/office/drawing/2014/main" id="{63BCDA6F-3FB9-43D6-8869-B0F655EB8056}"/>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92" name="45-text-11">
            <a:extLst xmlns:a="http://schemas.openxmlformats.org/drawingml/2006/main">
              <a:ext uri="{FF2B5EF4-FFF2-40B4-BE49-F238E27FC236}">
                <a16:creationId xmlns:a16="http://schemas.microsoft.com/office/drawing/2014/main" id="{93CB9461-258E-4DFA-94BC-F1EF4C49255B}"/>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493" name="45-text-12">
            <a:extLst xmlns:a="http://schemas.openxmlformats.org/drawingml/2006/main">
              <a:ext uri="{FF2B5EF4-FFF2-40B4-BE49-F238E27FC236}">
                <a16:creationId xmlns:a16="http://schemas.microsoft.com/office/drawing/2014/main" id="{7CE1EB61-16D1-4904-802D-E62BE1EAB29B}"/>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as your evals earn it.</a:t>
            </a:r>
          </a:p>
        </p:txBody>
      </p:sp>
      <p:sp>
        <p:nvSpPr>
          <p:cNvPr id="494" name="narrative-number">
            <a:extLst xmlns:a="http://schemas.openxmlformats.org/drawingml/2006/main">
              <a:ext uri="{FF2B5EF4-FFF2-40B4-BE49-F238E27FC236}">
                <a16:creationId xmlns:a16="http://schemas.microsoft.com/office/drawing/2014/main" id="{E023558C-9A7A-4FCB-BD64-C150E64EBA9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2930318514"/>
      </p:ext>
    </p:extLst>
  </p:cSld>
</p:sld>
</file>

<file path=ppt/slides/slide5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95" name="!!area-name">
            <a:extLst xmlns:a="http://schemas.openxmlformats.org/drawingml/2006/main">
              <a:ext uri="{FF2B5EF4-FFF2-40B4-BE49-F238E27FC236}">
                <a16:creationId xmlns:a16="http://schemas.microsoft.com/office/drawing/2014/main" id="{0DBC785F-8180-4CE7-AF7A-B7EDED43A8A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505" name="mini-map"/>
          <p:cNvPicPr>
            <a:picLocks xmlns:a="http://schemas.openxmlformats.org/drawingml/2006/main" noChangeAspect="1"/>
          </p:cNvPicPr>
          <p:nvPr/>
        </p:nvPicPr>
        <p:blipFill>
          <a:blip xmlns:r="http://schemas.openxmlformats.org/officeDocument/2006/relationships" xmlns:a="http://schemas.openxmlformats.org/drawingml/2006/main" r:embed="R558e5280a8c1485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97" name="slide-title">
            <a:extLst xmlns:a="http://schemas.openxmlformats.org/drawingml/2006/main">
              <a:ext uri="{FF2B5EF4-FFF2-40B4-BE49-F238E27FC236}">
                <a16:creationId xmlns:a16="http://schemas.microsoft.com/office/drawing/2014/main" id="{AF53A36C-A58E-439D-A8BE-B8B9405E635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498" name="header-divider">
            <a:extLst xmlns:a="http://schemas.openxmlformats.org/drawingml/2006/main">
              <a:ext uri="{FF2B5EF4-FFF2-40B4-BE49-F238E27FC236}">
                <a16:creationId xmlns:a16="http://schemas.microsoft.com/office/drawing/2014/main" id="{85DB8510-FC58-4558-BD0B-BED64814571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99" name="45-text-13">
            <a:extLst xmlns:a="http://schemas.openxmlformats.org/drawingml/2006/main">
              <a:ext uri="{FF2B5EF4-FFF2-40B4-BE49-F238E27FC236}">
                <a16:creationId xmlns:a16="http://schemas.microsoft.com/office/drawing/2014/main" id="{A59304E7-CC6C-434D-8958-D866B3F3EC65}"/>
              </a:ext>
            </a:extLst>
          </p:cNvPr>
          <p:cNvSpPr>
            <a:spLocks xmlns:a="http://schemas.openxmlformats.org/drawingml/2006/main"/>
          </p:cNvSpPr>
          <p:nvPr/>
        </p:nvSpPr>
        <p:spPr>
          <a:xfrm xmlns:a="http://schemas.openxmlformats.org/drawingml/2006/main">
            <a:off x="609600" y="2438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Review 20 to 50 outputs.</a:t>
            </a:r>
          </a:p>
        </p:txBody>
      </p:sp>
      <p:sp>
        <p:nvSpPr>
          <p:cNvPr id="500" name="45-text-14">
            <a:extLst xmlns:a="http://schemas.openxmlformats.org/drawingml/2006/main">
              <a:ext uri="{FF2B5EF4-FFF2-40B4-BE49-F238E27FC236}">
                <a16:creationId xmlns:a16="http://schemas.microsoft.com/office/drawing/2014/main" id="{11213677-CE23-4B93-810A-B5587B51B2B3}"/>
              </a:ext>
            </a:extLst>
          </p:cNvPr>
          <p:cNvSpPr>
            <a:spLocks xmlns:a="http://schemas.openxmlformats.org/drawingml/2006/main"/>
          </p:cNvSpPr>
          <p:nvPr/>
        </p:nvSpPr>
        <p:spPr>
          <a:xfrm xmlns:a="http://schemas.openxmlformats.org/drawingml/2006/main">
            <a:off x="609600" y="3251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Record the input, observed behavior,</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expected behavior, and check.</a:t>
            </a:r>
          </a:p>
        </p:txBody>
      </p:sp>
      <p:sp>
        <p:nvSpPr>
          <p:cNvPr id="501" name="45-text-15">
            <a:extLst xmlns:a="http://schemas.openxmlformats.org/drawingml/2006/main">
              <a:ext uri="{FF2B5EF4-FFF2-40B4-BE49-F238E27FC236}">
                <a16:creationId xmlns:a16="http://schemas.microsoft.com/office/drawing/2014/main" id="{6FEE8A75-6C15-438E-B40D-CEC73B14241A}"/>
              </a:ext>
            </a:extLst>
          </p:cNvPr>
          <p:cNvSpPr>
            <a:spLocks xmlns:a="http://schemas.openxmlformats.org/drawingml/2006/main"/>
          </p:cNvSpPr>
          <p:nvPr/>
        </p:nvSpPr>
        <p:spPr>
          <a:xfrm xmlns:a="http://schemas.openxmlformats.org/drawingml/2006/main">
            <a:off x="609600" y="4343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callback. Use your own system’s outputs.</a:t>
            </a:r>
          </a:p>
        </p:txBody>
      </p:sp>
      <p:graphicFrame>
        <p:nvGraphicFramePr>
          <p:cNvPr id="511" name="45-table-16"/>
          <p:cNvGraphicFramePr/>
          <p:nvPr/>
        </p:nvGraphicFramePr>
        <p:xfrm>
          <a:off xmlns:a="http://schemas.openxmlformats.org/drawingml/2006/main" x="609600" y="4749800"/>
          <a:ext xmlns:a="http://schemas.openxmlformats.org/drawingml/2006/main" cx="10972800" cy="1371600"/>
        </p:xfrm>
        <a:graphic xmlns:a="http://schemas.openxmlformats.org/drawingml/2006/main">
          <a:graphicData uri="http://schemas.openxmlformats.org/drawingml/2006/table">
            <a:tbl>
              <a:tblPr firstRow="0" firstCol="0" lastCol="0" bandRow="0" bandCol="0"/>
              <a:tblGrid>
                <a:gridCol w="2743200"/>
                <a:gridCol w="2743200"/>
                <a:gridCol w="2743200"/>
                <a:gridCol w="2743200"/>
              </a:tblGrid>
              <a:tr h="406400">
                <a:tc>
                  <a:txBody>
                    <a:bodyPr>
                      <a:noAutofit/>
                    </a:bodyPr>
                    <a:lstStyle/>
                    <a:p>
                      <a:pPr>
                        <a:lnSpc>
                          <a:spcPct val="125000"/>
                        </a:lnSpc>
                        <a:buNone/>
                      </a:pPr>
                      <a:r>
                        <a:rPr sz="2000" b="1">
                          <a:solidFill>
                            <a:srgbClr val="01B66D"/>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Observed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FRB-042</a:t>
                      </a:r>
                    </a:p>
                    <a:p>
                      <a:pPr>
                        <a:lnSpc>
                          <a:spcPct val="125000"/>
                        </a:lnSpc>
                        <a:buNone/>
                      </a:pPr>
                      <a:r>
                        <a:rPr sz="2000" b="0">
                          <a:solidFill>
                            <a:srgbClr val="FFFCF5"/>
                          </a:solidFill>
                          <a:latin typeface="Helvetica"/>
                          <a:ea typeface="Helvetica"/>
                          <a:cs typeface="Helvetica"/>
                        </a:rPr>
                        <a:t>summary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Bearing wear</a:t>
                      </a:r>
                    </a:p>
                    <a:p>
                      <a:pPr>
                        <a:lnSpc>
                          <a:spcPct val="125000"/>
                        </a:lnSpc>
                        <a:buNone/>
                      </a:pPr>
                      <a:r>
                        <a:rPr sz="2000" b="0">
                          <a:solidFill>
                            <a:srgbClr val="FFFCF5"/>
                          </a:solidFill>
                          <a:latin typeface="Helvetica"/>
                          <a:ea typeface="Helvetica"/>
                          <a:cs typeface="Helvetica"/>
                        </a:rPr>
                        <a:t>confirmed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Cause remains</a:t>
                      </a:r>
                    </a:p>
                    <a:p>
                      <a:pPr>
                        <a:lnSpc>
                          <a:spcPct val="125000"/>
                        </a:lnSpc>
                        <a:buNone/>
                      </a:pPr>
                      <a:r>
                        <a:rPr sz="2000" b="0">
                          <a:solidFill>
                            <a:srgbClr val="FFFCF5"/>
                          </a:solidFill>
                          <a:latin typeface="Helvetica"/>
                          <a:ea typeface="Helvetica"/>
                          <a:cs typeface="Helvetica"/>
                        </a:rPr>
                        <a:t>unresolved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Does the source</a:t>
                      </a:r>
                    </a:p>
                    <a:p>
                      <a:pPr>
                        <a:lnSpc>
                          <a:spcPct val="125000"/>
                        </a:lnSpc>
                        <a:buNone/>
                      </a:pPr>
                      <a:r>
                        <a:rPr sz="2000" b="0">
                          <a:solidFill>
                            <a:srgbClr val="FFFCF5"/>
                          </a:solidFill>
                          <a:latin typeface="Helvetica"/>
                          <a:ea typeface="Helvetica"/>
                          <a:cs typeface="Helvetica"/>
                        </a:rPr>
                        <a:t>support the claim?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03" name="narrative-number">
            <a:extLst xmlns:a="http://schemas.openxmlformats.org/drawingml/2006/main">
              <a:ext uri="{FF2B5EF4-FFF2-40B4-BE49-F238E27FC236}">
                <a16:creationId xmlns:a16="http://schemas.microsoft.com/office/drawing/2014/main" id="{CB59FC3A-821F-437A-A996-FE4009F24A8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1612264869"/>
      </p:ext>
    </p:extLst>
  </p:cSld>
</p:sld>
</file>

<file path=ppt/slides/slide5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04" name="slide-title">
            <a:extLst xmlns:a="http://schemas.openxmlformats.org/drawingml/2006/main">
              <a:ext uri="{FF2B5EF4-FFF2-40B4-BE49-F238E27FC236}">
                <a16:creationId xmlns:a16="http://schemas.microsoft.com/office/drawing/2014/main" id="{4C2728C0-D721-44D1-8CF6-D9588B3A0BE5}"/>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505" name="header-divider">
            <a:extLst xmlns:a="http://schemas.openxmlformats.org/drawingml/2006/main">
              <a:ext uri="{FF2B5EF4-FFF2-40B4-BE49-F238E27FC236}">
                <a16:creationId xmlns:a16="http://schemas.microsoft.com/office/drawing/2014/main" id="{1456C63A-E1EE-42CC-BA99-BAE3E3F4528E}"/>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06" name="46-text-1">
            <a:extLst xmlns:a="http://schemas.openxmlformats.org/drawingml/2006/main">
              <a:ext uri="{FF2B5EF4-FFF2-40B4-BE49-F238E27FC236}">
                <a16:creationId xmlns:a16="http://schemas.microsoft.com/office/drawing/2014/main" id="{8A2A636F-5F6A-4C40-A48F-E1088A09B45E}"/>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507" name="46-text-2">
            <a:extLst xmlns:a="http://schemas.openxmlformats.org/drawingml/2006/main">
              <a:ext uri="{FF2B5EF4-FFF2-40B4-BE49-F238E27FC236}">
                <a16:creationId xmlns:a16="http://schemas.microsoft.com/office/drawing/2014/main" id="{561D5E2D-7BE5-464E-BAA8-C00DFE58B1EC}"/>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508" name="46-text-3">
            <a:extLst xmlns:a="http://schemas.openxmlformats.org/drawingml/2006/main">
              <a:ext uri="{FF2B5EF4-FFF2-40B4-BE49-F238E27FC236}">
                <a16:creationId xmlns:a16="http://schemas.microsoft.com/office/drawing/2014/main" id="{9448E94D-8844-4611-9B6A-18C410B02EA9}"/>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509" name="46-text-4">
            <a:extLst xmlns:a="http://schemas.openxmlformats.org/drawingml/2006/main">
              <a:ext uri="{FF2B5EF4-FFF2-40B4-BE49-F238E27FC236}">
                <a16:creationId xmlns:a16="http://schemas.microsoft.com/office/drawing/2014/main" id="{E6B1A6C6-CF36-4222-B0C8-6724AE94E7EE}"/>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510" name="46-text-5">
            <a:extLst xmlns:a="http://schemas.openxmlformats.org/drawingml/2006/main">
              <a:ext uri="{FF2B5EF4-FFF2-40B4-BE49-F238E27FC236}">
                <a16:creationId xmlns:a16="http://schemas.microsoft.com/office/drawing/2014/main" id="{9A80F496-82AF-49F9-B27D-9BFFEAF454CA}"/>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511" name="46-text-6">
            <a:extLst xmlns:a="http://schemas.openxmlformats.org/drawingml/2006/main">
              <a:ext uri="{FF2B5EF4-FFF2-40B4-BE49-F238E27FC236}">
                <a16:creationId xmlns:a16="http://schemas.microsoft.com/office/drawing/2014/main" id="{BE32997F-D49B-4FD0-8386-DA19BB266E8B}"/>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512" name="46-text-7">
            <a:extLst xmlns:a="http://schemas.openxmlformats.org/drawingml/2006/main">
              <a:ext uri="{FF2B5EF4-FFF2-40B4-BE49-F238E27FC236}">
                <a16:creationId xmlns:a16="http://schemas.microsoft.com/office/drawing/2014/main" id="{BFE136E1-142D-49F6-B1AB-6F1043429998}"/>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513" name="46-text-8">
            <a:extLst xmlns:a="http://schemas.openxmlformats.org/drawingml/2006/main">
              <a:ext uri="{FF2B5EF4-FFF2-40B4-BE49-F238E27FC236}">
                <a16:creationId xmlns:a16="http://schemas.microsoft.com/office/drawing/2014/main" id="{C5D96717-8CCC-4490-AF0C-9ADF1A265C9B}"/>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514" name="46-text-9">
            <a:extLst xmlns:a="http://schemas.openxmlformats.org/drawingml/2006/main">
              <a:ext uri="{FF2B5EF4-FFF2-40B4-BE49-F238E27FC236}">
                <a16:creationId xmlns:a16="http://schemas.microsoft.com/office/drawing/2014/main" id="{7C52F699-B86D-4F0A-8A80-D20A21B0AB7A}"/>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515" name="46-text-10">
            <a:extLst xmlns:a="http://schemas.openxmlformats.org/drawingml/2006/main">
              <a:ext uri="{FF2B5EF4-FFF2-40B4-BE49-F238E27FC236}">
                <a16:creationId xmlns:a16="http://schemas.microsoft.com/office/drawing/2014/main" id="{599EE305-4A9F-474E-9007-6DA181A05C5B}"/>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516" name="46-text-11">
            <a:extLst xmlns:a="http://schemas.openxmlformats.org/drawingml/2006/main">
              <a:ext uri="{FF2B5EF4-FFF2-40B4-BE49-F238E27FC236}">
                <a16:creationId xmlns:a16="http://schemas.microsoft.com/office/drawing/2014/main" id="{C11ADBC2-FE8F-467C-9FB0-BEC7B6D5823E}"/>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517" name="46-text-12">
            <a:extLst xmlns:a="http://schemas.openxmlformats.org/drawingml/2006/main">
              <a:ext uri="{FF2B5EF4-FFF2-40B4-BE49-F238E27FC236}">
                <a16:creationId xmlns:a16="http://schemas.microsoft.com/office/drawing/2014/main" id="{E34A2C66-F81F-43A7-B10E-6A60683F4FE9}"/>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518" name="narrative-number">
            <a:extLst xmlns:a="http://schemas.openxmlformats.org/drawingml/2006/main">
              <a:ext uri="{FF2B5EF4-FFF2-40B4-BE49-F238E27FC236}">
                <a16:creationId xmlns:a16="http://schemas.microsoft.com/office/drawing/2014/main" id="{0F5F07B1-62CF-4ED2-ADA2-6B52CE37C65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46</a:t>
            </a:r>
          </a:p>
        </p:txBody>
      </p:sp>
    </p:spTree>
    <p:extLst>
      <p:ext uri="{BB962C8B-B14F-4D97-AF65-F5344CB8AC3E}">
        <p14:creationId xmlns:p14="http://schemas.microsoft.com/office/powerpoint/2010/main" val="2408173595"/>
      </p:ext>
    </p:extLst>
  </p:cSld>
</p:sld>
</file>

<file path=ppt/slides/slide5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9" name="47-text-1">
            <a:extLst xmlns:a="http://schemas.openxmlformats.org/drawingml/2006/main">
              <a:ext uri="{FF2B5EF4-FFF2-40B4-BE49-F238E27FC236}">
                <a16:creationId xmlns:a16="http://schemas.microsoft.com/office/drawing/2014/main" id="{2ADB86CE-E668-4ADE-AE24-E217F32FB18E}"/>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520" name="47-text-2">
            <a:extLst xmlns:a="http://schemas.openxmlformats.org/drawingml/2006/main">
              <a:ext uri="{FF2B5EF4-FFF2-40B4-BE49-F238E27FC236}">
                <a16:creationId xmlns:a16="http://schemas.microsoft.com/office/drawing/2014/main" id="{B072D23D-8033-48C3-9A09-D8764B04D7B7}"/>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521" name="47-text-3">
            <a:extLst xmlns:a="http://schemas.openxmlformats.org/drawingml/2006/main">
              <a:ext uri="{FF2B5EF4-FFF2-40B4-BE49-F238E27FC236}">
                <a16:creationId xmlns:a16="http://schemas.microsoft.com/office/drawing/2014/main" id="{3735C1A6-AADD-4F34-BA0F-29DBFCCF2E5A}"/>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522" name="narrative-number">
            <a:extLst xmlns:a="http://schemas.openxmlformats.org/drawingml/2006/main">
              <a:ext uri="{FF2B5EF4-FFF2-40B4-BE49-F238E27FC236}">
                <a16:creationId xmlns:a16="http://schemas.microsoft.com/office/drawing/2014/main" id="{82D8C944-745D-42A0-8E20-F2F5F60A23B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47</a:t>
            </a:r>
          </a:p>
        </p:txBody>
      </p:sp>
    </p:spTree>
    <p:extLst>
      <p:ext uri="{BB962C8B-B14F-4D97-AF65-F5344CB8AC3E}">
        <p14:creationId xmlns:p14="http://schemas.microsoft.com/office/powerpoint/2010/main" val="262116882"/>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2026-09-16T05:33:49.9010000Z</dcterms:created>
  <dcterms:modified xsi:type="dcterms:W3CDTF">2026-09-16T05:33:49.9010000Z</dcterms:modified>
</coreProperties>
</file>