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383aa96d52e4aab" /><Relationship Type="http://schemas.openxmlformats.org/officeDocument/2006/relationships/extended-properties" Target="/docProps/app.xml" Id="R4657d3d379dc495a" /><Relationship Type="http://schemas.openxmlformats.org/officeDocument/2006/relationships/officeDocument" Target="/ppt/presentation.xml" Id="R3b8467ad72d24da7" /></Relationships>
</file>

<file path=ppt/presentation.xml><?xml version="1.0" encoding="utf-8"?>
<p:presentation xmlns:p="http://schemas.openxmlformats.org/presentationml/2006/main" autoCompressPictures="0" embedTrueTypeFonts="0" saveSubsetFonts="0">
  <p:sldMasterIdLst>
    <p:sldMasterId xmlns:r="http://schemas.openxmlformats.org/officeDocument/2006/relationships" id="2147483648" r:id="R5fb857f324b54cdf"/>
    <p:sldMasterId xmlns:r="http://schemas.openxmlformats.org/officeDocument/2006/relationships" id="2147483650" r:id="R2b6c2be852804ef9"/>
  </p:sldMasterIdLst>
  <p:notesMasterIdLst>
    <p:notesMasterId xmlns:r="http://schemas.openxmlformats.org/officeDocument/2006/relationships" r:id="R7f909cb6081f46ba"/>
  </p:notesMasterIdLst>
  <p:sldIdLst>
    <p:sldId xmlns:r="http://schemas.openxmlformats.org/officeDocument/2006/relationships" id="256" r:id="Rf6385362dae1437c"/>
    <p:sldId xmlns:r="http://schemas.openxmlformats.org/officeDocument/2006/relationships" id="257" r:id="R8dee51986a204eb6"/>
    <p:sldId xmlns:r="http://schemas.openxmlformats.org/officeDocument/2006/relationships" id="258" r:id="R6846f266fc5f4a38"/>
    <p:sldId xmlns:r="http://schemas.openxmlformats.org/officeDocument/2006/relationships" id="259" r:id="R292ea8782a374fee"/>
    <p:sldId xmlns:r="http://schemas.openxmlformats.org/officeDocument/2006/relationships" id="260" r:id="R128b2089df5b46f3"/>
    <p:sldId xmlns:r="http://schemas.openxmlformats.org/officeDocument/2006/relationships" id="261" r:id="Rc13dcdf9941b4e03"/>
    <p:sldId xmlns:r="http://schemas.openxmlformats.org/officeDocument/2006/relationships" id="262" r:id="Rc159d847afb64356"/>
    <p:sldId xmlns:r="http://schemas.openxmlformats.org/officeDocument/2006/relationships" id="263" r:id="R37948caf3a1c4ba3"/>
    <p:sldId xmlns:r="http://schemas.openxmlformats.org/officeDocument/2006/relationships" id="264" r:id="R5c9106d5cdb545a5"/>
    <p:sldId xmlns:r="http://schemas.openxmlformats.org/officeDocument/2006/relationships" id="265" r:id="Rd9917f39324943d6"/>
    <p:sldId xmlns:r="http://schemas.openxmlformats.org/officeDocument/2006/relationships" id="266" r:id="R11401aae10c34c2d"/>
    <p:sldId xmlns:r="http://schemas.openxmlformats.org/officeDocument/2006/relationships" id="267" r:id="Ra83ee0fe1e844fd0"/>
    <p:sldId xmlns:r="http://schemas.openxmlformats.org/officeDocument/2006/relationships" id="268" r:id="R6b5246b0aa3041c3"/>
    <p:sldId xmlns:r="http://schemas.openxmlformats.org/officeDocument/2006/relationships" id="269" r:id="R8c9d0a8a3aa64da5"/>
    <p:sldId xmlns:r="http://schemas.openxmlformats.org/officeDocument/2006/relationships" id="270" r:id="Re947b240c3114d2d"/>
    <p:sldId xmlns:r="http://schemas.openxmlformats.org/officeDocument/2006/relationships" id="271" r:id="R91e6cc602f074b7a"/>
    <p:sldId xmlns:r="http://schemas.openxmlformats.org/officeDocument/2006/relationships" id="272" r:id="R3c46ba578caf4af5"/>
    <p:sldId xmlns:r="http://schemas.openxmlformats.org/officeDocument/2006/relationships" id="273" r:id="R4131c0599516461b"/>
    <p:sldId xmlns:r="http://schemas.openxmlformats.org/officeDocument/2006/relationships" id="274" r:id="R4804f98cf6674b79"/>
    <p:sldId xmlns:r="http://schemas.openxmlformats.org/officeDocument/2006/relationships" id="275" r:id="Rdb8e416dde5b4418"/>
    <p:sldId xmlns:r="http://schemas.openxmlformats.org/officeDocument/2006/relationships" id="276" r:id="R9c680702052a4a53"/>
    <p:sldId xmlns:r="http://schemas.openxmlformats.org/officeDocument/2006/relationships" id="277" r:id="Rb1dbf8c286314bec"/>
    <p:sldId xmlns:r="http://schemas.openxmlformats.org/officeDocument/2006/relationships" id="278" r:id="Rbed38f0d32614015"/>
    <p:sldId xmlns:r="http://schemas.openxmlformats.org/officeDocument/2006/relationships" id="279" r:id="R07c1b0c80f6f43b3"/>
    <p:sldId xmlns:r="http://schemas.openxmlformats.org/officeDocument/2006/relationships" id="280" r:id="Rb8fb0351e5864765"/>
    <p:sldId xmlns:r="http://schemas.openxmlformats.org/officeDocument/2006/relationships" id="281" r:id="R719b1be7ba3b4570"/>
    <p:sldId xmlns:r="http://schemas.openxmlformats.org/officeDocument/2006/relationships" id="282" r:id="Rbf0ab83585ea4f20"/>
    <p:sldId xmlns:r="http://schemas.openxmlformats.org/officeDocument/2006/relationships" id="283" r:id="Rd839a41b62ec4f90"/>
    <p:sldId xmlns:r="http://schemas.openxmlformats.org/officeDocument/2006/relationships" id="284" r:id="R07389088a1914aed"/>
    <p:sldId xmlns:r="http://schemas.openxmlformats.org/officeDocument/2006/relationships" id="285" r:id="R7c2666c2c1194ef4"/>
    <p:sldId xmlns:r="http://schemas.openxmlformats.org/officeDocument/2006/relationships" id="286" r:id="R3f84513133334c3d"/>
    <p:sldId xmlns:r="http://schemas.openxmlformats.org/officeDocument/2006/relationships" id="287" r:id="Rfc2c281af2ac447f"/>
    <p:sldId xmlns:r="http://schemas.openxmlformats.org/officeDocument/2006/relationships" id="288" r:id="Raf422de9c7814dc8"/>
    <p:sldId xmlns:r="http://schemas.openxmlformats.org/officeDocument/2006/relationships" id="289" r:id="Rf7710a1924b74261"/>
    <p:sldId xmlns:r="http://schemas.openxmlformats.org/officeDocument/2006/relationships" id="290" r:id="R240b0d49021b4999"/>
    <p:sldId xmlns:r="http://schemas.openxmlformats.org/officeDocument/2006/relationships" id="291" r:id="R515ddcbd0bda49b6"/>
    <p:sldId xmlns:r="http://schemas.openxmlformats.org/officeDocument/2006/relationships" id="292" r:id="R4d2285754c9a4d9e"/>
    <p:sldId xmlns:r="http://schemas.openxmlformats.org/officeDocument/2006/relationships" id="293" r:id="Radf53e22c24b452b"/>
    <p:sldId xmlns:r="http://schemas.openxmlformats.org/officeDocument/2006/relationships" id="294" r:id="R29dbdb1e966a4313"/>
    <p:sldId xmlns:r="http://schemas.openxmlformats.org/officeDocument/2006/relationships" id="295" r:id="Ra9af3c9d550e4003"/>
    <p:sldId xmlns:r="http://schemas.openxmlformats.org/officeDocument/2006/relationships" id="296" r:id="R12e0761471754173"/>
    <p:sldId xmlns:r="http://schemas.openxmlformats.org/officeDocument/2006/relationships" id="297" r:id="Rbf1653485d5548f5"/>
    <p:sldId xmlns:r="http://schemas.openxmlformats.org/officeDocument/2006/relationships" id="298" r:id="R8273376561764af1"/>
    <p:sldId xmlns:r="http://schemas.openxmlformats.org/officeDocument/2006/relationships" id="299" r:id="Ree349ecf6f404ef3"/>
    <p:sldId xmlns:r="http://schemas.openxmlformats.org/officeDocument/2006/relationships" id="300" r:id="R6a2116f4b4424ac2"/>
    <p:sldId xmlns:r="http://schemas.openxmlformats.org/officeDocument/2006/relationships" id="301" r:id="R491ab457859d428b"/>
    <p:sldId xmlns:r="http://schemas.openxmlformats.org/officeDocument/2006/relationships" id="302" r:id="Rf478b5c6870d4fb2"/>
    <p:sldId xmlns:r="http://schemas.openxmlformats.org/officeDocument/2006/relationships" id="303" r:id="R07b2937cf7fd4f4b"/>
    <p:sldId xmlns:r="http://schemas.openxmlformats.org/officeDocument/2006/relationships" id="304" r:id="Rbb1eff8fc4d945ef"/>
    <p:sldId xmlns:r="http://schemas.openxmlformats.org/officeDocument/2006/relationships" id="305" r:id="R6a7366fa07e64c82"/>
    <p:sldId xmlns:r="http://schemas.openxmlformats.org/officeDocument/2006/relationships" id="306" r:id="Ra1379615f9bf4643"/>
    <p:sldId xmlns:r="http://schemas.openxmlformats.org/officeDocument/2006/relationships" id="307" r:id="Rea75aec31884418b"/>
    <p:sldId xmlns:r="http://schemas.openxmlformats.org/officeDocument/2006/relationships" id="308" r:id="R036f794e6571442e"/>
  </p:sldIdLst>
  <p:sldSz cx="12192000" cy="6858000" type="screen16x9"/>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a3ab3b0fed24efe" /><Relationship Type="http://schemas.openxmlformats.org/officeDocument/2006/relationships/slideMaster" Target="/ppt/slideMasters/slideMaster1.xml" Id="R5fb857f324b54cdf" /><Relationship Type="http://schemas.openxmlformats.org/officeDocument/2006/relationships/slideMaster" Target="/ppt/slideMasters/slideMaster2.xml" Id="R2b6c2be852804ef9" /><Relationship Type="http://schemas.openxmlformats.org/officeDocument/2006/relationships/notesMaster" Target="/ppt/notesMasters/notesMaster1.xml" Id="R7f909cb6081f46ba" /><Relationship Type="http://schemas.openxmlformats.org/officeDocument/2006/relationships/presProps" Target="/ppt/presProps.xml" Id="R42c4df1911da4859" /><Relationship Type="http://schemas.openxmlformats.org/officeDocument/2006/relationships/tableStyles" Target="/ppt/tableStyles.xml" Id="Rf4319e011f504b5f" /><Relationship Type="http://schemas.openxmlformats.org/officeDocument/2006/relationships/slide" Target="/ppt/slides/slide1.xml" Id="Rf6385362dae1437c" /><Relationship Type="http://schemas.openxmlformats.org/officeDocument/2006/relationships/slide" Target="/ppt/slides/slide2.xml" Id="R8dee51986a204eb6" /><Relationship Type="http://schemas.openxmlformats.org/officeDocument/2006/relationships/slide" Target="/ppt/slides/slide3.xml" Id="R6846f266fc5f4a38" /><Relationship Type="http://schemas.openxmlformats.org/officeDocument/2006/relationships/slide" Target="/ppt/slides/slide4.xml" Id="R292ea8782a374fee" /><Relationship Type="http://schemas.openxmlformats.org/officeDocument/2006/relationships/slide" Target="/ppt/slides/slide5.xml" Id="R128b2089df5b46f3" /><Relationship Type="http://schemas.openxmlformats.org/officeDocument/2006/relationships/slide" Target="/ppt/slides/slide6.xml" Id="Rc13dcdf9941b4e03" /><Relationship Type="http://schemas.openxmlformats.org/officeDocument/2006/relationships/slide" Target="/ppt/slides/slide7.xml" Id="Rc159d847afb64356" /><Relationship Type="http://schemas.openxmlformats.org/officeDocument/2006/relationships/slide" Target="/ppt/slides/slide8.xml" Id="R37948caf3a1c4ba3" /><Relationship Type="http://schemas.openxmlformats.org/officeDocument/2006/relationships/slide" Target="/ppt/slides/slide9.xml" Id="R5c9106d5cdb545a5" /><Relationship Type="http://schemas.openxmlformats.org/officeDocument/2006/relationships/slide" Target="/ppt/slides/slide10.xml" Id="Rd9917f39324943d6" /><Relationship Type="http://schemas.openxmlformats.org/officeDocument/2006/relationships/slide" Target="/ppt/slides/slide11.xml" Id="R11401aae10c34c2d" /><Relationship Type="http://schemas.openxmlformats.org/officeDocument/2006/relationships/slide" Target="/ppt/slides/slide12.xml" Id="Ra83ee0fe1e844fd0" /><Relationship Type="http://schemas.openxmlformats.org/officeDocument/2006/relationships/slide" Target="/ppt/slides/slide13.xml" Id="R6b5246b0aa3041c3" /><Relationship Type="http://schemas.openxmlformats.org/officeDocument/2006/relationships/slide" Target="/ppt/slides/slide14.xml" Id="R8c9d0a8a3aa64da5" /><Relationship Type="http://schemas.openxmlformats.org/officeDocument/2006/relationships/slide" Target="/ppt/slides/slide15.xml" Id="Re947b240c3114d2d" /><Relationship Type="http://schemas.openxmlformats.org/officeDocument/2006/relationships/slide" Target="/ppt/slides/slide16.xml" Id="R91e6cc602f074b7a" /><Relationship Type="http://schemas.openxmlformats.org/officeDocument/2006/relationships/slide" Target="/ppt/slides/slide17.xml" Id="R3c46ba578caf4af5" /><Relationship Type="http://schemas.openxmlformats.org/officeDocument/2006/relationships/slide" Target="/ppt/slides/slide18.xml" Id="R4131c0599516461b" /><Relationship Type="http://schemas.openxmlformats.org/officeDocument/2006/relationships/slide" Target="/ppt/slides/slide19.xml" Id="R4804f98cf6674b79" /><Relationship Type="http://schemas.openxmlformats.org/officeDocument/2006/relationships/slide" Target="/ppt/slides/slide20.xml" Id="Rdb8e416dde5b4418" /><Relationship Type="http://schemas.openxmlformats.org/officeDocument/2006/relationships/slide" Target="/ppt/slides/slide21.xml" Id="R9c680702052a4a53" /><Relationship Type="http://schemas.openxmlformats.org/officeDocument/2006/relationships/slide" Target="/ppt/slides/slide22.xml" Id="Rb1dbf8c286314bec" /><Relationship Type="http://schemas.openxmlformats.org/officeDocument/2006/relationships/slide" Target="/ppt/slides/slide23.xml" Id="Rbed38f0d32614015" /><Relationship Type="http://schemas.openxmlformats.org/officeDocument/2006/relationships/slide" Target="/ppt/slides/slide24.xml" Id="R07c1b0c80f6f43b3" /><Relationship Type="http://schemas.openxmlformats.org/officeDocument/2006/relationships/slide" Target="/ppt/slides/slide25.xml" Id="Rb8fb0351e5864765" /><Relationship Type="http://schemas.openxmlformats.org/officeDocument/2006/relationships/slide" Target="/ppt/slides/slide26.xml" Id="R719b1be7ba3b4570" /><Relationship Type="http://schemas.openxmlformats.org/officeDocument/2006/relationships/slide" Target="/ppt/slides/slide27.xml" Id="Rbf0ab83585ea4f20" /><Relationship Type="http://schemas.openxmlformats.org/officeDocument/2006/relationships/slide" Target="/ppt/slides/slide28.xml" Id="Rd839a41b62ec4f90" /><Relationship Type="http://schemas.openxmlformats.org/officeDocument/2006/relationships/slide" Target="/ppt/slides/slide29.xml" Id="R07389088a1914aed" /><Relationship Type="http://schemas.openxmlformats.org/officeDocument/2006/relationships/slide" Target="/ppt/slides/slide30.xml" Id="R7c2666c2c1194ef4" /><Relationship Type="http://schemas.openxmlformats.org/officeDocument/2006/relationships/slide" Target="/ppt/slides/slide31.xml" Id="R3f84513133334c3d" /><Relationship Type="http://schemas.openxmlformats.org/officeDocument/2006/relationships/slide" Target="/ppt/slides/slide32.xml" Id="Rfc2c281af2ac447f" /><Relationship Type="http://schemas.openxmlformats.org/officeDocument/2006/relationships/slide" Target="/ppt/slides/slide33.xml" Id="Raf422de9c7814dc8" /><Relationship Type="http://schemas.openxmlformats.org/officeDocument/2006/relationships/slide" Target="/ppt/slides/slide34.xml" Id="Rf7710a1924b74261" /><Relationship Type="http://schemas.openxmlformats.org/officeDocument/2006/relationships/slide" Target="/ppt/slides/slide35.xml" Id="R240b0d49021b4999" /><Relationship Type="http://schemas.openxmlformats.org/officeDocument/2006/relationships/slide" Target="/ppt/slides/slide36.xml" Id="R515ddcbd0bda49b6" /><Relationship Type="http://schemas.openxmlformats.org/officeDocument/2006/relationships/slide" Target="/ppt/slides/slide37.xml" Id="R4d2285754c9a4d9e" /><Relationship Type="http://schemas.openxmlformats.org/officeDocument/2006/relationships/slide" Target="/ppt/slides/slide38.xml" Id="Radf53e22c24b452b" /><Relationship Type="http://schemas.openxmlformats.org/officeDocument/2006/relationships/slide" Target="/ppt/slides/slide39.xml" Id="R29dbdb1e966a4313" /><Relationship Type="http://schemas.openxmlformats.org/officeDocument/2006/relationships/slide" Target="/ppt/slides/slide40.xml" Id="Ra9af3c9d550e4003" /><Relationship Type="http://schemas.openxmlformats.org/officeDocument/2006/relationships/slide" Target="/ppt/slides/slide41.xml" Id="R12e0761471754173" /><Relationship Type="http://schemas.openxmlformats.org/officeDocument/2006/relationships/slide" Target="/ppt/slides/slide42.xml" Id="Rbf1653485d5548f5" /><Relationship Type="http://schemas.openxmlformats.org/officeDocument/2006/relationships/slide" Target="/ppt/slides/slide43.xml" Id="R8273376561764af1" /><Relationship Type="http://schemas.openxmlformats.org/officeDocument/2006/relationships/slide" Target="/ppt/slides/slide44.xml" Id="Ree349ecf6f404ef3" /><Relationship Type="http://schemas.openxmlformats.org/officeDocument/2006/relationships/slide" Target="/ppt/slides/slide45.xml" Id="R6a2116f4b4424ac2" /><Relationship Type="http://schemas.openxmlformats.org/officeDocument/2006/relationships/slide" Target="/ppt/slides/slide46.xml" Id="R491ab457859d428b" /><Relationship Type="http://schemas.openxmlformats.org/officeDocument/2006/relationships/slide" Target="/ppt/slides/slide47.xml" Id="Rf478b5c6870d4fb2" /><Relationship Type="http://schemas.openxmlformats.org/officeDocument/2006/relationships/slide" Target="/ppt/slides/slide48.xml" Id="R07b2937cf7fd4f4b" /><Relationship Type="http://schemas.openxmlformats.org/officeDocument/2006/relationships/slide" Target="/ppt/slides/slide49.xml" Id="Rbb1eff8fc4d945ef" /><Relationship Type="http://schemas.openxmlformats.org/officeDocument/2006/relationships/slide" Target="/ppt/slides/slide50.xml" Id="R6a7366fa07e64c82" /><Relationship Type="http://schemas.openxmlformats.org/officeDocument/2006/relationships/slide" Target="/ppt/slides/slide51.xml" Id="Ra1379615f9bf4643" /><Relationship Type="http://schemas.openxmlformats.org/officeDocument/2006/relationships/slide" Target="/ppt/slides/slide52.xml" Id="Rea75aec31884418b" /><Relationship Type="http://schemas.openxmlformats.org/officeDocument/2006/relationships/slide" Target="/ppt/slides/slide53.xml" Id="R036f794e6571442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f0d402a767a941b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1fba80958ff48e6" /><Relationship Type="http://schemas.openxmlformats.org/officeDocument/2006/relationships/notesMaster" Target="/ppt/notesMasters/notesMaster1.xml" Id="Rc2555201762a48b3" /></Relationships>
</file>

<file path=ppt/notesSlides/_rels/notesSlide2.xml.rels>&#65279;<?xml version="1.0" encoding="utf-8"?><Relationships xmlns="http://schemas.openxmlformats.org/package/2006/relationships"><Relationship Type="http://schemas.openxmlformats.org/officeDocument/2006/relationships/slide" Target="/ppt/slides/slide2.xml" Id="Rf8a64778ef814d20" /><Relationship Type="http://schemas.openxmlformats.org/officeDocument/2006/relationships/notesMaster" Target="/ppt/notesMasters/notesMaster1.xml" Id="R7c63aeb0ecb84746" /></Relationships>
</file>

<file path=ppt/notesSlides/_rels/notesSlide3.xml.rels>&#65279;<?xml version="1.0" encoding="utf-8"?><Relationships xmlns="http://schemas.openxmlformats.org/package/2006/relationships"><Relationship Type="http://schemas.openxmlformats.org/officeDocument/2006/relationships/slide" Target="/ppt/slides/slide3.xml" Id="Rf19bda3f1e4b4eb7" /><Relationship Type="http://schemas.openxmlformats.org/officeDocument/2006/relationships/notesMaster" Target="/ppt/notesMasters/notesMaster1.xml" Id="Rfbe5220cce794409" /></Relationships>
</file>

<file path=ppt/notesSlides/_rels/notesSlide4.xml.rels>&#65279;<?xml version="1.0" encoding="utf-8"?><Relationships xmlns="http://schemas.openxmlformats.org/package/2006/relationships"><Relationship Type="http://schemas.openxmlformats.org/officeDocument/2006/relationships/slide" Target="/ppt/slides/slide4.xml" Id="R6c8f0373dd264572" /><Relationship Type="http://schemas.openxmlformats.org/officeDocument/2006/relationships/notesMaster" Target="/ppt/notesMasters/notesMaster1.xml" Id="Rc87e0cd422774dc1" /></Relationships>
</file>

<file path=ppt/notesSlides/_rels/notesSlide5.xml.rels>&#65279;<?xml version="1.0" encoding="utf-8"?><Relationships xmlns="http://schemas.openxmlformats.org/package/2006/relationships"><Relationship Type="http://schemas.openxmlformats.org/officeDocument/2006/relationships/slide" Target="/ppt/slides/slide5.xml" Id="R6077bacb6d114f08" /><Relationship Type="http://schemas.openxmlformats.org/officeDocument/2006/relationships/notesMaster" Target="/ppt/notesMasters/notesMaster1.xml" Id="R35be989297ec46c3" /></Relationships>
</file>

<file path=ppt/notesSlides/_rels/notesSlide6.xml.rels>&#65279;<?xml version="1.0" encoding="utf-8"?><Relationships xmlns="http://schemas.openxmlformats.org/package/2006/relationships"><Relationship Type="http://schemas.openxmlformats.org/officeDocument/2006/relationships/slide" Target="/ppt/slides/slide6.xml" Id="R4fab736b108e4abb" /><Relationship Type="http://schemas.openxmlformats.org/officeDocument/2006/relationships/notesMaster" Target="/ppt/notesMasters/notesMaster1.xml" Id="R4b4e065107c549c4" /></Relationships>
</file>

<file path=ppt/notesSlides/_rels/notesSlide7.xml.rels>&#65279;<?xml version="1.0" encoding="utf-8"?><Relationships xmlns="http://schemas.openxmlformats.org/package/2006/relationships"><Relationship Type="http://schemas.openxmlformats.org/officeDocument/2006/relationships/slide" Target="/ppt/slides/slide7.xml" Id="Re5d56b79308e41b6" /><Relationship Type="http://schemas.openxmlformats.org/officeDocument/2006/relationships/notesMaster" Target="/ppt/notesMasters/notesMaster1.xml" Id="R4d72c06eb88f4561" /></Relationships>
</file>

<file path=ppt/notesSlides/_rels/notesSlide8.xml.rels>&#65279;<?xml version="1.0" encoding="utf-8"?><Relationships xmlns="http://schemas.openxmlformats.org/package/2006/relationships"><Relationship Type="http://schemas.openxmlformats.org/officeDocument/2006/relationships/slide" Target="/ppt/slides/slide8.xml" Id="Rb5daede7375a48a0" /><Relationship Type="http://schemas.openxmlformats.org/officeDocument/2006/relationships/notesMaster" Target="/ppt/notesMasters/notesMaster1.xml" Id="R329ef554516b4bb9" /></Relationships>
</file>

<file path=ppt/notesSlides/_rels/notesSlide9.xml.rels>&#65279;<?xml version="1.0" encoding="utf-8"?><Relationships xmlns="http://schemas.openxmlformats.org/package/2006/relationships"><Relationship Type="http://schemas.openxmlformats.org/officeDocument/2006/relationships/slide" Target="/ppt/slides/slide9.xml" Id="R6f4615913e264e8a" /><Relationship Type="http://schemas.openxmlformats.org/officeDocument/2006/relationships/notesMaster" Target="/ppt/notesMasters/notesMaster1.xml" Id="R6cf853e72dba476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3839b6186dc48dd" /><Relationship Type="http://schemas.openxmlformats.org/officeDocument/2006/relationships/notesMaster" Target="/ppt/notesMasters/notesMaster1.xml" Id="R6307485c6bf0400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38ff54dc7de4b38" /><Relationship Type="http://schemas.openxmlformats.org/officeDocument/2006/relationships/notesMaster" Target="/ppt/notesMasters/notesMaster1.xml" Id="R9c9a27bb4e554db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9bac24299dd4dbb" /><Relationship Type="http://schemas.openxmlformats.org/officeDocument/2006/relationships/notesMaster" Target="/ppt/notesMasters/notesMaster1.xml" Id="R3f04c3c8858f475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b54bcece2164840" /><Relationship Type="http://schemas.openxmlformats.org/officeDocument/2006/relationships/notesMaster" Target="/ppt/notesMasters/notesMaster1.xml" Id="R3c2a30283bc840c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363bbe79fa5487d" /><Relationship Type="http://schemas.openxmlformats.org/officeDocument/2006/relationships/notesMaster" Target="/ppt/notesMasters/notesMaster1.xml" Id="R427755a5eb884e7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f464040843f462c" /><Relationship Type="http://schemas.openxmlformats.org/officeDocument/2006/relationships/notesMaster" Target="/ppt/notesMasters/notesMaster1.xml" Id="R7b83880ce609466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04bf6b9f9a44f30" /><Relationship Type="http://schemas.openxmlformats.org/officeDocument/2006/relationships/notesMaster" Target="/ppt/notesMasters/notesMaster1.xml" Id="R7472c4a30d72448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ca2b1c8172f4932" /><Relationship Type="http://schemas.openxmlformats.org/officeDocument/2006/relationships/notesMaster" Target="/ppt/notesMasters/notesMaster1.xml" Id="R547e837c90254f6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8d871a0684141b6" /><Relationship Type="http://schemas.openxmlformats.org/officeDocument/2006/relationships/notesMaster" Target="/ppt/notesMasters/notesMaster1.xml" Id="R8bdb7e6e69f2409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b4d563584484ae2" /><Relationship Type="http://schemas.openxmlformats.org/officeDocument/2006/relationships/notesMaster" Target="/ppt/notesMasters/notesMaster1.xml" Id="R6afbbed692574c0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a3868fd92f7405e" /><Relationship Type="http://schemas.openxmlformats.org/officeDocument/2006/relationships/notesMaster" Target="/ppt/notesMasters/notesMaster1.xml" Id="R7aec8eb90b714cd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4cbf10fa0c3401f" /><Relationship Type="http://schemas.openxmlformats.org/officeDocument/2006/relationships/notesMaster" Target="/ppt/notesMasters/notesMaster1.xml" Id="R7992aea660e748d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f18462fe48c4b28" /><Relationship Type="http://schemas.openxmlformats.org/officeDocument/2006/relationships/notesMaster" Target="/ppt/notesMasters/notesMaster1.xml" Id="Re5be329e52204a2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ef09512b2504282" /><Relationship Type="http://schemas.openxmlformats.org/officeDocument/2006/relationships/notesMaster" Target="/ppt/notesMasters/notesMaster1.xml" Id="R8bb0949d0d05411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ed212e33d0648fe" /><Relationship Type="http://schemas.openxmlformats.org/officeDocument/2006/relationships/notesMaster" Target="/ppt/notesMasters/notesMaster1.xml" Id="R67d5e8eb12e544d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8ea58548cea4736" /><Relationship Type="http://schemas.openxmlformats.org/officeDocument/2006/relationships/notesMaster" Target="/ppt/notesMasters/notesMaster1.xml" Id="Re08e76c77c9b40f5"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f96af8bd2204437" /><Relationship Type="http://schemas.openxmlformats.org/officeDocument/2006/relationships/notesMaster" Target="/ppt/notesMasters/notesMaster1.xml" Id="Rc323bc1b67814b2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80ef2fd776d4b43" /><Relationship Type="http://schemas.openxmlformats.org/officeDocument/2006/relationships/notesMaster" Target="/ppt/notesMasters/notesMaster1.xml" Id="Ra66893049f16408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7b66d80ea1da4a2a" /><Relationship Type="http://schemas.openxmlformats.org/officeDocument/2006/relationships/notesMaster" Target="/ppt/notesMasters/notesMaster1.xml" Id="R3a630a2dfcfe4cd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c4e5dea2f60430b" /><Relationship Type="http://schemas.openxmlformats.org/officeDocument/2006/relationships/notesMaster" Target="/ppt/notesMasters/notesMaster1.xml" Id="R4996f47d5b9a412f"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3d332de2e86e4eb5" /><Relationship Type="http://schemas.openxmlformats.org/officeDocument/2006/relationships/notesMaster" Target="/ppt/notesMasters/notesMaster1.xml" Id="R81a319091a554c9a"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550045c6133e401d" /><Relationship Type="http://schemas.openxmlformats.org/officeDocument/2006/relationships/notesMaster" Target="/ppt/notesMasters/notesMaster1.xml" Id="Re13e1576e34c4255"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e257cc269ffb417b" /><Relationship Type="http://schemas.openxmlformats.org/officeDocument/2006/relationships/notesMaster" Target="/ppt/notesMasters/notesMaster1.xml" Id="R8132d08540c54c90"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ccc955e7dcdc47f8" /><Relationship Type="http://schemas.openxmlformats.org/officeDocument/2006/relationships/notesMaster" Target="/ppt/notesMasters/notesMaster1.xml" Id="R4be570a9e2274413"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1234681eadaf448f" /><Relationship Type="http://schemas.openxmlformats.org/officeDocument/2006/relationships/notesMaster" Target="/ppt/notesMasters/notesMaster1.xml" Id="Rf42c188b68fd4b1e"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acb3f76e14894af7" /><Relationship Type="http://schemas.openxmlformats.org/officeDocument/2006/relationships/notesMaster" Target="/ppt/notesMasters/notesMaster1.xml" Id="R2e829f149cc14a48"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dca5cd3a4a804dcb" /><Relationship Type="http://schemas.openxmlformats.org/officeDocument/2006/relationships/notesMaster" Target="/ppt/notesMasters/notesMaster1.xml" Id="R813c6ba2c7e249a3"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1cae5cc50a464269" /><Relationship Type="http://schemas.openxmlformats.org/officeDocument/2006/relationships/notesMaster" Target="/ppt/notesMasters/notesMaster1.xml" Id="R063197b14d5a43ed"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29f87858b3f8441a" /><Relationship Type="http://schemas.openxmlformats.org/officeDocument/2006/relationships/notesMaster" Target="/ppt/notesMasters/notesMaster1.xml" Id="Rb2a83681165a4e66"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4acdcffe6be04645" /><Relationship Type="http://schemas.openxmlformats.org/officeDocument/2006/relationships/notesMaster" Target="/ppt/notesMasters/notesMaster1.xml" Id="R8dac19d5e5f849f3"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c0643c61f5ce4594" /><Relationship Type="http://schemas.openxmlformats.org/officeDocument/2006/relationships/notesMaster" Target="/ppt/notesMasters/notesMaster1.xml" Id="Rf01b0f98b12a4706"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4beb9e6a64794489" /><Relationship Type="http://schemas.openxmlformats.org/officeDocument/2006/relationships/notesMaster" Target="/ppt/notesMasters/notesMaster1.xml" Id="R47039a15b8d24a75"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8e3d9630445c4c36" /><Relationship Type="http://schemas.openxmlformats.org/officeDocument/2006/relationships/notesMaster" Target="/ppt/notesMasters/notesMaster1.xml" Id="Rc45d9ad9e70d4cf0"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391dd4c9ac8f4578" /><Relationship Type="http://schemas.openxmlformats.org/officeDocument/2006/relationships/notesMaster" Target="/ppt/notesMasters/notesMaster1.xml" Id="Re7aaf3f0aab041d8"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6b94a397b6b04a8f" /><Relationship Type="http://schemas.openxmlformats.org/officeDocument/2006/relationships/notesMaster" Target="/ppt/notesMasters/notesMaster1.xml" Id="Ra5dbaec8814147e7"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9c1322f322264f4b" /><Relationship Type="http://schemas.openxmlformats.org/officeDocument/2006/relationships/notesMaster" Target="/ppt/notesMasters/notesMaster1.xml" Id="Re8b858a9172b4b7c"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0499a68fd37c45fb" /><Relationship Type="http://schemas.openxmlformats.org/officeDocument/2006/relationships/notesMaster" Target="/ppt/notesMasters/notesMaster1.xml" Id="Rb281e8d5eff248de"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f6c500757f694178" /><Relationship Type="http://schemas.openxmlformats.org/officeDocument/2006/relationships/notesMaster" Target="/ppt/notesMasters/notesMaster1.xml" Id="Re5643be88f18462a"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000fc22a66d54c58" /><Relationship Type="http://schemas.openxmlformats.org/officeDocument/2006/relationships/notesMaster" Target="/ppt/notesMasters/notesMaster1.xml" Id="R217b506607fd469c"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fecc7dccd2a34d6f" /><Relationship Type="http://schemas.openxmlformats.org/officeDocument/2006/relationships/notesMaster" Target="/ppt/notesMasters/notesMaster1.xml" Id="Rf2c2fb1cf62d4087"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41767b2de01c44aa" /><Relationship Type="http://schemas.openxmlformats.org/officeDocument/2006/relationships/notesMaster" Target="/ppt/notesMasters/notesMaster1.xml" Id="R9d874f6bb03b46f7"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43907d74b37b4166" /><Relationship Type="http://schemas.openxmlformats.org/officeDocument/2006/relationships/notesMaster" Target="/ppt/notesMasters/notesMaster1.xml" Id="Radc41d4f0281464b"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08936aaacada4a47" /><Relationship Type="http://schemas.openxmlformats.org/officeDocument/2006/relationships/notesMaster" Target="/ppt/notesMasters/notesMaster1.xml" Id="R3588c0fc55124aac"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c60f1c6228154d0c" /><Relationship Type="http://schemas.openxmlformats.org/officeDocument/2006/relationships/notesMaster" Target="/ppt/notesMasters/notesMaster1.xml" Id="Rc16725d4b977452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Welcome. A brief greeting while the title is visible.</a:t>
            </a:r>
          </a:p>
          <a:p xmlns:a="http://schemas.openxmlformats.org/drawingml/2006/main">
            <a:r>
              <a:t/>
            </a:r>
          </a:p>
          <a:p xmlns:a="http://schemas.openxmlformats.org/drawingml/2006/main">
            <a:r>
              <a:rPr b="0"/>
              <a:t>Advance to slide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Three sentences, spoken, not read.</a:t>
            </a:r>
          </a:p>
          <a:p xmlns:a="http://schemas.openxmlformats.org/drawingml/2006/main">
            <a:r>
              <a:t/>
            </a:r>
          </a:p>
          <a:p xmlns:a="http://schemas.openxmlformats.org/drawingml/2006/main">
            <a:r>
              <a:rPr b="0"/>
              <a:t>I'm Stephen Sequenzia, a Senior Staff AI/ML Engineer and Architect, and I have spent twenty years putting systems into production, the last several with a model in the loop.</a:t>
            </a:r>
          </a:p>
          <a:p xmlns:a="http://schemas.openxmlformats.org/drawingml/2006/main">
            <a:r>
              <a:t/>
            </a:r>
          </a:p>
          <a:p xmlns:a="http://schemas.openxmlformats.org/drawingml/2006/main">
            <a:r>
              <a:rPr b="0"/>
              <a:t>Today I lead architecture for agentic AI systems across defense programs, where the users are engineers and operators and a demo that worked once is not a system.</a:t>
            </a:r>
          </a:p>
          <a:p xmlns:a="http://schemas.openxmlformats.org/drawingml/2006/main">
            <a:r>
              <a:t/>
            </a:r>
          </a:p>
          <a:p xmlns:a="http://schemas.openxmlformats.org/drawingml/2006/main">
            <a:r>
              <a:rPr b="0"/>
              <a:t>I care about this distinction because I have helped five hundred engineers adopt agents, and watched where using one stops and engineering one begins.</a:t>
            </a:r>
          </a:p>
          <a:p xmlns:a="http://schemas.openxmlformats.org/drawingml/2006/main">
            <a:r>
              <a:t/>
            </a:r>
          </a:p>
          <a:p xmlns:a="http://schemas.openxmlformats.org/drawingml/2006/main">
            <a:r>
              <a:rPr b="0"/>
              <a:t>Advance to slide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First, what changes when AI becomes part of the product. Then the six engineering areas. Finally, making the transition and your questions.</a:t>
            </a:r>
          </a:p>
          <a:p xmlns:a="http://schemas.openxmlformats.org/drawingml/2006/main">
            <a:r>
              <a:t/>
            </a:r>
          </a:p>
          <a:p xmlns:a="http://schemas.openxmlformats.org/drawingml/2006/main">
            <a:r>
              <a:rPr b="1"/>
              <a:t>You'll leave with a map of the engineering responsibilities, an understanding of what production readiness requires, and a starting point for your own transition.</a:t>
            </a:r>
          </a:p>
          <a:p xmlns:a="http://schemas.openxmlformats.org/drawingml/2006/main">
            <a:r>
              <a:t/>
            </a:r>
          </a:p>
          <a:p xmlns:a="http://schemas.openxmlformats.org/drawingml/2006/main">
            <a:r>
              <a:rPr b="0"/>
              <a:t>Advance to slide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Let the section title sit. Pause before the comparison of deterministic logic and model behavior, without repeating the agenda.</a:t>
            </a:r>
          </a:p>
          <a:p xmlns:a="http://schemas.openxmlformats.org/drawingml/2006/main">
            <a:r>
              <a:t/>
            </a:r>
          </a:p>
          <a:p xmlns:a="http://schemas.openxmlformats.org/drawingml/2006/main">
            <a:r>
              <a:rPr b="0"/>
              <a:t>Advance to slide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When we write deterministic logic, we specify the rules. Given the same input and state, those rules produce the same result.</a:t>
            </a:r>
          </a:p>
          <a:p xmlns:a="http://schemas.openxmlformats.org/drawingml/2006/main">
            <a:r>
              <a:t/>
            </a:r>
          </a:p>
          <a:p xmlns:a="http://schemas.openxmlformats.org/drawingml/2006/main">
            <a:r>
              <a:rPr b="0"/>
              <a:t>A foundation model adds learned behavior, guided by instructions and context. It can handle language and ambiguity without us spelling out every rule. But the same supplied input can produce different results, and </a:t>
            </a:r>
            <a:r>
              <a:rPr b="1"/>
              <a:t>an instruction is not an enforced constraint.</a:t>
            </a:r>
          </a:p>
          <a:p xmlns:a="http://schemas.openxmlformats.org/drawingml/2006/main">
            <a:r>
              <a:t/>
            </a:r>
          </a:p>
          <a:p xmlns:a="http://schemas.openxmlformats.org/drawingml/2006/main">
            <a:r>
              <a:rPr b="0"/>
              <a:t>Software already deals with uncertainty. The shift here is that part of the product’s behavior depends on the model.</a:t>
            </a:r>
          </a:p>
          <a:p xmlns:a="http://schemas.openxmlformats.org/drawingml/2006/main">
            <a:r>
              <a:t/>
            </a:r>
          </a:p>
          <a:p xmlns:a="http://schemas.openxmlformats.org/drawingml/2006/main">
            <a:r>
              <a:rPr b="0"/>
              <a:t>Using AI to help write software changes how you build. </a:t>
            </a:r>
            <a:r>
              <a:rPr b="1"/>
              <a:t>Putting AI inside the product changes the behavior you are responsible for.</a:t>
            </a:r>
          </a:p>
          <a:p xmlns:a="http://schemas.openxmlformats.org/drawingml/2006/main">
            <a:r>
              <a:t/>
            </a:r>
          </a:p>
          <a:p xmlns:a="http://schemas.openxmlformats.org/drawingml/2006/main">
            <a:r>
              <a:rPr b="0"/>
              <a:t>Advance to slide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That changes what we need to establish before calling the system reliable.</a:t>
            </a:r>
          </a:p>
          <a:p xmlns:a="http://schemas.openxmlformats.org/drawingml/2006/main">
            <a:r>
              <a:t/>
            </a:r>
          </a:p>
          <a:p xmlns:a="http://schemas.openxmlformats.org/drawingml/2006/main">
            <a:r>
              <a:rPr b="0"/>
              <a:t>A response can look valid and still be wrong. A successful run tells us that the system worked on that attempt. It does not tell us how consistently it will work across its intended use.</a:t>
            </a:r>
          </a:p>
          <a:p xmlns:a="http://schemas.openxmlformats.org/drawingml/2006/main">
            <a:r>
              <a:t/>
            </a:r>
          </a:p>
          <a:p xmlns:a="http://schemas.openxmlformats.org/drawingml/2006/main">
            <a:r>
              <a:rPr b="1"/>
              <a:t>And consistency alone is not correctness. A model can repeat the same mistake.</a:t>
            </a:r>
          </a:p>
          <a:p xmlns:a="http://schemas.openxmlformats.org/drawingml/2006/main">
            <a:r>
              <a:t/>
            </a:r>
          </a:p>
          <a:p xmlns:a="http://schemas.openxmlformats.org/drawingml/2006/main">
            <a:r>
              <a:rPr b="0"/>
              <a:t>With an agent, those judgments can also select tools and influence what happens next. Errors can affect later steps.</a:t>
            </a:r>
          </a:p>
          <a:p xmlns:a="http://schemas.openxmlformats.org/drawingml/2006/main">
            <a:r>
              <a:t/>
            </a:r>
          </a:p>
          <a:p xmlns:a="http://schemas.openxmlformats.org/drawingml/2006/main">
            <a:r>
              <a:rPr b="0"/>
              <a:t>That is why </a:t>
            </a:r>
            <a:r>
              <a:rPr b="1"/>
              <a:t>a compelling prototype is not evidence of production readiness.</a:t>
            </a:r>
          </a:p>
          <a:p xmlns:a="http://schemas.openxmlformats.org/drawingml/2006/main">
            <a:r>
              <a:t/>
            </a:r>
          </a:p>
          <a:p xmlns:a="http://schemas.openxmlformats.org/drawingml/2006/main">
            <a:r>
              <a:rPr b="0"/>
              <a:t>Advance to slide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Good AI engineers look for places to make behavior deterministic. Adding AI does not mean delegating the whole system to it.</a:t>
            </a:r>
          </a:p>
          <a:p xmlns:a="http://schemas.openxmlformats.org/drawingml/2006/main">
            <a:r>
              <a:t/>
            </a:r>
          </a:p>
          <a:p xmlns:a="http://schemas.openxmlformats.org/drawingml/2006/main">
            <a:r>
              <a:rPr b="0"/>
              <a:t>Use model judgment where it helps. Put calculations and required workflow steps in code when they can be specified explicitly. Enforce permissions and limits outside the model.</a:t>
            </a:r>
          </a:p>
          <a:p xmlns:a="http://schemas.openxmlformats.org/drawingml/2006/main">
            <a:r>
              <a:t/>
            </a:r>
          </a:p>
          <a:p xmlns:a="http://schemas.openxmlformats.org/drawingml/2006/main">
            <a:r>
              <a:rPr b="0"/>
              <a:t>Define what an acceptable result means. Keep your software tests, and add evaluations across representative cases and repeated runs. Keep evaluating after deployment. Design how the system stops or hands work to a person when it cannot meet the requirement.</a:t>
            </a:r>
          </a:p>
          <a:p xmlns:a="http://schemas.openxmlformats.org/drawingml/2006/main">
            <a:r>
              <a:t/>
            </a:r>
          </a:p>
          <a:p xmlns:a="http://schemas.openxmlformats.org/drawingml/2006/main">
            <a:r>
              <a:rPr b="0"/>
              <a:t>Our focus is products around foundation models. ML engineering often focuses on models and training pipelines; the roles overlap.</a:t>
            </a:r>
          </a:p>
          <a:p xmlns:a="http://schemas.openxmlformats.org/drawingml/2006/main">
            <a:r>
              <a:t/>
            </a:r>
          </a:p>
          <a:p xmlns:a="http://schemas.openxmlformats.org/drawingml/2006/main">
            <a:r>
              <a:rPr b="0"/>
              <a:t>Your software engineering skills remain the foundation. </a:t>
            </a:r>
            <a:r>
              <a:rPr b="1"/>
              <a:t>You are still responsible for the product’s behavior, even when you no longer write all the rules that produce it.</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Let’s look at the system around the model, and where these responsibilities live.</a:t>
            </a:r>
          </a:p>
          <a:p xmlns:a="http://schemas.openxmlformats.org/drawingml/2006/main">
            <a:r>
              <a:t/>
            </a:r>
          </a:p>
          <a:p xmlns:a="http://schemas.openxmlformats.org/drawingml/2006/main">
            <a:r>
              <a:rPr b="0"/>
              <a:t>Advance to slide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SECTION ORIENTATION</a:t>
            </a:r>
          </a:p>
          <a:p xmlns:a="http://schemas.openxmlformats.org/drawingml/2006/main">
            <a:r>
              <a:t/>
            </a:r>
          </a:p>
          <a:p xmlns:a="http://schemas.openxmlformats.org/drawingml/2006/main">
            <a:r>
              <a:rPr b="0"/>
              <a:t>We'll explore these six areas. Each opens with a quote, followed by </a:t>
            </a:r>
            <a:r>
              <a:rPr b="1"/>
              <a:t>foundations: what it is and why it matters</a:t>
            </a:r>
            <a:r>
              <a:rPr b="0"/>
              <a:t>. Then decisions, trade-offs, and pitfalls.</a:t>
            </a:r>
          </a:p>
          <a:p xmlns:a="http://schemas.openxmlformats.org/drawingml/2006/main">
            <a:r>
              <a:t/>
            </a:r>
          </a:p>
          <a:p xmlns:a="http://schemas.openxmlformats.org/drawingml/2006/main">
            <a:r>
              <a:rPr b="1"/>
              <a:t>Then we'll apply each area to the same invented research-and-drafting example.</a:t>
            </a:r>
          </a:p>
          <a:p xmlns:a="http://schemas.openxmlformats.org/drawingml/2006/main">
            <a:r>
              <a:t/>
            </a:r>
          </a:p>
          <a:p xmlns:a="http://schemas.openxmlformats.org/drawingml/2006/main">
            <a:r>
              <a:rPr b="0"/>
              <a:t>Failure Review Board records describe a failure and the board's discussions and decisions. Our system helps engineers research those records.</a:t>
            </a:r>
          </a:p>
          <a:p xmlns:a="http://schemas.openxmlformats.org/drawingml/2006/main">
            <a:r>
              <a:t/>
            </a:r>
          </a:p>
          <a:p xmlns:a="http://schemas.openxmlformats.org/drawingml/2006/main">
            <a:r>
              <a:rPr b="0"/>
              <a:t>The request is to summarize a pump shutdown review, compare related cases, and export a cited brief. Each area contributes to that same product.</a:t>
            </a:r>
          </a:p>
          <a:p xmlns:a="http://schemas.openxmlformats.org/drawingml/2006/main">
            <a:r>
              <a:t/>
            </a:r>
          </a:p>
          <a:p xmlns:a="http://schemas.openxmlformats.org/drawingml/2006/main">
            <a:r>
              <a:rPr b="1"/>
              <a:t>People retain authority over official causes, decisions, and board records.</a:t>
            </a:r>
            <a:r>
              <a:rPr b="0"/>
              <a:t> Let's begin with Model Selection.</a:t>
            </a:r>
          </a:p>
          <a:p xmlns:a="http://schemas.openxmlformats.org/drawingml/2006/main">
            <a:r>
              <a:t/>
            </a:r>
          </a:p>
          <a:p xmlns:a="http://schemas.openxmlformats.org/drawingml/2006/main">
            <a:r>
              <a:rPr b="0"/>
              <a:t>Advance to slide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“A decent model with a great harness beats a great model with a bad harness.”</a:t>
            </a:r>
          </a:p>
          <a:p xmlns:a="http://schemas.openxmlformats.org/drawingml/2006/main">
            <a:r>
              <a:t/>
            </a:r>
          </a:p>
          <a:p xmlns:a="http://schemas.openxmlformats.org/drawingml/2006/main">
            <a:r>
              <a:rPr b="0"/>
              <a:t>Osmani is describing his engineering experience. Evaluate the model inside the system you are building, because the surrounding context, tools, and control flow shape the result. First, establish what happens in one model call.</a:t>
            </a:r>
          </a:p>
          <a:p xmlns:a="http://schemas.openxmlformats.org/drawingml/2006/main">
            <a:r>
              <a:t/>
            </a:r>
          </a:p>
          <a:p xmlns:a="http://schemas.openxmlformats.org/drawingml/2006/main">
            <a:r>
              <a:rPr b="0"/>
              <a:t>Advance to slide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MODEL INVOCATION</a:t>
            </a:r>
          </a:p>
          <a:p xmlns:a="http://schemas.openxmlformats.org/drawingml/2006/main">
            <a:r>
              <a:t/>
            </a:r>
          </a:p>
          <a:p xmlns:a="http://schemas.openxmlformats.org/drawingml/2006/main">
            <a:r>
              <a:rPr b="0"/>
              <a:t>Model selection includes choosing a model version and its settings. Let's look at what happens when your application calls it.</a:t>
            </a:r>
          </a:p>
          <a:p xmlns:a="http://schemas.openxmlformats.org/drawingml/2006/main">
            <a:r>
              <a:t/>
            </a:r>
          </a:p>
          <a:p xmlns:a="http://schemas.openxmlformats.org/drawingml/2006/main">
            <a:r>
              <a:rPr b="0"/>
              <a:t>The application supplies instructions, a request, evidence, and tool definitions. </a:t>
            </a:r>
            <a:r>
              <a:rPr b="1"/>
              <a:t>Inference means running a trained model on that input to obtain an output.</a:t>
            </a:r>
            <a:r>
              <a:rPr b="0"/>
              <a:t> It can return a response or propose a tool call. The application handles execution.</a:t>
            </a:r>
          </a:p>
          <a:p xmlns:a="http://schemas.openxmlformats.org/drawingml/2006/main">
            <a:r>
              <a:t/>
            </a:r>
          </a:p>
          <a:p xmlns:a="http://schemas.openxmlformats.org/drawingml/2006/main">
            <a:r>
              <a:rPr b="0"/>
              <a:t>Tokens are units the model processes and generates. For text, they can be pieces of words. They help us track usage.</a:t>
            </a:r>
          </a:p>
          <a:p xmlns:a="http://schemas.openxmlformats.org/drawingml/2006/main">
            <a:r>
              <a:t/>
            </a:r>
          </a:p>
          <a:p xmlns:a="http://schemas.openxmlformats.org/drawingml/2006/main">
            <a:r>
              <a:rPr b="0"/>
              <a:t>The context limit constrains capacity for input and output. Leave room for the answer and, where applicable, reasoning tokens. Exact limits depend on the model.</a:t>
            </a:r>
          </a:p>
          <a:p xmlns:a="http://schemas.openxmlformats.org/drawingml/2006/main">
            <a:r>
              <a:t/>
            </a:r>
          </a:p>
          <a:p xmlns:a="http://schemas.openxmlformats.org/drawingml/2006/main">
            <a:r>
              <a:rPr b="0"/>
              <a:t>Some models also expose reasoning settings. </a:t>
            </a:r>
            <a:r>
              <a:rPr b="1"/>
              <a:t>Treat reasoning effort as part of the configuration you evaluate.</a:t>
            </a:r>
            <a:r>
              <a:rPr b="0"/>
              <a:t> Measure whether it improves the task enough to justify the cost and delay.</a:t>
            </a:r>
          </a:p>
          <a:p xmlns:a="http://schemas.openxmlformats.org/drawingml/2006/main">
            <a:r>
              <a:t/>
            </a:r>
          </a:p>
          <a:p xmlns:a="http://schemas.openxmlformats.org/drawingml/2006/main">
            <a:r>
              <a:rPr b="0"/>
              <a:t>Next, compare the eligible configurations on representative work.</a:t>
            </a:r>
          </a:p>
          <a:p xmlns:a="http://schemas.openxmlformats.org/drawingml/2006/main">
            <a:r>
              <a:t/>
            </a:r>
          </a:p>
          <a:p xmlns:a="http://schemas.openxmlformats.org/drawingml/2006/main">
            <a:r>
              <a:rPr b="0"/>
              <a:t>Advance to slide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SELECTION DECISIONS</a:t>
            </a:r>
          </a:p>
          <a:p xmlns:a="http://schemas.openxmlformats.org/drawingml/2006/main">
            <a:r>
              <a:t/>
            </a:r>
          </a:p>
          <a:p xmlns:a="http://schemas.openxmlformats.org/drawingml/2006/main">
            <a:r>
              <a:rPr b="0"/>
              <a:t>First, identify which configurations are eligible for your data and intended use. Required capabilities and hard cost or response-time limits can also rule options out.</a:t>
            </a:r>
          </a:p>
          <a:p xmlns:a="http://schemas.openxmlformats.org/drawingml/2006/main">
            <a:r>
              <a:t/>
            </a:r>
          </a:p>
          <a:p xmlns:a="http://schemas.openxmlformats.org/drawingml/2006/main">
            <a:r>
              <a:rPr b="0"/>
              <a:t>Then define what an acceptable result looks like. </a:t>
            </a:r>
            <a:r>
              <a:rPr b="1"/>
              <a:t>Compare candidates on the same representative tasks, using the context, tools, and workflow you intend to deploy.</a:t>
            </a:r>
            <a:r>
              <a:rPr b="0"/>
              <a:t> Record the model version and settings.</a:t>
            </a:r>
          </a:p>
          <a:p xmlns:a="http://schemas.openxmlformats.org/drawingml/2006/main">
            <a:r>
              <a:t/>
            </a:r>
          </a:p>
          <a:p xmlns:a="http://schemas.openxmlformats.org/drawingml/2006/main">
            <a:r>
              <a:rPr b="0"/>
              <a:t>Measure how often results meet your criteria, how long completion takes, and the total cost. Include tool calls, retries, verification, and human review. Failed attempts count toward the cost of successful work.</a:t>
            </a:r>
          </a:p>
          <a:p xmlns:a="http://schemas.openxmlformats.org/drawingml/2006/main">
            <a:r>
              <a:t/>
            </a:r>
          </a:p>
          <a:p xmlns:a="http://schemas.openxmlformats.org/drawingml/2006/main">
            <a:r>
              <a:rPr b="1"/>
              <a:t>Choose among configurations that meet the quality requirement.</a:t>
            </a:r>
            <a:r>
              <a:rPr b="0"/>
              <a:t> Compare their time and cost against your product's priorities. Start with one configuration. Add routing when measurements justify the complexity.</a:t>
            </a:r>
          </a:p>
          <a:p xmlns:a="http://schemas.openxmlformats.org/drawingml/2006/main">
            <a:r>
              <a:t/>
            </a:r>
          </a:p>
          <a:p xmlns:a="http://schemas.openxmlformats.org/drawingml/2006/main">
            <a:r>
              <a:rPr b="0"/>
              <a:t>Selection continues after deployment. Pinned versions need a migration plan. Moving aliases need regression monitoring. Both need ongoing task checks.</a:t>
            </a:r>
          </a:p>
          <a:p xmlns:a="http://schemas.openxmlformats.org/drawingml/2006/main">
            <a:r>
              <a:t/>
            </a:r>
          </a:p>
          <a:p xmlns:a="http://schemas.openxmlformats.org/drawingml/2006/main">
            <a:r>
              <a:rPr b="0"/>
              <a:t>Advance to slide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A larger context window tells you what fits. It does not establish answer quality.</a:t>
            </a:r>
          </a:p>
          <a:p xmlns:a="http://schemas.openxmlformats.org/drawingml/2006/main">
            <a:r>
              <a:t/>
            </a:r>
          </a:p>
          <a:p xmlns:a="http://schemas.openxmlformats.org/drawingml/2006/main">
            <a:r>
              <a:rPr b="0"/>
              <a:t>Higher reasoning effort needs a measured benefit. Token price leaves out the rest of the task.</a:t>
            </a:r>
          </a:p>
          <a:p xmlns:a="http://schemas.openxmlformats.org/drawingml/2006/main">
            <a:r>
              <a:t/>
            </a:r>
          </a:p>
          <a:p xmlns:a="http://schemas.openxmlformats.org/drawingml/2006/main">
            <a:r>
              <a:rPr b="1"/>
              <a:t>Selecting or changing models without testing them on your task</a:t>
            </a:r>
            <a:r>
              <a:rPr b="0"/>
              <a:t> is the headline pitfall.</a:t>
            </a:r>
          </a:p>
          <a:p xmlns:a="http://schemas.openxmlformats.org/drawingml/2006/main">
            <a:r>
              <a:t/>
            </a:r>
          </a:p>
          <a:p xmlns:a="http://schemas.openxmlformats.org/drawingml/2006/main">
            <a:r>
              <a:rPr b="0"/>
              <a:t>When a result fails, inspect the supplied evidence and workflow before replacing the model.</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Our invented FRB corpus includes CUI and ECI. Assume the approved options are older and less capable for this synthesis. </a:t>
            </a:r>
            <a:r>
              <a:rPr b="1"/>
              <a:t>Evaluate useful work within that approved set.</a:t>
            </a:r>
          </a:p>
          <a:p xmlns:a="http://schemas.openxmlformats.org/drawingml/2006/main">
            <a:r>
              <a:t/>
            </a:r>
          </a:p>
          <a:p xmlns:a="http://schemas.openxmlformats.org/drawingml/2006/main">
            <a:r>
              <a:rPr b="0"/>
              <a:t>Start with one eligible configuration. Test single-case summaries and cross-case synthesis separately. The preliminary briefing calls bearing wear a possible cause. The later minutes leave the cause unresolved and require inspection. A candidate that reports a confirmed cause has failed this case.</a:t>
            </a:r>
          </a:p>
          <a:p xmlns:a="http://schemas.openxmlformats.org/drawingml/2006/main">
            <a:r>
              <a:t/>
            </a:r>
          </a:p>
          <a:p xmlns:a="http://schemas.openxmlformats.org/drawingml/2006/main">
            <a:r>
              <a:rPr b="0"/>
              <a:t>That answer alone does not identify the faulty component. Check which evidence reached the model and how the workflow handled it.</a:t>
            </a:r>
          </a:p>
          <a:p xmlns:a="http://schemas.openxmlformats.org/drawingml/2006/main">
            <a:r>
              <a:t/>
            </a:r>
          </a:p>
          <a:p xmlns:a="http://schemas.openxmlformats.org/drawingml/2006/main">
            <a:r>
              <a:rPr b="0"/>
              <a:t>The scorecard records supported findings and preserved uncertainty, completion time, and total cost, including failed attempts and review. It contains evidence to collect. No winning model or measured result is supplied.</a:t>
            </a:r>
          </a:p>
          <a:p xmlns:a="http://schemas.openxmlformats.org/drawingml/2006/main">
            <a:r>
              <a:t/>
            </a:r>
          </a:p>
          <a:p xmlns:a="http://schemas.openxmlformats.org/drawingml/2006/main">
            <a:r>
              <a:rPr b="0"/>
              <a:t>If the full brief falls short, evaluate preparing cited findings for an engineer to reconcile. </a:t>
            </a:r>
            <a:r>
              <a:rPr b="1"/>
              <a:t>Keep the evidence requirement and the approved processing boundary.</a:t>
            </a:r>
            <a:r>
              <a:rPr b="0"/>
              <a:t> If the narrower task still fails, limit or defer it.</a:t>
            </a:r>
          </a:p>
          <a:p xmlns:a="http://schemas.openxmlformats.org/drawingml/2006/main">
            <a:r>
              <a:t/>
            </a:r>
          </a:p>
          <a:p xmlns:a="http://schemas.openxmlformats.org/drawingml/2006/main">
            <a:r>
              <a:rPr b="0"/>
              <a:t>Context Engineering develops the information we supply. </a:t>
            </a:r>
            <a:r>
              <a:rPr b="1"/>
              <a:t>The model is a versioned, expiring dependency. Treat it like one.</a:t>
            </a:r>
          </a:p>
          <a:p xmlns:a="http://schemas.openxmlformats.org/drawingml/2006/main">
            <a:r>
              <a:t/>
            </a:r>
          </a:p>
          <a:p xmlns:a="http://schemas.openxmlformats.org/drawingml/2006/main">
            <a:r>
              <a:rPr b="0"/>
              <a:t>Advance to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“Context, therefore, must be treated as a finite resource with diminishing marginal returns.”</a:t>
            </a:r>
          </a:p>
          <a:p xmlns:a="http://schemas.openxmlformats.org/drawingml/2006/main">
            <a:r>
              <a:t/>
            </a:r>
          </a:p>
          <a:p xmlns:a="http://schemas.openxmlformats.org/drawingml/2006/main">
            <a:r>
              <a:rPr b="0"/>
              <a:t>Model Selection established the available capacity. Context Engineering decides what information the next step needs and how to supply it. A larger context window does not establish that every available piece will help.</a:t>
            </a:r>
          </a:p>
          <a:p xmlns:a="http://schemas.openxmlformats.org/drawingml/2006/main">
            <a:r>
              <a:t/>
            </a:r>
          </a:p>
          <a:p xmlns:a="http://schemas.openxmlformats.org/drawingml/2006/main">
            <a:r>
              <a:rPr b="0"/>
              <a:t>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INPUT FOR THIS CALL</a:t>
            </a:r>
          </a:p>
          <a:p xmlns:a="http://schemas.openxmlformats.org/drawingml/2006/main">
            <a:r>
              <a:t/>
            </a:r>
          </a:p>
          <a:p xmlns:a="http://schemas.openxmlformats.org/drawingml/2006/main">
            <a:r>
              <a:rPr b="1"/>
              <a:t>Context Engineering manages the information available to the model at every inference turn.</a:t>
            </a:r>
            <a:r>
              <a:rPr b="0"/>
              <a:t> Each turn is another model call.</a:t>
            </a:r>
          </a:p>
          <a:p xmlns:a="http://schemas.openxmlformats.org/drawingml/2006/main">
            <a:r>
              <a:t/>
            </a:r>
          </a:p>
          <a:p xmlns:a="http://schemas.openxmlformats.org/drawingml/2006/main">
            <a:r>
              <a:rPr b="0"/>
              <a:t>The input can include instructions, the current request, examples, and retrieved evidence. It also includes selected history, task state, and memory.</a:t>
            </a:r>
          </a:p>
          <a:p xmlns:a="http://schemas.openxmlformats.org/drawingml/2006/main">
            <a:r>
              <a:t/>
            </a:r>
          </a:p>
          <a:p xmlns:a="http://schemas.openxmlformats.org/drawingml/2006/main">
            <a:r>
              <a:rPr b="0"/>
              <a:t>Tool definitions describe available operations and their arguments. Tool results contain the observations returned by those operations.</a:t>
            </a:r>
          </a:p>
          <a:p xmlns:a="http://schemas.openxmlformats.org/drawingml/2006/main">
            <a:r>
              <a:t/>
            </a:r>
          </a:p>
          <a:p xmlns:a="http://schemas.openxmlformats.org/drawingml/2006/main">
            <a:r>
              <a:rPr b="0"/>
              <a:t>Stored memory and source documents remain outside the working context until selected information is brought in. A generated summary still needs supporting sources.</a:t>
            </a:r>
          </a:p>
          <a:p xmlns:a="http://schemas.openxmlformats.org/drawingml/2006/main">
            <a:r>
              <a:t/>
            </a:r>
          </a:p>
          <a:p xmlns:a="http://schemas.openxmlformats.org/drawingml/2006/main">
            <a:r>
              <a:rPr b="0"/>
              <a:t>For a coding agent, that might mean repository instructions, relevant files, and test output.</a:t>
            </a:r>
          </a:p>
          <a:p xmlns:a="http://schemas.openxmlformats.org/drawingml/2006/main">
            <a:r>
              <a:t/>
            </a:r>
          </a:p>
          <a:p xmlns:a="http://schemas.openxmlformats.org/drawingml/2006/main">
            <a:r>
              <a:rPr b="1"/>
              <a:t>The system must manage this input before every model call, including the next call after a tool result.</a:t>
            </a:r>
            <a:r>
              <a:rPr b="0"/>
              <a:t> Next, we'll look at those choices.</a:t>
            </a:r>
          </a:p>
          <a:p xmlns:a="http://schemas.openxmlformats.org/drawingml/2006/main">
            <a:r>
              <a:t/>
            </a:r>
          </a:p>
          <a:p xmlns:a="http://schemas.openxmlformats.org/drawingml/2006/main">
            <a:r>
              <a:rPr b="0"/>
              <a:t>Advance to slide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CONTEXT DECISIONS</a:t>
            </a:r>
          </a:p>
          <a:p xmlns:a="http://schemas.openxmlformats.org/drawingml/2006/main">
            <a:r>
              <a:t/>
            </a:r>
          </a:p>
          <a:p xmlns:a="http://schemas.openxmlformats.org/drawingml/2006/main">
            <a:r>
              <a:rPr b="1"/>
              <a:t>Before each call, decide what this step needs.</a:t>
            </a:r>
            <a:r>
              <a:rPr b="0"/>
              <a:t> Preload essentials and retrieve additional evidence when needed.</a:t>
            </a:r>
          </a:p>
          <a:p xmlns:a="http://schemas.openxmlformats.org/drawingml/2006/main">
            <a:r>
              <a:t/>
            </a:r>
          </a:p>
          <a:p xmlns:a="http://schemas.openxmlformats.org/drawingml/2006/main">
            <a:r>
              <a:rPr b="0"/>
              <a:t>RAG retrieves information and supplies it as evidence for generation. Keyword search matches terms and identifiers. Semantic search compares numerical representations called embeddings. Hybrid combines both.</a:t>
            </a:r>
          </a:p>
          <a:p xmlns:a="http://schemas.openxmlformats.org/drawingml/2006/main">
            <a:r>
              <a:t/>
            </a:r>
          </a:p>
          <a:p xmlns:a="http://schemas.openxmlformats.org/drawingml/2006/main">
            <a:r>
              <a:rPr b="0"/>
              <a:t>Select which results enter the input, keeping their source references. Enforce access before inclusion. Separate instructions from evidence, and </a:t>
            </a:r>
            <a:r>
              <a:rPr b="1"/>
              <a:t>test where key information works best.</a:t>
            </a:r>
          </a:p>
          <a:p xmlns:a="http://schemas.openxmlformats.org/drawingml/2006/main">
            <a:r>
              <a:t/>
            </a:r>
          </a:p>
          <a:p xmlns:a="http://schemas.openxmlformats.org/drawingml/2006/main">
            <a:r>
              <a:rPr b="0"/>
              <a:t>As work progresses, refresh stale information and remove irrelevant material. Compaction summarizes history to make room. Check that constraints and unresolved work survive.</a:t>
            </a:r>
          </a:p>
          <a:p xmlns:a="http://schemas.openxmlformats.org/drawingml/2006/main">
            <a:r>
              <a:t/>
            </a:r>
          </a:p>
          <a:p xmlns:a="http://schemas.openxmlformats.org/drawingml/2006/main">
            <a:r>
              <a:rPr b="1"/>
              <a:t>Subagents can handle focused tasks in separate contexts.</a:t>
            </a:r>
            <a:r>
              <a:rPr b="0"/>
              <a:t> Choose what each receives, and have it return findings with sources. Its detailed exploration can stay in its own context.</a:t>
            </a:r>
          </a:p>
          <a:p xmlns:a="http://schemas.openxmlformats.org/drawingml/2006/main">
            <a:r>
              <a:t/>
            </a:r>
          </a:p>
          <a:p xmlns:a="http://schemas.openxmlformats.org/drawingml/2006/main">
            <a:r>
              <a:rPr b="0"/>
              <a:t>More detail consumes context. Summaries and handoffs can lose information. Next, let's look at those failure modes.</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“Adding context without curating it.”</a:t>
            </a:r>
            <a:r>
              <a:rPr b="0"/>
              <a:t> That is the headline pitfall.</a:t>
            </a:r>
          </a:p>
          <a:p xmlns:a="http://schemas.openxmlformats.org/drawingml/2006/main">
            <a:r>
              <a:t/>
            </a:r>
          </a:p>
          <a:p xmlns:a="http://schemas.openxmlformats.org/drawingml/2006/main">
            <a:r>
              <a:rPr b="0"/>
              <a:t>Irrelevant material can distract from the task. Relevant evidence can also be overlooked depending on where it appears.</a:t>
            </a:r>
          </a:p>
          <a:p xmlns:a="http://schemas.openxmlformats.org/drawingml/2006/main">
            <a:r>
              <a:t/>
            </a:r>
          </a:p>
          <a:p xmlns:a="http://schemas.openxmlformats.org/drawingml/2006/main">
            <a:r>
              <a:rPr b="1"/>
              <a:t>Context rot means reliability can decline as the input grows, even before the window is full.</a:t>
            </a:r>
            <a:r>
              <a:rPr b="0"/>
              <a:t> That is different from information becoming outdated.</a:t>
            </a:r>
          </a:p>
          <a:p xmlns:a="http://schemas.openxmlformats.org/drawingml/2006/main">
            <a:r>
              <a:t/>
            </a:r>
          </a:p>
          <a:p xmlns:a="http://schemas.openxmlformats.org/drawingml/2006/main">
            <a:r>
              <a:rPr b="0"/>
              <a:t>Retrieval can miss evidence. Summaries and subagent handoffs can drop constraints or uncertainty. Retained information also needs freshness checks.</a:t>
            </a:r>
          </a:p>
          <a:p xmlns:a="http://schemas.openxmlformats.org/drawingml/2006/main">
            <a:r>
              <a:t/>
            </a:r>
          </a:p>
          <a:p xmlns:a="http://schemas.openxmlformats.org/drawingml/2006/main">
            <a:r>
              <a:rPr b="1"/>
              <a:t>Check the actual input for this call, including what is missing and what no longer belongs.</a:t>
            </a:r>
          </a:p>
          <a:p xmlns:a="http://schemas.openxmlformats.org/drawingml/2006/main">
            <a:r>
              <a:t/>
            </a:r>
          </a:p>
          <a:p xmlns:a="http://schemas.openxmlformats.org/drawingml/2006/main">
            <a:r>
              <a:rPr b="0"/>
              <a:t>Advance to slide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preliminary briefing identifies bearing wear as a possible cause. The later minutes leave the cause unresolved and require inspection. These are different documents with distinct identities and source locations.</a:t>
            </a:r>
          </a:p>
          <a:p xmlns:a="http://schemas.openxmlformats.org/drawingml/2006/main">
            <a:r>
              <a:t/>
            </a:r>
          </a:p>
          <a:p xmlns:a="http://schemas.openxmlformats.org/drawingml/2006/main">
            <a:r>
              <a:rPr b="1"/>
              <a:t>Suppose retrieval returns the briefing but misses the minutes. The decisive passage never reaches the model.</a:t>
            </a:r>
            <a:r>
              <a:rPr b="0"/>
              <a:t> This is our hypothetical failure, not a measured result.</a:t>
            </a:r>
          </a:p>
          <a:p xmlns:a="http://schemas.openxmlformats.org/drawingml/2006/main">
            <a:r>
              <a:t/>
            </a:r>
          </a:p>
          <a:p xmlns:a="http://schemas.openxmlformats.org/drawingml/2006/main">
            <a:r>
              <a:rPr b="0"/>
              <a:t>Inspect the path. Were the minutes available and readable within the authorized scope? Did retrieval return the passage? Did context assembly retain it? Those checks locate where the information was lost.</a:t>
            </a:r>
          </a:p>
          <a:p xmlns:a="http://schemas.openxmlformats.org/drawingml/2006/main">
            <a:r>
              <a:t/>
            </a:r>
          </a:p>
          <a:p xmlns:a="http://schemas.openxmlformats.org/drawingml/2006/main">
            <a:r>
              <a:rPr b="0"/>
              <a:t>The expected input includes both passages and their references. A working summary preserves the unresolved cause and required inspection. Refresh revisions and access before finalizing. Missing or unreadable evidence remains an explicit limitation. Preparation services stay within the same approved processing boundary.</a:t>
            </a:r>
          </a:p>
          <a:p xmlns:a="http://schemas.openxmlformats.org/drawingml/2006/main">
            <a:r>
              <a:t/>
            </a:r>
          </a:p>
          <a:p xmlns:a="http://schemas.openxmlformats.org/drawingml/2006/main">
            <a:r>
              <a:rPr b="0"/>
              <a:t>Next, Tools &amp; Extensibility explains the operations that obtain information and act on it. </a:t>
            </a:r>
            <a:r>
              <a:rPr b="1"/>
              <a:t>Context is a budget, not a bucket.</a:t>
            </a:r>
          </a:p>
          <a:p xmlns:a="http://schemas.openxmlformats.org/drawingml/2006/main">
            <a:r>
              <a:t/>
            </a:r>
          </a:p>
          <a:p xmlns:a="http://schemas.openxmlformats.org/drawingml/2006/main">
            <a:r>
              <a:rPr b="0"/>
              <a:t>Advance to slide 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“Agents are only as effective as the tools we give them.”</a:t>
            </a:r>
          </a:p>
          <a:p xmlns:a="http://schemas.openxmlformats.org/drawingml/2006/main">
            <a:r>
              <a:t/>
            </a:r>
          </a:p>
          <a:p xmlns:a="http://schemas.openxmlformats.org/drawingml/2006/main">
            <a:r>
              <a:rPr b="0"/>
              <a:t>A tool gives the model an operation it can request. The contract must make that operation useful to the caller and enforceable by the application.</a:t>
            </a:r>
          </a:p>
          <a:p xmlns:a="http://schemas.openxmlformats.org/drawingml/2006/main">
            <a:r>
              <a:t/>
            </a:r>
          </a:p>
          <a:p xmlns:a="http://schemas.openxmlformats.org/drawingml/2006/main">
            <a:r>
              <a:rPr b="0"/>
              <a:t>Advance to slide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TOOLS AND AGENT CAPABILITIES</a:t>
            </a:r>
          </a:p>
          <a:p xmlns:a="http://schemas.openxmlformats.org/drawingml/2006/main">
            <a:r>
              <a:t/>
            </a:r>
          </a:p>
          <a:p xmlns:a="http://schemas.openxmlformats.org/drawingml/2006/main">
            <a:r>
              <a:rPr b="1"/>
              <a:t>Tools are the primary way we give an agent capabilities beyond generating a response.</a:t>
            </a:r>
            <a:r>
              <a:rPr b="0"/>
              <a:t> They let it retrieve current information, run computations, and act on external systems.</a:t>
            </a:r>
          </a:p>
          <a:p xmlns:a="http://schemas.openxmlformats.org/drawingml/2006/main">
            <a:r>
              <a:t/>
            </a:r>
          </a:p>
          <a:p xmlns:a="http://schemas.openxmlformats.org/drawingml/2006/main">
            <a:r>
              <a:rPr b="0"/>
              <a:t>The model receives descriptions of available tools and their inputs. It selects a tool and supplies arguments. </a:t>
            </a:r>
            <a:r>
              <a:rPr b="1"/>
              <a:t>Software checks the request and executes the permitted operation.</a:t>
            </a:r>
            <a:r>
              <a:rPr b="0"/>
              <a:t> The result becomes information the model can use next.</a:t>
            </a:r>
          </a:p>
          <a:p xmlns:a="http://schemas.openxmlformats.org/drawingml/2006/main">
            <a:r>
              <a:t/>
            </a:r>
          </a:p>
          <a:p xmlns:a="http://schemas.openxmlformats.org/drawingml/2006/main">
            <a:r>
              <a:rPr b="0"/>
              <a:t>MCP, the Model Context Protocol, provides a standard interface for connecting AI applications to external tools and context. An MCP server exposes capabilities. The application discovers and calls them through an MCP client.</a:t>
            </a:r>
          </a:p>
          <a:p xmlns:a="http://schemas.openxmlformats.org/drawingml/2006/main">
            <a:r>
              <a:t/>
            </a:r>
          </a:p>
          <a:p xmlns:a="http://schemas.openxmlformats.org/drawingml/2006/main">
            <a:r>
              <a:rPr b="0"/>
              <a:t>For example, an issue-tracker server could expose tools to search issues and create a ticket. Connecting those tools extends what the agent can do. Software still controls what it may do.</a:t>
            </a:r>
          </a:p>
          <a:p xmlns:a="http://schemas.openxmlformats.org/drawingml/2006/main">
            <a:r>
              <a:t/>
            </a:r>
          </a:p>
          <a:p xmlns:a="http://schemas.openxmlformats.org/drawingml/2006/main">
            <a:r>
              <a:rPr b="0"/>
              <a:t>Next, we choose which capabilities to expose and how the agent will use them.</a:t>
            </a:r>
          </a:p>
          <a:p xmlns:a="http://schemas.openxmlformats.org/drawingml/2006/main">
            <a:r>
              <a:t/>
            </a:r>
          </a:p>
          <a:p xmlns:a="http://schemas.openxmlformats.org/drawingml/2006/main">
            <a:r>
              <a:rPr b="0"/>
              <a:t>Advance to slide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CHOOSING AND EXPOSING CAPABILITIES</a:t>
            </a:r>
          </a:p>
          <a:p xmlns:a="http://schemas.openxmlformats.org/drawingml/2006/main">
            <a:r>
              <a:t/>
            </a:r>
          </a:p>
          <a:p xmlns:a="http://schemas.openxmlformats.org/drawingml/2006/main">
            <a:r>
              <a:rPr b="1"/>
              <a:t>Start with the task the agent needs to perform.</a:t>
            </a:r>
            <a:r>
              <a:rPr b="0"/>
              <a:t> Small tools give it flexible building blocks, but require more calls to coordinate. A task-oriented tool handles more work internally, while embedding more assumptions.</a:t>
            </a:r>
          </a:p>
          <a:p xmlns:a="http://schemas.openxmlformats.org/drawingml/2006/main">
            <a:r>
              <a:t/>
            </a:r>
          </a:p>
          <a:p xmlns:a="http://schemas.openxmlformats.org/drawingml/2006/main">
            <a:r>
              <a:rPr b="0"/>
              <a:t>Then choose how to connect. MCP provides a standard way to discover and call tools. An existing CLI can also expose useful capabilities through a shell or execution tool. Consider its available commands and how reliably the agent can interpret their output.</a:t>
            </a:r>
          </a:p>
          <a:p xmlns:a="http://schemas.openxmlformats.org/drawingml/2006/main">
            <a:r>
              <a:t/>
            </a:r>
          </a:p>
          <a:p xmlns:a="http://schemas.openxmlformats.org/drawingml/2006/main">
            <a:r>
              <a:rPr b="1"/>
              <a:t>Code mode means the agent writes code that calls tools.</a:t>
            </a:r>
            <a:r>
              <a:rPr b="0"/>
              <a:t> That code can call MCP tools, loop over results, and filter data before returning selected information to the model.</a:t>
            </a:r>
          </a:p>
          <a:p xmlns:a="http://schemas.openxmlformats.org/drawingml/2006/main">
            <a:r>
              <a:t/>
            </a:r>
          </a:p>
          <a:p xmlns:a="http://schemas.openxmlformats.org/drawingml/2006/main">
            <a:r>
              <a:rPr b="0"/>
              <a:t>This can reduce repeated model round trips and intermediate data in context. It also requires a controlled execution environment. Whichever approach you choose, enforce permissions and validate inputs in software.</a:t>
            </a:r>
          </a:p>
          <a:p xmlns:a="http://schemas.openxmlformats.org/drawingml/2006/main">
            <a:r>
              <a:t/>
            </a:r>
          </a:p>
          <a:p xmlns:a="http://schemas.openxmlformats.org/drawingml/2006/main">
            <a:r>
              <a:rPr b="0"/>
              <a:t>Evaluate these choices on real tasks. The next slide covers common failures.</a:t>
            </a:r>
          </a:p>
          <a:p xmlns:a="http://schemas.openxmlformats.org/drawingml/2006/main">
            <a:r>
              <a:t/>
            </a:r>
          </a:p>
          <a:p xmlns:a="http://schemas.openxmlformats.org/drawingml/2006/main">
            <a:r>
              <a:rPr b="0"/>
              <a:t>Advance to slide 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Copying APIs without evaluating task fit.</a:t>
            </a:r>
            <a:r>
              <a:rPr b="0"/>
              <a:t> An operation can work correctly and still be difficult for an agent to use.</a:t>
            </a:r>
          </a:p>
          <a:p xmlns:a="http://schemas.openxmlformats.org/drawingml/2006/main">
            <a:r>
              <a:t/>
            </a:r>
          </a:p>
          <a:p xmlns:a="http://schemas.openxmlformats.org/drawingml/2006/main">
            <a:r>
              <a:rPr b="0"/>
              <a:t>Similar tools can confuse selection. Descriptions that drift from actual behavior can lead to incorrect calls. Test whether the agent chooses and uses the right operation.</a:t>
            </a:r>
          </a:p>
          <a:p xmlns:a="http://schemas.openxmlformats.org/drawingml/2006/main">
            <a:r>
              <a:t/>
            </a:r>
          </a:p>
          <a:p xmlns:a="http://schemas.openxmlformats.org/drawingml/2006/main">
            <a:r>
              <a:rPr b="0"/>
              <a:t>MCP, CLI access, and code mode all need explicit permission boundaries. </a:t>
            </a:r>
            <a:r>
              <a:rPr b="1"/>
              <a:t>Give the agent only the authority its task requires.</a:t>
            </a:r>
          </a:p>
          <a:p xmlns:a="http://schemas.openxmlformats.org/drawingml/2006/main">
            <a:r>
              <a:t/>
            </a:r>
          </a:p>
          <a:p xmlns:a="http://schemas.openxmlformats.org/drawingml/2006/main">
            <a:r>
              <a:rPr b="0"/>
              <a:t>Results must distinguish confirmed completion, known failure, and uncertainty. A timeout may leave completion unknown. </a:t>
            </a:r>
            <a:r>
              <a:rPr b="1"/>
              <a:t>The result should make that uncertainty explicit.</a:t>
            </a:r>
          </a:p>
          <a:p xmlns:a="http://schemas.openxmlformats.org/drawingml/2006/main">
            <a:r>
              <a:t/>
            </a:r>
          </a:p>
          <a:p xmlns:a="http://schemas.openxmlformats.org/drawingml/2006/main">
            <a:r>
              <a:rPr b="0"/>
              <a:t>Advance to slide 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FRB brief is ready for export. Our contract requires the exact draft that passed verification, its citations, and a destination permitted for these records.</a:t>
            </a:r>
          </a:p>
          <a:p xmlns:a="http://schemas.openxmlformats.org/drawingml/2006/main">
            <a:r>
              <a:t/>
            </a:r>
          </a:p>
          <a:p xmlns:a="http://schemas.openxmlformats.org/drawingml/2006/main">
            <a:r>
              <a:rPr b="1"/>
              <a:t>Suppose the model requests an export to a destination outside that approved scope.</a:t>
            </a:r>
            <a:r>
              <a:rPr b="0"/>
              <a:t> Its arguments can be well formed and still fail the permission check.</a:t>
            </a:r>
          </a:p>
          <a:p xmlns:a="http://schemas.openxmlformats.org/drawingml/2006/main">
            <a:r>
              <a:t/>
            </a:r>
          </a:p>
          <a:p xmlns:a="http://schemas.openxmlformats.org/drawingml/2006/main">
            <a:r>
              <a:rPr b="0"/>
              <a:t>The expected behavior is for the service to reject the request before transfer and return a clear reason. In a test, check both the rejection and the absence of an export at that destination. An error message alone does not establish that no transfer occurred.</a:t>
            </a:r>
          </a:p>
          <a:p xmlns:a="http://schemas.openxmlformats.org/drawingml/2006/main">
            <a:r>
              <a:t/>
            </a:r>
          </a:p>
          <a:p xmlns:a="http://schemas.openxmlformats.org/drawingml/2006/main">
            <a:r>
              <a:rPr b="0"/>
              <a:t>This preserves the CUI/ECI boundary. A permitted export must still retain the checked wording, citations, and uncertainty and return a matching receipt.</a:t>
            </a:r>
          </a:p>
          <a:p xmlns:a="http://schemas.openxmlformats.org/drawingml/2006/main">
            <a:r>
              <a:t/>
            </a:r>
          </a:p>
          <a:p xmlns:a="http://schemas.openxmlformats.org/drawingml/2006/main">
            <a:r>
              <a:rPr b="0"/>
              <a:t>This rejection is a known outcome. Orchestration next handles continuation and uncertainty after execution. </a:t>
            </a:r>
            <a:r>
              <a:rPr b="1"/>
              <a:t>A description guides the model. Code enforces the contract.</a:t>
            </a:r>
          </a:p>
          <a:p xmlns:a="http://schemas.openxmlformats.org/drawingml/2006/main">
            <a:r>
              <a:t/>
            </a:r>
          </a:p>
          <a:p xmlns:a="http://schemas.openxmlformats.org/drawingml/2006/main">
            <a:r>
              <a:rPr b="0"/>
              <a:t>Advance to slide 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“we recommend finding the simplest solution possible, and only increasing complexity when needed.”</a:t>
            </a:r>
          </a:p>
          <a:p xmlns:a="http://schemas.openxmlformats.org/drawingml/2006/main">
            <a:r>
              <a:t/>
            </a:r>
          </a:p>
          <a:p xmlns:a="http://schemas.openxmlformats.org/drawingml/2006/main">
            <a:r>
              <a:rPr b="0"/>
              <a:t>Decide which transitions code controls and where the model can choose an action. Then establish how work progresses, stops, and resumes.</a:t>
            </a:r>
          </a:p>
          <a:p xmlns:a="http://schemas.openxmlformats.org/drawingml/2006/main">
            <a:r>
              <a:t/>
            </a:r>
          </a:p>
          <a:p xmlns:a="http://schemas.openxmlformats.org/drawingml/2006/main">
            <a:r>
              <a:rPr b="0"/>
              <a:t>Advance to slide 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WORKFLOWS AND AGENT LOOPS</a:t>
            </a:r>
          </a:p>
          <a:p xmlns:a="http://schemas.openxmlformats.org/drawingml/2006/main">
            <a:r>
              <a:t/>
            </a:r>
          </a:p>
          <a:p xmlns:a="http://schemas.openxmlformats.org/drawingml/2006/main">
            <a:r>
              <a:rPr b="1"/>
              <a:t>Orchestration controls how work progresses.</a:t>
            </a:r>
            <a:r>
              <a:rPr b="0"/>
              <a:t> In a workflow, code defines the stages and permitted transitions. In an agent loop, the model chooses its next action, observes the result, and decides what to do next.</a:t>
            </a:r>
          </a:p>
          <a:p xmlns:a="http://schemas.openxmlformats.org/drawingml/2006/main">
            <a:r>
              <a:t/>
            </a:r>
          </a:p>
          <a:p xmlns:a="http://schemas.openxmlformats.org/drawingml/2006/main">
            <a:r>
              <a:rPr b="1"/>
              <a:t>A workflow can use a model without giving it control of execution.</a:t>
            </a:r>
            <a:r>
              <a:rPr b="0"/>
              <a:t> A script might collect failed test logs, a model summarize them, and code check the output. The sequence is predefined.</a:t>
            </a:r>
          </a:p>
          <a:p xmlns:a="http://schemas.openxmlformats.org/drawingml/2006/main">
            <a:r>
              <a:t/>
            </a:r>
          </a:p>
          <a:p xmlns:a="http://schemas.openxmlformats.org/drawingml/2006/main">
            <a:r>
              <a:rPr b="0"/>
              <a:t>An agent investigating a failure might instead choose which file to inspect or which test to run next, based on what it finds. That flexibility can help when the next step depends on the evidence.</a:t>
            </a:r>
          </a:p>
          <a:p xmlns:a="http://schemas.openxmlformats.org/drawingml/2006/main">
            <a:r>
              <a:t/>
            </a:r>
          </a:p>
          <a:p xmlns:a="http://schemas.openxmlformats.org/drawingml/2006/main">
            <a:r>
              <a:rPr b="0"/>
              <a:t>The two can combine: a bounded agent loop inside a workflow stage. Code still enforces permissions, required checks, and stopping limits.</a:t>
            </a:r>
          </a:p>
          <a:p xmlns:a="http://schemas.openxmlformats.org/drawingml/2006/main">
            <a:r>
              <a:t/>
            </a:r>
          </a:p>
          <a:p xmlns:a="http://schemas.openxmlformats.org/drawingml/2006/main">
            <a:r>
              <a:rPr b="1"/>
              <a:t>Before choosing either design, ask: “Is intelligence needed for this task?”</a:t>
            </a:r>
            <a:r>
              <a:rPr b="0"/>
              <a:t> Then ask whether the model needs to choose the next action.</a:t>
            </a:r>
          </a:p>
          <a:p xmlns:a="http://schemas.openxmlformats.org/drawingml/2006/main">
            <a:r>
              <a:t/>
            </a:r>
          </a:p>
          <a:p xmlns:a="http://schemas.openxmlformats.org/drawingml/2006/main">
            <a:r>
              <a:rPr b="0"/>
              <a:t>Advance to slide 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CHOOSING THE EXECUTION APPROACH</a:t>
            </a:r>
          </a:p>
          <a:p xmlns:a="http://schemas.openxmlformats.org/drawingml/2006/main">
            <a:r>
              <a:t/>
            </a:r>
          </a:p>
          <a:p xmlns:a="http://schemas.openxmlformats.org/drawingml/2006/main">
            <a:r>
              <a:rPr b="1"/>
              <a:t>Is intelligence needed for this task?</a:t>
            </a:r>
            <a:r>
              <a:rPr b="0"/>
              <a:t> If explicit rules can produce an acceptable result, start with a script or workflow. A task being possible for an agent does not make an agent the best choice.</a:t>
            </a:r>
          </a:p>
          <a:p xmlns:a="http://schemas.openxmlformats.org/drawingml/2006/main">
            <a:r>
              <a:t/>
            </a:r>
          </a:p>
          <a:p xmlns:a="http://schemas.openxmlformats.org/drawingml/2006/main">
            <a:r>
              <a:rPr b="0"/>
              <a:t>If model judgment helps, ask a second question: does the model need to choose what happens next? Summarizing logs can be a fixed workflow step. Investigating an unfamiliar failure may benefit from choosing actions as evidence arrives.</a:t>
            </a:r>
          </a:p>
          <a:p xmlns:a="http://schemas.openxmlformats.org/drawingml/2006/main">
            <a:r>
              <a:t/>
            </a:r>
          </a:p>
          <a:p xmlns:a="http://schemas.openxmlformats.org/drawingml/2006/main">
            <a:r>
              <a:rPr b="1"/>
              <a:t>Autonomy must earn its place.</a:t>
            </a:r>
            <a:r>
              <a:rPr b="0"/>
              <a:t> Compare it with the simpler approach on representative tasks. Does it improve results enough to justify the time, cost, and operational complexity? Include retries and human review.</a:t>
            </a:r>
          </a:p>
          <a:p xmlns:a="http://schemas.openxmlformats.org/drawingml/2006/main">
            <a:r>
              <a:t/>
            </a:r>
          </a:p>
          <a:p xmlns:a="http://schemas.openxmlformats.org/drawingml/2006/main">
            <a:r>
              <a:rPr b="0"/>
              <a:t>Define the execution controls too. A checkpoint saves state for resumption. Required checks and stopping limits belong in code. Before retrying an external action, establish what happened. If its outcome remains unknown, pause or hand off.</a:t>
            </a:r>
          </a:p>
          <a:p xmlns:a="http://schemas.openxmlformats.org/drawingml/2006/main">
            <a:r>
              <a:t/>
            </a:r>
          </a:p>
          <a:p xmlns:a="http://schemas.openxmlformats.org/drawingml/2006/main">
            <a:r>
              <a:rPr b="0"/>
              <a:t>Advance to slide 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Adding multiple agents before trying a workflow</a:t>
            </a:r>
            <a:r>
              <a:rPr b="0"/>
              <a:t> is the headline pitfall. The same mistake can start with one unnecessary agent. </a:t>
            </a:r>
            <a:r>
              <a:rPr b="1"/>
              <a:t>Added autonomy needs demonstrated value.</a:t>
            </a:r>
          </a:p>
          <a:p xmlns:a="http://schemas.openxmlformats.org/drawingml/2006/main">
            <a:r>
              <a:t/>
            </a:r>
          </a:p>
          <a:p xmlns:a="http://schemas.openxmlformats.org/drawingml/2006/main">
            <a:r>
              <a:rPr b="0"/>
              <a:t>A proposed plan does not enforce required checks. Repeated activity does not establish progress.</a:t>
            </a:r>
          </a:p>
          <a:p xmlns:a="http://schemas.openxmlformats.org/drawingml/2006/main">
            <a:r>
              <a:t/>
            </a:r>
          </a:p>
          <a:p xmlns:a="http://schemas.openxmlformats.org/drawingml/2006/main">
            <a:r>
              <a:rPr b="1"/>
              <a:t>A timeout does not establish failure.</a:t>
            </a:r>
            <a:r>
              <a:rPr b="0"/>
              <a:t> Check the action’s outcome before retrying. If it remains unknown, pause or hand off.</a:t>
            </a:r>
          </a:p>
          <a:p xmlns:a="http://schemas.openxmlformats.org/drawingml/2006/main">
            <a:r>
              <a:t/>
            </a:r>
          </a:p>
          <a:p xmlns:a="http://schemas.openxmlformats.org/drawingml/2006/main">
            <a:r>
              <a:rPr b="0"/>
              <a:t>Advance to slide 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RECOVERY APPLICATION</a:t>
            </a:r>
          </a:p>
          <a:p xmlns:a="http://schemas.openxmlformats.org/drawingml/2006/main">
            <a:r>
              <a:t/>
            </a:r>
          </a:p>
          <a:p xmlns:a="http://schemas.openxmlformats.org/drawingml/2006/main">
            <a:r>
              <a:rPr b="0"/>
              <a:t>This is a separate export to a permitted destination, using the exact checked draft. Suppose the service creates the brief, but the response never reaches the caller.</a:t>
            </a:r>
          </a:p>
          <a:p xmlns:a="http://schemas.openxmlformats.org/drawingml/2006/main">
            <a:r>
              <a:t/>
            </a:r>
          </a:p>
          <a:p xmlns:a="http://schemas.openxmlformats.org/drawingml/2006/main">
            <a:r>
              <a:rPr b="1"/>
              <a:t>Record outcome unknown. Check the export state before deciding whether to retry.</a:t>
            </a:r>
            <a:r>
              <a:rPr b="0"/>
              <a:t> Use the intended operation's reference to inspect its receipt and output. A matching checked artifact can establish completion without another export.</a:t>
            </a:r>
          </a:p>
          <a:p xmlns:a="http://schemas.openxmlformats.org/drawingml/2006/main">
            <a:r>
              <a:t/>
            </a:r>
          </a:p>
          <a:p xmlns:a="http://schemas.openxmlformats.org/drawingml/2006/main">
            <a:r>
              <a:rPr b="1"/>
              <a:t>Idempotency means retrying the same intended operation does not duplicate its effects.</a:t>
            </a:r>
            <a:r>
              <a:rPr b="0"/>
              <a:t> The service must support that contract. An identifier in our log alone is insufficient.</a:t>
            </a:r>
          </a:p>
          <a:p xmlns:a="http://schemas.openxmlformats.org/drawingml/2006/main">
            <a:r>
              <a:t/>
            </a:r>
          </a:p>
          <a:p xmlns:a="http://schemas.openxmlformats.org/drawingml/2006/main">
            <a:r>
              <a:rPr b="0"/>
              <a:t>If the outcome remains uncertain, pause or hand off. Recheck permissions and freshness when work resumes, and repeat verification if the draft changes. Reaching a work limit does not make an incomplete brief complete.</a:t>
            </a:r>
          </a:p>
          <a:p xmlns:a="http://schemas.openxmlformats.org/drawingml/2006/main">
            <a:r>
              <a:t/>
            </a:r>
          </a:p>
          <a:p xmlns:a="http://schemas.openxmlformats.org/drawingml/2006/main">
            <a:r>
              <a:rPr b="0"/>
              <a:t>Next, Verification &amp; Evals explains what the checks should establish. </a:t>
            </a:r>
            <a:r>
              <a:rPr b="1"/>
              <a:t>The loop is where autonomy gets its limits. Start with the workflow.</a:t>
            </a:r>
          </a:p>
          <a:p xmlns:a="http://schemas.openxmlformats.org/drawingml/2006/main">
            <a:r>
              <a:t/>
            </a:r>
          </a:p>
          <a:p xmlns:a="http://schemas.openxmlformats.org/drawingml/2006/main">
            <a:r>
              <a:rPr b="0"/>
              <a:t>Advance to slide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“Error analysis is the most important activity in evals.”</a:t>
            </a:r>
          </a:p>
          <a:p xmlns:a="http://schemas.openxmlformats.org/drawingml/2006/main">
            <a:r>
              <a:t/>
            </a:r>
          </a:p>
          <a:p xmlns:a="http://schemas.openxmlformats.org/drawingml/2006/main">
            <a:r>
              <a:rPr b="0"/>
              <a:t>Inspect the result and trace before choosing a repair. An aggregate score becomes useful when we understand the failures behind it.</a:t>
            </a:r>
          </a:p>
          <a:p xmlns:a="http://schemas.openxmlformats.org/drawingml/2006/main">
            <a:r>
              <a:t/>
            </a:r>
          </a:p>
          <a:p xmlns:a="http://schemas.openxmlformats.org/drawingml/2006/main">
            <a:r>
              <a:rPr b="0"/>
              <a:t>Advance to slide 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VERIFICATION AND EVALUATION FOUNDATIONS</a:t>
            </a:r>
          </a:p>
          <a:p xmlns:a="http://schemas.openxmlformats.org/drawingml/2006/main">
            <a:r>
              <a:t/>
            </a:r>
          </a:p>
          <a:p xmlns:a="http://schemas.openxmlformats.org/drawingml/2006/main">
            <a:r>
              <a:rPr b="1"/>
              <a:t>Verification asks whether this result meets the required conditions. Evaluation asks how the system behaves across cases and repeated runs.</a:t>
            </a:r>
            <a:r>
              <a:rPr b="0"/>
              <a:t> The same checks can serve both purposes.</a:t>
            </a:r>
          </a:p>
          <a:p xmlns:a="http://schemas.openxmlformats.org/drawingml/2006/main">
            <a:r>
              <a:t/>
            </a:r>
          </a:p>
          <a:p xmlns:a="http://schemas.openxmlformats.org/drawingml/2006/main">
            <a:r>
              <a:rPr b="0"/>
              <a:t>A case defines the input, starting conditions, and expected behavior. A trial is one attempt at that case. A grader checks an aspect of the behavior or outcome. Several graders may examine the same trial.</a:t>
            </a:r>
          </a:p>
          <a:p xmlns:a="http://schemas.openxmlformats.org/drawingml/2006/main">
            <a:r>
              <a:t/>
            </a:r>
          </a:p>
          <a:p xmlns:a="http://schemas.openxmlformats.org/drawingml/2006/main">
            <a:r>
              <a:rPr b="1"/>
              <a:t>Evals are tests of an AI system. Ordinary software tests remain necessary.</a:t>
            </a:r>
            <a:r>
              <a:rPr b="0"/>
              <a:t> A coding agent's test output is evidence to inspect; its completion message must still agree with the actual result.</a:t>
            </a:r>
          </a:p>
          <a:p xmlns:a="http://schemas.openxmlformats.org/drawingml/2006/main">
            <a:r>
              <a:t/>
            </a:r>
          </a:p>
          <a:p xmlns:a="http://schemas.openxmlformats.org/drawingml/2006/main">
            <a:r>
              <a:rPr b="0"/>
              <a:t>Check the output and required action constraints, including permission and verified completion. A successful demonstration establishes one useful path. The product needs evidence across representative work, important failures, and repeated attempts.</a:t>
            </a:r>
          </a:p>
          <a:p xmlns:a="http://schemas.openxmlformats.org/drawingml/2006/main">
            <a:r>
              <a:t/>
            </a:r>
          </a:p>
          <a:p xmlns:a="http://schemas.openxmlformats.org/drawingml/2006/main">
            <a:r>
              <a:rPr b="0"/>
              <a:t>Advance to slide 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EVALUATION DESIGN</a:t>
            </a:r>
          </a:p>
          <a:p xmlns:a="http://schemas.openxmlformats.org/drawingml/2006/main">
            <a:r>
              <a:t/>
            </a:r>
          </a:p>
          <a:p xmlns:a="http://schemas.openxmlformats.org/drawingml/2006/main">
            <a:r>
              <a:rPr b="0"/>
              <a:t>Start with the expected outcome and forbidden effects. Build cases from real work and known failures, including useful limitations when the system cannot finish. These rows illustrate coverage. Also include missing evidence and adversarial content.</a:t>
            </a:r>
          </a:p>
          <a:p xmlns:a="http://schemas.openxmlformats.org/drawingml/2006/main">
            <a:r>
              <a:t/>
            </a:r>
          </a:p>
          <a:p xmlns:a="http://schemas.openxmlformats.org/drawingml/2006/main">
            <a:r>
              <a:rPr b="0"/>
              <a:t>Use code for conditions you can check directly, such as a citation resolving or no export reaching a forbidden destination. Experts define quality and judge domain meaning. A model grader can help apply a rubric to varied outputs, but compare its decisions with expert judgments and inspect disagreements. </a:t>
            </a:r>
            <a:r>
              <a:rPr b="1"/>
              <a:t>The grader also needs evaluation.</a:t>
            </a:r>
            <a:r>
              <a:rPr b="0"/>
              <a:t> All reviewers and processing services stay within the approved data scope.</a:t>
            </a:r>
          </a:p>
          <a:p xmlns:a="http://schemas.openxmlformats.org/drawingml/2006/main">
            <a:r>
              <a:t/>
            </a:r>
          </a:p>
          <a:p xmlns:a="http://schemas.openxmlformats.org/drawingml/2006/main">
            <a:r>
              <a:rPr b="1"/>
              <a:t>Held-out cases are reserved from routine tuning.</a:t>
            </a:r>
            <a:r>
              <a:rPr b="0"/>
              <a:t> Use them to assess a change on work it was not repeatedly adjusted against. Repeat trials where behavior varies, and inspect results by case category.</a:t>
            </a:r>
          </a:p>
          <a:p xmlns:a="http://schemas.openxmlformats.org/drawingml/2006/main">
            <a:r>
              <a:t/>
            </a:r>
          </a:p>
          <a:p xmlns:a="http://schemas.openxmlformats.org/drawingml/2006/main">
            <a:r>
              <a:rPr b="0"/>
              <a:t>For each case, record starting conditions, expected behavior, source revisions, and system configuration. The lost-response case requires a verified export when matching evidence is available. A variant where the outcome remains unknowable instead requires an explicit unresolved status. Keep those outcomes distinct.</a:t>
            </a:r>
          </a:p>
          <a:p xmlns:a="http://schemas.openxmlformats.org/drawingml/2006/main">
            <a:r>
              <a:t/>
            </a:r>
          </a:p>
          <a:p xmlns:a="http://schemas.openxmlformats.org/drawingml/2006/main">
            <a:r>
              <a:rPr b="0"/>
              <a:t>Advance to slide 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Using a generic judge without error analysis or result checks</a:t>
            </a:r>
            <a:r>
              <a:rPr b="0"/>
              <a:t> is the headline pitfall. Check the actual outcome, the grader, and the cases before choosing a repair. Continually tuning against held-out cases weakens their independence. </a:t>
            </a:r>
            <a:r>
              <a:rPr b="1"/>
              <a:t>Evaluation continues after deployment and after model or harness changes.</a:t>
            </a:r>
            <a:r>
              <a:rPr b="0"/>
              <a:t> Add failures from real use.</a:t>
            </a:r>
          </a:p>
          <a:p xmlns:a="http://schemas.openxmlformats.org/drawingml/2006/main">
            <a:r>
              <a:t/>
            </a:r>
          </a:p>
          <a:p xmlns:a="http://schemas.openxmlformats.org/drawingml/2006/main">
            <a:r>
              <a:rPr b="0"/>
              <a:t>Advance to slide 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answer claims the board confirmed bearing wear and cites FRB-042-MIN revision two, section three, paragraph two. That reference exists, so the direct reference check passes.</a:t>
            </a:r>
          </a:p>
          <a:p xmlns:a="http://schemas.openxmlformats.org/drawingml/2006/main">
            <a:r>
              <a:t/>
            </a:r>
          </a:p>
          <a:p xmlns:a="http://schemas.openxmlformats.org/drawingml/2006/main">
            <a:r>
              <a:rPr b="0"/>
              <a:t>The minutes leave the cause unresolved and require inspection. The support check fails. </a:t>
            </a:r>
            <a:r>
              <a:rPr b="1"/>
              <a:t>Citation existence and semantic support are different checks.</a:t>
            </a:r>
            <a:r>
              <a:rPr b="0"/>
              <a:t> The expected answer preserves the unresolved cause and outstanding inspection.</a:t>
            </a:r>
          </a:p>
          <a:p xmlns:a="http://schemas.openxmlformats.org/drawingml/2006/main">
            <a:r>
              <a:t/>
            </a:r>
          </a:p>
          <a:p xmlns:a="http://schemas.openxmlformats.org/drawingml/2006/main">
            <a:r>
              <a:rPr b="0"/>
              <a:t>Use an authorized expert, or a suitable model grader calibrated against expert judgments, for that assessment. The failing draft cannot pass the export gate. Corrected content must be checked again.</a:t>
            </a:r>
          </a:p>
          <a:p xmlns:a="http://schemas.openxmlformats.org/drawingml/2006/main">
            <a:r>
              <a:t/>
            </a:r>
          </a:p>
          <a:p xmlns:a="http://schemas.openxmlformats.org/drawingml/2006/main">
            <a:r>
              <a:rPr b="0"/>
              <a:t>Keep this as one regression case within the broader suite. Inspect the trace to locate the loss of meaning before selecting a repair, then rerun relevant cases and repeated trials. This one case does not establish every requirement.</a:t>
            </a:r>
          </a:p>
          <a:p xmlns:a="http://schemas.openxmlformats.org/drawingml/2006/main">
            <a:r>
              <a:t/>
            </a:r>
          </a:p>
          <a:p xmlns:a="http://schemas.openxmlformats.org/drawingml/2006/main">
            <a:r>
              <a:rPr b="0"/>
              <a:t>AgentOps connects evaluation evidence to response during real use. </a:t>
            </a:r>
            <a:r>
              <a:rPr b="1"/>
              <a:t>Check the action before accepting it. Measure behavior across representative cases. Keep both checks running as the system changes.</a:t>
            </a:r>
          </a:p>
          <a:p xmlns:a="http://schemas.openxmlformats.org/drawingml/2006/main">
            <a:r>
              <a:t/>
            </a:r>
          </a:p>
          <a:p xmlns:a="http://schemas.openxmlformats.org/drawingml/2006/main">
            <a:r>
              <a:rPr b="0"/>
              <a:t>Advance to slide 36.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“The next wave of agent failures won't be about what agents can't do. It'll be about what teams can't observe.”</a:t>
            </a:r>
          </a:p>
          <a:p xmlns:a="http://schemas.openxmlformats.org/drawingml/2006/main">
            <a:r>
              <a:t/>
            </a:r>
          </a:p>
          <a:p xmlns:a="http://schemas.openxmlformats.org/drawingml/2006/main">
            <a:r>
              <a:rPr b="0"/>
              <a:t>That is Guillermo Rauch's perspective, quoted in Datadog's report. The team needs evidence of actual behavior and responsibility for responding when the system departs from its intended use.</a:t>
            </a:r>
          </a:p>
          <a:p xmlns:a="http://schemas.openxmlformats.org/drawingml/2006/main">
            <a:r>
              <a:t/>
            </a:r>
          </a:p>
          <a:p xmlns:a="http://schemas.openxmlformats.org/drawingml/2006/main">
            <a:r>
              <a:rPr b="0"/>
              <a:t>Advance to slide 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FOUNDATIONS</a:t>
            </a:r>
          </a:p>
          <a:p xmlns:a="http://schemas.openxmlformats.org/drawingml/2006/main">
            <a:r>
              <a:t/>
            </a:r>
          </a:p>
          <a:p xmlns:a="http://schemas.openxmlformats.org/drawingml/2006/main">
            <a:r>
              <a:rPr b="1"/>
              <a:t>AgentOps operates the service across many runs and over time.</a:t>
            </a:r>
            <a:r>
              <a:rPr b="0"/>
              <a:t> Orchestration controls one run. Here we connect observability, enforced controls, and accountable response as the system changes.</a:t>
            </a:r>
          </a:p>
          <a:p xmlns:a="http://schemas.openxmlformats.org/drawingml/2006/main">
            <a:r>
              <a:t/>
            </a:r>
          </a:p>
          <a:p xmlns:a="http://schemas.openxmlformats.org/drawingml/2006/main">
            <a:r>
              <a:rPr b="0"/>
              <a:t>A trace connects the operations behind a task: retrieval, model calls, tools, checks, and the outcome. A span records one timed operation. These are observations of work, not access to the model's private reasoning.</a:t>
            </a:r>
          </a:p>
          <a:p xmlns:a="http://schemas.openxmlformats.org/drawingml/2006/main">
            <a:r>
              <a:t/>
            </a:r>
          </a:p>
          <a:p xmlns:a="http://schemas.openxmlformats.org/drawingml/2006/main">
            <a:r>
              <a:rPr b="0"/>
              <a:t>Versioned configuration records the code, model and settings, prompts, retrieval setup, and tool contracts in use. A prompt edit or index refresh can change answers without an application-code release.</a:t>
            </a:r>
          </a:p>
          <a:p xmlns:a="http://schemas.openxmlformats.org/drawingml/2006/main">
            <a:r>
              <a:t/>
            </a:r>
          </a:p>
          <a:p xmlns:a="http://schemas.openxmlformats.org/drawingml/2006/main">
            <a:r>
              <a:rPr b="0"/>
              <a:t>Outcome metrics track useful completion and quality alongside time, cost, and review work. Quality judgments may arrive later or through samples. </a:t>
            </a:r>
            <a:r>
              <a:rPr b="1"/>
              <a:t>API availability alone does not establish that the task succeeded.</a:t>
            </a:r>
          </a:p>
          <a:p xmlns:a="http://schemas.openxmlformats.org/drawingml/2006/main">
            <a:r>
              <a:t/>
            </a:r>
          </a:p>
          <a:p xmlns:a="http://schemas.openxmlformats.org/drawingml/2006/main">
            <a:r>
              <a:rPr b="0"/>
              <a:t>Advance to slide 38.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choose evidence that supports investigation: source revisions, model and tool activity, checks, export state, and resource use. Connect outcomes to the configuration. More raw content creates exposure; minimize capture and protect access and retention.</a:t>
            </a:r>
          </a:p>
          <a:p xmlns:a="http://schemas.openxmlformats.org/drawingml/2006/main">
            <a:r>
              <a:t/>
            </a:r>
          </a:p>
          <a:p xmlns:a="http://schemas.openxmlformats.org/drawingml/2006/main">
            <a:r>
              <a:rPr b="0"/>
              <a:t>Second, evaluate a candidate before release, then compare a controlled cohort with the tested configuration on comparable tasks. Define when to pause or roll back. Gradual exposure limits the affected population but takes time to reveal some failures. Keep a compatible configuration available.</a:t>
            </a:r>
          </a:p>
          <a:p xmlns:a="http://schemas.openxmlformats.org/drawingml/2006/main">
            <a:r>
              <a:t/>
            </a:r>
          </a:p>
          <a:p xmlns:a="http://schemas.openxmlformats.org/drawingml/2006/main">
            <a:r>
              <a:rPr b="0"/>
              <a:t>Third, </a:t>
            </a:r>
            <a:r>
              <a:rPr b="1"/>
              <a:t>enforce identity, scope, destinations, and budgets outside the model.</a:t>
            </a:r>
            <a:r>
              <a:rPr b="0"/>
              <a:t> Assign who receives failed checks, missing evidence, exhausted budgets, and unknown outcomes. Orchestration implements the run's rules; AgentOps assigns the operating policy and response. Human handoff needs an authorized responder with the relevant evidence. </a:t>
            </a:r>
            <a:r>
              <a:rPr b="1"/>
              <a:t>A configuration rollback does not undo completed actions.</a:t>
            </a:r>
          </a:p>
          <a:p xmlns:a="http://schemas.openxmlformats.org/drawingml/2006/main">
            <a:r>
              <a:t/>
            </a:r>
          </a:p>
          <a:p xmlns:a="http://schemas.openxmlformats.org/drawingml/2006/main">
            <a:r>
              <a:rPr b="0"/>
              <a:t>Advance to slide 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Combining private data, untrusted content, and outbound access without reviewing the risk</a:t>
            </a:r>
            <a:r>
              <a:rPr b="0"/>
              <a:t> is the headline pitfall. Willison describes how these capabilities can combine into a path for data theft. An internal attachment can contain untrusted instructions, and an outbound request can carry information.</a:t>
            </a:r>
          </a:p>
          <a:p xmlns:a="http://schemas.openxmlformats.org/drawingml/2006/main">
            <a:r>
              <a:t/>
            </a:r>
          </a:p>
          <a:p xmlns:a="http://schemas.openxmlformats.org/drawingml/2006/main">
            <a:r>
              <a:rPr b="0"/>
              <a:t>Review the combined capabilities when integrations change. Break or constrain the path, and enforce the permitted scope outside the model. This is one threat model, not a complete safety test. </a:t>
            </a:r>
            <a:r>
              <a:rPr b="1"/>
              <a:t>A probabilistic filter is insufficient as the sole security boundary.</a:t>
            </a:r>
          </a:p>
          <a:p xmlns:a="http://schemas.openxmlformats.org/drawingml/2006/main">
            <a:r>
              <a:t/>
            </a:r>
          </a:p>
          <a:p xmlns:a="http://schemas.openxmlformats.org/drawingml/2006/main">
            <a:r>
              <a:rPr b="0"/>
              <a:t>Advance to slide 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In this fictional rollout, an approved model/configuration update reaches a controlled group of FRB requests. The APIs remain healthy, but more drafts overstate unresolved causes and require authorized review. </a:t>
            </a:r>
            <a:r>
              <a:rPr b="1"/>
              <a:t>The source-support gate still blocks failing drafts from export.</a:t>
            </a:r>
            <a:r>
              <a:rPr b="0"/>
              <a:t> The controls work, but useful completion and review effort worsen.</a:t>
            </a:r>
          </a:p>
          <a:p xmlns:a="http://schemas.openxmlformats.org/drawingml/2006/main">
            <a:r>
              <a:t/>
            </a:r>
          </a:p>
          <a:p xmlns:a="http://schemas.openxmlformats.org/drawingml/2006/main">
            <a:r>
              <a:rPr b="0"/>
              <a:t>The assigned operator pauses the rollout, compares similar tasks by configuration, and inspects protected traces and source revisions. The association starts investigation; it does not prove root cause. Restore a tested compatible configuration when the rollback condition is met. Data and permission constraints still apply.</a:t>
            </a:r>
          </a:p>
          <a:p xmlns:a="http://schemas.openxmlformats.org/drawingml/2006/main">
            <a:r>
              <a:t/>
            </a:r>
          </a:p>
          <a:p xmlns:a="http://schemas.openxmlformats.org/drawingml/2006/main">
            <a:r>
              <a:rPr b="0"/>
              <a:t>Review pending work and any completed effects separately. Keep the existing source-support regression case, add newly understood variants, rerun relevant evals, and monitor recovery. </a:t>
            </a:r>
            <a:r>
              <a:rPr b="1"/>
              <a:t>People remain responsible for official causes, decisions, and board records.</a:t>
            </a:r>
          </a:p>
          <a:p xmlns:a="http://schemas.openxmlformats.org/drawingml/2006/main">
            <a:r>
              <a:t/>
            </a:r>
          </a:p>
          <a:p xmlns:a="http://schemas.openxmlformats.org/drawingml/2006/main">
            <a:r>
              <a:rPr b="1"/>
              <a:t>The system needs evidence of its behavior and people accountable for responding.</a:t>
            </a:r>
          </a:p>
          <a:p xmlns:a="http://schemas.openxmlformats.org/drawingml/2006/main">
            <a:r>
              <a:t/>
            </a:r>
          </a:p>
          <a:p xmlns:a="http://schemas.openxmlformats.org/drawingml/2006/main">
            <a:r>
              <a:rPr b="0"/>
              <a:t>Advance to slide 41.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SECTION WRAP</a:t>
            </a:r>
          </a:p>
          <a:p xmlns:a="http://schemas.openxmlformats.org/drawingml/2006/main">
            <a:r>
              <a:t/>
            </a:r>
          </a:p>
          <a:p xmlns:a="http://schemas.openxmlformats.org/drawingml/2006/main">
            <a:r>
              <a:rPr b="1"/>
              <a:t>These are six connected engineering areas within one system.</a:t>
            </a:r>
          </a:p>
          <a:p xmlns:a="http://schemas.openxmlformats.org/drawingml/2006/main">
            <a:r>
              <a:t/>
            </a:r>
          </a:p>
          <a:p xmlns:a="http://schemas.openxmlformats.org/drawingml/2006/main">
            <a:r>
              <a:rPr b="0"/>
              <a:t>Changing the model can change how it uses context and tools. We need to evaluate that behavior and monitor it after release.</a:t>
            </a:r>
          </a:p>
          <a:p xmlns:a="http://schemas.openxmlformats.org/drawingml/2006/main">
            <a:r>
              <a:t/>
            </a:r>
          </a:p>
          <a:p xmlns:a="http://schemas.openxmlformats.org/drawingml/2006/main">
            <a:r>
              <a:rPr b="0"/>
              <a:t>In our FRB example, a cited brief depends on the evidence we retrieve, how we reconcile it, the checks before export, and the controls around that work. Each area contributes to the result.</a:t>
            </a:r>
          </a:p>
          <a:p xmlns:a="http://schemas.openxmlformats.org/drawingml/2006/main">
            <a:r>
              <a:t/>
            </a:r>
          </a:p>
          <a:p xmlns:a="http://schemas.openxmlformats.org/drawingml/2006/main">
            <a:r>
              <a:rPr b="1"/>
              <a:t>AI engineering means designing and operating how these parts work together.</a:t>
            </a:r>
            <a:r>
              <a:rPr b="0"/>
              <a:t> Now let's look at the skills that help you do that.</a:t>
            </a:r>
          </a:p>
          <a:p xmlns:a="http://schemas.openxmlformats.org/drawingml/2006/main">
            <a:r>
              <a:t/>
            </a:r>
          </a:p>
          <a:p xmlns:a="http://schemas.openxmlformats.org/drawingml/2006/main">
            <a:r>
              <a:rPr b="0"/>
              <a:t>Advance to slide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Now let's focus on your transition: the skills you bring, the new competencies, and a practical place to start.</a:t>
            </a:r>
          </a:p>
          <a:p xmlns:a="http://schemas.openxmlformats.org/drawingml/2006/main">
            <a:r>
              <a:t/>
            </a:r>
          </a:p>
          <a:p xmlns:a="http://schemas.openxmlformats.org/drawingml/2006/main">
            <a:r>
              <a:rPr b="0"/>
              <a:t>Advance to slide 43.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Your engineering habits give you a foundation.</a:t>
            </a:r>
            <a:r>
              <a:rPr b="0"/>
              <a:t> Decomposition helps you define a bounded workflow and the state it carries.</a:t>
            </a:r>
          </a:p>
          <a:p xmlns:a="http://schemas.openxmlformats.org/drawingml/2006/main">
            <a:r>
              <a:t/>
            </a:r>
          </a:p>
          <a:p xmlns:a="http://schemas.openxmlformats.org/drawingml/2006/main">
            <a:r>
              <a:rPr b="0"/>
              <a:t>Interface design helps you specify what a tool accepts, how it reports errors, and what confirms completion.</a:t>
            </a:r>
          </a:p>
          <a:p xmlns:a="http://schemas.openxmlformats.org/drawingml/2006/main">
            <a:r>
              <a:t/>
            </a:r>
          </a:p>
          <a:p xmlns:a="http://schemas.openxmlformats.org/drawingml/2006/main">
            <a:r>
              <a:rPr b="1"/>
              <a:t>Testing discipline extends to evals and regression cases.</a:t>
            </a:r>
            <a:r>
              <a:rPr b="0"/>
              <a:t> You still run ordinary software tests and check actual results.</a:t>
            </a:r>
          </a:p>
          <a:p xmlns:a="http://schemas.openxmlformats.org/drawingml/2006/main">
            <a:r>
              <a:t/>
            </a:r>
          </a:p>
          <a:p xmlns:a="http://schemas.openxmlformats.org/drawingml/2006/main">
            <a:r>
              <a:rPr b="0"/>
              <a:t>Debugging and observability help you follow model calls and tool actions to investigate where a failure began.</a:t>
            </a:r>
          </a:p>
          <a:p xmlns:a="http://schemas.openxmlformats.org/drawingml/2006/main">
            <a:r>
              <a:t/>
            </a:r>
          </a:p>
          <a:p xmlns:a="http://schemas.openxmlformats.org/drawingml/2006/main">
            <a:r>
              <a:rPr b="0"/>
              <a:t>Least privilege guides access and action limits. Code enforces those boundaries.</a:t>
            </a:r>
          </a:p>
          <a:p xmlns:a="http://schemas.openxmlformats.org/drawingml/2006/main">
            <a:r>
              <a:t/>
            </a:r>
          </a:p>
          <a:p xmlns:a="http://schemas.openxmlformats.org/drawingml/2006/main">
            <a:r>
              <a:rPr b="0"/>
              <a:t>Production operations brings monitoring, incident response, and recovery. You track quality alongside cost and latency.</a:t>
            </a:r>
          </a:p>
          <a:p xmlns:a="http://schemas.openxmlformats.org/drawingml/2006/main">
            <a:r>
              <a:t/>
            </a:r>
          </a:p>
          <a:p xmlns:a="http://schemas.openxmlformats.org/drawingml/2006/main">
            <a:r>
              <a:rPr b="1"/>
              <a:t>You are learning how to apply these skills to model-dependent behavior.</a:t>
            </a:r>
          </a:p>
          <a:p xmlns:a="http://schemas.openxmlformats.org/drawingml/2006/main">
            <a:r>
              <a:t/>
            </a:r>
          </a:p>
          <a:p xmlns:a="http://schemas.openxmlformats.org/drawingml/2006/main">
            <a:r>
              <a:rPr b="0"/>
              <a:t>Advance to slide 44.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The added work is understanding and controlling model-dependent behavior.</a:t>
            </a:r>
            <a:r>
              <a:rPr b="0"/>
              <a:t> These are the competencies behind the six areas we just covered.</a:t>
            </a:r>
          </a:p>
          <a:p xmlns:a="http://schemas.openxmlformats.org/drawingml/2006/main">
            <a:r>
              <a:t/>
            </a:r>
          </a:p>
          <a:p xmlns:a="http://schemas.openxmlformats.org/drawingml/2006/main">
            <a:r>
              <a:rPr b="0"/>
              <a:t>For models, read failures and compare candidates on your task. Learn where their behavior varies and where it falls short.</a:t>
            </a:r>
          </a:p>
          <a:p xmlns:a="http://schemas.openxmlformats.org/drawingml/2006/main">
            <a:r>
              <a:t/>
            </a:r>
          </a:p>
          <a:p xmlns:a="http://schemas.openxmlformats.org/drawingml/2006/main">
            <a:r>
              <a:rPr b="0"/>
              <a:t>For context, select useful evidence and preserve its meaning. A qualification must survive retrieval and summarization.</a:t>
            </a:r>
          </a:p>
          <a:p xmlns:a="http://schemas.openxmlformats.org/drawingml/2006/main">
            <a:r>
              <a:t/>
            </a:r>
          </a:p>
          <a:p xmlns:a="http://schemas.openxmlformats.org/drawingml/2006/main">
            <a:r>
              <a:rPr b="0"/>
              <a:t>For tools, evaluate how the model chooses and uses them. Valid arguments alone do not establish a correct choice or a successful action.</a:t>
            </a:r>
          </a:p>
          <a:p xmlns:a="http://schemas.openxmlformats.org/drawingml/2006/main">
            <a:r>
              <a:t/>
            </a:r>
          </a:p>
          <a:p xmlns:a="http://schemas.openxmlformats.org/drawingml/2006/main">
            <a:r>
              <a:rPr b="0"/>
              <a:t>For orchestration, bound the actions the model can select. Define when to stop, how to recover, and when to hand off.</a:t>
            </a:r>
          </a:p>
          <a:p xmlns:a="http://schemas.openxmlformats.org/drawingml/2006/main">
            <a:r>
              <a:t/>
            </a:r>
          </a:p>
          <a:p xmlns:a="http://schemas.openxmlformats.org/drawingml/2006/main">
            <a:r>
              <a:rPr b="1"/>
              <a:t>For evals, define quality with domain experts and measure behavior across representative cases and repeated trials.</a:t>
            </a:r>
            <a:r>
              <a:rPr b="0"/>
              <a:t> Inspect failures before choosing a repair.</a:t>
            </a:r>
          </a:p>
          <a:p xmlns:a="http://schemas.openxmlformats.org/drawingml/2006/main">
            <a:r>
              <a:t/>
            </a:r>
          </a:p>
          <a:p xmlns:a="http://schemas.openxmlformats.org/drawingml/2006/main">
            <a:r>
              <a:rPr b="0"/>
              <a:t>In production, investigate quality changes. Address prompt injection, permissions, cost per completed task, and latency.</a:t>
            </a:r>
          </a:p>
          <a:p xmlns:a="http://schemas.openxmlformats.org/drawingml/2006/main">
            <a:r>
              <a:t/>
            </a:r>
          </a:p>
          <a:p xmlns:a="http://schemas.openxmlformats.org/drawingml/2006/main">
            <a:r>
              <a:rPr b="1"/>
              <a:t>Learn to measure and control that behavior.</a:t>
            </a:r>
          </a:p>
          <a:p xmlns:a="http://schemas.openxmlformats.org/drawingml/2006/main">
            <a:r>
              <a:t/>
            </a:r>
          </a:p>
          <a:p xmlns:a="http://schemas.openxmlformats.org/drawingml/2006/main">
            <a:r>
              <a:rPr b="0"/>
              <a:t>Advance to slide 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Pause for the audience to recognize the six pitfalls.</a:t>
            </a:r>
          </a:p>
          <a:p xmlns:a="http://schemas.openxmlformats.org/drawingml/2006/main">
            <a:r>
              <a:t/>
            </a:r>
          </a:p>
          <a:p xmlns:a="http://schemas.openxmlformats.org/drawingml/2006/main">
            <a:r>
              <a:rPr b="0"/>
              <a:t>You have seen each of these in the system we walked through. </a:t>
            </a:r>
            <a:r>
              <a:rPr b="1"/>
              <a:t>Use them to guide what you inspect in your own system.</a:t>
            </a:r>
          </a:p>
          <a:p xmlns:a="http://schemas.openxmlformats.org/drawingml/2006/main">
            <a:r>
              <a:t/>
            </a:r>
          </a:p>
          <a:p xmlns:a="http://schemas.openxmlformats.org/drawingml/2006/main">
            <a:r>
              <a:rPr b="0"/>
              <a:t>Model and tool choices need task evidence. Context needs curation. More autonomy needs checks and limits. Inspect failures and review the capabilities your integrations combine.</a:t>
            </a:r>
          </a:p>
          <a:p xmlns:a="http://schemas.openxmlformats.org/drawingml/2006/main">
            <a:r>
              <a:t/>
            </a:r>
          </a:p>
          <a:p xmlns:a="http://schemas.openxmlformats.org/drawingml/2006/main">
            <a:r>
              <a:rPr b="1"/>
              <a:t>Start by examining outputs, recording a failure, and defining a check.</a:t>
            </a:r>
            <a:r>
              <a:rPr b="0"/>
              <a:t> The roadmap makes that concrete.</a:t>
            </a:r>
          </a:p>
          <a:p xmlns:a="http://schemas.openxmlformats.org/drawingml/2006/main">
            <a:r>
              <a:t/>
            </a:r>
          </a:p>
          <a:p xmlns:a="http://schemas.openxmlformats.org/drawingml/2006/main">
            <a:r>
              <a:rPr b="0"/>
              <a:t>Advance to slide 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Choose one narrow task</a:t>
            </a:r>
            <a:r>
              <a:rPr b="0"/>
              <a:t>, such as summarizing a document with citations.</a:t>
            </a:r>
          </a:p>
          <a:p xmlns:a="http://schemas.openxmlformats.org/drawingml/2006/main">
            <a:r>
              <a:t/>
            </a:r>
          </a:p>
          <a:p xmlns:a="http://schemas.openxmlformats.org/drawingml/2006/main">
            <a:r>
              <a:rPr b="1"/>
              <a:t>Start with one model call</a:t>
            </a:r>
            <a:r>
              <a:rPr b="0"/>
              <a:t> and examples you can inspect. If you already have an AI feature, use its outputs for that task.</a:t>
            </a:r>
          </a:p>
          <a:p xmlns:a="http://schemas.openxmlformats.org/drawingml/2006/main">
            <a:r>
              <a:t/>
            </a:r>
          </a:p>
          <a:p xmlns:a="http://schemas.openxmlformats.org/drawingml/2006/main">
            <a:r>
              <a:rPr b="1"/>
              <a:t>Turn failures into checks.</a:t>
            </a:r>
            <a:r>
              <a:rPr b="0"/>
              <a:t> Inspect the result, repair the cause, and rerun your cases.</a:t>
            </a:r>
          </a:p>
          <a:p xmlns:a="http://schemas.openxmlformats.org/drawingml/2006/main">
            <a:r>
              <a:t/>
            </a:r>
          </a:p>
          <a:p xmlns:a="http://schemas.openxmlformats.org/drawingml/2006/main">
            <a:r>
              <a:rPr b="1"/>
              <a:t>Add autonomy when evals justify it.</a:t>
            </a:r>
            <a:r>
              <a:rPr b="0"/>
              <a:t> Keep actions bounded and verify the result.</a:t>
            </a:r>
          </a:p>
          <a:p xmlns:a="http://schemas.openxmlformats.org/drawingml/2006/main">
            <a:r>
              <a:t/>
            </a:r>
          </a:p>
          <a:p xmlns:a="http://schemas.openxmlformats.org/drawingml/2006/main">
            <a:r>
              <a:rPr b="1"/>
              <a:t>Autonomy is earned by evals, one step at a time.</a:t>
            </a:r>
          </a:p>
          <a:p xmlns:a="http://schemas.openxmlformats.org/drawingml/2006/main">
            <a:r>
              <a:t/>
            </a:r>
          </a:p>
          <a:p xmlns:a="http://schemas.openxmlformats.org/drawingml/2006/main">
            <a:r>
              <a:rPr b="0"/>
              <a:t>Advance to slide 47.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1"/>
              <a:t>Using AI makes you an AI-enabled software engineer. Engineering systems that depend on AI makes you an AI engineer.</a:t>
            </a:r>
            <a:r>
              <a:rPr b="0"/>
              <a:t> The difference is not the tools. </a:t>
            </a:r>
            <a:r>
              <a:rPr b="1"/>
              <a:t>It is what you are responsible for.</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0"/>
              <a:t>Let’s use the remaining time for your questions.</a:t>
            </a:r>
          </a:p>
          <a:p xmlns:a="http://schemas.openxmlformats.org/drawingml/2006/main">
            <a:r>
              <a:t/>
            </a:r>
          </a:p>
          <a:p xmlns:a="http://schemas.openxmlformats.org/drawingml/2006/main">
            <a:r>
              <a:rPr b="0"/>
              <a:t>Advance to slide 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0"/>
              <a:t>Resources. They will be in the deck, so take the photo now.</a:t>
            </a:r>
          </a:p>
          <a:p xmlns:a="http://schemas.openxmlformats.org/drawingml/2006/main">
            <a:r>
              <a:t/>
            </a:r>
          </a:p>
          <a:p xmlns:a="http://schemas.openxmlformats.org/drawingml/2006/main">
            <a:r>
              <a:rPr b="0"/>
              <a:t>Section 4 begins. The slide stays.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8d805aa2b074cb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a5262d23e5fb48d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2.xml" Id="Rb1388b8a0181456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cSld name="Blank">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cSld name="Kicker">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2F3DB27B-7882-4BF3-9DD0-0063E5C0051A}"/>
              </a:ext>
            </a:extLst>
          </p:cNvPr>
          <p:cNvSpPr>
            <a:spLocks xmlns:a="http://schemas.openxmlformats.org/drawingml/2006/main" noGrp="1"/>
          </p:cNvSpPr>
          <p:nvPr>
            <p:ph type="pic" idx="1"/>
          </p:nvPr>
        </p:nvSpPr>
        <p:spPr>
          <a:xfrm xmlns:a="http://schemas.openxmlformats.org/drawingml/2006/main">
            <a:off x="9550400" y="457200"/>
            <a:ext cx="2032000" cy="1143000"/>
          </a:xfrm>
          <a:prstGeom xmlns:a="http://schemas.openxmlformats.org/drawingml/2006/main" prst="rect">
            <a:avLst/>
          </a:prstGeom>
          <a:noFill xmlns:a="http://schemas.openxmlformats.org/drawingml/2006/main"/>
          <a:ln xmlns:a="http://schemas.openxmlformats.org/drawingml/2006/main" w="0">
            <a:noFill/>
          </a:ln>
        </p:spPr>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c02aa2de0094860" /><Relationship Type="http://schemas.openxmlformats.org/officeDocument/2006/relationships/slideLayout" Target="/ppt/slideLayouts/slideLayout1.xml" Id="Rd1abcf6a65d24376"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154fa341ec9c4b8a" /><Relationship Type="http://schemas.openxmlformats.org/officeDocument/2006/relationships/slideLayout" Target="/ppt/slideLayouts/slideLayout2.xml" Id="R139475926ed143ec" /><Relationship Type="http://schemas.openxmlformats.org/officeDocument/2006/relationships/slideLayout" Target="/ppt/slideLayouts/slideLayout3.xml" Id="R78abd264e95a424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1abcf6a65d24376"/>
  </p:sldLayoutIdLst>
  <p:txStyles>
    <p:titleStyle>
      <a:lvl1pPr xmlns:a="http://schemas.openxmlformats.org/drawingml/2006/main" algn="l">
        <a:lnSpc>
          <a:spcPct val="90000"/>
        </a:lnSpc>
        <a:spcBef>
          <a:spcPts val="0"/>
        </a:spcBef>
        <a:buNone/>
        <a:defRPr sz="4400">
          <a:solidFill>
            <a:schemeClr val="tx1"/>
          </a:solidFill>
          <a:latin typeface="Helvetica"/>
          <a:ea typeface="Helvetica"/>
          <a:cs typeface="Helvetica"/>
        </a:defRPr>
      </a:lvl1pPr>
    </p:titleStyle>
    <p:bodyStyle>
      <a:lvl1pPr xmlns:a="http://schemas.openxmlformats.org/drawingml/2006/main" marL="228600" indent="-228600" algn="l">
        <a:lnSpc>
          <a:spcPct val="90000"/>
        </a:lnSpc>
        <a:spcBef>
          <a:spcPts val="1000"/>
        </a:spcBef>
        <a:buChar char="•"/>
        <a:defRPr sz="2800">
          <a:solidFill>
            <a:schemeClr val="tx1"/>
          </a:solidFill>
          <a:latin typeface="Helvetica"/>
          <a:ea typeface="Helvetica"/>
          <a:cs typeface="Helvetica"/>
        </a:defRPr>
      </a:lvl1pPr>
      <a:lvl2pPr xmlns:a="http://schemas.openxmlformats.org/drawingml/2006/main" marL="685800" indent="-228600" algn="l">
        <a:lnSpc>
          <a:spcPct val="90000"/>
        </a:lnSpc>
        <a:spcBef>
          <a:spcPts val="500"/>
        </a:spcBef>
        <a:buChar char="•"/>
        <a:defRPr sz="2400">
          <a:solidFill>
            <a:schemeClr val="tx1"/>
          </a:solidFill>
          <a:latin typeface="Helvetica"/>
          <a:ea typeface="Helvetica"/>
          <a:cs typeface="Helvetica"/>
        </a:defRPr>
      </a:lvl2pPr>
      <a:lvl3pPr xmlns:a="http://schemas.openxmlformats.org/drawingml/2006/main" marL="1143000" indent="-228600" algn="l">
        <a:lnSpc>
          <a:spcPct val="90000"/>
        </a:lnSpc>
        <a:spcBef>
          <a:spcPts val="500"/>
        </a:spcBef>
        <a:buChar char="•"/>
        <a:defRPr sz="2000">
          <a:solidFill>
            <a:schemeClr val="tx1"/>
          </a:solidFill>
          <a:latin typeface="Helvetica"/>
          <a:ea typeface="Helvetica"/>
          <a:cs typeface="Helvetica"/>
        </a:defRPr>
      </a:lvl3pPr>
      <a:lvl4pPr xmlns:a="http://schemas.openxmlformats.org/drawingml/2006/main" marL="1600200" indent="-228600" algn="l">
        <a:lnSpc>
          <a:spcPct val="90000"/>
        </a:lnSpc>
        <a:spcBef>
          <a:spcPts val="500"/>
        </a:spcBef>
        <a:buChar char="•"/>
        <a:defRPr sz="1800">
          <a:solidFill>
            <a:schemeClr val="tx1"/>
          </a:solidFill>
          <a:latin typeface="Helvetica"/>
          <a:ea typeface="Helvetica"/>
          <a:cs typeface="Helvetica"/>
        </a:defRPr>
      </a:lvl4pPr>
      <a:lvl5pPr xmlns:a="http://schemas.openxmlformats.org/drawingml/2006/main" marL="2057400" indent="-228600" algn="l">
        <a:lnSpc>
          <a:spcPct val="90000"/>
        </a:lnSpc>
        <a:spcBef>
          <a:spcPts val="500"/>
        </a:spcBef>
        <a:buChar char="•"/>
        <a:defRPr sz="1800">
          <a:solidFill>
            <a:schemeClr val="tx1"/>
          </a:solidFill>
          <a:latin typeface="Helvetica"/>
          <a:ea typeface="Helvetica"/>
          <a:cs typeface="Helvetica"/>
        </a:defRPr>
      </a:lvl5pPr>
      <a:lvl6pPr xmlns:a="http://schemas.openxmlformats.org/drawingml/2006/main" marL="2514600" indent="-228600" algn="l">
        <a:lnSpc>
          <a:spcPct val="90000"/>
        </a:lnSpc>
        <a:spcBef>
          <a:spcPts val="500"/>
        </a:spcBef>
        <a:buChar char="•"/>
        <a:defRPr sz="1800">
          <a:solidFill>
            <a:schemeClr val="tx1"/>
          </a:solidFill>
          <a:latin typeface="Helvetica"/>
          <a:ea typeface="Helvetica"/>
          <a:cs typeface="Helvetica"/>
        </a:defRPr>
      </a:lvl6pPr>
      <a:lvl7pPr xmlns:a="http://schemas.openxmlformats.org/drawingml/2006/main" marL="2971800" indent="-228600" algn="l">
        <a:lnSpc>
          <a:spcPct val="90000"/>
        </a:lnSpc>
        <a:spcBef>
          <a:spcPts val="500"/>
        </a:spcBef>
        <a:buChar char="•"/>
        <a:defRPr sz="1800">
          <a:solidFill>
            <a:schemeClr val="tx1"/>
          </a:solidFill>
          <a:latin typeface="Helvetica"/>
          <a:ea typeface="Helvetica"/>
          <a:cs typeface="Helvetica"/>
        </a:defRPr>
      </a:lvl7pPr>
      <a:lvl8pPr xmlns:a="http://schemas.openxmlformats.org/drawingml/2006/main" marL="3429000" indent="-228600" algn="l">
        <a:lnSpc>
          <a:spcPct val="90000"/>
        </a:lnSpc>
        <a:spcBef>
          <a:spcPts val="500"/>
        </a:spcBef>
        <a:buChar char="•"/>
        <a:defRPr sz="1800">
          <a:solidFill>
            <a:schemeClr val="tx1"/>
          </a:solidFill>
          <a:latin typeface="Helvetica"/>
          <a:ea typeface="Helvetica"/>
          <a:cs typeface="Helvetica"/>
        </a:defRPr>
      </a:lvl8pPr>
      <a:lvl9pPr xmlns:a="http://schemas.openxmlformats.org/drawingml/2006/main" marL="3886200" indent="-228600" algn="l">
        <a:lnSpc>
          <a:spcPct val="90000"/>
        </a:lnSpc>
        <a:spcBef>
          <a:spcPts val="500"/>
        </a:spcBef>
        <a:buChar char="•"/>
        <a:defRPr sz="1800">
          <a:solidFill>
            <a:schemeClr val="tx1"/>
          </a:solidFill>
          <a:latin typeface="Helvetica"/>
          <a:ea typeface="Helvetica"/>
          <a:cs typeface="Helvetica"/>
        </a:defRPr>
      </a:lvl9pPr>
    </p:bodyStyle>
    <p:otherStyle>
      <a:lvl1pPr xmlns:a="http://schemas.openxmlformats.org/drawingml/2006/main" marL="0" algn="l">
        <a:buNone/>
        <a:defRPr sz="1800">
          <a:solidFill>
            <a:schemeClr val="tx1"/>
          </a:solidFill>
          <a:latin typeface="Helvetica"/>
          <a:ea typeface="Helvetica"/>
          <a:cs typeface="Helvetica"/>
        </a:defRPr>
      </a:lvl1pPr>
      <a:lvl2pPr xmlns:a="http://schemas.openxmlformats.org/drawingml/2006/main" marL="457200" algn="l">
        <a:buNone/>
        <a:defRPr sz="1800">
          <a:solidFill>
            <a:schemeClr val="tx1"/>
          </a:solidFill>
          <a:latin typeface="Helvetica"/>
          <a:ea typeface="Helvetica"/>
          <a:cs typeface="Helvetica"/>
        </a:defRPr>
      </a:lvl2pPr>
      <a:lvl3pPr xmlns:a="http://schemas.openxmlformats.org/drawingml/2006/main" marL="914400" algn="l">
        <a:buNone/>
        <a:defRPr sz="1800">
          <a:solidFill>
            <a:schemeClr val="tx1"/>
          </a:solidFill>
          <a:latin typeface="Helvetica"/>
          <a:ea typeface="Helvetica"/>
          <a:cs typeface="Helvetica"/>
        </a:defRPr>
      </a:lvl3pPr>
      <a:lvl4pPr xmlns:a="http://schemas.openxmlformats.org/drawingml/2006/main" marL="1371600" algn="l">
        <a:buNone/>
        <a:defRPr sz="1800">
          <a:solidFill>
            <a:schemeClr val="tx1"/>
          </a:solidFill>
          <a:latin typeface="Helvetica"/>
          <a:ea typeface="Helvetica"/>
          <a:cs typeface="Helvetica"/>
        </a:defRPr>
      </a:lvl4pPr>
      <a:lvl5pPr xmlns:a="http://schemas.openxmlformats.org/drawingml/2006/main" marL="1828800" algn="l">
        <a:buNone/>
        <a:defRPr sz="1800">
          <a:solidFill>
            <a:schemeClr val="tx1"/>
          </a:solidFill>
          <a:latin typeface="Helvetica"/>
          <a:ea typeface="Helvetica"/>
          <a:cs typeface="Helvetica"/>
        </a:defRPr>
      </a:lvl5pPr>
      <a:lvl6pPr xmlns:a="http://schemas.openxmlformats.org/drawingml/2006/main" marL="2286000" algn="l">
        <a:buNone/>
        <a:defRPr sz="1800">
          <a:solidFill>
            <a:schemeClr val="tx1"/>
          </a:solidFill>
          <a:latin typeface="Helvetica"/>
          <a:ea typeface="Helvetica"/>
          <a:cs typeface="Helvetica"/>
        </a:defRPr>
      </a:lvl6pPr>
      <a:lvl7pPr xmlns:a="http://schemas.openxmlformats.org/drawingml/2006/main" marL="2743200" algn="l">
        <a:buNone/>
        <a:defRPr sz="1800">
          <a:solidFill>
            <a:schemeClr val="tx1"/>
          </a:solidFill>
          <a:latin typeface="Helvetica"/>
          <a:ea typeface="Helvetica"/>
          <a:cs typeface="Helvetica"/>
        </a:defRPr>
      </a:lvl7pPr>
      <a:lvl8pPr xmlns:a="http://schemas.openxmlformats.org/drawingml/2006/main" marL="3200400" algn="l">
        <a:buNone/>
        <a:defRPr sz="1800">
          <a:solidFill>
            <a:schemeClr val="tx1"/>
          </a:solidFill>
          <a:latin typeface="Helvetica"/>
          <a:ea typeface="Helvetica"/>
          <a:cs typeface="Helvetica"/>
        </a:defRPr>
      </a:lvl8pPr>
      <a:lvl9pPr xmlns:a="http://schemas.openxmlformats.org/drawingml/2006/main" marL="3657600" algn="l">
        <a:buNone/>
        <a:defRPr sz="1800">
          <a:solidFill>
            <a:schemeClr val="tx1"/>
          </a:solidFill>
          <a:latin typeface="Helvetica"/>
          <a:ea typeface="Helvetica"/>
          <a:cs typeface="Helvetica"/>
        </a:defRPr>
      </a:lvl9pPr>
    </p:otherStyle>
  </p:txStyles>
</p:sldMaster>
</file>

<file path=ppt/slideMasters/slideMaster2.xml><?xml version="1.0" encoding="utf-8"?>
<p:sldMaster xmlns:p="http://schemas.openxmlformats.org/presentationml/2006/main">
  <p:cSld name="Beyond the Coding Agent">
    <p:bg>
      <p:bgPr>
        <a:solidFill xmlns:a="http://schemas.openxmlformats.org/drawingml/2006/main">
          <a:srgbClr val="14161C"/>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1" r:id="R139475926ed143ec"/>
    <p:sldLayoutId xmlns:r="http://schemas.openxmlformats.org/officeDocument/2006/relationships" id="2147483652" r:id="R78abd264e95a424a"/>
  </p:sldLayoutIdLst>
</p:sldMaster>
</file>

<file path=ppt/slideMasters/theme/theme2.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446143e6d4b54b8e" /><Relationship Type="http://schemas.openxmlformats.org/officeDocument/2006/relationships/notesSlide" Target="/ppt/notesSlides/notesSlide1.xml" Id="R735fc6493dc941ba"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f6baeca766d74379" /><Relationship Type="http://schemas.openxmlformats.org/officeDocument/2006/relationships/image" Target="/ppt/media/image.png" Id="R979f16384c7248d2" /><Relationship Type="http://schemas.openxmlformats.org/officeDocument/2006/relationships/notesSlide" Target="/ppt/notesSlides/notesSlide2.xml" Id="R7fde9e1245994f52"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3adddda260fa4e70" /><Relationship Type="http://schemas.openxmlformats.org/officeDocument/2006/relationships/notesSlide" Target="/ppt/notesSlides/notesSlide3.xml" Id="Rea369824153d4d0b"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b749d5b140384055" /><Relationship Type="http://schemas.openxmlformats.org/officeDocument/2006/relationships/notesSlide" Target="/ppt/notesSlides/notesSlide4.xml" Id="Rf6b4ff0e6e95493e"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cc0c96bc2f1c4e75" /><Relationship Type="http://schemas.openxmlformats.org/officeDocument/2006/relationships/notesSlide" Target="/ppt/notesSlides/notesSlide5.xml" Id="Re5d5413cde92432d"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ad9ed89c881b48c9" /><Relationship Type="http://schemas.openxmlformats.org/officeDocument/2006/relationships/notesSlide" Target="/ppt/notesSlides/notesSlide6.xml" Id="Ra1e3890dff5e4d81"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2efa5f01e38d4541" /><Relationship Type="http://schemas.openxmlformats.org/officeDocument/2006/relationships/notesSlide" Target="/ppt/notesSlides/notesSlide7.xml" Id="Re1239bb4decf42da"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f1562ced86ce4673" /><Relationship Type="http://schemas.openxmlformats.org/officeDocument/2006/relationships/notesSlide" Target="/ppt/notesSlides/notesSlide8.xml" Id="R849ffafe8c5142a6"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d8e9cca6b26047f2" /><Relationship Type="http://schemas.openxmlformats.org/officeDocument/2006/relationships/image" Target="/ppt/media/image2.png" Id="R5ff4b3a860684dd4" /><Relationship Type="http://schemas.openxmlformats.org/officeDocument/2006/relationships/notesSlide" Target="/ppt/notesSlides/notesSlide9.xml" Id="R950a6fc2935f4a2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ca996516ded5478d" /><Relationship Type="http://schemas.openxmlformats.org/officeDocument/2006/relationships/image" Target="/ppt/media/image3.png" Id="R864b3ffdd0da498a" /><Relationship Type="http://schemas.openxmlformats.org/officeDocument/2006/relationships/notesSlide" Target="/ppt/notesSlides/notesSlide10.xml" Id="Rc83461c34e42433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59d87db859514c37" /><Relationship Type="http://schemas.openxmlformats.org/officeDocument/2006/relationships/image" Target="/ppt/media/image4.png" Id="R0d87a70703ed4dac" /><Relationship Type="http://schemas.openxmlformats.org/officeDocument/2006/relationships/notesSlide" Target="/ppt/notesSlides/notesSlide11.xml" Id="R97053ac4268040e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aab67252481a48f5" /><Relationship Type="http://schemas.openxmlformats.org/officeDocument/2006/relationships/image" Target="/ppt/media/image5.png" Id="R6f52971fb2784791" /><Relationship Type="http://schemas.openxmlformats.org/officeDocument/2006/relationships/notesSlide" Target="/ppt/notesSlides/notesSlide12.xml" Id="R9e63723904a7406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07c4f903e18346a9" /><Relationship Type="http://schemas.openxmlformats.org/officeDocument/2006/relationships/image" Target="/ppt/media/image6.png" Id="Rf8526d06230249e6" /><Relationship Type="http://schemas.openxmlformats.org/officeDocument/2006/relationships/notesSlide" Target="/ppt/notesSlides/notesSlide13.xml" Id="Rbfdfce73fbf7437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3cc3343c75a34a9e" /><Relationship Type="http://schemas.openxmlformats.org/officeDocument/2006/relationships/image" Target="/ppt/media/image7.png" Id="R7abc022e89b447fa" /><Relationship Type="http://schemas.openxmlformats.org/officeDocument/2006/relationships/notesSlide" Target="/ppt/notesSlides/notesSlide14.xml" Id="Rb7b08daf4632473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36e06688b6124dd7" /><Relationship Type="http://schemas.openxmlformats.org/officeDocument/2006/relationships/image" Target="/ppt/media/image8.png" Id="Rd2604ddc2116477f" /><Relationship Type="http://schemas.openxmlformats.org/officeDocument/2006/relationships/notesSlide" Target="/ppt/notesSlides/notesSlide15.xml" Id="Rc405449a3949416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9592c41d61bb438f" /><Relationship Type="http://schemas.openxmlformats.org/officeDocument/2006/relationships/image" Target="/ppt/media/image9.png" Id="Rb4a4f9afe54b4bff" /><Relationship Type="http://schemas.openxmlformats.org/officeDocument/2006/relationships/image" Target="/ppt/media/image10.png" Id="R3473ca41dbc141cb" /><Relationship Type="http://schemas.openxmlformats.org/officeDocument/2006/relationships/notesSlide" Target="/ppt/notesSlides/notesSlide16.xml" Id="Rd276790c4d01457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e5d8b8282bf24b21" /><Relationship Type="http://schemas.openxmlformats.org/officeDocument/2006/relationships/image" Target="/ppt/media/image11.png" Id="Rc7561f00fc434b46" /><Relationship Type="http://schemas.openxmlformats.org/officeDocument/2006/relationships/notesSlide" Target="/ppt/notesSlides/notesSlide17.xml" Id="R701033aa84b6474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e168d8297afd4619" /><Relationship Type="http://schemas.openxmlformats.org/officeDocument/2006/relationships/image" Target="/ppt/media/image12.png" Id="Re3909aa70bc04d09" /><Relationship Type="http://schemas.openxmlformats.org/officeDocument/2006/relationships/notesSlide" Target="/ppt/notesSlides/notesSlide18.xml" Id="R9704a20ca56b454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f73b7422d9284776" /><Relationship Type="http://schemas.openxmlformats.org/officeDocument/2006/relationships/image" Target="/ppt/media/image13.png" Id="Rc4f4a5d7ec7c4352" /><Relationship Type="http://schemas.openxmlformats.org/officeDocument/2006/relationships/notesSlide" Target="/ppt/notesSlides/notesSlide19.xml" Id="R78323dce02434e3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d05875d54ea040d7" /><Relationship Type="http://schemas.openxmlformats.org/officeDocument/2006/relationships/image" Target="/ppt/media/image14.png" Id="R02d48c4d6b064362" /><Relationship Type="http://schemas.openxmlformats.org/officeDocument/2006/relationships/notesSlide" Target="/ppt/notesSlides/notesSlide20.xml" Id="R0d20b3e751724ec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e81407c19c564029" /><Relationship Type="http://schemas.openxmlformats.org/officeDocument/2006/relationships/image" Target="/ppt/media/image15.png" Id="Re0079944c3c14aef" /><Relationship Type="http://schemas.openxmlformats.org/officeDocument/2006/relationships/image" Target="/ppt/media/image16.png" Id="Rb72cde9d47a74a36" /><Relationship Type="http://schemas.openxmlformats.org/officeDocument/2006/relationships/notesSlide" Target="/ppt/notesSlides/notesSlide21.xml" Id="Rfe3aec315357497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6ac208c3c1974e8b" /><Relationship Type="http://schemas.openxmlformats.org/officeDocument/2006/relationships/image" Target="/ppt/media/image17.png" Id="Rdcb76cdec9f347db" /><Relationship Type="http://schemas.openxmlformats.org/officeDocument/2006/relationships/notesSlide" Target="/ppt/notesSlides/notesSlide22.xml" Id="R887e87b3a5494f6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20079b7124564bdc" /><Relationship Type="http://schemas.openxmlformats.org/officeDocument/2006/relationships/image" Target="/ppt/media/image18.png" Id="Rbee853a2b0874420" /><Relationship Type="http://schemas.openxmlformats.org/officeDocument/2006/relationships/notesSlide" Target="/ppt/notesSlides/notesSlide23.xml" Id="R8df635101a5d4e6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79673dd5b7ce4f63" /><Relationship Type="http://schemas.openxmlformats.org/officeDocument/2006/relationships/image" Target="/ppt/media/image19.png" Id="Rce580b7dc3c54de4" /><Relationship Type="http://schemas.openxmlformats.org/officeDocument/2006/relationships/notesSlide" Target="/ppt/notesSlides/notesSlide24.xml" Id="Rc72644670a564ce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f7cec31e15eb4cd1" /><Relationship Type="http://schemas.openxmlformats.org/officeDocument/2006/relationships/image" Target="/ppt/media/image20.png" Id="Rd755f5858d1d441d" /><Relationship Type="http://schemas.openxmlformats.org/officeDocument/2006/relationships/notesSlide" Target="/ppt/notesSlides/notesSlide25.xml" Id="R5290ab1fc52c439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e168bc37b3084dcf" /><Relationship Type="http://schemas.openxmlformats.org/officeDocument/2006/relationships/image" Target="/ppt/media/image21.png" Id="Rb602ac6653654643" /><Relationship Type="http://schemas.openxmlformats.org/officeDocument/2006/relationships/image" Target="/ppt/media/image22.png" Id="Rfa00fc91968141a1" /><Relationship Type="http://schemas.openxmlformats.org/officeDocument/2006/relationships/notesSlide" Target="/ppt/notesSlides/notesSlide26.xml" Id="R0abfb2c3a26247c7"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99b2defc3f524f0e" /><Relationship Type="http://schemas.openxmlformats.org/officeDocument/2006/relationships/image" Target="/ppt/media/image23.png" Id="Re4ead6f59a2e4efd" /><Relationship Type="http://schemas.openxmlformats.org/officeDocument/2006/relationships/notesSlide" Target="/ppt/notesSlides/notesSlide27.xml" Id="R5b1ce5c04c1f4124"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e3e4c50edce74671" /><Relationship Type="http://schemas.openxmlformats.org/officeDocument/2006/relationships/image" Target="/ppt/media/image24.png" Id="R515ceb11600e4fea" /><Relationship Type="http://schemas.openxmlformats.org/officeDocument/2006/relationships/notesSlide" Target="/ppt/notesSlides/notesSlide28.xml" Id="R1bf7839e828f48a3"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59c14ddc688e4c67" /><Relationship Type="http://schemas.openxmlformats.org/officeDocument/2006/relationships/image" Target="/ppt/media/image25.png" Id="R2a43683aedb84101" /><Relationship Type="http://schemas.openxmlformats.org/officeDocument/2006/relationships/notesSlide" Target="/ppt/notesSlides/notesSlide29.xml" Id="R77415836cc8c4384"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0b060ce5787341bb" /><Relationship Type="http://schemas.openxmlformats.org/officeDocument/2006/relationships/image" Target="/ppt/media/image26.png" Id="Raa05937c66094e74" /><Relationship Type="http://schemas.openxmlformats.org/officeDocument/2006/relationships/notesSlide" Target="/ppt/notesSlides/notesSlide30.xml" Id="Re9ef87fee93542b3"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f5541d4348b1411e" /><Relationship Type="http://schemas.openxmlformats.org/officeDocument/2006/relationships/image" Target="/ppt/media/image27.png" Id="R0babe2f1014b4940" /><Relationship Type="http://schemas.openxmlformats.org/officeDocument/2006/relationships/image" Target="/ppt/media/image28.png" Id="Rce9399bfa77d45ca" /><Relationship Type="http://schemas.openxmlformats.org/officeDocument/2006/relationships/notesSlide" Target="/ppt/notesSlides/notesSlide31.xml" Id="Rbd75207bf2f34d7d"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b8f82039645f4fd7" /><Relationship Type="http://schemas.openxmlformats.org/officeDocument/2006/relationships/image" Target="/ppt/media/image29.png" Id="Rc0e285b5eb314e48" /><Relationship Type="http://schemas.openxmlformats.org/officeDocument/2006/relationships/notesSlide" Target="/ppt/notesSlides/notesSlide32.xml" Id="R1c21fba13cd54812" /></Relationships>
</file>

<file path=ppt/slides/_rels/slide33.xml.rels>&#65279;<?xml version="1.0" encoding="utf-8"?><Relationships xmlns="http://schemas.openxmlformats.org/package/2006/relationships"><Relationship Type="http://schemas.openxmlformats.org/officeDocument/2006/relationships/slideLayout" Target="/ppt/slideLayouts/slideLayout2.xml" Id="R3cfeebda7d304301" /><Relationship Type="http://schemas.openxmlformats.org/officeDocument/2006/relationships/image" Target="/ppt/media/image30.png" Id="R9825a40a1be14c9f" /><Relationship Type="http://schemas.openxmlformats.org/officeDocument/2006/relationships/notesSlide" Target="/ppt/notesSlides/notesSlide33.xml" Id="Re1fd81fb77b14cac" /></Relationships>
</file>

<file path=ppt/slides/_rels/slide34.xml.rels>&#65279;<?xml version="1.0" encoding="utf-8"?><Relationships xmlns="http://schemas.openxmlformats.org/package/2006/relationships"><Relationship Type="http://schemas.openxmlformats.org/officeDocument/2006/relationships/slideLayout" Target="/ppt/slideLayouts/slideLayout2.xml" Id="Rff183bf05d844539" /><Relationship Type="http://schemas.openxmlformats.org/officeDocument/2006/relationships/image" Target="/ppt/media/image31.png" Id="R85fd411400b342aa" /><Relationship Type="http://schemas.openxmlformats.org/officeDocument/2006/relationships/notesSlide" Target="/ppt/notesSlides/notesSlide34.xml" Id="R353a8a9bebfd4198" /></Relationships>
</file>

<file path=ppt/slides/_rels/slide35.xml.rels>&#65279;<?xml version="1.0" encoding="utf-8"?><Relationships xmlns="http://schemas.openxmlformats.org/package/2006/relationships"><Relationship Type="http://schemas.openxmlformats.org/officeDocument/2006/relationships/slideLayout" Target="/ppt/slideLayouts/slideLayout2.xml" Id="Rc32e7a5d85c54bb6" /><Relationship Type="http://schemas.openxmlformats.org/officeDocument/2006/relationships/image" Target="/ppt/media/image32.png" Id="Rb17671e1ed15439b" /><Relationship Type="http://schemas.openxmlformats.org/officeDocument/2006/relationships/notesSlide" Target="/ppt/notesSlides/notesSlide35.xml" Id="R37e1cd45225b4506"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c582821079fc45ee" /><Relationship Type="http://schemas.openxmlformats.org/officeDocument/2006/relationships/image" Target="/ppt/media/image33.png" Id="R1ab6ecb672e144c9" /><Relationship Type="http://schemas.openxmlformats.org/officeDocument/2006/relationships/image" Target="/ppt/media/image34.png" Id="Rb86eec32849545dc" /><Relationship Type="http://schemas.openxmlformats.org/officeDocument/2006/relationships/notesSlide" Target="/ppt/notesSlides/notesSlide36.xml" Id="R0495473dff214e18" /></Relationships>
</file>

<file path=ppt/slides/_rels/slide37.xml.rels>&#65279;<?xml version="1.0" encoding="utf-8"?><Relationships xmlns="http://schemas.openxmlformats.org/package/2006/relationships"><Relationship Type="http://schemas.openxmlformats.org/officeDocument/2006/relationships/slideLayout" Target="/ppt/slideLayouts/slideLayout2.xml" Id="R6442b489d7e4449b" /><Relationship Type="http://schemas.openxmlformats.org/officeDocument/2006/relationships/image" Target="/ppt/media/image35.png" Id="Ra0e54ad1b4f049e8" /><Relationship Type="http://schemas.openxmlformats.org/officeDocument/2006/relationships/notesSlide" Target="/ppt/notesSlides/notesSlide37.xml" Id="R184566814ef6487f" /></Relationships>
</file>

<file path=ppt/slides/_rels/slide38.xml.rels>&#65279;<?xml version="1.0" encoding="utf-8"?><Relationships xmlns="http://schemas.openxmlformats.org/package/2006/relationships"><Relationship Type="http://schemas.openxmlformats.org/officeDocument/2006/relationships/slideLayout" Target="/ppt/slideLayouts/slideLayout2.xml" Id="R0170c765894949f2" /><Relationship Type="http://schemas.openxmlformats.org/officeDocument/2006/relationships/image" Target="/ppt/media/image36.png" Id="R359a7595de48482b" /><Relationship Type="http://schemas.openxmlformats.org/officeDocument/2006/relationships/notesSlide" Target="/ppt/notesSlides/notesSlide38.xml" Id="Rc6a36c6f38614dd6" /></Relationships>
</file>

<file path=ppt/slides/_rels/slide39.xml.rels>&#65279;<?xml version="1.0" encoding="utf-8"?><Relationships xmlns="http://schemas.openxmlformats.org/package/2006/relationships"><Relationship Type="http://schemas.openxmlformats.org/officeDocument/2006/relationships/slideLayout" Target="/ppt/slideLayouts/slideLayout2.xml" Id="R2c0a7d02d7f34399" /><Relationship Type="http://schemas.openxmlformats.org/officeDocument/2006/relationships/image" Target="/ppt/media/image37.png" Id="R93ac33216ecf459f" /><Relationship Type="http://schemas.openxmlformats.org/officeDocument/2006/relationships/notesSlide" Target="/ppt/notesSlides/notesSlide39.xml" Id="R4867ac515b4f4f23" /></Relationships>
</file>

<file path=ppt/slides/_rels/slide40.xml.rels>&#65279;<?xml version="1.0" encoding="utf-8"?><Relationships xmlns="http://schemas.openxmlformats.org/package/2006/relationships"><Relationship Type="http://schemas.openxmlformats.org/officeDocument/2006/relationships/slideLayout" Target="/ppt/slideLayouts/slideLayout2.xml" Id="R772657051ca847c1" /><Relationship Type="http://schemas.openxmlformats.org/officeDocument/2006/relationships/image" Target="/ppt/media/image38.png" Id="Rf0a30aff3ec240ad" /><Relationship Type="http://schemas.openxmlformats.org/officeDocument/2006/relationships/notesSlide" Target="/ppt/notesSlides/notesSlide40.xml" Id="R400328fb8a17475f" /></Relationships>
</file>

<file path=ppt/slides/_rels/slide41.xml.rels>&#65279;<?xml version="1.0" encoding="utf-8"?><Relationships xmlns="http://schemas.openxmlformats.org/package/2006/relationships"><Relationship Type="http://schemas.openxmlformats.org/officeDocument/2006/relationships/slideLayout" Target="/ppt/slideLayouts/slideLayout2.xml" Id="R886fc50b81424197" /><Relationship Type="http://schemas.openxmlformats.org/officeDocument/2006/relationships/image" Target="/ppt/media/image39.png" Id="R9bc05bfd83ef43eb" /><Relationship Type="http://schemas.openxmlformats.org/officeDocument/2006/relationships/image" Target="/ppt/media/image40.png" Id="Rff4a1e2170004133" /><Relationship Type="http://schemas.openxmlformats.org/officeDocument/2006/relationships/notesSlide" Target="/ppt/notesSlides/notesSlide41.xml" Id="Reeae1b738f5c431c" /></Relationships>
</file>

<file path=ppt/slides/_rels/slide42.xml.rels>&#65279;<?xml version="1.0" encoding="utf-8"?><Relationships xmlns="http://schemas.openxmlformats.org/package/2006/relationships"><Relationship Type="http://schemas.openxmlformats.org/officeDocument/2006/relationships/slideLayout" Target="/ppt/slideLayouts/slideLayout2.xml" Id="Rc947f0d28a2a4b12" /><Relationship Type="http://schemas.openxmlformats.org/officeDocument/2006/relationships/image" Target="/ppt/media/image41.png" Id="Rcf279b570a1f43df" /><Relationship Type="http://schemas.openxmlformats.org/officeDocument/2006/relationships/notesSlide" Target="/ppt/notesSlides/notesSlide42.xml" Id="Rda8b2c6fe30b4e28" /></Relationships>
</file>

<file path=ppt/slides/_rels/slide43.xml.rels>&#65279;<?xml version="1.0" encoding="utf-8"?><Relationships xmlns="http://schemas.openxmlformats.org/package/2006/relationships"><Relationship Type="http://schemas.openxmlformats.org/officeDocument/2006/relationships/slideLayout" Target="/ppt/slideLayouts/slideLayout2.xml" Id="R7b6ed4fb485d4999" /><Relationship Type="http://schemas.openxmlformats.org/officeDocument/2006/relationships/image" Target="/ppt/media/image42.png" Id="R6978bf4a523942b4" /><Relationship Type="http://schemas.openxmlformats.org/officeDocument/2006/relationships/notesSlide" Target="/ppt/notesSlides/notesSlide43.xml" Id="R68476a7a4f4f469c" /></Relationships>
</file>

<file path=ppt/slides/_rels/slide44.xml.rels>&#65279;<?xml version="1.0" encoding="utf-8"?><Relationships xmlns="http://schemas.openxmlformats.org/package/2006/relationships"><Relationship Type="http://schemas.openxmlformats.org/officeDocument/2006/relationships/slideLayout" Target="/ppt/slideLayouts/slideLayout2.xml" Id="R25b491f124b54d46" /><Relationship Type="http://schemas.openxmlformats.org/officeDocument/2006/relationships/image" Target="/ppt/media/image43.png" Id="Rae4d8ee3b48342f2" /><Relationship Type="http://schemas.openxmlformats.org/officeDocument/2006/relationships/notesSlide" Target="/ppt/notesSlides/notesSlide44.xml" Id="Rf51527ea86de489d" /></Relationships>
</file>

<file path=ppt/slides/_rels/slide45.xml.rels>&#65279;<?xml version="1.0" encoding="utf-8"?><Relationships xmlns="http://schemas.openxmlformats.org/package/2006/relationships"><Relationship Type="http://schemas.openxmlformats.org/officeDocument/2006/relationships/slideLayout" Target="/ppt/slideLayouts/slideLayout2.xml" Id="R2e5983c212944b17" /><Relationship Type="http://schemas.openxmlformats.org/officeDocument/2006/relationships/image" Target="/ppt/media/image44.png" Id="Red2427edd8df437b" /><Relationship Type="http://schemas.openxmlformats.org/officeDocument/2006/relationships/notesSlide" Target="/ppt/notesSlides/notesSlide45.xml" Id="R9e8798ed9f354aee" /></Relationships>
</file>

<file path=ppt/slides/_rels/slide46.xml.rels>&#65279;<?xml version="1.0" encoding="utf-8"?><Relationships xmlns="http://schemas.openxmlformats.org/package/2006/relationships"><Relationship Type="http://schemas.openxmlformats.org/officeDocument/2006/relationships/slideLayout" Target="/ppt/slideLayouts/slideLayout2.xml" Id="R6530ec6c9b764839" /><Relationship Type="http://schemas.openxmlformats.org/officeDocument/2006/relationships/image" Target="/ppt/media/image45.png" Id="R39dd3f647c294099" /><Relationship Type="http://schemas.openxmlformats.org/officeDocument/2006/relationships/notesSlide" Target="/ppt/notesSlides/notesSlide46.xml" Id="R58200bdd122b49a8" /></Relationships>
</file>

<file path=ppt/slides/_rels/slide47.xml.rels>&#65279;<?xml version="1.0" encoding="utf-8"?><Relationships xmlns="http://schemas.openxmlformats.org/package/2006/relationships"><Relationship Type="http://schemas.openxmlformats.org/officeDocument/2006/relationships/slideLayout" Target="/ppt/slideLayouts/slideLayout2.xml" Id="R61ff080c9aba4e50" /><Relationship Type="http://schemas.openxmlformats.org/officeDocument/2006/relationships/notesSlide" Target="/ppt/notesSlides/notesSlide47.xml" Id="Rb840aa4af51343e0" /></Relationships>
</file>

<file path=ppt/slides/_rels/slide48.xml.rels>&#65279;<?xml version="1.0" encoding="utf-8"?><Relationships xmlns="http://schemas.openxmlformats.org/package/2006/relationships"><Relationship Type="http://schemas.openxmlformats.org/officeDocument/2006/relationships/slideLayout" Target="/ppt/slideLayouts/slideLayout2.xml" Id="R0c292c105da64711" /><Relationship Type="http://schemas.openxmlformats.org/officeDocument/2006/relationships/image" Target="/ppt/media/image46.png" Id="R451edebf77cd4307" /><Relationship Type="http://schemas.openxmlformats.org/officeDocument/2006/relationships/notesSlide" Target="/ppt/notesSlides/notesSlide48.xml" Id="R9d8439f0e1e64e1f" /></Relationships>
</file>

<file path=ppt/slides/_rels/slide49.xml.rels>&#65279;<?xml version="1.0" encoding="utf-8"?><Relationships xmlns="http://schemas.openxmlformats.org/package/2006/relationships"><Relationship Type="http://schemas.openxmlformats.org/officeDocument/2006/relationships/slideLayout" Target="/ppt/slideLayouts/slideLayout2.xml" Id="R364d973fe603466f" /><Relationship Type="http://schemas.openxmlformats.org/officeDocument/2006/relationships/image" Target="/ppt/media/image47.png" Id="Rffc5056c1e5c4f15" /><Relationship Type="http://schemas.openxmlformats.org/officeDocument/2006/relationships/notesSlide" Target="/ppt/notesSlides/notesSlide49.xml" Id="Ra4348b9a48574ef0" /></Relationships>
</file>

<file path=ppt/slides/_rels/slide50.xml.rels>&#65279;<?xml version="1.0" encoding="utf-8"?><Relationships xmlns="http://schemas.openxmlformats.org/package/2006/relationships"><Relationship Type="http://schemas.openxmlformats.org/officeDocument/2006/relationships/slideLayout" Target="/ppt/slideLayouts/slideLayout2.xml" Id="R7815107cf6f24bc8" /><Relationship Type="http://schemas.openxmlformats.org/officeDocument/2006/relationships/notesSlide" Target="/ppt/notesSlides/notesSlide50.xml" Id="R3005561bb6544735" /></Relationships>
</file>

<file path=ppt/slides/_rels/slide51.xml.rels>&#65279;<?xml version="1.0" encoding="utf-8"?><Relationships xmlns="http://schemas.openxmlformats.org/package/2006/relationships"><Relationship Type="http://schemas.openxmlformats.org/officeDocument/2006/relationships/slideLayout" Target="/ppt/slideLayouts/slideLayout2.xml" Id="Rba354425f497455a" /><Relationship Type="http://schemas.openxmlformats.org/officeDocument/2006/relationships/image" Target="/ppt/media/image48.png" Id="Rb597a37bb45543b0" /><Relationship Type="http://schemas.openxmlformats.org/officeDocument/2006/relationships/notesSlide" Target="/ppt/notesSlides/notesSlide51.xml" Id="R263e57c9d6574964" /></Relationships>
</file>

<file path=ppt/slides/_rels/slide52.xml.rels>&#65279;<?xml version="1.0" encoding="utf-8"?><Relationships xmlns="http://schemas.openxmlformats.org/package/2006/relationships"><Relationship Type="http://schemas.openxmlformats.org/officeDocument/2006/relationships/slideLayout" Target="/ppt/slideLayouts/slideLayout2.xml" Id="R9131b7b33d2f4944" /><Relationship Type="http://schemas.openxmlformats.org/officeDocument/2006/relationships/notesSlide" Target="/ppt/notesSlides/notesSlide52.xml" Id="Rdd9dee8882f148ed" /></Relationships>
</file>

<file path=ppt/slides/_rels/slide53.xml.rels>&#65279;<?xml version="1.0" encoding="utf-8"?><Relationships xmlns="http://schemas.openxmlformats.org/package/2006/relationships"><Relationship Type="http://schemas.openxmlformats.org/officeDocument/2006/relationships/slideLayout" Target="/ppt/slideLayouts/slideLayout2.xml" Id="R8928042b006c44b5" /><Relationship Type="http://schemas.openxmlformats.org/officeDocument/2006/relationships/notesSlide" Target="/ppt/notesSlides/notesSlide53.xml" Id="R6953d091b5a1416c" /></Relationships>
</file>

<file path=ppt/slides/slide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 name="01-text-1">
            <a:extLst xmlns:a="http://schemas.openxmlformats.org/drawingml/2006/main">
              <a:ext uri="{FF2B5EF4-FFF2-40B4-BE49-F238E27FC236}">
                <a16:creationId xmlns:a16="http://schemas.microsoft.com/office/drawing/2014/main" id="{D9A50F95-8AA2-4E73-A4F7-8FF35663AF7C}"/>
              </a:ext>
            </a:extLst>
          </p:cNvPr>
          <p:cNvSpPr>
            <a:spLocks xmlns:a="http://schemas.openxmlformats.org/drawingml/2006/main"/>
          </p:cNvSpPr>
          <p:nvPr/>
        </p:nvSpPr>
        <p:spPr>
          <a:xfrm xmlns:a="http://schemas.openxmlformats.org/drawingml/2006/main">
            <a:off x="609600" y="2349500"/>
            <a:ext cx="10972800" cy="736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Beyond the Coding Agent</a:t>
            </a:r>
          </a:p>
        </p:txBody>
      </p:sp>
      <p:sp>
        <p:nvSpPr>
          <p:cNvPr id="2" name="01-text-2">
            <a:extLst xmlns:a="http://schemas.openxmlformats.org/drawingml/2006/main">
              <a:ext uri="{FF2B5EF4-FFF2-40B4-BE49-F238E27FC236}">
                <a16:creationId xmlns:a16="http://schemas.microsoft.com/office/drawing/2014/main" id="{D376D1AC-B628-4F4A-950B-99ED6CEEA8FD}"/>
              </a:ext>
            </a:extLst>
          </p:cNvPr>
          <p:cNvSpPr>
            <a:spLocks xmlns:a="http://schemas.openxmlformats.org/drawingml/2006/main"/>
          </p:cNvSpPr>
          <p:nvPr/>
        </p:nvSpPr>
        <p:spPr>
          <a:xfrm xmlns:a="http://schemas.openxmlformats.org/drawingml/2006/main">
            <a:off x="609600" y="32766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From Software Engineer to AI Engineer</a:t>
            </a:r>
          </a:p>
        </p:txBody>
      </p:sp>
      <p:sp>
        <p:nvSpPr>
          <p:cNvPr id="3" name="01-text-3">
            <a:extLst xmlns:a="http://schemas.openxmlformats.org/drawingml/2006/main">
              <a:ext uri="{FF2B5EF4-FFF2-40B4-BE49-F238E27FC236}">
                <a16:creationId xmlns:a16="http://schemas.microsoft.com/office/drawing/2014/main" id="{49DE6012-2643-455F-8EE3-4CF4EC64C035}"/>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Stephen Sequenzia · Senior Staff AI/ML Engineer and Architect</a:t>
            </a:r>
          </a:p>
        </p:txBody>
      </p:sp>
      <p:sp>
        <p:nvSpPr>
          <p:cNvPr id="4" name="narrative-number">
            <a:extLst xmlns:a="http://schemas.openxmlformats.org/drawingml/2006/main">
              <a:ext uri="{FF2B5EF4-FFF2-40B4-BE49-F238E27FC236}">
                <a16:creationId xmlns:a16="http://schemas.microsoft.com/office/drawing/2014/main" id="{BF4C76BF-4A4E-4008-9C95-035B614DC23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Tree>
    <p:extLst>
      <p:ext uri="{BB962C8B-B14F-4D97-AF65-F5344CB8AC3E}">
        <p14:creationId xmlns:p14="http://schemas.microsoft.com/office/powerpoint/2010/main" val="1971589547"/>
      </p:ext>
    </p:extLst>
  </p:cSld>
</p:sld>
</file>

<file path=ppt/slides/slide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12" name="02-image-1"/>
          <p:cNvPicPr>
            <a:picLocks xmlns:a="http://schemas.openxmlformats.org/drawingml/2006/main" noChangeAspect="1"/>
          </p:cNvPicPr>
          <p:nvPr/>
        </p:nvPicPr>
        <p:blipFill>
          <a:blip xmlns:r="http://schemas.openxmlformats.org/officeDocument/2006/relationships" xmlns:a="http://schemas.openxmlformats.org/drawingml/2006/main" r:embed="R979f16384c7248d2"/>
          <a:stretch xmlns:a="http://schemas.openxmlformats.org/drawingml/2006/main"/>
        </p:blipFill>
        <p:spPr>
          <a:xfrm xmlns:a="http://schemas.openxmlformats.org/drawingml/2006/main">
            <a:off x="609600" y="2679700"/>
            <a:ext cx="1828800" cy="1828800"/>
          </a:xfrm>
          <a:prstGeom xmlns:a="http://schemas.openxmlformats.org/drawingml/2006/main" prst="ellipse">
            <a:avLst/>
          </a:prstGeom>
        </p:spPr>
      </p:pic>
      <p:sp>
        <p:nvSpPr>
          <p:cNvPr id="6" name="02-text-2">
            <a:extLst xmlns:a="http://schemas.openxmlformats.org/drawingml/2006/main">
              <a:ext uri="{FF2B5EF4-FFF2-40B4-BE49-F238E27FC236}">
                <a16:creationId xmlns:a16="http://schemas.microsoft.com/office/drawing/2014/main" id="{A78B198A-B3C9-4B6F-9A88-A9675E9E88D0}"/>
              </a:ext>
            </a:extLst>
          </p:cNvPr>
          <p:cNvSpPr>
            <a:spLocks xmlns:a="http://schemas.openxmlformats.org/drawingml/2006/main"/>
          </p:cNvSpPr>
          <p:nvPr/>
        </p:nvSpPr>
        <p:spPr>
          <a:xfrm xmlns:a="http://schemas.openxmlformats.org/drawingml/2006/main">
            <a:off x="4368800" y="952500"/>
            <a:ext cx="7213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Stephen Sequenzia</a:t>
            </a:r>
          </a:p>
        </p:txBody>
      </p:sp>
      <p:sp>
        <p:nvSpPr>
          <p:cNvPr id="7" name="02-text-3">
            <a:extLst xmlns:a="http://schemas.openxmlformats.org/drawingml/2006/main">
              <a:ext uri="{FF2B5EF4-FFF2-40B4-BE49-F238E27FC236}">
                <a16:creationId xmlns:a16="http://schemas.microsoft.com/office/drawing/2014/main" id="{43C3F483-A345-4B13-8C71-AD11AC4368C9}"/>
              </a:ext>
            </a:extLst>
          </p:cNvPr>
          <p:cNvSpPr>
            <a:spLocks xmlns:a="http://schemas.openxmlformats.org/drawingml/2006/main"/>
          </p:cNvSpPr>
          <p:nvPr/>
        </p:nvSpPr>
        <p:spPr>
          <a:xfrm xmlns:a="http://schemas.openxmlformats.org/drawingml/2006/main">
            <a:off x="4368800" y="1587500"/>
            <a:ext cx="721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Senior Staff AI/ML Engineer and Architect</a:t>
            </a:r>
          </a:p>
        </p:txBody>
      </p:sp>
      <p:sp>
        <p:nvSpPr>
          <p:cNvPr id="8" name="02-text-4">
            <a:extLst xmlns:a="http://schemas.openxmlformats.org/drawingml/2006/main">
              <a:ext uri="{FF2B5EF4-FFF2-40B4-BE49-F238E27FC236}">
                <a16:creationId xmlns:a16="http://schemas.microsoft.com/office/drawing/2014/main" id="{99FD404E-C464-44F6-AB60-19CFDCB4A424}"/>
              </a:ext>
            </a:extLst>
          </p:cNvPr>
          <p:cNvSpPr>
            <a:spLocks xmlns:a="http://schemas.openxmlformats.org/drawingml/2006/main"/>
          </p:cNvSpPr>
          <p:nvPr/>
        </p:nvSpPr>
        <p:spPr>
          <a:xfrm xmlns:a="http://schemas.openxmlformats.org/drawingml/2006/main">
            <a:off x="4368800" y="26035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Twenty years putting systems into production.</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last several with a model in the loop.</a:t>
            </a:r>
          </a:p>
        </p:txBody>
      </p:sp>
      <p:sp>
        <p:nvSpPr>
          <p:cNvPr id="9" name="02-text-5">
            <a:extLst xmlns:a="http://schemas.openxmlformats.org/drawingml/2006/main">
              <a:ext uri="{FF2B5EF4-FFF2-40B4-BE49-F238E27FC236}">
                <a16:creationId xmlns:a16="http://schemas.microsoft.com/office/drawing/2014/main" id="{81757F64-DACE-4212-AE5D-FC372119C39D}"/>
              </a:ext>
            </a:extLst>
          </p:cNvPr>
          <p:cNvSpPr>
            <a:spLocks xmlns:a="http://schemas.openxmlformats.org/drawingml/2006/main"/>
          </p:cNvSpPr>
          <p:nvPr/>
        </p:nvSpPr>
        <p:spPr>
          <a:xfrm xmlns:a="http://schemas.openxmlformats.org/drawingml/2006/main">
            <a:off x="4368800" y="37338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Leads architecture for agentic AI systems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across defense programs.</a:t>
            </a:r>
          </a:p>
        </p:txBody>
      </p:sp>
      <p:sp>
        <p:nvSpPr>
          <p:cNvPr id="10" name="02-text-6">
            <a:extLst xmlns:a="http://schemas.openxmlformats.org/drawingml/2006/main">
              <a:ext uri="{FF2B5EF4-FFF2-40B4-BE49-F238E27FC236}">
                <a16:creationId xmlns:a16="http://schemas.microsoft.com/office/drawing/2014/main" id="{749FF09A-AF94-4CF3-B31C-2C3BE2499D5A}"/>
              </a:ext>
            </a:extLst>
          </p:cNvPr>
          <p:cNvSpPr>
            <a:spLocks xmlns:a="http://schemas.openxmlformats.org/drawingml/2006/main"/>
          </p:cNvSpPr>
          <p:nvPr/>
        </p:nvSpPr>
        <p:spPr>
          <a:xfrm xmlns:a="http://schemas.openxmlformats.org/drawingml/2006/main">
            <a:off x="4368800" y="48641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Has helped 500+ engineers adopt agents,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watched where using one stops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engineering one begins.</a:t>
            </a:r>
          </a:p>
        </p:txBody>
      </p:sp>
      <p:sp>
        <p:nvSpPr>
          <p:cNvPr id="11" name="narrative-number">
            <a:extLst xmlns:a="http://schemas.openxmlformats.org/drawingml/2006/main">
              <a:ext uri="{FF2B5EF4-FFF2-40B4-BE49-F238E27FC236}">
                <a16:creationId xmlns:a16="http://schemas.microsoft.com/office/drawing/2014/main" id="{481DA0E0-E8A7-4CC7-959F-F87BAAE1559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Tree>
    <p:extLst>
      <p:ext uri="{BB962C8B-B14F-4D97-AF65-F5344CB8AC3E}">
        <p14:creationId xmlns:p14="http://schemas.microsoft.com/office/powerpoint/2010/main" val="2654002013"/>
      </p:ext>
    </p:extLst>
  </p:cSld>
</p:sld>
</file>

<file path=ppt/slides/slide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 name="03-text-1">
            <a:extLst xmlns:a="http://schemas.openxmlformats.org/drawingml/2006/main">
              <a:ext uri="{FF2B5EF4-FFF2-40B4-BE49-F238E27FC236}">
                <a16:creationId xmlns:a16="http://schemas.microsoft.com/office/drawing/2014/main" id="{EF65907C-3347-499C-BE7A-DBB7F0776156}"/>
              </a:ext>
            </a:extLst>
          </p:cNvPr>
          <p:cNvSpPr>
            <a:spLocks xmlns:a="http://schemas.openxmlformats.org/drawingml/2006/main"/>
          </p:cNvSpPr>
          <p:nvPr/>
        </p:nvSpPr>
        <p:spPr>
          <a:xfrm xmlns:a="http://schemas.openxmlformats.org/drawingml/2006/main">
            <a:off x="609600" y="4572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Agenda</a:t>
            </a:r>
          </a:p>
        </p:txBody>
      </p:sp>
      <p:sp>
        <p:nvSpPr>
          <p:cNvPr id="13" name="03-text-2">
            <a:extLst xmlns:a="http://schemas.openxmlformats.org/drawingml/2006/main">
              <a:ext uri="{FF2B5EF4-FFF2-40B4-BE49-F238E27FC236}">
                <a16:creationId xmlns:a16="http://schemas.microsoft.com/office/drawing/2014/main" id="{BFE6892B-B1E2-4006-8437-08D0B9E33EBF}"/>
              </a:ext>
            </a:extLst>
          </p:cNvPr>
          <p:cNvSpPr>
            <a:spLocks xmlns:a="http://schemas.openxmlformats.org/drawingml/2006/main"/>
          </p:cNvSpPr>
          <p:nvPr/>
        </p:nvSpPr>
        <p:spPr>
          <a:xfrm xmlns:a="http://schemas.openxmlformats.org/drawingml/2006/main">
            <a:off x="609600" y="12700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14" name="03-text-3">
            <a:extLst xmlns:a="http://schemas.openxmlformats.org/drawingml/2006/main">
              <a:ext uri="{FF2B5EF4-FFF2-40B4-BE49-F238E27FC236}">
                <a16:creationId xmlns:a16="http://schemas.microsoft.com/office/drawing/2014/main" id="{F1102FE9-C7E7-46A4-89BA-29129F43D5AC}"/>
              </a:ext>
            </a:extLst>
          </p:cNvPr>
          <p:cNvSpPr>
            <a:spLocks xmlns:a="http://schemas.openxmlformats.org/drawingml/2006/main"/>
          </p:cNvSpPr>
          <p:nvPr/>
        </p:nvSpPr>
        <p:spPr>
          <a:xfrm xmlns:a="http://schemas.openxmlformats.org/drawingml/2006/main">
            <a:off x="1117600" y="12700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changes when AI becomes part of the product</a:t>
            </a:r>
          </a:p>
        </p:txBody>
      </p:sp>
      <p:sp>
        <p:nvSpPr>
          <p:cNvPr id="15" name="03-text-4">
            <a:extLst xmlns:a="http://schemas.openxmlformats.org/drawingml/2006/main">
              <a:ext uri="{FF2B5EF4-FFF2-40B4-BE49-F238E27FC236}">
                <a16:creationId xmlns:a16="http://schemas.microsoft.com/office/drawing/2014/main" id="{384AB82F-B53B-4E36-8FB2-CF21A87E1EC9}"/>
              </a:ext>
            </a:extLst>
          </p:cNvPr>
          <p:cNvSpPr>
            <a:spLocks xmlns:a="http://schemas.openxmlformats.org/drawingml/2006/main"/>
          </p:cNvSpPr>
          <p:nvPr/>
        </p:nvSpPr>
        <p:spPr>
          <a:xfrm xmlns:a="http://schemas.openxmlformats.org/drawingml/2006/main">
            <a:off x="609600" y="18796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16" name="03-text-5">
            <a:extLst xmlns:a="http://schemas.openxmlformats.org/drawingml/2006/main">
              <a:ext uri="{FF2B5EF4-FFF2-40B4-BE49-F238E27FC236}">
                <a16:creationId xmlns:a16="http://schemas.microsoft.com/office/drawing/2014/main" id="{646C8919-AFDC-432F-AF63-67F53F26027F}"/>
              </a:ext>
            </a:extLst>
          </p:cNvPr>
          <p:cNvSpPr>
            <a:spLocks xmlns:a="http://schemas.openxmlformats.org/drawingml/2006/main"/>
          </p:cNvSpPr>
          <p:nvPr/>
        </p:nvSpPr>
        <p:spPr>
          <a:xfrm xmlns:a="http://schemas.openxmlformats.org/drawingml/2006/main">
            <a:off x="1117600" y="18796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AI engineers actually engineer</a:t>
            </a:r>
          </a:p>
        </p:txBody>
      </p:sp>
      <p:sp>
        <p:nvSpPr>
          <p:cNvPr id="17" name="03-text-6">
            <a:extLst xmlns:a="http://schemas.openxmlformats.org/drawingml/2006/main">
              <a:ext uri="{FF2B5EF4-FFF2-40B4-BE49-F238E27FC236}">
                <a16:creationId xmlns:a16="http://schemas.microsoft.com/office/drawing/2014/main" id="{4F063E96-A66E-42AC-9795-A387DD248EBB}"/>
              </a:ext>
            </a:extLst>
          </p:cNvPr>
          <p:cNvSpPr>
            <a:spLocks xmlns:a="http://schemas.openxmlformats.org/drawingml/2006/main"/>
          </p:cNvSpPr>
          <p:nvPr/>
        </p:nvSpPr>
        <p:spPr>
          <a:xfrm xmlns:a="http://schemas.openxmlformats.org/drawingml/2006/main">
            <a:off x="609600" y="33401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18" name="03-text-7">
            <a:extLst xmlns:a="http://schemas.openxmlformats.org/drawingml/2006/main">
              <a:ext uri="{FF2B5EF4-FFF2-40B4-BE49-F238E27FC236}">
                <a16:creationId xmlns:a16="http://schemas.microsoft.com/office/drawing/2014/main" id="{9022DAEE-3AE4-4A71-BC18-6275B5B5E023}"/>
              </a:ext>
            </a:extLst>
          </p:cNvPr>
          <p:cNvSpPr>
            <a:spLocks xmlns:a="http://schemas.openxmlformats.org/drawingml/2006/main"/>
          </p:cNvSpPr>
          <p:nvPr/>
        </p:nvSpPr>
        <p:spPr>
          <a:xfrm xmlns:a="http://schemas.openxmlformats.org/drawingml/2006/main">
            <a:off x="1117600" y="33401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Making the transition</a:t>
            </a:r>
          </a:p>
        </p:txBody>
      </p:sp>
      <p:sp>
        <p:nvSpPr>
          <p:cNvPr id="19" name="03-text-8">
            <a:extLst xmlns:a="http://schemas.openxmlformats.org/drawingml/2006/main">
              <a:ext uri="{FF2B5EF4-FFF2-40B4-BE49-F238E27FC236}">
                <a16:creationId xmlns:a16="http://schemas.microsoft.com/office/drawing/2014/main" id="{80ADB1AC-00B5-4407-A8FD-7D9D87719D0D}"/>
              </a:ext>
            </a:extLst>
          </p:cNvPr>
          <p:cNvSpPr>
            <a:spLocks xmlns:a="http://schemas.openxmlformats.org/drawingml/2006/main"/>
          </p:cNvSpPr>
          <p:nvPr/>
        </p:nvSpPr>
        <p:spPr>
          <a:xfrm xmlns:a="http://schemas.openxmlformats.org/drawingml/2006/main">
            <a:off x="609600" y="42799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20" name="03-text-9">
            <a:extLst xmlns:a="http://schemas.openxmlformats.org/drawingml/2006/main">
              <a:ext uri="{FF2B5EF4-FFF2-40B4-BE49-F238E27FC236}">
                <a16:creationId xmlns:a16="http://schemas.microsoft.com/office/drawing/2014/main" id="{F53E24E2-5CD3-44DC-A80E-783FCBF9172B}"/>
              </a:ext>
            </a:extLst>
          </p:cNvPr>
          <p:cNvSpPr>
            <a:spLocks xmlns:a="http://schemas.openxmlformats.org/drawingml/2006/main"/>
          </p:cNvSpPr>
          <p:nvPr/>
        </p:nvSpPr>
        <p:spPr>
          <a:xfrm xmlns:a="http://schemas.openxmlformats.org/drawingml/2006/main">
            <a:off x="1117600" y="42799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Questions and discussion</a:t>
            </a:r>
          </a:p>
        </p:txBody>
      </p:sp>
      <p:sp>
        <p:nvSpPr>
          <p:cNvPr id="21" name="03-text-10">
            <a:extLst xmlns:a="http://schemas.openxmlformats.org/drawingml/2006/main">
              <a:ext uri="{FF2B5EF4-FFF2-40B4-BE49-F238E27FC236}">
                <a16:creationId xmlns:a16="http://schemas.microsoft.com/office/drawing/2014/main" id="{BD36D9BA-0C71-48FB-95BB-0FC738614026}"/>
              </a:ext>
            </a:extLst>
          </p:cNvPr>
          <p:cNvSpPr>
            <a:spLocks xmlns:a="http://schemas.openxmlformats.org/drawingml/2006/main"/>
          </p:cNvSpPr>
          <p:nvPr/>
        </p:nvSpPr>
        <p:spPr>
          <a:xfrm xmlns:a="http://schemas.openxmlformats.org/drawingml/2006/main">
            <a:off x="1117600" y="23622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064F8"/>
                </a:solidFill>
                <a:latin typeface="Helvetica"/>
                <a:ea typeface="Helvetica"/>
                <a:cs typeface="Helvetica"/>
              </a:defRPr>
            </a:pPr>
            <a:r>
              <a:rPr b="0">
                <a:solidFill>
                  <a:srgbClr val="1064F8"/>
                </a:solidFill>
                <a:latin typeface="Helvetica"/>
                <a:ea typeface="Helvetica"/>
                <a:cs typeface="Helvetica"/>
              </a:rPr>
              <a:t>Model Selection</a:t>
            </a:r>
          </a:p>
        </p:txBody>
      </p:sp>
      <p:sp>
        <p:nvSpPr>
          <p:cNvPr id="22" name="03-text-11">
            <a:extLst xmlns:a="http://schemas.openxmlformats.org/drawingml/2006/main">
              <a:ext uri="{FF2B5EF4-FFF2-40B4-BE49-F238E27FC236}">
                <a16:creationId xmlns:a16="http://schemas.microsoft.com/office/drawing/2014/main" id="{42D23EB2-392B-4F52-8B79-E1FF17ED054A}"/>
              </a:ext>
            </a:extLst>
          </p:cNvPr>
          <p:cNvSpPr>
            <a:spLocks xmlns:a="http://schemas.openxmlformats.org/drawingml/2006/main"/>
          </p:cNvSpPr>
          <p:nvPr/>
        </p:nvSpPr>
        <p:spPr>
          <a:xfrm xmlns:a="http://schemas.openxmlformats.org/drawingml/2006/main">
            <a:off x="4597400" y="2362200"/>
            <a:ext cx="3530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Context Engineering</a:t>
            </a:r>
          </a:p>
        </p:txBody>
      </p:sp>
      <p:sp>
        <p:nvSpPr>
          <p:cNvPr id="23" name="03-text-12">
            <a:extLst xmlns:a="http://schemas.openxmlformats.org/drawingml/2006/main">
              <a:ext uri="{FF2B5EF4-FFF2-40B4-BE49-F238E27FC236}">
                <a16:creationId xmlns:a16="http://schemas.microsoft.com/office/drawing/2014/main" id="{D668D5CF-FBA6-4E7B-B32E-B38ABAD871A7}"/>
              </a:ext>
            </a:extLst>
          </p:cNvPr>
          <p:cNvSpPr>
            <a:spLocks xmlns:a="http://schemas.openxmlformats.org/drawingml/2006/main"/>
          </p:cNvSpPr>
          <p:nvPr/>
        </p:nvSpPr>
        <p:spPr>
          <a:xfrm xmlns:a="http://schemas.openxmlformats.org/drawingml/2006/main">
            <a:off x="8432800" y="2362200"/>
            <a:ext cx="3149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Tools &amp; Extensibility</a:t>
            </a:r>
          </a:p>
        </p:txBody>
      </p:sp>
      <p:sp>
        <p:nvSpPr>
          <p:cNvPr id="24" name="03-text-13">
            <a:extLst xmlns:a="http://schemas.openxmlformats.org/drawingml/2006/main">
              <a:ext uri="{FF2B5EF4-FFF2-40B4-BE49-F238E27FC236}">
                <a16:creationId xmlns:a16="http://schemas.microsoft.com/office/drawing/2014/main" id="{BB6952F8-6646-43DC-B413-07D24E022729}"/>
              </a:ext>
            </a:extLst>
          </p:cNvPr>
          <p:cNvSpPr>
            <a:spLocks xmlns:a="http://schemas.openxmlformats.org/drawingml/2006/main"/>
          </p:cNvSpPr>
          <p:nvPr/>
        </p:nvSpPr>
        <p:spPr>
          <a:xfrm xmlns:a="http://schemas.openxmlformats.org/drawingml/2006/main">
            <a:off x="1117600" y="27432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Orchestration</a:t>
            </a:r>
          </a:p>
        </p:txBody>
      </p:sp>
      <p:sp>
        <p:nvSpPr>
          <p:cNvPr id="25" name="03-text-14">
            <a:extLst xmlns:a="http://schemas.openxmlformats.org/drawingml/2006/main">
              <a:ext uri="{FF2B5EF4-FFF2-40B4-BE49-F238E27FC236}">
                <a16:creationId xmlns:a16="http://schemas.microsoft.com/office/drawing/2014/main" id="{6E226DD7-381A-4678-8BCD-1F0D4ABD052A}"/>
              </a:ext>
            </a:extLst>
          </p:cNvPr>
          <p:cNvSpPr>
            <a:spLocks xmlns:a="http://schemas.openxmlformats.org/drawingml/2006/main"/>
          </p:cNvSpPr>
          <p:nvPr/>
        </p:nvSpPr>
        <p:spPr>
          <a:xfrm xmlns:a="http://schemas.openxmlformats.org/drawingml/2006/main">
            <a:off x="4597400" y="2743200"/>
            <a:ext cx="3530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01B66D"/>
                </a:solidFill>
                <a:latin typeface="Helvetica"/>
                <a:ea typeface="Helvetica"/>
                <a:cs typeface="Helvetica"/>
              </a:defRPr>
            </a:pPr>
            <a:r>
              <a:rPr b="0">
                <a:solidFill>
                  <a:srgbClr val="01B66D"/>
                </a:solidFill>
                <a:latin typeface="Helvetica"/>
                <a:ea typeface="Helvetica"/>
                <a:cs typeface="Helvetica"/>
              </a:rPr>
              <a:t>Verification &amp; Evals</a:t>
            </a:r>
          </a:p>
        </p:txBody>
      </p:sp>
      <p:sp>
        <p:nvSpPr>
          <p:cNvPr id="26" name="03-text-15">
            <a:extLst xmlns:a="http://schemas.openxmlformats.org/drawingml/2006/main">
              <a:ext uri="{FF2B5EF4-FFF2-40B4-BE49-F238E27FC236}">
                <a16:creationId xmlns:a16="http://schemas.microsoft.com/office/drawing/2014/main" id="{655C72E4-4B16-4AD8-9436-8E2414F325ED}"/>
              </a:ext>
            </a:extLst>
          </p:cNvPr>
          <p:cNvSpPr>
            <a:spLocks xmlns:a="http://schemas.openxmlformats.org/drawingml/2006/main"/>
          </p:cNvSpPr>
          <p:nvPr/>
        </p:nvSpPr>
        <p:spPr>
          <a:xfrm xmlns:a="http://schemas.openxmlformats.org/drawingml/2006/main">
            <a:off x="8432800" y="2743200"/>
            <a:ext cx="3149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DAD00"/>
                </a:solidFill>
                <a:latin typeface="Helvetica"/>
                <a:ea typeface="Helvetica"/>
                <a:cs typeface="Helvetica"/>
              </a:defRPr>
            </a:pPr>
            <a:r>
              <a:rPr b="0">
                <a:solidFill>
                  <a:srgbClr val="FDAD00"/>
                </a:solidFill>
                <a:latin typeface="Helvetica"/>
                <a:ea typeface="Helvetica"/>
                <a:cs typeface="Helvetica"/>
              </a:rPr>
              <a:t>AgentOps</a:t>
            </a:r>
          </a:p>
        </p:txBody>
      </p:sp>
      <p:sp>
        <p:nvSpPr>
          <p:cNvPr id="27" name="03-text-16">
            <a:extLst xmlns:a="http://schemas.openxmlformats.org/drawingml/2006/main">
              <a:ext uri="{FF2B5EF4-FFF2-40B4-BE49-F238E27FC236}">
                <a16:creationId xmlns:a16="http://schemas.microsoft.com/office/drawing/2014/main" id="{28ED1624-D166-46D2-9CFF-8222360DFFE7}"/>
              </a:ext>
            </a:extLst>
          </p:cNvPr>
          <p:cNvSpPr>
            <a:spLocks xmlns:a="http://schemas.openxmlformats.org/drawingml/2006/main"/>
          </p:cNvSpPr>
          <p:nvPr/>
        </p:nvSpPr>
        <p:spPr>
          <a:xfrm xmlns:a="http://schemas.openxmlformats.org/drawingml/2006/main">
            <a:off x="1117600" y="3784600"/>
            <a:ext cx="10464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Skills that transfer, new competencies, and where to start</a:t>
            </a:r>
          </a:p>
        </p:txBody>
      </p:sp>
      <p:sp>
        <p:nvSpPr>
          <p:cNvPr id="28" name="03-shape-17">
            <a:extLst xmlns:a="http://schemas.openxmlformats.org/drawingml/2006/main">
              <a:ext uri="{FF2B5EF4-FFF2-40B4-BE49-F238E27FC236}">
                <a16:creationId xmlns:a16="http://schemas.microsoft.com/office/drawing/2014/main" id="{EF7A364A-A08E-4DD3-8B3E-36EDE6E52BDF}"/>
              </a:ext>
            </a:extLst>
          </p:cNvPr>
          <p:cNvSpPr>
            <a:spLocks xmlns:a="http://schemas.openxmlformats.org/drawingml/2006/main"/>
          </p:cNvSpPr>
          <p:nvPr/>
        </p:nvSpPr>
        <p:spPr>
          <a:xfrm xmlns:a="http://schemas.openxmlformats.org/drawingml/2006/main">
            <a:off x="609600" y="49403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 name="03-text-18">
            <a:extLst xmlns:a="http://schemas.openxmlformats.org/drawingml/2006/main">
              <a:ext uri="{FF2B5EF4-FFF2-40B4-BE49-F238E27FC236}">
                <a16:creationId xmlns:a16="http://schemas.microsoft.com/office/drawing/2014/main" id="{89978B1F-E0C5-4A5A-9989-D3240F728352}"/>
              </a:ext>
            </a:extLst>
          </p:cNvPr>
          <p:cNvSpPr>
            <a:spLocks xmlns:a="http://schemas.openxmlformats.org/drawingml/2006/main"/>
          </p:cNvSpPr>
          <p:nvPr/>
        </p:nvSpPr>
        <p:spPr>
          <a:xfrm xmlns:a="http://schemas.openxmlformats.org/drawingml/2006/main">
            <a:off x="609600" y="5168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You'll leave with</a:t>
            </a:r>
          </a:p>
        </p:txBody>
      </p:sp>
      <p:sp>
        <p:nvSpPr>
          <p:cNvPr id="30" name="03-text-19">
            <a:extLst xmlns:a="http://schemas.openxmlformats.org/drawingml/2006/main">
              <a:ext uri="{FF2B5EF4-FFF2-40B4-BE49-F238E27FC236}">
                <a16:creationId xmlns:a16="http://schemas.microsoft.com/office/drawing/2014/main" id="{DC2D68AE-0597-4536-9502-6AD9E65BD17E}"/>
              </a:ext>
            </a:extLst>
          </p:cNvPr>
          <p:cNvSpPr>
            <a:spLocks xmlns:a="http://schemas.openxmlformats.org/drawingml/2006/main"/>
          </p:cNvSpPr>
          <p:nvPr/>
        </p:nvSpPr>
        <p:spPr>
          <a:xfrm xmlns:a="http://schemas.openxmlformats.org/drawingml/2006/main">
            <a:off x="6096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map of the engineering</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responsibilities</a:t>
            </a:r>
          </a:p>
        </p:txBody>
      </p:sp>
      <p:sp>
        <p:nvSpPr>
          <p:cNvPr id="31" name="03-text-20">
            <a:extLst xmlns:a="http://schemas.openxmlformats.org/drawingml/2006/main">
              <a:ext uri="{FF2B5EF4-FFF2-40B4-BE49-F238E27FC236}">
                <a16:creationId xmlns:a16="http://schemas.microsoft.com/office/drawing/2014/main" id="{3FB360CA-9C17-4CA0-85E6-11FBEA84C341}"/>
              </a:ext>
            </a:extLst>
          </p:cNvPr>
          <p:cNvSpPr>
            <a:spLocks xmlns:a="http://schemas.openxmlformats.org/drawingml/2006/main"/>
          </p:cNvSpPr>
          <p:nvPr/>
        </p:nvSpPr>
        <p:spPr>
          <a:xfrm xmlns:a="http://schemas.openxmlformats.org/drawingml/2006/main">
            <a:off x="43688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 understanding of what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production readiness requires</a:t>
            </a:r>
          </a:p>
        </p:txBody>
      </p:sp>
      <p:sp>
        <p:nvSpPr>
          <p:cNvPr id="32" name="03-text-21">
            <a:extLst xmlns:a="http://schemas.openxmlformats.org/drawingml/2006/main">
              <a:ext uri="{FF2B5EF4-FFF2-40B4-BE49-F238E27FC236}">
                <a16:creationId xmlns:a16="http://schemas.microsoft.com/office/drawing/2014/main" id="{E9007121-89C2-452E-AD0C-8E4F838404E4}"/>
              </a:ext>
            </a:extLst>
          </p:cNvPr>
          <p:cNvSpPr>
            <a:spLocks xmlns:a="http://schemas.openxmlformats.org/drawingml/2006/main"/>
          </p:cNvSpPr>
          <p:nvPr/>
        </p:nvSpPr>
        <p:spPr>
          <a:xfrm xmlns:a="http://schemas.openxmlformats.org/drawingml/2006/main">
            <a:off x="81280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starting point for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your own transition</a:t>
            </a:r>
          </a:p>
        </p:txBody>
      </p:sp>
      <p:sp>
        <p:nvSpPr>
          <p:cNvPr id="33" name="narrative-number">
            <a:extLst xmlns:a="http://schemas.openxmlformats.org/drawingml/2006/main">
              <a:ext uri="{FF2B5EF4-FFF2-40B4-BE49-F238E27FC236}">
                <a16:creationId xmlns:a16="http://schemas.microsoft.com/office/drawing/2014/main" id="{CC726D62-6FE2-4481-96B0-AEA74E20B51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Tree>
    <p:extLst>
      <p:ext uri="{BB962C8B-B14F-4D97-AF65-F5344CB8AC3E}">
        <p14:creationId xmlns:p14="http://schemas.microsoft.com/office/powerpoint/2010/main" val="547760844"/>
      </p:ext>
    </p:extLst>
  </p:cSld>
</p:sld>
</file>

<file path=ppt/slides/slide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 name="section-label">
            <a:extLst xmlns:a="http://schemas.openxmlformats.org/drawingml/2006/main">
              <a:ext uri="{FF2B5EF4-FFF2-40B4-BE49-F238E27FC236}">
                <a16:creationId xmlns:a16="http://schemas.microsoft.com/office/drawing/2014/main" id="{088DA4BB-79EF-4F99-B259-6BC943808F80}"/>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1</a:t>
            </a:r>
          </a:p>
        </p:txBody>
      </p:sp>
      <p:sp>
        <p:nvSpPr>
          <p:cNvPr id="35" name="section-rule">
            <a:extLst xmlns:a="http://schemas.openxmlformats.org/drawingml/2006/main">
              <a:ext uri="{FF2B5EF4-FFF2-40B4-BE49-F238E27FC236}">
                <a16:creationId xmlns:a16="http://schemas.microsoft.com/office/drawing/2014/main" id="{DDBD527C-9817-4E0F-A66C-BCEC40EAB078}"/>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 name="section-title">
            <a:extLst xmlns:a="http://schemas.openxmlformats.org/drawingml/2006/main">
              <a:ext uri="{FF2B5EF4-FFF2-40B4-BE49-F238E27FC236}">
                <a16:creationId xmlns:a16="http://schemas.microsoft.com/office/drawing/2014/main" id="{7715631C-C0A0-4434-B8C5-27453D8570D0}"/>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changes when AI</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becomes part of the product</a:t>
            </a:r>
          </a:p>
        </p:txBody>
      </p:sp>
      <p:sp>
        <p:nvSpPr>
          <p:cNvPr id="37" name="narrative-number">
            <a:extLst xmlns:a="http://schemas.openxmlformats.org/drawingml/2006/main">
              <a:ext uri="{FF2B5EF4-FFF2-40B4-BE49-F238E27FC236}">
                <a16:creationId xmlns:a16="http://schemas.microsoft.com/office/drawing/2014/main" id="{6D4B1810-7B8B-4B3C-9441-4E111BF6CEE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Tree>
    <p:extLst>
      <p:ext uri="{BB962C8B-B14F-4D97-AF65-F5344CB8AC3E}">
        <p14:creationId xmlns:p14="http://schemas.microsoft.com/office/powerpoint/2010/main" val="3424623097"/>
      </p:ext>
    </p:extLst>
  </p:cSld>
</p:sld>
</file>

<file path=ppt/slides/slide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 name="slide-title">
            <a:extLst xmlns:a="http://schemas.openxmlformats.org/drawingml/2006/main">
              <a:ext uri="{FF2B5EF4-FFF2-40B4-BE49-F238E27FC236}">
                <a16:creationId xmlns:a16="http://schemas.microsoft.com/office/drawing/2014/main" id="{B7CE973D-288D-4691-A4FD-B5A49042F8E8}"/>
              </a:ext>
            </a:extLst>
          </p:cNvPr>
          <p:cNvSpPr>
            <a:spLocks xmlns:a="http://schemas.openxmlformats.org/drawingml/2006/main"/>
          </p:cNvSpPr>
          <p:nvPr/>
        </p:nvSpPr>
        <p:spPr>
          <a:xfrm xmlns:a="http://schemas.openxmlformats.org/drawingml/2006/main">
            <a:off x="609600" y="863600"/>
            <a:ext cx="109728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Deterministic logic and model behavior</a:t>
            </a:r>
          </a:p>
        </p:txBody>
      </p:sp>
      <p:sp>
        <p:nvSpPr>
          <p:cNvPr id="39" name="header-divider">
            <a:extLst xmlns:a="http://schemas.openxmlformats.org/drawingml/2006/main">
              <a:ext uri="{FF2B5EF4-FFF2-40B4-BE49-F238E27FC236}">
                <a16:creationId xmlns:a16="http://schemas.microsoft.com/office/drawing/2014/main" id="{38736C82-D00B-464C-BAF0-A74834C08CF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44" name="05-table-1"/>
          <p:cNvGraphicFramePr/>
          <p:nvPr/>
        </p:nvGraphicFramePr>
        <p:xfrm>
          <a:off xmlns:a="http://schemas.openxmlformats.org/drawingml/2006/main" x="609600" y="2438400"/>
          <a:ext xmlns:a="http://schemas.openxmlformats.org/drawingml/2006/main" cx="10972800" cy="3454400"/>
        </p:xfrm>
        <a:graphic xmlns:a="http://schemas.openxmlformats.org/drawingml/2006/main">
          <a:graphicData uri="http://schemas.openxmlformats.org/drawingml/2006/table">
            <a:tbl>
              <a:tblPr firstRow="0" firstCol="0" lastCol="0" bandRow="0" bandCol="0"/>
              <a:tblGrid>
                <a:gridCol w="5334000"/>
                <a:gridCol w="304800"/>
                <a:gridCol w="5334000"/>
              </a:tblGrid>
              <a:tr h="812800">
                <a:tc>
                  <a:txBody>
                    <a:bodyPr>
                      <a:noAutofit/>
                    </a:bodyPr>
                    <a:lstStyle/>
                    <a:p>
                      <a:pPr>
                        <a:lnSpc>
                          <a:spcPct val="125000"/>
                        </a:lnSpc>
                        <a:buNone/>
                      </a:pPr>
                      <a:r>
                        <a:rPr sz="2400" b="1">
                          <a:solidFill>
                            <a:srgbClr val="F948BE"/>
                          </a:solidFill>
                          <a:latin typeface="Helvetica"/>
                          <a:ea typeface="Helvetica"/>
                          <a:cs typeface="Helvetica"/>
                        </a:rPr>
                        <a:t>Deterministic logic</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Model behavior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320800">
                <a:tc>
                  <a:txBody>
                    <a:bodyPr>
                      <a:noAutofit/>
                    </a:bodyPr>
                    <a:lstStyle/>
                    <a:p>
                      <a:pPr>
                        <a:lnSpc>
                          <a:spcPct val="125000"/>
                        </a:lnSpc>
                        <a:buNone/>
                      </a:pPr>
                      <a:r>
                        <a:rPr sz="2400" b="0">
                          <a:solidFill>
                            <a:srgbClr val="FFFCF5"/>
                          </a:solidFill>
                          <a:latin typeface="Helvetica"/>
                          <a:ea typeface="Helvetica"/>
                          <a:cs typeface="Helvetica"/>
                        </a:rPr>
                        <a:t>Explicit rules implemented</a:t>
                      </a:r>
                    </a:p>
                    <a:p>
                      <a:pPr>
                        <a:lnSpc>
                          <a:spcPct val="125000"/>
                        </a:lnSpc>
                        <a:buNone/>
                      </a:pPr>
                      <a:r>
                        <a:rPr sz="2400" b="0">
                          <a:solidFill>
                            <a:srgbClr val="FFFCF5"/>
                          </a:solidFill>
                          <a:latin typeface="Helvetica"/>
                          <a:ea typeface="Helvetica"/>
                          <a:cs typeface="Helvetica"/>
                        </a:rPr>
                        <a:t>in code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0">
                          <a:solidFill>
                            <a:srgbClr val="FFFCF5"/>
                          </a:solidFill>
                          <a:latin typeface="Helvetica"/>
                          <a:ea typeface="Helvetica"/>
                          <a:cs typeface="Helvetica"/>
                        </a:rPr>
                        <a:t>Learned behavior guided</a:t>
                      </a:r>
                    </a:p>
                    <a:p>
                      <a:pPr>
                        <a:lnSpc>
                          <a:spcPct val="125000"/>
                        </a:lnSpc>
                        <a:buNone/>
                      </a:pPr>
                      <a:r>
                        <a:rPr sz="2400" b="0">
                          <a:solidFill>
                            <a:srgbClr val="FFFCF5"/>
                          </a:solidFill>
                          <a:latin typeface="Helvetica"/>
                          <a:ea typeface="Helvetica"/>
                          <a:cs typeface="Helvetica"/>
                        </a:rPr>
                        <a:t>by instructions and context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320800">
                <a:tc>
                  <a:txBody>
                    <a:bodyPr>
                      <a:noAutofit/>
                    </a:bodyPr>
                    <a:lstStyle/>
                    <a:p>
                      <a:pPr>
                        <a:lnSpc>
                          <a:spcPct val="125000"/>
                        </a:lnSpc>
                        <a:buNone/>
                      </a:pPr>
                      <a:r>
                        <a:rPr sz="2400" b="0">
                          <a:solidFill>
                            <a:srgbClr val="FFFCF5"/>
                          </a:solidFill>
                          <a:latin typeface="Helvetica"/>
                          <a:ea typeface="Helvetica"/>
                          <a:cs typeface="Helvetica"/>
                        </a:rPr>
                        <a:t>Same input and state produce</a:t>
                      </a:r>
                    </a:p>
                    <a:p>
                      <a:pPr>
                        <a:lnSpc>
                          <a:spcPct val="125000"/>
                        </a:lnSpc>
                        <a:buNone/>
                      </a:pPr>
                      <a:r>
                        <a:rPr sz="2400" b="0">
                          <a:solidFill>
                            <a:srgbClr val="FFFCF5"/>
                          </a:solidFill>
                          <a:latin typeface="Helvetica"/>
                          <a:ea typeface="Helvetica"/>
                          <a:cs typeface="Helvetica"/>
                        </a:rPr>
                        <a:t>the same result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0">
                          <a:solidFill>
                            <a:srgbClr val="FFFCF5"/>
                          </a:solidFill>
                          <a:latin typeface="Helvetica"/>
                          <a:ea typeface="Helvetica"/>
                          <a:cs typeface="Helvetica"/>
                        </a:rPr>
                        <a:t>Same supplied input can produce</a:t>
                      </a:r>
                    </a:p>
                    <a:p>
                      <a:pPr>
                        <a:lnSpc>
                          <a:spcPct val="125000"/>
                        </a:lnSpc>
                        <a:buNone/>
                      </a:pPr>
                      <a:r>
                        <a:rPr sz="2400" b="0">
                          <a:solidFill>
                            <a:srgbClr val="FFFCF5"/>
                          </a:solidFill>
                          <a:latin typeface="Helvetica"/>
                          <a:ea typeface="Helvetica"/>
                          <a:cs typeface="Helvetica"/>
                        </a:rPr>
                        <a:t>different results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1" name="narrative-number">
            <a:extLst xmlns:a="http://schemas.openxmlformats.org/drawingml/2006/main">
              <a:ext uri="{FF2B5EF4-FFF2-40B4-BE49-F238E27FC236}">
                <a16:creationId xmlns:a16="http://schemas.microsoft.com/office/drawing/2014/main" id="{611A4706-41CA-4375-A17A-7329CDF928F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Tree>
    <p:extLst>
      <p:ext uri="{BB962C8B-B14F-4D97-AF65-F5344CB8AC3E}">
        <p14:creationId xmlns:p14="http://schemas.microsoft.com/office/powerpoint/2010/main" val="342990706"/>
      </p:ext>
    </p:extLst>
  </p:cSld>
</p:sld>
</file>

<file path=ppt/slides/slide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2" name="slide-title">
            <a:extLst xmlns:a="http://schemas.openxmlformats.org/drawingml/2006/main">
              <a:ext uri="{FF2B5EF4-FFF2-40B4-BE49-F238E27FC236}">
                <a16:creationId xmlns:a16="http://schemas.microsoft.com/office/drawing/2014/main" id="{28CE07E4-20FC-4BC8-AF97-5ACE9772FBDE}"/>
              </a:ext>
            </a:extLst>
          </p:cNvPr>
          <p:cNvSpPr>
            <a:spLocks xmlns:a="http://schemas.openxmlformats.org/drawingml/2006/main"/>
          </p:cNvSpPr>
          <p:nvPr/>
        </p:nvSpPr>
        <p:spPr>
          <a:xfrm xmlns:a="http://schemas.openxmlformats.org/drawingml/2006/main">
            <a:off x="609600" y="863600"/>
            <a:ext cx="109728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Reliability with a model in the loop</a:t>
            </a:r>
          </a:p>
        </p:txBody>
      </p:sp>
      <p:sp>
        <p:nvSpPr>
          <p:cNvPr id="43" name="header-divider">
            <a:extLst xmlns:a="http://schemas.openxmlformats.org/drawingml/2006/main">
              <a:ext uri="{FF2B5EF4-FFF2-40B4-BE49-F238E27FC236}">
                <a16:creationId xmlns:a16="http://schemas.microsoft.com/office/drawing/2014/main" id="{9076AA0A-7ACD-4CA4-B9CB-C08684E3A93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4" name="06-text-1">
            <a:extLst xmlns:a="http://schemas.openxmlformats.org/drawingml/2006/main">
              <a:ext uri="{FF2B5EF4-FFF2-40B4-BE49-F238E27FC236}">
                <a16:creationId xmlns:a16="http://schemas.microsoft.com/office/drawing/2014/main" id="{3C370D49-D153-4120-98DC-F7B2A98F44EB}"/>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Correctness</a:t>
            </a:r>
          </a:p>
        </p:txBody>
      </p:sp>
      <p:sp>
        <p:nvSpPr>
          <p:cNvPr id="45" name="06-text-2">
            <a:extLst xmlns:a="http://schemas.openxmlformats.org/drawingml/2006/main">
              <a:ext uri="{FF2B5EF4-FFF2-40B4-BE49-F238E27FC236}">
                <a16:creationId xmlns:a16="http://schemas.microsoft.com/office/drawing/2014/main" id="{22E28601-F75D-47A0-AFC7-7277F9BE26D0}"/>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valid response can still be wrong.</a:t>
            </a:r>
          </a:p>
        </p:txBody>
      </p:sp>
      <p:sp>
        <p:nvSpPr>
          <p:cNvPr id="46" name="06-text-3">
            <a:extLst xmlns:a="http://schemas.openxmlformats.org/drawingml/2006/main">
              <a:ext uri="{FF2B5EF4-FFF2-40B4-BE49-F238E27FC236}">
                <a16:creationId xmlns:a16="http://schemas.microsoft.com/office/drawing/2014/main" id="{EE6261B1-5FC3-4241-8A68-EC41C9A534C8}"/>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Consistency</a:t>
            </a:r>
          </a:p>
        </p:txBody>
      </p:sp>
      <p:sp>
        <p:nvSpPr>
          <p:cNvPr id="47" name="06-text-4">
            <a:extLst xmlns:a="http://schemas.openxmlformats.org/drawingml/2006/main">
              <a:ext uri="{FF2B5EF4-FFF2-40B4-BE49-F238E27FC236}">
                <a16:creationId xmlns:a16="http://schemas.microsoft.com/office/drawing/2014/main" id="{76C8932F-2DF3-4B09-A8D6-80C9F6AC0D96}"/>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One successful run does not</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establish reliability.</a:t>
            </a:r>
          </a:p>
        </p:txBody>
      </p:sp>
      <p:sp>
        <p:nvSpPr>
          <p:cNvPr id="48" name="06-text-5">
            <a:extLst xmlns:a="http://schemas.openxmlformats.org/drawingml/2006/main">
              <a:ext uri="{FF2B5EF4-FFF2-40B4-BE49-F238E27FC236}">
                <a16:creationId xmlns:a16="http://schemas.microsoft.com/office/drawing/2014/main" id="{166211F4-12A3-4276-914B-8A2ED506DCEF}"/>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Actions</a:t>
            </a:r>
          </a:p>
        </p:txBody>
      </p:sp>
      <p:sp>
        <p:nvSpPr>
          <p:cNvPr id="49" name="06-text-6">
            <a:extLst xmlns:a="http://schemas.openxmlformats.org/drawingml/2006/main">
              <a:ext uri="{FF2B5EF4-FFF2-40B4-BE49-F238E27FC236}">
                <a16:creationId xmlns:a16="http://schemas.microsoft.com/office/drawing/2014/main" id="{8557E0C2-E578-499E-9229-11177C502FE6}"/>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Model choices can affect subsequent steps.</a:t>
            </a:r>
          </a:p>
        </p:txBody>
      </p:sp>
      <p:sp>
        <p:nvSpPr>
          <p:cNvPr id="50" name="narrative-number">
            <a:extLst xmlns:a="http://schemas.openxmlformats.org/drawingml/2006/main">
              <a:ext uri="{FF2B5EF4-FFF2-40B4-BE49-F238E27FC236}">
                <a16:creationId xmlns:a16="http://schemas.microsoft.com/office/drawing/2014/main" id="{D7F4BB89-F319-45F2-9356-52A612F0EEA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6</a:t>
            </a:r>
          </a:p>
        </p:txBody>
      </p:sp>
    </p:spTree>
    <p:extLst>
      <p:ext uri="{BB962C8B-B14F-4D97-AF65-F5344CB8AC3E}">
        <p14:creationId xmlns:p14="http://schemas.microsoft.com/office/powerpoint/2010/main" val="3996483567"/>
      </p:ext>
    </p:extLst>
  </p:cSld>
</p:sld>
</file>

<file path=ppt/slides/slide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1" name="slide-title">
            <a:extLst xmlns:a="http://schemas.openxmlformats.org/drawingml/2006/main">
              <a:ext uri="{FF2B5EF4-FFF2-40B4-BE49-F238E27FC236}">
                <a16:creationId xmlns:a16="http://schemas.microsoft.com/office/drawing/2014/main" id="{4FB4A416-3E1B-425B-97D3-450ADC728650}"/>
              </a:ext>
            </a:extLst>
          </p:cNvPr>
          <p:cNvSpPr>
            <a:spLocks xmlns:a="http://schemas.openxmlformats.org/drawingml/2006/main"/>
          </p:cNvSpPr>
          <p:nvPr/>
        </p:nvSpPr>
        <p:spPr>
          <a:xfrm xmlns:a="http://schemas.openxmlformats.org/drawingml/2006/main">
            <a:off x="609600" y="863600"/>
            <a:ext cx="109728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Engineering the system around the model</a:t>
            </a:r>
          </a:p>
        </p:txBody>
      </p:sp>
      <p:sp>
        <p:nvSpPr>
          <p:cNvPr id="52" name="header-divider">
            <a:extLst xmlns:a="http://schemas.openxmlformats.org/drawingml/2006/main">
              <a:ext uri="{FF2B5EF4-FFF2-40B4-BE49-F238E27FC236}">
                <a16:creationId xmlns:a16="http://schemas.microsoft.com/office/drawing/2014/main" id="{925A1A43-3FD4-42A7-9CF3-20C15128708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3" name="07-text-1">
            <a:extLst xmlns:a="http://schemas.openxmlformats.org/drawingml/2006/main">
              <a:ext uri="{FF2B5EF4-FFF2-40B4-BE49-F238E27FC236}">
                <a16:creationId xmlns:a16="http://schemas.microsoft.com/office/drawing/2014/main" id="{4897292B-6FC4-4093-913A-4A45A383E0DB}"/>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Build in determinism</a:t>
            </a:r>
          </a:p>
        </p:txBody>
      </p:sp>
      <p:sp>
        <p:nvSpPr>
          <p:cNvPr id="54" name="07-text-2">
            <a:extLst xmlns:a="http://schemas.openxmlformats.org/drawingml/2006/main">
              <a:ext uri="{FF2B5EF4-FFF2-40B4-BE49-F238E27FC236}">
                <a16:creationId xmlns:a16="http://schemas.microsoft.com/office/drawing/2014/main" id="{4C52C8C9-FDBB-41F9-8417-2705C66D812E}"/>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Explicit logic and required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workflow steps.</a:t>
            </a:r>
          </a:p>
        </p:txBody>
      </p:sp>
      <p:sp>
        <p:nvSpPr>
          <p:cNvPr id="55" name="07-text-3">
            <a:extLst xmlns:a="http://schemas.openxmlformats.org/drawingml/2006/main">
              <a:ext uri="{FF2B5EF4-FFF2-40B4-BE49-F238E27FC236}">
                <a16:creationId xmlns:a16="http://schemas.microsoft.com/office/drawing/2014/main" id="{576E9905-BB4C-4D88-867E-1EBBE52F12A6}"/>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Enforce boundaries</a:t>
            </a:r>
          </a:p>
        </p:txBody>
      </p:sp>
      <p:sp>
        <p:nvSpPr>
          <p:cNvPr id="56" name="07-text-4">
            <a:extLst xmlns:a="http://schemas.openxmlformats.org/drawingml/2006/main">
              <a:ext uri="{FF2B5EF4-FFF2-40B4-BE49-F238E27FC236}">
                <a16:creationId xmlns:a16="http://schemas.microsoft.com/office/drawing/2014/main" id="{1690F1B7-535B-4AA1-8E3D-CE5C13A7042D}"/>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Permissions and execution limits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outside the model.</a:t>
            </a:r>
          </a:p>
        </p:txBody>
      </p:sp>
      <p:sp>
        <p:nvSpPr>
          <p:cNvPr id="57" name="07-text-5">
            <a:extLst xmlns:a="http://schemas.openxmlformats.org/drawingml/2006/main">
              <a:ext uri="{FF2B5EF4-FFF2-40B4-BE49-F238E27FC236}">
                <a16:creationId xmlns:a16="http://schemas.microsoft.com/office/drawing/2014/main" id="{8C6C29FE-D7DD-4EDB-898B-A102078EF5CB}"/>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Evaluate behavior</a:t>
            </a:r>
          </a:p>
        </p:txBody>
      </p:sp>
      <p:sp>
        <p:nvSpPr>
          <p:cNvPr id="58" name="07-text-6">
            <a:extLst xmlns:a="http://schemas.openxmlformats.org/drawingml/2006/main">
              <a:ext uri="{FF2B5EF4-FFF2-40B4-BE49-F238E27FC236}">
                <a16:creationId xmlns:a16="http://schemas.microsoft.com/office/drawing/2014/main" id="{5A5DB7CC-1634-4822-983C-2E03D193CC9A}"/>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Outcomes across cases, repeated runs,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production use.</a:t>
            </a:r>
          </a:p>
        </p:txBody>
      </p:sp>
      <p:sp>
        <p:nvSpPr>
          <p:cNvPr id="59" name="narrative-number">
            <a:extLst xmlns:a="http://schemas.openxmlformats.org/drawingml/2006/main">
              <a:ext uri="{FF2B5EF4-FFF2-40B4-BE49-F238E27FC236}">
                <a16:creationId xmlns:a16="http://schemas.microsoft.com/office/drawing/2014/main" id="{0AA13DAE-7923-4FC4-BF68-5D7A5A5737C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113934943"/>
      </p:ext>
    </p:extLst>
  </p:cSld>
</p:sld>
</file>

<file path=ppt/slides/slide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60" name="section-label">
            <a:extLst xmlns:a="http://schemas.openxmlformats.org/drawingml/2006/main">
              <a:ext uri="{FF2B5EF4-FFF2-40B4-BE49-F238E27FC236}">
                <a16:creationId xmlns:a16="http://schemas.microsoft.com/office/drawing/2014/main" id="{7E666189-E3C2-4DDB-B78A-6AF6A17632E9}"/>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2</a:t>
            </a:r>
          </a:p>
        </p:txBody>
      </p:sp>
      <p:sp>
        <p:nvSpPr>
          <p:cNvPr id="61" name="section-rule">
            <a:extLst xmlns:a="http://schemas.openxmlformats.org/drawingml/2006/main">
              <a:ext uri="{FF2B5EF4-FFF2-40B4-BE49-F238E27FC236}">
                <a16:creationId xmlns:a16="http://schemas.microsoft.com/office/drawing/2014/main" id="{21F94945-79CB-458E-89A4-EBACEECF4C9B}"/>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62" name="section-title">
            <a:extLst xmlns:a="http://schemas.openxmlformats.org/drawingml/2006/main">
              <a:ext uri="{FF2B5EF4-FFF2-40B4-BE49-F238E27FC236}">
                <a16:creationId xmlns:a16="http://schemas.microsoft.com/office/drawing/2014/main" id="{3CC6977D-9B35-4570-8EE2-CD0D50CEF2A7}"/>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AI engineers</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actually engineer</a:t>
            </a:r>
          </a:p>
        </p:txBody>
      </p:sp>
      <p:sp>
        <p:nvSpPr>
          <p:cNvPr id="63" name="narrative-number">
            <a:extLst xmlns:a="http://schemas.openxmlformats.org/drawingml/2006/main">
              <a:ext uri="{FF2B5EF4-FFF2-40B4-BE49-F238E27FC236}">
                <a16:creationId xmlns:a16="http://schemas.microsoft.com/office/drawing/2014/main" id="{9BE31D1B-8DA6-4D3F-9AB3-75BA8D737F9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8</a:t>
            </a:r>
          </a:p>
        </p:txBody>
      </p:sp>
    </p:spTree>
    <p:extLst>
      <p:ext uri="{BB962C8B-B14F-4D97-AF65-F5344CB8AC3E}">
        <p14:creationId xmlns:p14="http://schemas.microsoft.com/office/powerpoint/2010/main" val="1835708138"/>
      </p:ext>
    </p:extLst>
  </p:cSld>
</p:sld>
</file>

<file path=ppt/slides/slide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6" name="09-image-1"/>
          <p:cNvPicPr>
            <a:picLocks xmlns:a="http://schemas.openxmlformats.org/drawingml/2006/main" noChangeAspect="1"/>
          </p:cNvPicPr>
          <p:nvPr/>
        </p:nvPicPr>
        <p:blipFill>
          <a:blip xmlns:r="http://schemas.openxmlformats.org/officeDocument/2006/relationships" xmlns:a="http://schemas.openxmlformats.org/drawingml/2006/main" r:embed="R5ff4b3a860684dd4"/>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5" name="narrative-number">
            <a:extLst xmlns:a="http://schemas.openxmlformats.org/drawingml/2006/main">
              <a:ext uri="{FF2B5EF4-FFF2-40B4-BE49-F238E27FC236}">
                <a16:creationId xmlns:a16="http://schemas.microsoft.com/office/drawing/2014/main" id="{84F09867-36A5-4550-88E7-319F4696B6F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69713013"/>
      </p:ext>
    </p:extLst>
  </p:cSld>
</p:sld>
</file>

<file path=ppt/slides/slide1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8" name="09-image-2"/>
          <p:cNvPicPr>
            <a:picLocks xmlns:a="http://schemas.openxmlformats.org/drawingml/2006/main" noChangeAspect="1"/>
          </p:cNvPicPr>
          <p:nvPr/>
        </p:nvPicPr>
        <p:blipFill>
          <a:blip xmlns:r="http://schemas.openxmlformats.org/officeDocument/2006/relationships" xmlns:a="http://schemas.openxmlformats.org/drawingml/2006/main" r:embed="R864b3ffdd0da498a"/>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7" name="narrative-number">
            <a:extLst xmlns:a="http://schemas.openxmlformats.org/drawingml/2006/main">
              <a:ext uri="{FF2B5EF4-FFF2-40B4-BE49-F238E27FC236}">
                <a16:creationId xmlns:a16="http://schemas.microsoft.com/office/drawing/2014/main" id="{07626100-4546-44FB-91D1-DBF04CC4139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5370637"/>
      </p:ext>
    </p:extLst>
  </p:cSld>
</p:sld>
</file>

<file path=ppt/slides/slide1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0" name="09-image-3"/>
          <p:cNvPicPr>
            <a:picLocks xmlns:a="http://schemas.openxmlformats.org/drawingml/2006/main" noChangeAspect="1"/>
          </p:cNvPicPr>
          <p:nvPr/>
        </p:nvPicPr>
        <p:blipFill>
          <a:blip xmlns:r="http://schemas.openxmlformats.org/officeDocument/2006/relationships" xmlns:a="http://schemas.openxmlformats.org/drawingml/2006/main" r:embed="R0d87a70703ed4dac"/>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9" name="narrative-number">
            <a:extLst xmlns:a="http://schemas.openxmlformats.org/drawingml/2006/main">
              <a:ext uri="{FF2B5EF4-FFF2-40B4-BE49-F238E27FC236}">
                <a16:creationId xmlns:a16="http://schemas.microsoft.com/office/drawing/2014/main" id="{E320CEB7-8E16-443F-9AC4-E3A30F77AEF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3947029184"/>
      </p:ext>
    </p:extLst>
  </p:cSld>
</p:sld>
</file>

<file path=ppt/slides/slide1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2" name="09-image-4"/>
          <p:cNvPicPr>
            <a:picLocks xmlns:a="http://schemas.openxmlformats.org/drawingml/2006/main" noChangeAspect="1"/>
          </p:cNvPicPr>
          <p:nvPr/>
        </p:nvPicPr>
        <p:blipFill>
          <a:blip xmlns:r="http://schemas.openxmlformats.org/officeDocument/2006/relationships" xmlns:a="http://schemas.openxmlformats.org/drawingml/2006/main" r:embed="R6f52971fb2784791"/>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71" name="narrative-number">
            <a:extLst xmlns:a="http://schemas.openxmlformats.org/drawingml/2006/main">
              <a:ext uri="{FF2B5EF4-FFF2-40B4-BE49-F238E27FC236}">
                <a16:creationId xmlns:a16="http://schemas.microsoft.com/office/drawing/2014/main" id="{E0B0AE08-7315-4372-93E5-83D28AA92DD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690420383"/>
      </p:ext>
    </p:extLst>
  </p:cSld>
</p:sld>
</file>

<file path=ppt/slides/slide1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4" name="09-image-5"/>
          <p:cNvPicPr>
            <a:picLocks xmlns:a="http://schemas.openxmlformats.org/drawingml/2006/main" noChangeAspect="1"/>
          </p:cNvPicPr>
          <p:nvPr/>
        </p:nvPicPr>
        <p:blipFill>
          <a:blip xmlns:r="http://schemas.openxmlformats.org/officeDocument/2006/relationships" xmlns:a="http://schemas.openxmlformats.org/drawingml/2006/main" r:embed="Rf8526d06230249e6"/>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73" name="narrative-number">
            <a:extLst xmlns:a="http://schemas.openxmlformats.org/drawingml/2006/main">
              <a:ext uri="{FF2B5EF4-FFF2-40B4-BE49-F238E27FC236}">
                <a16:creationId xmlns:a16="http://schemas.microsoft.com/office/drawing/2014/main" id="{721BBED6-08BC-4546-B054-F245DCDAEC1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698444221"/>
      </p:ext>
    </p:extLst>
  </p:cSld>
</p:sld>
</file>

<file path=ppt/slides/slide1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6" name="09-image-6"/>
          <p:cNvPicPr>
            <a:picLocks xmlns:a="http://schemas.openxmlformats.org/drawingml/2006/main" noChangeAspect="1"/>
          </p:cNvPicPr>
          <p:nvPr/>
        </p:nvPicPr>
        <p:blipFill>
          <a:blip xmlns:r="http://schemas.openxmlformats.org/officeDocument/2006/relationships" xmlns:a="http://schemas.openxmlformats.org/drawingml/2006/main" r:embed="R7abc022e89b447fa"/>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75" name="narrative-number">
            <a:extLst xmlns:a="http://schemas.openxmlformats.org/drawingml/2006/main">
              <a:ext uri="{FF2B5EF4-FFF2-40B4-BE49-F238E27FC236}">
                <a16:creationId xmlns:a16="http://schemas.microsoft.com/office/drawing/2014/main" id="{13F3F15E-3767-4A1F-885D-D3CE23ABFF3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793161492"/>
      </p:ext>
    </p:extLst>
  </p:cSld>
</p:sld>
</file>

<file path=ppt/slides/slide1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76" name="!!area-name">
            <a:extLst xmlns:a="http://schemas.openxmlformats.org/drawingml/2006/main">
              <a:ext uri="{FF2B5EF4-FFF2-40B4-BE49-F238E27FC236}">
                <a16:creationId xmlns:a16="http://schemas.microsoft.com/office/drawing/2014/main" id="{59967074-D8BC-4EDC-A61F-EAF7708A5C7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ADACA9"/>
                </a:solidFill>
                <a:latin typeface="Helvetica"/>
                <a:ea typeface="Helvetica"/>
                <a:cs typeface="Helvetica"/>
              </a:rPr>
              <a:t>Section 2</a:t>
            </a:r>
            <a:r>
              <a:rPr b="0">
                <a:solidFill>
                  <a:srgbClr val="ADACA9"/>
                </a:solidFill>
                <a:latin typeface="Helvetica"/>
                <a:ea typeface="Helvetica"/>
                <a:cs typeface="Helvetica"/>
              </a:rPr>
              <a:t> · Orientation</a:t>
            </a:r>
          </a:p>
        </p:txBody>
      </p:sp>
      <p:pic>
        <p:nvPicPr>
          <p:cNvPr id="97" name="mini-map"/>
          <p:cNvPicPr>
            <a:picLocks xmlns:a="http://schemas.openxmlformats.org/drawingml/2006/main" noChangeAspect="1"/>
          </p:cNvPicPr>
          <p:nvPr/>
        </p:nvPicPr>
        <p:blipFill>
          <a:blip xmlns:r="http://schemas.openxmlformats.org/officeDocument/2006/relationships" xmlns:a="http://schemas.openxmlformats.org/drawingml/2006/main" r:embed="Rd2604ddc2116477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78" name="slide-title">
            <a:extLst xmlns:a="http://schemas.openxmlformats.org/drawingml/2006/main">
              <a:ext uri="{FF2B5EF4-FFF2-40B4-BE49-F238E27FC236}">
                <a16:creationId xmlns:a16="http://schemas.microsoft.com/office/drawing/2014/main" id="{B9671E2E-FC64-410D-8360-ED0B87EE2D5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How we'll explore the six areas</a:t>
            </a:r>
          </a:p>
        </p:txBody>
      </p:sp>
      <p:sp>
        <p:nvSpPr>
          <p:cNvPr id="79" name="header-divider">
            <a:extLst xmlns:a="http://schemas.openxmlformats.org/drawingml/2006/main">
              <a:ext uri="{FF2B5EF4-FFF2-40B4-BE49-F238E27FC236}">
                <a16:creationId xmlns:a16="http://schemas.microsoft.com/office/drawing/2014/main" id="{C4E8CFD2-4AA8-4745-B362-87C1C0A4E21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80" name="10-text-1">
            <a:extLst xmlns:a="http://schemas.openxmlformats.org/drawingml/2006/main">
              <a:ext uri="{FF2B5EF4-FFF2-40B4-BE49-F238E27FC236}">
                <a16:creationId xmlns:a16="http://schemas.microsoft.com/office/drawing/2014/main" id="{4719402C-EDC9-46F2-A2AA-331EC1374769}"/>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In each area</a:t>
            </a:r>
          </a:p>
        </p:txBody>
      </p:sp>
      <p:sp>
        <p:nvSpPr>
          <p:cNvPr id="81" name="10-text-2">
            <a:extLst xmlns:a="http://schemas.openxmlformats.org/drawingml/2006/main">
              <a:ext uri="{FF2B5EF4-FFF2-40B4-BE49-F238E27FC236}">
                <a16:creationId xmlns:a16="http://schemas.microsoft.com/office/drawing/2014/main" id="{12CE0E1D-1BA3-4BD7-900A-54AB1879146F}"/>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One example throughout</a:t>
            </a:r>
          </a:p>
        </p:txBody>
      </p:sp>
      <p:sp>
        <p:nvSpPr>
          <p:cNvPr id="82" name="10-text-3">
            <a:extLst xmlns:a="http://schemas.openxmlformats.org/drawingml/2006/main">
              <a:ext uri="{FF2B5EF4-FFF2-40B4-BE49-F238E27FC236}">
                <a16:creationId xmlns:a16="http://schemas.microsoft.com/office/drawing/2014/main" id="{E8A8B0D1-C9FD-49D5-9F5D-EBE33FD5B9F6}"/>
              </a:ext>
            </a:extLst>
          </p:cNvPr>
          <p:cNvSpPr>
            <a:spLocks xmlns:a="http://schemas.openxmlformats.org/drawingml/2006/main"/>
          </p:cNvSpPr>
          <p:nvPr/>
        </p:nvSpPr>
        <p:spPr>
          <a:xfrm xmlns:a="http://schemas.openxmlformats.org/drawingml/2006/main">
            <a:off x="609600" y="29718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83" name="10-text-4">
            <a:extLst xmlns:a="http://schemas.openxmlformats.org/drawingml/2006/main">
              <a:ext uri="{FF2B5EF4-FFF2-40B4-BE49-F238E27FC236}">
                <a16:creationId xmlns:a16="http://schemas.microsoft.com/office/drawing/2014/main" id="{6E4F6216-6C1D-4A49-8F8C-E8979ACD78DB}"/>
              </a:ext>
            </a:extLst>
          </p:cNvPr>
          <p:cNvSpPr>
            <a:spLocks xmlns:a="http://schemas.openxmlformats.org/drawingml/2006/main"/>
          </p:cNvSpPr>
          <p:nvPr/>
        </p:nvSpPr>
        <p:spPr>
          <a:xfrm xmlns:a="http://schemas.openxmlformats.org/drawingml/2006/main">
            <a:off x="1066800" y="29718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Opening perspective</a:t>
            </a:r>
          </a:p>
        </p:txBody>
      </p:sp>
      <p:sp>
        <p:nvSpPr>
          <p:cNvPr id="84" name="10-text-5">
            <a:extLst xmlns:a="http://schemas.openxmlformats.org/drawingml/2006/main">
              <a:ext uri="{FF2B5EF4-FFF2-40B4-BE49-F238E27FC236}">
                <a16:creationId xmlns:a16="http://schemas.microsoft.com/office/drawing/2014/main" id="{5DD18A3F-176B-484B-98DF-3FEB12788570}"/>
              </a:ext>
            </a:extLst>
          </p:cNvPr>
          <p:cNvSpPr>
            <a:spLocks xmlns:a="http://schemas.openxmlformats.org/drawingml/2006/main"/>
          </p:cNvSpPr>
          <p:nvPr/>
        </p:nvSpPr>
        <p:spPr>
          <a:xfrm xmlns:a="http://schemas.openxmlformats.org/drawingml/2006/main">
            <a:off x="609600" y="34798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85" name="10-text-6">
            <a:extLst xmlns:a="http://schemas.openxmlformats.org/drawingml/2006/main">
              <a:ext uri="{FF2B5EF4-FFF2-40B4-BE49-F238E27FC236}">
                <a16:creationId xmlns:a16="http://schemas.microsoft.com/office/drawing/2014/main" id="{2A270F20-32A9-4B95-B0B2-92D6CC3CB791}"/>
              </a:ext>
            </a:extLst>
          </p:cNvPr>
          <p:cNvSpPr>
            <a:spLocks xmlns:a="http://schemas.openxmlformats.org/drawingml/2006/main"/>
          </p:cNvSpPr>
          <p:nvPr/>
        </p:nvSpPr>
        <p:spPr>
          <a:xfrm xmlns:a="http://schemas.openxmlformats.org/drawingml/2006/main">
            <a:off x="1066800" y="3479800"/>
            <a:ext cx="4876800" cy="69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Foundations: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what it is and why it matters</a:t>
            </a:r>
          </a:p>
        </p:txBody>
      </p:sp>
      <p:sp>
        <p:nvSpPr>
          <p:cNvPr id="86" name="10-text-7">
            <a:extLst xmlns:a="http://schemas.openxmlformats.org/drawingml/2006/main">
              <a:ext uri="{FF2B5EF4-FFF2-40B4-BE49-F238E27FC236}">
                <a16:creationId xmlns:a16="http://schemas.microsoft.com/office/drawing/2014/main" id="{8F3C12ED-92E8-4271-9EDC-9D743F8B712B}"/>
              </a:ext>
            </a:extLst>
          </p:cNvPr>
          <p:cNvSpPr>
            <a:spLocks xmlns:a="http://schemas.openxmlformats.org/drawingml/2006/main"/>
          </p:cNvSpPr>
          <p:nvPr/>
        </p:nvSpPr>
        <p:spPr>
          <a:xfrm xmlns:a="http://schemas.openxmlformats.org/drawingml/2006/main">
            <a:off x="609600" y="43053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87" name="10-text-8">
            <a:extLst xmlns:a="http://schemas.openxmlformats.org/drawingml/2006/main">
              <a:ext uri="{FF2B5EF4-FFF2-40B4-BE49-F238E27FC236}">
                <a16:creationId xmlns:a16="http://schemas.microsoft.com/office/drawing/2014/main" id="{780E8ED7-33CE-4890-84DB-C65937471A99}"/>
              </a:ext>
            </a:extLst>
          </p:cNvPr>
          <p:cNvSpPr>
            <a:spLocks xmlns:a="http://schemas.openxmlformats.org/drawingml/2006/main"/>
          </p:cNvSpPr>
          <p:nvPr/>
        </p:nvSpPr>
        <p:spPr>
          <a:xfrm xmlns:a="http://schemas.openxmlformats.org/drawingml/2006/main">
            <a:off x="1066800" y="43053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Decisions and trade-offs</a:t>
            </a:r>
          </a:p>
        </p:txBody>
      </p:sp>
      <p:sp>
        <p:nvSpPr>
          <p:cNvPr id="88" name="10-text-9">
            <a:extLst xmlns:a="http://schemas.openxmlformats.org/drawingml/2006/main">
              <a:ext uri="{FF2B5EF4-FFF2-40B4-BE49-F238E27FC236}">
                <a16:creationId xmlns:a16="http://schemas.microsoft.com/office/drawing/2014/main" id="{3EABED21-235E-4586-BB09-D3DF4C931F0D}"/>
              </a:ext>
            </a:extLst>
          </p:cNvPr>
          <p:cNvSpPr>
            <a:spLocks xmlns:a="http://schemas.openxmlformats.org/drawingml/2006/main"/>
          </p:cNvSpPr>
          <p:nvPr/>
        </p:nvSpPr>
        <p:spPr>
          <a:xfrm xmlns:a="http://schemas.openxmlformats.org/drawingml/2006/main">
            <a:off x="609600" y="48133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89" name="10-text-10">
            <a:extLst xmlns:a="http://schemas.openxmlformats.org/drawingml/2006/main">
              <a:ext uri="{FF2B5EF4-FFF2-40B4-BE49-F238E27FC236}">
                <a16:creationId xmlns:a16="http://schemas.microsoft.com/office/drawing/2014/main" id="{49EE7ED8-B1C4-41A6-8C11-FF7D2125B058}"/>
              </a:ext>
            </a:extLst>
          </p:cNvPr>
          <p:cNvSpPr>
            <a:spLocks xmlns:a="http://schemas.openxmlformats.org/drawingml/2006/main"/>
          </p:cNvSpPr>
          <p:nvPr/>
        </p:nvSpPr>
        <p:spPr>
          <a:xfrm xmlns:a="http://schemas.openxmlformats.org/drawingml/2006/main">
            <a:off x="1066800" y="48133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Challenges and pitfalls</a:t>
            </a:r>
          </a:p>
        </p:txBody>
      </p:sp>
      <p:sp>
        <p:nvSpPr>
          <p:cNvPr id="90" name="10-text-11">
            <a:extLst xmlns:a="http://schemas.openxmlformats.org/drawingml/2006/main">
              <a:ext uri="{FF2B5EF4-FFF2-40B4-BE49-F238E27FC236}">
                <a16:creationId xmlns:a16="http://schemas.microsoft.com/office/drawing/2014/main" id="{8B03E164-C438-4D8C-A428-3D2825C3D3CF}"/>
              </a:ext>
            </a:extLst>
          </p:cNvPr>
          <p:cNvSpPr>
            <a:spLocks xmlns:a="http://schemas.openxmlformats.org/drawingml/2006/main"/>
          </p:cNvSpPr>
          <p:nvPr/>
        </p:nvSpPr>
        <p:spPr>
          <a:xfrm xmlns:a="http://schemas.openxmlformats.org/drawingml/2006/main">
            <a:off x="609600" y="53213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
        <p:nvSpPr>
          <p:cNvPr id="91" name="10-text-12">
            <a:extLst xmlns:a="http://schemas.openxmlformats.org/drawingml/2006/main">
              <a:ext uri="{FF2B5EF4-FFF2-40B4-BE49-F238E27FC236}">
                <a16:creationId xmlns:a16="http://schemas.microsoft.com/office/drawing/2014/main" id="{BCB37702-BA3D-4BF5-BCA6-96CA54A3F31B}"/>
              </a:ext>
            </a:extLst>
          </p:cNvPr>
          <p:cNvSpPr>
            <a:spLocks xmlns:a="http://schemas.openxmlformats.org/drawingml/2006/main"/>
          </p:cNvSpPr>
          <p:nvPr/>
        </p:nvSpPr>
        <p:spPr>
          <a:xfrm xmlns:a="http://schemas.openxmlformats.org/drawingml/2006/main">
            <a:off x="1066800" y="53213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FRB application</a:t>
            </a:r>
          </a:p>
        </p:txBody>
      </p:sp>
      <p:sp>
        <p:nvSpPr>
          <p:cNvPr id="92" name="10-text-13">
            <a:extLst xmlns:a="http://schemas.openxmlformats.org/drawingml/2006/main">
              <a:ext uri="{FF2B5EF4-FFF2-40B4-BE49-F238E27FC236}">
                <a16:creationId xmlns:a16="http://schemas.microsoft.com/office/drawing/2014/main" id="{B9AAD677-0167-4F09-B773-66BAA43147DE}"/>
              </a:ext>
            </a:extLst>
          </p:cNvPr>
          <p:cNvSpPr>
            <a:spLocks xmlns:a="http://schemas.openxmlformats.org/drawingml/2006/main"/>
          </p:cNvSpPr>
          <p:nvPr/>
        </p:nvSpPr>
        <p:spPr>
          <a:xfrm xmlns:a="http://schemas.openxmlformats.org/drawingml/2006/main">
            <a:off x="6248400" y="2971800"/>
            <a:ext cx="5334000" cy="69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Failure Review Board (FRB)</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research</a:t>
            </a:r>
          </a:p>
        </p:txBody>
      </p:sp>
      <p:sp>
        <p:nvSpPr>
          <p:cNvPr id="93" name="10-text-14">
            <a:extLst xmlns:a="http://schemas.openxmlformats.org/drawingml/2006/main">
              <a:ext uri="{FF2B5EF4-FFF2-40B4-BE49-F238E27FC236}">
                <a16:creationId xmlns:a16="http://schemas.microsoft.com/office/drawing/2014/main" id="{91215024-5A3E-4832-AE15-60A4BD416639}"/>
              </a:ext>
            </a:extLst>
          </p:cNvPr>
          <p:cNvSpPr>
            <a:spLocks xmlns:a="http://schemas.openxmlformats.org/drawingml/2006/main"/>
          </p:cNvSpPr>
          <p:nvPr/>
        </p:nvSpPr>
        <p:spPr>
          <a:xfrm xmlns:a="http://schemas.openxmlformats.org/drawingml/2006/main">
            <a:off x="6248400" y="3924300"/>
            <a:ext cx="5334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“Summarize a pump shutdown review,</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compare related cases, and export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cited brief.”</a:t>
            </a:r>
          </a:p>
        </p:txBody>
      </p:sp>
      <p:sp>
        <p:nvSpPr>
          <p:cNvPr id="94" name="10-text-15">
            <a:extLst xmlns:a="http://schemas.openxmlformats.org/drawingml/2006/main">
              <a:ext uri="{FF2B5EF4-FFF2-40B4-BE49-F238E27FC236}">
                <a16:creationId xmlns:a16="http://schemas.microsoft.com/office/drawing/2014/main" id="{2F976E3E-B18B-4342-8F8B-94E3D41C72C3}"/>
              </a:ext>
            </a:extLst>
          </p:cNvPr>
          <p:cNvSpPr>
            <a:spLocks xmlns:a="http://schemas.openxmlformats.org/drawingml/2006/main"/>
          </p:cNvSpPr>
          <p:nvPr/>
        </p:nvSpPr>
        <p:spPr>
          <a:xfrm xmlns:a="http://schemas.openxmlformats.org/drawingml/2006/main">
            <a:off x="6248400" y="5346700"/>
            <a:ext cx="5334000" cy="69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Illustrative example. People retain</a:t>
            </a:r>
          </a:p>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official decision authority.</a:t>
            </a:r>
          </a:p>
        </p:txBody>
      </p:sp>
      <p:sp>
        <p:nvSpPr>
          <p:cNvPr id="95" name="narrative-number">
            <a:extLst xmlns:a="http://schemas.openxmlformats.org/drawingml/2006/main">
              <a:ext uri="{FF2B5EF4-FFF2-40B4-BE49-F238E27FC236}">
                <a16:creationId xmlns:a16="http://schemas.microsoft.com/office/drawing/2014/main" id="{C025A511-03F0-4A62-940A-CE5EED141E7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10</a:t>
            </a:r>
          </a:p>
        </p:txBody>
      </p:sp>
    </p:spTree>
    <p:extLst>
      <p:ext uri="{BB962C8B-B14F-4D97-AF65-F5344CB8AC3E}">
        <p14:creationId xmlns:p14="http://schemas.microsoft.com/office/powerpoint/2010/main" val="4240303254"/>
      </p:ext>
    </p:extLst>
  </p:cSld>
</p:sld>
</file>

<file path=ppt/slides/slide1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96" name="!!area-name">
            <a:extLst xmlns:a="http://schemas.openxmlformats.org/drawingml/2006/main">
              <a:ext uri="{FF2B5EF4-FFF2-40B4-BE49-F238E27FC236}">
                <a16:creationId xmlns:a16="http://schemas.microsoft.com/office/drawing/2014/main" id="{B76BDF50-72FB-469A-AB27-A174B827B3A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Perspective</a:t>
            </a:r>
          </a:p>
        </p:txBody>
      </p:sp>
      <p:pic>
        <p:nvPicPr>
          <p:cNvPr id="105" name="mini-map"/>
          <p:cNvPicPr>
            <a:picLocks xmlns:a="http://schemas.openxmlformats.org/drawingml/2006/main" noChangeAspect="1"/>
          </p:cNvPicPr>
          <p:nvPr/>
        </p:nvPicPr>
        <p:blipFill>
          <a:blip xmlns:r="http://schemas.openxmlformats.org/officeDocument/2006/relationships" xmlns:a="http://schemas.openxmlformats.org/drawingml/2006/main" r:embed="Rb4a4f9afe54b4bf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98" name="header-divider">
            <a:extLst xmlns:a="http://schemas.openxmlformats.org/drawingml/2006/main">
              <a:ext uri="{FF2B5EF4-FFF2-40B4-BE49-F238E27FC236}">
                <a16:creationId xmlns:a16="http://schemas.microsoft.com/office/drawing/2014/main" id="{99D63127-E131-4037-A0D5-30FDEC3081D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99" name="11-text-1">
            <a:extLst xmlns:a="http://schemas.openxmlformats.org/drawingml/2006/main">
              <a:ext uri="{FF2B5EF4-FFF2-40B4-BE49-F238E27FC236}">
                <a16:creationId xmlns:a16="http://schemas.microsoft.com/office/drawing/2014/main" id="{E63F25B9-B671-4D67-8B9D-AA05334A83FA}"/>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 decent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harness beats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bad harness.”</a:t>
            </a:r>
          </a:p>
        </p:txBody>
      </p:sp>
      <p:sp>
        <p:nvSpPr>
          <p:cNvPr id="100" name="11-text-2">
            <a:extLst xmlns:a="http://schemas.openxmlformats.org/drawingml/2006/main">
              <a:ext uri="{FF2B5EF4-FFF2-40B4-BE49-F238E27FC236}">
                <a16:creationId xmlns:a16="http://schemas.microsoft.com/office/drawing/2014/main" id="{24834033-DB1E-4B66-8279-7F6D1EE8F772}"/>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Addy Osmani</a:t>
            </a:r>
          </a:p>
        </p:txBody>
      </p:sp>
      <p:sp>
        <p:nvSpPr>
          <p:cNvPr id="101" name="11-text-3">
            <a:extLst xmlns:a="http://schemas.openxmlformats.org/drawingml/2006/main">
              <a:ext uri="{FF2B5EF4-FFF2-40B4-BE49-F238E27FC236}">
                <a16:creationId xmlns:a16="http://schemas.microsoft.com/office/drawing/2014/main" id="{4D22641C-4CAE-4A92-87C2-2062EFFA9638}"/>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Agent Harness Engineering, April 2026</a:t>
            </a:r>
          </a:p>
        </p:txBody>
      </p:sp>
      <p:pic>
        <p:nvPicPr>
          <p:cNvPr id="110" name="11-image-4"/>
          <p:cNvPicPr>
            <a:picLocks xmlns:a="http://schemas.openxmlformats.org/drawingml/2006/main" noChangeAspect="1"/>
          </p:cNvPicPr>
          <p:nvPr/>
        </p:nvPicPr>
        <p:blipFill>
          <a:blip xmlns:r="http://schemas.openxmlformats.org/officeDocument/2006/relationships" xmlns:a="http://schemas.openxmlformats.org/drawingml/2006/main" r:embed="R3473ca41dbc141cb"/>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103" name="narrative-number">
            <a:extLst xmlns:a="http://schemas.openxmlformats.org/drawingml/2006/main">
              <a:ext uri="{FF2B5EF4-FFF2-40B4-BE49-F238E27FC236}">
                <a16:creationId xmlns:a16="http://schemas.microsoft.com/office/drawing/2014/main" id="{E529FCAB-6B46-4C71-90B2-22DD6B63146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11</a:t>
            </a:r>
          </a:p>
        </p:txBody>
      </p:sp>
    </p:spTree>
    <p:extLst>
      <p:ext uri="{BB962C8B-B14F-4D97-AF65-F5344CB8AC3E}">
        <p14:creationId xmlns:p14="http://schemas.microsoft.com/office/powerpoint/2010/main" val="4082490098"/>
      </p:ext>
    </p:extLst>
  </p:cSld>
</p:sld>
</file>

<file path=ppt/slides/slide1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04" name="!!area-name">
            <a:extLst xmlns:a="http://schemas.openxmlformats.org/drawingml/2006/main">
              <a:ext uri="{FF2B5EF4-FFF2-40B4-BE49-F238E27FC236}">
                <a16:creationId xmlns:a16="http://schemas.microsoft.com/office/drawing/2014/main" id="{836F1977-891D-4C98-8FD5-8B79E2074E5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Foundations</a:t>
            </a:r>
          </a:p>
        </p:txBody>
      </p:sp>
      <p:pic>
        <p:nvPicPr>
          <p:cNvPr id="125" name="mini-map"/>
          <p:cNvPicPr>
            <a:picLocks xmlns:a="http://schemas.openxmlformats.org/drawingml/2006/main" noChangeAspect="1"/>
          </p:cNvPicPr>
          <p:nvPr/>
        </p:nvPicPr>
        <p:blipFill>
          <a:blip xmlns:r="http://schemas.openxmlformats.org/officeDocument/2006/relationships" xmlns:a="http://schemas.openxmlformats.org/drawingml/2006/main" r:embed="Rc7561f00fc434b4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06" name="slide-title">
            <a:extLst xmlns:a="http://schemas.openxmlformats.org/drawingml/2006/main">
              <a:ext uri="{FF2B5EF4-FFF2-40B4-BE49-F238E27FC236}">
                <a16:creationId xmlns:a16="http://schemas.microsoft.com/office/drawing/2014/main" id="{70BBE40F-9DC0-4578-A5D5-ADBCF303E1C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model invocation</a:t>
            </a:r>
          </a:p>
        </p:txBody>
      </p:sp>
      <p:sp>
        <p:nvSpPr>
          <p:cNvPr id="107" name="header-divider">
            <a:extLst xmlns:a="http://schemas.openxmlformats.org/drawingml/2006/main">
              <a:ext uri="{FF2B5EF4-FFF2-40B4-BE49-F238E27FC236}">
                <a16:creationId xmlns:a16="http://schemas.microsoft.com/office/drawing/2014/main" id="{230A3663-32A8-434D-B0E0-1AD55DF642B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08" name="12-text-1">
            <a:extLst xmlns:a="http://schemas.openxmlformats.org/drawingml/2006/main">
              <a:ext uri="{FF2B5EF4-FFF2-40B4-BE49-F238E27FC236}">
                <a16:creationId xmlns:a16="http://schemas.microsoft.com/office/drawing/2014/main" id="{B876E907-6104-470E-BBCC-D72ED0FBF8F1}"/>
              </a:ext>
            </a:extLst>
          </p:cNvPr>
          <p:cNvSpPr>
            <a:spLocks xmlns:a="http://schemas.openxmlformats.org/drawingml/2006/main"/>
          </p:cNvSpPr>
          <p:nvPr/>
        </p:nvSpPr>
        <p:spPr>
          <a:xfrm xmlns:a="http://schemas.openxmlformats.org/drawingml/2006/main">
            <a:off x="6096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Supplied input</a:t>
            </a:r>
          </a:p>
        </p:txBody>
      </p:sp>
      <p:sp>
        <p:nvSpPr>
          <p:cNvPr id="109" name="12-text-2">
            <a:extLst xmlns:a="http://schemas.openxmlformats.org/drawingml/2006/main">
              <a:ext uri="{FF2B5EF4-FFF2-40B4-BE49-F238E27FC236}">
                <a16:creationId xmlns:a16="http://schemas.microsoft.com/office/drawing/2014/main" id="{364FCCFA-1BFC-4D47-A0FF-BC1E60940F1E}"/>
              </a:ext>
            </a:extLst>
          </p:cNvPr>
          <p:cNvSpPr>
            <a:spLocks xmlns:a="http://schemas.openxmlformats.org/drawingml/2006/main"/>
          </p:cNvSpPr>
          <p:nvPr/>
        </p:nvSpPr>
        <p:spPr>
          <a:xfrm xmlns:a="http://schemas.openxmlformats.org/drawingml/2006/main">
            <a:off x="6096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 request,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evidence, tool definitions</a:t>
            </a:r>
          </a:p>
        </p:txBody>
      </p:sp>
      <p:sp>
        <p:nvSpPr>
          <p:cNvPr id="110" name="12-text-3">
            <a:extLst xmlns:a="http://schemas.openxmlformats.org/drawingml/2006/main">
              <a:ext uri="{FF2B5EF4-FFF2-40B4-BE49-F238E27FC236}">
                <a16:creationId xmlns:a16="http://schemas.microsoft.com/office/drawing/2014/main" id="{422BABFF-E4D6-40FA-BA19-4B48A98337A3}"/>
              </a:ext>
            </a:extLst>
          </p:cNvPr>
          <p:cNvSpPr>
            <a:spLocks xmlns:a="http://schemas.openxmlformats.org/drawingml/2006/main"/>
          </p:cNvSpPr>
          <p:nvPr/>
        </p:nvSpPr>
        <p:spPr>
          <a:xfrm xmlns:a="http://schemas.openxmlformats.org/drawingml/2006/main">
            <a:off x="45212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Inference</a:t>
            </a:r>
          </a:p>
        </p:txBody>
      </p:sp>
      <p:sp>
        <p:nvSpPr>
          <p:cNvPr id="111" name="12-text-4">
            <a:extLst xmlns:a="http://schemas.openxmlformats.org/drawingml/2006/main">
              <a:ext uri="{FF2B5EF4-FFF2-40B4-BE49-F238E27FC236}">
                <a16:creationId xmlns:a16="http://schemas.microsoft.com/office/drawing/2014/main" id="{8FBFB83A-8D29-4799-8BCC-FC7D1A5191C0}"/>
              </a:ext>
            </a:extLst>
          </p:cNvPr>
          <p:cNvSpPr>
            <a:spLocks xmlns:a="http://schemas.openxmlformats.org/drawingml/2006/main"/>
          </p:cNvSpPr>
          <p:nvPr/>
        </p:nvSpPr>
        <p:spPr>
          <a:xfrm xmlns:a="http://schemas.openxmlformats.org/drawingml/2006/main">
            <a:off x="45212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Run a trained model</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 selected settings</a:t>
            </a:r>
          </a:p>
        </p:txBody>
      </p:sp>
      <p:sp>
        <p:nvSpPr>
          <p:cNvPr id="112" name="12-text-5">
            <a:extLst xmlns:a="http://schemas.openxmlformats.org/drawingml/2006/main">
              <a:ext uri="{FF2B5EF4-FFF2-40B4-BE49-F238E27FC236}">
                <a16:creationId xmlns:a16="http://schemas.microsoft.com/office/drawing/2014/main" id="{30701CE2-6A35-407D-B4D0-27DD1E996ED5}"/>
              </a:ext>
            </a:extLst>
          </p:cNvPr>
          <p:cNvSpPr>
            <a:spLocks xmlns:a="http://schemas.openxmlformats.org/drawingml/2006/main"/>
          </p:cNvSpPr>
          <p:nvPr/>
        </p:nvSpPr>
        <p:spPr>
          <a:xfrm xmlns:a="http://schemas.openxmlformats.org/drawingml/2006/main">
            <a:off x="84328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Generated output</a:t>
            </a:r>
          </a:p>
        </p:txBody>
      </p:sp>
      <p:sp>
        <p:nvSpPr>
          <p:cNvPr id="113" name="12-text-6">
            <a:extLst xmlns:a="http://schemas.openxmlformats.org/drawingml/2006/main">
              <a:ext uri="{FF2B5EF4-FFF2-40B4-BE49-F238E27FC236}">
                <a16:creationId xmlns:a16="http://schemas.microsoft.com/office/drawing/2014/main" id="{D934A055-0D5F-4D3F-B870-45F88E521E03}"/>
              </a:ext>
            </a:extLst>
          </p:cNvPr>
          <p:cNvSpPr>
            <a:spLocks xmlns:a="http://schemas.openxmlformats.org/drawingml/2006/main"/>
          </p:cNvSpPr>
          <p:nvPr/>
        </p:nvSpPr>
        <p:spPr>
          <a:xfrm xmlns:a="http://schemas.openxmlformats.org/drawingml/2006/main">
            <a:off x="84328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Response 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proposed tool call</a:t>
            </a:r>
          </a:p>
        </p:txBody>
      </p:sp>
      <p:sp>
        <p:nvSpPr>
          <p:cNvPr id="114" name="12-line-8">
            <a:extLst xmlns:a="http://schemas.openxmlformats.org/drawingml/2006/main">
              <a:ext uri="{FF2B5EF4-FFF2-40B4-BE49-F238E27FC236}">
                <a16:creationId xmlns:a16="http://schemas.microsoft.com/office/drawing/2014/main" id="{DC07EA6A-AAE8-42AE-A346-5D7E56B45286}"/>
              </a:ext>
            </a:extLst>
          </p:cNvPr>
          <p:cNvSpPr>
            <a:spLocks xmlns:a="http://schemas.openxmlformats.org/drawingml/2006/main"/>
          </p:cNvSpPr>
          <p:nvPr/>
        </p:nvSpPr>
        <p:spPr>
          <a:xfrm xmlns:a="http://schemas.openxmlformats.org/drawingml/2006/main" flipH="0" flipV="0">
            <a:off x="3911600" y="323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15" name="12-line-10">
            <a:extLst xmlns:a="http://schemas.openxmlformats.org/drawingml/2006/main">
              <a:ext uri="{FF2B5EF4-FFF2-40B4-BE49-F238E27FC236}">
                <a16:creationId xmlns:a16="http://schemas.microsoft.com/office/drawing/2014/main" id="{BAAF6065-1D9E-468C-AC47-EB214019540D}"/>
              </a:ext>
            </a:extLst>
          </p:cNvPr>
          <p:cNvSpPr>
            <a:spLocks xmlns:a="http://schemas.openxmlformats.org/drawingml/2006/main"/>
          </p:cNvSpPr>
          <p:nvPr/>
        </p:nvSpPr>
        <p:spPr>
          <a:xfrm xmlns:a="http://schemas.openxmlformats.org/drawingml/2006/main" flipH="0" flipV="0">
            <a:off x="7823200" y="323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16" name="12-text-11">
            <a:extLst xmlns:a="http://schemas.openxmlformats.org/drawingml/2006/main">
              <a:ext uri="{FF2B5EF4-FFF2-40B4-BE49-F238E27FC236}">
                <a16:creationId xmlns:a16="http://schemas.microsoft.com/office/drawing/2014/main" id="{7F5A2E51-5C8C-49A1-8AA8-E1974ABD70B0}"/>
              </a:ext>
            </a:extLst>
          </p:cNvPr>
          <p:cNvSpPr>
            <a:spLocks xmlns:a="http://schemas.openxmlformats.org/drawingml/2006/main"/>
          </p:cNvSpPr>
          <p:nvPr/>
        </p:nvSpPr>
        <p:spPr>
          <a:xfrm xmlns:a="http://schemas.openxmlformats.org/drawingml/2006/main">
            <a:off x="609600" y="4064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Tokens</a:t>
            </a:r>
          </a:p>
        </p:txBody>
      </p:sp>
      <p:sp>
        <p:nvSpPr>
          <p:cNvPr id="117" name="12-text-12">
            <a:extLst xmlns:a="http://schemas.openxmlformats.org/drawingml/2006/main">
              <a:ext uri="{FF2B5EF4-FFF2-40B4-BE49-F238E27FC236}">
                <a16:creationId xmlns:a16="http://schemas.microsoft.com/office/drawing/2014/main" id="{BB85EE77-35BC-4AF3-A96D-F32203962A4C}"/>
              </a:ext>
            </a:extLst>
          </p:cNvPr>
          <p:cNvSpPr>
            <a:spLocks xmlns:a="http://schemas.openxmlformats.org/drawingml/2006/main"/>
          </p:cNvSpPr>
          <p:nvPr/>
        </p:nvSpPr>
        <p:spPr>
          <a:xfrm xmlns:a="http://schemas.openxmlformats.org/drawingml/2006/main">
            <a:off x="3708400" y="4064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Units the model processes and generates. Used to track usage.</a:t>
            </a:r>
          </a:p>
        </p:txBody>
      </p:sp>
      <p:sp>
        <p:nvSpPr>
          <p:cNvPr id="118" name="12-text-13">
            <a:extLst xmlns:a="http://schemas.openxmlformats.org/drawingml/2006/main">
              <a:ext uri="{FF2B5EF4-FFF2-40B4-BE49-F238E27FC236}">
                <a16:creationId xmlns:a16="http://schemas.microsoft.com/office/drawing/2014/main" id="{CB74F97A-1556-443F-9BC8-C74B40891AF8}"/>
              </a:ext>
            </a:extLst>
          </p:cNvPr>
          <p:cNvSpPr>
            <a:spLocks xmlns:a="http://schemas.openxmlformats.org/drawingml/2006/main"/>
          </p:cNvSpPr>
          <p:nvPr/>
        </p:nvSpPr>
        <p:spPr>
          <a:xfrm xmlns:a="http://schemas.openxmlformats.org/drawingml/2006/main">
            <a:off x="609600" y="4572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Context limit</a:t>
            </a:r>
          </a:p>
        </p:txBody>
      </p:sp>
      <p:sp>
        <p:nvSpPr>
          <p:cNvPr id="119" name="12-text-14">
            <a:extLst xmlns:a="http://schemas.openxmlformats.org/drawingml/2006/main">
              <a:ext uri="{FF2B5EF4-FFF2-40B4-BE49-F238E27FC236}">
                <a16:creationId xmlns:a16="http://schemas.microsoft.com/office/drawing/2014/main" id="{FEF6E743-62E3-4185-88BF-7B4BB7E9E762}"/>
              </a:ext>
            </a:extLst>
          </p:cNvPr>
          <p:cNvSpPr>
            <a:spLocks xmlns:a="http://schemas.openxmlformats.org/drawingml/2006/main"/>
          </p:cNvSpPr>
          <p:nvPr/>
        </p:nvSpPr>
        <p:spPr>
          <a:xfrm xmlns:a="http://schemas.openxmlformats.org/drawingml/2006/main">
            <a:off x="3708400" y="4572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Capacity for supplied input and generated output.</a:t>
            </a:r>
          </a:p>
        </p:txBody>
      </p:sp>
      <p:sp>
        <p:nvSpPr>
          <p:cNvPr id="120" name="12-text-15">
            <a:extLst xmlns:a="http://schemas.openxmlformats.org/drawingml/2006/main">
              <a:ext uri="{FF2B5EF4-FFF2-40B4-BE49-F238E27FC236}">
                <a16:creationId xmlns:a16="http://schemas.microsoft.com/office/drawing/2014/main" id="{AF83E6ED-57E0-4C96-BB65-BA763DAB8590}"/>
              </a:ext>
            </a:extLst>
          </p:cNvPr>
          <p:cNvSpPr>
            <a:spLocks xmlns:a="http://schemas.openxmlformats.org/drawingml/2006/main"/>
          </p:cNvSpPr>
          <p:nvPr/>
        </p:nvSpPr>
        <p:spPr>
          <a:xfrm xmlns:a="http://schemas.openxmlformats.org/drawingml/2006/main">
            <a:off x="609600" y="5080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Reasoning settings</a:t>
            </a:r>
          </a:p>
        </p:txBody>
      </p:sp>
      <p:sp>
        <p:nvSpPr>
          <p:cNvPr id="121" name="12-text-16">
            <a:extLst xmlns:a="http://schemas.openxmlformats.org/drawingml/2006/main">
              <a:ext uri="{FF2B5EF4-FFF2-40B4-BE49-F238E27FC236}">
                <a16:creationId xmlns:a16="http://schemas.microsoft.com/office/drawing/2014/main" id="{7E6973DF-C14D-40CF-8CE2-E784D7E16B06}"/>
              </a:ext>
            </a:extLst>
          </p:cNvPr>
          <p:cNvSpPr>
            <a:spLocks xmlns:a="http://schemas.openxmlformats.org/drawingml/2006/main"/>
          </p:cNvSpPr>
          <p:nvPr/>
        </p:nvSpPr>
        <p:spPr>
          <a:xfrm xmlns:a="http://schemas.openxmlformats.org/drawingml/2006/main">
            <a:off x="3708400" y="5080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Effort controls, where supported. Evaluate their effect on the task.</a:t>
            </a:r>
          </a:p>
        </p:txBody>
      </p:sp>
      <p:sp>
        <p:nvSpPr>
          <p:cNvPr id="122" name="12-text-17">
            <a:extLst xmlns:a="http://schemas.openxmlformats.org/drawingml/2006/main">
              <a:ext uri="{FF2B5EF4-FFF2-40B4-BE49-F238E27FC236}">
                <a16:creationId xmlns:a16="http://schemas.microsoft.com/office/drawing/2014/main" id="{0DCF5BFD-B001-4B98-9240-AE918CF21F09}"/>
              </a:ext>
            </a:extLst>
          </p:cNvPr>
          <p:cNvSpPr>
            <a:spLocks xmlns:a="http://schemas.openxmlformats.org/drawingml/2006/main"/>
          </p:cNvSpPr>
          <p:nvPr/>
        </p:nvSpPr>
        <p:spPr>
          <a:xfrm xmlns:a="http://schemas.openxmlformats.org/drawingml/2006/main">
            <a:off x="609600" y="58166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Choose a model version and settings suited to the task and approved for the data.</a:t>
            </a:r>
          </a:p>
        </p:txBody>
      </p:sp>
      <p:sp>
        <p:nvSpPr>
          <p:cNvPr id="123" name="narrative-number">
            <a:extLst xmlns:a="http://schemas.openxmlformats.org/drawingml/2006/main">
              <a:ext uri="{FF2B5EF4-FFF2-40B4-BE49-F238E27FC236}">
                <a16:creationId xmlns:a16="http://schemas.microsoft.com/office/drawing/2014/main" id="{69961C90-6D9A-4570-A4DC-2D23BC15A00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12</a:t>
            </a:r>
          </a:p>
        </p:txBody>
      </p:sp>
    </p:spTree>
    <p:extLst>
      <p:ext uri="{BB962C8B-B14F-4D97-AF65-F5344CB8AC3E}">
        <p14:creationId xmlns:p14="http://schemas.microsoft.com/office/powerpoint/2010/main" val="3699271612"/>
      </p:ext>
    </p:extLst>
  </p:cSld>
</p:sld>
</file>

<file path=ppt/slides/slide1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4" name="!!area-name">
            <a:extLst xmlns:a="http://schemas.openxmlformats.org/drawingml/2006/main">
              <a:ext uri="{FF2B5EF4-FFF2-40B4-BE49-F238E27FC236}">
                <a16:creationId xmlns:a16="http://schemas.microsoft.com/office/drawing/2014/main" id="{7AF4C8C9-7BF1-4785-AB77-74CBF5AD37B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Decisions</a:t>
            </a:r>
          </a:p>
        </p:txBody>
      </p:sp>
      <p:pic>
        <p:nvPicPr>
          <p:cNvPr id="136" name="mini-map"/>
          <p:cNvPicPr>
            <a:picLocks xmlns:a="http://schemas.openxmlformats.org/drawingml/2006/main" noChangeAspect="1"/>
          </p:cNvPicPr>
          <p:nvPr/>
        </p:nvPicPr>
        <p:blipFill>
          <a:blip xmlns:r="http://schemas.openxmlformats.org/officeDocument/2006/relationships" xmlns:a="http://schemas.openxmlformats.org/drawingml/2006/main" r:embed="Re3909aa70bc04d0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26" name="slide-title">
            <a:extLst xmlns:a="http://schemas.openxmlformats.org/drawingml/2006/main">
              <a:ext uri="{FF2B5EF4-FFF2-40B4-BE49-F238E27FC236}">
                <a16:creationId xmlns:a16="http://schemas.microsoft.com/office/drawing/2014/main" id="{4B71DEFC-AB41-46B6-A79B-4E1264FAC20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Selecting a model configuration</a:t>
            </a:r>
          </a:p>
        </p:txBody>
      </p:sp>
      <p:sp>
        <p:nvSpPr>
          <p:cNvPr id="127" name="header-divider">
            <a:extLst xmlns:a="http://schemas.openxmlformats.org/drawingml/2006/main">
              <a:ext uri="{FF2B5EF4-FFF2-40B4-BE49-F238E27FC236}">
                <a16:creationId xmlns:a16="http://schemas.microsoft.com/office/drawing/2014/main" id="{0EE2C9DB-AB89-4441-9242-30A134A5C7A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28" name="13-text-1">
            <a:extLst xmlns:a="http://schemas.openxmlformats.org/drawingml/2006/main">
              <a:ext uri="{FF2B5EF4-FFF2-40B4-BE49-F238E27FC236}">
                <a16:creationId xmlns:a16="http://schemas.microsoft.com/office/drawing/2014/main" id="{7D562CC3-B6D1-489D-A13F-62BDB93E4FCB}"/>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Eligible configurations</a:t>
            </a:r>
          </a:p>
        </p:txBody>
      </p:sp>
      <p:sp>
        <p:nvSpPr>
          <p:cNvPr id="129" name="13-text-2">
            <a:extLst xmlns:a="http://schemas.openxmlformats.org/drawingml/2006/main">
              <a:ext uri="{FF2B5EF4-FFF2-40B4-BE49-F238E27FC236}">
                <a16:creationId xmlns:a16="http://schemas.microsoft.com/office/drawing/2014/main" id="{BE728A85-C8E6-4C9E-B37B-C42F728E4DF9}"/>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Approval for the data and intended use.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Required capabilities and hard operating limits.</a:t>
            </a:r>
          </a:p>
        </p:txBody>
      </p:sp>
      <p:sp>
        <p:nvSpPr>
          <p:cNvPr id="130" name="13-text-3">
            <a:extLst xmlns:a="http://schemas.openxmlformats.org/drawingml/2006/main">
              <a:ext uri="{FF2B5EF4-FFF2-40B4-BE49-F238E27FC236}">
                <a16:creationId xmlns:a16="http://schemas.microsoft.com/office/drawing/2014/main" id="{1D41A2A7-2FFB-485E-8535-317118C1C49B}"/>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Acceptable quality</a:t>
            </a:r>
          </a:p>
        </p:txBody>
      </p:sp>
      <p:sp>
        <p:nvSpPr>
          <p:cNvPr id="131" name="13-text-4">
            <a:extLst xmlns:a="http://schemas.openxmlformats.org/drawingml/2006/main">
              <a:ext uri="{FF2B5EF4-FFF2-40B4-BE49-F238E27FC236}">
                <a16:creationId xmlns:a16="http://schemas.microsoft.com/office/drawing/2014/main" id="{AF0D826B-66B0-470E-ADA5-29F397B1F215}"/>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Results on representative tasks,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judged against defined acceptance criteria.</a:t>
            </a:r>
          </a:p>
        </p:txBody>
      </p:sp>
      <p:sp>
        <p:nvSpPr>
          <p:cNvPr id="132" name="13-text-5">
            <a:extLst xmlns:a="http://schemas.openxmlformats.org/drawingml/2006/main">
              <a:ext uri="{FF2B5EF4-FFF2-40B4-BE49-F238E27FC236}">
                <a16:creationId xmlns:a16="http://schemas.microsoft.com/office/drawing/2014/main" id="{C79B7872-C586-4B5E-9A42-89D48182F5A9}"/>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Time and total cost</a:t>
            </a:r>
          </a:p>
        </p:txBody>
      </p:sp>
      <p:sp>
        <p:nvSpPr>
          <p:cNvPr id="133" name="13-text-6">
            <a:extLst xmlns:a="http://schemas.openxmlformats.org/drawingml/2006/main">
              <a:ext uri="{FF2B5EF4-FFF2-40B4-BE49-F238E27FC236}">
                <a16:creationId xmlns:a16="http://schemas.microsoft.com/office/drawing/2014/main" id="{3ACD1A2B-7014-4D5B-B67E-ADCC308718ED}"/>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Completion time and cost per successful task,</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including failed attempts and review.</a:t>
            </a:r>
          </a:p>
        </p:txBody>
      </p:sp>
      <p:sp>
        <p:nvSpPr>
          <p:cNvPr id="134" name="narrative-number">
            <a:extLst xmlns:a="http://schemas.openxmlformats.org/drawingml/2006/main">
              <a:ext uri="{FF2B5EF4-FFF2-40B4-BE49-F238E27FC236}">
                <a16:creationId xmlns:a16="http://schemas.microsoft.com/office/drawing/2014/main" id="{4AD22F3F-46CA-471C-AF27-8CFAC21AB6D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13</a:t>
            </a:r>
          </a:p>
        </p:txBody>
      </p:sp>
    </p:spTree>
    <p:extLst>
      <p:ext uri="{BB962C8B-B14F-4D97-AF65-F5344CB8AC3E}">
        <p14:creationId xmlns:p14="http://schemas.microsoft.com/office/powerpoint/2010/main" val="1750031843"/>
      </p:ext>
    </p:extLst>
  </p:cSld>
</p:sld>
</file>

<file path=ppt/slides/slide1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35" name="!!area-name">
            <a:extLst xmlns:a="http://schemas.openxmlformats.org/drawingml/2006/main">
              <a:ext uri="{FF2B5EF4-FFF2-40B4-BE49-F238E27FC236}">
                <a16:creationId xmlns:a16="http://schemas.microsoft.com/office/drawing/2014/main" id="{98B237E1-8B67-4546-9F7B-9F338842189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Challenges and pitfalls</a:t>
            </a:r>
          </a:p>
        </p:txBody>
      </p:sp>
      <p:pic>
        <p:nvPicPr>
          <p:cNvPr id="149" name="mini-map"/>
          <p:cNvPicPr>
            <a:picLocks xmlns:a="http://schemas.openxmlformats.org/drawingml/2006/main" noChangeAspect="1"/>
          </p:cNvPicPr>
          <p:nvPr/>
        </p:nvPicPr>
        <p:blipFill>
          <a:blip xmlns:r="http://schemas.openxmlformats.org/officeDocument/2006/relationships" xmlns:a="http://schemas.openxmlformats.org/drawingml/2006/main" r:embed="Rc4f4a5d7ec7c435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37" name="slide-title">
            <a:extLst xmlns:a="http://schemas.openxmlformats.org/drawingml/2006/main">
              <a:ext uri="{FF2B5EF4-FFF2-40B4-BE49-F238E27FC236}">
                <a16:creationId xmlns:a16="http://schemas.microsoft.com/office/drawing/2014/main" id="{58F8D4AA-6B6F-430D-B2F3-9E73372AE5C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Model-selection pitfalls</a:t>
            </a:r>
          </a:p>
        </p:txBody>
      </p:sp>
      <p:sp>
        <p:nvSpPr>
          <p:cNvPr id="138" name="header-divider">
            <a:extLst xmlns:a="http://schemas.openxmlformats.org/drawingml/2006/main">
              <a:ext uri="{FF2B5EF4-FFF2-40B4-BE49-F238E27FC236}">
                <a16:creationId xmlns:a16="http://schemas.microsoft.com/office/drawing/2014/main" id="{4EEC499B-448E-402B-9C60-30D4330A8EF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39" name="14-text-1">
            <a:extLst xmlns:a="http://schemas.openxmlformats.org/drawingml/2006/main">
              <a:ext uri="{FF2B5EF4-FFF2-40B4-BE49-F238E27FC236}">
                <a16:creationId xmlns:a16="http://schemas.microsoft.com/office/drawing/2014/main" id="{C5BA70F2-9CFD-4B63-9723-C74BD634CBC0}"/>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Context capacity</a:t>
            </a:r>
          </a:p>
        </p:txBody>
      </p:sp>
      <p:sp>
        <p:nvSpPr>
          <p:cNvPr id="140" name="14-text-2">
            <a:extLst xmlns:a="http://schemas.openxmlformats.org/drawingml/2006/main">
              <a:ext uri="{FF2B5EF4-FFF2-40B4-BE49-F238E27FC236}">
                <a16:creationId xmlns:a16="http://schemas.microsoft.com/office/drawing/2014/main" id="{E7CDE3FF-2106-4D1D-93ED-5892C3AB7E72}"/>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evidence fits. That does not establish answer quality.</a:t>
            </a:r>
          </a:p>
        </p:txBody>
      </p:sp>
      <p:sp>
        <p:nvSpPr>
          <p:cNvPr id="141" name="14-text-3">
            <a:extLst xmlns:a="http://schemas.openxmlformats.org/drawingml/2006/main">
              <a:ext uri="{FF2B5EF4-FFF2-40B4-BE49-F238E27FC236}">
                <a16:creationId xmlns:a16="http://schemas.microsoft.com/office/drawing/2014/main" id="{FF7F045A-7F5A-44DC-AF1C-4222718F151E}"/>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Reasoning effort</a:t>
            </a:r>
          </a:p>
        </p:txBody>
      </p:sp>
      <p:sp>
        <p:nvSpPr>
          <p:cNvPr id="142" name="14-text-4">
            <a:extLst xmlns:a="http://schemas.openxmlformats.org/drawingml/2006/main">
              <a:ext uri="{FF2B5EF4-FFF2-40B4-BE49-F238E27FC236}">
                <a16:creationId xmlns:a16="http://schemas.microsoft.com/office/drawing/2014/main" id="{5ED16D94-522E-460C-9C17-61811E7F983A}"/>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higher setting still needs a measured benefit on your task.</a:t>
            </a:r>
          </a:p>
        </p:txBody>
      </p:sp>
      <p:sp>
        <p:nvSpPr>
          <p:cNvPr id="143" name="14-text-5">
            <a:extLst xmlns:a="http://schemas.openxmlformats.org/drawingml/2006/main">
              <a:ext uri="{FF2B5EF4-FFF2-40B4-BE49-F238E27FC236}">
                <a16:creationId xmlns:a16="http://schemas.microsoft.com/office/drawing/2014/main" id="{A7D67C4B-8166-4D7D-8633-D055381A23A6}"/>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Token price</a:t>
            </a:r>
          </a:p>
        </p:txBody>
      </p:sp>
      <p:sp>
        <p:nvSpPr>
          <p:cNvPr id="144" name="14-text-6">
            <a:extLst xmlns:a="http://schemas.openxmlformats.org/drawingml/2006/main">
              <a:ext uri="{FF2B5EF4-FFF2-40B4-BE49-F238E27FC236}">
                <a16:creationId xmlns:a16="http://schemas.microsoft.com/office/drawing/2014/main" id="{DCEF95F6-FC59-478D-8233-CB9F77D0ECBA}"/>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price omits tool calls, retries, verification, and review.</a:t>
            </a:r>
          </a:p>
        </p:txBody>
      </p:sp>
      <p:sp>
        <p:nvSpPr>
          <p:cNvPr id="145" name="14-text-7">
            <a:extLst xmlns:a="http://schemas.openxmlformats.org/drawingml/2006/main">
              <a:ext uri="{FF2B5EF4-FFF2-40B4-BE49-F238E27FC236}">
                <a16:creationId xmlns:a16="http://schemas.microsoft.com/office/drawing/2014/main" id="{99AF2E2A-C807-4C7A-8692-EAB6CEFE03DE}"/>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Pitfall</a:t>
            </a:r>
          </a:p>
        </p:txBody>
      </p:sp>
      <p:sp>
        <p:nvSpPr>
          <p:cNvPr id="146" name="14-text-8">
            <a:extLst xmlns:a="http://schemas.openxmlformats.org/drawingml/2006/main">
              <a:ext uri="{FF2B5EF4-FFF2-40B4-BE49-F238E27FC236}">
                <a16:creationId xmlns:a16="http://schemas.microsoft.com/office/drawing/2014/main" id="{7DF2FB86-4A05-403E-A02D-AE31FF2FF126}"/>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Selecting or changing models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testing them on your task.</a:t>
            </a:r>
          </a:p>
        </p:txBody>
      </p:sp>
      <p:sp>
        <p:nvSpPr>
          <p:cNvPr id="147" name="narrative-number">
            <a:extLst xmlns:a="http://schemas.openxmlformats.org/drawingml/2006/main">
              <a:ext uri="{FF2B5EF4-FFF2-40B4-BE49-F238E27FC236}">
                <a16:creationId xmlns:a16="http://schemas.microsoft.com/office/drawing/2014/main" id="{7A59BD13-6F97-41E3-8592-744000221F6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2469398530"/>
      </p:ext>
    </p:extLst>
  </p:cSld>
</p:sld>
</file>

<file path=ppt/slides/slide2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48" name="!!area-name">
            <a:extLst xmlns:a="http://schemas.openxmlformats.org/drawingml/2006/main">
              <a:ext uri="{FF2B5EF4-FFF2-40B4-BE49-F238E27FC236}">
                <a16:creationId xmlns:a16="http://schemas.microsoft.com/office/drawing/2014/main" id="{31003525-A8BB-405D-A24C-AF914627E15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FRB application</a:t>
            </a:r>
          </a:p>
        </p:txBody>
      </p:sp>
      <p:pic>
        <p:nvPicPr>
          <p:cNvPr id="162" name="mini-map"/>
          <p:cNvPicPr>
            <a:picLocks xmlns:a="http://schemas.openxmlformats.org/drawingml/2006/main" noChangeAspect="1"/>
          </p:cNvPicPr>
          <p:nvPr/>
        </p:nvPicPr>
        <p:blipFill>
          <a:blip xmlns:r="http://schemas.openxmlformats.org/officeDocument/2006/relationships" xmlns:a="http://schemas.openxmlformats.org/drawingml/2006/main" r:embed="R02d48c4d6b06436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50" name="slide-title">
            <a:extLst xmlns:a="http://schemas.openxmlformats.org/drawingml/2006/main">
              <a:ext uri="{FF2B5EF4-FFF2-40B4-BE49-F238E27FC236}">
                <a16:creationId xmlns:a16="http://schemas.microsoft.com/office/drawing/2014/main" id="{64F5E11B-D88C-4156-89BD-B7897C524AB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 for the FRB brief</a:t>
            </a:r>
          </a:p>
        </p:txBody>
      </p:sp>
      <p:sp>
        <p:nvSpPr>
          <p:cNvPr id="151" name="header-divider">
            <a:extLst xmlns:a="http://schemas.openxmlformats.org/drawingml/2006/main">
              <a:ext uri="{FF2B5EF4-FFF2-40B4-BE49-F238E27FC236}">
                <a16:creationId xmlns:a16="http://schemas.microsoft.com/office/drawing/2014/main" id="{B597F974-AD92-4A38-A9DA-D76B04AA64C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52" name="15-text-1">
            <a:extLst xmlns:a="http://schemas.openxmlformats.org/drawingml/2006/main">
              <a:ext uri="{FF2B5EF4-FFF2-40B4-BE49-F238E27FC236}">
                <a16:creationId xmlns:a16="http://schemas.microsoft.com/office/drawing/2014/main" id="{2A08BB00-B26C-4C37-96BB-25963FC000A1}"/>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proposed design. No model results claimed.</a:t>
            </a:r>
          </a:p>
        </p:txBody>
      </p:sp>
      <p:sp>
        <p:nvSpPr>
          <p:cNvPr id="153" name="15-text-2">
            <a:extLst xmlns:a="http://schemas.openxmlformats.org/drawingml/2006/main">
              <a:ext uri="{FF2B5EF4-FFF2-40B4-BE49-F238E27FC236}">
                <a16:creationId xmlns:a16="http://schemas.microsoft.com/office/drawing/2014/main" id="{0078A207-B525-4C64-8886-BF2FDCB973F6}"/>
              </a:ext>
            </a:extLst>
          </p:cNvPr>
          <p:cNvSpPr>
            <a:spLocks xmlns:a="http://schemas.openxmlformats.org/drawingml/2006/main"/>
          </p:cNvSpPr>
          <p:nvPr/>
        </p:nvSpPr>
        <p:spPr>
          <a:xfrm xmlns:a="http://schemas.openxmlformats.org/drawingml/2006/main">
            <a:off x="609600" y="28448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CUI/ECI corpus. Approved options assumed older and less capable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this synthesis.</a:t>
            </a:r>
          </a:p>
        </p:txBody>
      </p:sp>
      <p:sp>
        <p:nvSpPr>
          <p:cNvPr id="154" name="15-text-3">
            <a:extLst xmlns:a="http://schemas.openxmlformats.org/drawingml/2006/main">
              <a:ext uri="{FF2B5EF4-FFF2-40B4-BE49-F238E27FC236}">
                <a16:creationId xmlns:a16="http://schemas.microsoft.com/office/drawing/2014/main" id="{45ABFF37-B533-40B8-AF6B-D0DC3F96E0F1}"/>
              </a:ext>
            </a:extLst>
          </p:cNvPr>
          <p:cNvSpPr>
            <a:spLocks xmlns:a="http://schemas.openxmlformats.org/drawingml/2006/main"/>
          </p:cNvSpPr>
          <p:nvPr/>
        </p:nvSpPr>
        <p:spPr>
          <a:xfrm xmlns:a="http://schemas.openxmlformats.org/drawingml/2006/main">
            <a:off x="609600" y="370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Design</a:t>
            </a:r>
          </a:p>
        </p:txBody>
      </p:sp>
      <p:sp>
        <p:nvSpPr>
          <p:cNvPr id="155" name="15-text-4">
            <a:extLst xmlns:a="http://schemas.openxmlformats.org/drawingml/2006/main">
              <a:ext uri="{FF2B5EF4-FFF2-40B4-BE49-F238E27FC236}">
                <a16:creationId xmlns:a16="http://schemas.microsoft.com/office/drawing/2014/main" id="{295A99EF-62AB-40F6-B232-993101230D3F}"/>
              </a:ext>
            </a:extLst>
          </p:cNvPr>
          <p:cNvSpPr>
            <a:spLocks xmlns:a="http://schemas.openxmlformats.org/drawingml/2006/main"/>
          </p:cNvSpPr>
          <p:nvPr/>
        </p:nvSpPr>
        <p:spPr>
          <a:xfrm xmlns:a="http://schemas.openxmlformats.org/drawingml/2006/main">
            <a:off x="609600" y="4140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Evaluate one eligible configuration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summaries and cross-case synthesis.</a:t>
            </a:r>
          </a:p>
        </p:txBody>
      </p:sp>
      <p:sp>
        <p:nvSpPr>
          <p:cNvPr id="156" name="15-text-5">
            <a:extLst xmlns:a="http://schemas.openxmlformats.org/drawingml/2006/main">
              <a:ext uri="{FF2B5EF4-FFF2-40B4-BE49-F238E27FC236}">
                <a16:creationId xmlns:a16="http://schemas.microsoft.com/office/drawing/2014/main" id="{7502BFB1-0963-458B-89AE-52FC9C4321B5}"/>
              </a:ext>
            </a:extLst>
          </p:cNvPr>
          <p:cNvSpPr>
            <a:spLocks xmlns:a="http://schemas.openxmlformats.org/drawingml/2006/main"/>
          </p:cNvSpPr>
          <p:nvPr/>
        </p:nvSpPr>
        <p:spPr>
          <a:xfrm xmlns:a="http://schemas.openxmlformats.org/drawingml/2006/main">
            <a:off x="609600" y="51816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Failure to test</a:t>
            </a:r>
          </a:p>
        </p:txBody>
      </p:sp>
      <p:sp>
        <p:nvSpPr>
          <p:cNvPr id="157" name="15-text-6">
            <a:extLst xmlns:a="http://schemas.openxmlformats.org/drawingml/2006/main">
              <a:ext uri="{FF2B5EF4-FFF2-40B4-BE49-F238E27FC236}">
                <a16:creationId xmlns:a16="http://schemas.microsoft.com/office/drawing/2014/main" id="{FD314E74-B298-445D-ACE2-6C49FA0D90B3}"/>
              </a:ext>
            </a:extLst>
          </p:cNvPr>
          <p:cNvSpPr>
            <a:spLocks xmlns:a="http://schemas.openxmlformats.org/drawingml/2006/main"/>
          </p:cNvSpPr>
          <p:nvPr/>
        </p:nvSpPr>
        <p:spPr>
          <a:xfrm xmlns:a="http://schemas.openxmlformats.org/drawingml/2006/main">
            <a:off x="609600" y="5613400"/>
            <a:ext cx="533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Possible bearing wear becomes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confirmed cause.</a:t>
            </a:r>
          </a:p>
        </p:txBody>
      </p:sp>
      <p:sp>
        <p:nvSpPr>
          <p:cNvPr id="158" name="15-text-7">
            <a:extLst xmlns:a="http://schemas.openxmlformats.org/drawingml/2006/main">
              <a:ext uri="{FF2B5EF4-FFF2-40B4-BE49-F238E27FC236}">
                <a16:creationId xmlns:a16="http://schemas.microsoft.com/office/drawing/2014/main" id="{D7CC6663-9AB3-46F2-9952-75BEA038A91B}"/>
              </a:ext>
            </a:extLst>
          </p:cNvPr>
          <p:cNvSpPr>
            <a:spLocks xmlns:a="http://schemas.openxmlformats.org/drawingml/2006/main"/>
          </p:cNvSpPr>
          <p:nvPr/>
        </p:nvSpPr>
        <p:spPr>
          <a:xfrm xmlns:a="http://schemas.openxmlformats.org/drawingml/2006/main">
            <a:off x="6248400" y="370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Selection scorecard</a:t>
            </a:r>
          </a:p>
        </p:txBody>
      </p:sp>
      <p:graphicFrame>
        <p:nvGraphicFramePr>
          <p:cNvPr id="172" name="15-table-8"/>
          <p:cNvGraphicFramePr/>
          <p:nvPr/>
        </p:nvGraphicFramePr>
        <p:xfrm>
          <a:off xmlns:a="http://schemas.openxmlformats.org/drawingml/2006/main" x="6248400" y="4191000"/>
          <a:ext xmlns:a="http://schemas.openxmlformats.org/drawingml/2006/main" cx="5334000" cy="2032000"/>
        </p:xfrm>
        <a:graphic xmlns:a="http://schemas.openxmlformats.org/drawingml/2006/main">
          <a:graphicData uri="http://schemas.openxmlformats.org/drawingml/2006/table">
            <a:tbl>
              <a:tblPr firstRow="0" firstCol="0" lastCol="0" bandRow="0" bandCol="0"/>
              <a:tblGrid>
                <a:gridCol w="1270000"/>
                <a:gridCol w="4064000"/>
              </a:tblGrid>
              <a:tr h="381000">
                <a:tc>
                  <a:txBody>
                    <a:bodyPr>
                      <a:noAutofit/>
                    </a:bodyPr>
                    <a:lstStyle/>
                    <a:p>
                      <a:pPr>
                        <a:lnSpc>
                          <a:spcPct val="125000"/>
                        </a:lnSpc>
                        <a:buNone/>
                      </a:pPr>
                      <a:r>
                        <a:rPr sz="2000" b="1">
                          <a:solidFill>
                            <a:srgbClr val="1064F8"/>
                          </a:solidFill>
                          <a:latin typeface="Helvetica"/>
                          <a:ea typeface="Helvetica"/>
                          <a:cs typeface="Helvetica"/>
                        </a:rPr>
                        <a:t>Measure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1064F8"/>
                          </a:solidFill>
                          <a:latin typeface="Helvetica"/>
                          <a:ea typeface="Helvetica"/>
                          <a:cs typeface="Helvetica"/>
                        </a:rPr>
                        <a:t>Evidence to collect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35000">
                <a:tc>
                  <a:txBody>
                    <a:bodyPr>
                      <a:noAutofit/>
                    </a:bodyPr>
                    <a:lstStyle/>
                    <a:p>
                      <a:pPr>
                        <a:lnSpc>
                          <a:spcPct val="125000"/>
                        </a:lnSpc>
                        <a:buNone/>
                      </a:pPr>
                      <a:r>
                        <a:rPr sz="2000" b="0">
                          <a:solidFill>
                            <a:srgbClr val="FFFCF5"/>
                          </a:solidFill>
                          <a:latin typeface="Helvetica"/>
                          <a:ea typeface="Helvetica"/>
                          <a:cs typeface="Helvetica"/>
                        </a:rPr>
                        <a:t>Quality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Supported findings.</a:t>
                      </a:r>
                    </a:p>
                    <a:p>
                      <a:pPr>
                        <a:lnSpc>
                          <a:spcPct val="125000"/>
                        </a:lnSpc>
                        <a:buNone/>
                      </a:pPr>
                      <a:r>
                        <a:rPr sz="2000" b="0">
                          <a:solidFill>
                            <a:srgbClr val="FFFCF5"/>
                          </a:solidFill>
                          <a:latin typeface="Helvetica"/>
                          <a:ea typeface="Helvetica"/>
                          <a:cs typeface="Helvetica"/>
                        </a:rPr>
                        <a:t>Uncertainty preserved.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381000">
                <a:tc>
                  <a:txBody>
                    <a:bodyPr>
                      <a:noAutofit/>
                    </a:bodyPr>
                    <a:lstStyle/>
                    <a:p>
                      <a:pPr>
                        <a:lnSpc>
                          <a:spcPct val="125000"/>
                        </a:lnSpc>
                        <a:buNone/>
                      </a:pPr>
                      <a:r>
                        <a:rPr sz="2000" b="0">
                          <a:solidFill>
                            <a:srgbClr val="FFFCF5"/>
                          </a:solidFill>
                          <a:latin typeface="Helvetica"/>
                          <a:ea typeface="Helvetica"/>
                          <a:cs typeface="Helvetica"/>
                        </a:rPr>
                        <a:t>Time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Completion time.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35000">
                <a:tc>
                  <a:txBody>
                    <a:bodyPr>
                      <a:noAutofit/>
                    </a:bodyPr>
                    <a:lstStyle/>
                    <a:p>
                      <a:pPr>
                        <a:lnSpc>
                          <a:spcPct val="125000"/>
                        </a:lnSpc>
                        <a:buNone/>
                      </a:pPr>
                      <a:r>
                        <a:rPr sz="2000" b="0">
                          <a:solidFill>
                            <a:srgbClr val="FFFCF5"/>
                          </a:solidFill>
                          <a:latin typeface="Helvetica"/>
                          <a:ea typeface="Helvetica"/>
                          <a:cs typeface="Helvetica"/>
                        </a:rPr>
                        <a:t>Cost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All attempts and review</a:t>
                      </a:r>
                    </a:p>
                    <a:p>
                      <a:pPr>
                        <a:lnSpc>
                          <a:spcPct val="125000"/>
                        </a:lnSpc>
                        <a:buNone/>
                      </a:pPr>
                      <a:r>
                        <a:rPr sz="2000" b="0">
                          <a:solidFill>
                            <a:srgbClr val="FFFCF5"/>
                          </a:solidFill>
                          <a:latin typeface="Helvetica"/>
                          <a:ea typeface="Helvetica"/>
                          <a:cs typeface="Helvetica"/>
                        </a:rPr>
                        <a:t>per successful brief.</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160" name="narrative-number">
            <a:extLst xmlns:a="http://schemas.openxmlformats.org/drawingml/2006/main">
              <a:ext uri="{FF2B5EF4-FFF2-40B4-BE49-F238E27FC236}">
                <a16:creationId xmlns:a16="http://schemas.microsoft.com/office/drawing/2014/main" id="{3DBB1A0E-E055-45B9-B067-BEC05F1977E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4166357361"/>
      </p:ext>
    </p:extLst>
  </p:cSld>
</p:sld>
</file>

<file path=ppt/slides/slide2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61" name="!!area-name">
            <a:extLst xmlns:a="http://schemas.openxmlformats.org/drawingml/2006/main">
              <a:ext uri="{FF2B5EF4-FFF2-40B4-BE49-F238E27FC236}">
                <a16:creationId xmlns:a16="http://schemas.microsoft.com/office/drawing/2014/main" id="{A725F14C-05AD-4B36-8B76-052D2FDB843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Perspective</a:t>
            </a:r>
          </a:p>
        </p:txBody>
      </p:sp>
      <p:pic>
        <p:nvPicPr>
          <p:cNvPr id="170" name="mini-map"/>
          <p:cNvPicPr>
            <a:picLocks xmlns:a="http://schemas.openxmlformats.org/drawingml/2006/main" noChangeAspect="1"/>
          </p:cNvPicPr>
          <p:nvPr/>
        </p:nvPicPr>
        <p:blipFill>
          <a:blip xmlns:r="http://schemas.openxmlformats.org/officeDocument/2006/relationships" xmlns:a="http://schemas.openxmlformats.org/drawingml/2006/main" r:embed="Re0079944c3c14ae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63" name="header-divider">
            <a:extLst xmlns:a="http://schemas.openxmlformats.org/drawingml/2006/main">
              <a:ext uri="{FF2B5EF4-FFF2-40B4-BE49-F238E27FC236}">
                <a16:creationId xmlns:a16="http://schemas.microsoft.com/office/drawing/2014/main" id="{11F5035F-312D-4844-8E8B-7C5C08E96BE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64" name="16-text-1">
            <a:extLst xmlns:a="http://schemas.openxmlformats.org/drawingml/2006/main">
              <a:ext uri="{FF2B5EF4-FFF2-40B4-BE49-F238E27FC236}">
                <a16:creationId xmlns:a16="http://schemas.microsoft.com/office/drawing/2014/main" id="{7772A0E3-04B9-47CC-894A-456C48074D10}"/>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“Context, therefore, must be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treated as a finite resource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with diminishing marginal</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returns.”</a:t>
            </a:r>
          </a:p>
        </p:txBody>
      </p:sp>
      <p:sp>
        <p:nvSpPr>
          <p:cNvPr id="165" name="16-text-2">
            <a:extLst xmlns:a="http://schemas.openxmlformats.org/drawingml/2006/main">
              <a:ext uri="{FF2B5EF4-FFF2-40B4-BE49-F238E27FC236}">
                <a16:creationId xmlns:a16="http://schemas.microsoft.com/office/drawing/2014/main" id="{E4C623FE-1ACE-4056-ADEC-82914720D1C6}"/>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166" name="16-text-3">
            <a:extLst xmlns:a="http://schemas.openxmlformats.org/drawingml/2006/main">
              <a:ext uri="{FF2B5EF4-FFF2-40B4-BE49-F238E27FC236}">
                <a16:creationId xmlns:a16="http://schemas.microsoft.com/office/drawing/2014/main" id="{08CEC0E9-72E6-4F38-94C3-6DC65D4606D3}"/>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Effective context engineering for AI agents, September 2025</a:t>
            </a:r>
          </a:p>
        </p:txBody>
      </p:sp>
      <p:pic>
        <p:nvPicPr>
          <p:cNvPr id="175" name="16-image-4"/>
          <p:cNvPicPr>
            <a:picLocks xmlns:a="http://schemas.openxmlformats.org/drawingml/2006/main" noChangeAspect="1"/>
          </p:cNvPicPr>
          <p:nvPr/>
        </p:nvPicPr>
        <p:blipFill>
          <a:blip xmlns:r="http://schemas.openxmlformats.org/officeDocument/2006/relationships" xmlns:a="http://schemas.openxmlformats.org/drawingml/2006/main" r:embed="Rb72cde9d47a74a36"/>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168" name="narrative-number">
            <a:extLst xmlns:a="http://schemas.openxmlformats.org/drawingml/2006/main">
              <a:ext uri="{FF2B5EF4-FFF2-40B4-BE49-F238E27FC236}">
                <a16:creationId xmlns:a16="http://schemas.microsoft.com/office/drawing/2014/main" id="{5DB5AE60-FAD2-4504-A381-1A20B169FDC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1151991318"/>
      </p:ext>
    </p:extLst>
  </p:cSld>
</p:sld>
</file>

<file path=ppt/slides/slide2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69" name="!!area-name">
            <a:extLst xmlns:a="http://schemas.openxmlformats.org/drawingml/2006/main">
              <a:ext uri="{FF2B5EF4-FFF2-40B4-BE49-F238E27FC236}">
                <a16:creationId xmlns:a16="http://schemas.microsoft.com/office/drawing/2014/main" id="{1726DDA0-A9C9-4330-8C0F-85F0E92C61C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Foundations</a:t>
            </a:r>
          </a:p>
        </p:txBody>
      </p:sp>
      <p:pic>
        <p:nvPicPr>
          <p:cNvPr id="193" name="mini-map"/>
          <p:cNvPicPr>
            <a:picLocks xmlns:a="http://schemas.openxmlformats.org/drawingml/2006/main" noChangeAspect="1"/>
          </p:cNvPicPr>
          <p:nvPr/>
        </p:nvPicPr>
        <p:blipFill>
          <a:blip xmlns:r="http://schemas.openxmlformats.org/officeDocument/2006/relationships" xmlns:a="http://schemas.openxmlformats.org/drawingml/2006/main" r:embed="Rdcb76cdec9f347d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71" name="slide-title">
            <a:extLst xmlns:a="http://schemas.openxmlformats.org/drawingml/2006/main">
              <a:ext uri="{FF2B5EF4-FFF2-40B4-BE49-F238E27FC236}">
                <a16:creationId xmlns:a16="http://schemas.microsoft.com/office/drawing/2014/main" id="{DE1AFF00-E44A-4C16-AB52-D5AEBD1192F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for each model call</a:t>
            </a:r>
          </a:p>
        </p:txBody>
      </p:sp>
      <p:sp>
        <p:nvSpPr>
          <p:cNvPr id="172" name="header-divider">
            <a:extLst xmlns:a="http://schemas.openxmlformats.org/drawingml/2006/main">
              <a:ext uri="{FF2B5EF4-FFF2-40B4-BE49-F238E27FC236}">
                <a16:creationId xmlns:a16="http://schemas.microsoft.com/office/drawing/2014/main" id="{14A482E2-A7F4-4C6E-B3E2-7206D4315BF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73" name="working-context-boundary">
            <a:extLst xmlns:a="http://schemas.openxmlformats.org/drawingml/2006/main">
              <a:ext uri="{FF2B5EF4-FFF2-40B4-BE49-F238E27FC236}">
                <a16:creationId xmlns:a16="http://schemas.microsoft.com/office/drawing/2014/main" id="{28589C54-A828-4873-B773-A326E9AF7C58}"/>
              </a:ext>
            </a:extLst>
          </p:cNvPr>
          <p:cNvSpPr>
            <a:spLocks xmlns:a="http://schemas.openxmlformats.org/drawingml/2006/main"/>
          </p:cNvSpPr>
          <p:nvPr/>
        </p:nvSpPr>
        <p:spPr>
          <a:xfrm xmlns:a="http://schemas.openxmlformats.org/drawingml/2006/main">
            <a:off x="609600" y="2438400"/>
            <a:ext cx="10972800" cy="3810000"/>
          </a:xfrm>
          <a:prstGeom xmlns:a="http://schemas.openxmlformats.org/drawingml/2006/main" prst="rect">
            <a:avLst/>
          </a:prstGeom>
          <a:noFill xmlns:a="http://schemas.openxmlformats.org/drawingml/2006/main"/>
          <a:ln xmlns:a="http://schemas.openxmlformats.org/drawingml/2006/main" w="25400">
            <a:solidFill>
              <a:srgbClr val="F948BE"/>
            </a:solidFill>
          </a:ln>
        </p:spPr>
      </p:sp>
      <p:sp>
        <p:nvSpPr>
          <p:cNvPr id="174" name="17-text-1">
            <a:extLst xmlns:a="http://schemas.openxmlformats.org/drawingml/2006/main">
              <a:ext uri="{FF2B5EF4-FFF2-40B4-BE49-F238E27FC236}">
                <a16:creationId xmlns:a16="http://schemas.microsoft.com/office/drawing/2014/main" id="{AB5FB9C7-1C5D-41C3-A257-CABC078E0069}"/>
              </a:ext>
            </a:extLst>
          </p:cNvPr>
          <p:cNvSpPr>
            <a:spLocks xmlns:a="http://schemas.openxmlformats.org/drawingml/2006/main"/>
          </p:cNvSpPr>
          <p:nvPr/>
        </p:nvSpPr>
        <p:spPr>
          <a:xfrm xmlns:a="http://schemas.openxmlformats.org/drawingml/2006/main">
            <a:off x="914400" y="2641600"/>
            <a:ext cx="1036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Input for this call</a:t>
            </a:r>
          </a:p>
        </p:txBody>
      </p:sp>
      <p:sp>
        <p:nvSpPr>
          <p:cNvPr id="175" name="17-text-2">
            <a:extLst xmlns:a="http://schemas.openxmlformats.org/drawingml/2006/main">
              <a:ext uri="{FF2B5EF4-FFF2-40B4-BE49-F238E27FC236}">
                <a16:creationId xmlns:a16="http://schemas.microsoft.com/office/drawing/2014/main" id="{B60C0D77-D4B0-4A33-8E45-045B3B180D8B}"/>
              </a:ext>
            </a:extLst>
          </p:cNvPr>
          <p:cNvSpPr>
            <a:spLocks xmlns:a="http://schemas.openxmlformats.org/drawingml/2006/main"/>
          </p:cNvSpPr>
          <p:nvPr/>
        </p:nvSpPr>
        <p:spPr>
          <a:xfrm xmlns:a="http://schemas.openxmlformats.org/drawingml/2006/main">
            <a:off x="914400" y="3149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Instructions</a:t>
            </a:r>
          </a:p>
        </p:txBody>
      </p:sp>
      <p:sp>
        <p:nvSpPr>
          <p:cNvPr id="176" name="17-text-3">
            <a:extLst xmlns:a="http://schemas.openxmlformats.org/drawingml/2006/main">
              <a:ext uri="{FF2B5EF4-FFF2-40B4-BE49-F238E27FC236}">
                <a16:creationId xmlns:a16="http://schemas.microsoft.com/office/drawing/2014/main" id="{7EE69CF5-EE51-4849-9893-DD0D0B80F957}"/>
              </a:ext>
            </a:extLst>
          </p:cNvPr>
          <p:cNvSpPr>
            <a:spLocks xmlns:a="http://schemas.openxmlformats.org/drawingml/2006/main"/>
          </p:cNvSpPr>
          <p:nvPr/>
        </p:nvSpPr>
        <p:spPr>
          <a:xfrm xmlns:a="http://schemas.openxmlformats.org/drawingml/2006/main">
            <a:off x="914400" y="3860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Rules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constraints</a:t>
            </a:r>
          </a:p>
        </p:txBody>
      </p:sp>
      <p:sp>
        <p:nvSpPr>
          <p:cNvPr id="177" name="17-text-4">
            <a:extLst xmlns:a="http://schemas.openxmlformats.org/drawingml/2006/main">
              <a:ext uri="{FF2B5EF4-FFF2-40B4-BE49-F238E27FC236}">
                <a16:creationId xmlns:a16="http://schemas.microsoft.com/office/drawing/2014/main" id="{A4A107AC-7B68-4D31-9631-27B69ED78A38}"/>
              </a:ext>
            </a:extLst>
          </p:cNvPr>
          <p:cNvSpPr>
            <a:spLocks xmlns:a="http://schemas.openxmlformats.org/drawingml/2006/main"/>
          </p:cNvSpPr>
          <p:nvPr/>
        </p:nvSpPr>
        <p:spPr>
          <a:xfrm xmlns:a="http://schemas.openxmlformats.org/drawingml/2006/main">
            <a:off x="3581400" y="3149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Current request</a:t>
            </a:r>
          </a:p>
        </p:txBody>
      </p:sp>
      <p:sp>
        <p:nvSpPr>
          <p:cNvPr id="178" name="17-text-5">
            <a:extLst xmlns:a="http://schemas.openxmlformats.org/drawingml/2006/main">
              <a:ext uri="{FF2B5EF4-FFF2-40B4-BE49-F238E27FC236}">
                <a16:creationId xmlns:a16="http://schemas.microsoft.com/office/drawing/2014/main" id="{FE3E8112-C58F-43F2-8B53-21B6483406FF}"/>
              </a:ext>
            </a:extLst>
          </p:cNvPr>
          <p:cNvSpPr>
            <a:spLocks xmlns:a="http://schemas.openxmlformats.org/drawingml/2006/main"/>
          </p:cNvSpPr>
          <p:nvPr/>
        </p:nvSpPr>
        <p:spPr>
          <a:xfrm xmlns:a="http://schemas.openxmlformats.org/drawingml/2006/main">
            <a:off x="3581400" y="3860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task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desired result</a:t>
            </a:r>
          </a:p>
        </p:txBody>
      </p:sp>
      <p:sp>
        <p:nvSpPr>
          <p:cNvPr id="179" name="17-text-6">
            <a:extLst xmlns:a="http://schemas.openxmlformats.org/drawingml/2006/main">
              <a:ext uri="{FF2B5EF4-FFF2-40B4-BE49-F238E27FC236}">
                <a16:creationId xmlns:a16="http://schemas.microsoft.com/office/drawing/2014/main" id="{30679E79-5408-48FB-B7D0-752AE1419266}"/>
              </a:ext>
            </a:extLst>
          </p:cNvPr>
          <p:cNvSpPr>
            <a:spLocks xmlns:a="http://schemas.openxmlformats.org/drawingml/2006/main"/>
          </p:cNvSpPr>
          <p:nvPr/>
        </p:nvSpPr>
        <p:spPr>
          <a:xfrm xmlns:a="http://schemas.openxmlformats.org/drawingml/2006/main">
            <a:off x="6248400" y="3149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Examples</a:t>
            </a:r>
          </a:p>
        </p:txBody>
      </p:sp>
      <p:sp>
        <p:nvSpPr>
          <p:cNvPr id="180" name="17-text-7">
            <a:extLst xmlns:a="http://schemas.openxmlformats.org/drawingml/2006/main">
              <a:ext uri="{FF2B5EF4-FFF2-40B4-BE49-F238E27FC236}">
                <a16:creationId xmlns:a16="http://schemas.microsoft.com/office/drawing/2014/main" id="{8467F81D-7CCB-4721-963B-5039738D1D18}"/>
              </a:ext>
            </a:extLst>
          </p:cNvPr>
          <p:cNvSpPr>
            <a:spLocks xmlns:a="http://schemas.openxmlformats.org/drawingml/2006/main"/>
          </p:cNvSpPr>
          <p:nvPr/>
        </p:nvSpPr>
        <p:spPr>
          <a:xfrm xmlns:a="http://schemas.openxmlformats.org/drawingml/2006/main">
            <a:off x="6248400" y="3860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Demonstrations of</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expected behavior</a:t>
            </a:r>
          </a:p>
        </p:txBody>
      </p:sp>
      <p:sp>
        <p:nvSpPr>
          <p:cNvPr id="181" name="17-text-8">
            <a:extLst xmlns:a="http://schemas.openxmlformats.org/drawingml/2006/main">
              <a:ext uri="{FF2B5EF4-FFF2-40B4-BE49-F238E27FC236}">
                <a16:creationId xmlns:a16="http://schemas.microsoft.com/office/drawing/2014/main" id="{3335C9A3-8A85-4156-BC66-16F69C6746FE}"/>
              </a:ext>
            </a:extLst>
          </p:cNvPr>
          <p:cNvSpPr>
            <a:spLocks xmlns:a="http://schemas.openxmlformats.org/drawingml/2006/main"/>
          </p:cNvSpPr>
          <p:nvPr/>
        </p:nvSpPr>
        <p:spPr>
          <a:xfrm xmlns:a="http://schemas.openxmlformats.org/drawingml/2006/main">
            <a:off x="8915400" y="3149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Retrieved evidence</a:t>
            </a:r>
          </a:p>
        </p:txBody>
      </p:sp>
      <p:sp>
        <p:nvSpPr>
          <p:cNvPr id="182" name="17-text-9">
            <a:extLst xmlns:a="http://schemas.openxmlformats.org/drawingml/2006/main">
              <a:ext uri="{FF2B5EF4-FFF2-40B4-BE49-F238E27FC236}">
                <a16:creationId xmlns:a16="http://schemas.microsoft.com/office/drawing/2014/main" id="{C1C86A4B-DEDC-4D9E-9123-8957E453BC80}"/>
              </a:ext>
            </a:extLst>
          </p:cNvPr>
          <p:cNvSpPr>
            <a:spLocks xmlns:a="http://schemas.openxmlformats.org/drawingml/2006/main"/>
          </p:cNvSpPr>
          <p:nvPr/>
        </p:nvSpPr>
        <p:spPr>
          <a:xfrm xmlns:a="http://schemas.openxmlformats.org/drawingml/2006/main">
            <a:off x="8915400" y="3860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Relevant files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passages</a:t>
            </a:r>
          </a:p>
        </p:txBody>
      </p:sp>
      <p:sp>
        <p:nvSpPr>
          <p:cNvPr id="183" name="17-text-10">
            <a:extLst xmlns:a="http://schemas.openxmlformats.org/drawingml/2006/main">
              <a:ext uri="{FF2B5EF4-FFF2-40B4-BE49-F238E27FC236}">
                <a16:creationId xmlns:a16="http://schemas.microsoft.com/office/drawing/2014/main" id="{E99662D6-5F1A-42E1-8D3C-362F83026C11}"/>
              </a:ext>
            </a:extLst>
          </p:cNvPr>
          <p:cNvSpPr>
            <a:spLocks xmlns:a="http://schemas.openxmlformats.org/drawingml/2006/main"/>
          </p:cNvSpPr>
          <p:nvPr/>
        </p:nvSpPr>
        <p:spPr>
          <a:xfrm xmlns:a="http://schemas.openxmlformats.org/drawingml/2006/main">
            <a:off x="914400" y="4673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History and</a:t>
            </a:r>
          </a:p>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task state</a:t>
            </a:r>
          </a:p>
        </p:txBody>
      </p:sp>
      <p:sp>
        <p:nvSpPr>
          <p:cNvPr id="184" name="17-text-11">
            <a:extLst xmlns:a="http://schemas.openxmlformats.org/drawingml/2006/main">
              <a:ext uri="{FF2B5EF4-FFF2-40B4-BE49-F238E27FC236}">
                <a16:creationId xmlns:a16="http://schemas.microsoft.com/office/drawing/2014/main" id="{C6972F9A-C593-4471-99D3-A33A32F26E8E}"/>
              </a:ext>
            </a:extLst>
          </p:cNvPr>
          <p:cNvSpPr>
            <a:spLocks xmlns:a="http://schemas.openxmlformats.org/drawingml/2006/main"/>
          </p:cNvSpPr>
          <p:nvPr/>
        </p:nvSpPr>
        <p:spPr>
          <a:xfrm xmlns:a="http://schemas.openxmlformats.org/drawingml/2006/main">
            <a:off x="914400" y="5384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Prior messages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progress</a:t>
            </a:r>
          </a:p>
        </p:txBody>
      </p:sp>
      <p:sp>
        <p:nvSpPr>
          <p:cNvPr id="185" name="17-text-12">
            <a:extLst xmlns:a="http://schemas.openxmlformats.org/drawingml/2006/main">
              <a:ext uri="{FF2B5EF4-FFF2-40B4-BE49-F238E27FC236}">
                <a16:creationId xmlns:a16="http://schemas.microsoft.com/office/drawing/2014/main" id="{CDE287BD-D93A-40F0-AE23-A971B0E53C37}"/>
              </a:ext>
            </a:extLst>
          </p:cNvPr>
          <p:cNvSpPr>
            <a:spLocks xmlns:a="http://schemas.openxmlformats.org/drawingml/2006/main"/>
          </p:cNvSpPr>
          <p:nvPr/>
        </p:nvSpPr>
        <p:spPr>
          <a:xfrm xmlns:a="http://schemas.openxmlformats.org/drawingml/2006/main">
            <a:off x="3581400" y="4673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Selected memory</a:t>
            </a:r>
          </a:p>
        </p:txBody>
      </p:sp>
      <p:sp>
        <p:nvSpPr>
          <p:cNvPr id="186" name="17-text-13">
            <a:extLst xmlns:a="http://schemas.openxmlformats.org/drawingml/2006/main">
              <a:ext uri="{FF2B5EF4-FFF2-40B4-BE49-F238E27FC236}">
                <a16:creationId xmlns:a16="http://schemas.microsoft.com/office/drawing/2014/main" id="{DBA7CC0F-20CA-4316-9DD7-D03F335F99FF}"/>
              </a:ext>
            </a:extLst>
          </p:cNvPr>
          <p:cNvSpPr>
            <a:spLocks xmlns:a="http://schemas.openxmlformats.org/drawingml/2006/main"/>
          </p:cNvSpPr>
          <p:nvPr/>
        </p:nvSpPr>
        <p:spPr>
          <a:xfrm xmlns:a="http://schemas.openxmlformats.org/drawingml/2006/main">
            <a:off x="3581400" y="5384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Retained information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brought into this call</a:t>
            </a:r>
          </a:p>
        </p:txBody>
      </p:sp>
      <p:sp>
        <p:nvSpPr>
          <p:cNvPr id="187" name="17-text-14">
            <a:extLst xmlns:a="http://schemas.openxmlformats.org/drawingml/2006/main">
              <a:ext uri="{FF2B5EF4-FFF2-40B4-BE49-F238E27FC236}">
                <a16:creationId xmlns:a16="http://schemas.microsoft.com/office/drawing/2014/main" id="{0CF11E8A-6684-4E1E-9CC6-874391AE01EC}"/>
              </a:ext>
            </a:extLst>
          </p:cNvPr>
          <p:cNvSpPr>
            <a:spLocks xmlns:a="http://schemas.openxmlformats.org/drawingml/2006/main"/>
          </p:cNvSpPr>
          <p:nvPr/>
        </p:nvSpPr>
        <p:spPr>
          <a:xfrm xmlns:a="http://schemas.openxmlformats.org/drawingml/2006/main">
            <a:off x="6248400" y="4673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 definitions</a:t>
            </a:r>
          </a:p>
        </p:txBody>
      </p:sp>
      <p:sp>
        <p:nvSpPr>
          <p:cNvPr id="188" name="17-text-15">
            <a:extLst xmlns:a="http://schemas.openxmlformats.org/drawingml/2006/main">
              <a:ext uri="{FF2B5EF4-FFF2-40B4-BE49-F238E27FC236}">
                <a16:creationId xmlns:a16="http://schemas.microsoft.com/office/drawing/2014/main" id="{732EA242-2934-4ED7-A381-8AB7F5010981}"/>
              </a:ext>
            </a:extLst>
          </p:cNvPr>
          <p:cNvSpPr>
            <a:spLocks xmlns:a="http://schemas.openxmlformats.org/drawingml/2006/main"/>
          </p:cNvSpPr>
          <p:nvPr/>
        </p:nvSpPr>
        <p:spPr>
          <a:xfrm xmlns:a="http://schemas.openxmlformats.org/drawingml/2006/main">
            <a:off x="6248400" y="5384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Available operations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arguments</a:t>
            </a:r>
          </a:p>
        </p:txBody>
      </p:sp>
      <p:sp>
        <p:nvSpPr>
          <p:cNvPr id="189" name="17-text-16">
            <a:extLst xmlns:a="http://schemas.openxmlformats.org/drawingml/2006/main">
              <a:ext uri="{FF2B5EF4-FFF2-40B4-BE49-F238E27FC236}">
                <a16:creationId xmlns:a16="http://schemas.microsoft.com/office/drawing/2014/main" id="{6B24BD14-6D60-4C76-B7BE-1C2B4410183F}"/>
              </a:ext>
            </a:extLst>
          </p:cNvPr>
          <p:cNvSpPr>
            <a:spLocks xmlns:a="http://schemas.openxmlformats.org/drawingml/2006/main"/>
          </p:cNvSpPr>
          <p:nvPr/>
        </p:nvSpPr>
        <p:spPr>
          <a:xfrm xmlns:a="http://schemas.openxmlformats.org/drawingml/2006/main">
            <a:off x="8915400" y="4673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 results</a:t>
            </a:r>
          </a:p>
        </p:txBody>
      </p:sp>
      <p:sp>
        <p:nvSpPr>
          <p:cNvPr id="190" name="17-text-17">
            <a:extLst xmlns:a="http://schemas.openxmlformats.org/drawingml/2006/main">
              <a:ext uri="{FF2B5EF4-FFF2-40B4-BE49-F238E27FC236}">
                <a16:creationId xmlns:a16="http://schemas.microsoft.com/office/drawing/2014/main" id="{4C174AA7-EB33-49D9-9D19-4870FC39D9A3}"/>
              </a:ext>
            </a:extLst>
          </p:cNvPr>
          <p:cNvSpPr>
            <a:spLocks xmlns:a="http://schemas.openxmlformats.org/drawingml/2006/main"/>
          </p:cNvSpPr>
          <p:nvPr/>
        </p:nvSpPr>
        <p:spPr>
          <a:xfrm xmlns:a="http://schemas.openxmlformats.org/drawingml/2006/main">
            <a:off x="8915400" y="5384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Returned data</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observations</a:t>
            </a:r>
          </a:p>
        </p:txBody>
      </p:sp>
      <p:sp>
        <p:nvSpPr>
          <p:cNvPr id="191" name="narrative-number">
            <a:extLst xmlns:a="http://schemas.openxmlformats.org/drawingml/2006/main">
              <a:ext uri="{FF2B5EF4-FFF2-40B4-BE49-F238E27FC236}">
                <a16:creationId xmlns:a16="http://schemas.microsoft.com/office/drawing/2014/main" id="{E25B6EB1-AE92-4DAB-A109-8199138F201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17</a:t>
            </a:r>
          </a:p>
        </p:txBody>
      </p:sp>
    </p:spTree>
    <p:extLst>
      <p:ext uri="{BB962C8B-B14F-4D97-AF65-F5344CB8AC3E}">
        <p14:creationId xmlns:p14="http://schemas.microsoft.com/office/powerpoint/2010/main" val="3015825513"/>
      </p:ext>
    </p:extLst>
  </p:cSld>
</p:sld>
</file>

<file path=ppt/slides/slide2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92" name="!!area-name">
            <a:extLst xmlns:a="http://schemas.openxmlformats.org/drawingml/2006/main">
              <a:ext uri="{FF2B5EF4-FFF2-40B4-BE49-F238E27FC236}">
                <a16:creationId xmlns:a16="http://schemas.microsoft.com/office/drawing/2014/main" id="{D45D8B71-7FCD-404A-A352-EF15372BB2E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Decisions</a:t>
            </a:r>
          </a:p>
        </p:txBody>
      </p:sp>
      <p:pic>
        <p:nvPicPr>
          <p:cNvPr id="207" name="mini-map"/>
          <p:cNvPicPr>
            <a:picLocks xmlns:a="http://schemas.openxmlformats.org/drawingml/2006/main" noChangeAspect="1"/>
          </p:cNvPicPr>
          <p:nvPr/>
        </p:nvPicPr>
        <p:blipFill>
          <a:blip xmlns:r="http://schemas.openxmlformats.org/officeDocument/2006/relationships" xmlns:a="http://schemas.openxmlformats.org/drawingml/2006/main" r:embed="Rbee853a2b087442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94" name="slide-title">
            <a:extLst xmlns:a="http://schemas.openxmlformats.org/drawingml/2006/main">
              <a:ext uri="{FF2B5EF4-FFF2-40B4-BE49-F238E27FC236}">
                <a16:creationId xmlns:a16="http://schemas.microsoft.com/office/drawing/2014/main" id="{0DB5111E-19A1-404F-B2B7-C294560559A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Selecting and organizing context</a:t>
            </a:r>
          </a:p>
        </p:txBody>
      </p:sp>
      <p:sp>
        <p:nvSpPr>
          <p:cNvPr id="195" name="header-divider">
            <a:extLst xmlns:a="http://schemas.openxmlformats.org/drawingml/2006/main">
              <a:ext uri="{FF2B5EF4-FFF2-40B4-BE49-F238E27FC236}">
                <a16:creationId xmlns:a16="http://schemas.microsoft.com/office/drawing/2014/main" id="{F3F5F78A-372B-4FFD-B6C4-96E366C33C2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96" name="18-text-1">
            <a:extLst xmlns:a="http://schemas.openxmlformats.org/drawingml/2006/main">
              <a:ext uri="{FF2B5EF4-FFF2-40B4-BE49-F238E27FC236}">
                <a16:creationId xmlns:a16="http://schemas.microsoft.com/office/drawing/2014/main" id="{94B57742-C5C1-4A05-A98C-6114D3785039}"/>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Select</a:t>
            </a:r>
          </a:p>
        </p:txBody>
      </p:sp>
      <p:sp>
        <p:nvSpPr>
          <p:cNvPr id="197" name="18-text-2">
            <a:extLst xmlns:a="http://schemas.openxmlformats.org/drawingml/2006/main">
              <a:ext uri="{FF2B5EF4-FFF2-40B4-BE49-F238E27FC236}">
                <a16:creationId xmlns:a16="http://schemas.microsoft.com/office/drawing/2014/main" id="{D44FE2F2-E3CC-42A5-9C55-929DBC84FD99}"/>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Preload essentials.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Retrieve relevant evidence when needed.</a:t>
            </a:r>
          </a:p>
        </p:txBody>
      </p:sp>
      <p:sp>
        <p:nvSpPr>
          <p:cNvPr id="198" name="18-text-3">
            <a:extLst xmlns:a="http://schemas.openxmlformats.org/drawingml/2006/main">
              <a:ext uri="{FF2B5EF4-FFF2-40B4-BE49-F238E27FC236}">
                <a16:creationId xmlns:a16="http://schemas.microsoft.com/office/drawing/2014/main" id="{E23A56A4-8B97-4497-B80A-11616E5768CF}"/>
              </a:ext>
            </a:extLst>
          </p:cNvPr>
          <p:cNvSpPr>
            <a:spLocks xmlns:a="http://schemas.openxmlformats.org/drawingml/2006/main"/>
          </p:cNvSpPr>
          <p:nvPr/>
        </p:nvSpPr>
        <p:spPr>
          <a:xfrm xmlns:a="http://schemas.openxmlformats.org/drawingml/2006/main">
            <a:off x="609600" y="32766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Position</a:t>
            </a:r>
          </a:p>
        </p:txBody>
      </p:sp>
      <p:sp>
        <p:nvSpPr>
          <p:cNvPr id="199" name="18-text-4">
            <a:extLst xmlns:a="http://schemas.openxmlformats.org/drawingml/2006/main">
              <a:ext uri="{FF2B5EF4-FFF2-40B4-BE49-F238E27FC236}">
                <a16:creationId xmlns:a16="http://schemas.microsoft.com/office/drawing/2014/main" id="{28FA93D2-10AB-44EB-8014-6E8DF1486F52}"/>
              </a:ext>
            </a:extLst>
          </p:cNvPr>
          <p:cNvSpPr>
            <a:spLocks xmlns:a="http://schemas.openxmlformats.org/drawingml/2006/main"/>
          </p:cNvSpPr>
          <p:nvPr/>
        </p:nvSpPr>
        <p:spPr>
          <a:xfrm xmlns:a="http://schemas.openxmlformats.org/drawingml/2006/main">
            <a:off x="3708400" y="32766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Distinguish instructions from evidence.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Test placement of key information.</a:t>
            </a:r>
          </a:p>
        </p:txBody>
      </p:sp>
      <p:sp>
        <p:nvSpPr>
          <p:cNvPr id="200" name="18-text-5">
            <a:extLst xmlns:a="http://schemas.openxmlformats.org/drawingml/2006/main">
              <a:ext uri="{FF2B5EF4-FFF2-40B4-BE49-F238E27FC236}">
                <a16:creationId xmlns:a16="http://schemas.microsoft.com/office/drawing/2014/main" id="{39B3BF87-BC5B-40A9-B430-E2CBFDABB393}"/>
              </a:ext>
            </a:extLst>
          </p:cNvPr>
          <p:cNvSpPr>
            <a:spLocks xmlns:a="http://schemas.openxmlformats.org/drawingml/2006/main"/>
          </p:cNvSpPr>
          <p:nvPr/>
        </p:nvSpPr>
        <p:spPr>
          <a:xfrm xmlns:a="http://schemas.openxmlformats.org/drawingml/2006/main">
            <a:off x="609600" y="4114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Maintain</a:t>
            </a:r>
          </a:p>
        </p:txBody>
      </p:sp>
      <p:sp>
        <p:nvSpPr>
          <p:cNvPr id="201" name="18-text-6">
            <a:extLst xmlns:a="http://schemas.openxmlformats.org/drawingml/2006/main">
              <a:ext uri="{FF2B5EF4-FFF2-40B4-BE49-F238E27FC236}">
                <a16:creationId xmlns:a16="http://schemas.microsoft.com/office/drawing/2014/main" id="{EB0B06B1-5877-4B5A-9E1C-6E4743EA012F}"/>
              </a:ext>
            </a:extLst>
          </p:cNvPr>
          <p:cNvSpPr>
            <a:spLocks xmlns:a="http://schemas.openxmlformats.org/drawingml/2006/main"/>
          </p:cNvSpPr>
          <p:nvPr/>
        </p:nvSpPr>
        <p:spPr>
          <a:xfrm xmlns:a="http://schemas.openxmlformats.org/drawingml/2006/main">
            <a:off x="3708400" y="4114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Refresh stale information.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Compact history while preserving constraints.</a:t>
            </a:r>
          </a:p>
        </p:txBody>
      </p:sp>
      <p:sp>
        <p:nvSpPr>
          <p:cNvPr id="202" name="18-text-7">
            <a:extLst xmlns:a="http://schemas.openxmlformats.org/drawingml/2006/main">
              <a:ext uri="{FF2B5EF4-FFF2-40B4-BE49-F238E27FC236}">
                <a16:creationId xmlns:a16="http://schemas.microsoft.com/office/drawing/2014/main" id="{D0E47005-9127-4344-818F-601D20E9A088}"/>
              </a:ext>
            </a:extLst>
          </p:cNvPr>
          <p:cNvSpPr>
            <a:spLocks xmlns:a="http://schemas.openxmlformats.org/drawingml/2006/main"/>
          </p:cNvSpPr>
          <p:nvPr/>
        </p:nvSpPr>
        <p:spPr>
          <a:xfrm xmlns:a="http://schemas.openxmlformats.org/drawingml/2006/main">
            <a:off x="609600" y="4953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Delegate</a:t>
            </a:r>
          </a:p>
        </p:txBody>
      </p:sp>
      <p:sp>
        <p:nvSpPr>
          <p:cNvPr id="203" name="18-text-8">
            <a:extLst xmlns:a="http://schemas.openxmlformats.org/drawingml/2006/main">
              <a:ext uri="{FF2B5EF4-FFF2-40B4-BE49-F238E27FC236}">
                <a16:creationId xmlns:a16="http://schemas.microsoft.com/office/drawing/2014/main" id="{984C26AD-EF5B-41F0-9F7B-E0CD33DEE62D}"/>
              </a:ext>
            </a:extLst>
          </p:cNvPr>
          <p:cNvSpPr>
            <a:spLocks xmlns:a="http://schemas.openxmlformats.org/drawingml/2006/main"/>
          </p:cNvSpPr>
          <p:nvPr/>
        </p:nvSpPr>
        <p:spPr>
          <a:xfrm xmlns:a="http://schemas.openxmlformats.org/drawingml/2006/main">
            <a:off x="3708400" y="49530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Give focused tasks separate contexts.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Return findings with sources.</a:t>
            </a:r>
          </a:p>
        </p:txBody>
      </p:sp>
      <p:sp>
        <p:nvSpPr>
          <p:cNvPr id="204" name="18-text-9">
            <a:extLst xmlns:a="http://schemas.openxmlformats.org/drawingml/2006/main">
              <a:ext uri="{FF2B5EF4-FFF2-40B4-BE49-F238E27FC236}">
                <a16:creationId xmlns:a16="http://schemas.microsoft.com/office/drawing/2014/main" id="{8F4CAE95-861B-465B-8026-353C0B11B458}"/>
              </a:ext>
            </a:extLst>
          </p:cNvPr>
          <p:cNvSpPr>
            <a:spLocks xmlns:a="http://schemas.openxmlformats.org/drawingml/2006/main"/>
          </p:cNvSpPr>
          <p:nvPr/>
        </p:nvSpPr>
        <p:spPr>
          <a:xfrm xmlns:a="http://schemas.openxmlformats.org/drawingml/2006/main">
            <a:off x="609600" y="5918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Preserve source identity and enforce access before inclusion.</a:t>
            </a:r>
          </a:p>
        </p:txBody>
      </p:sp>
      <p:sp>
        <p:nvSpPr>
          <p:cNvPr id="205" name="narrative-number">
            <a:extLst xmlns:a="http://schemas.openxmlformats.org/drawingml/2006/main">
              <a:ext uri="{FF2B5EF4-FFF2-40B4-BE49-F238E27FC236}">
                <a16:creationId xmlns:a16="http://schemas.microsoft.com/office/drawing/2014/main" id="{9A033032-E486-48D2-8A6B-0CB57189245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2631896754"/>
      </p:ext>
    </p:extLst>
  </p:cSld>
</p:sld>
</file>

<file path=ppt/slides/slide2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06" name="!!area-name">
            <a:extLst xmlns:a="http://schemas.openxmlformats.org/drawingml/2006/main">
              <a:ext uri="{FF2B5EF4-FFF2-40B4-BE49-F238E27FC236}">
                <a16:creationId xmlns:a16="http://schemas.microsoft.com/office/drawing/2014/main" id="{D2E45DD6-ECE6-42BC-AC68-098B872E1B8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Challenges and pitfalls</a:t>
            </a:r>
          </a:p>
        </p:txBody>
      </p:sp>
      <p:pic>
        <p:nvPicPr>
          <p:cNvPr id="222" name="mini-map"/>
          <p:cNvPicPr>
            <a:picLocks xmlns:a="http://schemas.openxmlformats.org/drawingml/2006/main" noChangeAspect="1"/>
          </p:cNvPicPr>
          <p:nvPr/>
        </p:nvPicPr>
        <p:blipFill>
          <a:blip xmlns:r="http://schemas.openxmlformats.org/officeDocument/2006/relationships" xmlns:a="http://schemas.openxmlformats.org/drawingml/2006/main" r:embed="Rce580b7dc3c54de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08" name="slide-title">
            <a:extLst xmlns:a="http://schemas.openxmlformats.org/drawingml/2006/main">
              <a:ext uri="{FF2B5EF4-FFF2-40B4-BE49-F238E27FC236}">
                <a16:creationId xmlns:a16="http://schemas.microsoft.com/office/drawing/2014/main" id="{783217C1-49C6-4317-AFCE-640BDC7AD82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pitfalls</a:t>
            </a:r>
          </a:p>
        </p:txBody>
      </p:sp>
      <p:sp>
        <p:nvSpPr>
          <p:cNvPr id="209" name="header-divider">
            <a:extLst xmlns:a="http://schemas.openxmlformats.org/drawingml/2006/main">
              <a:ext uri="{FF2B5EF4-FFF2-40B4-BE49-F238E27FC236}">
                <a16:creationId xmlns:a16="http://schemas.microsoft.com/office/drawing/2014/main" id="{8951F3AA-817B-4452-9347-00A6B6B568B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10" name="19-text-1">
            <a:extLst xmlns:a="http://schemas.openxmlformats.org/drawingml/2006/main">
              <a:ext uri="{FF2B5EF4-FFF2-40B4-BE49-F238E27FC236}">
                <a16:creationId xmlns:a16="http://schemas.microsoft.com/office/drawing/2014/main" id="{7EC05694-0AE6-4099-A26B-64BF73E506E8}"/>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Distraction</a:t>
            </a:r>
          </a:p>
        </p:txBody>
      </p:sp>
      <p:sp>
        <p:nvSpPr>
          <p:cNvPr id="211" name="19-text-2">
            <a:extLst xmlns:a="http://schemas.openxmlformats.org/drawingml/2006/main">
              <a:ext uri="{FF2B5EF4-FFF2-40B4-BE49-F238E27FC236}">
                <a16:creationId xmlns:a16="http://schemas.microsoft.com/office/drawing/2014/main" id="{A37C146C-5056-4953-AF64-A6810BD635E8}"/>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Irrelevant content can steer the answer away from the task.</a:t>
            </a:r>
          </a:p>
        </p:txBody>
      </p:sp>
      <p:sp>
        <p:nvSpPr>
          <p:cNvPr id="212" name="19-text-3">
            <a:extLst xmlns:a="http://schemas.openxmlformats.org/drawingml/2006/main">
              <a:ext uri="{FF2B5EF4-FFF2-40B4-BE49-F238E27FC236}">
                <a16:creationId xmlns:a16="http://schemas.microsoft.com/office/drawing/2014/main" id="{301933A3-6416-4EBA-A7A9-DF6A2AFD96A4}"/>
              </a:ext>
            </a:extLst>
          </p:cNvPr>
          <p:cNvSpPr>
            <a:spLocks xmlns:a="http://schemas.openxmlformats.org/drawingml/2006/main"/>
          </p:cNvSpPr>
          <p:nvPr/>
        </p:nvSpPr>
        <p:spPr>
          <a:xfrm xmlns:a="http://schemas.openxmlformats.org/drawingml/2006/main">
            <a:off x="609600" y="3124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Position</a:t>
            </a:r>
          </a:p>
        </p:txBody>
      </p:sp>
      <p:sp>
        <p:nvSpPr>
          <p:cNvPr id="213" name="19-text-4">
            <a:extLst xmlns:a="http://schemas.openxmlformats.org/drawingml/2006/main">
              <a:ext uri="{FF2B5EF4-FFF2-40B4-BE49-F238E27FC236}">
                <a16:creationId xmlns:a16="http://schemas.microsoft.com/office/drawing/2014/main" id="{72E31FB3-35B0-4B9D-AFA9-EAC094E71462}"/>
              </a:ext>
            </a:extLst>
          </p:cNvPr>
          <p:cNvSpPr>
            <a:spLocks xmlns:a="http://schemas.openxmlformats.org/drawingml/2006/main"/>
          </p:cNvSpPr>
          <p:nvPr/>
        </p:nvSpPr>
        <p:spPr>
          <a:xfrm xmlns:a="http://schemas.openxmlformats.org/drawingml/2006/main">
            <a:off x="3708400" y="3124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Relevant evidence can be overlooked depending on placement.</a:t>
            </a:r>
          </a:p>
        </p:txBody>
      </p:sp>
      <p:sp>
        <p:nvSpPr>
          <p:cNvPr id="214" name="19-text-5">
            <a:extLst xmlns:a="http://schemas.openxmlformats.org/drawingml/2006/main">
              <a:ext uri="{FF2B5EF4-FFF2-40B4-BE49-F238E27FC236}">
                <a16:creationId xmlns:a16="http://schemas.microsoft.com/office/drawing/2014/main" id="{C92B5401-DBD3-4B2C-AFA2-97327217C34B}"/>
              </a:ext>
            </a:extLst>
          </p:cNvPr>
          <p:cNvSpPr>
            <a:spLocks xmlns:a="http://schemas.openxmlformats.org/drawingml/2006/main"/>
          </p:cNvSpPr>
          <p:nvPr/>
        </p:nvSpPr>
        <p:spPr>
          <a:xfrm xmlns:a="http://schemas.openxmlformats.org/drawingml/2006/main">
            <a:off x="609600" y="3810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Context rot</a:t>
            </a:r>
          </a:p>
        </p:txBody>
      </p:sp>
      <p:sp>
        <p:nvSpPr>
          <p:cNvPr id="215" name="19-text-6">
            <a:extLst xmlns:a="http://schemas.openxmlformats.org/drawingml/2006/main">
              <a:ext uri="{FF2B5EF4-FFF2-40B4-BE49-F238E27FC236}">
                <a16:creationId xmlns:a16="http://schemas.microsoft.com/office/drawing/2014/main" id="{98EEEBB8-1CE2-450B-8C39-115D478AF838}"/>
              </a:ext>
            </a:extLst>
          </p:cNvPr>
          <p:cNvSpPr>
            <a:spLocks xmlns:a="http://schemas.openxmlformats.org/drawingml/2006/main"/>
          </p:cNvSpPr>
          <p:nvPr/>
        </p:nvSpPr>
        <p:spPr>
          <a:xfrm xmlns:a="http://schemas.openxmlformats.org/drawingml/2006/main">
            <a:off x="3708400" y="38100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Reliability can decline as the input grows.</a:t>
            </a:r>
          </a:p>
        </p:txBody>
      </p:sp>
      <p:sp>
        <p:nvSpPr>
          <p:cNvPr id="216" name="19-text-7">
            <a:extLst xmlns:a="http://schemas.openxmlformats.org/drawingml/2006/main">
              <a:ext uri="{FF2B5EF4-FFF2-40B4-BE49-F238E27FC236}">
                <a16:creationId xmlns:a16="http://schemas.microsoft.com/office/drawing/2014/main" id="{9F6813AF-F8AD-4FF3-BE73-C8FA6EF00F8E}"/>
              </a:ext>
            </a:extLst>
          </p:cNvPr>
          <p:cNvSpPr>
            <a:spLocks xmlns:a="http://schemas.openxmlformats.org/drawingml/2006/main"/>
          </p:cNvSpPr>
          <p:nvPr/>
        </p:nvSpPr>
        <p:spPr>
          <a:xfrm xmlns:a="http://schemas.openxmlformats.org/drawingml/2006/main">
            <a:off x="609600" y="449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Information loss</a:t>
            </a:r>
          </a:p>
        </p:txBody>
      </p:sp>
      <p:sp>
        <p:nvSpPr>
          <p:cNvPr id="217" name="19-text-8">
            <a:extLst xmlns:a="http://schemas.openxmlformats.org/drawingml/2006/main">
              <a:ext uri="{FF2B5EF4-FFF2-40B4-BE49-F238E27FC236}">
                <a16:creationId xmlns:a16="http://schemas.microsoft.com/office/drawing/2014/main" id="{75913919-F736-4F6A-BCD7-8508C9F66DC2}"/>
              </a:ext>
            </a:extLst>
          </p:cNvPr>
          <p:cNvSpPr>
            <a:spLocks xmlns:a="http://schemas.openxmlformats.org/drawingml/2006/main"/>
          </p:cNvSpPr>
          <p:nvPr/>
        </p:nvSpPr>
        <p:spPr>
          <a:xfrm xmlns:a="http://schemas.openxmlformats.org/drawingml/2006/main">
            <a:off x="3708400" y="449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Retrieval, summaries, and handoffs can omit critical details.</a:t>
            </a:r>
          </a:p>
        </p:txBody>
      </p:sp>
      <p:sp>
        <p:nvSpPr>
          <p:cNvPr id="218" name="19-text-9">
            <a:extLst xmlns:a="http://schemas.openxmlformats.org/drawingml/2006/main">
              <a:ext uri="{FF2B5EF4-FFF2-40B4-BE49-F238E27FC236}">
                <a16:creationId xmlns:a16="http://schemas.microsoft.com/office/drawing/2014/main" id="{24D779EB-79C3-4293-ADEA-EB16CD0AF9AF}"/>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19" name="19-text-10">
            <a:extLst xmlns:a="http://schemas.openxmlformats.org/drawingml/2006/main">
              <a:ext uri="{FF2B5EF4-FFF2-40B4-BE49-F238E27FC236}">
                <a16:creationId xmlns:a16="http://schemas.microsoft.com/office/drawing/2014/main" id="{72A32240-F644-4565-A73F-026F08082733}"/>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context without curating it.</a:t>
            </a:r>
          </a:p>
        </p:txBody>
      </p:sp>
      <p:sp>
        <p:nvSpPr>
          <p:cNvPr id="220" name="narrative-number">
            <a:extLst xmlns:a="http://schemas.openxmlformats.org/drawingml/2006/main">
              <a:ext uri="{FF2B5EF4-FFF2-40B4-BE49-F238E27FC236}">
                <a16:creationId xmlns:a16="http://schemas.microsoft.com/office/drawing/2014/main" id="{E554CC50-08BF-485D-942C-FAA92A140D5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19</a:t>
            </a:r>
          </a:p>
        </p:txBody>
      </p:sp>
    </p:spTree>
    <p:extLst>
      <p:ext uri="{BB962C8B-B14F-4D97-AF65-F5344CB8AC3E}">
        <p14:creationId xmlns:p14="http://schemas.microsoft.com/office/powerpoint/2010/main" val="1094513448"/>
      </p:ext>
    </p:extLst>
  </p:cSld>
</p:sld>
</file>

<file path=ppt/slides/slide2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21" name="!!area-name">
            <a:extLst xmlns:a="http://schemas.openxmlformats.org/drawingml/2006/main">
              <a:ext uri="{FF2B5EF4-FFF2-40B4-BE49-F238E27FC236}">
                <a16:creationId xmlns:a16="http://schemas.microsoft.com/office/drawing/2014/main" id="{E4EB9E66-F037-4FF4-A3D9-7721EBF7A80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FRB application</a:t>
            </a:r>
          </a:p>
        </p:txBody>
      </p:sp>
      <p:pic>
        <p:nvPicPr>
          <p:cNvPr id="238" name="mini-map"/>
          <p:cNvPicPr>
            <a:picLocks xmlns:a="http://schemas.openxmlformats.org/drawingml/2006/main" noChangeAspect="1"/>
          </p:cNvPicPr>
          <p:nvPr/>
        </p:nvPicPr>
        <p:blipFill>
          <a:blip xmlns:r="http://schemas.openxmlformats.org/officeDocument/2006/relationships" xmlns:a="http://schemas.openxmlformats.org/drawingml/2006/main" r:embed="Rd755f5858d1d441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23" name="slide-title">
            <a:extLst xmlns:a="http://schemas.openxmlformats.org/drawingml/2006/main">
              <a:ext uri="{FF2B5EF4-FFF2-40B4-BE49-F238E27FC236}">
                <a16:creationId xmlns:a16="http://schemas.microsoft.com/office/drawing/2014/main" id="{507ED2D8-06FD-47B5-A6D5-F7B97966A02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Evidence for the FRB brief</a:t>
            </a:r>
          </a:p>
        </p:txBody>
      </p:sp>
      <p:sp>
        <p:nvSpPr>
          <p:cNvPr id="224" name="header-divider">
            <a:extLst xmlns:a="http://schemas.openxmlformats.org/drawingml/2006/main">
              <a:ext uri="{FF2B5EF4-FFF2-40B4-BE49-F238E27FC236}">
                <a16:creationId xmlns:a16="http://schemas.microsoft.com/office/drawing/2014/main" id="{1E6ABBED-D7BA-4C6B-A5AC-19D30602E1D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25" name="20-text-1">
            <a:extLst xmlns:a="http://schemas.openxmlformats.org/drawingml/2006/main">
              <a:ext uri="{FF2B5EF4-FFF2-40B4-BE49-F238E27FC236}">
                <a16:creationId xmlns:a16="http://schemas.microsoft.com/office/drawing/2014/main" id="{4798D289-1D27-436A-9013-615FE0300411}"/>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evidence and retrieval failure.</a:t>
            </a:r>
          </a:p>
        </p:txBody>
      </p:sp>
      <p:sp>
        <p:nvSpPr>
          <p:cNvPr id="226" name="20-text-2">
            <a:extLst xmlns:a="http://schemas.openxmlformats.org/drawingml/2006/main">
              <a:ext uri="{FF2B5EF4-FFF2-40B4-BE49-F238E27FC236}">
                <a16:creationId xmlns:a16="http://schemas.microsoft.com/office/drawing/2014/main" id="{F990D511-2470-482D-BDB6-B282BC3E08D3}"/>
              </a:ext>
            </a:extLst>
          </p:cNvPr>
          <p:cNvSpPr>
            <a:spLocks xmlns:a="http://schemas.openxmlformats.org/drawingml/2006/main"/>
          </p:cNvSpPr>
          <p:nvPr/>
        </p:nvSpPr>
        <p:spPr>
          <a:xfrm xmlns:a="http://schemas.openxmlformats.org/drawingml/2006/main">
            <a:off x="609600" y="28448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FRB-042-BRF r1 · August 19, 2026</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slide 6</a:t>
            </a:r>
          </a:p>
        </p:txBody>
      </p:sp>
      <p:sp>
        <p:nvSpPr>
          <p:cNvPr id="227" name="20-text-3">
            <a:extLst xmlns:a="http://schemas.openxmlformats.org/drawingml/2006/main">
              <a:ext uri="{FF2B5EF4-FFF2-40B4-BE49-F238E27FC236}">
                <a16:creationId xmlns:a16="http://schemas.microsoft.com/office/drawing/2014/main" id="{42442DF7-BBF5-433F-8783-3D9E22CB6085}"/>
              </a:ext>
            </a:extLst>
          </p:cNvPr>
          <p:cNvSpPr>
            <a:spLocks xmlns:a="http://schemas.openxmlformats.org/drawingml/2006/main"/>
          </p:cNvSpPr>
          <p:nvPr/>
        </p:nvSpPr>
        <p:spPr>
          <a:xfrm xmlns:a="http://schemas.openxmlformats.org/drawingml/2006/main">
            <a:off x="609600" y="3327400"/>
            <a:ext cx="533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 is a</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possible cause.”</a:t>
            </a:r>
          </a:p>
        </p:txBody>
      </p:sp>
      <p:sp>
        <p:nvSpPr>
          <p:cNvPr id="228" name="20-text-4">
            <a:extLst xmlns:a="http://schemas.openxmlformats.org/drawingml/2006/main">
              <a:ext uri="{FF2B5EF4-FFF2-40B4-BE49-F238E27FC236}">
                <a16:creationId xmlns:a16="http://schemas.microsoft.com/office/drawing/2014/main" id="{B1A5211D-52CB-41BB-A3AC-A8805F3817CF}"/>
              </a:ext>
            </a:extLst>
          </p:cNvPr>
          <p:cNvSpPr>
            <a:spLocks xmlns:a="http://schemas.openxmlformats.org/drawingml/2006/main"/>
          </p:cNvSpPr>
          <p:nvPr/>
        </p:nvSpPr>
        <p:spPr>
          <a:xfrm xmlns:a="http://schemas.openxmlformats.org/drawingml/2006/main">
            <a:off x="609600" y="43688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August 22, 2026</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§3, paragraph 2 · omitted in this failure</a:t>
            </a:r>
          </a:p>
        </p:txBody>
      </p:sp>
      <p:sp>
        <p:nvSpPr>
          <p:cNvPr id="229" name="20-text-5">
            <a:extLst xmlns:a="http://schemas.openxmlformats.org/drawingml/2006/main">
              <a:ext uri="{FF2B5EF4-FFF2-40B4-BE49-F238E27FC236}">
                <a16:creationId xmlns:a16="http://schemas.microsoft.com/office/drawing/2014/main" id="{3A4D5D20-C101-47AA-BD01-FEB2D9D81B56}"/>
              </a:ext>
            </a:extLst>
          </p:cNvPr>
          <p:cNvSpPr>
            <a:spLocks xmlns:a="http://schemas.openxmlformats.org/drawingml/2006/main"/>
          </p:cNvSpPr>
          <p:nvPr/>
        </p:nvSpPr>
        <p:spPr>
          <a:xfrm xmlns:a="http://schemas.openxmlformats.org/drawingml/2006/main">
            <a:off x="609600" y="5080000"/>
            <a:ext cx="5334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230" name="20-text-6">
            <a:extLst xmlns:a="http://schemas.openxmlformats.org/drawingml/2006/main">
              <a:ext uri="{FF2B5EF4-FFF2-40B4-BE49-F238E27FC236}">
                <a16:creationId xmlns:a16="http://schemas.microsoft.com/office/drawing/2014/main" id="{1A75008A-1327-48C9-BB6B-4D8D5F5E3816}"/>
              </a:ext>
            </a:extLst>
          </p:cNvPr>
          <p:cNvSpPr>
            <a:spLocks xmlns:a="http://schemas.openxmlformats.org/drawingml/2006/main"/>
          </p:cNvSpPr>
          <p:nvPr/>
        </p:nvSpPr>
        <p:spPr>
          <a:xfrm xmlns:a="http://schemas.openxmlformats.org/drawingml/2006/main">
            <a:off x="6248400" y="2844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Design</a:t>
            </a:r>
          </a:p>
        </p:txBody>
      </p:sp>
      <p:sp>
        <p:nvSpPr>
          <p:cNvPr id="231" name="20-text-7">
            <a:extLst xmlns:a="http://schemas.openxmlformats.org/drawingml/2006/main">
              <a:ext uri="{FF2B5EF4-FFF2-40B4-BE49-F238E27FC236}">
                <a16:creationId xmlns:a16="http://schemas.microsoft.com/office/drawing/2014/main" id="{F27707C4-9658-418A-975B-D1EE4ADD8D6B}"/>
              </a:ext>
            </a:extLst>
          </p:cNvPr>
          <p:cNvSpPr>
            <a:spLocks xmlns:a="http://schemas.openxmlformats.org/drawingml/2006/main"/>
          </p:cNvSpPr>
          <p:nvPr/>
        </p:nvSpPr>
        <p:spPr>
          <a:xfrm xmlns:a="http://schemas.openxmlformats.org/drawingml/2006/main">
            <a:off x="6248400" y="32258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Supply both passages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 their source identities.</a:t>
            </a:r>
          </a:p>
        </p:txBody>
      </p:sp>
      <p:sp>
        <p:nvSpPr>
          <p:cNvPr id="232" name="20-text-8">
            <a:extLst xmlns:a="http://schemas.openxmlformats.org/drawingml/2006/main">
              <a:ext uri="{FF2B5EF4-FFF2-40B4-BE49-F238E27FC236}">
                <a16:creationId xmlns:a16="http://schemas.microsoft.com/office/drawing/2014/main" id="{D5CD58FD-E5C5-49A9-AA06-EB913EA82CFD}"/>
              </a:ext>
            </a:extLst>
          </p:cNvPr>
          <p:cNvSpPr>
            <a:spLocks xmlns:a="http://schemas.openxmlformats.org/drawingml/2006/main"/>
          </p:cNvSpPr>
          <p:nvPr/>
        </p:nvSpPr>
        <p:spPr>
          <a:xfrm xmlns:a="http://schemas.openxmlformats.org/drawingml/2006/main">
            <a:off x="6248400" y="3987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Failure</a:t>
            </a:r>
          </a:p>
        </p:txBody>
      </p:sp>
      <p:sp>
        <p:nvSpPr>
          <p:cNvPr id="233" name="20-text-9">
            <a:extLst xmlns:a="http://schemas.openxmlformats.org/drawingml/2006/main">
              <a:ext uri="{FF2B5EF4-FFF2-40B4-BE49-F238E27FC236}">
                <a16:creationId xmlns:a16="http://schemas.microsoft.com/office/drawing/2014/main" id="{C70B8CF2-9667-4483-B1EC-2B76CDD629FB}"/>
              </a:ext>
            </a:extLst>
          </p:cNvPr>
          <p:cNvSpPr>
            <a:spLocks xmlns:a="http://schemas.openxmlformats.org/drawingml/2006/main"/>
          </p:cNvSpPr>
          <p:nvPr/>
        </p:nvSpPr>
        <p:spPr>
          <a:xfrm xmlns:a="http://schemas.openxmlformats.org/drawingml/2006/main">
            <a:off x="6248400" y="4368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Retrieval misses the later minutes.</a:t>
            </a:r>
          </a:p>
        </p:txBody>
      </p:sp>
      <p:sp>
        <p:nvSpPr>
          <p:cNvPr id="234" name="20-text-10">
            <a:extLst xmlns:a="http://schemas.openxmlformats.org/drawingml/2006/main">
              <a:ext uri="{FF2B5EF4-FFF2-40B4-BE49-F238E27FC236}">
                <a16:creationId xmlns:a16="http://schemas.microsoft.com/office/drawing/2014/main" id="{EC2AD810-1A95-4BB8-B738-A9814AC51540}"/>
              </a:ext>
            </a:extLst>
          </p:cNvPr>
          <p:cNvSpPr>
            <a:spLocks xmlns:a="http://schemas.openxmlformats.org/drawingml/2006/main"/>
          </p:cNvSpPr>
          <p:nvPr/>
        </p:nvSpPr>
        <p:spPr>
          <a:xfrm xmlns:a="http://schemas.openxmlformats.org/drawingml/2006/main">
            <a:off x="6248400" y="4876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 to check</a:t>
            </a:r>
          </a:p>
        </p:txBody>
      </p:sp>
      <p:sp>
        <p:nvSpPr>
          <p:cNvPr id="235" name="20-text-11">
            <a:extLst xmlns:a="http://schemas.openxmlformats.org/drawingml/2006/main">
              <a:ext uri="{FF2B5EF4-FFF2-40B4-BE49-F238E27FC236}">
                <a16:creationId xmlns:a16="http://schemas.microsoft.com/office/drawing/2014/main" id="{99A74248-1C2A-426F-9003-B95FCFDAF2B9}"/>
              </a:ext>
            </a:extLst>
          </p:cNvPr>
          <p:cNvSpPr>
            <a:spLocks xmlns:a="http://schemas.openxmlformats.org/drawingml/2006/main"/>
          </p:cNvSpPr>
          <p:nvPr/>
        </p:nvSpPr>
        <p:spPr>
          <a:xfrm xmlns:a="http://schemas.openxmlformats.org/drawingml/2006/main">
            <a:off x="6248400" y="5257800"/>
            <a:ext cx="5334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Both passages reach the input.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Summary preserves uncertainty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required inspection.</a:t>
            </a:r>
          </a:p>
        </p:txBody>
      </p:sp>
      <p:sp>
        <p:nvSpPr>
          <p:cNvPr id="236" name="narrative-number">
            <a:extLst xmlns:a="http://schemas.openxmlformats.org/drawingml/2006/main">
              <a:ext uri="{FF2B5EF4-FFF2-40B4-BE49-F238E27FC236}">
                <a16:creationId xmlns:a16="http://schemas.microsoft.com/office/drawing/2014/main" id="{3AD9D3FB-4F8C-4D15-9136-D0B7666119D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20</a:t>
            </a:r>
          </a:p>
        </p:txBody>
      </p:sp>
    </p:spTree>
    <p:extLst>
      <p:ext uri="{BB962C8B-B14F-4D97-AF65-F5344CB8AC3E}">
        <p14:creationId xmlns:p14="http://schemas.microsoft.com/office/powerpoint/2010/main" val="1850426354"/>
      </p:ext>
    </p:extLst>
  </p:cSld>
</p:sld>
</file>

<file path=ppt/slides/slide2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37" name="!!area-name">
            <a:extLst xmlns:a="http://schemas.openxmlformats.org/drawingml/2006/main">
              <a:ext uri="{FF2B5EF4-FFF2-40B4-BE49-F238E27FC236}">
                <a16:creationId xmlns:a16="http://schemas.microsoft.com/office/drawing/2014/main" id="{612C9458-7113-4366-9034-AF5BF5C6770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Perspective</a:t>
            </a:r>
          </a:p>
        </p:txBody>
      </p:sp>
      <p:pic>
        <p:nvPicPr>
          <p:cNvPr id="246" name="mini-map"/>
          <p:cNvPicPr>
            <a:picLocks xmlns:a="http://schemas.openxmlformats.org/drawingml/2006/main" noChangeAspect="1"/>
          </p:cNvPicPr>
          <p:nvPr/>
        </p:nvPicPr>
        <p:blipFill>
          <a:blip xmlns:r="http://schemas.openxmlformats.org/officeDocument/2006/relationships" xmlns:a="http://schemas.openxmlformats.org/drawingml/2006/main" r:embed="Rb602ac665365464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39" name="header-divider">
            <a:extLst xmlns:a="http://schemas.openxmlformats.org/drawingml/2006/main">
              <a:ext uri="{FF2B5EF4-FFF2-40B4-BE49-F238E27FC236}">
                <a16:creationId xmlns:a16="http://schemas.microsoft.com/office/drawing/2014/main" id="{35D7F8AC-11A2-468F-9091-48C0B933C2B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40" name="21-text-1">
            <a:extLst xmlns:a="http://schemas.openxmlformats.org/drawingml/2006/main">
              <a:ext uri="{FF2B5EF4-FFF2-40B4-BE49-F238E27FC236}">
                <a16:creationId xmlns:a16="http://schemas.microsoft.com/office/drawing/2014/main" id="{8303B826-EF02-4E9E-96D6-4CA19CAE2BC8}"/>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“Agents are only as effective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as the tools we give them.”</a:t>
            </a:r>
          </a:p>
        </p:txBody>
      </p:sp>
      <p:sp>
        <p:nvSpPr>
          <p:cNvPr id="241" name="21-text-2">
            <a:extLst xmlns:a="http://schemas.openxmlformats.org/drawingml/2006/main">
              <a:ext uri="{FF2B5EF4-FFF2-40B4-BE49-F238E27FC236}">
                <a16:creationId xmlns:a16="http://schemas.microsoft.com/office/drawing/2014/main" id="{50C83D5E-A74E-4843-979C-FE9123AC1F62}"/>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242" name="21-text-3">
            <a:extLst xmlns:a="http://schemas.openxmlformats.org/drawingml/2006/main">
              <a:ext uri="{FF2B5EF4-FFF2-40B4-BE49-F238E27FC236}">
                <a16:creationId xmlns:a16="http://schemas.microsoft.com/office/drawing/2014/main" id="{E3A268A4-F609-4CAA-BAA5-A077FC6ACAE0}"/>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Writing effective tools for agents, with agents, September 2025</a:t>
            </a:r>
          </a:p>
        </p:txBody>
      </p:sp>
      <p:pic>
        <p:nvPicPr>
          <p:cNvPr id="251" name="21-image-4"/>
          <p:cNvPicPr>
            <a:picLocks xmlns:a="http://schemas.openxmlformats.org/drawingml/2006/main" noChangeAspect="1"/>
          </p:cNvPicPr>
          <p:nvPr/>
        </p:nvPicPr>
        <p:blipFill>
          <a:blip xmlns:r="http://schemas.openxmlformats.org/officeDocument/2006/relationships" xmlns:a="http://schemas.openxmlformats.org/drawingml/2006/main" r:embed="Rfa00fc91968141a1"/>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244" name="narrative-number">
            <a:extLst xmlns:a="http://schemas.openxmlformats.org/drawingml/2006/main">
              <a:ext uri="{FF2B5EF4-FFF2-40B4-BE49-F238E27FC236}">
                <a16:creationId xmlns:a16="http://schemas.microsoft.com/office/drawing/2014/main" id="{5EF9AC64-AD00-4320-87CC-FF30F568647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21</a:t>
            </a:r>
          </a:p>
        </p:txBody>
      </p:sp>
    </p:spTree>
    <p:extLst>
      <p:ext uri="{BB962C8B-B14F-4D97-AF65-F5344CB8AC3E}">
        <p14:creationId xmlns:p14="http://schemas.microsoft.com/office/powerpoint/2010/main" val="2815311394"/>
      </p:ext>
    </p:extLst>
  </p:cSld>
</p:sld>
</file>

<file path=ppt/slides/slide2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45" name="!!area-name">
            <a:extLst xmlns:a="http://schemas.openxmlformats.org/drawingml/2006/main">
              <a:ext uri="{FF2B5EF4-FFF2-40B4-BE49-F238E27FC236}">
                <a16:creationId xmlns:a16="http://schemas.microsoft.com/office/drawing/2014/main" id="{B05807E2-4B17-4272-BC94-FE7FD8447E6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Foundations</a:t>
            </a:r>
          </a:p>
        </p:txBody>
      </p:sp>
      <p:pic>
        <p:nvPicPr>
          <p:cNvPr id="262" name="mini-map"/>
          <p:cNvPicPr>
            <a:picLocks xmlns:a="http://schemas.openxmlformats.org/drawingml/2006/main" noChangeAspect="1"/>
          </p:cNvPicPr>
          <p:nvPr/>
        </p:nvPicPr>
        <p:blipFill>
          <a:blip xmlns:r="http://schemas.openxmlformats.org/officeDocument/2006/relationships" xmlns:a="http://schemas.openxmlformats.org/drawingml/2006/main" r:embed="Re4ead6f59a2e4ef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47" name="slide-title">
            <a:extLst xmlns:a="http://schemas.openxmlformats.org/drawingml/2006/main">
              <a:ext uri="{FF2B5EF4-FFF2-40B4-BE49-F238E27FC236}">
                <a16:creationId xmlns:a16="http://schemas.microsoft.com/office/drawing/2014/main" id="{A8E932A8-E52E-4F24-AF3D-120D2933898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Tools and agent capabilities</a:t>
            </a:r>
          </a:p>
        </p:txBody>
      </p:sp>
      <p:sp>
        <p:nvSpPr>
          <p:cNvPr id="248" name="header-divider">
            <a:extLst xmlns:a="http://schemas.openxmlformats.org/drawingml/2006/main">
              <a:ext uri="{FF2B5EF4-FFF2-40B4-BE49-F238E27FC236}">
                <a16:creationId xmlns:a16="http://schemas.microsoft.com/office/drawing/2014/main" id="{2B0578B2-98DE-4F0E-A286-D1DAF3096C4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49" name="22-text-1">
            <a:extLst xmlns:a="http://schemas.openxmlformats.org/drawingml/2006/main">
              <a:ext uri="{FF2B5EF4-FFF2-40B4-BE49-F238E27FC236}">
                <a16:creationId xmlns:a16="http://schemas.microsoft.com/office/drawing/2014/main" id="{EE4F8699-5B6E-41AE-8B83-B0E862E0A47F}"/>
              </a:ext>
            </a:extLst>
          </p:cNvPr>
          <p:cNvSpPr>
            <a:spLocks xmlns:a="http://schemas.openxmlformats.org/drawingml/2006/main"/>
          </p:cNvSpPr>
          <p:nvPr/>
        </p:nvSpPr>
        <p:spPr>
          <a:xfrm xmlns:a="http://schemas.openxmlformats.org/drawingml/2006/main">
            <a:off x="609600" y="24384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Tools expose operations for retrieving information, running computations,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acting on systems.</a:t>
            </a:r>
          </a:p>
        </p:txBody>
      </p:sp>
      <p:sp>
        <p:nvSpPr>
          <p:cNvPr id="250" name="22-text-2">
            <a:extLst xmlns:a="http://schemas.openxmlformats.org/drawingml/2006/main">
              <a:ext uri="{FF2B5EF4-FFF2-40B4-BE49-F238E27FC236}">
                <a16:creationId xmlns:a16="http://schemas.microsoft.com/office/drawing/2014/main" id="{4F8934BA-C262-420E-8E0F-9DB7D6CE2C9F}"/>
              </a:ext>
            </a:extLst>
          </p:cNvPr>
          <p:cNvSpPr>
            <a:spLocks xmlns:a="http://schemas.openxmlformats.org/drawingml/2006/main"/>
          </p:cNvSpPr>
          <p:nvPr/>
        </p:nvSpPr>
        <p:spPr>
          <a:xfrm xmlns:a="http://schemas.openxmlformats.org/drawingml/2006/main">
            <a:off x="609600" y="3454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Request</a:t>
            </a:r>
          </a:p>
        </p:txBody>
      </p:sp>
      <p:sp>
        <p:nvSpPr>
          <p:cNvPr id="251" name="22-text-3">
            <a:extLst xmlns:a="http://schemas.openxmlformats.org/drawingml/2006/main">
              <a:ext uri="{FF2B5EF4-FFF2-40B4-BE49-F238E27FC236}">
                <a16:creationId xmlns:a16="http://schemas.microsoft.com/office/drawing/2014/main" id="{1C13F656-6B6C-4AD7-8E56-0D8D1E35CDF5}"/>
              </a:ext>
            </a:extLst>
          </p:cNvPr>
          <p:cNvSpPr>
            <a:spLocks xmlns:a="http://schemas.openxmlformats.org/drawingml/2006/main"/>
          </p:cNvSpPr>
          <p:nvPr/>
        </p:nvSpPr>
        <p:spPr>
          <a:xfrm xmlns:a="http://schemas.openxmlformats.org/drawingml/2006/main">
            <a:off x="609600" y="3937000"/>
            <a:ext cx="31496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model selects a tool</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supplies arguments.</a:t>
            </a:r>
          </a:p>
        </p:txBody>
      </p:sp>
      <p:sp>
        <p:nvSpPr>
          <p:cNvPr id="252" name="22-text-4">
            <a:extLst xmlns:a="http://schemas.openxmlformats.org/drawingml/2006/main">
              <a:ext uri="{FF2B5EF4-FFF2-40B4-BE49-F238E27FC236}">
                <a16:creationId xmlns:a16="http://schemas.microsoft.com/office/drawing/2014/main" id="{279D06D2-750F-41CC-B061-004CA8A2CA19}"/>
              </a:ext>
            </a:extLst>
          </p:cNvPr>
          <p:cNvSpPr>
            <a:spLocks xmlns:a="http://schemas.openxmlformats.org/drawingml/2006/main"/>
          </p:cNvSpPr>
          <p:nvPr/>
        </p:nvSpPr>
        <p:spPr>
          <a:xfrm xmlns:a="http://schemas.openxmlformats.org/drawingml/2006/main">
            <a:off x="4521200" y="3454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Execution</a:t>
            </a:r>
          </a:p>
        </p:txBody>
      </p:sp>
      <p:sp>
        <p:nvSpPr>
          <p:cNvPr id="253" name="22-text-5">
            <a:extLst xmlns:a="http://schemas.openxmlformats.org/drawingml/2006/main">
              <a:ext uri="{FF2B5EF4-FFF2-40B4-BE49-F238E27FC236}">
                <a16:creationId xmlns:a16="http://schemas.microsoft.com/office/drawing/2014/main" id="{0482FC44-1849-4A28-91A0-1CF585E28ED8}"/>
              </a:ext>
            </a:extLst>
          </p:cNvPr>
          <p:cNvSpPr>
            <a:spLocks xmlns:a="http://schemas.openxmlformats.org/drawingml/2006/main"/>
          </p:cNvSpPr>
          <p:nvPr/>
        </p:nvSpPr>
        <p:spPr>
          <a:xfrm xmlns:a="http://schemas.openxmlformats.org/drawingml/2006/main">
            <a:off x="4521200" y="3937000"/>
            <a:ext cx="31496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Software checks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permissions and inputs,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then performs the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permitted operation.</a:t>
            </a:r>
          </a:p>
        </p:txBody>
      </p:sp>
      <p:sp>
        <p:nvSpPr>
          <p:cNvPr id="254" name="22-text-6">
            <a:extLst xmlns:a="http://schemas.openxmlformats.org/drawingml/2006/main">
              <a:ext uri="{FF2B5EF4-FFF2-40B4-BE49-F238E27FC236}">
                <a16:creationId xmlns:a16="http://schemas.microsoft.com/office/drawing/2014/main" id="{678464E0-FFA9-4A17-834D-306683DB3981}"/>
              </a:ext>
            </a:extLst>
          </p:cNvPr>
          <p:cNvSpPr>
            <a:spLocks xmlns:a="http://schemas.openxmlformats.org/drawingml/2006/main"/>
          </p:cNvSpPr>
          <p:nvPr/>
        </p:nvSpPr>
        <p:spPr>
          <a:xfrm xmlns:a="http://schemas.openxmlformats.org/drawingml/2006/main">
            <a:off x="8432800" y="3454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Result</a:t>
            </a:r>
          </a:p>
        </p:txBody>
      </p:sp>
      <p:sp>
        <p:nvSpPr>
          <p:cNvPr id="255" name="22-text-7">
            <a:extLst xmlns:a="http://schemas.openxmlformats.org/drawingml/2006/main">
              <a:ext uri="{FF2B5EF4-FFF2-40B4-BE49-F238E27FC236}">
                <a16:creationId xmlns:a16="http://schemas.microsoft.com/office/drawing/2014/main" id="{336236A0-D5A7-4D44-A009-B2094727FEBD}"/>
              </a:ext>
            </a:extLst>
          </p:cNvPr>
          <p:cNvSpPr>
            <a:spLocks xmlns:a="http://schemas.openxmlformats.org/drawingml/2006/main"/>
          </p:cNvSpPr>
          <p:nvPr/>
        </p:nvSpPr>
        <p:spPr>
          <a:xfrm xmlns:a="http://schemas.openxmlformats.org/drawingml/2006/main">
            <a:off x="8432800" y="3937000"/>
            <a:ext cx="31496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tool returns information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that informs the next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 step.</a:t>
            </a:r>
          </a:p>
        </p:txBody>
      </p:sp>
      <p:sp>
        <p:nvSpPr>
          <p:cNvPr id="256" name="22-line-9">
            <a:extLst xmlns:a="http://schemas.openxmlformats.org/drawingml/2006/main">
              <a:ext uri="{FF2B5EF4-FFF2-40B4-BE49-F238E27FC236}">
                <a16:creationId xmlns:a16="http://schemas.microsoft.com/office/drawing/2014/main" id="{AFF86A42-B5C4-4ABF-A599-0F102DF3CA8B}"/>
              </a:ext>
            </a:extLst>
          </p:cNvPr>
          <p:cNvSpPr>
            <a:spLocks xmlns:a="http://schemas.openxmlformats.org/drawingml/2006/main"/>
          </p:cNvSpPr>
          <p:nvPr/>
        </p:nvSpPr>
        <p:spPr>
          <a:xfrm xmlns:a="http://schemas.openxmlformats.org/drawingml/2006/main" flipH="0" flipV="0">
            <a:off x="3911600" y="450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57" name="22-line-11">
            <a:extLst xmlns:a="http://schemas.openxmlformats.org/drawingml/2006/main">
              <a:ext uri="{FF2B5EF4-FFF2-40B4-BE49-F238E27FC236}">
                <a16:creationId xmlns:a16="http://schemas.microsoft.com/office/drawing/2014/main" id="{BAC0AE97-6A3E-43BC-B98E-6226FC0A6FFD}"/>
              </a:ext>
            </a:extLst>
          </p:cNvPr>
          <p:cNvSpPr>
            <a:spLocks xmlns:a="http://schemas.openxmlformats.org/drawingml/2006/main"/>
          </p:cNvSpPr>
          <p:nvPr/>
        </p:nvSpPr>
        <p:spPr>
          <a:xfrm xmlns:a="http://schemas.openxmlformats.org/drawingml/2006/main" flipH="0" flipV="0">
            <a:off x="7823200" y="450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58" name="22-text-12">
            <a:extLst xmlns:a="http://schemas.openxmlformats.org/drawingml/2006/main">
              <a:ext uri="{FF2B5EF4-FFF2-40B4-BE49-F238E27FC236}">
                <a16:creationId xmlns:a16="http://schemas.microsoft.com/office/drawing/2014/main" id="{6931DA34-F2A3-4526-AF96-12782EB36A21}"/>
              </a:ext>
            </a:extLst>
          </p:cNvPr>
          <p:cNvSpPr>
            <a:spLocks xmlns:a="http://schemas.openxmlformats.org/drawingml/2006/main"/>
          </p:cNvSpPr>
          <p:nvPr/>
        </p:nvSpPr>
        <p:spPr>
          <a:xfrm xmlns:a="http://schemas.openxmlformats.org/drawingml/2006/main">
            <a:off x="609600" y="5511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Model Context Protocol (MCP)</a:t>
            </a:r>
          </a:p>
        </p:txBody>
      </p:sp>
      <p:sp>
        <p:nvSpPr>
          <p:cNvPr id="259" name="22-text-13">
            <a:extLst xmlns:a="http://schemas.openxmlformats.org/drawingml/2006/main">
              <a:ext uri="{FF2B5EF4-FFF2-40B4-BE49-F238E27FC236}">
                <a16:creationId xmlns:a16="http://schemas.microsoft.com/office/drawing/2014/main" id="{BF147263-0F60-4204-AAF0-10891B3BCC47}"/>
              </a:ext>
            </a:extLst>
          </p:cNvPr>
          <p:cNvSpPr>
            <a:spLocks xmlns:a="http://schemas.openxmlformats.org/drawingml/2006/main"/>
          </p:cNvSpPr>
          <p:nvPr/>
        </p:nvSpPr>
        <p:spPr>
          <a:xfrm xmlns:a="http://schemas.openxmlformats.org/drawingml/2006/main">
            <a:off x="609600" y="5918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standard interface for connecting AI applications to external tools and context.</a:t>
            </a:r>
          </a:p>
        </p:txBody>
      </p:sp>
      <p:sp>
        <p:nvSpPr>
          <p:cNvPr id="260" name="narrative-number">
            <a:extLst xmlns:a="http://schemas.openxmlformats.org/drawingml/2006/main">
              <a:ext uri="{FF2B5EF4-FFF2-40B4-BE49-F238E27FC236}">
                <a16:creationId xmlns:a16="http://schemas.microsoft.com/office/drawing/2014/main" id="{0A484EE2-A5C9-48C4-B2FE-5198B4392AF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22</a:t>
            </a:r>
          </a:p>
        </p:txBody>
      </p:sp>
    </p:spTree>
    <p:extLst>
      <p:ext uri="{BB962C8B-B14F-4D97-AF65-F5344CB8AC3E}">
        <p14:creationId xmlns:p14="http://schemas.microsoft.com/office/powerpoint/2010/main" val="3433110298"/>
      </p:ext>
    </p:extLst>
  </p:cSld>
</p:sld>
</file>

<file path=ppt/slides/slide2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61" name="!!area-name">
            <a:extLst xmlns:a="http://schemas.openxmlformats.org/drawingml/2006/main">
              <a:ext uri="{FF2B5EF4-FFF2-40B4-BE49-F238E27FC236}">
                <a16:creationId xmlns:a16="http://schemas.microsoft.com/office/drawing/2014/main" id="{8AAA09DC-EB18-44FE-A2A8-3114A220D7F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Decisions</a:t>
            </a:r>
          </a:p>
        </p:txBody>
      </p:sp>
      <p:pic>
        <p:nvPicPr>
          <p:cNvPr id="269" name="mini-map"/>
          <p:cNvPicPr>
            <a:picLocks xmlns:a="http://schemas.openxmlformats.org/drawingml/2006/main" noChangeAspect="1"/>
          </p:cNvPicPr>
          <p:nvPr/>
        </p:nvPicPr>
        <p:blipFill>
          <a:blip xmlns:r="http://schemas.openxmlformats.org/officeDocument/2006/relationships" xmlns:a="http://schemas.openxmlformats.org/drawingml/2006/main" r:embed="R515ceb11600e4fe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63" name="slide-title">
            <a:extLst xmlns:a="http://schemas.openxmlformats.org/drawingml/2006/main">
              <a:ext uri="{FF2B5EF4-FFF2-40B4-BE49-F238E27FC236}">
                <a16:creationId xmlns:a16="http://schemas.microsoft.com/office/drawing/2014/main" id="{19DD1714-EE22-40AF-8DB4-35D854AAB7C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Choosing and exposing capabilities</a:t>
            </a:r>
          </a:p>
        </p:txBody>
      </p:sp>
      <p:sp>
        <p:nvSpPr>
          <p:cNvPr id="264" name="header-divider">
            <a:extLst xmlns:a="http://schemas.openxmlformats.org/drawingml/2006/main">
              <a:ext uri="{FF2B5EF4-FFF2-40B4-BE49-F238E27FC236}">
                <a16:creationId xmlns:a16="http://schemas.microsoft.com/office/drawing/2014/main" id="{A303BE40-901F-4280-962E-3696D2D0351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272" name="23-table-1"/>
          <p:cNvGraphicFramePr/>
          <p:nvPr/>
        </p:nvGraphicFramePr>
        <p:xfrm>
          <a:off xmlns:a="http://schemas.openxmlformats.org/drawingml/2006/main" x="609600" y="2438400"/>
          <a:ext xmlns:a="http://schemas.openxmlformats.org/drawingml/2006/main" cx="10972800" cy="3200400"/>
        </p:xfrm>
        <a:graphic xmlns:a="http://schemas.openxmlformats.org/drawingml/2006/main">
          <a:graphicData uri="http://schemas.openxmlformats.org/drawingml/2006/table">
            <a:tbl>
              <a:tblPr firstRow="0" firstCol="0" lastCol="0" bandRow="0" bandCol="0"/>
              <a:tblGrid>
                <a:gridCol w="3098800"/>
                <a:gridCol w="7874000"/>
              </a:tblGrid>
              <a:tr h="457200">
                <a:tc>
                  <a:txBody>
                    <a:bodyPr>
                      <a:noAutofit/>
                    </a:bodyPr>
                    <a:lstStyle/>
                    <a:p>
                      <a:pPr>
                        <a:lnSpc>
                          <a:spcPct val="125000"/>
                        </a:lnSpc>
                        <a:buNone/>
                      </a:pPr>
                      <a:r>
                        <a:rPr sz="2000" b="1">
                          <a:solidFill>
                            <a:srgbClr val="F948BE"/>
                          </a:solidFill>
                          <a:latin typeface="Helvetica"/>
                          <a:ea typeface="Helvetica"/>
                          <a:cs typeface="Helvetica"/>
                        </a:rPr>
                        <a:t>Decision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Options and trade-offs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14400">
                <a:tc>
                  <a:txBody>
                    <a:bodyPr>
                      <a:noAutofit/>
                    </a:bodyPr>
                    <a:lstStyle/>
                    <a:p>
                      <a:pPr>
                        <a:lnSpc>
                          <a:spcPct val="125000"/>
                        </a:lnSpc>
                        <a:buNone/>
                      </a:pPr>
                      <a:r>
                        <a:rPr sz="2000" b="1">
                          <a:solidFill>
                            <a:srgbClr val="FFFCF5"/>
                          </a:solidFill>
                          <a:latin typeface="Helvetica"/>
                          <a:ea typeface="Helvetica"/>
                          <a:cs typeface="Helvetica"/>
                        </a:rPr>
                        <a:t>Capability size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Small operations offer flexibility.</a:t>
                      </a:r>
                    </a:p>
                    <a:p>
                      <a:pPr>
                        <a:lnSpc>
                          <a:spcPct val="125000"/>
                        </a:lnSpc>
                        <a:buNone/>
                      </a:pPr>
                      <a:r>
                        <a:rPr sz="2000" b="0">
                          <a:solidFill>
                            <a:srgbClr val="FFFCF5"/>
                          </a:solidFill>
                          <a:latin typeface="Helvetica"/>
                          <a:ea typeface="Helvetica"/>
                          <a:cs typeface="Helvetica"/>
                        </a:rPr>
                        <a:t>Task-oriented tools handle more work internally.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14400">
                <a:tc>
                  <a:txBody>
                    <a:bodyPr>
                      <a:noAutofit/>
                    </a:bodyPr>
                    <a:lstStyle/>
                    <a:p>
                      <a:pPr>
                        <a:lnSpc>
                          <a:spcPct val="125000"/>
                        </a:lnSpc>
                        <a:buNone/>
                      </a:pPr>
                      <a:r>
                        <a:rPr sz="2000" b="1">
                          <a:solidFill>
                            <a:srgbClr val="FFFCF5"/>
                          </a:solidFill>
                          <a:latin typeface="Helvetica"/>
                          <a:ea typeface="Helvetica"/>
                          <a:cs typeface="Helvetica"/>
                        </a:rPr>
                        <a:t>System access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MCP provides standard tool discovery and calls.</a:t>
                      </a:r>
                    </a:p>
                    <a:p>
                      <a:pPr>
                        <a:lnSpc>
                          <a:spcPct val="125000"/>
                        </a:lnSpc>
                        <a:buNone/>
                      </a:pPr>
                      <a:r>
                        <a:rPr sz="2000" b="0">
                          <a:solidFill>
                            <a:srgbClr val="FFFCF5"/>
                          </a:solidFill>
                          <a:latin typeface="Helvetica"/>
                          <a:ea typeface="Helvetica"/>
                          <a:cs typeface="Helvetica"/>
                        </a:rPr>
                        <a:t>CLIs provide access through existing commands.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14400">
                <a:tc>
                  <a:txBody>
                    <a:bodyPr>
                      <a:noAutofit/>
                    </a:bodyPr>
                    <a:lstStyle/>
                    <a:p>
                      <a:pPr>
                        <a:lnSpc>
                          <a:spcPct val="125000"/>
                        </a:lnSpc>
                        <a:buNone/>
                      </a:pPr>
                      <a:r>
                        <a:rPr sz="2000" b="1">
                          <a:solidFill>
                            <a:srgbClr val="FFFCF5"/>
                          </a:solidFill>
                          <a:latin typeface="Helvetica"/>
                          <a:ea typeface="Helvetica"/>
                          <a:cs typeface="Helvetica"/>
                        </a:rPr>
                        <a:t>Tool composition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Individual calls return results step by step.</a:t>
                      </a:r>
                    </a:p>
                    <a:p>
                      <a:pPr>
                        <a:lnSpc>
                          <a:spcPct val="125000"/>
                        </a:lnSpc>
                        <a:buNone/>
                      </a:pPr>
                      <a:r>
                        <a:rPr sz="2000" b="0">
                          <a:solidFill>
                            <a:srgbClr val="FFFCF5"/>
                          </a:solidFill>
                          <a:latin typeface="Helvetica"/>
                          <a:ea typeface="Helvetica"/>
                          <a:cs typeface="Helvetica"/>
                        </a:rPr>
                        <a:t>Code mode combines calls and processes results in code.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66" name="23-text-2">
            <a:extLst xmlns:a="http://schemas.openxmlformats.org/drawingml/2006/main">
              <a:ext uri="{FF2B5EF4-FFF2-40B4-BE49-F238E27FC236}">
                <a16:creationId xmlns:a16="http://schemas.microsoft.com/office/drawing/2014/main" id="{0E2B269F-780E-4515-AD92-EB26CC9E41B6}"/>
              </a:ext>
            </a:extLst>
          </p:cNvPr>
          <p:cNvSpPr>
            <a:spLocks xmlns:a="http://schemas.openxmlformats.org/drawingml/2006/main"/>
          </p:cNvSpPr>
          <p:nvPr/>
        </p:nvSpPr>
        <p:spPr>
          <a:xfrm xmlns:a="http://schemas.openxmlformats.org/drawingml/2006/main">
            <a:off x="609600" y="57150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FFCF5"/>
                </a:solidFill>
                <a:latin typeface="Helvetica"/>
                <a:ea typeface="Helvetica"/>
                <a:cs typeface="Helvetica"/>
              </a:rPr>
              <a:t>Execution controls apply to every approach:</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permissions, input checks, and limits on execution.</a:t>
            </a:r>
          </a:p>
        </p:txBody>
      </p:sp>
      <p:sp>
        <p:nvSpPr>
          <p:cNvPr id="267" name="narrative-number">
            <a:extLst xmlns:a="http://schemas.openxmlformats.org/drawingml/2006/main">
              <a:ext uri="{FF2B5EF4-FFF2-40B4-BE49-F238E27FC236}">
                <a16:creationId xmlns:a16="http://schemas.microsoft.com/office/drawing/2014/main" id="{ED674638-5DD2-4E96-B2EB-EB888A4F7E7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23</a:t>
            </a:r>
          </a:p>
        </p:txBody>
      </p:sp>
    </p:spTree>
    <p:extLst>
      <p:ext uri="{BB962C8B-B14F-4D97-AF65-F5344CB8AC3E}">
        <p14:creationId xmlns:p14="http://schemas.microsoft.com/office/powerpoint/2010/main" val="3843879428"/>
      </p:ext>
    </p:extLst>
  </p:cSld>
</p:sld>
</file>

<file path=ppt/slides/slide2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68" name="!!area-name">
            <a:extLst xmlns:a="http://schemas.openxmlformats.org/drawingml/2006/main">
              <a:ext uri="{FF2B5EF4-FFF2-40B4-BE49-F238E27FC236}">
                <a16:creationId xmlns:a16="http://schemas.microsoft.com/office/drawing/2014/main" id="{F3BBE402-891C-4D07-B418-AD997CC9410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Challenges and pitfalls</a:t>
            </a:r>
          </a:p>
        </p:txBody>
      </p:sp>
      <p:pic>
        <p:nvPicPr>
          <p:cNvPr id="282" name="mini-map"/>
          <p:cNvPicPr>
            <a:picLocks xmlns:a="http://schemas.openxmlformats.org/drawingml/2006/main" noChangeAspect="1"/>
          </p:cNvPicPr>
          <p:nvPr/>
        </p:nvPicPr>
        <p:blipFill>
          <a:blip xmlns:r="http://schemas.openxmlformats.org/officeDocument/2006/relationships" xmlns:a="http://schemas.openxmlformats.org/drawingml/2006/main" r:embed="R2a43683aedb8410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70" name="slide-title">
            <a:extLst xmlns:a="http://schemas.openxmlformats.org/drawingml/2006/main">
              <a:ext uri="{FF2B5EF4-FFF2-40B4-BE49-F238E27FC236}">
                <a16:creationId xmlns:a16="http://schemas.microsoft.com/office/drawing/2014/main" id="{8B6FD3CA-5352-41C1-96CE-AD8B474492D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Tool-design pitfalls</a:t>
            </a:r>
          </a:p>
        </p:txBody>
      </p:sp>
      <p:sp>
        <p:nvSpPr>
          <p:cNvPr id="271" name="header-divider">
            <a:extLst xmlns:a="http://schemas.openxmlformats.org/drawingml/2006/main">
              <a:ext uri="{FF2B5EF4-FFF2-40B4-BE49-F238E27FC236}">
                <a16:creationId xmlns:a16="http://schemas.microsoft.com/office/drawing/2014/main" id="{2FAECFCC-ED5B-4B7A-9A2C-DFD0421B74F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72" name="24-text-1">
            <a:extLst xmlns:a="http://schemas.openxmlformats.org/drawingml/2006/main">
              <a:ext uri="{FF2B5EF4-FFF2-40B4-BE49-F238E27FC236}">
                <a16:creationId xmlns:a16="http://schemas.microsoft.com/office/drawing/2014/main" id="{A4A118B2-E7DA-4CA3-A150-B57337A1CF4E}"/>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 selection</a:t>
            </a:r>
          </a:p>
        </p:txBody>
      </p:sp>
      <p:sp>
        <p:nvSpPr>
          <p:cNvPr id="273" name="24-text-2">
            <a:extLst xmlns:a="http://schemas.openxmlformats.org/drawingml/2006/main">
              <a:ext uri="{FF2B5EF4-FFF2-40B4-BE49-F238E27FC236}">
                <a16:creationId xmlns:a16="http://schemas.microsoft.com/office/drawing/2014/main" id="{55461E47-7130-4084-8AD0-36470D61A234}"/>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Overlapping tools and unclear descriptions make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right operation harder to choose.</a:t>
            </a:r>
          </a:p>
        </p:txBody>
      </p:sp>
      <p:sp>
        <p:nvSpPr>
          <p:cNvPr id="274" name="24-text-3">
            <a:extLst xmlns:a="http://schemas.openxmlformats.org/drawingml/2006/main">
              <a:ext uri="{FF2B5EF4-FFF2-40B4-BE49-F238E27FC236}">
                <a16:creationId xmlns:a16="http://schemas.microsoft.com/office/drawing/2014/main" id="{93D1AC7A-0A56-4537-B49C-3A5121FB850F}"/>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Authority</a:t>
            </a:r>
          </a:p>
        </p:txBody>
      </p:sp>
      <p:sp>
        <p:nvSpPr>
          <p:cNvPr id="275" name="24-text-4">
            <a:extLst xmlns:a="http://schemas.openxmlformats.org/drawingml/2006/main">
              <a:ext uri="{FF2B5EF4-FFF2-40B4-BE49-F238E27FC236}">
                <a16:creationId xmlns:a16="http://schemas.microsoft.com/office/drawing/2014/main" id="{359905D3-778C-43CF-B395-F0EED9B93FA3}"/>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Broad shell or code access can grant more power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than the task requires.</a:t>
            </a:r>
          </a:p>
        </p:txBody>
      </p:sp>
      <p:sp>
        <p:nvSpPr>
          <p:cNvPr id="276" name="24-text-5">
            <a:extLst xmlns:a="http://schemas.openxmlformats.org/drawingml/2006/main">
              <a:ext uri="{FF2B5EF4-FFF2-40B4-BE49-F238E27FC236}">
                <a16:creationId xmlns:a16="http://schemas.microsoft.com/office/drawing/2014/main" id="{A86B835B-E31F-4414-8918-8BF640982FB1}"/>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Outcomes</a:t>
            </a:r>
          </a:p>
        </p:txBody>
      </p:sp>
      <p:sp>
        <p:nvSpPr>
          <p:cNvPr id="277" name="24-text-6">
            <a:extLst xmlns:a="http://schemas.openxmlformats.org/drawingml/2006/main">
              <a:ext uri="{FF2B5EF4-FFF2-40B4-BE49-F238E27FC236}">
                <a16:creationId xmlns:a16="http://schemas.microsoft.com/office/drawing/2014/main" id="{8F981A05-3A23-49CB-AF87-0F382917A325}"/>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 unclear result leaves the agent unsure whether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 action completed.</a:t>
            </a:r>
          </a:p>
        </p:txBody>
      </p:sp>
      <p:sp>
        <p:nvSpPr>
          <p:cNvPr id="278" name="24-text-7">
            <a:extLst xmlns:a="http://schemas.openxmlformats.org/drawingml/2006/main">
              <a:ext uri="{FF2B5EF4-FFF2-40B4-BE49-F238E27FC236}">
                <a16:creationId xmlns:a16="http://schemas.microsoft.com/office/drawing/2014/main" id="{BB8CA092-C070-4A23-89A4-626C0355FFDB}"/>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79" name="24-text-8">
            <a:extLst xmlns:a="http://schemas.openxmlformats.org/drawingml/2006/main">
              <a:ext uri="{FF2B5EF4-FFF2-40B4-BE49-F238E27FC236}">
                <a16:creationId xmlns:a16="http://schemas.microsoft.com/office/drawing/2014/main" id="{2C3C34D7-C846-40BB-94CF-207E96E2272A}"/>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Copying APIs without evaluating task fit.</a:t>
            </a:r>
          </a:p>
        </p:txBody>
      </p:sp>
      <p:sp>
        <p:nvSpPr>
          <p:cNvPr id="280" name="narrative-number">
            <a:extLst xmlns:a="http://schemas.openxmlformats.org/drawingml/2006/main">
              <a:ext uri="{FF2B5EF4-FFF2-40B4-BE49-F238E27FC236}">
                <a16:creationId xmlns:a16="http://schemas.microsoft.com/office/drawing/2014/main" id="{A7BF8AD7-FA01-4E76-A912-BC746E79D0B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24</a:t>
            </a:r>
          </a:p>
        </p:txBody>
      </p:sp>
    </p:spTree>
    <p:extLst>
      <p:ext uri="{BB962C8B-B14F-4D97-AF65-F5344CB8AC3E}">
        <p14:creationId xmlns:p14="http://schemas.microsoft.com/office/powerpoint/2010/main" val="1453111504"/>
      </p:ext>
    </p:extLst>
  </p:cSld>
</p:sld>
</file>

<file path=ppt/slides/slide3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81" name="!!area-name">
            <a:extLst xmlns:a="http://schemas.openxmlformats.org/drawingml/2006/main">
              <a:ext uri="{FF2B5EF4-FFF2-40B4-BE49-F238E27FC236}">
                <a16:creationId xmlns:a16="http://schemas.microsoft.com/office/drawing/2014/main" id="{B54FD284-B818-442A-B2B5-7CFD2387F67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FRB application</a:t>
            </a:r>
          </a:p>
        </p:txBody>
      </p:sp>
      <p:pic>
        <p:nvPicPr>
          <p:cNvPr id="295" name="mini-map"/>
          <p:cNvPicPr>
            <a:picLocks xmlns:a="http://schemas.openxmlformats.org/drawingml/2006/main" noChangeAspect="1"/>
          </p:cNvPicPr>
          <p:nvPr/>
        </p:nvPicPr>
        <p:blipFill>
          <a:blip xmlns:r="http://schemas.openxmlformats.org/officeDocument/2006/relationships" xmlns:a="http://schemas.openxmlformats.org/drawingml/2006/main" r:embed="Raa05937c66094e7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83" name="slide-title">
            <a:extLst xmlns:a="http://schemas.openxmlformats.org/drawingml/2006/main">
              <a:ext uri="{FF2B5EF4-FFF2-40B4-BE49-F238E27FC236}">
                <a16:creationId xmlns:a16="http://schemas.microsoft.com/office/drawing/2014/main" id="{4D658912-4FB3-48C4-9C05-F49985A7858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Export cited brief</a:t>
            </a:r>
          </a:p>
        </p:txBody>
      </p:sp>
      <p:sp>
        <p:nvSpPr>
          <p:cNvPr id="284" name="header-divider">
            <a:extLst xmlns:a="http://schemas.openxmlformats.org/drawingml/2006/main">
              <a:ext uri="{FF2B5EF4-FFF2-40B4-BE49-F238E27FC236}">
                <a16:creationId xmlns:a16="http://schemas.microsoft.com/office/drawing/2014/main" id="{A8F937EC-5CB7-4879-B56E-E3FEF7C848A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85" name="25-text-1">
            <a:extLst xmlns:a="http://schemas.openxmlformats.org/drawingml/2006/main">
              <a:ext uri="{FF2B5EF4-FFF2-40B4-BE49-F238E27FC236}">
                <a16:creationId xmlns:a16="http://schemas.microsoft.com/office/drawing/2014/main" id="{8B9860E0-99C5-4AA4-932A-28D60FC0CB23}"/>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CUI/ECI export contract test. No deployed result claimed.</a:t>
            </a:r>
          </a:p>
        </p:txBody>
      </p:sp>
      <p:sp>
        <p:nvSpPr>
          <p:cNvPr id="286" name="25-text-2">
            <a:extLst xmlns:a="http://schemas.openxmlformats.org/drawingml/2006/main">
              <a:ext uri="{FF2B5EF4-FFF2-40B4-BE49-F238E27FC236}">
                <a16:creationId xmlns:a16="http://schemas.microsoft.com/office/drawing/2014/main" id="{A5716AAA-4470-45AA-812F-C965039BC014}"/>
              </a:ext>
            </a:extLst>
          </p:cNvPr>
          <p:cNvSpPr>
            <a:spLocks xmlns:a="http://schemas.openxmlformats.org/drawingml/2006/main"/>
          </p:cNvSpPr>
          <p:nvPr/>
        </p:nvSpPr>
        <p:spPr>
          <a:xfrm xmlns:a="http://schemas.openxmlformats.org/drawingml/2006/main">
            <a:off x="609600" y="2844800"/>
            <a:ext cx="208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Design</a:t>
            </a:r>
          </a:p>
        </p:txBody>
      </p:sp>
      <p:sp>
        <p:nvSpPr>
          <p:cNvPr id="287" name="25-text-3">
            <a:extLst xmlns:a="http://schemas.openxmlformats.org/drawingml/2006/main">
              <a:ext uri="{FF2B5EF4-FFF2-40B4-BE49-F238E27FC236}">
                <a16:creationId xmlns:a16="http://schemas.microsoft.com/office/drawing/2014/main" id="{CDDFE536-4B53-419A-98B4-B93E1614562B}"/>
              </a:ext>
            </a:extLst>
          </p:cNvPr>
          <p:cNvSpPr>
            <a:spLocks xmlns:a="http://schemas.openxmlformats.org/drawingml/2006/main"/>
          </p:cNvSpPr>
          <p:nvPr/>
        </p:nvSpPr>
        <p:spPr>
          <a:xfrm xmlns:a="http://schemas.openxmlformats.org/drawingml/2006/main">
            <a:off x="2844800" y="2844800"/>
            <a:ext cx="8737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Export the exact checked draft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 a permitted destination.</a:t>
            </a:r>
          </a:p>
        </p:txBody>
      </p:sp>
      <p:graphicFrame>
        <p:nvGraphicFramePr>
          <p:cNvPr id="301" name="25-table-4"/>
          <p:cNvGraphicFramePr/>
          <p:nvPr/>
        </p:nvGraphicFramePr>
        <p:xfrm>
          <a:off xmlns:a="http://schemas.openxmlformats.org/drawingml/2006/main" x="609600" y="3733800"/>
          <a:ext xmlns:a="http://schemas.openxmlformats.org/drawingml/2006/main" cx="10972800" cy="1143000"/>
        </p:xfrm>
        <a:graphic xmlns:a="http://schemas.openxmlformats.org/drawingml/2006/main">
          <a:graphicData uri="http://schemas.openxmlformats.org/drawingml/2006/table">
            <a:tbl>
              <a:tblPr firstRow="0" firstCol="0" lastCol="0" bandRow="0" bandCol="0"/>
              <a:tblGrid>
                <a:gridCol w="5334000"/>
                <a:gridCol w="304800"/>
                <a:gridCol w="5334000"/>
              </a:tblGrid>
              <a:tr h="406400">
                <a:tc>
                  <a:txBody>
                    <a:bodyPr>
                      <a:noAutofit/>
                    </a:bodyPr>
                    <a:lstStyle/>
                    <a:p>
                      <a:pPr>
                        <a:lnSpc>
                          <a:spcPct val="125000"/>
                        </a:lnSpc>
                        <a:buNone/>
                      </a:pPr>
                      <a:r>
                        <a:rPr sz="2400" b="1">
                          <a:solidFill>
                            <a:srgbClr val="F948BE"/>
                          </a:solidFill>
                          <a:latin typeface="Helvetica"/>
                          <a:ea typeface="Helvetica"/>
                          <a:cs typeface="Helvetica"/>
                        </a:rPr>
                        <a:t>Contract requires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Model proposes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36600">
                <a:tc>
                  <a:txBody>
                    <a:bodyPr>
                      <a:noAutofit/>
                    </a:bodyPr>
                    <a:lstStyle/>
                    <a:p>
                      <a:pPr>
                        <a:lnSpc>
                          <a:spcPct val="125000"/>
                        </a:lnSpc>
                        <a:buNone/>
                      </a:pPr>
                      <a:r>
                        <a:rPr sz="2000" b="0">
                          <a:solidFill>
                            <a:srgbClr val="FFFCF5"/>
                          </a:solidFill>
                          <a:latin typeface="Helvetica"/>
                          <a:ea typeface="Helvetica"/>
                          <a:cs typeface="Helvetica"/>
                        </a:rPr>
                        <a:t>A destination permitted</a:t>
                      </a:r>
                    </a:p>
                    <a:p>
                      <a:pPr>
                        <a:lnSpc>
                          <a:spcPct val="125000"/>
                        </a:lnSpc>
                        <a:buNone/>
                      </a:pPr>
                      <a:r>
                        <a:rPr sz="2000" b="0">
                          <a:solidFill>
                            <a:srgbClr val="FFFCF5"/>
                          </a:solidFill>
                          <a:latin typeface="Helvetica"/>
                          <a:ea typeface="Helvetica"/>
                          <a:cs typeface="Helvetica"/>
                        </a:rPr>
                        <a:t>for these records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 destination outside</a:t>
                      </a:r>
                    </a:p>
                    <a:p>
                      <a:pPr>
                        <a:lnSpc>
                          <a:spcPct val="125000"/>
                        </a:lnSpc>
                        <a:buNone/>
                      </a:pPr>
                      <a:r>
                        <a:rPr sz="2000" b="0">
                          <a:solidFill>
                            <a:srgbClr val="FFFCF5"/>
                          </a:solidFill>
                          <a:latin typeface="Helvetica"/>
                          <a:ea typeface="Helvetica"/>
                          <a:cs typeface="Helvetica"/>
                        </a:rPr>
                        <a:t>the approved scope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89" name="25-text-5">
            <a:extLst xmlns:a="http://schemas.openxmlformats.org/drawingml/2006/main">
              <a:ext uri="{FF2B5EF4-FFF2-40B4-BE49-F238E27FC236}">
                <a16:creationId xmlns:a16="http://schemas.microsoft.com/office/drawing/2014/main" id="{760D98C8-D813-4FFF-94CE-DB7589E35F65}"/>
              </a:ext>
            </a:extLst>
          </p:cNvPr>
          <p:cNvSpPr>
            <a:spLocks xmlns:a="http://schemas.openxmlformats.org/drawingml/2006/main"/>
          </p:cNvSpPr>
          <p:nvPr/>
        </p:nvSpPr>
        <p:spPr>
          <a:xfrm xmlns:a="http://schemas.openxmlformats.org/drawingml/2006/main">
            <a:off x="609600" y="5080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Expected result</a:t>
            </a:r>
          </a:p>
        </p:txBody>
      </p:sp>
      <p:sp>
        <p:nvSpPr>
          <p:cNvPr id="290" name="25-text-6">
            <a:extLst xmlns:a="http://schemas.openxmlformats.org/drawingml/2006/main">
              <a:ext uri="{FF2B5EF4-FFF2-40B4-BE49-F238E27FC236}">
                <a16:creationId xmlns:a16="http://schemas.microsoft.com/office/drawing/2014/main" id="{F58F6355-DCA4-4F8C-B4DC-8FE887827F0A}"/>
              </a:ext>
            </a:extLst>
          </p:cNvPr>
          <p:cNvSpPr>
            <a:spLocks xmlns:a="http://schemas.openxmlformats.org/drawingml/2006/main"/>
          </p:cNvSpPr>
          <p:nvPr/>
        </p:nvSpPr>
        <p:spPr>
          <a:xfrm xmlns:a="http://schemas.openxmlformats.org/drawingml/2006/main">
            <a:off x="3708400" y="5080000"/>
            <a:ext cx="787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Export rejected before transfer.</a:t>
            </a:r>
          </a:p>
        </p:txBody>
      </p:sp>
      <p:sp>
        <p:nvSpPr>
          <p:cNvPr id="291" name="25-text-7">
            <a:extLst xmlns:a="http://schemas.openxmlformats.org/drawingml/2006/main">
              <a:ext uri="{FF2B5EF4-FFF2-40B4-BE49-F238E27FC236}">
                <a16:creationId xmlns:a16="http://schemas.microsoft.com/office/drawing/2014/main" id="{5EAC6F62-FD41-4E8E-BD49-54950F481B48}"/>
              </a:ext>
            </a:extLst>
          </p:cNvPr>
          <p:cNvSpPr>
            <a:spLocks xmlns:a="http://schemas.openxmlformats.org/drawingml/2006/main"/>
          </p:cNvSpPr>
          <p:nvPr/>
        </p:nvSpPr>
        <p:spPr>
          <a:xfrm xmlns:a="http://schemas.openxmlformats.org/drawingml/2006/main">
            <a:off x="609600" y="5613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 to check</a:t>
            </a:r>
          </a:p>
        </p:txBody>
      </p:sp>
      <p:sp>
        <p:nvSpPr>
          <p:cNvPr id="292" name="25-text-8">
            <a:extLst xmlns:a="http://schemas.openxmlformats.org/drawingml/2006/main">
              <a:ext uri="{FF2B5EF4-FFF2-40B4-BE49-F238E27FC236}">
                <a16:creationId xmlns:a16="http://schemas.microsoft.com/office/drawing/2014/main" id="{5011CE9D-6BE1-4B9C-A907-F8D49867CB70}"/>
              </a:ext>
            </a:extLst>
          </p:cNvPr>
          <p:cNvSpPr>
            <a:spLocks xmlns:a="http://schemas.openxmlformats.org/drawingml/2006/main"/>
          </p:cNvSpPr>
          <p:nvPr/>
        </p:nvSpPr>
        <p:spPr>
          <a:xfrm xmlns:a="http://schemas.openxmlformats.org/drawingml/2006/main">
            <a:off x="3708400" y="5613400"/>
            <a:ext cx="787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Clear rejection reason.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No export at that destination.</a:t>
            </a:r>
          </a:p>
        </p:txBody>
      </p:sp>
      <p:sp>
        <p:nvSpPr>
          <p:cNvPr id="293" name="narrative-number">
            <a:extLst xmlns:a="http://schemas.openxmlformats.org/drawingml/2006/main">
              <a:ext uri="{FF2B5EF4-FFF2-40B4-BE49-F238E27FC236}">
                <a16:creationId xmlns:a16="http://schemas.microsoft.com/office/drawing/2014/main" id="{D05C23D3-1FC5-4A51-A854-6EF4443FF10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25</a:t>
            </a:r>
          </a:p>
        </p:txBody>
      </p:sp>
    </p:spTree>
    <p:extLst>
      <p:ext uri="{BB962C8B-B14F-4D97-AF65-F5344CB8AC3E}">
        <p14:creationId xmlns:p14="http://schemas.microsoft.com/office/powerpoint/2010/main" val="3288470344"/>
      </p:ext>
    </p:extLst>
  </p:cSld>
</p:sld>
</file>

<file path=ppt/slides/slide3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94" name="!!area-name">
            <a:extLst xmlns:a="http://schemas.openxmlformats.org/drawingml/2006/main">
              <a:ext uri="{FF2B5EF4-FFF2-40B4-BE49-F238E27FC236}">
                <a16:creationId xmlns:a16="http://schemas.microsoft.com/office/drawing/2014/main" id="{20FFBD7B-9009-4287-BD90-25690FD8B14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Perspective</a:t>
            </a:r>
          </a:p>
        </p:txBody>
      </p:sp>
      <p:pic>
        <p:nvPicPr>
          <p:cNvPr id="303" name="mini-map"/>
          <p:cNvPicPr>
            <a:picLocks xmlns:a="http://schemas.openxmlformats.org/drawingml/2006/main" noChangeAspect="1"/>
          </p:cNvPicPr>
          <p:nvPr/>
        </p:nvPicPr>
        <p:blipFill>
          <a:blip xmlns:r="http://schemas.openxmlformats.org/officeDocument/2006/relationships" xmlns:a="http://schemas.openxmlformats.org/drawingml/2006/main" r:embed="R0babe2f1014b494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96" name="header-divider">
            <a:extLst xmlns:a="http://schemas.openxmlformats.org/drawingml/2006/main">
              <a:ext uri="{FF2B5EF4-FFF2-40B4-BE49-F238E27FC236}">
                <a16:creationId xmlns:a16="http://schemas.microsoft.com/office/drawing/2014/main" id="{C9FE325E-05E9-41DB-A9DB-5DFA9866D15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7" name="26-text-1">
            <a:extLst xmlns:a="http://schemas.openxmlformats.org/drawingml/2006/main">
              <a:ext uri="{FF2B5EF4-FFF2-40B4-BE49-F238E27FC236}">
                <a16:creationId xmlns:a16="http://schemas.microsoft.com/office/drawing/2014/main" id="{E9B6EA86-4116-4375-8BCF-5C0DAF50CEEA}"/>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“we recommend finding the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simplest solution possible,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and only increasing</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complexity when needed.”</a:t>
            </a:r>
          </a:p>
        </p:txBody>
      </p:sp>
      <p:sp>
        <p:nvSpPr>
          <p:cNvPr id="298" name="26-text-2">
            <a:extLst xmlns:a="http://schemas.openxmlformats.org/drawingml/2006/main">
              <a:ext uri="{FF2B5EF4-FFF2-40B4-BE49-F238E27FC236}">
                <a16:creationId xmlns:a16="http://schemas.microsoft.com/office/drawing/2014/main" id="{D4739FCE-0AB0-4FB1-9D0B-6F459953DDAC}"/>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299" name="26-text-3">
            <a:extLst xmlns:a="http://schemas.openxmlformats.org/drawingml/2006/main">
              <a:ext uri="{FF2B5EF4-FFF2-40B4-BE49-F238E27FC236}">
                <a16:creationId xmlns:a16="http://schemas.microsoft.com/office/drawing/2014/main" id="{C03DE837-00DE-4661-941E-D92C8CA61111}"/>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Building effective agents, December 2024</a:t>
            </a:r>
          </a:p>
        </p:txBody>
      </p:sp>
      <p:pic>
        <p:nvPicPr>
          <p:cNvPr id="308" name="26-image-4"/>
          <p:cNvPicPr>
            <a:picLocks xmlns:a="http://schemas.openxmlformats.org/drawingml/2006/main" noChangeAspect="1"/>
          </p:cNvPicPr>
          <p:nvPr/>
        </p:nvPicPr>
        <p:blipFill>
          <a:blip xmlns:r="http://schemas.openxmlformats.org/officeDocument/2006/relationships" xmlns:a="http://schemas.openxmlformats.org/drawingml/2006/main" r:embed="Rce9399bfa77d45ca"/>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301" name="narrative-number">
            <a:extLst xmlns:a="http://schemas.openxmlformats.org/drawingml/2006/main">
              <a:ext uri="{FF2B5EF4-FFF2-40B4-BE49-F238E27FC236}">
                <a16:creationId xmlns:a16="http://schemas.microsoft.com/office/drawing/2014/main" id="{E6B2C343-CFD5-4F6B-8F55-38570B4A81C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26</a:t>
            </a:r>
          </a:p>
        </p:txBody>
      </p:sp>
    </p:spTree>
    <p:extLst>
      <p:ext uri="{BB962C8B-B14F-4D97-AF65-F5344CB8AC3E}">
        <p14:creationId xmlns:p14="http://schemas.microsoft.com/office/powerpoint/2010/main" val="3440371002"/>
      </p:ext>
    </p:extLst>
  </p:cSld>
</p:sld>
</file>

<file path=ppt/slides/slide3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02" name="!!area-name">
            <a:extLst xmlns:a="http://schemas.openxmlformats.org/drawingml/2006/main">
              <a:ext uri="{FF2B5EF4-FFF2-40B4-BE49-F238E27FC236}">
                <a16:creationId xmlns:a16="http://schemas.microsoft.com/office/drawing/2014/main" id="{D34C972B-7347-47B3-8D7B-5F59A550159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Foundations</a:t>
            </a:r>
          </a:p>
        </p:txBody>
      </p:sp>
      <p:pic>
        <p:nvPicPr>
          <p:cNvPr id="332" name="mini-map"/>
          <p:cNvPicPr>
            <a:picLocks xmlns:a="http://schemas.openxmlformats.org/drawingml/2006/main" noChangeAspect="1"/>
          </p:cNvPicPr>
          <p:nvPr/>
        </p:nvPicPr>
        <p:blipFill>
          <a:blip xmlns:r="http://schemas.openxmlformats.org/officeDocument/2006/relationships" xmlns:a="http://schemas.openxmlformats.org/drawingml/2006/main" r:embed="Rc0e285b5eb314e4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04" name="slide-title">
            <a:extLst xmlns:a="http://schemas.openxmlformats.org/drawingml/2006/main">
              <a:ext uri="{FF2B5EF4-FFF2-40B4-BE49-F238E27FC236}">
                <a16:creationId xmlns:a16="http://schemas.microsoft.com/office/drawing/2014/main" id="{D81BF0A0-8AD3-4DC2-B580-F9A9735987D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Workflows and agent loops</a:t>
            </a:r>
          </a:p>
        </p:txBody>
      </p:sp>
      <p:sp>
        <p:nvSpPr>
          <p:cNvPr id="305" name="header-divider">
            <a:extLst xmlns:a="http://schemas.openxmlformats.org/drawingml/2006/main">
              <a:ext uri="{FF2B5EF4-FFF2-40B4-BE49-F238E27FC236}">
                <a16:creationId xmlns:a16="http://schemas.microsoft.com/office/drawing/2014/main" id="{EED6BE66-8B9E-4446-A2B7-9212A243B5D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06" name="27-text-1">
            <a:extLst xmlns:a="http://schemas.openxmlformats.org/drawingml/2006/main">
              <a:ext uri="{FF2B5EF4-FFF2-40B4-BE49-F238E27FC236}">
                <a16:creationId xmlns:a16="http://schemas.microsoft.com/office/drawing/2014/main" id="{7ADC7537-9458-4BA3-A403-AA2EB48335AA}"/>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Workflow</a:t>
            </a:r>
          </a:p>
        </p:txBody>
      </p:sp>
      <p:sp>
        <p:nvSpPr>
          <p:cNvPr id="307" name="27-text-2">
            <a:extLst xmlns:a="http://schemas.openxmlformats.org/drawingml/2006/main">
              <a:ext uri="{FF2B5EF4-FFF2-40B4-BE49-F238E27FC236}">
                <a16:creationId xmlns:a16="http://schemas.microsoft.com/office/drawing/2014/main" id="{E98CEE7B-2BAD-4BC0-A64C-535DF3EDE7F1}"/>
              </a:ext>
            </a:extLst>
          </p:cNvPr>
          <p:cNvSpPr>
            <a:spLocks xmlns:a="http://schemas.openxmlformats.org/drawingml/2006/main"/>
          </p:cNvSpPr>
          <p:nvPr/>
        </p:nvSpPr>
        <p:spPr>
          <a:xfrm xmlns:a="http://schemas.openxmlformats.org/drawingml/2006/main">
            <a:off x="609600" y="2921000"/>
            <a:ext cx="533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Code defines stages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permitted transitions.</a:t>
            </a:r>
          </a:p>
        </p:txBody>
      </p:sp>
      <p:sp>
        <p:nvSpPr>
          <p:cNvPr id="308" name="27-text-3">
            <a:extLst xmlns:a="http://schemas.openxmlformats.org/drawingml/2006/main">
              <a:ext uri="{FF2B5EF4-FFF2-40B4-BE49-F238E27FC236}">
                <a16:creationId xmlns:a16="http://schemas.microsoft.com/office/drawing/2014/main" id="{A1259894-3A26-476B-9955-5928E528D7E9}"/>
              </a:ext>
            </a:extLst>
          </p:cNvPr>
          <p:cNvSpPr>
            <a:spLocks xmlns:a="http://schemas.openxmlformats.org/drawingml/2006/main"/>
          </p:cNvSpPr>
          <p:nvPr/>
        </p:nvSpPr>
        <p:spPr>
          <a:xfrm xmlns:a="http://schemas.openxmlformats.org/drawingml/2006/main">
            <a:off x="609600" y="3733800"/>
            <a:ext cx="533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Stages can use scripts, rules,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 model calls.</a:t>
            </a:r>
          </a:p>
        </p:txBody>
      </p:sp>
      <p:sp>
        <p:nvSpPr>
          <p:cNvPr id="309" name="27-text-4">
            <a:extLst xmlns:a="http://schemas.openxmlformats.org/drawingml/2006/main">
              <a:ext uri="{FF2B5EF4-FFF2-40B4-BE49-F238E27FC236}">
                <a16:creationId xmlns:a16="http://schemas.microsoft.com/office/drawing/2014/main" id="{4E74FD34-D7A4-427D-B2E1-50C647955FD9}"/>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Agent loop</a:t>
            </a:r>
          </a:p>
        </p:txBody>
      </p:sp>
      <p:sp>
        <p:nvSpPr>
          <p:cNvPr id="310" name="27-text-5">
            <a:extLst xmlns:a="http://schemas.openxmlformats.org/drawingml/2006/main">
              <a:ext uri="{FF2B5EF4-FFF2-40B4-BE49-F238E27FC236}">
                <a16:creationId xmlns:a16="http://schemas.microsoft.com/office/drawing/2014/main" id="{7AB86BE6-D7FF-4FE2-AD06-C9657573CEDA}"/>
              </a:ext>
            </a:extLst>
          </p:cNvPr>
          <p:cNvSpPr>
            <a:spLocks xmlns:a="http://schemas.openxmlformats.org/drawingml/2006/main"/>
          </p:cNvSpPr>
          <p:nvPr/>
        </p:nvSpPr>
        <p:spPr>
          <a:xfrm xmlns:a="http://schemas.openxmlformats.org/drawingml/2006/main">
            <a:off x="6248400" y="2921000"/>
            <a:ext cx="533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model chooses the next action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from observed results.</a:t>
            </a:r>
          </a:p>
        </p:txBody>
      </p:sp>
      <p:sp>
        <p:nvSpPr>
          <p:cNvPr id="311" name="27-text-6">
            <a:extLst xmlns:a="http://schemas.openxmlformats.org/drawingml/2006/main">
              <a:ext uri="{FF2B5EF4-FFF2-40B4-BE49-F238E27FC236}">
                <a16:creationId xmlns:a16="http://schemas.microsoft.com/office/drawing/2014/main" id="{EF46A689-BB53-407C-8164-8167327987D2}"/>
              </a:ext>
            </a:extLst>
          </p:cNvPr>
          <p:cNvSpPr>
            <a:spLocks xmlns:a="http://schemas.openxmlformats.org/drawingml/2006/main"/>
          </p:cNvSpPr>
          <p:nvPr/>
        </p:nvSpPr>
        <p:spPr>
          <a:xfrm xmlns:a="http://schemas.openxmlformats.org/drawingml/2006/main">
            <a:off x="6248400" y="3733800"/>
            <a:ext cx="533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Actions repeat within enforced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permissions and limits.</a:t>
            </a:r>
          </a:p>
        </p:txBody>
      </p:sp>
      <p:sp>
        <p:nvSpPr>
          <p:cNvPr id="312" name="27-text-7">
            <a:extLst xmlns:a="http://schemas.openxmlformats.org/drawingml/2006/main">
              <a:ext uri="{FF2B5EF4-FFF2-40B4-BE49-F238E27FC236}">
                <a16:creationId xmlns:a16="http://schemas.microsoft.com/office/drawing/2014/main" id="{53EF12BC-8394-45DB-A409-94FA79C57270}"/>
              </a:ext>
            </a:extLst>
          </p:cNvPr>
          <p:cNvSpPr>
            <a:spLocks xmlns:a="http://schemas.openxmlformats.org/drawingml/2006/main"/>
          </p:cNvSpPr>
          <p:nvPr/>
        </p:nvSpPr>
        <p:spPr>
          <a:xfrm xmlns:a="http://schemas.openxmlformats.org/drawingml/2006/main">
            <a:off x="609600" y="4953000"/>
            <a:ext cx="1219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Stage 1</a:t>
            </a:r>
          </a:p>
        </p:txBody>
      </p:sp>
      <p:sp>
        <p:nvSpPr>
          <p:cNvPr id="313" name="27-text-8">
            <a:extLst xmlns:a="http://schemas.openxmlformats.org/drawingml/2006/main">
              <a:ext uri="{FF2B5EF4-FFF2-40B4-BE49-F238E27FC236}">
                <a16:creationId xmlns:a16="http://schemas.microsoft.com/office/drawing/2014/main" id="{55A7B90C-E8F8-4967-AAC0-CB8CBA7561A0}"/>
              </a:ext>
            </a:extLst>
          </p:cNvPr>
          <p:cNvSpPr>
            <a:spLocks xmlns:a="http://schemas.openxmlformats.org/drawingml/2006/main"/>
          </p:cNvSpPr>
          <p:nvPr/>
        </p:nvSpPr>
        <p:spPr>
          <a:xfrm xmlns:a="http://schemas.openxmlformats.org/drawingml/2006/main">
            <a:off x="2438400" y="4953000"/>
            <a:ext cx="1320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Stage 2</a:t>
            </a:r>
          </a:p>
        </p:txBody>
      </p:sp>
      <p:sp>
        <p:nvSpPr>
          <p:cNvPr id="314" name="27-text-9">
            <a:extLst xmlns:a="http://schemas.openxmlformats.org/drawingml/2006/main">
              <a:ext uri="{FF2B5EF4-FFF2-40B4-BE49-F238E27FC236}">
                <a16:creationId xmlns:a16="http://schemas.microsoft.com/office/drawing/2014/main" id="{B6A9D538-9C7A-4B67-9C92-AC81F36FA513}"/>
              </a:ext>
            </a:extLst>
          </p:cNvPr>
          <p:cNvSpPr>
            <a:spLocks xmlns:a="http://schemas.openxmlformats.org/drawingml/2006/main"/>
          </p:cNvSpPr>
          <p:nvPr/>
        </p:nvSpPr>
        <p:spPr>
          <a:xfrm xmlns:a="http://schemas.openxmlformats.org/drawingml/2006/main">
            <a:off x="4318000" y="4800600"/>
            <a:ext cx="16256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Required</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check</a:t>
            </a:r>
          </a:p>
        </p:txBody>
      </p:sp>
      <p:sp>
        <p:nvSpPr>
          <p:cNvPr id="315" name="27-line-11">
            <a:extLst xmlns:a="http://schemas.openxmlformats.org/drawingml/2006/main">
              <a:ext uri="{FF2B5EF4-FFF2-40B4-BE49-F238E27FC236}">
                <a16:creationId xmlns:a16="http://schemas.microsoft.com/office/drawing/2014/main" id="{4DC9B9E9-6D6B-421D-8DEF-BC093CA79DA9}"/>
              </a:ext>
            </a:extLst>
          </p:cNvPr>
          <p:cNvSpPr>
            <a:spLocks xmlns:a="http://schemas.openxmlformats.org/drawingml/2006/main"/>
          </p:cNvSpPr>
          <p:nvPr/>
        </p:nvSpPr>
        <p:spPr>
          <a:xfrm xmlns:a="http://schemas.openxmlformats.org/drawingml/2006/main" flipH="0" flipV="0">
            <a:off x="1955800" y="5118100"/>
            <a:ext cx="3302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16" name="27-line-13">
            <a:extLst xmlns:a="http://schemas.openxmlformats.org/drawingml/2006/main">
              <a:ext uri="{FF2B5EF4-FFF2-40B4-BE49-F238E27FC236}">
                <a16:creationId xmlns:a16="http://schemas.microsoft.com/office/drawing/2014/main" id="{B852576B-2E68-4D28-B579-672B1341A064}"/>
              </a:ext>
            </a:extLst>
          </p:cNvPr>
          <p:cNvSpPr>
            <a:spLocks xmlns:a="http://schemas.openxmlformats.org/drawingml/2006/main"/>
          </p:cNvSpPr>
          <p:nvPr/>
        </p:nvSpPr>
        <p:spPr>
          <a:xfrm xmlns:a="http://schemas.openxmlformats.org/drawingml/2006/main" flipH="0" flipV="0">
            <a:off x="3937000" y="51181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17" name="optional-loop-stage">
            <a:extLst xmlns:a="http://schemas.openxmlformats.org/drawingml/2006/main">
              <a:ext uri="{FF2B5EF4-FFF2-40B4-BE49-F238E27FC236}">
                <a16:creationId xmlns:a16="http://schemas.microsoft.com/office/drawing/2014/main" id="{B9D1600F-2949-4A4E-9130-74E8002D02A0}"/>
              </a:ext>
            </a:extLst>
          </p:cNvPr>
          <p:cNvSpPr>
            <a:spLocks xmlns:a="http://schemas.openxmlformats.org/drawingml/2006/main"/>
          </p:cNvSpPr>
          <p:nvPr/>
        </p:nvSpPr>
        <p:spPr>
          <a:xfrm xmlns:a="http://schemas.openxmlformats.org/drawingml/2006/main">
            <a:off x="2387600" y="4648200"/>
            <a:ext cx="1422400" cy="812800"/>
          </a:xfrm>
          <a:prstGeom xmlns:a="http://schemas.openxmlformats.org/drawingml/2006/main" prst="rect">
            <a:avLst/>
          </a:prstGeom>
          <a:noFill xmlns:a="http://schemas.openxmlformats.org/drawingml/2006/main"/>
          <a:ln xmlns:a="http://schemas.openxmlformats.org/drawingml/2006/main" w="25400">
            <a:solidFill>
              <a:srgbClr val="F948BE"/>
            </a:solidFill>
          </a:ln>
        </p:spPr>
      </p:sp>
      <p:sp>
        <p:nvSpPr>
          <p:cNvPr id="318" name="27-line-15">
            <a:extLst xmlns:a="http://schemas.openxmlformats.org/drawingml/2006/main">
              <a:ext uri="{FF2B5EF4-FFF2-40B4-BE49-F238E27FC236}">
                <a16:creationId xmlns:a16="http://schemas.microsoft.com/office/drawing/2014/main" id="{22332066-F704-42E6-9AFC-9575D9FE5708}"/>
              </a:ext>
            </a:extLst>
          </p:cNvPr>
          <p:cNvSpPr>
            <a:spLocks xmlns:a="http://schemas.openxmlformats.org/drawingml/2006/main"/>
          </p:cNvSpPr>
          <p:nvPr/>
        </p:nvSpPr>
        <p:spPr>
          <a:xfrm xmlns:a="http://schemas.openxmlformats.org/drawingml/2006/main" flipH="0" flipV="0">
            <a:off x="3098800" y="5461000"/>
            <a:ext cx="0" cy="3048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19" name="27-line-17">
            <a:extLst xmlns:a="http://schemas.openxmlformats.org/drawingml/2006/main">
              <a:ext uri="{FF2B5EF4-FFF2-40B4-BE49-F238E27FC236}">
                <a16:creationId xmlns:a16="http://schemas.microsoft.com/office/drawing/2014/main" id="{48A22389-0B09-4662-AA97-6A09FDCE93FE}"/>
              </a:ext>
            </a:extLst>
          </p:cNvPr>
          <p:cNvSpPr>
            <a:spLocks xmlns:a="http://schemas.openxmlformats.org/drawingml/2006/main"/>
          </p:cNvSpPr>
          <p:nvPr/>
        </p:nvSpPr>
        <p:spPr>
          <a:xfrm xmlns:a="http://schemas.openxmlformats.org/drawingml/2006/main" flipH="0" flipV="0">
            <a:off x="3098800" y="5765800"/>
            <a:ext cx="31496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20" name="bounded-agent-loop">
            <a:extLst xmlns:a="http://schemas.openxmlformats.org/drawingml/2006/main">
              <a:ext uri="{FF2B5EF4-FFF2-40B4-BE49-F238E27FC236}">
                <a16:creationId xmlns:a16="http://schemas.microsoft.com/office/drawing/2014/main" id="{D5F3F866-32B6-41B9-B8A0-8A1B3E2ECD76}"/>
              </a:ext>
            </a:extLst>
          </p:cNvPr>
          <p:cNvSpPr>
            <a:spLocks xmlns:a="http://schemas.openxmlformats.org/drawingml/2006/main"/>
          </p:cNvSpPr>
          <p:nvPr/>
        </p:nvSpPr>
        <p:spPr>
          <a:xfrm xmlns:a="http://schemas.openxmlformats.org/drawingml/2006/main">
            <a:off x="6248400" y="4546600"/>
            <a:ext cx="5334000" cy="1320800"/>
          </a:xfrm>
          <a:prstGeom xmlns:a="http://schemas.openxmlformats.org/drawingml/2006/main" prst="rect">
            <a:avLst/>
          </a:prstGeom>
          <a:noFill xmlns:a="http://schemas.openxmlformats.org/drawingml/2006/main"/>
          <a:ln xmlns:a="http://schemas.openxmlformats.org/drawingml/2006/main" w="25400">
            <a:solidFill>
              <a:srgbClr val="F948BE"/>
            </a:solidFill>
          </a:ln>
        </p:spPr>
      </p:sp>
      <p:sp>
        <p:nvSpPr>
          <p:cNvPr id="321" name="27-text-18">
            <a:extLst xmlns:a="http://schemas.openxmlformats.org/drawingml/2006/main">
              <a:ext uri="{FF2B5EF4-FFF2-40B4-BE49-F238E27FC236}">
                <a16:creationId xmlns:a16="http://schemas.microsoft.com/office/drawing/2014/main" id="{78EC80F4-1DC5-4145-9245-C4670862CDDD}"/>
              </a:ext>
            </a:extLst>
          </p:cNvPr>
          <p:cNvSpPr>
            <a:spLocks xmlns:a="http://schemas.openxmlformats.org/drawingml/2006/main"/>
          </p:cNvSpPr>
          <p:nvPr/>
        </p:nvSpPr>
        <p:spPr>
          <a:xfrm xmlns:a="http://schemas.openxmlformats.org/drawingml/2006/main">
            <a:off x="6400800" y="4800600"/>
            <a:ext cx="152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Choose</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action</a:t>
            </a:r>
          </a:p>
        </p:txBody>
      </p:sp>
      <p:sp>
        <p:nvSpPr>
          <p:cNvPr id="322" name="27-text-19">
            <a:extLst xmlns:a="http://schemas.openxmlformats.org/drawingml/2006/main">
              <a:ext uri="{FF2B5EF4-FFF2-40B4-BE49-F238E27FC236}">
                <a16:creationId xmlns:a16="http://schemas.microsoft.com/office/drawing/2014/main" id="{EB9AFE3C-E27D-439A-AD1D-1DC69DB830A5}"/>
              </a:ext>
            </a:extLst>
          </p:cNvPr>
          <p:cNvSpPr>
            <a:spLocks xmlns:a="http://schemas.openxmlformats.org/drawingml/2006/main"/>
          </p:cNvSpPr>
          <p:nvPr/>
        </p:nvSpPr>
        <p:spPr>
          <a:xfrm xmlns:a="http://schemas.openxmlformats.org/drawingml/2006/main">
            <a:off x="8432800" y="4953000"/>
            <a:ext cx="76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Act</a:t>
            </a:r>
          </a:p>
        </p:txBody>
      </p:sp>
      <p:sp>
        <p:nvSpPr>
          <p:cNvPr id="323" name="27-text-20">
            <a:extLst xmlns:a="http://schemas.openxmlformats.org/drawingml/2006/main">
              <a:ext uri="{FF2B5EF4-FFF2-40B4-BE49-F238E27FC236}">
                <a16:creationId xmlns:a16="http://schemas.microsoft.com/office/drawing/2014/main" id="{6CA3F3C9-7365-49ED-9621-8337C3C80976}"/>
              </a:ext>
            </a:extLst>
          </p:cNvPr>
          <p:cNvSpPr>
            <a:spLocks xmlns:a="http://schemas.openxmlformats.org/drawingml/2006/main"/>
          </p:cNvSpPr>
          <p:nvPr/>
        </p:nvSpPr>
        <p:spPr>
          <a:xfrm xmlns:a="http://schemas.openxmlformats.org/drawingml/2006/main">
            <a:off x="9601200" y="4800600"/>
            <a:ext cx="1828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Observe</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result</a:t>
            </a:r>
          </a:p>
        </p:txBody>
      </p:sp>
      <p:sp>
        <p:nvSpPr>
          <p:cNvPr id="324" name="27-line-22">
            <a:extLst xmlns:a="http://schemas.openxmlformats.org/drawingml/2006/main">
              <a:ext uri="{FF2B5EF4-FFF2-40B4-BE49-F238E27FC236}">
                <a16:creationId xmlns:a16="http://schemas.microsoft.com/office/drawing/2014/main" id="{0D5D8EBD-8ECB-4BB6-BD7A-7912C05FB864}"/>
              </a:ext>
            </a:extLst>
          </p:cNvPr>
          <p:cNvSpPr>
            <a:spLocks xmlns:a="http://schemas.openxmlformats.org/drawingml/2006/main"/>
          </p:cNvSpPr>
          <p:nvPr/>
        </p:nvSpPr>
        <p:spPr>
          <a:xfrm xmlns:a="http://schemas.openxmlformats.org/drawingml/2006/main" flipH="0" flipV="0">
            <a:off x="8001000" y="5118100"/>
            <a:ext cx="3302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25" name="27-line-24">
            <a:extLst xmlns:a="http://schemas.openxmlformats.org/drawingml/2006/main">
              <a:ext uri="{FF2B5EF4-FFF2-40B4-BE49-F238E27FC236}">
                <a16:creationId xmlns:a16="http://schemas.microsoft.com/office/drawing/2014/main" id="{EA871913-3E8A-403B-9898-5DCC610942F5}"/>
              </a:ext>
            </a:extLst>
          </p:cNvPr>
          <p:cNvSpPr>
            <a:spLocks xmlns:a="http://schemas.openxmlformats.org/drawingml/2006/main"/>
          </p:cNvSpPr>
          <p:nvPr/>
        </p:nvSpPr>
        <p:spPr>
          <a:xfrm xmlns:a="http://schemas.openxmlformats.org/drawingml/2006/main" flipH="0" flipV="0">
            <a:off x="9245600" y="5118100"/>
            <a:ext cx="279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26" name="27-line-26">
            <a:extLst xmlns:a="http://schemas.openxmlformats.org/drawingml/2006/main">
              <a:ext uri="{FF2B5EF4-FFF2-40B4-BE49-F238E27FC236}">
                <a16:creationId xmlns:a16="http://schemas.microsoft.com/office/drawing/2014/main" id="{DA24F8E6-6E64-49F6-B59C-DA46486384C8}"/>
              </a:ext>
            </a:extLst>
          </p:cNvPr>
          <p:cNvSpPr>
            <a:spLocks xmlns:a="http://schemas.openxmlformats.org/drawingml/2006/main"/>
          </p:cNvSpPr>
          <p:nvPr/>
        </p:nvSpPr>
        <p:spPr>
          <a:xfrm xmlns:a="http://schemas.openxmlformats.org/drawingml/2006/main" flipH="0" flipV="0">
            <a:off x="10515600" y="5588000"/>
            <a:ext cx="0" cy="1524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27" name="27-line-28">
            <a:extLst xmlns:a="http://schemas.openxmlformats.org/drawingml/2006/main">
              <a:ext uri="{FF2B5EF4-FFF2-40B4-BE49-F238E27FC236}">
                <a16:creationId xmlns:a16="http://schemas.microsoft.com/office/drawing/2014/main" id="{C67B8953-DE90-4452-87DD-FD946BB7B4B7}"/>
              </a:ext>
            </a:extLst>
          </p:cNvPr>
          <p:cNvSpPr>
            <a:spLocks xmlns:a="http://schemas.openxmlformats.org/drawingml/2006/main"/>
          </p:cNvSpPr>
          <p:nvPr/>
        </p:nvSpPr>
        <p:spPr>
          <a:xfrm xmlns:a="http://schemas.openxmlformats.org/drawingml/2006/main" flipH="1" flipV="0">
            <a:off x="7162800" y="5740400"/>
            <a:ext cx="33528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28" name="27-line-30">
            <a:extLst xmlns:a="http://schemas.openxmlformats.org/drawingml/2006/main">
              <a:ext uri="{FF2B5EF4-FFF2-40B4-BE49-F238E27FC236}">
                <a16:creationId xmlns:a16="http://schemas.microsoft.com/office/drawing/2014/main" id="{24086195-EB26-40F1-86BC-18E042F3C307}"/>
              </a:ext>
            </a:extLst>
          </p:cNvPr>
          <p:cNvSpPr>
            <a:spLocks xmlns:a="http://schemas.openxmlformats.org/drawingml/2006/main"/>
          </p:cNvSpPr>
          <p:nvPr/>
        </p:nvSpPr>
        <p:spPr>
          <a:xfrm xmlns:a="http://schemas.openxmlformats.org/drawingml/2006/main" flipH="0" flipV="1">
            <a:off x="7162800" y="5588000"/>
            <a:ext cx="0" cy="15240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29" name="27-text-31">
            <a:extLst xmlns:a="http://schemas.openxmlformats.org/drawingml/2006/main">
              <a:ext uri="{FF2B5EF4-FFF2-40B4-BE49-F238E27FC236}">
                <a16:creationId xmlns:a16="http://schemas.microsoft.com/office/drawing/2014/main" id="{3792C540-209B-4152-A009-BCADF6BCBA1D}"/>
              </a:ext>
            </a:extLst>
          </p:cNvPr>
          <p:cNvSpPr>
            <a:spLocks xmlns:a="http://schemas.openxmlformats.org/drawingml/2006/main"/>
          </p:cNvSpPr>
          <p:nvPr/>
        </p:nvSpPr>
        <p:spPr>
          <a:xfrm xmlns:a="http://schemas.openxmlformats.org/drawingml/2006/main">
            <a:off x="609600" y="6096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Required checks remain outside the model's discretion.</a:t>
            </a:r>
          </a:p>
        </p:txBody>
      </p:sp>
      <p:sp>
        <p:nvSpPr>
          <p:cNvPr id="330" name="narrative-number">
            <a:extLst xmlns:a="http://schemas.openxmlformats.org/drawingml/2006/main">
              <a:ext uri="{FF2B5EF4-FFF2-40B4-BE49-F238E27FC236}">
                <a16:creationId xmlns:a16="http://schemas.microsoft.com/office/drawing/2014/main" id="{99AA92BD-A3E0-42E8-9331-3FC70F1633C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27</a:t>
            </a:r>
          </a:p>
        </p:txBody>
      </p:sp>
    </p:spTree>
    <p:extLst>
      <p:ext uri="{BB962C8B-B14F-4D97-AF65-F5344CB8AC3E}">
        <p14:creationId xmlns:p14="http://schemas.microsoft.com/office/powerpoint/2010/main" val="1460579040"/>
      </p:ext>
    </p:extLst>
  </p:cSld>
</p:sld>
</file>

<file path=ppt/slides/slide3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31" name="!!area-name">
            <a:extLst xmlns:a="http://schemas.openxmlformats.org/drawingml/2006/main">
              <a:ext uri="{FF2B5EF4-FFF2-40B4-BE49-F238E27FC236}">
                <a16:creationId xmlns:a16="http://schemas.microsoft.com/office/drawing/2014/main" id="{F2CDDE7C-CF95-4655-9C76-D2509721388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Decisions</a:t>
            </a:r>
          </a:p>
        </p:txBody>
      </p:sp>
      <p:pic>
        <p:nvPicPr>
          <p:cNvPr id="344" name="mini-map"/>
          <p:cNvPicPr>
            <a:picLocks xmlns:a="http://schemas.openxmlformats.org/drawingml/2006/main" noChangeAspect="1"/>
          </p:cNvPicPr>
          <p:nvPr/>
        </p:nvPicPr>
        <p:blipFill>
          <a:blip xmlns:r="http://schemas.openxmlformats.org/officeDocument/2006/relationships" xmlns:a="http://schemas.openxmlformats.org/drawingml/2006/main" r:embed="R9825a40a1be14c9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33" name="slide-title">
            <a:extLst xmlns:a="http://schemas.openxmlformats.org/drawingml/2006/main">
              <a:ext uri="{FF2B5EF4-FFF2-40B4-BE49-F238E27FC236}">
                <a16:creationId xmlns:a16="http://schemas.microsoft.com/office/drawing/2014/main" id="{BDA266FC-35AA-41AB-BB35-D49E8513008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Choosing the execution approach</a:t>
            </a:r>
          </a:p>
        </p:txBody>
      </p:sp>
      <p:sp>
        <p:nvSpPr>
          <p:cNvPr id="334" name="header-divider">
            <a:extLst xmlns:a="http://schemas.openxmlformats.org/drawingml/2006/main">
              <a:ext uri="{FF2B5EF4-FFF2-40B4-BE49-F238E27FC236}">
                <a16:creationId xmlns:a16="http://schemas.microsoft.com/office/drawing/2014/main" id="{C5B5F26C-8592-40AD-9442-4CC60CBCBA5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35" name="28-text-1">
            <a:extLst xmlns:a="http://schemas.openxmlformats.org/drawingml/2006/main">
              <a:ext uri="{FF2B5EF4-FFF2-40B4-BE49-F238E27FC236}">
                <a16:creationId xmlns:a16="http://schemas.microsoft.com/office/drawing/2014/main" id="{E6DCADC6-1114-42F8-9566-8CDC5E42C7D0}"/>
              </a:ext>
            </a:extLst>
          </p:cNvPr>
          <p:cNvSpPr>
            <a:spLocks xmlns:a="http://schemas.openxmlformats.org/drawingml/2006/main"/>
          </p:cNvSpPr>
          <p:nvPr/>
        </p:nvSpPr>
        <p:spPr>
          <a:xfrm xmlns:a="http://schemas.openxmlformats.org/drawingml/2006/main">
            <a:off x="609600" y="2438400"/>
            <a:ext cx="3962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Is intelligence needed</a:t>
            </a:r>
          </a:p>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for this task?</a:t>
            </a:r>
          </a:p>
        </p:txBody>
      </p:sp>
      <p:sp>
        <p:nvSpPr>
          <p:cNvPr id="336" name="28-text-2">
            <a:extLst xmlns:a="http://schemas.openxmlformats.org/drawingml/2006/main">
              <a:ext uri="{FF2B5EF4-FFF2-40B4-BE49-F238E27FC236}">
                <a16:creationId xmlns:a16="http://schemas.microsoft.com/office/drawing/2014/main" id="{1B1509D4-53F8-42A6-85AD-D621B16D5E57}"/>
              </a:ext>
            </a:extLst>
          </p:cNvPr>
          <p:cNvSpPr>
            <a:spLocks xmlns:a="http://schemas.openxmlformats.org/drawingml/2006/main"/>
          </p:cNvSpPr>
          <p:nvPr/>
        </p:nvSpPr>
        <p:spPr>
          <a:xfrm xmlns:a="http://schemas.openxmlformats.org/drawingml/2006/main">
            <a:off x="4978400" y="2438400"/>
            <a:ext cx="6604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Start with scripts and explicit rules. Add model</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judgment where it provides value.</a:t>
            </a:r>
          </a:p>
        </p:txBody>
      </p:sp>
      <p:sp>
        <p:nvSpPr>
          <p:cNvPr id="337" name="28-text-3">
            <a:extLst xmlns:a="http://schemas.openxmlformats.org/drawingml/2006/main">
              <a:ext uri="{FF2B5EF4-FFF2-40B4-BE49-F238E27FC236}">
                <a16:creationId xmlns:a16="http://schemas.microsoft.com/office/drawing/2014/main" id="{80FBD074-F2B9-4509-A5B9-F21238877280}"/>
              </a:ext>
            </a:extLst>
          </p:cNvPr>
          <p:cNvSpPr>
            <a:spLocks xmlns:a="http://schemas.openxmlformats.org/drawingml/2006/main"/>
          </p:cNvSpPr>
          <p:nvPr/>
        </p:nvSpPr>
        <p:spPr>
          <a:xfrm xmlns:a="http://schemas.openxmlformats.org/drawingml/2006/main">
            <a:off x="609600" y="3632200"/>
            <a:ext cx="39624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Does the model need to</a:t>
            </a:r>
          </a:p>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choose the next action?</a:t>
            </a:r>
          </a:p>
        </p:txBody>
      </p:sp>
      <p:sp>
        <p:nvSpPr>
          <p:cNvPr id="338" name="28-text-4">
            <a:extLst xmlns:a="http://schemas.openxmlformats.org/drawingml/2006/main">
              <a:ext uri="{FF2B5EF4-FFF2-40B4-BE49-F238E27FC236}">
                <a16:creationId xmlns:a16="http://schemas.microsoft.com/office/drawing/2014/main" id="{FD96E739-57B4-4282-BF93-A4526A717A45}"/>
              </a:ext>
            </a:extLst>
          </p:cNvPr>
          <p:cNvSpPr>
            <a:spLocks xmlns:a="http://schemas.openxmlformats.org/drawingml/2006/main"/>
          </p:cNvSpPr>
          <p:nvPr/>
        </p:nvSpPr>
        <p:spPr>
          <a:xfrm xmlns:a="http://schemas.openxmlformats.org/drawingml/2006/main">
            <a:off x="4978400" y="3632200"/>
            <a:ext cx="66040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Use a predefined workflow for known paths.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Consider a bounded agent loop when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observations must guide the next step.</a:t>
            </a:r>
          </a:p>
        </p:txBody>
      </p:sp>
      <p:sp>
        <p:nvSpPr>
          <p:cNvPr id="339" name="28-text-5">
            <a:extLst xmlns:a="http://schemas.openxmlformats.org/drawingml/2006/main">
              <a:ext uri="{FF2B5EF4-FFF2-40B4-BE49-F238E27FC236}">
                <a16:creationId xmlns:a16="http://schemas.microsoft.com/office/drawing/2014/main" id="{20728238-5629-4685-9CB4-2609F30647AC}"/>
              </a:ext>
            </a:extLst>
          </p:cNvPr>
          <p:cNvSpPr>
            <a:spLocks xmlns:a="http://schemas.openxmlformats.org/drawingml/2006/main"/>
          </p:cNvSpPr>
          <p:nvPr/>
        </p:nvSpPr>
        <p:spPr>
          <a:xfrm xmlns:a="http://schemas.openxmlformats.org/drawingml/2006/main">
            <a:off x="609600" y="4953000"/>
            <a:ext cx="3962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Does added autonomy</a:t>
            </a:r>
          </a:p>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justify its cost?</a:t>
            </a:r>
          </a:p>
        </p:txBody>
      </p:sp>
      <p:sp>
        <p:nvSpPr>
          <p:cNvPr id="340" name="28-text-6">
            <a:extLst xmlns:a="http://schemas.openxmlformats.org/drawingml/2006/main">
              <a:ext uri="{FF2B5EF4-FFF2-40B4-BE49-F238E27FC236}">
                <a16:creationId xmlns:a16="http://schemas.microsoft.com/office/drawing/2014/main" id="{E17798A1-9BF3-4163-A64D-9C74E9B07DD8}"/>
              </a:ext>
            </a:extLst>
          </p:cNvPr>
          <p:cNvSpPr>
            <a:spLocks xmlns:a="http://schemas.openxmlformats.org/drawingml/2006/main"/>
          </p:cNvSpPr>
          <p:nvPr/>
        </p:nvSpPr>
        <p:spPr>
          <a:xfrm xmlns:a="http://schemas.openxmlformats.org/drawingml/2006/main">
            <a:off x="4978400" y="4953000"/>
            <a:ext cx="6604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Compare task quality, completion time,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total cost against the simpler approach.</a:t>
            </a:r>
          </a:p>
        </p:txBody>
      </p:sp>
      <p:sp>
        <p:nvSpPr>
          <p:cNvPr id="341" name="28-text-7">
            <a:extLst xmlns:a="http://schemas.openxmlformats.org/drawingml/2006/main">
              <a:ext uri="{FF2B5EF4-FFF2-40B4-BE49-F238E27FC236}">
                <a16:creationId xmlns:a16="http://schemas.microsoft.com/office/drawing/2014/main" id="{663BAD2B-8E18-489B-927F-9A4640D1BF18}"/>
              </a:ext>
            </a:extLst>
          </p:cNvPr>
          <p:cNvSpPr>
            <a:spLocks xmlns:a="http://schemas.openxmlformats.org/drawingml/2006/main"/>
          </p:cNvSpPr>
          <p:nvPr/>
        </p:nvSpPr>
        <p:spPr>
          <a:xfrm xmlns:a="http://schemas.openxmlformats.org/drawingml/2006/main">
            <a:off x="609600" y="6096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FFCF5"/>
                </a:solidFill>
                <a:latin typeface="Helvetica"/>
                <a:ea typeface="Helvetica"/>
                <a:cs typeface="Helvetica"/>
              </a:rPr>
              <a:t>Execution controls:</a:t>
            </a:r>
            <a:r>
              <a:rPr b="0">
                <a:solidFill>
                  <a:srgbClr val="FFFCF5"/>
                </a:solidFill>
                <a:latin typeface="Helvetica"/>
                <a:ea typeface="Helvetica"/>
                <a:cs typeface="Helvetica"/>
              </a:rPr>
              <a:t> Saved state, required checks, stopping limits, and recovery.</a:t>
            </a:r>
          </a:p>
        </p:txBody>
      </p:sp>
      <p:sp>
        <p:nvSpPr>
          <p:cNvPr id="342" name="narrative-number">
            <a:extLst xmlns:a="http://schemas.openxmlformats.org/drawingml/2006/main">
              <a:ext uri="{FF2B5EF4-FFF2-40B4-BE49-F238E27FC236}">
                <a16:creationId xmlns:a16="http://schemas.microsoft.com/office/drawing/2014/main" id="{33AE4A25-89E4-4407-9AAA-29AF170AFC6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28</a:t>
            </a:r>
          </a:p>
        </p:txBody>
      </p:sp>
    </p:spTree>
    <p:extLst>
      <p:ext uri="{BB962C8B-B14F-4D97-AF65-F5344CB8AC3E}">
        <p14:creationId xmlns:p14="http://schemas.microsoft.com/office/powerpoint/2010/main" val="989566158"/>
      </p:ext>
    </p:extLst>
  </p:cSld>
</p:sld>
</file>

<file path=ppt/slides/slide3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3" name="!!area-name">
            <a:extLst xmlns:a="http://schemas.openxmlformats.org/drawingml/2006/main">
              <a:ext uri="{FF2B5EF4-FFF2-40B4-BE49-F238E27FC236}">
                <a16:creationId xmlns:a16="http://schemas.microsoft.com/office/drawing/2014/main" id="{1803D708-6BC6-4A38-8DE8-EAE08F6A6C9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Challenges and pitfalls</a:t>
            </a:r>
          </a:p>
        </p:txBody>
      </p:sp>
      <p:pic>
        <p:nvPicPr>
          <p:cNvPr id="357" name="mini-map"/>
          <p:cNvPicPr>
            <a:picLocks xmlns:a="http://schemas.openxmlformats.org/drawingml/2006/main" noChangeAspect="1"/>
          </p:cNvPicPr>
          <p:nvPr/>
        </p:nvPicPr>
        <p:blipFill>
          <a:blip xmlns:r="http://schemas.openxmlformats.org/officeDocument/2006/relationships" xmlns:a="http://schemas.openxmlformats.org/drawingml/2006/main" r:embed="R85fd411400b342a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45" name="slide-title">
            <a:extLst xmlns:a="http://schemas.openxmlformats.org/drawingml/2006/main">
              <a:ext uri="{FF2B5EF4-FFF2-40B4-BE49-F238E27FC236}">
                <a16:creationId xmlns:a16="http://schemas.microsoft.com/office/drawing/2014/main" id="{ECF45144-C607-4E05-ABB9-7B55985F19B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Execution pitfalls</a:t>
            </a:r>
          </a:p>
        </p:txBody>
      </p:sp>
      <p:sp>
        <p:nvSpPr>
          <p:cNvPr id="346" name="header-divider">
            <a:extLst xmlns:a="http://schemas.openxmlformats.org/drawingml/2006/main">
              <a:ext uri="{FF2B5EF4-FFF2-40B4-BE49-F238E27FC236}">
                <a16:creationId xmlns:a16="http://schemas.microsoft.com/office/drawing/2014/main" id="{BCC20EB3-662C-4672-AD17-8FAA3D57E5B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47" name="29-text-1">
            <a:extLst xmlns:a="http://schemas.openxmlformats.org/drawingml/2006/main">
              <a:ext uri="{FF2B5EF4-FFF2-40B4-BE49-F238E27FC236}">
                <a16:creationId xmlns:a16="http://schemas.microsoft.com/office/drawing/2014/main" id="{48FD004F-9F7C-42C2-AFF0-387B10E8A9AE}"/>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Value</a:t>
            </a:r>
          </a:p>
        </p:txBody>
      </p:sp>
      <p:sp>
        <p:nvSpPr>
          <p:cNvPr id="348" name="29-text-2">
            <a:extLst xmlns:a="http://schemas.openxmlformats.org/drawingml/2006/main">
              <a:ext uri="{FF2B5EF4-FFF2-40B4-BE49-F238E27FC236}">
                <a16:creationId xmlns:a16="http://schemas.microsoft.com/office/drawing/2014/main" id="{6517C5DB-F296-46BC-A7A2-B52485841CCA}"/>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autonomy without demonstrating a benefit.</a:t>
            </a:r>
          </a:p>
        </p:txBody>
      </p:sp>
      <p:sp>
        <p:nvSpPr>
          <p:cNvPr id="349" name="29-text-3">
            <a:extLst xmlns:a="http://schemas.openxmlformats.org/drawingml/2006/main">
              <a:ext uri="{FF2B5EF4-FFF2-40B4-BE49-F238E27FC236}">
                <a16:creationId xmlns:a16="http://schemas.microsoft.com/office/drawing/2014/main" id="{C8A0B7F2-C20A-4768-88AD-F320414605E6}"/>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Control</a:t>
            </a:r>
          </a:p>
        </p:txBody>
      </p:sp>
      <p:sp>
        <p:nvSpPr>
          <p:cNvPr id="350" name="29-text-4">
            <a:extLst xmlns:a="http://schemas.openxmlformats.org/drawingml/2006/main">
              <a:ext uri="{FF2B5EF4-FFF2-40B4-BE49-F238E27FC236}">
                <a16:creationId xmlns:a16="http://schemas.microsoft.com/office/drawing/2014/main" id="{56F456C5-4E09-4275-B218-3D9B188A8850}"/>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Skipping required checks or repeating work</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without progress.</a:t>
            </a:r>
          </a:p>
        </p:txBody>
      </p:sp>
      <p:sp>
        <p:nvSpPr>
          <p:cNvPr id="351" name="29-text-5">
            <a:extLst xmlns:a="http://schemas.openxmlformats.org/drawingml/2006/main">
              <a:ext uri="{FF2B5EF4-FFF2-40B4-BE49-F238E27FC236}">
                <a16:creationId xmlns:a16="http://schemas.microsoft.com/office/drawing/2014/main" id="{173A1FC9-7571-407F-9717-6494DA2DC62B}"/>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Recovery</a:t>
            </a:r>
          </a:p>
        </p:txBody>
      </p:sp>
      <p:sp>
        <p:nvSpPr>
          <p:cNvPr id="352" name="29-text-6">
            <a:extLst xmlns:a="http://schemas.openxmlformats.org/drawingml/2006/main">
              <a:ext uri="{FF2B5EF4-FFF2-40B4-BE49-F238E27FC236}">
                <a16:creationId xmlns:a16="http://schemas.microsoft.com/office/drawing/2014/main" id="{358E323D-98BE-4C50-905B-89CD55738F72}"/>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Retrying an action before establishing its outcome.</a:t>
            </a:r>
          </a:p>
        </p:txBody>
      </p:sp>
      <p:sp>
        <p:nvSpPr>
          <p:cNvPr id="353" name="29-text-7">
            <a:extLst xmlns:a="http://schemas.openxmlformats.org/drawingml/2006/main">
              <a:ext uri="{FF2B5EF4-FFF2-40B4-BE49-F238E27FC236}">
                <a16:creationId xmlns:a16="http://schemas.microsoft.com/office/drawing/2014/main" id="{7A8C38C3-80EC-4E19-8950-C13A8FA07402}"/>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354" name="29-text-8">
            <a:extLst xmlns:a="http://schemas.openxmlformats.org/drawingml/2006/main">
              <a:ext uri="{FF2B5EF4-FFF2-40B4-BE49-F238E27FC236}">
                <a16:creationId xmlns:a16="http://schemas.microsoft.com/office/drawing/2014/main" id="{EDD9A8EA-CF17-4511-9BEB-61F70C2A6E60}"/>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multiple agents before trying a workflow.</a:t>
            </a:r>
          </a:p>
        </p:txBody>
      </p:sp>
      <p:sp>
        <p:nvSpPr>
          <p:cNvPr id="355" name="narrative-number">
            <a:extLst xmlns:a="http://schemas.openxmlformats.org/drawingml/2006/main">
              <a:ext uri="{FF2B5EF4-FFF2-40B4-BE49-F238E27FC236}">
                <a16:creationId xmlns:a16="http://schemas.microsoft.com/office/drawing/2014/main" id="{619153F0-1D79-4506-835E-92479CA3EA6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29</a:t>
            </a:r>
          </a:p>
        </p:txBody>
      </p:sp>
    </p:spTree>
    <p:extLst>
      <p:ext uri="{BB962C8B-B14F-4D97-AF65-F5344CB8AC3E}">
        <p14:creationId xmlns:p14="http://schemas.microsoft.com/office/powerpoint/2010/main" val="4229749749"/>
      </p:ext>
    </p:extLst>
  </p:cSld>
</p:sld>
</file>

<file path=ppt/slides/slide3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56" name="!!area-name">
            <a:extLst xmlns:a="http://schemas.openxmlformats.org/drawingml/2006/main">
              <a:ext uri="{FF2B5EF4-FFF2-40B4-BE49-F238E27FC236}">
                <a16:creationId xmlns:a16="http://schemas.microsoft.com/office/drawing/2014/main" id="{0067FEC9-2327-452F-BD49-3E9E6411695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FRB application</a:t>
            </a:r>
          </a:p>
        </p:txBody>
      </p:sp>
      <p:pic>
        <p:nvPicPr>
          <p:cNvPr id="380" name="mini-map"/>
          <p:cNvPicPr>
            <a:picLocks xmlns:a="http://schemas.openxmlformats.org/drawingml/2006/main" noChangeAspect="1"/>
          </p:cNvPicPr>
          <p:nvPr/>
        </p:nvPicPr>
        <p:blipFill>
          <a:blip xmlns:r="http://schemas.openxmlformats.org/officeDocument/2006/relationships" xmlns:a="http://schemas.openxmlformats.org/drawingml/2006/main" r:embed="Rb17671e1ed15439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58" name="slide-title">
            <a:extLst xmlns:a="http://schemas.openxmlformats.org/drawingml/2006/main">
              <a:ext uri="{FF2B5EF4-FFF2-40B4-BE49-F238E27FC236}">
                <a16:creationId xmlns:a16="http://schemas.microsoft.com/office/drawing/2014/main" id="{DD9C06B2-A312-4143-AA89-6485E894816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Recovery after an uncertain export</a:t>
            </a:r>
          </a:p>
        </p:txBody>
      </p:sp>
      <p:sp>
        <p:nvSpPr>
          <p:cNvPr id="359" name="header-divider">
            <a:extLst xmlns:a="http://schemas.openxmlformats.org/drawingml/2006/main">
              <a:ext uri="{FF2B5EF4-FFF2-40B4-BE49-F238E27FC236}">
                <a16:creationId xmlns:a16="http://schemas.microsoft.com/office/drawing/2014/main" id="{D206F7E6-339A-4007-9D79-22C42C6EB79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0" name="30-text-1">
            <a:extLst xmlns:a="http://schemas.openxmlformats.org/drawingml/2006/main">
              <a:ext uri="{FF2B5EF4-FFF2-40B4-BE49-F238E27FC236}">
                <a16:creationId xmlns:a16="http://schemas.microsoft.com/office/drawing/2014/main" id="{46DF0FCB-C9D8-4A48-A9A3-BCDF53CACFF8}"/>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permitted export and recovery test.</a:t>
            </a:r>
          </a:p>
        </p:txBody>
      </p:sp>
      <p:sp>
        <p:nvSpPr>
          <p:cNvPr id="361" name="30-text-2">
            <a:extLst xmlns:a="http://schemas.openxmlformats.org/drawingml/2006/main">
              <a:ext uri="{FF2B5EF4-FFF2-40B4-BE49-F238E27FC236}">
                <a16:creationId xmlns:a16="http://schemas.microsoft.com/office/drawing/2014/main" id="{A677E89D-CB64-4906-857E-7ABA010700B9}"/>
              </a:ext>
            </a:extLst>
          </p:cNvPr>
          <p:cNvSpPr>
            <a:spLocks xmlns:a="http://schemas.openxmlformats.org/drawingml/2006/main"/>
          </p:cNvSpPr>
          <p:nvPr/>
        </p:nvSpPr>
        <p:spPr>
          <a:xfrm xmlns:a="http://schemas.openxmlformats.org/drawingml/2006/main">
            <a:off x="609600" y="28448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Orchestrator</a:t>
            </a:r>
          </a:p>
        </p:txBody>
      </p:sp>
      <p:sp>
        <p:nvSpPr>
          <p:cNvPr id="362" name="30-text-3">
            <a:extLst xmlns:a="http://schemas.openxmlformats.org/drawingml/2006/main">
              <a:ext uri="{FF2B5EF4-FFF2-40B4-BE49-F238E27FC236}">
                <a16:creationId xmlns:a16="http://schemas.microsoft.com/office/drawing/2014/main" id="{B9A4717A-1267-4CDF-8C43-CB7306F78326}"/>
              </a:ext>
            </a:extLst>
          </p:cNvPr>
          <p:cNvSpPr>
            <a:spLocks xmlns:a="http://schemas.openxmlformats.org/drawingml/2006/main"/>
          </p:cNvSpPr>
          <p:nvPr/>
        </p:nvSpPr>
        <p:spPr>
          <a:xfrm xmlns:a="http://schemas.openxmlformats.org/drawingml/2006/main">
            <a:off x="8128000" y="28448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Export service</a:t>
            </a:r>
          </a:p>
        </p:txBody>
      </p:sp>
      <p:sp>
        <p:nvSpPr>
          <p:cNvPr id="363" name="30-text-4">
            <a:extLst xmlns:a="http://schemas.openxmlformats.org/drawingml/2006/main">
              <a:ext uri="{FF2B5EF4-FFF2-40B4-BE49-F238E27FC236}">
                <a16:creationId xmlns:a16="http://schemas.microsoft.com/office/drawing/2014/main" id="{2214C3E4-3B1A-4B1A-9B26-DE3A87B9472F}"/>
              </a:ext>
            </a:extLst>
          </p:cNvPr>
          <p:cNvSpPr>
            <a:spLocks xmlns:a="http://schemas.openxmlformats.org/drawingml/2006/main"/>
          </p:cNvSpPr>
          <p:nvPr/>
        </p:nvSpPr>
        <p:spPr>
          <a:xfrm xmlns:a="http://schemas.openxmlformats.org/drawingml/2006/main">
            <a:off x="609600" y="32766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Record and dispatch export</a:t>
            </a:r>
          </a:p>
        </p:txBody>
      </p:sp>
      <p:sp>
        <p:nvSpPr>
          <p:cNvPr id="364" name="30-text-5">
            <a:extLst xmlns:a="http://schemas.openxmlformats.org/drawingml/2006/main">
              <a:ext uri="{FF2B5EF4-FFF2-40B4-BE49-F238E27FC236}">
                <a16:creationId xmlns:a16="http://schemas.microsoft.com/office/drawing/2014/main" id="{A6958A4F-E9D3-4B8A-AB4D-BB613A2B048A}"/>
              </a:ext>
            </a:extLst>
          </p:cNvPr>
          <p:cNvSpPr>
            <a:spLocks xmlns:a="http://schemas.openxmlformats.org/drawingml/2006/main"/>
          </p:cNvSpPr>
          <p:nvPr/>
        </p:nvSpPr>
        <p:spPr>
          <a:xfrm xmlns:a="http://schemas.openxmlformats.org/drawingml/2006/main">
            <a:off x="8128000" y="32766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Export occurs</a:t>
            </a:r>
          </a:p>
        </p:txBody>
      </p:sp>
      <p:sp>
        <p:nvSpPr>
          <p:cNvPr id="365" name="30-line-7">
            <a:extLst xmlns:a="http://schemas.openxmlformats.org/drawingml/2006/main">
              <a:ext uri="{FF2B5EF4-FFF2-40B4-BE49-F238E27FC236}">
                <a16:creationId xmlns:a16="http://schemas.microsoft.com/office/drawing/2014/main" id="{6D46E9EC-C369-4206-86ED-E41E122172C2}"/>
              </a:ext>
            </a:extLst>
          </p:cNvPr>
          <p:cNvSpPr>
            <a:spLocks xmlns:a="http://schemas.openxmlformats.org/drawingml/2006/main"/>
          </p:cNvSpPr>
          <p:nvPr/>
        </p:nvSpPr>
        <p:spPr>
          <a:xfrm xmlns:a="http://schemas.openxmlformats.org/drawingml/2006/main" flipH="0" flipV="0">
            <a:off x="4267200" y="3454400"/>
            <a:ext cx="36576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66" name="30-text-8">
            <a:extLst xmlns:a="http://schemas.openxmlformats.org/drawingml/2006/main">
              <a:ext uri="{FF2B5EF4-FFF2-40B4-BE49-F238E27FC236}">
                <a16:creationId xmlns:a16="http://schemas.microsoft.com/office/drawing/2014/main" id="{6376AE1A-D00F-4D0C-9579-3EB3DAE8F0C8}"/>
              </a:ext>
            </a:extLst>
          </p:cNvPr>
          <p:cNvSpPr>
            <a:spLocks xmlns:a="http://schemas.openxmlformats.org/drawingml/2006/main"/>
          </p:cNvSpPr>
          <p:nvPr/>
        </p:nvSpPr>
        <p:spPr>
          <a:xfrm xmlns:a="http://schemas.openxmlformats.org/drawingml/2006/main">
            <a:off x="609600" y="3835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Outcome unknown</a:t>
            </a:r>
          </a:p>
        </p:txBody>
      </p:sp>
      <p:sp>
        <p:nvSpPr>
          <p:cNvPr id="367" name="30-text-9">
            <a:extLst xmlns:a="http://schemas.openxmlformats.org/drawingml/2006/main">
              <a:ext uri="{FF2B5EF4-FFF2-40B4-BE49-F238E27FC236}">
                <a16:creationId xmlns:a16="http://schemas.microsoft.com/office/drawing/2014/main" id="{87609707-F762-414B-B953-45860411D7CC}"/>
              </a:ext>
            </a:extLst>
          </p:cNvPr>
          <p:cNvSpPr>
            <a:spLocks xmlns:a="http://schemas.openxmlformats.org/drawingml/2006/main"/>
          </p:cNvSpPr>
          <p:nvPr/>
        </p:nvSpPr>
        <p:spPr>
          <a:xfrm xmlns:a="http://schemas.openxmlformats.org/drawingml/2006/main">
            <a:off x="4927600" y="3657600"/>
            <a:ext cx="2540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Response lost</a:t>
            </a:r>
          </a:p>
        </p:txBody>
      </p:sp>
      <p:sp>
        <p:nvSpPr>
          <p:cNvPr id="368" name="30-line-11">
            <a:extLst xmlns:a="http://schemas.openxmlformats.org/drawingml/2006/main">
              <a:ext uri="{FF2B5EF4-FFF2-40B4-BE49-F238E27FC236}">
                <a16:creationId xmlns:a16="http://schemas.microsoft.com/office/drawing/2014/main" id="{C355B7ED-9AB0-4782-BF2A-AFD692C3CF34}"/>
              </a:ext>
            </a:extLst>
          </p:cNvPr>
          <p:cNvSpPr>
            <a:spLocks xmlns:a="http://schemas.openxmlformats.org/drawingml/2006/main"/>
          </p:cNvSpPr>
          <p:nvPr/>
        </p:nvSpPr>
        <p:spPr>
          <a:xfrm xmlns:a="http://schemas.openxmlformats.org/drawingml/2006/main" flipH="1" flipV="0">
            <a:off x="6477000" y="3987800"/>
            <a:ext cx="14478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69" name="30-line-13">
            <a:extLst xmlns:a="http://schemas.openxmlformats.org/drawingml/2006/main">
              <a:ext uri="{FF2B5EF4-FFF2-40B4-BE49-F238E27FC236}">
                <a16:creationId xmlns:a16="http://schemas.microsoft.com/office/drawing/2014/main" id="{28C6C1D8-A8E9-4A5C-8633-36B89956871B}"/>
              </a:ext>
            </a:extLst>
          </p:cNvPr>
          <p:cNvSpPr>
            <a:spLocks xmlns:a="http://schemas.openxmlformats.org/drawingml/2006/main"/>
          </p:cNvSpPr>
          <p:nvPr/>
        </p:nvSpPr>
        <p:spPr>
          <a:xfrm xmlns:a="http://schemas.openxmlformats.org/drawingml/2006/main" flipH="1" flipV="0">
            <a:off x="4267200" y="3987800"/>
            <a:ext cx="1447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70" name="30-line-15">
            <a:extLst xmlns:a="http://schemas.openxmlformats.org/drawingml/2006/main">
              <a:ext uri="{FF2B5EF4-FFF2-40B4-BE49-F238E27FC236}">
                <a16:creationId xmlns:a16="http://schemas.microsoft.com/office/drawing/2014/main" id="{07DFE449-C26E-49F4-83BA-8B72E552131E}"/>
              </a:ext>
            </a:extLst>
          </p:cNvPr>
          <p:cNvSpPr>
            <a:spLocks xmlns:a="http://schemas.openxmlformats.org/drawingml/2006/main"/>
          </p:cNvSpPr>
          <p:nvPr/>
        </p:nvSpPr>
        <p:spPr>
          <a:xfrm xmlns:a="http://schemas.openxmlformats.org/drawingml/2006/main" flipH="0" flipV="0">
            <a:off x="6019800" y="3911600"/>
            <a:ext cx="152400" cy="1524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71" name="30-line-17">
            <a:extLst xmlns:a="http://schemas.openxmlformats.org/drawingml/2006/main">
              <a:ext uri="{FF2B5EF4-FFF2-40B4-BE49-F238E27FC236}">
                <a16:creationId xmlns:a16="http://schemas.microsoft.com/office/drawing/2014/main" id="{A16A4DDD-253E-4977-AA23-74289CAEE1C2}"/>
              </a:ext>
            </a:extLst>
          </p:cNvPr>
          <p:cNvSpPr>
            <a:spLocks xmlns:a="http://schemas.openxmlformats.org/drawingml/2006/main"/>
          </p:cNvSpPr>
          <p:nvPr/>
        </p:nvSpPr>
        <p:spPr>
          <a:xfrm xmlns:a="http://schemas.openxmlformats.org/drawingml/2006/main" flipH="0" flipV="1">
            <a:off x="6019800" y="3911600"/>
            <a:ext cx="152400" cy="1524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72" name="30-text-18">
            <a:extLst xmlns:a="http://schemas.openxmlformats.org/drawingml/2006/main">
              <a:ext uri="{FF2B5EF4-FFF2-40B4-BE49-F238E27FC236}">
                <a16:creationId xmlns:a16="http://schemas.microsoft.com/office/drawing/2014/main" id="{05A600BB-4C2C-44DC-9EF3-EA45C0B47C90}"/>
              </a:ext>
            </a:extLst>
          </p:cNvPr>
          <p:cNvSpPr>
            <a:spLocks xmlns:a="http://schemas.openxmlformats.org/drawingml/2006/main"/>
          </p:cNvSpPr>
          <p:nvPr/>
        </p:nvSpPr>
        <p:spPr>
          <a:xfrm xmlns:a="http://schemas.openxmlformats.org/drawingml/2006/main">
            <a:off x="609600" y="44450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export state</a:t>
            </a:r>
          </a:p>
        </p:txBody>
      </p:sp>
      <p:sp>
        <p:nvSpPr>
          <p:cNvPr id="373" name="30-text-19">
            <a:extLst xmlns:a="http://schemas.openxmlformats.org/drawingml/2006/main">
              <a:ext uri="{FF2B5EF4-FFF2-40B4-BE49-F238E27FC236}">
                <a16:creationId xmlns:a16="http://schemas.microsoft.com/office/drawing/2014/main" id="{AAD3F7C8-D2BB-4B8E-986D-1407C136FCFE}"/>
              </a:ext>
            </a:extLst>
          </p:cNvPr>
          <p:cNvSpPr>
            <a:spLocks xmlns:a="http://schemas.openxmlformats.org/drawingml/2006/main"/>
          </p:cNvSpPr>
          <p:nvPr/>
        </p:nvSpPr>
        <p:spPr>
          <a:xfrm xmlns:a="http://schemas.openxmlformats.org/drawingml/2006/main">
            <a:off x="8128000" y="44450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Receipt and artifact</a:t>
            </a:r>
          </a:p>
        </p:txBody>
      </p:sp>
      <p:sp>
        <p:nvSpPr>
          <p:cNvPr id="374" name="30-line-21">
            <a:extLst xmlns:a="http://schemas.openxmlformats.org/drawingml/2006/main">
              <a:ext uri="{FF2B5EF4-FFF2-40B4-BE49-F238E27FC236}">
                <a16:creationId xmlns:a16="http://schemas.microsoft.com/office/drawing/2014/main" id="{AA5A5EDF-0B89-4603-98AF-08BD2688FA71}"/>
              </a:ext>
            </a:extLst>
          </p:cNvPr>
          <p:cNvSpPr>
            <a:spLocks xmlns:a="http://schemas.openxmlformats.org/drawingml/2006/main"/>
          </p:cNvSpPr>
          <p:nvPr/>
        </p:nvSpPr>
        <p:spPr>
          <a:xfrm xmlns:a="http://schemas.openxmlformats.org/drawingml/2006/main" flipH="0" flipV="0">
            <a:off x="4267200" y="4622800"/>
            <a:ext cx="36576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75" name="30-text-22">
            <a:extLst xmlns:a="http://schemas.openxmlformats.org/drawingml/2006/main">
              <a:ext uri="{FF2B5EF4-FFF2-40B4-BE49-F238E27FC236}">
                <a16:creationId xmlns:a16="http://schemas.microsoft.com/office/drawing/2014/main" id="{0C73EA94-BA44-48C5-A410-6A23FA4E0B25}"/>
              </a:ext>
            </a:extLst>
          </p:cNvPr>
          <p:cNvSpPr>
            <a:spLocks xmlns:a="http://schemas.openxmlformats.org/drawingml/2006/main"/>
          </p:cNvSpPr>
          <p:nvPr/>
        </p:nvSpPr>
        <p:spPr>
          <a:xfrm xmlns:a="http://schemas.openxmlformats.org/drawingml/2006/main">
            <a:off x="609600" y="5105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 to check</a:t>
            </a:r>
          </a:p>
        </p:txBody>
      </p:sp>
      <p:sp>
        <p:nvSpPr>
          <p:cNvPr id="376" name="30-text-23">
            <a:extLst xmlns:a="http://schemas.openxmlformats.org/drawingml/2006/main">
              <a:ext uri="{FF2B5EF4-FFF2-40B4-BE49-F238E27FC236}">
                <a16:creationId xmlns:a16="http://schemas.microsoft.com/office/drawing/2014/main" id="{3BEFA8D7-BEF7-457C-B8DD-20F6C68BA960}"/>
              </a:ext>
            </a:extLst>
          </p:cNvPr>
          <p:cNvSpPr>
            <a:spLocks xmlns:a="http://schemas.openxmlformats.org/drawingml/2006/main"/>
          </p:cNvSpPr>
          <p:nvPr/>
        </p:nvSpPr>
        <p:spPr>
          <a:xfrm xmlns:a="http://schemas.openxmlformats.org/drawingml/2006/main">
            <a:off x="3708400" y="5105400"/>
            <a:ext cx="787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Matching receipt and checked artifact.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No duplicate export.</a:t>
            </a:r>
          </a:p>
        </p:txBody>
      </p:sp>
      <p:sp>
        <p:nvSpPr>
          <p:cNvPr id="377" name="30-text-24">
            <a:extLst xmlns:a="http://schemas.openxmlformats.org/drawingml/2006/main">
              <a:ext uri="{FF2B5EF4-FFF2-40B4-BE49-F238E27FC236}">
                <a16:creationId xmlns:a16="http://schemas.microsoft.com/office/drawing/2014/main" id="{26E08708-EB90-49D2-8CB1-48C9E99788D3}"/>
              </a:ext>
            </a:extLst>
          </p:cNvPr>
          <p:cNvSpPr>
            <a:spLocks xmlns:a="http://schemas.openxmlformats.org/drawingml/2006/main"/>
          </p:cNvSpPr>
          <p:nvPr/>
        </p:nvSpPr>
        <p:spPr>
          <a:xfrm xmlns:a="http://schemas.openxmlformats.org/drawingml/2006/main">
            <a:off x="609600" y="5918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If unresolved: pause or hand off with uncertainty intact.</a:t>
            </a:r>
          </a:p>
        </p:txBody>
      </p:sp>
      <p:sp>
        <p:nvSpPr>
          <p:cNvPr id="378" name="narrative-number">
            <a:extLst xmlns:a="http://schemas.openxmlformats.org/drawingml/2006/main">
              <a:ext uri="{FF2B5EF4-FFF2-40B4-BE49-F238E27FC236}">
                <a16:creationId xmlns:a16="http://schemas.microsoft.com/office/drawing/2014/main" id="{2CBD0252-A829-46F8-BD29-E610B8CC336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30</a:t>
            </a:r>
          </a:p>
        </p:txBody>
      </p:sp>
    </p:spTree>
    <p:extLst>
      <p:ext uri="{BB962C8B-B14F-4D97-AF65-F5344CB8AC3E}">
        <p14:creationId xmlns:p14="http://schemas.microsoft.com/office/powerpoint/2010/main" val="3483586601"/>
      </p:ext>
    </p:extLst>
  </p:cSld>
</p:sld>
</file>

<file path=ppt/slides/slide3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79" name="!!area-name">
            <a:extLst xmlns:a="http://schemas.openxmlformats.org/drawingml/2006/main">
              <a:ext uri="{FF2B5EF4-FFF2-40B4-BE49-F238E27FC236}">
                <a16:creationId xmlns:a16="http://schemas.microsoft.com/office/drawing/2014/main" id="{4EA348EE-B098-4148-BEC0-CCF3C2945DD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Perspective</a:t>
            </a:r>
          </a:p>
        </p:txBody>
      </p:sp>
      <p:pic>
        <p:nvPicPr>
          <p:cNvPr id="388" name="mini-map"/>
          <p:cNvPicPr>
            <a:picLocks xmlns:a="http://schemas.openxmlformats.org/drawingml/2006/main" noChangeAspect="1"/>
          </p:cNvPicPr>
          <p:nvPr/>
        </p:nvPicPr>
        <p:blipFill>
          <a:blip xmlns:r="http://schemas.openxmlformats.org/officeDocument/2006/relationships" xmlns:a="http://schemas.openxmlformats.org/drawingml/2006/main" r:embed="R1ab6ecb672e144c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81" name="header-divider">
            <a:extLst xmlns:a="http://schemas.openxmlformats.org/drawingml/2006/main">
              <a:ext uri="{FF2B5EF4-FFF2-40B4-BE49-F238E27FC236}">
                <a16:creationId xmlns:a16="http://schemas.microsoft.com/office/drawing/2014/main" id="{B607BE19-9373-430E-A09D-C8DC93FA4C8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82" name="31-text-1">
            <a:extLst xmlns:a="http://schemas.openxmlformats.org/drawingml/2006/main">
              <a:ext uri="{FF2B5EF4-FFF2-40B4-BE49-F238E27FC236}">
                <a16:creationId xmlns:a16="http://schemas.microsoft.com/office/drawing/2014/main" id="{04AADF36-B042-49C6-A6CE-A4A835276DAE}"/>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“Error analysis is the most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important activity in evals.”</a:t>
            </a:r>
          </a:p>
        </p:txBody>
      </p:sp>
      <p:sp>
        <p:nvSpPr>
          <p:cNvPr id="383" name="31-text-2">
            <a:extLst xmlns:a="http://schemas.openxmlformats.org/drawingml/2006/main">
              <a:ext uri="{FF2B5EF4-FFF2-40B4-BE49-F238E27FC236}">
                <a16:creationId xmlns:a16="http://schemas.microsoft.com/office/drawing/2014/main" id="{85442E1B-997B-437E-87A4-90EE44F6562D}"/>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and Shreya Shankar</a:t>
            </a:r>
          </a:p>
        </p:txBody>
      </p:sp>
      <p:sp>
        <p:nvSpPr>
          <p:cNvPr id="384" name="31-text-3">
            <a:extLst xmlns:a="http://schemas.openxmlformats.org/drawingml/2006/main">
              <a:ext uri="{FF2B5EF4-FFF2-40B4-BE49-F238E27FC236}">
                <a16:creationId xmlns:a16="http://schemas.microsoft.com/office/drawing/2014/main" id="{A14292C4-65B5-4AC1-8F7D-093903C9F1BB}"/>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AI Evals: Everything You Need to Know, September 2026</a:t>
            </a:r>
          </a:p>
        </p:txBody>
      </p:sp>
      <p:pic>
        <p:nvPicPr>
          <p:cNvPr id="393" name="31-image-4"/>
          <p:cNvPicPr>
            <a:picLocks xmlns:a="http://schemas.openxmlformats.org/drawingml/2006/main" noChangeAspect="1"/>
          </p:cNvPicPr>
          <p:nvPr/>
        </p:nvPicPr>
        <p:blipFill>
          <a:blip xmlns:r="http://schemas.openxmlformats.org/officeDocument/2006/relationships" xmlns:a="http://schemas.openxmlformats.org/drawingml/2006/main" r:embed="Rb86eec32849545dc"/>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386" name="narrative-number">
            <a:extLst xmlns:a="http://schemas.openxmlformats.org/drawingml/2006/main">
              <a:ext uri="{FF2B5EF4-FFF2-40B4-BE49-F238E27FC236}">
                <a16:creationId xmlns:a16="http://schemas.microsoft.com/office/drawing/2014/main" id="{19FFFAEE-40B8-458D-8BA3-FE6DC726E80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31</a:t>
            </a:r>
          </a:p>
        </p:txBody>
      </p:sp>
    </p:spTree>
    <p:extLst>
      <p:ext uri="{BB962C8B-B14F-4D97-AF65-F5344CB8AC3E}">
        <p14:creationId xmlns:p14="http://schemas.microsoft.com/office/powerpoint/2010/main" val="2131558980"/>
      </p:ext>
    </p:extLst>
  </p:cSld>
</p:sld>
</file>

<file path=ppt/slides/slide3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7" name="!!area-name">
            <a:extLst xmlns:a="http://schemas.openxmlformats.org/drawingml/2006/main">
              <a:ext uri="{FF2B5EF4-FFF2-40B4-BE49-F238E27FC236}">
                <a16:creationId xmlns:a16="http://schemas.microsoft.com/office/drawing/2014/main" id="{FDE006A1-3BE5-42A8-8960-6B3A51ADB7D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Foundations</a:t>
            </a:r>
          </a:p>
        </p:txBody>
      </p:sp>
      <p:pic>
        <p:nvPicPr>
          <p:cNvPr id="404" name="mini-map"/>
          <p:cNvPicPr>
            <a:picLocks xmlns:a="http://schemas.openxmlformats.org/drawingml/2006/main" noChangeAspect="1"/>
          </p:cNvPicPr>
          <p:nvPr/>
        </p:nvPicPr>
        <p:blipFill>
          <a:blip xmlns:r="http://schemas.openxmlformats.org/officeDocument/2006/relationships" xmlns:a="http://schemas.openxmlformats.org/drawingml/2006/main" r:embed="Ra0e54ad1b4f049e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89" name="slide-title">
            <a:extLst xmlns:a="http://schemas.openxmlformats.org/drawingml/2006/main">
              <a:ext uri="{FF2B5EF4-FFF2-40B4-BE49-F238E27FC236}">
                <a16:creationId xmlns:a16="http://schemas.microsoft.com/office/drawing/2014/main" id="{C50A42C3-E357-459F-A655-26B0A736009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Verification and evaluation</a:t>
            </a:r>
          </a:p>
        </p:txBody>
      </p:sp>
      <p:sp>
        <p:nvSpPr>
          <p:cNvPr id="390" name="header-divider">
            <a:extLst xmlns:a="http://schemas.openxmlformats.org/drawingml/2006/main">
              <a:ext uri="{FF2B5EF4-FFF2-40B4-BE49-F238E27FC236}">
                <a16:creationId xmlns:a16="http://schemas.microsoft.com/office/drawing/2014/main" id="{F010F530-5C7E-4151-9C68-09804402334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91" name="32-text-1">
            <a:extLst xmlns:a="http://schemas.openxmlformats.org/drawingml/2006/main">
              <a:ext uri="{FF2B5EF4-FFF2-40B4-BE49-F238E27FC236}">
                <a16:creationId xmlns:a16="http://schemas.microsoft.com/office/drawing/2014/main" id="{1FB8AEC6-FD1A-43F8-B125-9A915CB05C30}"/>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Verification</a:t>
            </a:r>
          </a:p>
        </p:txBody>
      </p:sp>
      <p:sp>
        <p:nvSpPr>
          <p:cNvPr id="392" name="32-text-2">
            <a:extLst xmlns:a="http://schemas.openxmlformats.org/drawingml/2006/main">
              <a:ext uri="{FF2B5EF4-FFF2-40B4-BE49-F238E27FC236}">
                <a16:creationId xmlns:a16="http://schemas.microsoft.com/office/drawing/2014/main" id="{E424878A-0EFB-45C7-B345-45021DF32506}"/>
              </a:ext>
            </a:extLst>
          </p:cNvPr>
          <p:cNvSpPr>
            <a:spLocks xmlns:a="http://schemas.openxmlformats.org/drawingml/2006/main"/>
          </p:cNvSpPr>
          <p:nvPr/>
        </p:nvSpPr>
        <p:spPr>
          <a:xfrm xmlns:a="http://schemas.openxmlformats.org/drawingml/2006/main">
            <a:off x="609600" y="2971800"/>
            <a:ext cx="53340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Does this result meet</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requirements?</a:t>
            </a:r>
          </a:p>
        </p:txBody>
      </p:sp>
      <p:sp>
        <p:nvSpPr>
          <p:cNvPr id="393" name="32-text-3">
            <a:extLst xmlns:a="http://schemas.openxmlformats.org/drawingml/2006/main">
              <a:ext uri="{FF2B5EF4-FFF2-40B4-BE49-F238E27FC236}">
                <a16:creationId xmlns:a16="http://schemas.microsoft.com/office/drawing/2014/main" id="{7C49C11C-6446-4E26-B1F2-FC68EA35647D}"/>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Evaluation</a:t>
            </a:r>
          </a:p>
        </p:txBody>
      </p:sp>
      <p:sp>
        <p:nvSpPr>
          <p:cNvPr id="394" name="32-text-4">
            <a:extLst xmlns:a="http://schemas.openxmlformats.org/drawingml/2006/main">
              <a:ext uri="{FF2B5EF4-FFF2-40B4-BE49-F238E27FC236}">
                <a16:creationId xmlns:a16="http://schemas.microsoft.com/office/drawing/2014/main" id="{A6723A83-6F26-4FDC-B952-AD6CBF94A100}"/>
              </a:ext>
            </a:extLst>
          </p:cNvPr>
          <p:cNvSpPr>
            <a:spLocks xmlns:a="http://schemas.openxmlformats.org/drawingml/2006/main"/>
          </p:cNvSpPr>
          <p:nvPr/>
        </p:nvSpPr>
        <p:spPr>
          <a:xfrm xmlns:a="http://schemas.openxmlformats.org/drawingml/2006/main">
            <a:off x="6248400" y="2971800"/>
            <a:ext cx="53340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How does the system perform</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across cases and repeated runs?</a:t>
            </a:r>
          </a:p>
        </p:txBody>
      </p:sp>
      <p:sp>
        <p:nvSpPr>
          <p:cNvPr id="395" name="32-shape-5">
            <a:extLst xmlns:a="http://schemas.openxmlformats.org/drawingml/2006/main">
              <a:ext uri="{FF2B5EF4-FFF2-40B4-BE49-F238E27FC236}">
                <a16:creationId xmlns:a16="http://schemas.microsoft.com/office/drawing/2014/main" id="{724677E6-279A-4A98-BAC2-B8F258835FF7}"/>
              </a:ext>
            </a:extLst>
          </p:cNvPr>
          <p:cNvSpPr>
            <a:spLocks xmlns:a="http://schemas.openxmlformats.org/drawingml/2006/main"/>
          </p:cNvSpPr>
          <p:nvPr/>
        </p:nvSpPr>
        <p:spPr>
          <a:xfrm xmlns:a="http://schemas.openxmlformats.org/drawingml/2006/main">
            <a:off x="609600" y="4445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96" name="32-text-6">
            <a:extLst xmlns:a="http://schemas.openxmlformats.org/drawingml/2006/main">
              <a:ext uri="{FF2B5EF4-FFF2-40B4-BE49-F238E27FC236}">
                <a16:creationId xmlns:a16="http://schemas.microsoft.com/office/drawing/2014/main" id="{0214CB6A-7CAE-4EBA-A903-BF0E31DC3375}"/>
              </a:ext>
            </a:extLst>
          </p:cNvPr>
          <p:cNvSpPr>
            <a:spLocks xmlns:a="http://schemas.openxmlformats.org/drawingml/2006/main"/>
          </p:cNvSpPr>
          <p:nvPr/>
        </p:nvSpPr>
        <p:spPr>
          <a:xfrm xmlns:a="http://schemas.openxmlformats.org/drawingml/2006/main">
            <a:off x="609600" y="4800600"/>
            <a:ext cx="34544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Case</a:t>
            </a:r>
          </a:p>
        </p:txBody>
      </p:sp>
      <p:sp>
        <p:nvSpPr>
          <p:cNvPr id="397" name="32-text-7">
            <a:extLst xmlns:a="http://schemas.openxmlformats.org/drawingml/2006/main">
              <a:ext uri="{FF2B5EF4-FFF2-40B4-BE49-F238E27FC236}">
                <a16:creationId xmlns:a16="http://schemas.microsoft.com/office/drawing/2014/main" id="{94329B5D-C20A-4B7A-8274-A0DDF16E8F99}"/>
              </a:ext>
            </a:extLst>
          </p:cNvPr>
          <p:cNvSpPr>
            <a:spLocks xmlns:a="http://schemas.openxmlformats.org/drawingml/2006/main"/>
          </p:cNvSpPr>
          <p:nvPr/>
        </p:nvSpPr>
        <p:spPr>
          <a:xfrm xmlns:a="http://schemas.openxmlformats.org/drawingml/2006/main">
            <a:off x="609600" y="5232400"/>
            <a:ext cx="3454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Input and expected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conditions.</a:t>
            </a:r>
          </a:p>
        </p:txBody>
      </p:sp>
      <p:sp>
        <p:nvSpPr>
          <p:cNvPr id="398" name="32-text-8">
            <a:extLst xmlns:a="http://schemas.openxmlformats.org/drawingml/2006/main">
              <a:ext uri="{FF2B5EF4-FFF2-40B4-BE49-F238E27FC236}">
                <a16:creationId xmlns:a16="http://schemas.microsoft.com/office/drawing/2014/main" id="{2D5BB1B6-4623-4BF7-B6E9-80120B805067}"/>
              </a:ext>
            </a:extLst>
          </p:cNvPr>
          <p:cNvSpPr>
            <a:spLocks xmlns:a="http://schemas.openxmlformats.org/drawingml/2006/main"/>
          </p:cNvSpPr>
          <p:nvPr/>
        </p:nvSpPr>
        <p:spPr>
          <a:xfrm xmlns:a="http://schemas.openxmlformats.org/drawingml/2006/main">
            <a:off x="4368800" y="4800600"/>
            <a:ext cx="34544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Trial</a:t>
            </a:r>
          </a:p>
        </p:txBody>
      </p:sp>
      <p:sp>
        <p:nvSpPr>
          <p:cNvPr id="399" name="32-text-9">
            <a:extLst xmlns:a="http://schemas.openxmlformats.org/drawingml/2006/main">
              <a:ext uri="{FF2B5EF4-FFF2-40B4-BE49-F238E27FC236}">
                <a16:creationId xmlns:a16="http://schemas.microsoft.com/office/drawing/2014/main" id="{3C9FF899-C06B-47C3-A76C-286C075700FD}"/>
              </a:ext>
            </a:extLst>
          </p:cNvPr>
          <p:cNvSpPr>
            <a:spLocks xmlns:a="http://schemas.openxmlformats.org/drawingml/2006/main"/>
          </p:cNvSpPr>
          <p:nvPr/>
        </p:nvSpPr>
        <p:spPr>
          <a:xfrm xmlns:a="http://schemas.openxmlformats.org/drawingml/2006/main">
            <a:off x="4368800" y="5232400"/>
            <a:ext cx="3454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One attempt at a case.</a:t>
            </a:r>
          </a:p>
        </p:txBody>
      </p:sp>
      <p:sp>
        <p:nvSpPr>
          <p:cNvPr id="400" name="32-text-10">
            <a:extLst xmlns:a="http://schemas.openxmlformats.org/drawingml/2006/main">
              <a:ext uri="{FF2B5EF4-FFF2-40B4-BE49-F238E27FC236}">
                <a16:creationId xmlns:a16="http://schemas.microsoft.com/office/drawing/2014/main" id="{9A855512-DD66-4E52-A073-66DC32721EB4}"/>
              </a:ext>
            </a:extLst>
          </p:cNvPr>
          <p:cNvSpPr>
            <a:spLocks xmlns:a="http://schemas.openxmlformats.org/drawingml/2006/main"/>
          </p:cNvSpPr>
          <p:nvPr/>
        </p:nvSpPr>
        <p:spPr>
          <a:xfrm xmlns:a="http://schemas.openxmlformats.org/drawingml/2006/main">
            <a:off x="8128000" y="4800600"/>
            <a:ext cx="34544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Grader</a:t>
            </a:r>
          </a:p>
        </p:txBody>
      </p:sp>
      <p:sp>
        <p:nvSpPr>
          <p:cNvPr id="401" name="32-text-11">
            <a:extLst xmlns:a="http://schemas.openxmlformats.org/drawingml/2006/main">
              <a:ext uri="{FF2B5EF4-FFF2-40B4-BE49-F238E27FC236}">
                <a16:creationId xmlns:a16="http://schemas.microsoft.com/office/drawing/2014/main" id="{DA02777F-4E3A-4D43-9918-CF71D8789833}"/>
              </a:ext>
            </a:extLst>
          </p:cNvPr>
          <p:cNvSpPr>
            <a:spLocks xmlns:a="http://schemas.openxmlformats.org/drawingml/2006/main"/>
          </p:cNvSpPr>
          <p:nvPr/>
        </p:nvSpPr>
        <p:spPr>
          <a:xfrm xmlns:a="http://schemas.openxmlformats.org/drawingml/2006/main">
            <a:off x="8128000" y="5232400"/>
            <a:ext cx="3454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check of behavior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 outcome.</a:t>
            </a:r>
          </a:p>
        </p:txBody>
      </p:sp>
      <p:sp>
        <p:nvSpPr>
          <p:cNvPr id="402" name="narrative-number">
            <a:extLst xmlns:a="http://schemas.openxmlformats.org/drawingml/2006/main">
              <a:ext uri="{FF2B5EF4-FFF2-40B4-BE49-F238E27FC236}">
                <a16:creationId xmlns:a16="http://schemas.microsoft.com/office/drawing/2014/main" id="{F8C29AFA-2293-426E-936F-E548CC69FEB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32</a:t>
            </a:r>
          </a:p>
        </p:txBody>
      </p:sp>
    </p:spTree>
    <p:extLst>
      <p:ext uri="{BB962C8B-B14F-4D97-AF65-F5344CB8AC3E}">
        <p14:creationId xmlns:p14="http://schemas.microsoft.com/office/powerpoint/2010/main" val="4109452506"/>
      </p:ext>
    </p:extLst>
  </p:cSld>
</p:sld>
</file>

<file path=ppt/slides/slide3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03" name="!!area-name">
            <a:extLst xmlns:a="http://schemas.openxmlformats.org/drawingml/2006/main">
              <a:ext uri="{FF2B5EF4-FFF2-40B4-BE49-F238E27FC236}">
                <a16:creationId xmlns:a16="http://schemas.microsoft.com/office/drawing/2014/main" id="{3E69610D-C7CE-4CBD-B329-AFE03DD7317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Decisions</a:t>
            </a:r>
          </a:p>
        </p:txBody>
      </p:sp>
      <p:pic>
        <p:nvPicPr>
          <p:cNvPr id="413" name="mini-map"/>
          <p:cNvPicPr>
            <a:picLocks xmlns:a="http://schemas.openxmlformats.org/drawingml/2006/main" noChangeAspect="1"/>
          </p:cNvPicPr>
          <p:nvPr/>
        </p:nvPicPr>
        <p:blipFill>
          <a:blip xmlns:r="http://schemas.openxmlformats.org/officeDocument/2006/relationships" xmlns:a="http://schemas.openxmlformats.org/drawingml/2006/main" r:embed="R359a7595de48482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05" name="slide-title">
            <a:extLst xmlns:a="http://schemas.openxmlformats.org/drawingml/2006/main">
              <a:ext uri="{FF2B5EF4-FFF2-40B4-BE49-F238E27FC236}">
                <a16:creationId xmlns:a16="http://schemas.microsoft.com/office/drawing/2014/main" id="{AE574E48-551E-4C7A-9158-A5E6CA82AFC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Designing the evaluation suite</a:t>
            </a:r>
          </a:p>
        </p:txBody>
      </p:sp>
      <p:sp>
        <p:nvSpPr>
          <p:cNvPr id="406" name="header-divider">
            <a:extLst xmlns:a="http://schemas.openxmlformats.org/drawingml/2006/main">
              <a:ext uri="{FF2B5EF4-FFF2-40B4-BE49-F238E27FC236}">
                <a16:creationId xmlns:a16="http://schemas.microsoft.com/office/drawing/2014/main" id="{AED045B8-967E-4ED6-BE49-3560E88B8DA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07" name="33-text-1">
            <a:extLst xmlns:a="http://schemas.openxmlformats.org/drawingml/2006/main">
              <a:ext uri="{FF2B5EF4-FFF2-40B4-BE49-F238E27FC236}">
                <a16:creationId xmlns:a16="http://schemas.microsoft.com/office/drawing/2014/main" id="{13D4021A-7449-4AF6-AAAF-1CCA9F29F6DD}"/>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evaluation cases.</a:t>
            </a:r>
          </a:p>
        </p:txBody>
      </p:sp>
      <p:graphicFrame>
        <p:nvGraphicFramePr>
          <p:cNvPr id="417" name="33-table-2"/>
          <p:cNvGraphicFramePr/>
          <p:nvPr/>
        </p:nvGraphicFramePr>
        <p:xfrm>
          <a:off xmlns:a="http://schemas.openxmlformats.org/drawingml/2006/main" x="609600" y="2844800"/>
          <a:ext xmlns:a="http://schemas.openxmlformats.org/drawingml/2006/main" cx="10972800" cy="2844800"/>
        </p:xfrm>
        <a:graphic xmlns:a="http://schemas.openxmlformats.org/drawingml/2006/main">
          <a:graphicData uri="http://schemas.openxmlformats.org/drawingml/2006/table">
            <a:tbl>
              <a:tblPr firstRow="0" firstCol="0" lastCol="0" bandRow="0" bandCol="0"/>
              <a:tblGrid>
                <a:gridCol w="2743200"/>
                <a:gridCol w="4572000"/>
                <a:gridCol w="3657600"/>
              </a:tblGrid>
              <a:tr h="406400">
                <a:tc>
                  <a:txBody>
                    <a:bodyPr>
                      <a:noAutofit/>
                    </a:bodyPr>
                    <a:lstStyle/>
                    <a:p>
                      <a:pPr>
                        <a:lnSpc>
                          <a:spcPct val="125000"/>
                        </a:lnSpc>
                        <a:buNone/>
                      </a:pPr>
                      <a:r>
                        <a:rPr sz="2000" b="1">
                          <a:solidFill>
                            <a:srgbClr val="01B66D"/>
                          </a:solidFill>
                          <a:latin typeface="Helvetica"/>
                          <a:ea typeface="Helvetica"/>
                          <a:cs typeface="Helvetica"/>
                        </a:rPr>
                        <a:t>Case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Expected behavior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Routine brief</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Supported findings.</a:t>
                      </a:r>
                    </a:p>
                    <a:p>
                      <a:pPr>
                        <a:lnSpc>
                          <a:spcPct val="125000"/>
                        </a:lnSpc>
                        <a:buNone/>
                      </a:pPr>
                      <a:r>
                        <a:rPr sz="2000" b="0">
                          <a:solidFill>
                            <a:srgbClr val="FFFCF5"/>
                          </a:solidFill>
                          <a:latin typeface="Helvetica"/>
                          <a:ea typeface="Helvetica"/>
                          <a:cs typeface="Helvetica"/>
                        </a:rPr>
                        <a:t>Uncertainty preserved.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Reference checks plus expert</a:t>
                      </a:r>
                    </a:p>
                    <a:p>
                      <a:pPr>
                        <a:lnSpc>
                          <a:spcPct val="125000"/>
                        </a:lnSpc>
                        <a:buNone/>
                      </a:pPr>
                      <a:r>
                        <a:rPr sz="2000" b="0">
                          <a:solidFill>
                            <a:srgbClr val="FFFCF5"/>
                          </a:solidFill>
                          <a:latin typeface="Helvetica"/>
                          <a:ea typeface="Helvetica"/>
                          <a:cs typeface="Helvetica"/>
                        </a:rPr>
                        <a:t>or calibrated model judgment.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Disallowed</a:t>
                      </a:r>
                    </a:p>
                    <a:p>
                      <a:pPr>
                        <a:lnSpc>
                          <a:spcPct val="125000"/>
                        </a:lnSpc>
                        <a:buNone/>
                      </a:pPr>
                      <a:r>
                        <a:rPr sz="2000" b="0">
                          <a:solidFill>
                            <a:srgbClr val="FFFCF5"/>
                          </a:solidFill>
                          <a:latin typeface="Helvetica"/>
                          <a:ea typeface="Helvetica"/>
                          <a:cs typeface="Helvetica"/>
                        </a:rPr>
                        <a:t>export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Reject before transfer.</a:t>
                      </a:r>
                    </a:p>
                    <a:p>
                      <a:pPr>
                        <a:lnSpc>
                          <a:spcPct val="125000"/>
                        </a:lnSpc>
                        <a:buNone/>
                      </a:pPr>
                      <a:r>
                        <a:rPr sz="2000" b="0">
                          <a:solidFill>
                            <a:srgbClr val="FFFCF5"/>
                          </a:solidFill>
                          <a:latin typeface="Helvetica"/>
                          <a:ea typeface="Helvetica"/>
                          <a:cs typeface="Helvetica"/>
                        </a:rPr>
                        <a:t>No export at that destination.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Permission and</a:t>
                      </a:r>
                    </a:p>
                    <a:p>
                      <a:pPr>
                        <a:lnSpc>
                          <a:spcPct val="125000"/>
                        </a:lnSpc>
                        <a:buNone/>
                      </a:pPr>
                      <a:r>
                        <a:rPr sz="2000" b="0">
                          <a:solidFill>
                            <a:srgbClr val="FFFCF5"/>
                          </a:solidFill>
                          <a:latin typeface="Helvetica"/>
                          <a:ea typeface="Helvetica"/>
                          <a:cs typeface="Helvetica"/>
                        </a:rPr>
                        <a:t>export-state 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Lost export</a:t>
                      </a:r>
                    </a:p>
                    <a:p>
                      <a:pPr>
                        <a:lnSpc>
                          <a:spcPct val="125000"/>
                        </a:lnSpc>
                        <a:buNone/>
                      </a:pPr>
                      <a:r>
                        <a:rPr sz="2000" b="0">
                          <a:solidFill>
                            <a:srgbClr val="FFFCF5"/>
                          </a:solidFill>
                          <a:latin typeface="Helvetica"/>
                          <a:ea typeface="Helvetica"/>
                          <a:cs typeface="Helvetica"/>
                        </a:rPr>
                        <a:t>response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Reconcile the outcome.</a:t>
                      </a:r>
                    </a:p>
                    <a:p>
                      <a:pPr>
                        <a:lnSpc>
                          <a:spcPct val="125000"/>
                        </a:lnSpc>
                        <a:buNone/>
                      </a:pPr>
                      <a:r>
                        <a:rPr sz="2000" b="0">
                          <a:solidFill>
                            <a:srgbClr val="FFFCF5"/>
                          </a:solidFill>
                          <a:latin typeface="Helvetica"/>
                          <a:ea typeface="Helvetica"/>
                          <a:cs typeface="Helvetica"/>
                        </a:rPr>
                        <a:t>Avoid duplicate export.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Receipt and</a:t>
                      </a:r>
                    </a:p>
                    <a:p>
                      <a:pPr>
                        <a:lnSpc>
                          <a:spcPct val="125000"/>
                        </a:lnSpc>
                        <a:buNone/>
                      </a:pPr>
                      <a:r>
                        <a:rPr sz="2000" b="0">
                          <a:solidFill>
                            <a:srgbClr val="FFFCF5"/>
                          </a:solidFill>
                          <a:latin typeface="Helvetica"/>
                          <a:ea typeface="Helvetica"/>
                          <a:cs typeface="Helvetica"/>
                        </a:rPr>
                        <a:t>artifact 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09" name="33-text-3">
            <a:extLst xmlns:a="http://schemas.openxmlformats.org/drawingml/2006/main">
              <a:ext uri="{FF2B5EF4-FFF2-40B4-BE49-F238E27FC236}">
                <a16:creationId xmlns:a16="http://schemas.microsoft.com/office/drawing/2014/main" id="{2120696F-05FD-4BD0-ABB1-142E9AA4508C}"/>
              </a:ext>
            </a:extLst>
          </p:cNvPr>
          <p:cNvSpPr>
            <a:spLocks xmlns:a="http://schemas.openxmlformats.org/drawingml/2006/main"/>
          </p:cNvSpPr>
          <p:nvPr/>
        </p:nvSpPr>
        <p:spPr>
          <a:xfrm xmlns:a="http://schemas.openxmlformats.org/drawingml/2006/main">
            <a:off x="609600" y="5867400"/>
            <a:ext cx="208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Comparison</a:t>
            </a:r>
          </a:p>
        </p:txBody>
      </p:sp>
      <p:sp>
        <p:nvSpPr>
          <p:cNvPr id="410" name="33-text-4">
            <a:extLst xmlns:a="http://schemas.openxmlformats.org/drawingml/2006/main">
              <a:ext uri="{FF2B5EF4-FFF2-40B4-BE49-F238E27FC236}">
                <a16:creationId xmlns:a16="http://schemas.microsoft.com/office/drawing/2014/main" id="{2DF715CF-15C4-4350-80D0-CA459CD5EBEF}"/>
              </a:ext>
            </a:extLst>
          </p:cNvPr>
          <p:cNvSpPr>
            <a:spLocks xmlns:a="http://schemas.openxmlformats.org/drawingml/2006/main"/>
          </p:cNvSpPr>
          <p:nvPr/>
        </p:nvSpPr>
        <p:spPr>
          <a:xfrm xmlns:a="http://schemas.openxmlformats.org/drawingml/2006/main">
            <a:off x="3098800" y="5867400"/>
            <a:ext cx="8483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Held-out cases and repeated trials.</a:t>
            </a:r>
          </a:p>
        </p:txBody>
      </p:sp>
      <p:sp>
        <p:nvSpPr>
          <p:cNvPr id="411" name="narrative-number">
            <a:extLst xmlns:a="http://schemas.openxmlformats.org/drawingml/2006/main">
              <a:ext uri="{FF2B5EF4-FFF2-40B4-BE49-F238E27FC236}">
                <a16:creationId xmlns:a16="http://schemas.microsoft.com/office/drawing/2014/main" id="{625D09DC-770F-4135-A0B1-1D082A567ED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33</a:t>
            </a:r>
          </a:p>
        </p:txBody>
      </p:sp>
    </p:spTree>
    <p:extLst>
      <p:ext uri="{BB962C8B-B14F-4D97-AF65-F5344CB8AC3E}">
        <p14:creationId xmlns:p14="http://schemas.microsoft.com/office/powerpoint/2010/main" val="516659260"/>
      </p:ext>
    </p:extLst>
  </p:cSld>
</p:sld>
</file>

<file path=ppt/slides/slide3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12" name="!!area-name">
            <a:extLst xmlns:a="http://schemas.openxmlformats.org/drawingml/2006/main">
              <a:ext uri="{FF2B5EF4-FFF2-40B4-BE49-F238E27FC236}">
                <a16:creationId xmlns:a16="http://schemas.microsoft.com/office/drawing/2014/main" id="{B38EF5B1-416F-440A-A937-58CB20B7416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Challenges and pitfalls</a:t>
            </a:r>
          </a:p>
        </p:txBody>
      </p:sp>
      <p:pic>
        <p:nvPicPr>
          <p:cNvPr id="427" name="mini-map"/>
          <p:cNvPicPr>
            <a:picLocks xmlns:a="http://schemas.openxmlformats.org/drawingml/2006/main" noChangeAspect="1"/>
          </p:cNvPicPr>
          <p:nvPr/>
        </p:nvPicPr>
        <p:blipFill>
          <a:blip xmlns:r="http://schemas.openxmlformats.org/officeDocument/2006/relationships" xmlns:a="http://schemas.openxmlformats.org/drawingml/2006/main" r:embed="R93ac33216ecf459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14" name="slide-title">
            <a:extLst xmlns:a="http://schemas.openxmlformats.org/drawingml/2006/main">
              <a:ext uri="{FF2B5EF4-FFF2-40B4-BE49-F238E27FC236}">
                <a16:creationId xmlns:a16="http://schemas.microsoft.com/office/drawing/2014/main" id="{621173FF-608F-4A9B-812A-8CEBEF46090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Evaluation pitfalls</a:t>
            </a:r>
          </a:p>
        </p:txBody>
      </p:sp>
      <p:sp>
        <p:nvSpPr>
          <p:cNvPr id="415" name="header-divider">
            <a:extLst xmlns:a="http://schemas.openxmlformats.org/drawingml/2006/main">
              <a:ext uri="{FF2B5EF4-FFF2-40B4-BE49-F238E27FC236}">
                <a16:creationId xmlns:a16="http://schemas.microsoft.com/office/drawing/2014/main" id="{2DED25F5-368A-47B4-863D-9FC7C302EE9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16" name="34-text-1">
            <a:extLst xmlns:a="http://schemas.openxmlformats.org/drawingml/2006/main">
              <a:ext uri="{FF2B5EF4-FFF2-40B4-BE49-F238E27FC236}">
                <a16:creationId xmlns:a16="http://schemas.microsoft.com/office/drawing/2014/main" id="{8D570202-4E3C-4A82-B606-5A9608CB7C0F}"/>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Outcome</a:t>
            </a:r>
          </a:p>
        </p:txBody>
      </p:sp>
      <p:sp>
        <p:nvSpPr>
          <p:cNvPr id="417" name="34-text-2">
            <a:extLst xmlns:a="http://schemas.openxmlformats.org/drawingml/2006/main">
              <a:ext uri="{FF2B5EF4-FFF2-40B4-BE49-F238E27FC236}">
                <a16:creationId xmlns:a16="http://schemas.microsoft.com/office/drawing/2014/main" id="{47201E4E-A1BD-436E-AF96-4D5A342827F6}"/>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actual result.</a:t>
            </a:r>
          </a:p>
        </p:txBody>
      </p:sp>
      <p:sp>
        <p:nvSpPr>
          <p:cNvPr id="418" name="34-text-3">
            <a:extLst xmlns:a="http://schemas.openxmlformats.org/drawingml/2006/main">
              <a:ext uri="{FF2B5EF4-FFF2-40B4-BE49-F238E27FC236}">
                <a16:creationId xmlns:a16="http://schemas.microsoft.com/office/drawing/2014/main" id="{90846107-EB48-46D5-88E8-D1A948131383}"/>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Grader</a:t>
            </a:r>
          </a:p>
        </p:txBody>
      </p:sp>
      <p:sp>
        <p:nvSpPr>
          <p:cNvPr id="419" name="34-text-4">
            <a:extLst xmlns:a="http://schemas.openxmlformats.org/drawingml/2006/main">
              <a:ext uri="{FF2B5EF4-FFF2-40B4-BE49-F238E27FC236}">
                <a16:creationId xmlns:a16="http://schemas.microsoft.com/office/drawing/2014/main" id="{4BC7DEE8-E6A9-4658-839F-0FE0EE2CB0E8}"/>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Review disagreement with expert judgment.</a:t>
            </a:r>
          </a:p>
        </p:txBody>
      </p:sp>
      <p:sp>
        <p:nvSpPr>
          <p:cNvPr id="420" name="34-text-5">
            <a:extLst xmlns:a="http://schemas.openxmlformats.org/drawingml/2006/main">
              <a:ext uri="{FF2B5EF4-FFF2-40B4-BE49-F238E27FC236}">
                <a16:creationId xmlns:a16="http://schemas.microsoft.com/office/drawing/2014/main" id="{604C45E8-EB94-405D-AA6D-889016332320}"/>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Coverage</a:t>
            </a:r>
          </a:p>
        </p:txBody>
      </p:sp>
      <p:sp>
        <p:nvSpPr>
          <p:cNvPr id="421" name="34-text-6">
            <a:extLst xmlns:a="http://schemas.openxmlformats.org/drawingml/2006/main">
              <a:ext uri="{FF2B5EF4-FFF2-40B4-BE49-F238E27FC236}">
                <a16:creationId xmlns:a16="http://schemas.microsoft.com/office/drawing/2014/main" id="{D81DF51C-FAA5-4F1D-8B5B-6263A765B523}"/>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 failures and recheck after changes.</a:t>
            </a:r>
          </a:p>
        </p:txBody>
      </p:sp>
      <p:sp>
        <p:nvSpPr>
          <p:cNvPr id="422" name="34-text-7">
            <a:extLst xmlns:a="http://schemas.openxmlformats.org/drawingml/2006/main">
              <a:ext uri="{FF2B5EF4-FFF2-40B4-BE49-F238E27FC236}">
                <a16:creationId xmlns:a16="http://schemas.microsoft.com/office/drawing/2014/main" id="{91C1DC2A-C200-455C-BFD1-F8654CAE13C3}"/>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result and the trace before choosing a repair.</a:t>
            </a:r>
          </a:p>
        </p:txBody>
      </p:sp>
      <p:sp>
        <p:nvSpPr>
          <p:cNvPr id="423" name="34-text-8">
            <a:extLst xmlns:a="http://schemas.openxmlformats.org/drawingml/2006/main">
              <a:ext uri="{FF2B5EF4-FFF2-40B4-BE49-F238E27FC236}">
                <a16:creationId xmlns:a16="http://schemas.microsoft.com/office/drawing/2014/main" id="{72D23303-ECB3-40A2-9063-423678E9E1D1}"/>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Pitfall</a:t>
            </a:r>
          </a:p>
        </p:txBody>
      </p:sp>
      <p:sp>
        <p:nvSpPr>
          <p:cNvPr id="424" name="34-text-9">
            <a:extLst xmlns:a="http://schemas.openxmlformats.org/drawingml/2006/main">
              <a:ext uri="{FF2B5EF4-FFF2-40B4-BE49-F238E27FC236}">
                <a16:creationId xmlns:a16="http://schemas.microsoft.com/office/drawing/2014/main" id="{90959E90-784E-4BEB-9150-E7D49C375D57}"/>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Using a generic judge</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error analysis or result checks.</a:t>
            </a:r>
          </a:p>
        </p:txBody>
      </p:sp>
      <p:sp>
        <p:nvSpPr>
          <p:cNvPr id="425" name="narrative-number">
            <a:extLst xmlns:a="http://schemas.openxmlformats.org/drawingml/2006/main">
              <a:ext uri="{FF2B5EF4-FFF2-40B4-BE49-F238E27FC236}">
                <a16:creationId xmlns:a16="http://schemas.microsoft.com/office/drawing/2014/main" id="{72CDD209-8422-4B0F-958A-9025680529E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34</a:t>
            </a:r>
          </a:p>
        </p:txBody>
      </p:sp>
    </p:spTree>
    <p:extLst>
      <p:ext uri="{BB962C8B-B14F-4D97-AF65-F5344CB8AC3E}">
        <p14:creationId xmlns:p14="http://schemas.microsoft.com/office/powerpoint/2010/main" val="1597220967"/>
      </p:ext>
    </p:extLst>
  </p:cSld>
</p:sld>
</file>

<file path=ppt/slides/slide4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26" name="!!area-name">
            <a:extLst xmlns:a="http://schemas.openxmlformats.org/drawingml/2006/main">
              <a:ext uri="{FF2B5EF4-FFF2-40B4-BE49-F238E27FC236}">
                <a16:creationId xmlns:a16="http://schemas.microsoft.com/office/drawing/2014/main" id="{492BB8E7-C1BA-4167-8893-3C0B33CAB4A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FRB application</a:t>
            </a:r>
          </a:p>
        </p:txBody>
      </p:sp>
      <p:pic>
        <p:nvPicPr>
          <p:cNvPr id="442" name="mini-map"/>
          <p:cNvPicPr>
            <a:picLocks xmlns:a="http://schemas.openxmlformats.org/drawingml/2006/main" noChangeAspect="1"/>
          </p:cNvPicPr>
          <p:nvPr/>
        </p:nvPicPr>
        <p:blipFill>
          <a:blip xmlns:r="http://schemas.openxmlformats.org/officeDocument/2006/relationships" xmlns:a="http://schemas.openxmlformats.org/drawingml/2006/main" r:embed="Rf0a30aff3ec240a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28" name="slide-title">
            <a:extLst xmlns:a="http://schemas.openxmlformats.org/drawingml/2006/main">
              <a:ext uri="{FF2B5EF4-FFF2-40B4-BE49-F238E27FC236}">
                <a16:creationId xmlns:a16="http://schemas.microsoft.com/office/drawing/2014/main" id="{3EF14058-EB4F-45E4-99FC-FE2FF928DE6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Does the source support the claim?</a:t>
            </a:r>
          </a:p>
        </p:txBody>
      </p:sp>
      <p:sp>
        <p:nvSpPr>
          <p:cNvPr id="429" name="header-divider">
            <a:extLst xmlns:a="http://schemas.openxmlformats.org/drawingml/2006/main">
              <a:ext uri="{FF2B5EF4-FFF2-40B4-BE49-F238E27FC236}">
                <a16:creationId xmlns:a16="http://schemas.microsoft.com/office/drawing/2014/main" id="{EA5B6F15-E8FB-48E0-A562-9157D62B1DF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30" name="35-text-1">
            <a:extLst xmlns:a="http://schemas.openxmlformats.org/drawingml/2006/main">
              <a:ext uri="{FF2B5EF4-FFF2-40B4-BE49-F238E27FC236}">
                <a16:creationId xmlns:a16="http://schemas.microsoft.com/office/drawing/2014/main" id="{7F8830E0-1D14-4CF5-8763-1DF36C4F43EC}"/>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source-support check.</a:t>
            </a:r>
          </a:p>
        </p:txBody>
      </p:sp>
      <p:sp>
        <p:nvSpPr>
          <p:cNvPr id="431" name="35-text-2">
            <a:extLst xmlns:a="http://schemas.openxmlformats.org/drawingml/2006/main">
              <a:ext uri="{FF2B5EF4-FFF2-40B4-BE49-F238E27FC236}">
                <a16:creationId xmlns:a16="http://schemas.microsoft.com/office/drawing/2014/main" id="{C05741AC-C30A-47D9-A9DF-2195E839B5D8}"/>
              </a:ext>
            </a:extLst>
          </p:cNvPr>
          <p:cNvSpPr>
            <a:spLocks xmlns:a="http://schemas.openxmlformats.org/drawingml/2006/main"/>
          </p:cNvSpPr>
          <p:nvPr/>
        </p:nvSpPr>
        <p:spPr>
          <a:xfrm xmlns:a="http://schemas.openxmlformats.org/drawingml/2006/main">
            <a:off x="609600" y="2844800"/>
            <a:ext cx="533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§3, paragraph 2</a:t>
            </a:r>
          </a:p>
        </p:txBody>
      </p:sp>
      <p:sp>
        <p:nvSpPr>
          <p:cNvPr id="432" name="35-text-3">
            <a:extLst xmlns:a="http://schemas.openxmlformats.org/drawingml/2006/main">
              <a:ext uri="{FF2B5EF4-FFF2-40B4-BE49-F238E27FC236}">
                <a16:creationId xmlns:a16="http://schemas.microsoft.com/office/drawing/2014/main" id="{B6948750-D170-4485-85E6-BB4606530B46}"/>
              </a:ext>
            </a:extLst>
          </p:cNvPr>
          <p:cNvSpPr>
            <a:spLocks xmlns:a="http://schemas.openxmlformats.org/drawingml/2006/main"/>
          </p:cNvSpPr>
          <p:nvPr/>
        </p:nvSpPr>
        <p:spPr>
          <a:xfrm xmlns:a="http://schemas.openxmlformats.org/drawingml/2006/main">
            <a:off x="609600" y="3251200"/>
            <a:ext cx="5334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433" name="35-text-4">
            <a:extLst xmlns:a="http://schemas.openxmlformats.org/drawingml/2006/main">
              <a:ext uri="{FF2B5EF4-FFF2-40B4-BE49-F238E27FC236}">
                <a16:creationId xmlns:a16="http://schemas.microsoft.com/office/drawing/2014/main" id="{5D45BD6B-DC96-44D9-9919-533C1486075C}"/>
              </a:ext>
            </a:extLst>
          </p:cNvPr>
          <p:cNvSpPr>
            <a:spLocks xmlns:a="http://schemas.openxmlformats.org/drawingml/2006/main"/>
          </p:cNvSpPr>
          <p:nvPr/>
        </p:nvSpPr>
        <p:spPr>
          <a:xfrm xmlns:a="http://schemas.openxmlformats.org/drawingml/2006/main">
            <a:off x="6248400" y="284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Answer citing these minutes</a:t>
            </a:r>
          </a:p>
        </p:txBody>
      </p:sp>
      <p:sp>
        <p:nvSpPr>
          <p:cNvPr id="434" name="35-text-5">
            <a:extLst xmlns:a="http://schemas.openxmlformats.org/drawingml/2006/main">
              <a:ext uri="{FF2B5EF4-FFF2-40B4-BE49-F238E27FC236}">
                <a16:creationId xmlns:a16="http://schemas.microsoft.com/office/drawing/2014/main" id="{E223D864-0B21-40FC-AD21-702692DF59A9}"/>
              </a:ext>
            </a:extLst>
          </p:cNvPr>
          <p:cNvSpPr>
            <a:spLocks xmlns:a="http://schemas.openxmlformats.org/drawingml/2006/main"/>
          </p:cNvSpPr>
          <p:nvPr/>
        </p:nvSpPr>
        <p:spPr>
          <a:xfrm xmlns:a="http://schemas.openxmlformats.org/drawingml/2006/main">
            <a:off x="6248400" y="3251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board confirmed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a:t>
            </a:r>
          </a:p>
        </p:txBody>
      </p:sp>
      <p:sp>
        <p:nvSpPr>
          <p:cNvPr id="435" name="35-text-6">
            <a:extLst xmlns:a="http://schemas.openxmlformats.org/drawingml/2006/main">
              <a:ext uri="{FF2B5EF4-FFF2-40B4-BE49-F238E27FC236}">
                <a16:creationId xmlns:a16="http://schemas.microsoft.com/office/drawing/2014/main" id="{F4E1097C-53BA-4C81-8C6D-7F92BE8772A8}"/>
              </a:ext>
            </a:extLst>
          </p:cNvPr>
          <p:cNvSpPr>
            <a:spLocks xmlns:a="http://schemas.openxmlformats.org/drawingml/2006/main"/>
          </p:cNvSpPr>
          <p:nvPr/>
        </p:nvSpPr>
        <p:spPr>
          <a:xfrm xmlns:a="http://schemas.openxmlformats.org/drawingml/2006/main">
            <a:off x="609600" y="49022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Citation exists: PASS</a:t>
            </a:r>
          </a:p>
        </p:txBody>
      </p:sp>
      <p:sp>
        <p:nvSpPr>
          <p:cNvPr id="436" name="35-text-7">
            <a:extLst xmlns:a="http://schemas.openxmlformats.org/drawingml/2006/main">
              <a:ext uri="{FF2B5EF4-FFF2-40B4-BE49-F238E27FC236}">
                <a16:creationId xmlns:a16="http://schemas.microsoft.com/office/drawing/2014/main" id="{304D73A0-D5FB-4CAB-BFC0-08FD0E20C4F8}"/>
              </a:ext>
            </a:extLst>
          </p:cNvPr>
          <p:cNvSpPr>
            <a:spLocks xmlns:a="http://schemas.openxmlformats.org/drawingml/2006/main"/>
          </p:cNvSpPr>
          <p:nvPr/>
        </p:nvSpPr>
        <p:spPr>
          <a:xfrm xmlns:a="http://schemas.openxmlformats.org/drawingml/2006/main">
            <a:off x="609600" y="538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Claim supported: FAIL</a:t>
            </a:r>
          </a:p>
        </p:txBody>
      </p:sp>
      <p:sp>
        <p:nvSpPr>
          <p:cNvPr id="437" name="35-text-8">
            <a:extLst xmlns:a="http://schemas.openxmlformats.org/drawingml/2006/main">
              <a:ext uri="{FF2B5EF4-FFF2-40B4-BE49-F238E27FC236}">
                <a16:creationId xmlns:a16="http://schemas.microsoft.com/office/drawing/2014/main" id="{797E3356-5B04-4A3A-B19E-BB13EA1BB768}"/>
              </a:ext>
            </a:extLst>
          </p:cNvPr>
          <p:cNvSpPr>
            <a:spLocks xmlns:a="http://schemas.openxmlformats.org/drawingml/2006/main"/>
          </p:cNvSpPr>
          <p:nvPr/>
        </p:nvSpPr>
        <p:spPr>
          <a:xfrm xmlns:a="http://schemas.openxmlformats.org/drawingml/2006/main">
            <a:off x="6248400" y="44450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Expected</a:t>
            </a:r>
          </a:p>
        </p:txBody>
      </p:sp>
      <p:sp>
        <p:nvSpPr>
          <p:cNvPr id="438" name="35-text-9">
            <a:extLst xmlns:a="http://schemas.openxmlformats.org/drawingml/2006/main">
              <a:ext uri="{FF2B5EF4-FFF2-40B4-BE49-F238E27FC236}">
                <a16:creationId xmlns:a16="http://schemas.microsoft.com/office/drawing/2014/main" id="{7B36087F-A711-4B9E-892A-F197C9E5FC47}"/>
              </a:ext>
            </a:extLst>
          </p:cNvPr>
          <p:cNvSpPr>
            <a:spLocks xmlns:a="http://schemas.openxmlformats.org/drawingml/2006/main"/>
          </p:cNvSpPr>
          <p:nvPr/>
        </p:nvSpPr>
        <p:spPr>
          <a:xfrm xmlns:a="http://schemas.openxmlformats.org/drawingml/2006/main">
            <a:off x="6248400" y="48768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Inspection required.</a:t>
            </a:r>
          </a:p>
        </p:txBody>
      </p:sp>
      <p:sp>
        <p:nvSpPr>
          <p:cNvPr id="439" name="35-text-10">
            <a:extLst xmlns:a="http://schemas.openxmlformats.org/drawingml/2006/main">
              <a:ext uri="{FF2B5EF4-FFF2-40B4-BE49-F238E27FC236}">
                <a16:creationId xmlns:a16="http://schemas.microsoft.com/office/drawing/2014/main" id="{AB51B502-6F0E-4484-B85F-160828942A21}"/>
              </a:ext>
            </a:extLst>
          </p:cNvPr>
          <p:cNvSpPr>
            <a:spLocks xmlns:a="http://schemas.openxmlformats.org/drawingml/2006/main"/>
          </p:cNvSpPr>
          <p:nvPr/>
        </p:nvSpPr>
        <p:spPr>
          <a:xfrm xmlns:a="http://schemas.openxmlformats.org/drawingml/2006/main">
            <a:off x="609600" y="5842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Keep this failure as a regression case.</a:t>
            </a:r>
          </a:p>
        </p:txBody>
      </p:sp>
      <p:sp>
        <p:nvSpPr>
          <p:cNvPr id="440" name="narrative-number">
            <a:extLst xmlns:a="http://schemas.openxmlformats.org/drawingml/2006/main">
              <a:ext uri="{FF2B5EF4-FFF2-40B4-BE49-F238E27FC236}">
                <a16:creationId xmlns:a16="http://schemas.microsoft.com/office/drawing/2014/main" id="{824BF726-F7E3-450C-ADC2-C6F913319BE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35</a:t>
            </a:r>
          </a:p>
        </p:txBody>
      </p:sp>
    </p:spTree>
    <p:extLst>
      <p:ext uri="{BB962C8B-B14F-4D97-AF65-F5344CB8AC3E}">
        <p14:creationId xmlns:p14="http://schemas.microsoft.com/office/powerpoint/2010/main" val="2005724908"/>
      </p:ext>
    </p:extLst>
  </p:cSld>
</p:sld>
</file>

<file path=ppt/slides/slide4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41" name="!!area-name">
            <a:extLst xmlns:a="http://schemas.openxmlformats.org/drawingml/2006/main">
              <a:ext uri="{FF2B5EF4-FFF2-40B4-BE49-F238E27FC236}">
                <a16:creationId xmlns:a16="http://schemas.microsoft.com/office/drawing/2014/main" id="{C47B68B6-1146-474C-ABE2-A6F35F837EC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Perspective</a:t>
            </a:r>
          </a:p>
        </p:txBody>
      </p:sp>
      <p:pic>
        <p:nvPicPr>
          <p:cNvPr id="450" name="mini-map"/>
          <p:cNvPicPr>
            <a:picLocks xmlns:a="http://schemas.openxmlformats.org/drawingml/2006/main" noChangeAspect="1"/>
          </p:cNvPicPr>
          <p:nvPr/>
        </p:nvPicPr>
        <p:blipFill>
          <a:blip xmlns:r="http://schemas.openxmlformats.org/officeDocument/2006/relationships" xmlns:a="http://schemas.openxmlformats.org/drawingml/2006/main" r:embed="R9bc05bfd83ef43e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43" name="header-divider">
            <a:extLst xmlns:a="http://schemas.openxmlformats.org/drawingml/2006/main">
              <a:ext uri="{FF2B5EF4-FFF2-40B4-BE49-F238E27FC236}">
                <a16:creationId xmlns:a16="http://schemas.microsoft.com/office/drawing/2014/main" id="{284C2D3D-35CD-4958-A8F2-C47D84BB721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44" name="36-text-1">
            <a:extLst xmlns:a="http://schemas.openxmlformats.org/drawingml/2006/main">
              <a:ext uri="{FF2B5EF4-FFF2-40B4-BE49-F238E27FC236}">
                <a16:creationId xmlns:a16="http://schemas.microsoft.com/office/drawing/2014/main" id="{8BADEBA6-C40A-4ACC-8604-AB554EAF2C23}"/>
              </a:ext>
            </a:extLst>
          </p:cNvPr>
          <p:cNvSpPr>
            <a:spLocks xmlns:a="http://schemas.openxmlformats.org/drawingml/2006/main"/>
          </p:cNvSpPr>
          <p:nvPr/>
        </p:nvSpPr>
        <p:spPr>
          <a:xfrm xmlns:a="http://schemas.openxmlformats.org/drawingml/2006/main">
            <a:off x="609600" y="2438400"/>
            <a:ext cx="7213600" cy="340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“The next wave of agent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failures won't be about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what agents can't do.</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It'll be about what teams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can't observe.”</a:t>
            </a:r>
          </a:p>
        </p:txBody>
      </p:sp>
      <p:pic>
        <p:nvPicPr>
          <p:cNvPr id="453" name="36-image-2"/>
          <p:cNvPicPr>
            <a:picLocks xmlns:a="http://schemas.openxmlformats.org/drawingml/2006/main" noChangeAspect="1"/>
          </p:cNvPicPr>
          <p:nvPr/>
        </p:nvPicPr>
        <p:blipFill>
          <a:blip xmlns:r="http://schemas.openxmlformats.org/officeDocument/2006/relationships" xmlns:a="http://schemas.openxmlformats.org/drawingml/2006/main" r:embed="Rff4a1e2170004133"/>
          <a:stretch xmlns:a="http://schemas.openxmlformats.org/drawingml/2006/main"/>
        </p:blipFill>
        <p:spPr>
          <a:xfrm xmlns:a="http://schemas.openxmlformats.org/drawingml/2006/main">
            <a:off x="8432800" y="2438400"/>
            <a:ext cx="2844800" cy="2844800"/>
          </a:xfrm>
          <a:prstGeom xmlns:a="http://schemas.openxmlformats.org/drawingml/2006/main" prst="rect">
            <a:avLst/>
          </a:prstGeom>
        </p:spPr>
      </p:pic>
      <p:sp>
        <p:nvSpPr>
          <p:cNvPr id="446" name="36-text-3">
            <a:extLst xmlns:a="http://schemas.openxmlformats.org/drawingml/2006/main">
              <a:ext uri="{FF2B5EF4-FFF2-40B4-BE49-F238E27FC236}">
                <a16:creationId xmlns:a16="http://schemas.microsoft.com/office/drawing/2014/main" id="{87B22FE3-7391-46E4-9F27-51BF8ABB09C2}"/>
              </a:ext>
            </a:extLst>
          </p:cNvPr>
          <p:cNvSpPr>
            <a:spLocks xmlns:a="http://schemas.openxmlformats.org/drawingml/2006/main"/>
          </p:cNvSpPr>
          <p:nvPr/>
        </p:nvSpPr>
        <p:spPr>
          <a:xfrm xmlns:a="http://schemas.openxmlformats.org/drawingml/2006/main">
            <a:off x="8128000" y="5334000"/>
            <a:ext cx="34544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Guillermo Rauch</a:t>
            </a:r>
          </a:p>
        </p:txBody>
      </p:sp>
      <p:sp>
        <p:nvSpPr>
          <p:cNvPr id="447" name="36-text-4">
            <a:extLst xmlns:a="http://schemas.openxmlformats.org/drawingml/2006/main">
              <a:ext uri="{FF2B5EF4-FFF2-40B4-BE49-F238E27FC236}">
                <a16:creationId xmlns:a16="http://schemas.microsoft.com/office/drawing/2014/main" id="{A8F87101-F6CD-4F3F-92D2-EFFCA6FB45E2}"/>
              </a:ext>
            </a:extLst>
          </p:cNvPr>
          <p:cNvSpPr>
            <a:spLocks xmlns:a="http://schemas.openxmlformats.org/drawingml/2006/main"/>
          </p:cNvSpPr>
          <p:nvPr/>
        </p:nvSpPr>
        <p:spPr>
          <a:xfrm xmlns:a="http://schemas.openxmlformats.org/drawingml/2006/main">
            <a:off x="8128000" y="5740400"/>
            <a:ext cx="345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State of AI Engineering,</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Datadog, 2026</a:t>
            </a:r>
          </a:p>
        </p:txBody>
      </p:sp>
      <p:sp>
        <p:nvSpPr>
          <p:cNvPr id="448" name="narrative-number">
            <a:extLst xmlns:a="http://schemas.openxmlformats.org/drawingml/2006/main">
              <a:ext uri="{FF2B5EF4-FFF2-40B4-BE49-F238E27FC236}">
                <a16:creationId xmlns:a16="http://schemas.microsoft.com/office/drawing/2014/main" id="{F16CE04F-FDE4-428D-A174-B5285E80539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36</a:t>
            </a:r>
          </a:p>
        </p:txBody>
      </p:sp>
    </p:spTree>
    <p:extLst>
      <p:ext uri="{BB962C8B-B14F-4D97-AF65-F5344CB8AC3E}">
        <p14:creationId xmlns:p14="http://schemas.microsoft.com/office/powerpoint/2010/main" val="2332057151"/>
      </p:ext>
    </p:extLst>
  </p:cSld>
</p:sld>
</file>

<file path=ppt/slides/slide4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49" name="!!area-name">
            <a:extLst xmlns:a="http://schemas.openxmlformats.org/drawingml/2006/main">
              <a:ext uri="{FF2B5EF4-FFF2-40B4-BE49-F238E27FC236}">
                <a16:creationId xmlns:a16="http://schemas.microsoft.com/office/drawing/2014/main" id="{9771E9A7-7352-4E07-9ECA-CB090D0528A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Foundations</a:t>
            </a:r>
          </a:p>
        </p:txBody>
      </p:sp>
      <p:pic>
        <p:nvPicPr>
          <p:cNvPr id="471" name="mini-map"/>
          <p:cNvPicPr>
            <a:picLocks xmlns:a="http://schemas.openxmlformats.org/drawingml/2006/main" noChangeAspect="1"/>
          </p:cNvPicPr>
          <p:nvPr/>
        </p:nvPicPr>
        <p:blipFill>
          <a:blip xmlns:r="http://schemas.openxmlformats.org/officeDocument/2006/relationships" xmlns:a="http://schemas.openxmlformats.org/drawingml/2006/main" r:embed="Rcf279b570a1f43d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51" name="slide-title">
            <a:extLst xmlns:a="http://schemas.openxmlformats.org/drawingml/2006/main">
              <a:ext uri="{FF2B5EF4-FFF2-40B4-BE49-F238E27FC236}">
                <a16:creationId xmlns:a16="http://schemas.microsoft.com/office/drawing/2014/main" id="{2EC20B4C-F8C8-41DE-8D47-DF8928D6BEE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Operating the system over time</a:t>
            </a:r>
          </a:p>
        </p:txBody>
      </p:sp>
      <p:sp>
        <p:nvSpPr>
          <p:cNvPr id="452" name="header-divider">
            <a:extLst xmlns:a="http://schemas.openxmlformats.org/drawingml/2006/main">
              <a:ext uri="{FF2B5EF4-FFF2-40B4-BE49-F238E27FC236}">
                <a16:creationId xmlns:a16="http://schemas.microsoft.com/office/drawing/2014/main" id="{9168C2F7-F90E-4419-87CE-8374C9D9014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53" name="37-text-1">
            <a:extLst xmlns:a="http://schemas.openxmlformats.org/drawingml/2006/main">
              <a:ext uri="{FF2B5EF4-FFF2-40B4-BE49-F238E27FC236}">
                <a16:creationId xmlns:a16="http://schemas.microsoft.com/office/drawing/2014/main" id="{8854CBD6-9A5E-4571-B6F0-AD1F4C3D9EB4}"/>
              </a:ext>
            </a:extLst>
          </p:cNvPr>
          <p:cNvSpPr>
            <a:spLocks xmlns:a="http://schemas.openxmlformats.org/drawingml/2006/main"/>
          </p:cNvSpPr>
          <p:nvPr/>
        </p:nvSpPr>
        <p:spPr>
          <a:xfrm xmlns:a="http://schemas.openxmlformats.org/drawingml/2006/main">
            <a:off x="609600" y="24384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Operate agentic systems with observability, enforced controls,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accountable response.</a:t>
            </a:r>
          </a:p>
        </p:txBody>
      </p:sp>
      <p:sp>
        <p:nvSpPr>
          <p:cNvPr id="454" name="37-text-2">
            <a:extLst xmlns:a="http://schemas.openxmlformats.org/drawingml/2006/main">
              <a:ext uri="{FF2B5EF4-FFF2-40B4-BE49-F238E27FC236}">
                <a16:creationId xmlns:a16="http://schemas.microsoft.com/office/drawing/2014/main" id="{1F1CBDA2-3465-4186-B971-A2F90A06D04F}"/>
              </a:ext>
            </a:extLst>
          </p:cNvPr>
          <p:cNvSpPr>
            <a:spLocks xmlns:a="http://schemas.openxmlformats.org/drawingml/2006/main"/>
          </p:cNvSpPr>
          <p:nvPr/>
        </p:nvSpPr>
        <p:spPr>
          <a:xfrm xmlns:a="http://schemas.openxmlformats.org/drawingml/2006/main">
            <a:off x="609600" y="3327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Trace</a:t>
            </a:r>
          </a:p>
        </p:txBody>
      </p:sp>
      <p:sp>
        <p:nvSpPr>
          <p:cNvPr id="455" name="37-text-3">
            <a:extLst xmlns:a="http://schemas.openxmlformats.org/drawingml/2006/main">
              <a:ext uri="{FF2B5EF4-FFF2-40B4-BE49-F238E27FC236}">
                <a16:creationId xmlns:a16="http://schemas.microsoft.com/office/drawing/2014/main" id="{BB86BF3D-BFFA-41FF-A3C8-67A63A1EDACB}"/>
              </a:ext>
            </a:extLst>
          </p:cNvPr>
          <p:cNvSpPr>
            <a:spLocks xmlns:a="http://schemas.openxmlformats.org/drawingml/2006/main"/>
          </p:cNvSpPr>
          <p:nvPr/>
        </p:nvSpPr>
        <p:spPr>
          <a:xfrm xmlns:a="http://schemas.openxmlformats.org/drawingml/2006/main">
            <a:off x="3708400" y="33274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operations behind one task.</a:t>
            </a:r>
          </a:p>
        </p:txBody>
      </p:sp>
      <p:sp>
        <p:nvSpPr>
          <p:cNvPr id="456" name="37-text-4">
            <a:extLst xmlns:a="http://schemas.openxmlformats.org/drawingml/2006/main">
              <a:ext uri="{FF2B5EF4-FFF2-40B4-BE49-F238E27FC236}">
                <a16:creationId xmlns:a16="http://schemas.microsoft.com/office/drawing/2014/main" id="{7C175AEC-50A7-4D99-A27D-5032C2EDC9A2}"/>
              </a:ext>
            </a:extLst>
          </p:cNvPr>
          <p:cNvSpPr>
            <a:spLocks xmlns:a="http://schemas.openxmlformats.org/drawingml/2006/main"/>
          </p:cNvSpPr>
          <p:nvPr/>
        </p:nvSpPr>
        <p:spPr>
          <a:xfrm xmlns:a="http://schemas.openxmlformats.org/drawingml/2006/main">
            <a:off x="609600" y="4851400"/>
            <a:ext cx="274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Versioned</a:t>
            </a:r>
          </a:p>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configuration</a:t>
            </a:r>
          </a:p>
        </p:txBody>
      </p:sp>
      <p:sp>
        <p:nvSpPr>
          <p:cNvPr id="457" name="37-text-5">
            <a:extLst xmlns:a="http://schemas.openxmlformats.org/drawingml/2006/main">
              <a:ext uri="{FF2B5EF4-FFF2-40B4-BE49-F238E27FC236}">
                <a16:creationId xmlns:a16="http://schemas.microsoft.com/office/drawing/2014/main" id="{E18B7F93-33F7-42FE-A287-DA0DDDB0B76B}"/>
              </a:ext>
            </a:extLst>
          </p:cNvPr>
          <p:cNvSpPr>
            <a:spLocks xmlns:a="http://schemas.openxmlformats.org/drawingml/2006/main"/>
          </p:cNvSpPr>
          <p:nvPr/>
        </p:nvSpPr>
        <p:spPr>
          <a:xfrm xmlns:a="http://schemas.openxmlformats.org/drawingml/2006/main">
            <a:off x="3708400" y="48514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versions and settings in use.</a:t>
            </a:r>
          </a:p>
        </p:txBody>
      </p:sp>
      <p:sp>
        <p:nvSpPr>
          <p:cNvPr id="458" name="37-text-6">
            <a:extLst xmlns:a="http://schemas.openxmlformats.org/drawingml/2006/main">
              <a:ext uri="{FF2B5EF4-FFF2-40B4-BE49-F238E27FC236}">
                <a16:creationId xmlns:a16="http://schemas.microsoft.com/office/drawing/2014/main" id="{80EB544E-B539-4928-9D87-F68C63699704}"/>
              </a:ext>
            </a:extLst>
          </p:cNvPr>
          <p:cNvSpPr>
            <a:spLocks xmlns:a="http://schemas.openxmlformats.org/drawingml/2006/main"/>
          </p:cNvSpPr>
          <p:nvPr/>
        </p:nvSpPr>
        <p:spPr>
          <a:xfrm xmlns:a="http://schemas.openxmlformats.org/drawingml/2006/main">
            <a:off x="609600" y="5715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Outcome metrics</a:t>
            </a:r>
          </a:p>
        </p:txBody>
      </p:sp>
      <p:sp>
        <p:nvSpPr>
          <p:cNvPr id="459" name="37-text-7">
            <a:extLst xmlns:a="http://schemas.openxmlformats.org/drawingml/2006/main">
              <a:ext uri="{FF2B5EF4-FFF2-40B4-BE49-F238E27FC236}">
                <a16:creationId xmlns:a16="http://schemas.microsoft.com/office/drawing/2014/main" id="{A707BE58-B7A7-4402-BA45-859C4E60DD78}"/>
              </a:ext>
            </a:extLst>
          </p:cNvPr>
          <p:cNvSpPr>
            <a:spLocks xmlns:a="http://schemas.openxmlformats.org/drawingml/2006/main"/>
          </p:cNvSpPr>
          <p:nvPr/>
        </p:nvSpPr>
        <p:spPr>
          <a:xfrm xmlns:a="http://schemas.openxmlformats.org/drawingml/2006/main">
            <a:off x="3708400" y="5715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Quality, completion time, cost, and review work.</a:t>
            </a:r>
          </a:p>
        </p:txBody>
      </p:sp>
      <p:sp>
        <p:nvSpPr>
          <p:cNvPr id="460" name="37-text-8">
            <a:extLst xmlns:a="http://schemas.openxmlformats.org/drawingml/2006/main">
              <a:ext uri="{FF2B5EF4-FFF2-40B4-BE49-F238E27FC236}">
                <a16:creationId xmlns:a16="http://schemas.microsoft.com/office/drawing/2014/main" id="{2E93EF75-ED97-49A0-8458-F28559E216AD}"/>
              </a:ext>
            </a:extLst>
          </p:cNvPr>
          <p:cNvSpPr>
            <a:spLocks xmlns:a="http://schemas.openxmlformats.org/drawingml/2006/main"/>
          </p:cNvSpPr>
          <p:nvPr/>
        </p:nvSpPr>
        <p:spPr>
          <a:xfrm xmlns:a="http://schemas.openxmlformats.org/drawingml/2006/main">
            <a:off x="3708400" y="38354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Retrieve</a:t>
            </a:r>
          </a:p>
        </p:txBody>
      </p:sp>
      <p:sp>
        <p:nvSpPr>
          <p:cNvPr id="461" name="37-text-9">
            <a:extLst xmlns:a="http://schemas.openxmlformats.org/drawingml/2006/main">
              <a:ext uri="{FF2B5EF4-FFF2-40B4-BE49-F238E27FC236}">
                <a16:creationId xmlns:a16="http://schemas.microsoft.com/office/drawing/2014/main" id="{CE06CD10-A3DA-4AAD-A545-58CE9CD4EA32}"/>
              </a:ext>
            </a:extLst>
          </p:cNvPr>
          <p:cNvSpPr>
            <a:spLocks xmlns:a="http://schemas.openxmlformats.org/drawingml/2006/main"/>
          </p:cNvSpPr>
          <p:nvPr/>
        </p:nvSpPr>
        <p:spPr>
          <a:xfrm xmlns:a="http://schemas.openxmlformats.org/drawingml/2006/main">
            <a:off x="5689600" y="38354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a:t>
            </a:r>
          </a:p>
        </p:txBody>
      </p:sp>
      <p:sp>
        <p:nvSpPr>
          <p:cNvPr id="462" name="37-text-10">
            <a:extLst xmlns:a="http://schemas.openxmlformats.org/drawingml/2006/main">
              <a:ext uri="{FF2B5EF4-FFF2-40B4-BE49-F238E27FC236}">
                <a16:creationId xmlns:a16="http://schemas.microsoft.com/office/drawing/2014/main" id="{6A2F6019-B22A-49D7-AC46-8D1C9DB158AA}"/>
              </a:ext>
            </a:extLst>
          </p:cNvPr>
          <p:cNvSpPr>
            <a:spLocks xmlns:a="http://schemas.openxmlformats.org/drawingml/2006/main"/>
          </p:cNvSpPr>
          <p:nvPr/>
        </p:nvSpPr>
        <p:spPr>
          <a:xfrm xmlns:a="http://schemas.openxmlformats.org/drawingml/2006/main">
            <a:off x="7670800" y="38354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Verify</a:t>
            </a:r>
          </a:p>
        </p:txBody>
      </p:sp>
      <p:sp>
        <p:nvSpPr>
          <p:cNvPr id="463" name="37-text-11">
            <a:extLst xmlns:a="http://schemas.openxmlformats.org/drawingml/2006/main">
              <a:ext uri="{FF2B5EF4-FFF2-40B4-BE49-F238E27FC236}">
                <a16:creationId xmlns:a16="http://schemas.microsoft.com/office/drawing/2014/main" id="{01EADBFE-BB7B-4EA7-AD74-66875A9676F8}"/>
              </a:ext>
            </a:extLst>
          </p:cNvPr>
          <p:cNvSpPr>
            <a:spLocks xmlns:a="http://schemas.openxmlformats.org/drawingml/2006/main"/>
          </p:cNvSpPr>
          <p:nvPr/>
        </p:nvSpPr>
        <p:spPr>
          <a:xfrm xmlns:a="http://schemas.openxmlformats.org/drawingml/2006/main">
            <a:off x="9652000" y="3835400"/>
            <a:ext cx="193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Export / hold</a:t>
            </a:r>
          </a:p>
        </p:txBody>
      </p:sp>
      <p:sp>
        <p:nvSpPr>
          <p:cNvPr id="464" name="37-line-13">
            <a:extLst xmlns:a="http://schemas.openxmlformats.org/drawingml/2006/main">
              <a:ext uri="{FF2B5EF4-FFF2-40B4-BE49-F238E27FC236}">
                <a16:creationId xmlns:a16="http://schemas.microsoft.com/office/drawing/2014/main" id="{E54F741B-41ED-4EF0-8F5C-53EA9101469F}"/>
              </a:ext>
            </a:extLst>
          </p:cNvPr>
          <p:cNvSpPr>
            <a:spLocks xmlns:a="http://schemas.openxmlformats.org/drawingml/2006/main"/>
          </p:cNvSpPr>
          <p:nvPr/>
        </p:nvSpPr>
        <p:spPr>
          <a:xfrm xmlns:a="http://schemas.openxmlformats.org/drawingml/2006/main" flipH="0" flipV="0">
            <a:off x="5283200" y="4013200"/>
            <a:ext cx="304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465" name="37-line-15">
            <a:extLst xmlns:a="http://schemas.openxmlformats.org/drawingml/2006/main">
              <a:ext uri="{FF2B5EF4-FFF2-40B4-BE49-F238E27FC236}">
                <a16:creationId xmlns:a16="http://schemas.microsoft.com/office/drawing/2014/main" id="{C2AA07BE-A60F-4130-8F49-DD1CF7EBD812}"/>
              </a:ext>
            </a:extLst>
          </p:cNvPr>
          <p:cNvSpPr>
            <a:spLocks xmlns:a="http://schemas.openxmlformats.org/drawingml/2006/main"/>
          </p:cNvSpPr>
          <p:nvPr/>
        </p:nvSpPr>
        <p:spPr>
          <a:xfrm xmlns:a="http://schemas.openxmlformats.org/drawingml/2006/main" flipH="0" flipV="0">
            <a:off x="7264400" y="4013200"/>
            <a:ext cx="304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466" name="37-line-17">
            <a:extLst xmlns:a="http://schemas.openxmlformats.org/drawingml/2006/main">
              <a:ext uri="{FF2B5EF4-FFF2-40B4-BE49-F238E27FC236}">
                <a16:creationId xmlns:a16="http://schemas.microsoft.com/office/drawing/2014/main" id="{80D4FED1-7395-49A1-8E8C-C898A999D3DD}"/>
              </a:ext>
            </a:extLst>
          </p:cNvPr>
          <p:cNvSpPr>
            <a:spLocks xmlns:a="http://schemas.openxmlformats.org/drawingml/2006/main"/>
          </p:cNvSpPr>
          <p:nvPr/>
        </p:nvSpPr>
        <p:spPr>
          <a:xfrm xmlns:a="http://schemas.openxmlformats.org/drawingml/2006/main" flipH="0" flipV="0">
            <a:off x="9245600" y="4013200"/>
            <a:ext cx="304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467" name="37-shape-18">
            <a:extLst xmlns:a="http://schemas.openxmlformats.org/drawingml/2006/main">
              <a:ext uri="{FF2B5EF4-FFF2-40B4-BE49-F238E27FC236}">
                <a16:creationId xmlns:a16="http://schemas.microsoft.com/office/drawing/2014/main" id="{27C91C57-CA38-4405-9F51-461807F4D040}"/>
              </a:ext>
            </a:extLst>
          </p:cNvPr>
          <p:cNvSpPr>
            <a:spLocks xmlns:a="http://schemas.openxmlformats.org/drawingml/2006/main"/>
          </p:cNvSpPr>
          <p:nvPr/>
        </p:nvSpPr>
        <p:spPr>
          <a:xfrm xmlns:a="http://schemas.openxmlformats.org/drawingml/2006/main">
            <a:off x="5689600" y="4241800"/>
            <a:ext cx="1524000" cy="254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468" name="37-text-19">
            <a:extLst xmlns:a="http://schemas.openxmlformats.org/drawingml/2006/main">
              <a:ext uri="{FF2B5EF4-FFF2-40B4-BE49-F238E27FC236}">
                <a16:creationId xmlns:a16="http://schemas.microsoft.com/office/drawing/2014/main" id="{5390B041-4F69-4125-9349-C1A9D3365220}"/>
              </a:ext>
            </a:extLst>
          </p:cNvPr>
          <p:cNvSpPr>
            <a:spLocks xmlns:a="http://schemas.openxmlformats.org/drawingml/2006/main"/>
          </p:cNvSpPr>
          <p:nvPr/>
        </p:nvSpPr>
        <p:spPr>
          <a:xfrm xmlns:a="http://schemas.openxmlformats.org/drawingml/2006/main">
            <a:off x="5689600" y="4368800"/>
            <a:ext cx="152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one span</a:t>
            </a:r>
          </a:p>
        </p:txBody>
      </p:sp>
      <p:sp>
        <p:nvSpPr>
          <p:cNvPr id="469" name="narrative-number">
            <a:extLst xmlns:a="http://schemas.openxmlformats.org/drawingml/2006/main">
              <a:ext uri="{FF2B5EF4-FFF2-40B4-BE49-F238E27FC236}">
                <a16:creationId xmlns:a16="http://schemas.microsoft.com/office/drawing/2014/main" id="{EBCEA0EA-F29F-4CD6-9F0C-CE594D1A5B5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37</a:t>
            </a:r>
          </a:p>
        </p:txBody>
      </p:sp>
    </p:spTree>
    <p:extLst>
      <p:ext uri="{BB962C8B-B14F-4D97-AF65-F5344CB8AC3E}">
        <p14:creationId xmlns:p14="http://schemas.microsoft.com/office/powerpoint/2010/main" val="3858545032"/>
      </p:ext>
    </p:extLst>
  </p:cSld>
</p:sld>
</file>

<file path=ppt/slides/slide4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70" name="!!area-name">
            <a:extLst xmlns:a="http://schemas.openxmlformats.org/drawingml/2006/main">
              <a:ext uri="{FF2B5EF4-FFF2-40B4-BE49-F238E27FC236}">
                <a16:creationId xmlns:a16="http://schemas.microsoft.com/office/drawing/2014/main" id="{E9448A70-CC12-49E9-AE41-D4C3845A5A1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Decisions</a:t>
            </a:r>
          </a:p>
        </p:txBody>
      </p:sp>
      <p:pic>
        <p:nvPicPr>
          <p:cNvPr id="482" name="mini-map"/>
          <p:cNvPicPr>
            <a:picLocks xmlns:a="http://schemas.openxmlformats.org/drawingml/2006/main" noChangeAspect="1"/>
          </p:cNvPicPr>
          <p:nvPr/>
        </p:nvPicPr>
        <p:blipFill>
          <a:blip xmlns:r="http://schemas.openxmlformats.org/officeDocument/2006/relationships" xmlns:a="http://schemas.openxmlformats.org/drawingml/2006/main" r:embed="R6978bf4a523942b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72" name="slide-title">
            <a:extLst xmlns:a="http://schemas.openxmlformats.org/drawingml/2006/main">
              <a:ext uri="{FF2B5EF4-FFF2-40B4-BE49-F238E27FC236}">
                <a16:creationId xmlns:a16="http://schemas.microsoft.com/office/drawing/2014/main" id="{E6B46646-35F4-4698-B0C5-AF019AFB437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Operating decisions</a:t>
            </a:r>
          </a:p>
        </p:txBody>
      </p:sp>
      <p:sp>
        <p:nvSpPr>
          <p:cNvPr id="473" name="header-divider">
            <a:extLst xmlns:a="http://schemas.openxmlformats.org/drawingml/2006/main">
              <a:ext uri="{FF2B5EF4-FFF2-40B4-BE49-F238E27FC236}">
                <a16:creationId xmlns:a16="http://schemas.microsoft.com/office/drawing/2014/main" id="{6EA0D981-D09E-42C1-BF2F-69F82D4BA86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74" name="38-text-1">
            <a:extLst xmlns:a="http://schemas.openxmlformats.org/drawingml/2006/main">
              <a:ext uri="{FF2B5EF4-FFF2-40B4-BE49-F238E27FC236}">
                <a16:creationId xmlns:a16="http://schemas.microsoft.com/office/drawing/2014/main" id="{AB534CEF-478A-4C41-BF97-60EAE0F56E50}"/>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Evidence</a:t>
            </a:r>
          </a:p>
        </p:txBody>
      </p:sp>
      <p:sp>
        <p:nvSpPr>
          <p:cNvPr id="475" name="38-text-2">
            <a:extLst xmlns:a="http://schemas.openxmlformats.org/drawingml/2006/main">
              <a:ext uri="{FF2B5EF4-FFF2-40B4-BE49-F238E27FC236}">
                <a16:creationId xmlns:a16="http://schemas.microsoft.com/office/drawing/2014/main" id="{B9451621-FA20-4815-86C1-ABA20DDA47D1}"/>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Capture enough to investigate.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Limit sensitive content.</a:t>
            </a:r>
          </a:p>
        </p:txBody>
      </p:sp>
      <p:sp>
        <p:nvSpPr>
          <p:cNvPr id="476" name="38-text-3">
            <a:extLst xmlns:a="http://schemas.openxmlformats.org/drawingml/2006/main">
              <a:ext uri="{FF2B5EF4-FFF2-40B4-BE49-F238E27FC236}">
                <a16:creationId xmlns:a16="http://schemas.microsoft.com/office/drawing/2014/main" id="{29C29818-4AF8-4FDB-A104-90E555A49E17}"/>
              </a:ext>
            </a:extLst>
          </p:cNvPr>
          <p:cNvSpPr>
            <a:spLocks xmlns:a="http://schemas.openxmlformats.org/drawingml/2006/main"/>
          </p:cNvSpPr>
          <p:nvPr/>
        </p:nvSpPr>
        <p:spPr>
          <a:xfrm xmlns:a="http://schemas.openxmlformats.org/drawingml/2006/main">
            <a:off x="609600" y="370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Releases</a:t>
            </a:r>
          </a:p>
        </p:txBody>
      </p:sp>
      <p:sp>
        <p:nvSpPr>
          <p:cNvPr id="477" name="38-text-4">
            <a:extLst xmlns:a="http://schemas.openxmlformats.org/drawingml/2006/main">
              <a:ext uri="{FF2B5EF4-FFF2-40B4-BE49-F238E27FC236}">
                <a16:creationId xmlns:a16="http://schemas.microsoft.com/office/drawing/2014/main" id="{A9199AC7-FD97-4435-BC94-0FE3283E8DE0}"/>
              </a:ext>
            </a:extLst>
          </p:cNvPr>
          <p:cNvSpPr>
            <a:spLocks xmlns:a="http://schemas.openxmlformats.org/drawingml/2006/main"/>
          </p:cNvSpPr>
          <p:nvPr/>
        </p:nvSpPr>
        <p:spPr>
          <a:xfrm xmlns:a="http://schemas.openxmlformats.org/drawingml/2006/main">
            <a:off x="3708400" y="370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Compare a controlled cohort.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Define rollback conditions.</a:t>
            </a:r>
          </a:p>
        </p:txBody>
      </p:sp>
      <p:sp>
        <p:nvSpPr>
          <p:cNvPr id="478" name="38-text-5">
            <a:extLst xmlns:a="http://schemas.openxmlformats.org/drawingml/2006/main">
              <a:ext uri="{FF2B5EF4-FFF2-40B4-BE49-F238E27FC236}">
                <a16:creationId xmlns:a16="http://schemas.microsoft.com/office/drawing/2014/main" id="{F18E3F2D-1CAC-445D-95B4-508DDF9D62A4}"/>
              </a:ext>
            </a:extLst>
          </p:cNvPr>
          <p:cNvSpPr>
            <a:spLocks xmlns:a="http://schemas.openxmlformats.org/drawingml/2006/main"/>
          </p:cNvSpPr>
          <p:nvPr/>
        </p:nvSpPr>
        <p:spPr>
          <a:xfrm xmlns:a="http://schemas.openxmlformats.org/drawingml/2006/main">
            <a:off x="609600" y="497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Response</a:t>
            </a:r>
          </a:p>
        </p:txBody>
      </p:sp>
      <p:sp>
        <p:nvSpPr>
          <p:cNvPr id="479" name="38-text-6">
            <a:extLst xmlns:a="http://schemas.openxmlformats.org/drawingml/2006/main">
              <a:ext uri="{FF2B5EF4-FFF2-40B4-BE49-F238E27FC236}">
                <a16:creationId xmlns:a16="http://schemas.microsoft.com/office/drawing/2014/main" id="{038B3CE4-7E78-46F8-9FA3-927BDD48C150}"/>
              </a:ext>
            </a:extLst>
          </p:cNvPr>
          <p:cNvSpPr>
            <a:spLocks xmlns:a="http://schemas.openxmlformats.org/drawingml/2006/main"/>
          </p:cNvSpPr>
          <p:nvPr/>
        </p:nvSpPr>
        <p:spPr>
          <a:xfrm xmlns:a="http://schemas.openxmlformats.org/drawingml/2006/main">
            <a:off x="3708400" y="497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Enforce scope and limits.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Assign an authorized responder.</a:t>
            </a:r>
          </a:p>
        </p:txBody>
      </p:sp>
      <p:sp>
        <p:nvSpPr>
          <p:cNvPr id="480" name="narrative-number">
            <a:extLst xmlns:a="http://schemas.openxmlformats.org/drawingml/2006/main">
              <a:ext uri="{FF2B5EF4-FFF2-40B4-BE49-F238E27FC236}">
                <a16:creationId xmlns:a16="http://schemas.microsoft.com/office/drawing/2014/main" id="{4BC30146-AD48-4CF1-99EB-FFB28AEDDBF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38</a:t>
            </a:r>
          </a:p>
        </p:txBody>
      </p:sp>
    </p:spTree>
    <p:extLst>
      <p:ext uri="{BB962C8B-B14F-4D97-AF65-F5344CB8AC3E}">
        <p14:creationId xmlns:p14="http://schemas.microsoft.com/office/powerpoint/2010/main" val="3481939211"/>
      </p:ext>
    </p:extLst>
  </p:cSld>
</p:sld>
</file>

<file path=ppt/slides/slide4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81" name="!!area-name">
            <a:extLst xmlns:a="http://schemas.openxmlformats.org/drawingml/2006/main">
              <a:ext uri="{FF2B5EF4-FFF2-40B4-BE49-F238E27FC236}">
                <a16:creationId xmlns:a16="http://schemas.microsoft.com/office/drawing/2014/main" id="{AA9AF6F3-88E8-4FFA-8758-B38384A6F05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Challenges and pitfalls</a:t>
            </a:r>
          </a:p>
        </p:txBody>
      </p:sp>
      <p:pic>
        <p:nvPicPr>
          <p:cNvPr id="496" name="mini-map"/>
          <p:cNvPicPr>
            <a:picLocks xmlns:a="http://schemas.openxmlformats.org/drawingml/2006/main" noChangeAspect="1"/>
          </p:cNvPicPr>
          <p:nvPr/>
        </p:nvPicPr>
        <p:blipFill>
          <a:blip xmlns:r="http://schemas.openxmlformats.org/officeDocument/2006/relationships" xmlns:a="http://schemas.openxmlformats.org/drawingml/2006/main" r:embed="Rae4d8ee3b48342f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83" name="slide-title">
            <a:extLst xmlns:a="http://schemas.openxmlformats.org/drawingml/2006/main">
              <a:ext uri="{FF2B5EF4-FFF2-40B4-BE49-F238E27FC236}">
                <a16:creationId xmlns:a16="http://schemas.microsoft.com/office/drawing/2014/main" id="{1C586D28-CA61-4518-9DD1-939DE9EBBD8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Risks across integrations</a:t>
            </a:r>
          </a:p>
        </p:txBody>
      </p:sp>
      <p:sp>
        <p:nvSpPr>
          <p:cNvPr id="484" name="header-divider">
            <a:extLst xmlns:a="http://schemas.openxmlformats.org/drawingml/2006/main">
              <a:ext uri="{FF2B5EF4-FFF2-40B4-BE49-F238E27FC236}">
                <a16:creationId xmlns:a16="http://schemas.microsoft.com/office/drawing/2014/main" id="{8EFF4FD1-BD72-429D-BD63-B1A998442AB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85" name="39-text-1">
            <a:extLst xmlns:a="http://schemas.openxmlformats.org/drawingml/2006/main">
              <a:ext uri="{FF2B5EF4-FFF2-40B4-BE49-F238E27FC236}">
                <a16:creationId xmlns:a16="http://schemas.microsoft.com/office/drawing/2014/main" id="{78C741D4-79DF-4584-8DAF-91A7337627BA}"/>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Private data</a:t>
            </a:r>
          </a:p>
        </p:txBody>
      </p:sp>
      <p:sp>
        <p:nvSpPr>
          <p:cNvPr id="486" name="39-text-2">
            <a:extLst xmlns:a="http://schemas.openxmlformats.org/drawingml/2006/main">
              <a:ext uri="{FF2B5EF4-FFF2-40B4-BE49-F238E27FC236}">
                <a16:creationId xmlns:a16="http://schemas.microsoft.com/office/drawing/2014/main" id="{6441E3F0-1B7A-413C-B202-30744D5E8EBD}"/>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Information the system can access.</a:t>
            </a:r>
          </a:p>
        </p:txBody>
      </p:sp>
      <p:sp>
        <p:nvSpPr>
          <p:cNvPr id="487" name="39-text-3">
            <a:extLst xmlns:a="http://schemas.openxmlformats.org/drawingml/2006/main">
              <a:ext uri="{FF2B5EF4-FFF2-40B4-BE49-F238E27FC236}">
                <a16:creationId xmlns:a16="http://schemas.microsoft.com/office/drawing/2014/main" id="{BD5B421E-85DB-42EE-8FC8-20E958B8BACA}"/>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Untrusted content</a:t>
            </a:r>
          </a:p>
        </p:txBody>
      </p:sp>
      <p:sp>
        <p:nvSpPr>
          <p:cNvPr id="488" name="39-text-4">
            <a:extLst xmlns:a="http://schemas.openxmlformats.org/drawingml/2006/main">
              <a:ext uri="{FF2B5EF4-FFF2-40B4-BE49-F238E27FC236}">
                <a16:creationId xmlns:a16="http://schemas.microsoft.com/office/drawing/2014/main" id="{769A0508-072A-4ED1-8333-414B1566B649}"/>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 can arrive inside documents.</a:t>
            </a:r>
          </a:p>
        </p:txBody>
      </p:sp>
      <p:sp>
        <p:nvSpPr>
          <p:cNvPr id="489" name="39-text-5">
            <a:extLst xmlns:a="http://schemas.openxmlformats.org/drawingml/2006/main">
              <a:ext uri="{FF2B5EF4-FFF2-40B4-BE49-F238E27FC236}">
                <a16:creationId xmlns:a16="http://schemas.microsoft.com/office/drawing/2014/main" id="{B0DB9EC9-4B76-427A-A00A-C5F66C349B43}"/>
              </a:ext>
            </a:extLst>
          </p:cNvPr>
          <p:cNvSpPr>
            <a:spLocks xmlns:a="http://schemas.openxmlformats.org/drawingml/2006/main"/>
          </p:cNvSpPr>
          <p:nvPr/>
        </p:nvSpPr>
        <p:spPr>
          <a:xfrm xmlns:a="http://schemas.openxmlformats.org/drawingml/2006/main">
            <a:off x="609600" y="4013200"/>
            <a:ext cx="274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External communication</a:t>
            </a:r>
          </a:p>
        </p:txBody>
      </p:sp>
      <p:sp>
        <p:nvSpPr>
          <p:cNvPr id="490" name="39-text-6">
            <a:extLst xmlns:a="http://schemas.openxmlformats.org/drawingml/2006/main">
              <a:ext uri="{FF2B5EF4-FFF2-40B4-BE49-F238E27FC236}">
                <a16:creationId xmlns:a16="http://schemas.microsoft.com/office/drawing/2014/main" id="{73058C5D-0904-4419-BA3E-D750C5D49B7D}"/>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Outbound actions can carry information.</a:t>
            </a:r>
          </a:p>
        </p:txBody>
      </p:sp>
      <p:sp>
        <p:nvSpPr>
          <p:cNvPr id="491" name="39-text-7">
            <a:extLst xmlns:a="http://schemas.openxmlformats.org/drawingml/2006/main">
              <a:ext uri="{FF2B5EF4-FFF2-40B4-BE49-F238E27FC236}">
                <a16:creationId xmlns:a16="http://schemas.microsoft.com/office/drawing/2014/main" id="{236B64B5-388C-45B1-9783-A8E71FAA8D40}"/>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probabilistic filter is insufficient as the sole security boundary.</a:t>
            </a:r>
          </a:p>
        </p:txBody>
      </p:sp>
      <p:sp>
        <p:nvSpPr>
          <p:cNvPr id="492" name="39-text-8">
            <a:extLst xmlns:a="http://schemas.openxmlformats.org/drawingml/2006/main">
              <a:ext uri="{FF2B5EF4-FFF2-40B4-BE49-F238E27FC236}">
                <a16:creationId xmlns:a16="http://schemas.microsoft.com/office/drawing/2014/main" id="{5D822618-4020-4AD9-8172-BD421419F7A5}"/>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Pitfall</a:t>
            </a:r>
          </a:p>
        </p:txBody>
      </p:sp>
      <p:sp>
        <p:nvSpPr>
          <p:cNvPr id="493" name="39-text-9">
            <a:extLst xmlns:a="http://schemas.openxmlformats.org/drawingml/2006/main">
              <a:ext uri="{FF2B5EF4-FFF2-40B4-BE49-F238E27FC236}">
                <a16:creationId xmlns:a16="http://schemas.microsoft.com/office/drawing/2014/main" id="{535D23B0-60A8-42D9-9DEB-F321FE41D35D}"/>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Combining private data, untrusted content,</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and outbound access without reviewing the risk.</a:t>
            </a:r>
          </a:p>
        </p:txBody>
      </p:sp>
      <p:sp>
        <p:nvSpPr>
          <p:cNvPr id="494" name="narrative-number">
            <a:extLst xmlns:a="http://schemas.openxmlformats.org/drawingml/2006/main">
              <a:ext uri="{FF2B5EF4-FFF2-40B4-BE49-F238E27FC236}">
                <a16:creationId xmlns:a16="http://schemas.microsoft.com/office/drawing/2014/main" id="{57609593-5CF0-4F0A-8B25-6614F04DDA0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39</a:t>
            </a:r>
          </a:p>
        </p:txBody>
      </p:sp>
    </p:spTree>
    <p:extLst>
      <p:ext uri="{BB962C8B-B14F-4D97-AF65-F5344CB8AC3E}">
        <p14:creationId xmlns:p14="http://schemas.microsoft.com/office/powerpoint/2010/main" val="3379602938"/>
      </p:ext>
    </p:extLst>
  </p:cSld>
</p:sld>
</file>

<file path=ppt/slides/slide4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95" name="!!area-name">
            <a:extLst xmlns:a="http://schemas.openxmlformats.org/drawingml/2006/main">
              <a:ext uri="{FF2B5EF4-FFF2-40B4-BE49-F238E27FC236}">
                <a16:creationId xmlns:a16="http://schemas.microsoft.com/office/drawing/2014/main" id="{C85188D7-F0A4-4E7E-BE7B-B141A6DE23C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FRB application</a:t>
            </a:r>
          </a:p>
        </p:txBody>
      </p:sp>
      <p:pic>
        <p:nvPicPr>
          <p:cNvPr id="504" name="mini-map"/>
          <p:cNvPicPr>
            <a:picLocks xmlns:a="http://schemas.openxmlformats.org/drawingml/2006/main" noChangeAspect="1"/>
          </p:cNvPicPr>
          <p:nvPr/>
        </p:nvPicPr>
        <p:blipFill>
          <a:blip xmlns:r="http://schemas.openxmlformats.org/officeDocument/2006/relationships" xmlns:a="http://schemas.openxmlformats.org/drawingml/2006/main" r:embed="Red2427edd8df437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97" name="slide-title">
            <a:extLst xmlns:a="http://schemas.openxmlformats.org/drawingml/2006/main">
              <a:ext uri="{FF2B5EF4-FFF2-40B4-BE49-F238E27FC236}">
                <a16:creationId xmlns:a16="http://schemas.microsoft.com/office/drawing/2014/main" id="{2A7172EB-483D-457B-8D8E-B02B9B07F2B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Operating an FRB release</a:t>
            </a:r>
          </a:p>
        </p:txBody>
      </p:sp>
      <p:sp>
        <p:nvSpPr>
          <p:cNvPr id="498" name="header-divider">
            <a:extLst xmlns:a="http://schemas.openxmlformats.org/drawingml/2006/main">
              <a:ext uri="{FF2B5EF4-FFF2-40B4-BE49-F238E27FC236}">
                <a16:creationId xmlns:a16="http://schemas.microsoft.com/office/drawing/2014/main" id="{0899EFBD-8829-4961-9A4A-50F37DEDABC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99" name="40-text-1">
            <a:extLst xmlns:a="http://schemas.openxmlformats.org/drawingml/2006/main">
              <a:ext uri="{FF2B5EF4-FFF2-40B4-BE49-F238E27FC236}">
                <a16:creationId xmlns:a16="http://schemas.microsoft.com/office/drawing/2014/main" id="{92D2CDCE-B262-44BC-A5F1-0BCBC5660933}"/>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release incident.</a:t>
            </a:r>
          </a:p>
        </p:txBody>
      </p:sp>
      <p:graphicFrame>
        <p:nvGraphicFramePr>
          <p:cNvPr id="508" name="40-table-2"/>
          <p:cNvGraphicFramePr/>
          <p:nvPr/>
        </p:nvGraphicFramePr>
        <p:xfrm>
          <a:off xmlns:a="http://schemas.openxmlformats.org/drawingml/2006/main" x="609600" y="2844800"/>
          <a:ext xmlns:a="http://schemas.openxmlformats.org/drawingml/2006/main" cx="10972800" cy="2844800"/>
        </p:xfrm>
        <a:graphic xmlns:a="http://schemas.openxmlformats.org/drawingml/2006/main">
          <a:graphicData uri="http://schemas.openxmlformats.org/drawingml/2006/table">
            <a:tbl>
              <a:tblPr firstRow="0" firstCol="0" lastCol="0" bandRow="0" bandCol="0"/>
              <a:tblGrid>
                <a:gridCol w="2362200"/>
                <a:gridCol w="8610600"/>
              </a:tblGrid>
              <a:tr h="406400">
                <a:tc>
                  <a:txBody>
                    <a:bodyPr>
                      <a:noAutofit/>
                    </a:bodyPr>
                    <a:lstStyle/>
                    <a:p>
                      <a:pPr>
                        <a:lnSpc>
                          <a:spcPct val="125000"/>
                        </a:lnSpc>
                        <a:buNone/>
                      </a:pPr>
                      <a:r>
                        <a:rPr sz="2000" b="1">
                          <a:solidFill>
                            <a:srgbClr val="FDAD00"/>
                          </a:solidFill>
                          <a:latin typeface="Helvetica"/>
                          <a:ea typeface="Helvetica"/>
                          <a:cs typeface="Helvetica"/>
                        </a:rPr>
                        <a:t>Incident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DAD00"/>
                          </a:solidFill>
                          <a:latin typeface="Helvetica"/>
                          <a:ea typeface="Helvetica"/>
                          <a:cs typeface="Helvetica"/>
                        </a:rPr>
                        <a:t>FRB example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Change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An approved model/configuration update</a:t>
                      </a:r>
                    </a:p>
                    <a:p>
                      <a:pPr>
                        <a:lnSpc>
                          <a:spcPct val="125000"/>
                        </a:lnSpc>
                        <a:buNone/>
                      </a:pPr>
                      <a:r>
                        <a:rPr sz="2000" b="0">
                          <a:solidFill>
                            <a:srgbClr val="FFFCF5"/>
                          </a:solidFill>
                          <a:latin typeface="Helvetica"/>
                          <a:ea typeface="Helvetica"/>
                          <a:cs typeface="Helvetica"/>
                        </a:rPr>
                        <a:t>reaches a controlled cohort.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Signal</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APIs stay healthy. Unsupported drafts</a:t>
                      </a:r>
                    </a:p>
                    <a:p>
                      <a:pPr>
                        <a:lnSpc>
                          <a:spcPct val="125000"/>
                        </a:lnSpc>
                        <a:buNone/>
                      </a:pPr>
                      <a:r>
                        <a:rPr sz="2000" b="0">
                          <a:solidFill>
                            <a:srgbClr val="FFFCF5"/>
                          </a:solidFill>
                          <a:latin typeface="Helvetica"/>
                          <a:ea typeface="Helvetica"/>
                          <a:cs typeface="Helvetica"/>
                        </a:rPr>
                        <a:t>and review work increase.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Response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Pause the rollout. Inspect traces.</a:t>
                      </a:r>
                    </a:p>
                    <a:p>
                      <a:pPr>
                        <a:lnSpc>
                          <a:spcPct val="125000"/>
                        </a:lnSpc>
                        <a:buNone/>
                      </a:pPr>
                      <a:r>
                        <a:rPr sz="2000" b="0">
                          <a:solidFill>
                            <a:srgbClr val="FFFCF5"/>
                          </a:solidFill>
                          <a:latin typeface="Helvetica"/>
                          <a:ea typeface="Helvetica"/>
                          <a:cs typeface="Helvetica"/>
                        </a:rPr>
                        <a:t>Restore the tested configuration when indicated.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01" name="40-text-3">
            <a:extLst xmlns:a="http://schemas.openxmlformats.org/drawingml/2006/main">
              <a:ext uri="{FF2B5EF4-FFF2-40B4-BE49-F238E27FC236}">
                <a16:creationId xmlns:a16="http://schemas.microsoft.com/office/drawing/2014/main" id="{FACBF4E4-8E58-4105-95D7-4CED40FB2BCD}"/>
              </a:ext>
            </a:extLst>
          </p:cNvPr>
          <p:cNvSpPr>
            <a:spLocks xmlns:a="http://schemas.openxmlformats.org/drawingml/2006/main"/>
          </p:cNvSpPr>
          <p:nvPr/>
        </p:nvSpPr>
        <p:spPr>
          <a:xfrm xmlns:a="http://schemas.openxmlformats.org/drawingml/2006/main">
            <a:off x="609600" y="5918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Failed drafts remain blocked from export.</a:t>
            </a:r>
          </a:p>
        </p:txBody>
      </p:sp>
      <p:sp>
        <p:nvSpPr>
          <p:cNvPr id="502" name="narrative-number">
            <a:extLst xmlns:a="http://schemas.openxmlformats.org/drawingml/2006/main">
              <a:ext uri="{FF2B5EF4-FFF2-40B4-BE49-F238E27FC236}">
                <a16:creationId xmlns:a16="http://schemas.microsoft.com/office/drawing/2014/main" id="{8FF5D9DF-1F3F-4939-A0AA-01D1E7EF663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40</a:t>
            </a:r>
          </a:p>
        </p:txBody>
      </p:sp>
    </p:spTree>
    <p:extLst>
      <p:ext uri="{BB962C8B-B14F-4D97-AF65-F5344CB8AC3E}">
        <p14:creationId xmlns:p14="http://schemas.microsoft.com/office/powerpoint/2010/main" val="4169288050"/>
      </p:ext>
    </p:extLst>
  </p:cSld>
</p:sld>
</file>

<file path=ppt/slides/slide4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12" name="41-image-1"/>
          <p:cNvPicPr>
            <a:picLocks xmlns:a="http://schemas.openxmlformats.org/drawingml/2006/main" noChangeAspect="1"/>
          </p:cNvPicPr>
          <p:nvPr/>
        </p:nvPicPr>
        <p:blipFill>
          <a:blip xmlns:r="http://schemas.openxmlformats.org/officeDocument/2006/relationships" xmlns:a="http://schemas.openxmlformats.org/drawingml/2006/main" r:embed="R39dd3f647c294099"/>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04" name="slide-title">
            <a:extLst xmlns:a="http://schemas.openxmlformats.org/drawingml/2006/main">
              <a:ext uri="{FF2B5EF4-FFF2-40B4-BE49-F238E27FC236}">
                <a16:creationId xmlns:a16="http://schemas.microsoft.com/office/drawing/2014/main" id="{4FDA0264-752C-4D9F-9993-54217A360315}"/>
              </a:ext>
            </a:extLst>
          </p:cNvPr>
          <p:cNvSpPr>
            <a:spLocks xmlns:a="http://schemas.openxmlformats.org/drawingml/2006/main"/>
          </p:cNvSpPr>
          <p:nvPr/>
        </p:nvSpPr>
        <p:spPr>
          <a:xfrm xmlns:a="http://schemas.openxmlformats.org/drawingml/2006/main">
            <a:off x="609600" y="4572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Six connected engineering areas</a:t>
            </a:r>
          </a:p>
        </p:txBody>
      </p:sp>
      <p:sp>
        <p:nvSpPr>
          <p:cNvPr id="505" name="area-key-1">
            <a:extLst xmlns:a="http://schemas.openxmlformats.org/drawingml/2006/main">
              <a:ext uri="{FF2B5EF4-FFF2-40B4-BE49-F238E27FC236}">
                <a16:creationId xmlns:a16="http://schemas.microsoft.com/office/drawing/2014/main" id="{E01C1C84-0606-42D7-B458-89FA737088A3}"/>
              </a:ext>
            </a:extLst>
          </p:cNvPr>
          <p:cNvSpPr>
            <a:spLocks xmlns:a="http://schemas.openxmlformats.org/drawingml/2006/main"/>
          </p:cNvSpPr>
          <p:nvPr/>
        </p:nvSpPr>
        <p:spPr>
          <a:xfrm xmlns:a="http://schemas.openxmlformats.org/drawingml/2006/main">
            <a:off x="609600" y="11176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Model Selection</a:t>
            </a:r>
          </a:p>
        </p:txBody>
      </p:sp>
      <p:sp>
        <p:nvSpPr>
          <p:cNvPr id="506" name="area-key-2">
            <a:extLst xmlns:a="http://schemas.openxmlformats.org/drawingml/2006/main">
              <a:ext uri="{FF2B5EF4-FFF2-40B4-BE49-F238E27FC236}">
                <a16:creationId xmlns:a16="http://schemas.microsoft.com/office/drawing/2014/main" id="{57D4897F-1CB5-4A7D-8BC9-54278D5C30B1}"/>
              </a:ext>
            </a:extLst>
          </p:cNvPr>
          <p:cNvSpPr>
            <a:spLocks xmlns:a="http://schemas.openxmlformats.org/drawingml/2006/main"/>
          </p:cNvSpPr>
          <p:nvPr/>
        </p:nvSpPr>
        <p:spPr>
          <a:xfrm xmlns:a="http://schemas.openxmlformats.org/drawingml/2006/main">
            <a:off x="4368800" y="11176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Context Engineering</a:t>
            </a:r>
          </a:p>
        </p:txBody>
      </p:sp>
      <p:sp>
        <p:nvSpPr>
          <p:cNvPr id="507" name="area-key-3">
            <a:extLst xmlns:a="http://schemas.openxmlformats.org/drawingml/2006/main">
              <a:ext uri="{FF2B5EF4-FFF2-40B4-BE49-F238E27FC236}">
                <a16:creationId xmlns:a16="http://schemas.microsoft.com/office/drawing/2014/main" id="{5C889CFB-2342-421E-A0F3-030134279095}"/>
              </a:ext>
            </a:extLst>
          </p:cNvPr>
          <p:cNvSpPr>
            <a:spLocks xmlns:a="http://schemas.openxmlformats.org/drawingml/2006/main"/>
          </p:cNvSpPr>
          <p:nvPr/>
        </p:nvSpPr>
        <p:spPr>
          <a:xfrm xmlns:a="http://schemas.openxmlformats.org/drawingml/2006/main">
            <a:off x="8128000" y="11176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Tools &amp; Extensibility</a:t>
            </a:r>
          </a:p>
        </p:txBody>
      </p:sp>
      <p:sp>
        <p:nvSpPr>
          <p:cNvPr id="508" name="area-key-4">
            <a:extLst xmlns:a="http://schemas.openxmlformats.org/drawingml/2006/main">
              <a:ext uri="{FF2B5EF4-FFF2-40B4-BE49-F238E27FC236}">
                <a16:creationId xmlns:a16="http://schemas.microsoft.com/office/drawing/2014/main" id="{D5C26D1C-FD44-4E71-865D-3E8E606C27D0}"/>
              </a:ext>
            </a:extLst>
          </p:cNvPr>
          <p:cNvSpPr>
            <a:spLocks xmlns:a="http://schemas.openxmlformats.org/drawingml/2006/main"/>
          </p:cNvSpPr>
          <p:nvPr/>
        </p:nvSpPr>
        <p:spPr>
          <a:xfrm xmlns:a="http://schemas.openxmlformats.org/drawingml/2006/main">
            <a:off x="609600" y="15494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Orchestration</a:t>
            </a:r>
          </a:p>
        </p:txBody>
      </p:sp>
      <p:sp>
        <p:nvSpPr>
          <p:cNvPr id="509" name="area-key-5">
            <a:extLst xmlns:a="http://schemas.openxmlformats.org/drawingml/2006/main">
              <a:ext uri="{FF2B5EF4-FFF2-40B4-BE49-F238E27FC236}">
                <a16:creationId xmlns:a16="http://schemas.microsoft.com/office/drawing/2014/main" id="{1129DFC8-8247-480C-B197-767A8AEFE6DE}"/>
              </a:ext>
            </a:extLst>
          </p:cNvPr>
          <p:cNvSpPr>
            <a:spLocks xmlns:a="http://schemas.openxmlformats.org/drawingml/2006/main"/>
          </p:cNvSpPr>
          <p:nvPr/>
        </p:nvSpPr>
        <p:spPr>
          <a:xfrm xmlns:a="http://schemas.openxmlformats.org/drawingml/2006/main">
            <a:off x="4368800" y="15494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Verification &amp; Evals</a:t>
            </a:r>
          </a:p>
        </p:txBody>
      </p:sp>
      <p:sp>
        <p:nvSpPr>
          <p:cNvPr id="510" name="area-key-6">
            <a:extLst xmlns:a="http://schemas.openxmlformats.org/drawingml/2006/main">
              <a:ext uri="{FF2B5EF4-FFF2-40B4-BE49-F238E27FC236}">
                <a16:creationId xmlns:a16="http://schemas.microsoft.com/office/drawing/2014/main" id="{8F562CCF-4D4D-4C68-85A4-91DFF74F1E31}"/>
              </a:ext>
            </a:extLst>
          </p:cNvPr>
          <p:cNvSpPr>
            <a:spLocks xmlns:a="http://schemas.openxmlformats.org/drawingml/2006/main"/>
          </p:cNvSpPr>
          <p:nvPr/>
        </p:nvSpPr>
        <p:spPr>
          <a:xfrm xmlns:a="http://schemas.openxmlformats.org/drawingml/2006/main">
            <a:off x="8128000" y="15494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AgentOps</a:t>
            </a:r>
          </a:p>
        </p:txBody>
      </p:sp>
      <p:sp>
        <p:nvSpPr>
          <p:cNvPr id="511" name="narrative-number">
            <a:extLst xmlns:a="http://schemas.openxmlformats.org/drawingml/2006/main">
              <a:ext uri="{FF2B5EF4-FFF2-40B4-BE49-F238E27FC236}">
                <a16:creationId xmlns:a16="http://schemas.microsoft.com/office/drawing/2014/main" id="{6C596F20-3390-4095-9162-13D89AA2455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41</a:t>
            </a:r>
          </a:p>
        </p:txBody>
      </p:sp>
    </p:spTree>
    <p:extLst>
      <p:ext uri="{BB962C8B-B14F-4D97-AF65-F5344CB8AC3E}">
        <p14:creationId xmlns:p14="http://schemas.microsoft.com/office/powerpoint/2010/main" val="712819779"/>
      </p:ext>
    </p:extLst>
  </p:cSld>
</p:sld>
</file>

<file path=ppt/slides/slide4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12" name="section-label">
            <a:extLst xmlns:a="http://schemas.openxmlformats.org/drawingml/2006/main">
              <a:ext uri="{FF2B5EF4-FFF2-40B4-BE49-F238E27FC236}">
                <a16:creationId xmlns:a16="http://schemas.microsoft.com/office/drawing/2014/main" id="{770184FF-E1DA-4A5F-B3F9-BBF9FFD8FEED}"/>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3</a:t>
            </a:r>
          </a:p>
        </p:txBody>
      </p:sp>
      <p:sp>
        <p:nvSpPr>
          <p:cNvPr id="513" name="section-rule">
            <a:extLst xmlns:a="http://schemas.openxmlformats.org/drawingml/2006/main">
              <a:ext uri="{FF2B5EF4-FFF2-40B4-BE49-F238E27FC236}">
                <a16:creationId xmlns:a16="http://schemas.microsoft.com/office/drawing/2014/main" id="{4819A64B-6029-48C0-AEEB-B83830F17749}"/>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14" name="section-title">
            <a:extLst xmlns:a="http://schemas.openxmlformats.org/drawingml/2006/main">
              <a:ext uri="{FF2B5EF4-FFF2-40B4-BE49-F238E27FC236}">
                <a16:creationId xmlns:a16="http://schemas.microsoft.com/office/drawing/2014/main" id="{8131B719-DDA2-498B-83CA-A2E66F58F1E1}"/>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Making the transition</a:t>
            </a:r>
          </a:p>
        </p:txBody>
      </p:sp>
      <p:sp>
        <p:nvSpPr>
          <p:cNvPr id="515" name="narrative-number">
            <a:extLst xmlns:a="http://schemas.openxmlformats.org/drawingml/2006/main">
              <a:ext uri="{FF2B5EF4-FFF2-40B4-BE49-F238E27FC236}">
                <a16:creationId xmlns:a16="http://schemas.microsoft.com/office/drawing/2014/main" id="{6C91607E-A00E-49E2-9AE6-D5A093CB057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42</a:t>
            </a:r>
          </a:p>
        </p:txBody>
      </p:sp>
    </p:spTree>
    <p:extLst>
      <p:ext uri="{BB962C8B-B14F-4D97-AF65-F5344CB8AC3E}">
        <p14:creationId xmlns:p14="http://schemas.microsoft.com/office/powerpoint/2010/main" val="1897499355"/>
      </p:ext>
    </p:extLst>
  </p:cSld>
</p:sld>
</file>

<file path=ppt/slides/slide4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16" name="!!area-name">
            <a:extLst xmlns:a="http://schemas.openxmlformats.org/drawingml/2006/main">
              <a:ext uri="{FF2B5EF4-FFF2-40B4-BE49-F238E27FC236}">
                <a16:creationId xmlns:a16="http://schemas.microsoft.com/office/drawing/2014/main" id="{2721CE80-219F-4E49-BCB9-3503C8CCBD5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E7026"/>
                </a:solidFill>
                <a:latin typeface="Helvetica"/>
                <a:ea typeface="Helvetica"/>
                <a:cs typeface="Helvetica"/>
              </a:rPr>
              <a:t>The transition</a:t>
            </a:r>
            <a:r>
              <a:rPr b="0">
                <a:solidFill>
                  <a:srgbClr val="ADACA9"/>
                </a:solidFill>
                <a:latin typeface="Helvetica"/>
                <a:ea typeface="Helvetica"/>
                <a:cs typeface="Helvetica"/>
              </a:rPr>
              <a:t> · What transfers</a:t>
            </a:r>
          </a:p>
        </p:txBody>
      </p:sp>
      <p:pic>
        <p:nvPicPr>
          <p:cNvPr id="523" name="mini-map"/>
          <p:cNvPicPr>
            <a:picLocks xmlns:a="http://schemas.openxmlformats.org/drawingml/2006/main" noChangeAspect="1"/>
          </p:cNvPicPr>
          <p:nvPr/>
        </p:nvPicPr>
        <p:blipFill>
          <a:blip xmlns:r="http://schemas.openxmlformats.org/officeDocument/2006/relationships" xmlns:a="http://schemas.openxmlformats.org/drawingml/2006/main" r:embed="R451edebf77cd430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18" name="slide-title">
            <a:extLst xmlns:a="http://schemas.openxmlformats.org/drawingml/2006/main">
              <a:ext uri="{FF2B5EF4-FFF2-40B4-BE49-F238E27FC236}">
                <a16:creationId xmlns:a16="http://schemas.microsoft.com/office/drawing/2014/main" id="{96DBB22B-A885-49E1-A6F4-4DA5F5F5496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transfers</a:t>
            </a:r>
          </a:p>
        </p:txBody>
      </p:sp>
      <p:sp>
        <p:nvSpPr>
          <p:cNvPr id="519" name="header-divider">
            <a:extLst xmlns:a="http://schemas.openxmlformats.org/drawingml/2006/main">
              <a:ext uri="{FF2B5EF4-FFF2-40B4-BE49-F238E27FC236}">
                <a16:creationId xmlns:a16="http://schemas.microsoft.com/office/drawing/2014/main" id="{BEAE5311-8AD6-4441-8B4D-869E3CBA86E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526" name="43-table-1"/>
          <p:cNvGraphicFramePr/>
          <p:nvPr/>
        </p:nvGraphicFramePr>
        <p:xfrm>
          <a:off xmlns:a="http://schemas.openxmlformats.org/drawingml/2006/main" x="609600" y="2438400"/>
          <a:ext xmlns:a="http://schemas.openxmlformats.org/drawingml/2006/main" cx="10972800" cy="3733800"/>
        </p:xfrm>
        <a:graphic xmlns:a="http://schemas.openxmlformats.org/drawingml/2006/main">
          <a:graphicData uri="http://schemas.openxmlformats.org/drawingml/2006/table">
            <a:tbl>
              <a:tblPr firstRow="0" firstCol="0" lastCol="0" bandRow="0" bandCol="0"/>
              <a:tblGrid>
                <a:gridCol w="5334000"/>
                <a:gridCol w="304800"/>
                <a:gridCol w="5334000"/>
              </a:tblGrid>
              <a:tr h="533400">
                <a:tc>
                  <a:txBody>
                    <a:bodyPr>
                      <a:noAutofit/>
                    </a:bodyPr>
                    <a:lstStyle/>
                    <a:p>
                      <a:pPr>
                        <a:lnSpc>
                          <a:spcPct val="125000"/>
                        </a:lnSpc>
                        <a:buNone/>
                      </a:pPr>
                      <a:r>
                        <a:rPr sz="2400" b="1">
                          <a:solidFill>
                            <a:srgbClr val="FE7026"/>
                          </a:solidFill>
                          <a:latin typeface="Helvetica"/>
                          <a:ea typeface="Helvetica"/>
                          <a:cs typeface="Helvetica"/>
                        </a:rPr>
                        <a:t>Existing skill</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E7026"/>
                          </a:solidFill>
                          <a:latin typeface="Helvetica"/>
                          <a:ea typeface="Helvetica"/>
                          <a:cs typeface="Helvetica"/>
                        </a:rPr>
                        <a:t>Application in an AI system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Decomposition and systems thinking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Bounded workflows and clear state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Interface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Tool contracts and explicit outcomes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Testing discipline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Evals and regression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Debugging and observability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Traces of model calls and tool actions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Security and least privilege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Enforced access and action limits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Production operations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Quality, cost, latency, and recovery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21" name="narrative-number">
            <a:extLst xmlns:a="http://schemas.openxmlformats.org/drawingml/2006/main">
              <a:ext uri="{FF2B5EF4-FFF2-40B4-BE49-F238E27FC236}">
                <a16:creationId xmlns:a16="http://schemas.microsoft.com/office/drawing/2014/main" id="{402EA3C4-0D09-41DC-B39E-3BFA588CC06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43</a:t>
            </a:r>
          </a:p>
        </p:txBody>
      </p:sp>
    </p:spTree>
    <p:extLst>
      <p:ext uri="{BB962C8B-B14F-4D97-AF65-F5344CB8AC3E}">
        <p14:creationId xmlns:p14="http://schemas.microsoft.com/office/powerpoint/2010/main" val="2118490851"/>
      </p:ext>
    </p:extLst>
  </p:cSld>
</p:sld>
</file>

<file path=ppt/slides/slide4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22" name="!!area-name">
            <a:extLst xmlns:a="http://schemas.openxmlformats.org/drawingml/2006/main">
              <a:ext uri="{FF2B5EF4-FFF2-40B4-BE49-F238E27FC236}">
                <a16:creationId xmlns:a16="http://schemas.microsoft.com/office/drawing/2014/main" id="{B9C5DFC0-41D2-4F3E-81AF-C144B601E22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E7026"/>
                </a:solidFill>
                <a:latin typeface="Helvetica"/>
                <a:ea typeface="Helvetica"/>
                <a:cs typeface="Helvetica"/>
              </a:rPr>
              <a:t>The transition</a:t>
            </a:r>
            <a:r>
              <a:rPr b="0">
                <a:solidFill>
                  <a:srgbClr val="ADACA9"/>
                </a:solidFill>
                <a:latin typeface="Helvetica"/>
                <a:ea typeface="Helvetica"/>
                <a:cs typeface="Helvetica"/>
              </a:rPr>
              <a:t> · What you add</a:t>
            </a:r>
          </a:p>
        </p:txBody>
      </p:sp>
      <p:pic>
        <p:nvPicPr>
          <p:cNvPr id="529" name="mini-map"/>
          <p:cNvPicPr>
            <a:picLocks xmlns:a="http://schemas.openxmlformats.org/drawingml/2006/main" noChangeAspect="1"/>
          </p:cNvPicPr>
          <p:nvPr/>
        </p:nvPicPr>
        <p:blipFill>
          <a:blip xmlns:r="http://schemas.openxmlformats.org/officeDocument/2006/relationships" xmlns:a="http://schemas.openxmlformats.org/drawingml/2006/main" r:embed="Rffc5056c1e5c4f1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24" name="slide-title">
            <a:extLst xmlns:a="http://schemas.openxmlformats.org/drawingml/2006/main">
              <a:ext uri="{FF2B5EF4-FFF2-40B4-BE49-F238E27FC236}">
                <a16:creationId xmlns:a16="http://schemas.microsoft.com/office/drawing/2014/main" id="{432510BA-7269-4D61-8B3A-9541ADBC13E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you add</a:t>
            </a:r>
          </a:p>
        </p:txBody>
      </p:sp>
      <p:sp>
        <p:nvSpPr>
          <p:cNvPr id="525" name="header-divider">
            <a:extLst xmlns:a="http://schemas.openxmlformats.org/drawingml/2006/main">
              <a:ext uri="{FF2B5EF4-FFF2-40B4-BE49-F238E27FC236}">
                <a16:creationId xmlns:a16="http://schemas.microsoft.com/office/drawing/2014/main" id="{295F4031-2248-40CB-B7ED-70DCEDE54F7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532" name="44-table-1"/>
          <p:cNvGraphicFramePr/>
          <p:nvPr/>
        </p:nvGraphicFramePr>
        <p:xfrm>
          <a:off xmlns:a="http://schemas.openxmlformats.org/drawingml/2006/main" x="609600" y="2438400"/>
          <a:ext xmlns:a="http://schemas.openxmlformats.org/drawingml/2006/main" cx="10972800" cy="3810000"/>
        </p:xfrm>
        <a:graphic xmlns:a="http://schemas.openxmlformats.org/drawingml/2006/main">
          <a:graphicData uri="http://schemas.openxmlformats.org/drawingml/2006/table">
            <a:tbl>
              <a:tblPr firstRow="0" firstCol="0" lastCol="0" bandRow="0" bandCol="0"/>
              <a:tblGrid>
                <a:gridCol w="3454400"/>
                <a:gridCol w="304800"/>
                <a:gridCol w="7213600"/>
              </a:tblGrid>
              <a:tr h="508000">
                <a:tc>
                  <a:txBody>
                    <a:bodyPr>
                      <a:noAutofit/>
                    </a:bodyPr>
                    <a:lstStyle/>
                    <a:p>
                      <a:pPr>
                        <a:lnSpc>
                          <a:spcPct val="125000"/>
                        </a:lnSpc>
                        <a:buNone/>
                      </a:pPr>
                      <a:r>
                        <a:rPr sz="2400" b="1">
                          <a:solidFill>
                            <a:srgbClr val="FE7026"/>
                          </a:solidFill>
                          <a:latin typeface="Helvetica"/>
                          <a:ea typeface="Helvetica"/>
                          <a:cs typeface="Helvetica"/>
                        </a:rPr>
                        <a:t>Area</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E7026"/>
                          </a:solidFill>
                          <a:latin typeface="Helvetica"/>
                          <a:ea typeface="Helvetica"/>
                          <a:cs typeface="Helvetica"/>
                        </a:rPr>
                        <a:t>Competency to develop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Model Selection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Recognize failure patterns and evaluate task fit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Context Engineering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Select evidence and preserve its meaning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Tools &amp; Extensibility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Evaluate how the model selects and uses tools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Orchestration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Bound model-selected actions and handle interruption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Verification &amp; Evals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Define quality and measure behavior across repeated trials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62000">
                <a:tc>
                  <a:txBody>
                    <a:bodyPr>
                      <a:noAutofit/>
                    </a:bodyPr>
                    <a:lstStyle/>
                    <a:p>
                      <a:pPr>
                        <a:lnSpc>
                          <a:spcPct val="125000"/>
                        </a:lnSpc>
                        <a:buNone/>
                      </a:pPr>
                      <a:r>
                        <a:rPr sz="2000" b="0">
                          <a:solidFill>
                            <a:srgbClr val="FFFCF5"/>
                          </a:solidFill>
                          <a:latin typeface="Helvetica"/>
                          <a:ea typeface="Helvetica"/>
                          <a:cs typeface="Helvetica"/>
                        </a:rPr>
                        <a:t>AgentOps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Investigate quality changes and manage</a:t>
                      </a:r>
                    </a:p>
                    <a:p>
                      <a:pPr>
                        <a:lnSpc>
                          <a:spcPct val="125000"/>
                        </a:lnSpc>
                        <a:buNone/>
                      </a:pPr>
                      <a:r>
                        <a:rPr sz="2000" b="0">
                          <a:solidFill>
                            <a:srgbClr val="FFFCF5"/>
                          </a:solidFill>
                          <a:latin typeface="Helvetica"/>
                          <a:ea typeface="Helvetica"/>
                          <a:cs typeface="Helvetica"/>
                        </a:rPr>
                        <a:t>security, cost, and latency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27" name="narrative-number">
            <a:extLst xmlns:a="http://schemas.openxmlformats.org/drawingml/2006/main">
              <a:ext uri="{FF2B5EF4-FFF2-40B4-BE49-F238E27FC236}">
                <a16:creationId xmlns:a16="http://schemas.microsoft.com/office/drawing/2014/main" id="{736F17CB-9C19-4C24-9DA9-6C7572B3F24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44</a:t>
            </a:r>
          </a:p>
        </p:txBody>
      </p:sp>
    </p:spTree>
    <p:extLst>
      <p:ext uri="{BB962C8B-B14F-4D97-AF65-F5344CB8AC3E}">
        <p14:creationId xmlns:p14="http://schemas.microsoft.com/office/powerpoint/2010/main" val="2752338887"/>
      </p:ext>
    </p:extLst>
  </p:cSld>
</p:sld>
</file>

<file path=ppt/slides/slide5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28" name="!!area-name">
            <a:extLst xmlns:a="http://schemas.openxmlformats.org/drawingml/2006/main">
              <a:ext uri="{FF2B5EF4-FFF2-40B4-BE49-F238E27FC236}">
                <a16:creationId xmlns:a16="http://schemas.microsoft.com/office/drawing/2014/main" id="{BE25FF5B-E76C-40AF-993E-783927C5EDB3}"/>
              </a:ext>
            </a:extLst>
          </p:cNvPr>
          <p:cNvSpPr>
            <a:spLocks xmlns:a="http://schemas.openxmlformats.org/drawingml/2006/main"/>
          </p:cNvSpPr>
          <p:nvPr/>
        </p:nvSpPr>
        <p:spPr>
          <a:xfrm xmlns:a="http://schemas.openxmlformats.org/drawingml/2006/main">
            <a:off x="609600" y="457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E7026"/>
                </a:solidFill>
                <a:latin typeface="Helvetica"/>
                <a:ea typeface="Helvetica"/>
                <a:cs typeface="Helvetica"/>
              </a:rPr>
              <a:t>The transition</a:t>
            </a:r>
            <a:r>
              <a:rPr b="0">
                <a:solidFill>
                  <a:srgbClr val="ADACA9"/>
                </a:solidFill>
                <a:latin typeface="Helvetica"/>
                <a:ea typeface="Helvetica"/>
                <a:cs typeface="Helvetica"/>
              </a:rPr>
              <a:t> · The pitfalls</a:t>
            </a:r>
          </a:p>
        </p:txBody>
      </p:sp>
      <p:sp>
        <p:nvSpPr>
          <p:cNvPr id="529" name="header-divider">
            <a:extLst xmlns:a="http://schemas.openxmlformats.org/drawingml/2006/main">
              <a:ext uri="{FF2B5EF4-FFF2-40B4-BE49-F238E27FC236}">
                <a16:creationId xmlns:a16="http://schemas.microsoft.com/office/drawing/2014/main" id="{B146FC2F-44C4-4AFA-80F6-2282D709E5E9}"/>
              </a:ext>
            </a:extLst>
          </p:cNvPr>
          <p:cNvSpPr>
            <a:spLocks xmlns:a="http://schemas.openxmlformats.org/drawingml/2006/main"/>
          </p:cNvSpPr>
          <p:nvPr/>
        </p:nvSpPr>
        <p:spPr>
          <a:xfrm xmlns:a="http://schemas.openxmlformats.org/drawingml/2006/main">
            <a:off x="609600" y="9652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30" name="45-shape-1">
            <a:extLst xmlns:a="http://schemas.openxmlformats.org/drawingml/2006/main">
              <a:ext uri="{FF2B5EF4-FFF2-40B4-BE49-F238E27FC236}">
                <a16:creationId xmlns:a16="http://schemas.microsoft.com/office/drawing/2014/main" id="{4A2444F6-CF7D-4565-B68F-9265F3F341BC}"/>
              </a:ext>
            </a:extLst>
          </p:cNvPr>
          <p:cNvSpPr>
            <a:spLocks xmlns:a="http://schemas.openxmlformats.org/drawingml/2006/main"/>
          </p:cNvSpPr>
          <p:nvPr/>
        </p:nvSpPr>
        <p:spPr>
          <a:xfrm xmlns:a="http://schemas.openxmlformats.org/drawingml/2006/main">
            <a:off x="609600" y="12700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31" name="45-shape-2">
            <a:extLst xmlns:a="http://schemas.openxmlformats.org/drawingml/2006/main">
              <a:ext uri="{FF2B5EF4-FFF2-40B4-BE49-F238E27FC236}">
                <a16:creationId xmlns:a16="http://schemas.microsoft.com/office/drawing/2014/main" id="{A7D3F77B-3A78-480C-BC67-D2499CBBC266}"/>
              </a:ext>
            </a:extLst>
          </p:cNvPr>
          <p:cNvSpPr>
            <a:spLocks xmlns:a="http://schemas.openxmlformats.org/drawingml/2006/main"/>
          </p:cNvSpPr>
          <p:nvPr/>
        </p:nvSpPr>
        <p:spPr>
          <a:xfrm xmlns:a="http://schemas.openxmlformats.org/drawingml/2006/main">
            <a:off x="609600" y="1270000"/>
            <a:ext cx="2844800" cy="7620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532" name="45-text-3">
            <a:extLst xmlns:a="http://schemas.openxmlformats.org/drawingml/2006/main">
              <a:ext uri="{FF2B5EF4-FFF2-40B4-BE49-F238E27FC236}">
                <a16:creationId xmlns:a16="http://schemas.microsoft.com/office/drawing/2014/main" id="{3F49BACA-6778-4717-BE87-1373E5166D25}"/>
              </a:ext>
            </a:extLst>
          </p:cNvPr>
          <p:cNvSpPr>
            <a:spLocks xmlns:a="http://schemas.openxmlformats.org/drawingml/2006/main"/>
          </p:cNvSpPr>
          <p:nvPr/>
        </p:nvSpPr>
        <p:spPr>
          <a:xfrm xmlns:a="http://schemas.openxmlformats.org/drawingml/2006/main">
            <a:off x="812800" y="13081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Model Selection</a:t>
            </a:r>
          </a:p>
        </p:txBody>
      </p:sp>
      <p:sp>
        <p:nvSpPr>
          <p:cNvPr id="533" name="45-text-4">
            <a:extLst xmlns:a="http://schemas.openxmlformats.org/drawingml/2006/main">
              <a:ext uri="{FF2B5EF4-FFF2-40B4-BE49-F238E27FC236}">
                <a16:creationId xmlns:a16="http://schemas.microsoft.com/office/drawing/2014/main" id="{9687D184-67A9-43E8-BBF4-4C16DB3A5A92}"/>
              </a:ext>
            </a:extLst>
          </p:cNvPr>
          <p:cNvSpPr>
            <a:spLocks xmlns:a="http://schemas.openxmlformats.org/drawingml/2006/main"/>
          </p:cNvSpPr>
          <p:nvPr/>
        </p:nvSpPr>
        <p:spPr>
          <a:xfrm xmlns:a="http://schemas.openxmlformats.org/drawingml/2006/main">
            <a:off x="3759200" y="13081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Selecting or changing models without testing them on your task.</a:t>
            </a:r>
          </a:p>
        </p:txBody>
      </p:sp>
      <p:sp>
        <p:nvSpPr>
          <p:cNvPr id="534" name="45-shape-5">
            <a:extLst xmlns:a="http://schemas.openxmlformats.org/drawingml/2006/main">
              <a:ext uri="{FF2B5EF4-FFF2-40B4-BE49-F238E27FC236}">
                <a16:creationId xmlns:a16="http://schemas.microsoft.com/office/drawing/2014/main" id="{98572A6D-83C5-493B-8ED3-E07668C11FB9}"/>
              </a:ext>
            </a:extLst>
          </p:cNvPr>
          <p:cNvSpPr>
            <a:spLocks xmlns:a="http://schemas.openxmlformats.org/drawingml/2006/main"/>
          </p:cNvSpPr>
          <p:nvPr/>
        </p:nvSpPr>
        <p:spPr>
          <a:xfrm xmlns:a="http://schemas.openxmlformats.org/drawingml/2006/main">
            <a:off x="609600" y="21082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35" name="45-shape-6">
            <a:extLst xmlns:a="http://schemas.openxmlformats.org/drawingml/2006/main">
              <a:ext uri="{FF2B5EF4-FFF2-40B4-BE49-F238E27FC236}">
                <a16:creationId xmlns:a16="http://schemas.microsoft.com/office/drawing/2014/main" id="{9B8173F3-0809-4400-BDC5-CF34A0682C4D}"/>
              </a:ext>
            </a:extLst>
          </p:cNvPr>
          <p:cNvSpPr>
            <a:spLocks xmlns:a="http://schemas.openxmlformats.org/drawingml/2006/main"/>
          </p:cNvSpPr>
          <p:nvPr/>
        </p:nvSpPr>
        <p:spPr>
          <a:xfrm xmlns:a="http://schemas.openxmlformats.org/drawingml/2006/main">
            <a:off x="609600" y="2108200"/>
            <a:ext cx="28448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36" name="45-text-7">
            <a:extLst xmlns:a="http://schemas.openxmlformats.org/drawingml/2006/main">
              <a:ext uri="{FF2B5EF4-FFF2-40B4-BE49-F238E27FC236}">
                <a16:creationId xmlns:a16="http://schemas.microsoft.com/office/drawing/2014/main" id="{785BCD3E-0557-4B32-9D8E-B4947DD5505E}"/>
              </a:ext>
            </a:extLst>
          </p:cNvPr>
          <p:cNvSpPr>
            <a:spLocks xmlns:a="http://schemas.openxmlformats.org/drawingml/2006/main"/>
          </p:cNvSpPr>
          <p:nvPr/>
        </p:nvSpPr>
        <p:spPr>
          <a:xfrm xmlns:a="http://schemas.openxmlformats.org/drawingml/2006/main">
            <a:off x="812800" y="21463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Context</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Engineering</a:t>
            </a:r>
          </a:p>
        </p:txBody>
      </p:sp>
      <p:sp>
        <p:nvSpPr>
          <p:cNvPr id="537" name="45-text-8">
            <a:extLst xmlns:a="http://schemas.openxmlformats.org/drawingml/2006/main">
              <a:ext uri="{FF2B5EF4-FFF2-40B4-BE49-F238E27FC236}">
                <a16:creationId xmlns:a16="http://schemas.microsoft.com/office/drawing/2014/main" id="{B412E620-1CF6-4424-A888-4943C621B355}"/>
              </a:ext>
            </a:extLst>
          </p:cNvPr>
          <p:cNvSpPr>
            <a:spLocks xmlns:a="http://schemas.openxmlformats.org/drawingml/2006/main"/>
          </p:cNvSpPr>
          <p:nvPr/>
        </p:nvSpPr>
        <p:spPr>
          <a:xfrm xmlns:a="http://schemas.openxmlformats.org/drawingml/2006/main">
            <a:off x="3759200" y="21463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context without curating it.</a:t>
            </a:r>
          </a:p>
        </p:txBody>
      </p:sp>
      <p:sp>
        <p:nvSpPr>
          <p:cNvPr id="538" name="45-shape-9">
            <a:extLst xmlns:a="http://schemas.openxmlformats.org/drawingml/2006/main">
              <a:ext uri="{FF2B5EF4-FFF2-40B4-BE49-F238E27FC236}">
                <a16:creationId xmlns:a16="http://schemas.microsoft.com/office/drawing/2014/main" id="{A3CDC1B6-0A6F-442F-A72C-07DE50DF06BB}"/>
              </a:ext>
            </a:extLst>
          </p:cNvPr>
          <p:cNvSpPr>
            <a:spLocks xmlns:a="http://schemas.openxmlformats.org/drawingml/2006/main"/>
          </p:cNvSpPr>
          <p:nvPr/>
        </p:nvSpPr>
        <p:spPr>
          <a:xfrm xmlns:a="http://schemas.openxmlformats.org/drawingml/2006/main">
            <a:off x="609600" y="29464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39" name="45-shape-10">
            <a:extLst xmlns:a="http://schemas.openxmlformats.org/drawingml/2006/main">
              <a:ext uri="{FF2B5EF4-FFF2-40B4-BE49-F238E27FC236}">
                <a16:creationId xmlns:a16="http://schemas.microsoft.com/office/drawing/2014/main" id="{7CF86A6E-0D8A-41EC-A9CA-B8F4417387BE}"/>
              </a:ext>
            </a:extLst>
          </p:cNvPr>
          <p:cNvSpPr>
            <a:spLocks xmlns:a="http://schemas.openxmlformats.org/drawingml/2006/main"/>
          </p:cNvSpPr>
          <p:nvPr/>
        </p:nvSpPr>
        <p:spPr>
          <a:xfrm xmlns:a="http://schemas.openxmlformats.org/drawingml/2006/main">
            <a:off x="609600" y="2946400"/>
            <a:ext cx="28448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40" name="45-text-11">
            <a:extLst xmlns:a="http://schemas.openxmlformats.org/drawingml/2006/main">
              <a:ext uri="{FF2B5EF4-FFF2-40B4-BE49-F238E27FC236}">
                <a16:creationId xmlns:a16="http://schemas.microsoft.com/office/drawing/2014/main" id="{7646959C-7A0D-470D-861D-916C4A960823}"/>
              </a:ext>
            </a:extLst>
          </p:cNvPr>
          <p:cNvSpPr>
            <a:spLocks xmlns:a="http://schemas.openxmlformats.org/drawingml/2006/main"/>
          </p:cNvSpPr>
          <p:nvPr/>
        </p:nvSpPr>
        <p:spPr>
          <a:xfrm xmlns:a="http://schemas.openxmlformats.org/drawingml/2006/main">
            <a:off x="812800" y="29845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Tools &amp;</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Extensibility</a:t>
            </a:r>
          </a:p>
        </p:txBody>
      </p:sp>
      <p:sp>
        <p:nvSpPr>
          <p:cNvPr id="541" name="45-text-12">
            <a:extLst xmlns:a="http://schemas.openxmlformats.org/drawingml/2006/main">
              <a:ext uri="{FF2B5EF4-FFF2-40B4-BE49-F238E27FC236}">
                <a16:creationId xmlns:a16="http://schemas.microsoft.com/office/drawing/2014/main" id="{5D51F59E-FB5C-412D-A8C9-8373C6C5384D}"/>
              </a:ext>
            </a:extLst>
          </p:cNvPr>
          <p:cNvSpPr>
            <a:spLocks xmlns:a="http://schemas.openxmlformats.org/drawingml/2006/main"/>
          </p:cNvSpPr>
          <p:nvPr/>
        </p:nvSpPr>
        <p:spPr>
          <a:xfrm xmlns:a="http://schemas.openxmlformats.org/drawingml/2006/main">
            <a:off x="3759200" y="29845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Copying APIs without evaluating task fit.</a:t>
            </a:r>
          </a:p>
        </p:txBody>
      </p:sp>
      <p:sp>
        <p:nvSpPr>
          <p:cNvPr id="542" name="45-shape-13">
            <a:extLst xmlns:a="http://schemas.openxmlformats.org/drawingml/2006/main">
              <a:ext uri="{FF2B5EF4-FFF2-40B4-BE49-F238E27FC236}">
                <a16:creationId xmlns:a16="http://schemas.microsoft.com/office/drawing/2014/main" id="{4F2782D2-1FA4-462C-AB8D-706AC708ACF6}"/>
              </a:ext>
            </a:extLst>
          </p:cNvPr>
          <p:cNvSpPr>
            <a:spLocks xmlns:a="http://schemas.openxmlformats.org/drawingml/2006/main"/>
          </p:cNvSpPr>
          <p:nvPr/>
        </p:nvSpPr>
        <p:spPr>
          <a:xfrm xmlns:a="http://schemas.openxmlformats.org/drawingml/2006/main">
            <a:off x="609600" y="37846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43" name="45-shape-14">
            <a:extLst xmlns:a="http://schemas.openxmlformats.org/drawingml/2006/main">
              <a:ext uri="{FF2B5EF4-FFF2-40B4-BE49-F238E27FC236}">
                <a16:creationId xmlns:a16="http://schemas.microsoft.com/office/drawing/2014/main" id="{C8E8C746-51FB-471A-92EF-990D5125136B}"/>
              </a:ext>
            </a:extLst>
          </p:cNvPr>
          <p:cNvSpPr>
            <a:spLocks xmlns:a="http://schemas.openxmlformats.org/drawingml/2006/main"/>
          </p:cNvSpPr>
          <p:nvPr/>
        </p:nvSpPr>
        <p:spPr>
          <a:xfrm xmlns:a="http://schemas.openxmlformats.org/drawingml/2006/main">
            <a:off x="609600" y="3784600"/>
            <a:ext cx="28448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44" name="45-text-15">
            <a:extLst xmlns:a="http://schemas.openxmlformats.org/drawingml/2006/main">
              <a:ext uri="{FF2B5EF4-FFF2-40B4-BE49-F238E27FC236}">
                <a16:creationId xmlns:a16="http://schemas.microsoft.com/office/drawing/2014/main" id="{F98D69E2-5BCA-44EF-8A71-288F5F2D5456}"/>
              </a:ext>
            </a:extLst>
          </p:cNvPr>
          <p:cNvSpPr>
            <a:spLocks xmlns:a="http://schemas.openxmlformats.org/drawingml/2006/main"/>
          </p:cNvSpPr>
          <p:nvPr/>
        </p:nvSpPr>
        <p:spPr>
          <a:xfrm xmlns:a="http://schemas.openxmlformats.org/drawingml/2006/main">
            <a:off x="812800" y="38227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Orchestration</a:t>
            </a:r>
          </a:p>
        </p:txBody>
      </p:sp>
      <p:sp>
        <p:nvSpPr>
          <p:cNvPr id="545" name="45-text-16">
            <a:extLst xmlns:a="http://schemas.openxmlformats.org/drawingml/2006/main">
              <a:ext uri="{FF2B5EF4-FFF2-40B4-BE49-F238E27FC236}">
                <a16:creationId xmlns:a16="http://schemas.microsoft.com/office/drawing/2014/main" id="{C837BB92-AA35-4DDB-8E77-6F999289010F}"/>
              </a:ext>
            </a:extLst>
          </p:cNvPr>
          <p:cNvSpPr>
            <a:spLocks xmlns:a="http://schemas.openxmlformats.org/drawingml/2006/main"/>
          </p:cNvSpPr>
          <p:nvPr/>
        </p:nvSpPr>
        <p:spPr>
          <a:xfrm xmlns:a="http://schemas.openxmlformats.org/drawingml/2006/main">
            <a:off x="3759200" y="38227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multiple agents before trying a workflow.</a:t>
            </a:r>
          </a:p>
        </p:txBody>
      </p:sp>
      <p:sp>
        <p:nvSpPr>
          <p:cNvPr id="546" name="45-shape-17">
            <a:extLst xmlns:a="http://schemas.openxmlformats.org/drawingml/2006/main">
              <a:ext uri="{FF2B5EF4-FFF2-40B4-BE49-F238E27FC236}">
                <a16:creationId xmlns:a16="http://schemas.microsoft.com/office/drawing/2014/main" id="{ABB4A8EC-6C0D-4560-88CF-C0B1D56D30F1}"/>
              </a:ext>
            </a:extLst>
          </p:cNvPr>
          <p:cNvSpPr>
            <a:spLocks xmlns:a="http://schemas.openxmlformats.org/drawingml/2006/main"/>
          </p:cNvSpPr>
          <p:nvPr/>
        </p:nvSpPr>
        <p:spPr>
          <a:xfrm xmlns:a="http://schemas.openxmlformats.org/drawingml/2006/main">
            <a:off x="609600" y="46228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47" name="45-shape-18">
            <a:extLst xmlns:a="http://schemas.openxmlformats.org/drawingml/2006/main">
              <a:ext uri="{FF2B5EF4-FFF2-40B4-BE49-F238E27FC236}">
                <a16:creationId xmlns:a16="http://schemas.microsoft.com/office/drawing/2014/main" id="{42A1109B-741B-449A-8DBA-928C6BA30EC7}"/>
              </a:ext>
            </a:extLst>
          </p:cNvPr>
          <p:cNvSpPr>
            <a:spLocks xmlns:a="http://schemas.openxmlformats.org/drawingml/2006/main"/>
          </p:cNvSpPr>
          <p:nvPr/>
        </p:nvSpPr>
        <p:spPr>
          <a:xfrm xmlns:a="http://schemas.openxmlformats.org/drawingml/2006/main">
            <a:off x="609600" y="4622800"/>
            <a:ext cx="2844800" cy="7620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548" name="45-text-19">
            <a:extLst xmlns:a="http://schemas.openxmlformats.org/drawingml/2006/main">
              <a:ext uri="{FF2B5EF4-FFF2-40B4-BE49-F238E27FC236}">
                <a16:creationId xmlns:a16="http://schemas.microsoft.com/office/drawing/2014/main" id="{A11B36F0-7077-4DCC-9BA1-25F1DC62B3B6}"/>
              </a:ext>
            </a:extLst>
          </p:cNvPr>
          <p:cNvSpPr>
            <a:spLocks xmlns:a="http://schemas.openxmlformats.org/drawingml/2006/main"/>
          </p:cNvSpPr>
          <p:nvPr/>
        </p:nvSpPr>
        <p:spPr>
          <a:xfrm xmlns:a="http://schemas.openxmlformats.org/drawingml/2006/main">
            <a:off x="812800" y="46609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Verification</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&amp; Evals</a:t>
            </a:r>
          </a:p>
        </p:txBody>
      </p:sp>
      <p:sp>
        <p:nvSpPr>
          <p:cNvPr id="549" name="45-text-20">
            <a:extLst xmlns:a="http://schemas.openxmlformats.org/drawingml/2006/main">
              <a:ext uri="{FF2B5EF4-FFF2-40B4-BE49-F238E27FC236}">
                <a16:creationId xmlns:a16="http://schemas.microsoft.com/office/drawing/2014/main" id="{194D1134-CDA7-41DE-948E-16E9823C6352}"/>
              </a:ext>
            </a:extLst>
          </p:cNvPr>
          <p:cNvSpPr>
            <a:spLocks xmlns:a="http://schemas.openxmlformats.org/drawingml/2006/main"/>
          </p:cNvSpPr>
          <p:nvPr/>
        </p:nvSpPr>
        <p:spPr>
          <a:xfrm xmlns:a="http://schemas.openxmlformats.org/drawingml/2006/main">
            <a:off x="3759200" y="46609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Using a generic judge without error analysis or result checks.</a:t>
            </a:r>
          </a:p>
        </p:txBody>
      </p:sp>
      <p:sp>
        <p:nvSpPr>
          <p:cNvPr id="550" name="45-shape-21">
            <a:extLst xmlns:a="http://schemas.openxmlformats.org/drawingml/2006/main">
              <a:ext uri="{FF2B5EF4-FFF2-40B4-BE49-F238E27FC236}">
                <a16:creationId xmlns:a16="http://schemas.microsoft.com/office/drawing/2014/main" id="{B5BA7AAF-F8CA-457F-ABD6-2DF6D355902C}"/>
              </a:ext>
            </a:extLst>
          </p:cNvPr>
          <p:cNvSpPr>
            <a:spLocks xmlns:a="http://schemas.openxmlformats.org/drawingml/2006/main"/>
          </p:cNvSpPr>
          <p:nvPr/>
        </p:nvSpPr>
        <p:spPr>
          <a:xfrm xmlns:a="http://schemas.openxmlformats.org/drawingml/2006/main">
            <a:off x="609600" y="54610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51" name="45-shape-22">
            <a:extLst xmlns:a="http://schemas.openxmlformats.org/drawingml/2006/main">
              <a:ext uri="{FF2B5EF4-FFF2-40B4-BE49-F238E27FC236}">
                <a16:creationId xmlns:a16="http://schemas.microsoft.com/office/drawing/2014/main" id="{F639AE8D-02F4-48DF-A9A0-6941446F1CC2}"/>
              </a:ext>
            </a:extLst>
          </p:cNvPr>
          <p:cNvSpPr>
            <a:spLocks xmlns:a="http://schemas.openxmlformats.org/drawingml/2006/main"/>
          </p:cNvSpPr>
          <p:nvPr/>
        </p:nvSpPr>
        <p:spPr>
          <a:xfrm xmlns:a="http://schemas.openxmlformats.org/drawingml/2006/main">
            <a:off x="609600" y="5461000"/>
            <a:ext cx="2844800" cy="7620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552" name="45-text-23">
            <a:extLst xmlns:a="http://schemas.openxmlformats.org/drawingml/2006/main">
              <a:ext uri="{FF2B5EF4-FFF2-40B4-BE49-F238E27FC236}">
                <a16:creationId xmlns:a16="http://schemas.microsoft.com/office/drawing/2014/main" id="{A2FBDAC6-3D1D-441E-AAFA-BB318E547ABC}"/>
              </a:ext>
            </a:extLst>
          </p:cNvPr>
          <p:cNvSpPr>
            <a:spLocks xmlns:a="http://schemas.openxmlformats.org/drawingml/2006/main"/>
          </p:cNvSpPr>
          <p:nvPr/>
        </p:nvSpPr>
        <p:spPr>
          <a:xfrm xmlns:a="http://schemas.openxmlformats.org/drawingml/2006/main">
            <a:off x="812800" y="54991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AgentOps</a:t>
            </a:r>
          </a:p>
        </p:txBody>
      </p:sp>
      <p:sp>
        <p:nvSpPr>
          <p:cNvPr id="553" name="45-text-24">
            <a:extLst xmlns:a="http://schemas.openxmlformats.org/drawingml/2006/main">
              <a:ext uri="{FF2B5EF4-FFF2-40B4-BE49-F238E27FC236}">
                <a16:creationId xmlns:a16="http://schemas.microsoft.com/office/drawing/2014/main" id="{20B124A7-18A9-4096-892E-2DF28EC7A62C}"/>
              </a:ext>
            </a:extLst>
          </p:cNvPr>
          <p:cNvSpPr>
            <a:spLocks xmlns:a="http://schemas.openxmlformats.org/drawingml/2006/main"/>
          </p:cNvSpPr>
          <p:nvPr/>
        </p:nvSpPr>
        <p:spPr>
          <a:xfrm xmlns:a="http://schemas.openxmlformats.org/drawingml/2006/main">
            <a:off x="3759200" y="54991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Combining private data, untrusted content, and outbound access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without reviewing the risk.</a:t>
            </a:r>
          </a:p>
        </p:txBody>
      </p:sp>
      <p:sp>
        <p:nvSpPr>
          <p:cNvPr id="554" name="narrative-number">
            <a:extLst xmlns:a="http://schemas.openxmlformats.org/drawingml/2006/main">
              <a:ext uri="{FF2B5EF4-FFF2-40B4-BE49-F238E27FC236}">
                <a16:creationId xmlns:a16="http://schemas.microsoft.com/office/drawing/2014/main" id="{425103D3-A00E-429C-9EF5-041B1608FA9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45</a:t>
            </a:r>
          </a:p>
        </p:txBody>
      </p:sp>
    </p:spTree>
    <p:extLst>
      <p:ext uri="{BB962C8B-B14F-4D97-AF65-F5344CB8AC3E}">
        <p14:creationId xmlns:p14="http://schemas.microsoft.com/office/powerpoint/2010/main" val="2502214267"/>
      </p:ext>
    </p:extLst>
  </p:cSld>
</p:sld>
</file>

<file path=ppt/slides/slide5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55" name="!!area-name">
            <a:extLst xmlns:a="http://schemas.openxmlformats.org/drawingml/2006/main">
              <a:ext uri="{FF2B5EF4-FFF2-40B4-BE49-F238E27FC236}">
                <a16:creationId xmlns:a16="http://schemas.microsoft.com/office/drawing/2014/main" id="{535A4DEB-E220-40F0-B354-667C06EE378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E7026"/>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573" name="mini-map"/>
          <p:cNvPicPr>
            <a:picLocks xmlns:a="http://schemas.openxmlformats.org/drawingml/2006/main" noChangeAspect="1"/>
          </p:cNvPicPr>
          <p:nvPr/>
        </p:nvPicPr>
        <p:blipFill>
          <a:blip xmlns:r="http://schemas.openxmlformats.org/officeDocument/2006/relationships" xmlns:a="http://schemas.openxmlformats.org/drawingml/2006/main" r:embed="Rb597a37bb45543b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57" name="slide-title">
            <a:extLst xmlns:a="http://schemas.openxmlformats.org/drawingml/2006/main">
              <a:ext uri="{FF2B5EF4-FFF2-40B4-BE49-F238E27FC236}">
                <a16:creationId xmlns:a16="http://schemas.microsoft.com/office/drawing/2014/main" id="{B963168F-2110-405A-8759-19367177342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558" name="header-divider">
            <a:extLst xmlns:a="http://schemas.openxmlformats.org/drawingml/2006/main">
              <a:ext uri="{FF2B5EF4-FFF2-40B4-BE49-F238E27FC236}">
                <a16:creationId xmlns:a16="http://schemas.microsoft.com/office/drawing/2014/main" id="{4FD62AB8-E06B-46B3-A306-02D2D831966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59" name="46-shape-1">
            <a:extLst xmlns:a="http://schemas.openxmlformats.org/drawingml/2006/main">
              <a:ext uri="{FF2B5EF4-FFF2-40B4-BE49-F238E27FC236}">
                <a16:creationId xmlns:a16="http://schemas.microsoft.com/office/drawing/2014/main" id="{50DECE8A-AC39-4A34-A961-533E071980C5}"/>
              </a:ext>
            </a:extLst>
          </p:cNvPr>
          <p:cNvSpPr>
            <a:spLocks xmlns:a="http://schemas.openxmlformats.org/drawingml/2006/main"/>
          </p:cNvSpPr>
          <p:nvPr/>
        </p:nvSpPr>
        <p:spPr>
          <a:xfrm xmlns:a="http://schemas.openxmlformats.org/drawingml/2006/main">
            <a:off x="609600" y="24384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60" name="46-text-2">
            <a:extLst xmlns:a="http://schemas.openxmlformats.org/drawingml/2006/main">
              <a:ext uri="{FF2B5EF4-FFF2-40B4-BE49-F238E27FC236}">
                <a16:creationId xmlns:a16="http://schemas.microsoft.com/office/drawing/2014/main" id="{EA9E06A2-B4A4-4D37-8C20-D0B0F2B6C3FC}"/>
              </a:ext>
            </a:extLst>
          </p:cNvPr>
          <p:cNvSpPr>
            <a:spLocks xmlns:a="http://schemas.openxmlformats.org/drawingml/2006/main"/>
          </p:cNvSpPr>
          <p:nvPr/>
        </p:nvSpPr>
        <p:spPr>
          <a:xfrm xmlns:a="http://schemas.openxmlformats.org/drawingml/2006/main">
            <a:off x="812800" y="24765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561" name="46-text-3">
            <a:extLst xmlns:a="http://schemas.openxmlformats.org/drawingml/2006/main">
              <a:ext uri="{FF2B5EF4-FFF2-40B4-BE49-F238E27FC236}">
                <a16:creationId xmlns:a16="http://schemas.microsoft.com/office/drawing/2014/main" id="{C7998074-2DB4-4FBF-8A0A-068F6230AF35}"/>
              </a:ext>
            </a:extLst>
          </p:cNvPr>
          <p:cNvSpPr>
            <a:spLocks xmlns:a="http://schemas.openxmlformats.org/drawingml/2006/main"/>
          </p:cNvSpPr>
          <p:nvPr/>
        </p:nvSpPr>
        <p:spPr>
          <a:xfrm xmlns:a="http://schemas.openxmlformats.org/drawingml/2006/main">
            <a:off x="1727200" y="25654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Choose one narrow task.</a:t>
            </a:r>
          </a:p>
        </p:txBody>
      </p:sp>
      <p:sp>
        <p:nvSpPr>
          <p:cNvPr id="562" name="46-shape-4">
            <a:extLst xmlns:a="http://schemas.openxmlformats.org/drawingml/2006/main">
              <a:ext uri="{FF2B5EF4-FFF2-40B4-BE49-F238E27FC236}">
                <a16:creationId xmlns:a16="http://schemas.microsoft.com/office/drawing/2014/main" id="{1CF2FD0C-9A96-4B03-A6CF-743AC1AA0DF7}"/>
              </a:ext>
            </a:extLst>
          </p:cNvPr>
          <p:cNvSpPr>
            <a:spLocks xmlns:a="http://schemas.openxmlformats.org/drawingml/2006/main"/>
          </p:cNvSpPr>
          <p:nvPr/>
        </p:nvSpPr>
        <p:spPr>
          <a:xfrm xmlns:a="http://schemas.openxmlformats.org/drawingml/2006/main">
            <a:off x="609600" y="32893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63" name="46-text-5">
            <a:extLst xmlns:a="http://schemas.openxmlformats.org/drawingml/2006/main">
              <a:ext uri="{FF2B5EF4-FFF2-40B4-BE49-F238E27FC236}">
                <a16:creationId xmlns:a16="http://schemas.microsoft.com/office/drawing/2014/main" id="{58D16D3C-FB38-47CF-B843-5D1BB82C7347}"/>
              </a:ext>
            </a:extLst>
          </p:cNvPr>
          <p:cNvSpPr>
            <a:spLocks xmlns:a="http://schemas.openxmlformats.org/drawingml/2006/main"/>
          </p:cNvSpPr>
          <p:nvPr/>
        </p:nvSpPr>
        <p:spPr>
          <a:xfrm xmlns:a="http://schemas.openxmlformats.org/drawingml/2006/main">
            <a:off x="812800" y="33274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564" name="46-text-6">
            <a:extLst xmlns:a="http://schemas.openxmlformats.org/drawingml/2006/main">
              <a:ext uri="{FF2B5EF4-FFF2-40B4-BE49-F238E27FC236}">
                <a16:creationId xmlns:a16="http://schemas.microsoft.com/office/drawing/2014/main" id="{DDDFF47B-6DA8-4169-AA1C-DFDEAA853C26}"/>
              </a:ext>
            </a:extLst>
          </p:cNvPr>
          <p:cNvSpPr>
            <a:spLocks xmlns:a="http://schemas.openxmlformats.org/drawingml/2006/main"/>
          </p:cNvSpPr>
          <p:nvPr/>
        </p:nvSpPr>
        <p:spPr>
          <a:xfrm xmlns:a="http://schemas.openxmlformats.org/drawingml/2006/main">
            <a:off x="1727200" y="34163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with one model call.</a:t>
            </a:r>
          </a:p>
        </p:txBody>
      </p:sp>
      <p:sp>
        <p:nvSpPr>
          <p:cNvPr id="565" name="46-shape-7">
            <a:extLst xmlns:a="http://schemas.openxmlformats.org/drawingml/2006/main">
              <a:ext uri="{FF2B5EF4-FFF2-40B4-BE49-F238E27FC236}">
                <a16:creationId xmlns:a16="http://schemas.microsoft.com/office/drawing/2014/main" id="{AEFD562B-FBD7-402A-9910-6C0C12D22EFE}"/>
              </a:ext>
            </a:extLst>
          </p:cNvPr>
          <p:cNvSpPr>
            <a:spLocks xmlns:a="http://schemas.openxmlformats.org/drawingml/2006/main"/>
          </p:cNvSpPr>
          <p:nvPr/>
        </p:nvSpPr>
        <p:spPr>
          <a:xfrm xmlns:a="http://schemas.openxmlformats.org/drawingml/2006/main">
            <a:off x="609600" y="41402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66" name="46-text-8">
            <a:extLst xmlns:a="http://schemas.openxmlformats.org/drawingml/2006/main">
              <a:ext uri="{FF2B5EF4-FFF2-40B4-BE49-F238E27FC236}">
                <a16:creationId xmlns:a16="http://schemas.microsoft.com/office/drawing/2014/main" id="{B59A2FBC-1AE7-4AD4-86AC-5DDC50D73D38}"/>
              </a:ext>
            </a:extLst>
          </p:cNvPr>
          <p:cNvSpPr>
            <a:spLocks xmlns:a="http://schemas.openxmlformats.org/drawingml/2006/main"/>
          </p:cNvSpPr>
          <p:nvPr/>
        </p:nvSpPr>
        <p:spPr>
          <a:xfrm xmlns:a="http://schemas.openxmlformats.org/drawingml/2006/main">
            <a:off x="812800" y="41783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567" name="46-text-9">
            <a:extLst xmlns:a="http://schemas.openxmlformats.org/drawingml/2006/main">
              <a:ext uri="{FF2B5EF4-FFF2-40B4-BE49-F238E27FC236}">
                <a16:creationId xmlns:a16="http://schemas.microsoft.com/office/drawing/2014/main" id="{5EB7C031-8137-445C-90D9-236521F315D1}"/>
              </a:ext>
            </a:extLst>
          </p:cNvPr>
          <p:cNvSpPr>
            <a:spLocks xmlns:a="http://schemas.openxmlformats.org/drawingml/2006/main"/>
          </p:cNvSpPr>
          <p:nvPr/>
        </p:nvSpPr>
        <p:spPr>
          <a:xfrm xmlns:a="http://schemas.openxmlformats.org/drawingml/2006/main">
            <a:off x="1727200" y="42672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Turn failures into checks.</a:t>
            </a:r>
          </a:p>
        </p:txBody>
      </p:sp>
      <p:sp>
        <p:nvSpPr>
          <p:cNvPr id="568" name="46-shape-10">
            <a:extLst xmlns:a="http://schemas.openxmlformats.org/drawingml/2006/main">
              <a:ext uri="{FF2B5EF4-FFF2-40B4-BE49-F238E27FC236}">
                <a16:creationId xmlns:a16="http://schemas.microsoft.com/office/drawing/2014/main" id="{FA1A33CF-7ABD-4BCF-B524-2F5380B3B343}"/>
              </a:ext>
            </a:extLst>
          </p:cNvPr>
          <p:cNvSpPr>
            <a:spLocks xmlns:a="http://schemas.openxmlformats.org/drawingml/2006/main"/>
          </p:cNvSpPr>
          <p:nvPr/>
        </p:nvSpPr>
        <p:spPr>
          <a:xfrm xmlns:a="http://schemas.openxmlformats.org/drawingml/2006/main">
            <a:off x="609600" y="49911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69" name="46-text-11">
            <a:extLst xmlns:a="http://schemas.openxmlformats.org/drawingml/2006/main">
              <a:ext uri="{FF2B5EF4-FFF2-40B4-BE49-F238E27FC236}">
                <a16:creationId xmlns:a16="http://schemas.microsoft.com/office/drawing/2014/main" id="{A067B6A4-BC31-4728-A026-413CB9EA900D}"/>
              </a:ext>
            </a:extLst>
          </p:cNvPr>
          <p:cNvSpPr>
            <a:spLocks xmlns:a="http://schemas.openxmlformats.org/drawingml/2006/main"/>
          </p:cNvSpPr>
          <p:nvPr/>
        </p:nvSpPr>
        <p:spPr>
          <a:xfrm xmlns:a="http://schemas.openxmlformats.org/drawingml/2006/main">
            <a:off x="812800" y="50292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570" name="46-text-12">
            <a:extLst xmlns:a="http://schemas.openxmlformats.org/drawingml/2006/main">
              <a:ext uri="{FF2B5EF4-FFF2-40B4-BE49-F238E27FC236}">
                <a16:creationId xmlns:a16="http://schemas.microsoft.com/office/drawing/2014/main" id="{2C5EE8F9-541E-4D39-8320-BC145BBFC2EC}"/>
              </a:ext>
            </a:extLst>
          </p:cNvPr>
          <p:cNvSpPr>
            <a:spLocks xmlns:a="http://schemas.openxmlformats.org/drawingml/2006/main"/>
          </p:cNvSpPr>
          <p:nvPr/>
        </p:nvSpPr>
        <p:spPr>
          <a:xfrm xmlns:a="http://schemas.openxmlformats.org/drawingml/2006/main">
            <a:off x="1727200" y="51181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Add autonomy when evals justify it.</a:t>
            </a:r>
          </a:p>
        </p:txBody>
      </p:sp>
      <p:sp>
        <p:nvSpPr>
          <p:cNvPr id="571" name="narrative-number">
            <a:extLst xmlns:a="http://schemas.openxmlformats.org/drawingml/2006/main">
              <a:ext uri="{FF2B5EF4-FFF2-40B4-BE49-F238E27FC236}">
                <a16:creationId xmlns:a16="http://schemas.microsoft.com/office/drawing/2014/main" id="{F3F8A09D-4759-4C73-9A43-72D468CC7A4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46</a:t>
            </a:r>
          </a:p>
        </p:txBody>
      </p:sp>
    </p:spTree>
    <p:extLst>
      <p:ext uri="{BB962C8B-B14F-4D97-AF65-F5344CB8AC3E}">
        <p14:creationId xmlns:p14="http://schemas.microsoft.com/office/powerpoint/2010/main" val="2470862743"/>
      </p:ext>
    </p:extLst>
  </p:cSld>
</p:sld>
</file>

<file path=ppt/slides/slide5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72" name="47-text-1">
            <a:extLst xmlns:a="http://schemas.openxmlformats.org/drawingml/2006/main">
              <a:ext uri="{FF2B5EF4-FFF2-40B4-BE49-F238E27FC236}">
                <a16:creationId xmlns:a16="http://schemas.microsoft.com/office/drawing/2014/main" id="{5B7C0594-8C9A-432F-A142-12BB11910900}"/>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573" name="47-text-2">
            <a:extLst xmlns:a="http://schemas.openxmlformats.org/drawingml/2006/main">
              <a:ext uri="{FF2B5EF4-FFF2-40B4-BE49-F238E27FC236}">
                <a16:creationId xmlns:a16="http://schemas.microsoft.com/office/drawing/2014/main" id="{1129212A-6572-4557-8706-477E598667CA}"/>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574" name="47-text-3">
            <a:extLst xmlns:a="http://schemas.openxmlformats.org/drawingml/2006/main">
              <a:ext uri="{FF2B5EF4-FFF2-40B4-BE49-F238E27FC236}">
                <a16:creationId xmlns:a16="http://schemas.microsoft.com/office/drawing/2014/main" id="{289A91ED-AE5A-42DB-AF6A-278AF7DFECEF}"/>
              </a:ext>
            </a:extLst>
          </p:cNvPr>
          <p:cNvSpPr>
            <a:spLocks xmlns:a="http://schemas.openxmlformats.org/drawingml/2006/main"/>
          </p:cNvSpPr>
          <p:nvPr/>
        </p:nvSpPr>
        <p:spPr>
          <a:xfrm xmlns:a="http://schemas.openxmlformats.org/drawingml/2006/main">
            <a:off x="609600" y="55626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Questions</a:t>
            </a:r>
          </a:p>
        </p:txBody>
      </p:sp>
      <p:sp>
        <p:nvSpPr>
          <p:cNvPr id="575" name="narrative-number">
            <a:extLst xmlns:a="http://schemas.openxmlformats.org/drawingml/2006/main">
              <a:ext uri="{FF2B5EF4-FFF2-40B4-BE49-F238E27FC236}">
                <a16:creationId xmlns:a16="http://schemas.microsoft.com/office/drawing/2014/main" id="{E1332917-EF3D-45D7-8D12-CB9F29DED1B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47</a:t>
            </a:r>
          </a:p>
        </p:txBody>
      </p:sp>
    </p:spTree>
    <p:extLst>
      <p:ext uri="{BB962C8B-B14F-4D97-AF65-F5344CB8AC3E}">
        <p14:creationId xmlns:p14="http://schemas.microsoft.com/office/powerpoint/2010/main" val="337819598"/>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76" name="slide-title">
            <a:extLst xmlns:a="http://schemas.openxmlformats.org/drawingml/2006/main">
              <a:ext uri="{FF2B5EF4-FFF2-40B4-BE49-F238E27FC236}">
                <a16:creationId xmlns:a16="http://schemas.microsoft.com/office/drawing/2014/main" id="{AE8DEEE2-2D9E-4A98-852C-10D4F4291430}"/>
              </a:ext>
            </a:extLst>
          </p:cNvPr>
          <p:cNvSpPr>
            <a:spLocks xmlns:a="http://schemas.openxmlformats.org/drawingml/2006/main"/>
          </p:cNvSpPr>
          <p:nvPr/>
        </p:nvSpPr>
        <p:spPr>
          <a:xfrm xmlns:a="http://schemas.openxmlformats.org/drawingml/2006/main">
            <a:off x="609600" y="8636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Resources</a:t>
            </a:r>
          </a:p>
        </p:txBody>
      </p:sp>
      <p:sp>
        <p:nvSpPr>
          <p:cNvPr id="577" name="header-divider">
            <a:extLst xmlns:a="http://schemas.openxmlformats.org/drawingml/2006/main">
              <a:ext uri="{FF2B5EF4-FFF2-40B4-BE49-F238E27FC236}">
                <a16:creationId xmlns:a16="http://schemas.microsoft.com/office/drawing/2014/main" id="{B2966567-3547-4C4B-8082-54DE92D99565}"/>
              </a:ext>
            </a:extLst>
          </p:cNvPr>
          <p:cNvSpPr>
            <a:spLocks xmlns:a="http://schemas.openxmlformats.org/drawingml/2006/main"/>
          </p:cNvSpPr>
          <p:nvPr/>
        </p:nvSpPr>
        <p:spPr>
          <a:xfrm xmlns:a="http://schemas.openxmlformats.org/drawingml/2006/main">
            <a:off x="609600" y="15494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78" name="48-text-1">
            <a:extLst xmlns:a="http://schemas.openxmlformats.org/drawingml/2006/main">
              <a:ext uri="{FF2B5EF4-FFF2-40B4-BE49-F238E27FC236}">
                <a16:creationId xmlns:a16="http://schemas.microsoft.com/office/drawing/2014/main" id="{D74197A9-DF8D-47D3-A70F-B419AFB75DDD}"/>
              </a:ext>
            </a:extLst>
          </p:cNvPr>
          <p:cNvSpPr>
            <a:spLocks xmlns:a="http://schemas.openxmlformats.org/drawingml/2006/main"/>
          </p:cNvSpPr>
          <p:nvPr/>
        </p:nvSpPr>
        <p:spPr>
          <a:xfrm xmlns:a="http://schemas.openxmlformats.org/drawingml/2006/main">
            <a:off x="609600" y="1854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Chip Huyen, AI Engineering: Building Applications with Foundation Models.</a:t>
            </a:r>
          </a:p>
        </p:txBody>
      </p:sp>
      <p:sp>
        <p:nvSpPr>
          <p:cNvPr id="579" name="48-text-2">
            <a:extLst xmlns:a="http://schemas.openxmlformats.org/drawingml/2006/main">
              <a:ext uri="{FF2B5EF4-FFF2-40B4-BE49-F238E27FC236}">
                <a16:creationId xmlns:a16="http://schemas.microsoft.com/office/drawing/2014/main" id="{DDABC475-6BF6-4170-9A34-EF50DD7FF6F4}"/>
              </a:ext>
            </a:extLst>
          </p:cNvPr>
          <p:cNvSpPr>
            <a:spLocks xmlns:a="http://schemas.openxmlformats.org/drawingml/2006/main"/>
          </p:cNvSpPr>
          <p:nvPr/>
        </p:nvSpPr>
        <p:spPr>
          <a:xfrm xmlns:a="http://schemas.openxmlformats.org/drawingml/2006/main">
            <a:off x="609600" y="2171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2025.</a:t>
            </a:r>
          </a:p>
        </p:txBody>
      </p:sp>
      <p:sp>
        <p:nvSpPr>
          <p:cNvPr id="580" name="48-text-3">
            <a:extLst xmlns:a="http://schemas.openxmlformats.org/drawingml/2006/main">
              <a:ext uri="{FF2B5EF4-FFF2-40B4-BE49-F238E27FC236}">
                <a16:creationId xmlns:a16="http://schemas.microsoft.com/office/drawing/2014/main" id="{CD3E10C1-157E-4F58-93F4-74BEA7DC4C5F}"/>
              </a:ext>
            </a:extLst>
          </p:cNvPr>
          <p:cNvSpPr>
            <a:spLocks xmlns:a="http://schemas.openxmlformats.org/drawingml/2006/main"/>
          </p:cNvSpPr>
          <p:nvPr/>
        </p:nvSpPr>
        <p:spPr>
          <a:xfrm xmlns:a="http://schemas.openxmlformats.org/drawingml/2006/main">
            <a:off x="609600" y="2590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 engineering: "Building effective agents" (December 2024).</a:t>
            </a:r>
          </a:p>
        </p:txBody>
      </p:sp>
      <p:sp>
        <p:nvSpPr>
          <p:cNvPr id="581" name="48-text-4">
            <a:extLst xmlns:a="http://schemas.openxmlformats.org/drawingml/2006/main">
              <a:ext uri="{FF2B5EF4-FFF2-40B4-BE49-F238E27FC236}">
                <a16:creationId xmlns:a16="http://schemas.microsoft.com/office/drawing/2014/main" id="{0FD7459C-667E-49FD-B22C-739132C4BCDF}"/>
              </a:ext>
            </a:extLst>
          </p:cNvPr>
          <p:cNvSpPr>
            <a:spLocks xmlns:a="http://schemas.openxmlformats.org/drawingml/2006/main"/>
          </p:cNvSpPr>
          <p:nvPr/>
        </p:nvSpPr>
        <p:spPr>
          <a:xfrm xmlns:a="http://schemas.openxmlformats.org/drawingml/2006/main">
            <a:off x="609600" y="29083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"Effective context engineering for AI agents" (September 2025).</a:t>
            </a:r>
          </a:p>
        </p:txBody>
      </p:sp>
      <p:sp>
        <p:nvSpPr>
          <p:cNvPr id="582" name="48-text-5">
            <a:extLst xmlns:a="http://schemas.openxmlformats.org/drawingml/2006/main">
              <a:ext uri="{FF2B5EF4-FFF2-40B4-BE49-F238E27FC236}">
                <a16:creationId xmlns:a16="http://schemas.microsoft.com/office/drawing/2014/main" id="{1AB26109-4CF3-4624-A1D8-BE5C2071CEAC}"/>
              </a:ext>
            </a:extLst>
          </p:cNvPr>
          <p:cNvSpPr>
            <a:spLocks xmlns:a="http://schemas.openxmlformats.org/drawingml/2006/main"/>
          </p:cNvSpPr>
          <p:nvPr/>
        </p:nvSpPr>
        <p:spPr>
          <a:xfrm xmlns:a="http://schemas.openxmlformats.org/drawingml/2006/main">
            <a:off x="609600" y="3225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"Demystifying evals for AI agents" (January 2026).</a:t>
            </a:r>
          </a:p>
        </p:txBody>
      </p:sp>
      <p:sp>
        <p:nvSpPr>
          <p:cNvPr id="583" name="48-text-6">
            <a:extLst xmlns:a="http://schemas.openxmlformats.org/drawingml/2006/main">
              <a:ext uri="{FF2B5EF4-FFF2-40B4-BE49-F238E27FC236}">
                <a16:creationId xmlns:a16="http://schemas.microsoft.com/office/drawing/2014/main" id="{411ECCBF-8714-4ED2-BCC9-494611F40DAF}"/>
              </a:ext>
            </a:extLst>
          </p:cNvPr>
          <p:cNvSpPr>
            <a:spLocks xmlns:a="http://schemas.openxmlformats.org/drawingml/2006/main"/>
          </p:cNvSpPr>
          <p:nvPr/>
        </p:nvSpPr>
        <p:spPr>
          <a:xfrm xmlns:a="http://schemas.openxmlformats.org/drawingml/2006/main">
            <a:off x="609600" y="3644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OpenAI, "A practical guide to building agents" (2025).</a:t>
            </a:r>
          </a:p>
        </p:txBody>
      </p:sp>
      <p:sp>
        <p:nvSpPr>
          <p:cNvPr id="584" name="48-text-7">
            <a:extLst xmlns:a="http://schemas.openxmlformats.org/drawingml/2006/main">
              <a:ext uri="{FF2B5EF4-FFF2-40B4-BE49-F238E27FC236}">
                <a16:creationId xmlns:a16="http://schemas.microsoft.com/office/drawing/2014/main" id="{F37C2F4C-B01A-4DC8-AF80-945A062C9881}"/>
              </a:ext>
            </a:extLst>
          </p:cNvPr>
          <p:cNvSpPr>
            <a:spLocks xmlns:a="http://schemas.openxmlformats.org/drawingml/2006/main"/>
          </p:cNvSpPr>
          <p:nvPr/>
        </p:nvSpPr>
        <p:spPr>
          <a:xfrm xmlns:a="http://schemas.openxmlformats.org/drawingml/2006/main">
            <a:off x="609600" y="4064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"AI Evals: Everything You Need to Know," hamel.dev.</a:t>
            </a:r>
          </a:p>
        </p:txBody>
      </p:sp>
      <p:sp>
        <p:nvSpPr>
          <p:cNvPr id="585" name="48-text-8">
            <a:extLst xmlns:a="http://schemas.openxmlformats.org/drawingml/2006/main">
              <a:ext uri="{FF2B5EF4-FFF2-40B4-BE49-F238E27FC236}">
                <a16:creationId xmlns:a16="http://schemas.microsoft.com/office/drawing/2014/main" id="{A2471385-031F-4331-86FB-9B86403C4660}"/>
              </a:ext>
            </a:extLst>
          </p:cNvPr>
          <p:cNvSpPr>
            <a:spLocks xmlns:a="http://schemas.openxmlformats.org/drawingml/2006/main"/>
          </p:cNvSpPr>
          <p:nvPr/>
        </p:nvSpPr>
        <p:spPr>
          <a:xfrm xmlns:a="http://schemas.openxmlformats.org/drawingml/2006/main">
            <a:off x="609600" y="43815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Shreya Shankar and Hamel Husain, Evals for AI Engineers.</a:t>
            </a:r>
          </a:p>
        </p:txBody>
      </p:sp>
      <p:sp>
        <p:nvSpPr>
          <p:cNvPr id="586" name="48-text-9">
            <a:extLst xmlns:a="http://schemas.openxmlformats.org/drawingml/2006/main">
              <a:ext uri="{FF2B5EF4-FFF2-40B4-BE49-F238E27FC236}">
                <a16:creationId xmlns:a16="http://schemas.microsoft.com/office/drawing/2014/main" id="{6383941F-C237-4311-AB3E-ED02F28A1945}"/>
              </a:ext>
            </a:extLst>
          </p:cNvPr>
          <p:cNvSpPr>
            <a:spLocks xmlns:a="http://schemas.openxmlformats.org/drawingml/2006/main"/>
          </p:cNvSpPr>
          <p:nvPr/>
        </p:nvSpPr>
        <p:spPr>
          <a:xfrm xmlns:a="http://schemas.openxmlformats.org/drawingml/2006/main">
            <a:off x="609600" y="4699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October 2026.</a:t>
            </a:r>
          </a:p>
        </p:txBody>
      </p:sp>
      <p:sp>
        <p:nvSpPr>
          <p:cNvPr id="587" name="48-text-10">
            <a:extLst xmlns:a="http://schemas.openxmlformats.org/drawingml/2006/main">
              <a:ext uri="{FF2B5EF4-FFF2-40B4-BE49-F238E27FC236}">
                <a16:creationId xmlns:a16="http://schemas.microsoft.com/office/drawing/2014/main" id="{314AFDD5-6854-431D-BD81-29CBDB8882D5}"/>
              </a:ext>
            </a:extLst>
          </p:cNvPr>
          <p:cNvSpPr>
            <a:spLocks xmlns:a="http://schemas.openxmlformats.org/drawingml/2006/main"/>
          </p:cNvSpPr>
          <p:nvPr/>
        </p:nvSpPr>
        <p:spPr>
          <a:xfrm xmlns:a="http://schemas.openxmlformats.org/drawingml/2006/main">
            <a:off x="609600" y="51181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OWASP Top 10 for LLM Applications (2025)</a:t>
            </a:r>
          </a:p>
        </p:txBody>
      </p:sp>
      <p:sp>
        <p:nvSpPr>
          <p:cNvPr id="588" name="48-text-11">
            <a:extLst xmlns:a="http://schemas.openxmlformats.org/drawingml/2006/main">
              <a:ext uri="{FF2B5EF4-FFF2-40B4-BE49-F238E27FC236}">
                <a16:creationId xmlns:a16="http://schemas.microsoft.com/office/drawing/2014/main" id="{8F62B269-C30F-4BBD-BC1A-3159DD58E4D9}"/>
              </a:ext>
            </a:extLst>
          </p:cNvPr>
          <p:cNvSpPr>
            <a:spLocks xmlns:a="http://schemas.openxmlformats.org/drawingml/2006/main"/>
          </p:cNvSpPr>
          <p:nvPr/>
        </p:nvSpPr>
        <p:spPr>
          <a:xfrm xmlns:a="http://schemas.openxmlformats.org/drawingml/2006/main">
            <a:off x="609600" y="5435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for Agentic Applications (2026).</a:t>
            </a:r>
          </a:p>
        </p:txBody>
      </p:sp>
      <p:sp>
        <p:nvSpPr>
          <p:cNvPr id="589" name="48-text-12">
            <a:extLst xmlns:a="http://schemas.openxmlformats.org/drawingml/2006/main">
              <a:ext uri="{FF2B5EF4-FFF2-40B4-BE49-F238E27FC236}">
                <a16:creationId xmlns:a16="http://schemas.microsoft.com/office/drawing/2014/main" id="{4CC749A0-50DA-488E-99F1-373F78A73959}"/>
              </a:ext>
            </a:extLst>
          </p:cNvPr>
          <p:cNvSpPr>
            <a:spLocks xmlns:a="http://schemas.openxmlformats.org/drawingml/2006/main"/>
          </p:cNvSpPr>
          <p:nvPr/>
        </p:nvSpPr>
        <p:spPr>
          <a:xfrm xmlns:a="http://schemas.openxmlformats.org/drawingml/2006/main">
            <a:off x="609600" y="5854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OpenTelemetry GenAI semantic conventions.</a:t>
            </a:r>
          </a:p>
        </p:txBody>
      </p:sp>
      <p:sp>
        <p:nvSpPr>
          <p:cNvPr id="590" name="narrative-number">
            <a:extLst xmlns:a="http://schemas.openxmlformats.org/drawingml/2006/main">
              <a:ext uri="{FF2B5EF4-FFF2-40B4-BE49-F238E27FC236}">
                <a16:creationId xmlns:a16="http://schemas.microsoft.com/office/drawing/2014/main" id="{F05752B9-224B-4DFC-86E7-5C8D6A64173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48</a:t>
            </a:r>
          </a:p>
        </p:txBody>
      </p:sp>
    </p:spTree>
    <p:extLst>
      <p:ext uri="{BB962C8B-B14F-4D97-AF65-F5344CB8AC3E}">
        <p14:creationId xmlns:p14="http://schemas.microsoft.com/office/powerpoint/2010/main" val="2149707629"/>
      </p:ext>
    </p:extLst>
  </p:cSld>
</p:sld>
</file>

<file path=ppt/theme/theme1.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2026-09-16T23:33:46.4360000Z</dcterms:created>
  <dcterms:modified xsi:type="dcterms:W3CDTF">2026-09-16T23:33:46.4360000Z</dcterms:modified>
</coreProperties>
</file>