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d7aec060e9440b" /><Relationship Type="http://schemas.openxmlformats.org/officeDocument/2006/relationships/extended-properties" Target="/docProps/app.xml" Id="Rbdc3250b470b4115" /><Relationship Type="http://schemas.openxmlformats.org/officeDocument/2006/relationships/officeDocument" Target="/ppt/presentation.xml" Id="R038e71b0bc924976"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ad609ffe16604cb1"/>
    <p:sldMasterId xmlns:r="http://schemas.openxmlformats.org/officeDocument/2006/relationships" id="2147483650" r:id="R381fc670f3074341"/>
  </p:sldMasterIdLst>
  <p:notesMasterIdLst>
    <p:notesMasterId xmlns:r="http://schemas.openxmlformats.org/officeDocument/2006/relationships" r:id="Rf9f79fd6638048e4"/>
  </p:notesMasterIdLst>
  <p:sldIdLst>
    <p:sldId xmlns:r="http://schemas.openxmlformats.org/officeDocument/2006/relationships" id="256" r:id="R891a733edb2b493c"/>
    <p:sldId xmlns:r="http://schemas.openxmlformats.org/officeDocument/2006/relationships" id="257" r:id="R280d5f3c19cf4479"/>
    <p:sldId xmlns:r="http://schemas.openxmlformats.org/officeDocument/2006/relationships" id="258" r:id="Reafbd173006545ce"/>
    <p:sldId xmlns:r="http://schemas.openxmlformats.org/officeDocument/2006/relationships" id="259" r:id="R5d53bb1bb76c4a1b"/>
    <p:sldId xmlns:r="http://schemas.openxmlformats.org/officeDocument/2006/relationships" id="260" r:id="Refbce5e8a8674e56"/>
    <p:sldId xmlns:r="http://schemas.openxmlformats.org/officeDocument/2006/relationships" id="261" r:id="Rd023dd9867df4f12"/>
    <p:sldId xmlns:r="http://schemas.openxmlformats.org/officeDocument/2006/relationships" id="262" r:id="R22e7fadcf12c4902"/>
    <p:sldId xmlns:r="http://schemas.openxmlformats.org/officeDocument/2006/relationships" id="263" r:id="R931fb28d26814963"/>
    <p:sldId xmlns:r="http://schemas.openxmlformats.org/officeDocument/2006/relationships" id="264" r:id="Rb4dfda8c98424a37"/>
    <p:sldId xmlns:r="http://schemas.openxmlformats.org/officeDocument/2006/relationships" id="265" r:id="R0c9cff70082247f0"/>
    <p:sldId xmlns:r="http://schemas.openxmlformats.org/officeDocument/2006/relationships" id="266" r:id="Re3efcec2429345f8"/>
    <p:sldId xmlns:r="http://schemas.openxmlformats.org/officeDocument/2006/relationships" id="267" r:id="R399545d0d1934916"/>
    <p:sldId xmlns:r="http://schemas.openxmlformats.org/officeDocument/2006/relationships" id="268" r:id="Rdd6814d6ada8450b"/>
    <p:sldId xmlns:r="http://schemas.openxmlformats.org/officeDocument/2006/relationships" id="269" r:id="R6a69d33af2664365"/>
    <p:sldId xmlns:r="http://schemas.openxmlformats.org/officeDocument/2006/relationships" id="270" r:id="Ra1ef7e05a76b4926"/>
    <p:sldId xmlns:r="http://schemas.openxmlformats.org/officeDocument/2006/relationships" id="271" r:id="R519f4eb2403b4876"/>
    <p:sldId xmlns:r="http://schemas.openxmlformats.org/officeDocument/2006/relationships" id="272" r:id="R851cad51b6094e1e"/>
    <p:sldId xmlns:r="http://schemas.openxmlformats.org/officeDocument/2006/relationships" id="273" r:id="Rc7c8b1f020af4baa"/>
    <p:sldId xmlns:r="http://schemas.openxmlformats.org/officeDocument/2006/relationships" id="274" r:id="R955433443d354c72"/>
    <p:sldId xmlns:r="http://schemas.openxmlformats.org/officeDocument/2006/relationships" id="275" r:id="R342ff509995d40b5"/>
    <p:sldId xmlns:r="http://schemas.openxmlformats.org/officeDocument/2006/relationships" id="276" r:id="R6116de83e6424fc2"/>
    <p:sldId xmlns:r="http://schemas.openxmlformats.org/officeDocument/2006/relationships" id="277" r:id="R63140f381d5f4ac8"/>
    <p:sldId xmlns:r="http://schemas.openxmlformats.org/officeDocument/2006/relationships" id="278" r:id="R2b74008e177d42dd"/>
    <p:sldId xmlns:r="http://schemas.openxmlformats.org/officeDocument/2006/relationships" id="279" r:id="Rc2d6004a885148bb"/>
    <p:sldId xmlns:r="http://schemas.openxmlformats.org/officeDocument/2006/relationships" id="280" r:id="R9756e333d50041f1"/>
    <p:sldId xmlns:r="http://schemas.openxmlformats.org/officeDocument/2006/relationships" id="281" r:id="R94f3b3ee19cb4d84"/>
    <p:sldId xmlns:r="http://schemas.openxmlformats.org/officeDocument/2006/relationships" id="282" r:id="Rf636d8945d704176"/>
    <p:sldId xmlns:r="http://schemas.openxmlformats.org/officeDocument/2006/relationships" id="283" r:id="R5a3965e7375e4934"/>
    <p:sldId xmlns:r="http://schemas.openxmlformats.org/officeDocument/2006/relationships" id="284" r:id="R834fb2b5c99c44f2"/>
    <p:sldId xmlns:r="http://schemas.openxmlformats.org/officeDocument/2006/relationships" id="285" r:id="R88f7673ceb75456c"/>
    <p:sldId xmlns:r="http://schemas.openxmlformats.org/officeDocument/2006/relationships" id="286" r:id="Ref8a2c0b5fd44733"/>
    <p:sldId xmlns:r="http://schemas.openxmlformats.org/officeDocument/2006/relationships" id="287" r:id="Rda8e7bdbd47a4b3f"/>
    <p:sldId xmlns:r="http://schemas.openxmlformats.org/officeDocument/2006/relationships" id="288" r:id="R8ce4e1c20ff64602"/>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63aeafe3b1405e" /><Relationship Type="http://schemas.openxmlformats.org/officeDocument/2006/relationships/slideMaster" Target="/ppt/slideMasters/slideMaster1.xml" Id="Rad609ffe16604cb1" /><Relationship Type="http://schemas.openxmlformats.org/officeDocument/2006/relationships/slideMaster" Target="/ppt/slideMasters/slideMaster2.xml" Id="R381fc670f3074341" /><Relationship Type="http://schemas.openxmlformats.org/officeDocument/2006/relationships/notesMaster" Target="/ppt/notesMasters/notesMaster1.xml" Id="Rf9f79fd6638048e4" /><Relationship Type="http://schemas.openxmlformats.org/officeDocument/2006/relationships/presProps" Target="/ppt/presProps.xml" Id="R0cb49b78153b43d7" /><Relationship Type="http://schemas.openxmlformats.org/officeDocument/2006/relationships/tableStyles" Target="/ppt/tableStyles.xml" Id="Racf7a745955e4122" /><Relationship Type="http://schemas.openxmlformats.org/officeDocument/2006/relationships/slide" Target="/ppt/slides/slide1.xml" Id="R891a733edb2b493c" /><Relationship Type="http://schemas.openxmlformats.org/officeDocument/2006/relationships/slide" Target="/ppt/slides/slide2.xml" Id="R280d5f3c19cf4479" /><Relationship Type="http://schemas.openxmlformats.org/officeDocument/2006/relationships/slide" Target="/ppt/slides/slide3.xml" Id="Reafbd173006545ce" /><Relationship Type="http://schemas.openxmlformats.org/officeDocument/2006/relationships/slide" Target="/ppt/slides/slide4.xml" Id="R5d53bb1bb76c4a1b" /><Relationship Type="http://schemas.openxmlformats.org/officeDocument/2006/relationships/slide" Target="/ppt/slides/slide5.xml" Id="Refbce5e8a8674e56" /><Relationship Type="http://schemas.openxmlformats.org/officeDocument/2006/relationships/slide" Target="/ppt/slides/slide6.xml" Id="Rd023dd9867df4f12" /><Relationship Type="http://schemas.openxmlformats.org/officeDocument/2006/relationships/slide" Target="/ppt/slides/slide7.xml" Id="R22e7fadcf12c4902" /><Relationship Type="http://schemas.openxmlformats.org/officeDocument/2006/relationships/slide" Target="/ppt/slides/slide8.xml" Id="R931fb28d26814963" /><Relationship Type="http://schemas.openxmlformats.org/officeDocument/2006/relationships/slide" Target="/ppt/slides/slide9.xml" Id="Rb4dfda8c98424a37" /><Relationship Type="http://schemas.openxmlformats.org/officeDocument/2006/relationships/slide" Target="/ppt/slides/slide10.xml" Id="R0c9cff70082247f0" /><Relationship Type="http://schemas.openxmlformats.org/officeDocument/2006/relationships/slide" Target="/ppt/slides/slide11.xml" Id="Re3efcec2429345f8" /><Relationship Type="http://schemas.openxmlformats.org/officeDocument/2006/relationships/slide" Target="/ppt/slides/slide12.xml" Id="R399545d0d1934916" /><Relationship Type="http://schemas.openxmlformats.org/officeDocument/2006/relationships/slide" Target="/ppt/slides/slide13.xml" Id="Rdd6814d6ada8450b" /><Relationship Type="http://schemas.openxmlformats.org/officeDocument/2006/relationships/slide" Target="/ppt/slides/slide14.xml" Id="R6a69d33af2664365" /><Relationship Type="http://schemas.openxmlformats.org/officeDocument/2006/relationships/slide" Target="/ppt/slides/slide15.xml" Id="Ra1ef7e05a76b4926" /><Relationship Type="http://schemas.openxmlformats.org/officeDocument/2006/relationships/slide" Target="/ppt/slides/slide16.xml" Id="R519f4eb2403b4876" /><Relationship Type="http://schemas.openxmlformats.org/officeDocument/2006/relationships/slide" Target="/ppt/slides/slide17.xml" Id="R851cad51b6094e1e" /><Relationship Type="http://schemas.openxmlformats.org/officeDocument/2006/relationships/slide" Target="/ppt/slides/slide18.xml" Id="Rc7c8b1f020af4baa" /><Relationship Type="http://schemas.openxmlformats.org/officeDocument/2006/relationships/slide" Target="/ppt/slides/slide19.xml" Id="R955433443d354c72" /><Relationship Type="http://schemas.openxmlformats.org/officeDocument/2006/relationships/slide" Target="/ppt/slides/slide20.xml" Id="R342ff509995d40b5" /><Relationship Type="http://schemas.openxmlformats.org/officeDocument/2006/relationships/slide" Target="/ppt/slides/slide21.xml" Id="R6116de83e6424fc2" /><Relationship Type="http://schemas.openxmlformats.org/officeDocument/2006/relationships/slide" Target="/ppt/slides/slide22.xml" Id="R63140f381d5f4ac8" /><Relationship Type="http://schemas.openxmlformats.org/officeDocument/2006/relationships/slide" Target="/ppt/slides/slide23.xml" Id="R2b74008e177d42dd" /><Relationship Type="http://schemas.openxmlformats.org/officeDocument/2006/relationships/slide" Target="/ppt/slides/slide24.xml" Id="Rc2d6004a885148bb" /><Relationship Type="http://schemas.openxmlformats.org/officeDocument/2006/relationships/slide" Target="/ppt/slides/slide25.xml" Id="R9756e333d50041f1" /><Relationship Type="http://schemas.openxmlformats.org/officeDocument/2006/relationships/slide" Target="/ppt/slides/slide26.xml" Id="R94f3b3ee19cb4d84" /><Relationship Type="http://schemas.openxmlformats.org/officeDocument/2006/relationships/slide" Target="/ppt/slides/slide27.xml" Id="Rf636d8945d704176" /><Relationship Type="http://schemas.openxmlformats.org/officeDocument/2006/relationships/slide" Target="/ppt/slides/slide28.xml" Id="R5a3965e7375e4934" /><Relationship Type="http://schemas.openxmlformats.org/officeDocument/2006/relationships/slide" Target="/ppt/slides/slide29.xml" Id="R834fb2b5c99c44f2" /><Relationship Type="http://schemas.openxmlformats.org/officeDocument/2006/relationships/slide" Target="/ppt/slides/slide30.xml" Id="R88f7673ceb75456c" /><Relationship Type="http://schemas.openxmlformats.org/officeDocument/2006/relationships/slide" Target="/ppt/slides/slide31.xml" Id="Ref8a2c0b5fd44733" /><Relationship Type="http://schemas.openxmlformats.org/officeDocument/2006/relationships/slide" Target="/ppt/slides/slide32.xml" Id="Rda8e7bdbd47a4b3f" /><Relationship Type="http://schemas.openxmlformats.org/officeDocument/2006/relationships/slide" Target="/ppt/slides/slide33.xml" Id="R8ce4e1c20ff646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972211d5bf0a43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b897f63cbb43f5" /><Relationship Type="http://schemas.openxmlformats.org/officeDocument/2006/relationships/notesMaster" Target="/ppt/notesMasters/notesMaster1.xml" Id="R0703121fac344e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1665ddc50d475d" /><Relationship Type="http://schemas.openxmlformats.org/officeDocument/2006/relationships/notesMaster" Target="/ppt/notesMasters/notesMaster1.xml" Id="R77ddda58ce2e4a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4a575bcabb4176" /><Relationship Type="http://schemas.openxmlformats.org/officeDocument/2006/relationships/notesMaster" Target="/ppt/notesMasters/notesMaster1.xml" Id="R2e50dec81d78473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f9d38d5692446e" /><Relationship Type="http://schemas.openxmlformats.org/officeDocument/2006/relationships/notesMaster" Target="/ppt/notesMasters/notesMaster1.xml" Id="R0718e4c86fdf40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f8f0915c22c4e8c" /><Relationship Type="http://schemas.openxmlformats.org/officeDocument/2006/relationships/notesMaster" Target="/ppt/notesMasters/notesMaster1.xml" Id="Re1456bff8aa84e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b3b18be149435a" /><Relationship Type="http://schemas.openxmlformats.org/officeDocument/2006/relationships/notesMaster" Target="/ppt/notesMasters/notesMaster1.xml" Id="R5e28347beaba49d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3c28ebfa66c485c" /><Relationship Type="http://schemas.openxmlformats.org/officeDocument/2006/relationships/notesMaster" Target="/ppt/notesMasters/notesMaster1.xml" Id="R0ba60bb7c41d463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0b4d3488d942a6" /><Relationship Type="http://schemas.openxmlformats.org/officeDocument/2006/relationships/notesMaster" Target="/ppt/notesMasters/notesMaster1.xml" Id="Ra31a80f7dcfb4f10" /></Relationships>
</file>

<file path=ppt/notesSlides/_rels/notesSlide9.xml.rels>&#65279;<?xml version="1.0" encoding="utf-8"?><Relationships xmlns="http://schemas.openxmlformats.org/package/2006/relationships"><Relationship Type="http://schemas.openxmlformats.org/officeDocument/2006/relationships/slide" Target="/ppt/slides/slide9.xml" Id="R7dedd3af45ff40d5" /><Relationship Type="http://schemas.openxmlformats.org/officeDocument/2006/relationships/notesMaster" Target="/ppt/notesMasters/notesMaster1.xml" Id="R5adf338ac2ff41b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b977303cd1e409d" /><Relationship Type="http://schemas.openxmlformats.org/officeDocument/2006/relationships/notesMaster" Target="/ppt/notesMasters/notesMaster1.xml" Id="Rb3c1367c1f0d4bc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e3a291fa6544dea" /><Relationship Type="http://schemas.openxmlformats.org/officeDocument/2006/relationships/notesMaster" Target="/ppt/notesMasters/notesMaster1.xml" Id="R99cb305ecb0c454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8ec1ce5161b40d4" /><Relationship Type="http://schemas.openxmlformats.org/officeDocument/2006/relationships/notesMaster" Target="/ppt/notesMasters/notesMaster1.xml" Id="R7920df5f080a45a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48cc87aadcf40ef" /><Relationship Type="http://schemas.openxmlformats.org/officeDocument/2006/relationships/notesMaster" Target="/ppt/notesMasters/notesMaster1.xml" Id="R5b9d471c390f4fa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efed59a44b14776" /><Relationship Type="http://schemas.openxmlformats.org/officeDocument/2006/relationships/notesMaster" Target="/ppt/notesMasters/notesMaster1.xml" Id="R8b34eb3b5ce2475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544aeb58b5248a7" /><Relationship Type="http://schemas.openxmlformats.org/officeDocument/2006/relationships/notesMaster" Target="/ppt/notesMasters/notesMaster1.xml" Id="R0a834e7e34764bf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cb3b9f755ad48bf" /><Relationship Type="http://schemas.openxmlformats.org/officeDocument/2006/relationships/notesMaster" Target="/ppt/notesMasters/notesMaster1.xml" Id="R3c340f85c1e749c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422c3d272944f6d" /><Relationship Type="http://schemas.openxmlformats.org/officeDocument/2006/relationships/notesMaster" Target="/ppt/notesMasters/notesMaster1.xml" Id="Rd575006219e2467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688a025bcee47e0" /><Relationship Type="http://schemas.openxmlformats.org/officeDocument/2006/relationships/notesMaster" Target="/ppt/notesMasters/notesMaster1.xml" Id="Rd3470d5105e746c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1958ecd3641441f" /><Relationship Type="http://schemas.openxmlformats.org/officeDocument/2006/relationships/notesMaster" Target="/ppt/notesMasters/notesMaster1.xml" Id="Ra4940d88c5ad4ea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3d9b42cc7a74ef5" /><Relationship Type="http://schemas.openxmlformats.org/officeDocument/2006/relationships/notesMaster" Target="/ppt/notesMasters/notesMaster1.xml" Id="R7a181eca62e0462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be19b83aeee47bb" /><Relationship Type="http://schemas.openxmlformats.org/officeDocument/2006/relationships/notesMaster" Target="/ppt/notesMasters/notesMaster1.xml" Id="R8aa96cd3ddec46d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28d1a03139b4257" /><Relationship Type="http://schemas.openxmlformats.org/officeDocument/2006/relationships/notesMaster" Target="/ppt/notesMasters/notesMaster1.xml" Id="Rf1742676d2cb43c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aed76cc29a24337" /><Relationship Type="http://schemas.openxmlformats.org/officeDocument/2006/relationships/notesMaster" Target="/ppt/notesMasters/notesMaster1.xml" Id="Rbe0ee43629474fc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cf67fdea2b642b8" /><Relationship Type="http://schemas.openxmlformats.org/officeDocument/2006/relationships/notesMaster" Target="/ppt/notesMasters/notesMaster1.xml" Id="R56cba0d5d2234fd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7a9a0a9ffbb4378" /><Relationship Type="http://schemas.openxmlformats.org/officeDocument/2006/relationships/notesMaster" Target="/ppt/notesMasters/notesMaster1.xml" Id="Rbf1acf66f7e54d7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47521863a124b57" /><Relationship Type="http://schemas.openxmlformats.org/officeDocument/2006/relationships/notesMaster" Target="/ppt/notesMasters/notesMaster1.xml" Id="Rd182c4867bb649e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2ab8936b3ca421f" /><Relationship Type="http://schemas.openxmlformats.org/officeDocument/2006/relationships/notesMaster" Target="/ppt/notesMasters/notesMaster1.xml" Id="R0525f0aad9f9479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2c171278520410c" /><Relationship Type="http://schemas.openxmlformats.org/officeDocument/2006/relationships/notesMaster" Target="/ppt/notesMasters/notesMaster1.xml" Id="R9a70a802f81a4f5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0ffe61ffb6d4a8b" /><Relationship Type="http://schemas.openxmlformats.org/officeDocument/2006/relationships/notesMaster" Target="/ppt/notesMasters/notesMaster1.xml" Id="Rf71ded2399b6488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e989e029c0d4413" /><Relationship Type="http://schemas.openxmlformats.org/officeDocument/2006/relationships/notesMaster" Target="/ppt/notesMasters/notesMaster1.xml" Id="Rf713922f790041e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4bbb2a2b5494250" /><Relationship Type="http://schemas.openxmlformats.org/officeDocument/2006/relationships/notesMaster" Target="/ppt/notesMasters/notesMaster1.xml" Id="Rc7790a59e982498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cbb02f4e3a245ca" /><Relationship Type="http://schemas.openxmlformats.org/officeDocument/2006/relationships/notesMaster" Target="/ppt/notesMasters/notesMaster1.xml" Id="R258b730066204ae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222c37b543e4cc4" /><Relationship Type="http://schemas.openxmlformats.org/officeDocument/2006/relationships/notesMaster" Target="/ppt/notesMasters/notesMaster1.xml" Id="Ra50b7bd56f7349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01</a:t>
            </a:r>
          </a:p>
          <a:p xmlns:a="http://schemas.openxmlformats.org/drawingml/2006/main">
            <a:r>
              <a:t>Beat 1.1 Opener. Section 1. Time 1:00. Builds: 1.</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Title state. A greeting, nothing more.</a:t>
            </a:r>
          </a:p>
          <a:p xmlns:a="http://schemas.openxmlformats.org/drawingml/2006/main">
            <a:r>
              <a:t/>
            </a:r>
          </a:p>
          <a:p xmlns:a="http://schemas.openxmlformats.org/drawingml/2006/main">
            <a:r>
              <a:t>In June 2025, Andrej Karpathy put the whole problem in one line.</a:t>
            </a:r>
          </a:p>
          <a:p xmlns:a="http://schemas.openxmlformats.org/drawingml/2006/main">
            <a:r>
              <a:t/>
            </a:r>
          </a:p>
          <a:p xmlns:a="http://schemas.openxmlformats.org/drawingml/2006/main">
            <a:r>
              <a:t>[0:10] Build 1.</a:t>
            </a:r>
          </a:p>
          <a:p xmlns:a="http://schemas.openxmlformats.org/drawingml/2006/main">
            <a:r>
              <a:t/>
            </a:r>
          </a:p>
          <a:p xmlns:a="http://schemas.openxmlformats.org/drawingml/2006/main">
            <a:r>
              <a:t>**"Demo is works.any(), product is works.all()."**</a:t>
            </a:r>
          </a:p>
          <a:p xmlns:a="http://schemas.openxmlformats.org/drawingml/2006/main">
            <a:r>
              <a:t/>
            </a:r>
          </a:p>
          <a:p xmlns:a="http://schemas.openxmlformats.org/drawingml/2006/main">
            <a:r>
              <a:t>A demo works if any path through it works. A product works only if every path does.</a:t>
            </a:r>
          </a:p>
          <a:p xmlns:a="http://schemas.openxmlformats.org/drawingml/2006/main">
            <a:r>
              <a:t/>
            </a:r>
          </a:p>
          <a:p xmlns:a="http://schemas.openxmlformats.org/drawingml/2006/main">
            <a:r>
              <a:t>[0:25] **Everyone in this room has shipped a works.any() this week.** You opened a coding agent, described what you wanted, and it did it. And it was impressive.</a:t>
            </a:r>
          </a:p>
          <a:p xmlns:a="http://schemas.openxmlformats.org/drawingml/2006/main">
            <a:r>
              <a:t/>
            </a:r>
          </a:p>
          <a:p xmlns:a="http://schemas.openxmlformats.org/drawingml/2006/main">
            <a:r>
              <a:t>[0:40] **The distance between those two calls is what this talk is about.** It is the distance between using AI and engineering it.</a:t>
            </a:r>
          </a:p>
          <a:p xmlns:a="http://schemas.openxmlformats.org/drawingml/2006/main">
            <a:r>
              <a:t/>
            </a:r>
          </a:p>
          <a:p xmlns:a="http://schemas.openxmlformats.org/drawingml/2006/main">
            <a:r>
              <a:t>[1:00] Advance to slide 2.</a:t>
            </a:r>
          </a:p>
          <a:p xmlns:a="http://schemas.openxmlformats.org/drawingml/2006/main">
            <a:r>
              <a:t/>
            </a:r>
          </a:p>
          <a:p xmlns:a="http://schemas.openxmlformats.org/drawingml/2006/main">
            <a:r>
              <a:t>Cuttable if short on time: the gloss line "A demo works if any path through it works." Everything else stays.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Karpathy, "Software Is Changing (Again)," YC AI Startup School, June 17, 2025. Research §2 in `research/section-1.md`. Marked `[primary]`, quoted verbatim from the Latent Space transcript. No `[verify]` flag.</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Conference name and date on the title state, if wanted.</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02</a:t>
            </a:r>
          </a:p>
          <a:p xmlns:a="http://schemas.openxmlformats.org/drawingml/2006/main">
            <a:r>
              <a:t>Beat 1.2 Who is talking. Section 1. Time 0:30.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Three sentences, spoken, not read.</a:t>
            </a:r>
          </a:p>
          <a:p xmlns:a="http://schemas.openxmlformats.org/drawingml/2006/main">
            <a:r>
              <a:t/>
            </a:r>
          </a:p>
          <a:p xmlns:a="http://schemas.openxmlformats.org/drawingml/2006/main">
            <a:r>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t>[0:30] Advance to slide 3.</a:t>
            </a:r>
          </a:p>
          <a:p xmlns:a="http://schemas.openxmlformats.org/drawingml/2006/main">
            <a:r>
              <a:t/>
            </a:r>
          </a:p>
          <a:p xmlns:a="http://schemas.openxmlformats.org/drawingml/2006/main">
            <a:r>
              <a:t>Backup, not spoken: eight to ten concurrent AI and ML efforts; an 85% reduction in production ML deployment time. Both are on the public site if anyone asks what "production" means.</a:t>
            </a:r>
          </a:p>
          <a:p xmlns:a="http://schemas.openxmlformats.org/drawingml/2006/main">
            <a:r>
              <a:t/>
            </a:r>
          </a:p>
          <a:p xmlns:a="http://schemas.openxmlformats.org/drawingml/2006/main">
            <a:r>
              <a:t>**[your story #1, optional].** The moment a demo you built turned out not to be the product. It must show one concrete failure where a working path was not a working system. Thirty seconds.</a:t>
            </a:r>
          </a:p>
          <a:p xmlns:a="http://schemas.openxmlformats.org/drawingml/2006/main">
            <a:r>
              <a:t/>
            </a:r>
          </a:p>
          <a:p xmlns:a="http://schemas.openxmlformats.org/drawingml/2006/main">
            <a:r>
              <a:t>Timing note: this beat is budgeted at 0:30 for the bio alone. Telling the story here needs another 0:30 from somewhere in Section 1, and no Section 1 beat has that much backup material. The story fits inside 2.5 as the evals example, either as story #2 or in place of it. Recommendation: hold it for slide 16 unless the bio can be delivered in ten seconds.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sequenzia.com, read September 14, 2026: current role since 2022; "8–10 concurrent AI/ML efforts"; "500+ engineers" reached through agentic engineering enablement; "~85% deployment-time reduction." The three lines are the presenter's own claims about the presenter and need no external citation, but they must be true as spoken.</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Story #1: here, on slide 16, or dropped.</a:t>
            </a:r>
          </a:p>
          <a:p xmlns:a="http://schemas.openxmlformats.org/drawingml/2006/main">
            <a:r>
              <a:t>- Larger photo if the template wants it above 320 pixels.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03</a:t>
            </a:r>
          </a:p>
          <a:p xmlns:a="http://schemas.openxmlformats.org/drawingml/2006/main">
            <a:r>
              <a:t>Beat 1.3 The thesis. Section 1. Time 0:45.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Slide up. Read the two sentences, slowly, before anything else.</a:t>
            </a:r>
          </a:p>
          <a:p xmlns:a="http://schemas.openxmlformats.org/drawingml/2006/main">
            <a:r>
              <a:t/>
            </a:r>
          </a:p>
          <a:p xmlns:a="http://schemas.openxmlformats.org/drawingml/2006/main">
            <a:r>
              <a:t>**Using AI makes you an AI-enabled software engineer. Engineering systems that depend on AI makes you an AI engineer.**</a:t>
            </a:r>
          </a:p>
          <a:p xmlns:a="http://schemas.openxmlformats.org/drawingml/2006/main">
            <a:r>
              <a:t/>
            </a:r>
          </a:p>
          <a:p xmlns:a="http://schemas.openxmlformats.org/drawingml/2006/main">
            <a:r>
              <a:t>[0:08] This is not a new distinction. swyx describes three types of AI engineer: a software engineer enhanced by AI, a software engineer building AI products, and a software engineer that is itself an AI. **The coding agent is the first type. This talk is about the second.**</a:t>
            </a:r>
          </a:p>
          <a:p xmlns:a="http://schemas.openxmlformats.org/drawingml/2006/main">
            <a:r>
              <a:t/>
            </a:r>
          </a:p>
          <a:p xmlns:a="http://schemas.openxmlformats.org/drawingml/2006/main">
            <a:r>
              <a:t>[0:24] **Built on software engineering, not instead of it.** Carnegie Mellon's Software Engineering Institute defines the field as systems engineering, software engineering, computer science, and human-centered design, combined.</a:t>
            </a:r>
          </a:p>
          <a:p xmlns:a="http://schemas.openxmlformats.org/drawingml/2006/main">
            <a:r>
              <a:t/>
            </a:r>
          </a:p>
          <a:p xmlns:a="http://schemas.openxmlformats.org/drawingml/2006/main">
            <a:r>
              <a:t>[0:34] **And not machine learning engineering.** ML engineers build models. AI engineers build products around models someone else trained. Product-first, not model-first, in Chip Huyen's framing.</a:t>
            </a:r>
          </a:p>
          <a:p xmlns:a="http://schemas.openxmlformats.org/drawingml/2006/main">
            <a:r>
              <a:t/>
            </a:r>
          </a:p>
          <a:p xmlns:a="http://schemas.openxmlformats.org/drawingml/2006/main">
            <a:r>
              <a:t>[0:42] **The title is three years old. The discipline is what we are here to define.**</a:t>
            </a:r>
          </a:p>
          <a:p xmlns:a="http://schemas.openxmlformats.org/drawingml/2006/main">
            <a:r>
              <a:t/>
            </a:r>
          </a:p>
          <a:p xmlns:a="http://schemas.openxmlformats.org/drawingml/2006/main">
            <a:r>
              <a:t>[0:45] Advance to slide 4.</a:t>
            </a:r>
          </a:p>
          <a:p xmlns:a="http://schemas.openxmlformats.org/drawingml/2006/main">
            <a:r>
              <a:t/>
            </a:r>
          </a:p>
          <a:p xmlns:a="http://schemas.openxmlformats.org/drawingml/2006/main">
            <a:r>
              <a:t>Cuttable if short on time: the four disciplines in the SEI definition; "in Chip Huyen's framing."</a:t>
            </a:r>
          </a:p>
          <a:p xmlns:a="http://schemas.openxmlformats.org/drawingml/2006/main">
            <a:r>
              <a:t/>
            </a:r>
          </a:p>
          <a:p xmlns:a="http://schemas.openxmlformats.org/drawingml/2006/main">
            <a:r>
              <a:t>Backup for questions, not spoken: swyx's own name for the first type is the "AI enhanced engineer," which is this talk's "AI-enabled software engineer" under another name. If the room does not know swyx, add "who runs the AI Engineer conferences" after his name.</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swyx, Scrimba Podcast, January 2024, and RedMonk conversation, July 2025. Research §1 in `research/section-1.md`. Marked `[primary]`, both checked in a browser September 14, 2026. Paraphrased on stage; the verbatim quotes are in research for questions.</a:t>
            </a:r>
          </a:p>
          <a:p xmlns:a="http://schemas.openxmlformats.org/drawingml/2006/main">
            <a:r>
              <a:t>- swyx, "The Rise of the AI Engineer," June 30, 2023, for "three years old." Research §1. `[primary]`.</a:t>
            </a:r>
          </a:p>
          <a:p xmlns:a="http://schemas.openxmlformats.org/drawingml/2006/main">
            <a:r>
              <a:t>- Carnegie Mellon Software Engineering Institute definition. Research §1. `[primary]`, quoted verbatim.</a:t>
            </a:r>
          </a:p>
          <a:p xmlns:a="http://schemas.openxmlformats.org/drawingml/2006/main">
            <a:r>
              <a:t>- Chip Huyen, product-first framing, via Orosz's interview. Research §1. Paraphrase only. Her chapter 1 wording is `UNVERIFIED`, so do not put quote marks around a definition sentence.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04</a:t>
            </a:r>
          </a:p>
          <a:p xmlns:a="http://schemas.openxmlformats.org/drawingml/2006/main">
            <a:r>
              <a:t>Beat 1.4 Using AI vs engineering AI, and why it is a different discipline. Section 1. Time 1:45. Builds: 2.</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**In traditional software, the behavior is the code. In an AI system, part of the behavior is delegated to a probabilistic model:** context-sensitive, variable, and impossible to specify exhaustively in advance.</a:t>
            </a:r>
          </a:p>
          <a:p xmlns:a="http://schemas.openxmlformats.org/drawingml/2006/main">
            <a:r>
              <a:t/>
            </a:r>
          </a:p>
          <a:p xmlns:a="http://schemas.openxmlformats.org/drawingml/2006/main">
            <a:r>
              <a:t>[0:12] Look at the last three rows. On the left, you review every output. You are the verifier. The demo is the product, because you are there. On the right, nobody reviews every output. The system has to verify itself. And the demo is one path through a space of behaviors.</a:t>
            </a:r>
          </a:p>
          <a:p xmlns:a="http://schemas.openxmlformats.org/drawingml/2006/main">
            <a:r>
              <a:t/>
            </a:r>
          </a:p>
          <a:p xmlns:a="http://schemas.openxmlformats.org/drawingml/2006/main">
            <a:r>
              <a:t>[0:28] Anthropic's distinction is the useful one. Workflows are LLMs and tools orchestrated through predefined code paths. Agents are LLMs that dynamically direct their own processes and tool usage. **Agents are where the control flow itself depends on the model, so every guarantee you used to get from a code path has to be re-established another way. That is why agentic systems are the most demanding expression of this discipline, and why they are the next twenty-five minutes.**</a:t>
            </a:r>
          </a:p>
          <a:p xmlns:a="http://schemas.openxmlformats.org/drawingml/2006/main">
            <a:r>
              <a:t/>
            </a:r>
          </a:p>
          <a:p xmlns:a="http://schemas.openxmlformats.org/drawingml/2006/main">
            <a:r>
              <a:t>[0:54] Martin Fowler's framing: this is software joining the rest of engineering in a world of non-determinism. A structural engineer builds in tolerance for the factors she cannot measure. Now we do too.</a:t>
            </a:r>
          </a:p>
          <a:p xmlns:a="http://schemas.openxmlformats.org/drawingml/2006/main">
            <a:r>
              <a:t/>
            </a:r>
          </a:p>
          <a:p xmlns:a="http://schemas.openxmlformats.org/drawingml/2006/main">
            <a:r>
              <a:t>[1:06] One more thing changes, and it is subtle. Shankar and colleagues showed in a peer-reviewed study that people cannot fully write their evaluation criteria before they see outputs. **Grading outputs is how you discover the criteria.** They call it criteria drift. So the order you are used to, spec, then tests, then code, partly inverts. **You learn the spec by watching the system.**</a:t>
            </a:r>
          </a:p>
          <a:p xmlns:a="http://schemas.openxmlformats.org/drawingml/2006/main">
            <a:r>
              <a:t/>
            </a:r>
          </a:p>
          <a:p xmlns:a="http://schemas.openxmlformats.org/drawingml/2006/main">
            <a:r>
              <a:t>[1:30] Build 2.</a:t>
            </a:r>
          </a:p>
          <a:p xmlns:a="http://schemas.openxmlformats.org/drawingml/2006/main">
            <a:r>
              <a:t/>
            </a:r>
          </a:p>
          <a:p xmlns:a="http://schemas.openxmlformats.org/drawingml/2006/main">
            <a:r>
              <a:t>Three commitments for the rest of the talk. Each one comes back. **A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t>[1:40] **Using AI changes how you build. Engineering AI changes what you are responsible for.**</a:t>
            </a:r>
          </a:p>
          <a:p xmlns:a="http://schemas.openxmlformats.org/drawingml/2006/main">
            <a:r>
              <a:t/>
            </a:r>
          </a:p>
          <a:p xmlns:a="http://schemas.openxmlformats.org/drawingml/2006/main">
            <a:r>
              <a:t>[1:45] Advance to slide 5.</a:t>
            </a:r>
          </a:p>
          <a:p xmlns:a="http://schemas.openxmlformats.org/drawingml/2006/main">
            <a:r>
              <a:t/>
            </a:r>
          </a:p>
          <a:p xmlns:a="http://schemas.openxmlformats.org/drawingml/2006/main">
            <a:r>
              <a:t>Cuttable if short on time, in this order: the row walk at [0:12], since the audience can read it; the Fowler beat at [0:54]. Do not cut the agents line, criteria drift, or the commitments. Criteria drift is planted here and paid off on slide 16.</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"Building effective agents," December 2024. Workflow and agent definitions quoted verbatim. Research §5 in `research/section-1.md`. `[primary]`.</a:t>
            </a:r>
          </a:p>
          <a:p xmlns:a="http://schemas.openxmlformats.org/drawingml/2006/main">
            <a:r>
              <a:t>- Fowler, "Some thoughts on LLMs and Software Development," August 2025. Paraphrased. His text reads "a world on non-determinism," so quote it as written or paraphrase, never "of." Research §2. `[primary]`.</a:t>
            </a:r>
          </a:p>
          <a:p xmlns:a="http://schemas.openxmlformats.org/drawingml/2006/main">
            <a:r>
              <a:t>- Shankar, Zamfirescu-Pereira, Hartmann, Parameswaran, Arawjo, "Who Validates the Validators?" UIST 2024. "Grading outputs helps users define criteria" is from the abstract. Research §3. `[primary]`.</a:t>
            </a:r>
          </a:p>
          <a:p xmlns:a="http://schemas.openxmlformats.org/drawingml/2006/main">
            <a:r>
              <a:t>- The three commitments restate the published session description in the README.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05</a:t>
            </a:r>
          </a:p>
          <a:p xmlns:a="http://schemas.openxmlformats.org/drawingml/2006/main">
            <a:r>
              <a:t>Beat 1.5 What you will leave with, and the agenda. Section 1. Time 0:45.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Three things to leave with. **A conceptual map of the discipline. An honest sense of how much there is. And a roadmap for making the transition.**</a:t>
            </a:r>
          </a:p>
          <a:p xmlns:a="http://schemas.openxmlformats.org/drawingml/2006/main">
            <a:r>
              <a:t/>
            </a:r>
          </a:p>
          <a:p xmlns:a="http://schemas.openxmlformats.org/drawingml/2006/main">
            <a:r>
              <a:t>[0:10] The agenda. The map, two minutes. Six areas, twenty-three minutes: models, context and knowledge, tools, orchestration, verification and evals, and operating it. The transition, five minutes. Then fifteen minutes for your questions.</a:t>
            </a:r>
          </a:p>
          <a:p xmlns:a="http://schemas.openxmlformats.org/drawingml/2006/main">
            <a:r>
              <a:t/>
            </a:r>
          </a:p>
          <a:p xmlns:a="http://schemas.openxmlformats.org/drawingml/2006/main">
            <a:r>
              <a:t>[0:26] **For each of the six areas, the same three beats. What you touched in your coding agent. What someone engineered to make it work. And what changes when it is your agent.**</a:t>
            </a:r>
          </a:p>
          <a:p xmlns:a="http://schemas.openxmlformats.org/drawingml/2006/main">
            <a:r>
              <a:t/>
            </a:r>
          </a:p>
          <a:p xmlns:a="http://schemas.openxmlformats.org/drawingml/2006/main">
            <a:r>
              <a:t>[0:45] Advance to slide 6.</a:t>
            </a:r>
          </a:p>
          <a:p xmlns:a="http://schemas.openxmlformats.org/drawingml/2006/main">
            <a:r>
              <a:t/>
            </a:r>
          </a:p>
          <a:p xmlns:a="http://schemas.openxmlformats.org/drawingml/2006/main">
            <a:r>
              <a:t>Cuttable if short on time: reading the minutes aloud. Say "the map, six areas, the transition, then your questions" and let the slide carry the numbers.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session description in the README. The three takeaways paraphrase its closing sentence.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06</a:t>
            </a:r>
          </a:p>
          <a:p xmlns:a="http://schemas.openxmlformats.org/drawingml/2006/main">
            <a:r>
              <a:t>Beat 1.6 Transition. Section 1. Time 0:15. Builds: 0.</a:t>
            </a:r>
          </a:p>
          <a:p xmlns:a="http://schemas.openxmlformats.org/drawingml/2006/main">
            <a:r>
              <a:t>Static cursor fallback from the design brief.</a:t>
            </a:r>
          </a:p>
          <a:p xmlns:a="http://schemas.openxmlformats.org/drawingml/2006/main">
            <a:r>
              <a:t/>
            </a:r>
          </a:p>
          <a:p xmlns:a="http://schemas.openxmlformats.org/drawingml/2006/main">
            <a:r>
              <a:t/>
            </a:r>
          </a:p>
          <a:p xmlns:a="http://schemas.openxmlformats.org/drawingml/2006/main">
            <a:r>
              <a:t/>
            </a:r>
          </a:p>
          <a:p xmlns:a="http://schemas.openxmlformats.org/drawingml/2006/main">
            <a:r>
              <a:t>[0:00] Let the terminal sit for a moment. Then:</a:t>
            </a:r>
          </a:p>
          <a:p xmlns:a="http://schemas.openxmlformats.org/drawingml/2006/main">
            <a:r>
              <a:t/>
            </a:r>
          </a:p>
          <a:p xmlns:a="http://schemas.openxmlformats.org/drawingml/2006/main">
            <a:r>
              <a:t>**Let's open up the tool you used this morning.**</a:t>
            </a:r>
          </a:p>
          <a:p xmlns:a="http://schemas.openxmlformats.org/drawingml/2006/main">
            <a:r>
              <a:t/>
            </a:r>
          </a:p>
          <a:p xmlns:a="http://schemas.openxmlformats.org/drawingml/2006/main">
            <a:r>
              <a:t>[0:15] Advance to slide 7.</a:t>
            </a:r>
          </a:p>
          <a:p xmlns:a="http://schemas.openxmlformats.org/drawingml/2006/main">
            <a:r>
              <a:t/>
            </a:r>
          </a:p>
          <a:p xmlns:a="http://schemas.openxmlformats.org/drawingml/2006/main">
            <a:r>
              <a:t>The fifteen seconds is deliberate. It is the breath between the five-minute setup and the twenty-five-minute body. Do not fill it.</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None.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Confirm the deck template can render a full-screen terminal frame. If not, use the text fallback.</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07</a:t>
            </a:r>
          </a:p>
          <a:p xmlns:a="http://schemas.openxmlformats.org/drawingml/2006/main">
            <a:r>
              <a:t>Beat 2.0 The map. Section 2. Time 2:00. Builds: 4 highlights, optional.</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Here is the whole discipline on one slide. We will walk it from the inside out.</a:t>
            </a:r>
          </a:p>
          <a:p xmlns:a="http://schemas.openxmlformats.org/drawingml/2006/main">
            <a:r>
              <a:t/>
            </a:r>
          </a:p>
          <a:p xmlns:a="http://schemas.openxmlformats.org/drawingml/2006/main">
            <a:r>
              <a:t>[0:08] Build 1, the model. At the center, an agent is a model plus a harness. The line that stuck this spring: **"If you're not the model, you're the harness."**</a:t>
            </a:r>
          </a:p>
          <a:p xmlns:a="http://schemas.openxmlformats.org/drawingml/2006/main">
            <a:r>
              <a:t/>
            </a:r>
          </a:p>
          <a:p xmlns:a="http://schemas.openxmlformats.org/drawingml/2006/main">
            <a:r>
              <a:t>[0:20] Build 2, the harness. What is a harness? OpenAI's definition, from last month. An agent "needs a way to understand a task, maintain context over time, inspect relevant information, call tools, expose progress, handle failures, request human approval when necessary, and return a useful result. That surrounding execution system is the harness."</a:t>
            </a:r>
          </a:p>
          <a:p xmlns:a="http://schemas.openxmlformats.org/drawingml/2006/main">
            <a:r>
              <a:t/>
            </a:r>
          </a:p>
          <a:p xmlns:a="http://schemas.openxmlformats.org/drawingml/2006/main">
            <a:r>
              <a:t>[0:45] **Four layers.** The model, which decides what to do. The harness around it: instructions, context and memory, tools, orchestration, guardrails, verification.</a:t>
            </a:r>
          </a:p>
          <a:p xmlns:a="http://schemas.openxmlformats.org/drawingml/2006/main">
            <a:r>
              <a:t/>
            </a:r>
          </a:p>
          <a:p xmlns:a="http://schemas.openxmlformats.org/drawingml/2006/main">
            <a:r>
              <a:t>[1:00] Build 3, per-run services. The platform services every run draws on: identity, security, data and knowledge.</a:t>
            </a:r>
          </a:p>
          <a:p xmlns:a="http://schemas.openxmlformats.org/drawingml/2006/main">
            <a:r>
              <a:t/>
            </a:r>
          </a:p>
          <a:p xmlns:a="http://schemas.openxmlformats.org/drawingml/2006/main">
            <a:r>
              <a:t>[1:08] Build 4, across runs. And the services that let you learn from and control many runs: observability, evaluations, governance.</a:t>
            </a:r>
          </a:p>
          <a:p xmlns:a="http://schemas.openxmlformats.org/drawingml/2006/main">
            <a:r>
              <a:t/>
            </a:r>
          </a:p>
          <a:p xmlns:a="http://schemas.openxmlformats.org/drawingml/2006/main">
            <a:r>
              <a:t>[1:16] Full brightness. "Harness engineering" is probably the phrase you have heard most since spring. It maps onto this picture. **Every box on it exists inside the coding agent you used this morning. Someone built each one. We are going to take six of them apart.**</a:t>
            </a:r>
          </a:p>
          <a:p xmlns:a="http://schemas.openxmlformats.org/drawingml/2006/main">
            <a:r>
              <a:t/>
            </a:r>
          </a:p>
          <a:p xmlns:a="http://schemas.openxmlformats.org/drawingml/2006/main">
            <a:r>
              <a:t>[1:35] For each: what you touched, what someone engineered, and what changes when it is your agent.</a:t>
            </a:r>
          </a:p>
          <a:p xmlns:a="http://schemas.openxmlformats.org/drawingml/2006/main">
            <a:r>
              <a:t/>
            </a:r>
          </a:p>
          <a:p xmlns:a="http://schemas.openxmlformats.org/drawingml/2006/main">
            <a:r>
              <a:t>[1:45] **Agent equals model plus harness. Everything that is not the model is what you engineer.**</a:t>
            </a:r>
          </a:p>
          <a:p xmlns:a="http://schemas.openxmlformats.org/drawingml/2006/main">
            <a:r>
              <a:t/>
            </a:r>
          </a:p>
          <a:p xmlns:a="http://schemas.openxmlformats.org/drawingml/2006/main">
            <a:r>
              <a:t>[2:00] Advance to slide 8.</a:t>
            </a:r>
          </a:p>
          <a:p xmlns:a="http://schemas.openxmlformats.org/drawingml/2006/main">
            <a:r>
              <a:t/>
            </a:r>
          </a:p>
          <a:p xmlns:a="http://schemas.openxmlformats.org/drawingml/2006/main">
            <a:r>
              <a:t>Optional, if there is slack: after build 4, point at the top and bottom of the run box. A goal comes in from a user, a trigger, or a schedule. The agent runs until a stopping condition is met. Who writes the stopping condition? You do. That is slide 15.</a:t>
            </a:r>
          </a:p>
          <a:p xmlns:a="http://schemas.openxmlformats.org/drawingml/2006/main">
            <a:r>
              <a:t/>
            </a:r>
          </a:p>
          <a:p xmlns:a="http://schemas.openxmlformats.org/drawingml/2006/main">
            <a:r>
              <a:t>Cuttable if short on time: none of the bold. The OpenAI definition can be shortened to its last sentence, "That surrounding execution system is the harness," with the verb list carried by the diagram.</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Osmani, "Agent Harness Engineering," April 2026, quoting Viv Trivedy: "Agent = Model + Harness. If you're not the model, you're the harness." Research §0 in `research/section-2.md`. `[primary]`. The line is Trivedy's; Osmani spread it. If asked who said it, say so.</a:t>
            </a:r>
          </a:p>
          <a:p xmlns:a="http://schemas.openxmlformats.org/drawingml/2006/main">
            <a:r>
              <a:t>- OpenAI, "Codex as a platform," August 2026. Definition quoted verbatim. Research §0. `[primary]`.</a:t>
            </a:r>
          </a:p>
          <a:p xmlns:a="http://schemas.openxmlformats.org/drawingml/2006/main">
            <a:r>
              <a:t>- "Since spring" for harness engineering: OpenAI's February 2026 post, Osmani in April, OpenAI's August definition. Research §7.</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Whether the deck tool can do the four highlight builds on this image. If it imports SVG, each region can be dimmed by adjusting opacity on its group.</a:t>
            </a:r>
          </a:p>
          <a:p xmlns:a="http://schemas.openxmlformats.org/drawingml/2006/main">
            <a:r>
              <a:t>- Review the landscape SVG's colors and type against the deck template once one is chosen.</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a:p xmlns:a="http://schemas.openxmlformats.org/drawingml/2006/main">
            <a:r>
              <a:t>https://blog.modelcontextprotocol.io/posts/2026-07-28/</a:t>
            </a:r>
          </a:p>
          <a:p xmlns:a="http://schemas.openxmlformats.org/drawingml/2006/main">
            <a:r>
              <a:t>https://en.wikipedia.org/wiki/OpenClaw</a:t>
            </a:r>
          </a:p>
          <a:p xmlns:a="http://schemas.openxmlformats.org/drawingml/2006/main">
            <a:r>
              <a:t>https://engineering.zalando.com/posts/2026/08/agentic-engineering-at-zalando-a-snapshot.html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08</a:t>
            </a:r>
          </a:p>
          <a:p xmlns:a="http://schemas.openxmlformats.org/drawingml/2006/main">
            <a:r>
              <a:t>Beat 2.1 Models, first half. Section 2. Time 1:00 of the beat's 3:30; slide 9 takes 2:30. Builds: 2.</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You have used the model picker. In Devin Desktop it pops out a window, and there is a slider for reasoning effort, with the price per level right next to it. In Codex it is `/model`, and it sets the reasoning effort along with the model. **That slider is a cost and latency dial.** One layer down, Codex's config lets plan mode run at a different effort and subagents run on a different model. **That is model routing, shipped as a setting. Most of you have used routing without ever calling it that.**</a:t>
            </a:r>
          </a:p>
          <a:p xmlns:a="http://schemas.openxmlformats.org/drawingml/2006/main">
            <a:r>
              <a:t/>
            </a:r>
          </a:p>
          <a:p xmlns:a="http://schemas.openxmlformats.org/drawingml/2006/main">
            <a:r>
              <a:t>[0:30] Build 2.</a:t>
            </a:r>
          </a:p>
          <a:p xmlns:a="http://schemas.openxmlformats.org/drawingml/2006/main">
            <a:r>
              <a:t/>
            </a:r>
          </a:p>
          <a:p xmlns:a="http://schemas.openxmlformats.org/drawingml/2006/main">
            <a:r>
              <a:t>Behind the picker, someone engineered five things. The vendor chose the default. Tuned prompts and tool descriptions per model. Built failover for when a model is overloaded. Absorbed every price change. And silently migrated you off every model that got retired.</a:t>
            </a:r>
          </a:p>
          <a:p xmlns:a="http://schemas.openxmlformats.org/drawingml/2006/main">
            <a:r>
              <a:t/>
            </a:r>
          </a:p>
          <a:p xmlns:a="http://schemas.openxmlformats.org/drawingml/2006/main">
            <a:r>
              <a:t>[0:46] Callout.</a:t>
            </a:r>
          </a:p>
          <a:p xmlns:a="http://schemas.openxmlformats.org/drawingml/2006/main">
            <a:r>
              <a:t/>
            </a:r>
          </a:p>
          <a:p xmlns:a="http://schemas.openxmlformats.org/drawingml/2006/main">
            <a:r>
              <a:t>**Anthropic retired seven models this year. The latest was August 5. Every one of those migrations happened behind a picker,** and if you were on one of them, you noticed only that the list changed.</a:t>
            </a:r>
          </a:p>
          <a:p xmlns:a="http://schemas.openxmlformats.org/drawingml/2006/main">
            <a:r>
              <a:t/>
            </a:r>
          </a:p>
          <a:p xmlns:a="http://schemas.openxmlformats.org/drawingml/2006/main">
            <a:r>
              <a:t>[1:00] Advance to slide 9.</a:t>
            </a:r>
          </a:p>
          <a:p xmlns:a="http://schemas.openxmlformats.org/drawingml/2006/main">
            <a:r>
              <a:t/>
            </a:r>
          </a:p>
          <a:p xmlns:a="http://schemas.openxmlformats.org/drawingml/2006/main">
            <a:r>
              <a:t>Cuttable if short on time: the "one layer down" sentence about Codex's config; "with the price per level right next to it" if the screenshot does not show it. The five engineered items should be read, not summarized; they are the list the audience inherits on slide 9.</a:t>
            </a:r>
          </a:p>
          <a:p xmlns:a="http://schemas.openxmlformats.org/drawingml/2006/main">
            <a:r>
              <a:t/>
            </a:r>
          </a:p>
          <a:p xmlns:a="http://schemas.openxmlformats.org/drawingml/2006/main">
            <a:r>
              <a:t>Backup for questions, not spoken: Devin CLI has `/model` and `/fast` for the same choices from the terminal, and added Fusion on September 11, a lead model for planning and review paired with a cheaper sidekick for execution. Left off the slide because it is six days old and most of the room will not know it.</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Devin Desktop changelog: "Windsurf is now Devin Desktop," v3.0.12, June 2, 2026. Cascade plugin changelog: four reasoning efforts for GPT-5.3-Codex (February 2026); GPT-5.4 billed from "No Reasoning: 1x credits" to "Extra High Reasoning: 8x credits" (March 2026); "The model picker now shows token pricing information directly" (April 2026). Research §1 in `research/section-2.md`. `[primary]`, checked in a browser September 14, 2026. The pop-out and slider are the presenter's first-hand observation; the screenshot is the evidence.</a:t>
            </a:r>
          </a:p>
          <a:p xmlns:a="http://schemas.openxmlformats.org/drawingml/2006/main">
            <a:r>
              <a:t>- Codex CLI slash commands and config reference. `/model` "Choose the active model (and reasoning effort, when available)"; `model_reasoning_effort`; `plan_mode_reasoning_effort`; `agents.default_subagent_model`. Research §1. `[primary]`, checked September 14, 2026.</a:t>
            </a:r>
          </a:p>
          <a:p xmlns:a="http://schemas.openxmlformats.org/drawingml/2006/main">
            <a:r>
              <a:t>- Anthropic model deprecations page. Seven retirements dated in 2026: Opus 3 (January 5), Sonnet 3.7 and Haiku 3.5 (February 19), Haiku 3 (April 20), Sonnet 4 and Opus 4 (June 15), Opus 4.1 (August 5). Research §1.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Take the two screenshots the week of the talk. Check whether the Devin Desktop pop-out shows the credit multiplier per level in the crop; if not, drop that phrase from the talk track.</a:t>
            </a:r>
          </a:p>
          <a:p xmlns:a="http://schemas.openxmlformats.org/drawingml/2006/main">
            <a:r>
              <a:t>- Confirm Codex's `/model` still shows reasoning effort that week. If it changed, the routing point stands; swap the command.</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https://arxiv.org/abs/2307.09009</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08b</a:t>
            </a:r>
          </a:p>
          <a:p xmlns:a="http://schemas.openxmlformats.org/drawingml/2006/main">
            <a:r>
              <a:t>Beat 2.1 Models, first half. Section 2. Time 1:00 of the beat's 3:30; slide 9 takes 2:30. Builds: 2.</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You have used the model picker. In Devin Desktop it pops out a window, and there is a slider for reasoning effort, with the price per level right next to it. In Codex it is `/model`, and it sets the reasoning effort along with the model. **That slider is a cost and latency dial.** One layer down, Codex's config lets plan mode run at a different effort and subagents run on a different model. **That is model routing, shipped as a setting. Most of you have used routing without ever calling it that.**</a:t>
            </a:r>
          </a:p>
          <a:p xmlns:a="http://schemas.openxmlformats.org/drawingml/2006/main">
            <a:r>
              <a:t/>
            </a:r>
          </a:p>
          <a:p xmlns:a="http://schemas.openxmlformats.org/drawingml/2006/main">
            <a:r>
              <a:t>[0:30] Build 2.</a:t>
            </a:r>
          </a:p>
          <a:p xmlns:a="http://schemas.openxmlformats.org/drawingml/2006/main">
            <a:r>
              <a:t/>
            </a:r>
          </a:p>
          <a:p xmlns:a="http://schemas.openxmlformats.org/drawingml/2006/main">
            <a:r>
              <a:t>Behind the picker, someone engineered five things. The vendor chose the default. Tuned prompts and tool descriptions per model. Built failover for when a model is overloaded. Absorbed every price change. And silently migrated you off every model that got retired.</a:t>
            </a:r>
          </a:p>
          <a:p xmlns:a="http://schemas.openxmlformats.org/drawingml/2006/main">
            <a:r>
              <a:t/>
            </a:r>
          </a:p>
          <a:p xmlns:a="http://schemas.openxmlformats.org/drawingml/2006/main">
            <a:r>
              <a:t>[0:46] Callout.</a:t>
            </a:r>
          </a:p>
          <a:p xmlns:a="http://schemas.openxmlformats.org/drawingml/2006/main">
            <a:r>
              <a:t/>
            </a:r>
          </a:p>
          <a:p xmlns:a="http://schemas.openxmlformats.org/drawingml/2006/main">
            <a:r>
              <a:t>**Anthropic retired seven models this year. The latest was August 5. Every one of those migrations happened behind a picker,** and if you were on one of them, you noticed only that the list changed.</a:t>
            </a:r>
          </a:p>
          <a:p xmlns:a="http://schemas.openxmlformats.org/drawingml/2006/main">
            <a:r>
              <a:t/>
            </a:r>
          </a:p>
          <a:p xmlns:a="http://schemas.openxmlformats.org/drawingml/2006/main">
            <a:r>
              <a:t>[1:00] Advance to slide 9.</a:t>
            </a:r>
          </a:p>
          <a:p xmlns:a="http://schemas.openxmlformats.org/drawingml/2006/main">
            <a:r>
              <a:t/>
            </a:r>
          </a:p>
          <a:p xmlns:a="http://schemas.openxmlformats.org/drawingml/2006/main">
            <a:r>
              <a:t>Cuttable if short on time: the "one layer down" sentence about Codex's config; "with the price per level right next to it" if the screenshot does not show it. The five engineered items should be read, not summarized; they are the list the audience inherits on slide 9.</a:t>
            </a:r>
          </a:p>
          <a:p xmlns:a="http://schemas.openxmlformats.org/drawingml/2006/main">
            <a:r>
              <a:t/>
            </a:r>
          </a:p>
          <a:p xmlns:a="http://schemas.openxmlformats.org/drawingml/2006/main">
            <a:r>
              <a:t>Backup for questions, not spoken: Devin CLI has `/model` and `/fast` for the same choices from the terminal, and added Fusion on September 11, a lead model for planning and review paired with a cheaper sidekick for execution. Left off the slide because it is six days old and most of the room will not know it.</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Devin Desktop changelog: "Windsurf is now Devin Desktop," v3.0.12, June 2, 2026. Cascade plugin changelog: four reasoning efforts for GPT-5.3-Codex (February 2026); GPT-5.4 billed from "No Reasoning: 1x credits" to "Extra High Reasoning: 8x credits" (March 2026); "The model picker now shows token pricing information directly" (April 2026). Research §1 in `research/section-2.md`. `[primary]`, checked in a browser September 14, 2026. The pop-out and slider are the presenter's first-hand observation; the screenshot is the evidence.</a:t>
            </a:r>
          </a:p>
          <a:p xmlns:a="http://schemas.openxmlformats.org/drawingml/2006/main">
            <a:r>
              <a:t>- Codex CLI slash commands and config reference. `/model` "Choose the active model (and reasoning effort, when available)"; `model_reasoning_effort`; `plan_mode_reasoning_effort`; `agents.default_subagent_model`. Research §1. `[primary]`, checked September 14, 2026.</a:t>
            </a:r>
          </a:p>
          <a:p xmlns:a="http://schemas.openxmlformats.org/drawingml/2006/main">
            <a:r>
              <a:t>- Anthropic model deprecations page. Seven retirements dated in 2026: Opus 3 (January 5), Sonnet 3.7 and Haiku 3.5 (February 19), Haiku 3 (April 20), Sonnet 4 and Opus 4 (June 15), Opus 4.1 (August 5). Research §1.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Take the two screenshots the week of the talk. Check whether the Devin Desktop pop-out shows the credit multiplier per level in the crop; if not, drop that phrase from the talk track.</a:t>
            </a:r>
          </a:p>
          <a:p xmlns:a="http://schemas.openxmlformats.org/drawingml/2006/main">
            <a:r>
              <a:t>- Confirm Codex's `/model` still shows reasoning effort that week. If it changed, the routing point stands; swap the command.</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https://arxiv.org/abs/2307.09009</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09</a:t>
            </a:r>
          </a:p>
          <a:p xmlns:a="http://schemas.openxmlformats.org/drawingml/2006/main">
            <a:r>
              <a:t>Beat 2.1 Models, second half. Section 2. Time 2:30 of the beat's 3:30; slide 8 took 1:00. Builds: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Title up.</a:t>
            </a:r>
          </a:p>
          <a:p xmlns:a="http://schemas.openxmlformats.org/drawingml/2006/main">
            <a:r>
              <a:t/>
            </a:r>
          </a:p>
          <a:p xmlns:a="http://schemas.openxmlformats.org/drawingml/2006/main">
            <a:r>
              <a:t>When it is your agent, the model is a component you select, measure, and replace.</a:t>
            </a:r>
          </a:p>
          <a:p xmlns:a="http://schemas.openxmlformats.org/drawingml/2006/main">
            <a:r>
              <a:t/>
            </a:r>
          </a:p>
          <a:p xmlns:a="http://schemas.openxmlformats.org/drawingml/2006/main">
            <a:r>
              <a:t>[0:05] Build 1.</a:t>
            </a:r>
          </a:p>
          <a:p xmlns:a="http://schemas.openxmlformats.org/drawingml/2006/main">
            <a:r>
              <a:t/>
            </a:r>
          </a:p>
          <a:p xmlns:a="http://schemas.openxmlformats.org/drawingml/2006/main">
            <a:r>
              <a:t>Select. Six axes. Capability on your tasks, not on a leaderboard. Cost per completed task, not per token. Latency at p95. Context window. Tool-use reliability. And data residency, which in an enterprise can override all the others.</a:t>
            </a:r>
          </a:p>
          <a:p xmlns:a="http://schemas.openxmlformats.org/drawingml/2006/main">
            <a:r>
              <a:t/>
            </a:r>
          </a:p>
          <a:p xmlns:a="http://schemas.openxmlformats.org/drawingml/2006/main">
            <a:r>
              <a:t>[0:23] Build 2.</a:t>
            </a:r>
          </a:p>
          <a:p xmlns:a="http://schemas.openxmlformats.org/drawingml/2006/main">
            <a:r>
              <a:t/>
            </a:r>
          </a:p>
          <a:p xmlns:a="http://schemas.openxmlformats.org/drawingml/2006/main">
            <a:r>
              <a:t>Measure. A public benchmark measures a population you did not choose, on a harness you do not control, reported by a party with an interest in the result. Your eval suite measures your traffic. Hold that thought for the evals section.</a:t>
            </a:r>
          </a:p>
          <a:p xmlns:a="http://schemas.openxmlformats.org/drawingml/2006/main">
            <a:r>
              <a:t/>
            </a:r>
          </a:p>
          <a:p xmlns:a="http://schemas.openxmlformats.org/drawingml/2006/main">
            <a:r>
              <a:t>[0:40] Build 3.</a:t>
            </a:r>
          </a:p>
          <a:p xmlns:a="http://schemas.openxmlformats.org/drawingml/2006/main">
            <a:r>
              <a:t/>
            </a:r>
          </a:p>
          <a:p xmlns:a="http://schemas.openxmlformats.org/drawingml/2006/main">
            <a:r>
              <a:t>Replace. Models expire. Anthropic promises sixty days' notice; the windows observed this year were 61 and 62 days. OpenAI has twenty-plus models shutting down between October and December. So you pin, and there are exactly two ways. **A dated snapshot buys reproducibility and an expiry date. An alias buys silent upgrades and silent drift.** The canonical drift paper: **GPT-4's accuracy on a prime-number task fell from 84% to 51% between March and June 2023, on the same questions.**</a:t>
            </a:r>
          </a:p>
          <a:p xmlns:a="http://schemas.openxmlformats.org/drawingml/2006/main">
            <a:r>
              <a:t/>
            </a:r>
          </a:p>
          <a:p xmlns:a="http://schemas.openxmlformats.org/drawingml/2006/main">
            <a:r>
              <a:t>[1:14] Build 4.</a:t>
            </a:r>
          </a:p>
          <a:p xmlns:a="http://schemas.openxmlformats.org/drawingml/2006/main">
            <a:r>
              <a:t/>
            </a:r>
          </a:p>
          <a:p xmlns:a="http://schemas.openxmlformats.org/drawingml/2006/main">
            <a:r>
              <a:t>Route. LangChain measured this in August. Across 145 multi-step agent tasks, **only 7% of calls needed the frontier model.** Routing cut cost per task by about 70 percent at a six-point accuracy cost. And there is a break-even rule: routing only pays when the price gap between models exceeds the router's own cost.</a:t>
            </a:r>
          </a:p>
          <a:p xmlns:a="http://schemas.openxmlformats.org/drawingml/2006/main">
            <a:r>
              <a:t/>
            </a:r>
          </a:p>
          <a:p xmlns:a="http://schemas.openxmlformats.org/drawingml/2006/main">
            <a:r>
              <a:t>[1:36] Build 5.</a:t>
            </a:r>
          </a:p>
          <a:p xmlns:a="http://schemas.openxmlformats.org/drawingml/2006/main">
            <a:r>
              <a:t/>
            </a:r>
          </a:p>
          <a:p xmlns:a="http://schemas.openxmlformats.org/drawingml/2006/main">
            <a:r>
              <a:t>The pitfall: treating the model as a fixed dependency. **A hardcoded model ID with no eval suite behind it.** When the sixty-day email arrives, you have a replacement you have never measured and no way to tell whether it is better or worse on your traffic. The fix is two areas from now, in evals.</a:t>
            </a:r>
          </a:p>
          <a:p xmlns:a="http://schemas.openxmlformats.org/drawingml/2006/main">
            <a:r>
              <a:t/>
            </a:r>
          </a:p>
          <a:p xmlns:a="http://schemas.openxmlformats.org/drawingml/2006/main">
            <a:r>
              <a:t>[1:58] **The model is a versioned, expiring dependency. Treat it like one.**</a:t>
            </a:r>
          </a:p>
          <a:p xmlns:a="http://schemas.openxmlformats.org/drawingml/2006/main">
            <a:r>
              <a:t/>
            </a:r>
          </a:p>
          <a:p xmlns:a="http://schemas.openxmlformats.org/drawingml/2006/main">
            <a:r>
              <a:t>[2:30] Advance to slide 10.</a:t>
            </a:r>
          </a:p>
          <a:p xmlns:a="http://schemas.openxmlformats.org/drawingml/2006/main">
            <a:r>
              <a:t/>
            </a:r>
          </a:p>
          <a:p xmlns:a="http://schemas.openxmlformats.org/drawingml/2006/main">
            <a:r>
              <a:t>The track runs about 2:05 at a measured pace. The slack is deliberate: the numbers in builds 3 and 4 need room to land. Cuttable if the section is running long, in this order: the break-even rule; the OpenAI shutdown count; the 61 and 62 day windows. Do not cut the two pinning lines, the 84 to 51 figure, the 7% figure, the pitfall, or the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model deprecations page: "at least 60 days' notice"; observed windows of 62 days (Sonnet 4 and Opus 4) and 61 days (Opus 4.1). Research §1 in `research/section-2.md`. `[primary]`.</a:t>
            </a:r>
          </a:p>
          <a:p xmlns:a="http://schemas.openxmlformats.org/drawingml/2006/main">
            <a:r>
              <a:t>- OpenAI deprecations page: twenty-plus models scheduled to shut down October to December 2026. Research §1. `[primary]`.</a:t>
            </a:r>
          </a:p>
          <a:p xmlns:a="http://schemas.openxmlformats.org/drawingml/2006/main">
            <a:r>
              <a:t>- Chen, Zaharia, Zou, "How is ChatGPT's behavior changing over time?" July 2023. The 84% and 51% figures are well documented; the paper's exact sentence is `UNVERIFIED`, so state the figures and do not quote. Research §1.</a:t>
            </a:r>
          </a:p>
          <a:p xmlns:a="http://schemas.openxmlformats.org/drawingml/2006/main">
            <a:r>
              <a:t>- LangChain, "How many of your agent's calls actually need a frontier model?" August 11, 2026. 145 tasks; 7% of calls (4.1% to 9.1% across five runs); $0.092 per task at 86.0% for the frontier model alone, $0.026 at 80.0% routed; break-even rule "minimum offload = judge cost / (expensive cost - cheap cost)." Research §1. `[primary]`.</a:t>
            </a:r>
          </a:p>
          <a:p xmlns:a="http://schemas.openxmlformats.org/drawingml/2006/main">
            <a:r>
              <a:t>- The six axes and the benchmark line need no citation; they are the talk's own framing. Research §1 notes the benchmark-criticism percentages are `UNVERIFIED` and must not be used; the general claim is safe.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 No `[verify]` flags on this slide.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https://arxiv.org/abs/2307.09009</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10</a:t>
            </a:r>
          </a:p>
          <a:p xmlns:a="http://schemas.openxmlformats.org/drawingml/2006/main">
            <a:r>
              <a:t>Beat 2.2 Context and knowledge, first half. Section 2. Time 2:30 of the beat's 3:30; slide 11 takes 1:00. Builds: 3.</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Two things you have touched. First, the instructions file. Codex and Devin both read AGENTS.md, the cross-tool standard, and Codex's `/init` writes one for you. Second, the moment your session compacted and dropped something that mattered. Both tools have `/compact`, and Codex compacts on its own past a token limit. **You have already felt context engineering fail.**</a:t>
            </a:r>
          </a:p>
          <a:p xmlns:a="http://schemas.openxmlformats.org/drawingml/2006/main">
            <a:r>
              <a:t/>
            </a:r>
          </a:p>
          <a:p xmlns:a="http://schemas.openxmlformats.org/drawingml/2006/main">
            <a:r>
              <a:t>[0:26] Build 2.</a:t>
            </a:r>
          </a:p>
          <a:p xmlns:a="http://schemas.openxmlformats.org/drawingml/2006/main">
            <a:r>
              <a:t/>
            </a:r>
          </a:p>
          <a:p xmlns:a="http://schemas.openxmlformats.org/drawingml/2006/main">
            <a:r>
              <a:t>What is context engineering? Karpathy, last summer: "the delicate art and science of filling the context window with just the right information for the next step." Anthropic's version: context is **"a finite resource with diminishing marginal returns."** Models have an attention budget. Chroma tested eighteen models: **performance degrades as input grows, on simple tasks, well before the window is full.** Breunig named four ways it fails. Poisoning: an error gets in and keeps getting referenced. Distraction: the model over-focuses on the context and forgets what it knows. Confusion: superfluous content shapes the answer. Clash: new information conflicts with old. One measurable: on the Berkeley function-calling leaderboard, every model got worse with more tools.</a:t>
            </a:r>
          </a:p>
          <a:p xmlns:a="http://schemas.openxmlformats.org/drawingml/2006/main">
            <a:r>
              <a:t/>
            </a:r>
          </a:p>
          <a:p xmlns:a="http://schemas.openxmlformats.org/drawingml/2006/main">
            <a:r>
              <a:t>[1:14] Build 3.</a:t>
            </a:r>
          </a:p>
          <a:p xmlns:a="http://schemas.openxmlformats.org/drawingml/2006/main">
            <a:r>
              <a:t/>
            </a:r>
          </a:p>
          <a:p xmlns:a="http://schemas.openxmlformats.org/drawingml/2006/main">
            <a:r>
              <a:t>So the vendor engineered five things. A system prompt at the right altitude: "specific enough to guide behavior effectively, yet flexible enough to provide the model with strong heuristics." A compaction policy. A memory convention. A retrieval strategy for your repo that is not embedding search: just-in-time loading, grep and file reads. In Codex that is the shell. Cognition trained a model, SWE-grep, to do that search in parallel, because they found embeddings can be counterproductive. **That is a design choice, and it is the one that shows retrieval-augmented generation is one technique, not the discipline.** And a cache-aware layout. Manus, running a production agent, called the KV-cache hit rate **"the single most important metric for a production-stage AI agent."** Input to output runs about a hundred to one. Cached input tokens are ten times cheaper. So you never mutate the front of the prompt, and you do not add or remove tools mid-run. That is cost and latency engineering, and it is a context decision.</a:t>
            </a:r>
          </a:p>
          <a:p xmlns:a="http://schemas.openxmlformats.org/drawingml/2006/main">
            <a:r>
              <a:t/>
            </a:r>
          </a:p>
          <a:p xmlns:a="http://schemas.openxmlformats.org/drawingml/2006/main">
            <a:r>
              <a:t>[2:30] Advance to slide 11.</a:t>
            </a:r>
          </a:p>
          <a:p xmlns:a="http://schemas.openxmlformats.org/drawingml/2006/main">
            <a:r>
              <a:t/>
            </a:r>
          </a:p>
          <a:p xmlns:a="http://schemas.openxmlformats.org/drawingml/2006/main">
            <a:r>
              <a:t>The track runs about 2:20 at a measured pace, leaving ten seconds for the Manus numbers to land. Cuttable if the section runs long, in this order: Karpathy's definition, keeping Anthropic's; the Berkeley leaderboard line; the hundred-to-one ratio. Do not cut the four failure words, the Chroma line, the retrieval sentence, or the Manus quote.</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Karpathy, X, June 25, 2025, headline sentence confirmed via Willison. Research §2 in `research/section-2.md`. The full thread is `UNVERIFIED`; quote only the one sentence.</a:t>
            </a:r>
          </a:p>
          <a:p xmlns:a="http://schemas.openxmlformats.org/drawingml/2006/main">
            <a:r>
              <a:t>- Anthropic, "Effective context engineering for AI agents," September 2025. "Finite resource" and the altitude sentence quoted verbatim. Research §2. `[primary]`.</a:t>
            </a:r>
          </a:p>
          <a:p xmlns:a="http://schemas.openxmlformats.org/drawingml/2006/main">
            <a:r>
              <a:t>- Chroma, "Context Rot," July 2025. Eighteen models. Paraphrased, not quoted. Research §2. `[primary]`.</a:t>
            </a:r>
          </a:p>
          <a:p xmlns:a="http://schemas.openxmlformats.org/drawingml/2006/main">
            <a:r>
              <a:t>- Breunig, "How Long Contexts Fail," June 2025. Four failure modes, paraphrased; the Berkeley Function-Calling Leaderboard finding is cited there. Research §2. `[primary]`.</a:t>
            </a:r>
          </a:p>
          <a:p xmlns:a="http://schemas.openxmlformats.org/drawingml/2006/main">
            <a:r>
              <a:t>- Cognition, "Introducing SWE-grep and SWE-grep-mini," October 2025. "Can even be counterproductive" quoted verbatim. Research §2. `[primary]`, checked in a browser September 14, 2026.</a:t>
            </a:r>
          </a:p>
          <a:p xmlns:a="http://schemas.openxmlformats.org/drawingml/2006/main">
            <a:r>
              <a:t>- Manus, "Context Engineering for AI Agents," July 2025. KV-cache line quoted verbatim; 100:1 and the 10x price gap are their figures. Research §2. `[primary]`.</a:t>
            </a:r>
          </a:p>
          <a:p xmlns:a="http://schemas.openxmlformats.org/drawingml/2006/main">
            <a:r>
              <a:t>- Codex CLI and Devin CLI docs for AGENTS.md, `/init`, `/compact`, and the auto-compact token limit. Research §1 and §2.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Choose the AGENTS.md to show and take the compaction screenshot the week of the talk.</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https://x.com/karpathy/status/1937902205765607626</a:t>
            </a:r>
          </a:p>
          <a:p xmlns:a="http://schemas.openxmlformats.org/drawingml/2006/main">
            <a:r>
              <a:t>https://simonwillison.net/2025/Jun/27/context-engineering/</a:t>
            </a:r>
          </a:p>
          <a:p xmlns:a="http://schemas.openxmlformats.org/drawingml/2006/main">
            <a:r>
              <a:t>https://www.anthropic.com/engineering/effective-context-engineering-for-ai-agents</a:t>
            </a:r>
          </a:p>
          <a:p xmlns:a="http://schemas.openxmlformats.org/drawingml/2006/main">
            <a:r>
              <a:t>https://manus.im/blog/Context-Engineering-for-AI-Agents-Lessons-from-Building-Manus</a:t>
            </a:r>
          </a:p>
          <a:p xmlns:a="http://schemas.openxmlformats.org/drawingml/2006/main">
            <a:r>
              <a:t>https://www.dbreunig.com/2025/06/22/how-contexts-fail-and-how-to-fix-them.html</a:t>
            </a:r>
          </a:p>
          <a:p xmlns:a="http://schemas.openxmlformats.org/drawingml/2006/main">
            <a:r>
              <a:t>https://www.trychroma.com/research/context-rot</a:t>
            </a:r>
          </a:p>
          <a:p xmlns:a="http://schemas.openxmlformats.org/drawingml/2006/main">
            <a:r>
              <a:t>https://cognition.com/blog/swe-grep</a:t>
            </a:r>
          </a:p>
          <a:p xmlns:a="http://schemas.openxmlformats.org/drawingml/2006/main">
            <a:r>
              <a:t>https://docs.windsurf.com/context-awareness/fast-context</a:t>
            </a:r>
          </a:p>
          <a:p xmlns:a="http://schemas.openxmlformats.org/drawingml/2006/main">
            <a:r>
              <a:t>https://agents.md/</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https://arxiv.org/abs/2307.09009</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10b</a:t>
            </a:r>
          </a:p>
          <a:p xmlns:a="http://schemas.openxmlformats.org/drawingml/2006/main">
            <a:r>
              <a:t>Beat 2.2 Context and knowledge, first half. Section 2. Time 2:30 of the beat's 3:30; slide 11 takes 1:00. Builds: 3.</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Two things you have touched. First, the instructions file. Codex and Devin both read AGENTS.md, the cross-tool standard, and Codex's `/init` writes one for you. Second, the moment your session compacted and dropped something that mattered. Both tools have `/compact`, and Codex compacts on its own past a token limit. **You have already felt context engineering fail.**</a:t>
            </a:r>
          </a:p>
          <a:p xmlns:a="http://schemas.openxmlformats.org/drawingml/2006/main">
            <a:r>
              <a:t/>
            </a:r>
          </a:p>
          <a:p xmlns:a="http://schemas.openxmlformats.org/drawingml/2006/main">
            <a:r>
              <a:t>[0:26] Build 2.</a:t>
            </a:r>
          </a:p>
          <a:p xmlns:a="http://schemas.openxmlformats.org/drawingml/2006/main">
            <a:r>
              <a:t/>
            </a:r>
          </a:p>
          <a:p xmlns:a="http://schemas.openxmlformats.org/drawingml/2006/main">
            <a:r>
              <a:t>What is context engineering? Karpathy, last summer: "the delicate art and science of filling the context window with just the right information for the next step." Anthropic's version: context is **"a finite resource with diminishing marginal returns."** Models have an attention budget. Chroma tested eighteen models: **performance degrades as input grows, on simple tasks, well before the window is full.** Breunig named four ways it fails. Poisoning: an error gets in and keeps getting referenced. Distraction: the model over-focuses on the context and forgets what it knows. Confusion: superfluous content shapes the answer. Clash: new information conflicts with old. One measurable: on the Berkeley function-calling leaderboard, every model got worse with more tools.</a:t>
            </a:r>
          </a:p>
          <a:p xmlns:a="http://schemas.openxmlformats.org/drawingml/2006/main">
            <a:r>
              <a:t/>
            </a:r>
          </a:p>
          <a:p xmlns:a="http://schemas.openxmlformats.org/drawingml/2006/main">
            <a:r>
              <a:t>[1:14] Build 3.</a:t>
            </a:r>
          </a:p>
          <a:p xmlns:a="http://schemas.openxmlformats.org/drawingml/2006/main">
            <a:r>
              <a:t/>
            </a:r>
          </a:p>
          <a:p xmlns:a="http://schemas.openxmlformats.org/drawingml/2006/main">
            <a:r>
              <a:t>So the vendor engineered five things. A system prompt at the right altitude: "specific enough to guide behavior effectively, yet flexible enough to provide the model with strong heuristics." A compaction policy. A memory convention. A retrieval strategy for your repo that is not embedding search: just-in-time loading, grep and file reads. In Codex that is the shell. Cognition trained a model, SWE-grep, to do that search in parallel, because they found embeddings can be counterproductive. **That is a design choice, and it is the one that shows retrieval-augmented generation is one technique, not the discipline.** And a cache-aware layout. Manus, running a production agent, called the KV-cache hit rate **"the single most important metric for a production-stage AI agent."** Input to output runs about a hundred to one. Cached input tokens are ten times cheaper. So you never mutate the front of the prompt, and you do not add or remove tools mid-run. That is cost and latency engineering, and it is a context decision.</a:t>
            </a:r>
          </a:p>
          <a:p xmlns:a="http://schemas.openxmlformats.org/drawingml/2006/main">
            <a:r>
              <a:t/>
            </a:r>
          </a:p>
          <a:p xmlns:a="http://schemas.openxmlformats.org/drawingml/2006/main">
            <a:r>
              <a:t>[2:30] Advance to slide 11.</a:t>
            </a:r>
          </a:p>
          <a:p xmlns:a="http://schemas.openxmlformats.org/drawingml/2006/main">
            <a:r>
              <a:t/>
            </a:r>
          </a:p>
          <a:p xmlns:a="http://schemas.openxmlformats.org/drawingml/2006/main">
            <a:r>
              <a:t>The track runs about 2:20 at a measured pace, leaving ten seconds for the Manus numbers to land. Cuttable if the section runs long, in this order: Karpathy's definition, keeping Anthropic's; the Berkeley leaderboard line; the hundred-to-one ratio. Do not cut the four failure words, the Chroma line, the retrieval sentence, or the Manus quote.</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Karpathy, X, June 25, 2025, headline sentence confirmed via Willison. Research §2 in `research/section-2.md`. The full thread is `UNVERIFIED`; quote only the one sentence.</a:t>
            </a:r>
          </a:p>
          <a:p xmlns:a="http://schemas.openxmlformats.org/drawingml/2006/main">
            <a:r>
              <a:t>- Anthropic, "Effective context engineering for AI agents," September 2025. "Finite resource" and the altitude sentence quoted verbatim. Research §2. `[primary]`.</a:t>
            </a:r>
          </a:p>
          <a:p xmlns:a="http://schemas.openxmlformats.org/drawingml/2006/main">
            <a:r>
              <a:t>- Chroma, "Context Rot," July 2025. Eighteen models. Paraphrased, not quoted. Research §2. `[primary]`.</a:t>
            </a:r>
          </a:p>
          <a:p xmlns:a="http://schemas.openxmlformats.org/drawingml/2006/main">
            <a:r>
              <a:t>- Breunig, "How Long Contexts Fail," June 2025. Four failure modes, paraphrased; the Berkeley Function-Calling Leaderboard finding is cited there. Research §2. `[primary]`.</a:t>
            </a:r>
          </a:p>
          <a:p xmlns:a="http://schemas.openxmlformats.org/drawingml/2006/main">
            <a:r>
              <a:t>- Cognition, "Introducing SWE-grep and SWE-grep-mini," October 2025. "Can even be counterproductive" quoted verbatim. Research §2. `[primary]`, checked in a browser September 14, 2026.</a:t>
            </a:r>
          </a:p>
          <a:p xmlns:a="http://schemas.openxmlformats.org/drawingml/2006/main">
            <a:r>
              <a:t>- Manus, "Context Engineering for AI Agents," July 2025. KV-cache line quoted verbatim; 100:1 and the 10x price gap are their figures. Research §2. `[primary]`.</a:t>
            </a:r>
          </a:p>
          <a:p xmlns:a="http://schemas.openxmlformats.org/drawingml/2006/main">
            <a:r>
              <a:t>- Codex CLI and Devin CLI docs for AGENTS.md, `/init`, `/compact`, and the auto-compact token limit. Research §1 and §2.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Choose the AGENTS.md to show and take the compaction screenshot the week of the talk.</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https://x.com/karpathy/status/1937902205765607626</a:t>
            </a:r>
          </a:p>
          <a:p xmlns:a="http://schemas.openxmlformats.org/drawingml/2006/main">
            <a:r>
              <a:t>https://simonwillison.net/2025/Jun/27/context-engineering/</a:t>
            </a:r>
          </a:p>
          <a:p xmlns:a="http://schemas.openxmlformats.org/drawingml/2006/main">
            <a:r>
              <a:t>https://www.anthropic.com/engineering/effective-context-engineering-for-ai-agents</a:t>
            </a:r>
          </a:p>
          <a:p xmlns:a="http://schemas.openxmlformats.org/drawingml/2006/main">
            <a:r>
              <a:t>https://manus.im/blog/Context-Engineering-for-AI-Agents-Lessons-from-Building-Manus</a:t>
            </a:r>
          </a:p>
          <a:p xmlns:a="http://schemas.openxmlformats.org/drawingml/2006/main">
            <a:r>
              <a:t>https://www.dbreunig.com/2025/06/22/how-contexts-fail-and-how-to-fix-them.html</a:t>
            </a:r>
          </a:p>
          <a:p xmlns:a="http://schemas.openxmlformats.org/drawingml/2006/main">
            <a:r>
              <a:t>https://www.trychroma.com/research/context-rot</a:t>
            </a:r>
          </a:p>
          <a:p xmlns:a="http://schemas.openxmlformats.org/drawingml/2006/main">
            <a:r>
              <a:t>https://cognition.com/blog/swe-grep</a:t>
            </a:r>
          </a:p>
          <a:p xmlns:a="http://schemas.openxmlformats.org/drawingml/2006/main">
            <a:r>
              <a:t>https://docs.windsurf.com/context-awareness/fast-context</a:t>
            </a:r>
          </a:p>
          <a:p xmlns:a="http://schemas.openxmlformats.org/drawingml/2006/main">
            <a:r>
              <a:t>https://agents.md/</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https://arxiv.org/abs/2307.09009</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11</a:t>
            </a:r>
          </a:p>
          <a:p xmlns:a="http://schemas.openxmlformats.org/drawingml/2006/main">
            <a:r>
              <a:t>Beat 2.2 Context and knowledge, second half. Section 2. Time 1:00 of the beat's 3:30; slide 10 took 2:30.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What goes in the window: instructions, examples, retrieved knowledge, session state, memory, tool results. Each has a relevance, a freshness, a provenance, and a size.</a:t>
            </a:r>
          </a:p>
          <a:p xmlns:a="http://schemas.openxmlformats.org/drawingml/2006/main">
            <a:r>
              <a:t/>
            </a:r>
          </a:p>
          <a:p xmlns:a="http://schemas.openxmlformats.org/drawingml/2006/main">
            <a:r>
              <a:t>[0:10] Build 2.</a:t>
            </a:r>
          </a:p>
          <a:p xmlns:a="http://schemas.openxmlformats.org/drawingml/2006/main">
            <a:r>
              <a:t/>
            </a:r>
          </a:p>
          <a:p xmlns:a="http://schemas.openxmlformats.org/drawingml/2006/main">
            <a:r>
              <a:t>The vendor chose your context budget, your compaction policy, your memory convention, and your retrieval strategy. **You own all four now.**</a:t>
            </a:r>
          </a:p>
          <a:p xmlns:a="http://schemas.openxmlformats.org/drawingml/2006/main">
            <a:r>
              <a:t/>
            </a:r>
          </a:p>
          <a:p xmlns:a="http://schemas.openxmlformats.org/drawingml/2006/main">
            <a:r>
              <a:t>[0:19] Build 3.</a:t>
            </a:r>
          </a:p>
          <a:p xmlns:a="http://schemas.openxmlformats.org/drawingml/2006/main">
            <a:r>
              <a:t/>
            </a:r>
          </a:p>
          <a:p xmlns:a="http://schemas.openxmlformats.org/drawingml/2006/main">
            <a:r>
              <a:t>Customer-facing raises the stakes, because the context now holds another person's data. **A compaction that drops a constraint is a wrong answer to a customer. A memory that crosses sessions is a breach.**</a:t>
            </a:r>
          </a:p>
          <a:p xmlns:a="http://schemas.openxmlformats.org/drawingml/2006/main">
            <a:r>
              <a:t/>
            </a:r>
          </a:p>
          <a:p xmlns:a="http://schemas.openxmlformats.org/drawingml/2006/main">
            <a:r>
              <a:t>[0:33] Build 4.</a:t>
            </a:r>
          </a:p>
          <a:p xmlns:a="http://schemas.openxmlformats.org/drawingml/2006/main">
            <a:r>
              <a:t/>
            </a:r>
          </a:p>
          <a:p xmlns:a="http://schemas.openxmlformats.org/drawingml/2006/main">
            <a:r>
              <a:t>The pitfall: **adding context instead of curating it.** A big window is not permission to fill it.</a:t>
            </a:r>
          </a:p>
          <a:p xmlns:a="http://schemas.openxmlformats.org/drawingml/2006/main">
            <a:r>
              <a:t/>
            </a:r>
          </a:p>
          <a:p xmlns:a="http://schemas.openxmlformats.org/drawingml/2006/main">
            <a:r>
              <a:t>[0:41] **Context is a budget, not a bucket.**</a:t>
            </a:r>
          </a:p>
          <a:p xmlns:a="http://schemas.openxmlformats.org/drawingml/2006/main">
            <a:r>
              <a:t/>
            </a:r>
          </a:p>
          <a:p xmlns:a="http://schemas.openxmlformats.org/drawingml/2006/main">
            <a:r>
              <a:t>[1:00] Advance to slide 12.</a:t>
            </a:r>
          </a:p>
          <a:p xmlns:a="http://schemas.openxmlformats.org/drawingml/2006/main">
            <a:r>
              <a:t/>
            </a:r>
          </a:p>
          <a:p xmlns:a="http://schemas.openxmlformats.org/drawingml/2006/main">
            <a:r>
              <a:t>The track runs about 0:45. The slack is for the two customer-facing sentences, which should be delivered slowly. Nothing on this slide is cuttable; it is already the short form.</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six contents of the window, the four attributes, and the four things you own are the talk's own framing, drawn from Anthropic's context-engineering post and the Karpathy enumeration on slide 10. Research §2 in `research/section-2.md`.</a:t>
            </a:r>
          </a:p>
          <a:p xmlns:a="http://schemas.openxmlformats.org/drawingml/2006/main">
            <a:r>
              <a:t>- Chroma's finding, on slide 10, is the evidence behind "a big window is not permission to fill it." Research §2. `[primary]`.</a:t>
            </a:r>
          </a:p>
          <a:p xmlns:a="http://schemas.openxmlformats.org/drawingml/2006/main">
            <a:r>
              <a:t>- No new claims on this slide.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https://x.com/karpathy/status/1937902205765607626</a:t>
            </a:r>
          </a:p>
          <a:p xmlns:a="http://schemas.openxmlformats.org/drawingml/2006/main">
            <a:r>
              <a:t>https://simonwillison.net/2025/Jun/27/context-engineering/</a:t>
            </a:r>
          </a:p>
          <a:p xmlns:a="http://schemas.openxmlformats.org/drawingml/2006/main">
            <a:r>
              <a:t>https://www.anthropic.com/engineering/effective-context-engineering-for-ai-agents</a:t>
            </a:r>
          </a:p>
          <a:p xmlns:a="http://schemas.openxmlformats.org/drawingml/2006/main">
            <a:r>
              <a:t>https://manus.im/blog/Context-Engineering-for-AI-Agents-Lessons-from-Building-Manus</a:t>
            </a:r>
          </a:p>
          <a:p xmlns:a="http://schemas.openxmlformats.org/drawingml/2006/main">
            <a:r>
              <a:t>https://www.dbreunig.com/2025/06/22/how-contexts-fail-and-how-to-fix-them.html</a:t>
            </a:r>
          </a:p>
          <a:p xmlns:a="http://schemas.openxmlformats.org/drawingml/2006/main">
            <a:r>
              <a:t>https://www.trychroma.com/research/context-rot</a:t>
            </a:r>
          </a:p>
          <a:p xmlns:a="http://schemas.openxmlformats.org/drawingml/2006/main">
            <a:r>
              <a:t>https://cognition.com/blog/swe-grep</a:t>
            </a:r>
          </a:p>
          <a:p xmlns:a="http://schemas.openxmlformats.org/drawingml/2006/main">
            <a:r>
              <a:t>https://docs.windsurf.com/context-awareness/fast-context</a:t>
            </a:r>
          </a:p>
          <a:p xmlns:a="http://schemas.openxmlformats.org/drawingml/2006/main">
            <a:r>
              <a:t>https://agents.md/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12</a:t>
            </a:r>
          </a:p>
          <a:p xmlns:a="http://schemas.openxmlformats.org/drawingml/2006/main">
            <a:r>
              <a:t>Beat 2.3 Tools and extensibility, first half. Section 2. Time 1:50 of the beat's 3:00; slide 13 takes 1:10.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You have installed MCP servers, in both tools. And you have seen the permission prompt. Codex has three sandbox modes: read-only, workspace-write, full access. Devin CLI has five permission modes, from Normal, where reads pass and writes ask, to Autonomous, where the sandbox decides what a command can touch. And in Smart mode, a fast model judges whether each action is safe to run unattended. That prompt is a design decision rendered as UI. **Read-only, reversible, consequential.**</a:t>
            </a:r>
          </a:p>
          <a:p xmlns:a="http://schemas.openxmlformats.org/drawingml/2006/main">
            <a:r>
              <a:t/>
            </a:r>
          </a:p>
          <a:p xmlns:a="http://schemas.openxmlformats.org/drawingml/2006/main">
            <a:r>
              <a:t>[0:38] Build 2.</a:t>
            </a:r>
          </a:p>
          <a:p xmlns:a="http://schemas.openxmlformats.org/drawingml/2006/main">
            <a:r>
              <a:t/>
            </a:r>
          </a:p>
          <a:p xmlns:a="http://schemas.openxmlformats.org/drawingml/2006/main">
            <a:r>
              <a:t>What someone engineered. Anthropic's reframe: **a tool is a contract between deterministic code and a non-deterministic caller, and you design it for the caller.** Consolidate: one schedule_event tool, not list_users plus list_events plus create_event. Namespace: even prefix versus suffix had measurable effects on tool-use evals. Return names, not UUIDs: resolving identifiers to meaningful names "significantly improves" precision. And let the agent choose concise or detailed: 72 tokens versus 206 for the same Slack result.</a:t>
            </a:r>
          </a:p>
          <a:p xmlns:a="http://schemas.openxmlformats.org/drawingml/2006/main">
            <a:r>
              <a:t/>
            </a:r>
          </a:p>
          <a:p xmlns:a="http://schemas.openxmlformats.org/drawingml/2006/main">
            <a:r>
              <a:t>[1:08] Build 3.</a:t>
            </a:r>
          </a:p>
          <a:p xmlns:a="http://schemas.openxmlformats.org/drawingml/2006/main">
            <a:r>
              <a:t/>
            </a:r>
          </a:p>
          <a:p xmlns:a="http://schemas.openxmlformats.org/drawingml/2006/main">
            <a:r>
              <a:t>Descriptions are prompt engineering you can measure. **Precise refinements to tool descriptions took Claude Sonnet 3.5 to state of the art on SWE-bench Verified.** In Anthropic's words, "even small refinements to tool descriptions can yield dramatic improvements." And context cost is real: **five MCP servers cost about 55,000 tokens before the first message.** Deferred loading with tool search cut that by 85%. Wrong tool selection is the top failure when names are similar.</a:t>
            </a:r>
          </a:p>
          <a:p xmlns:a="http://schemas.openxmlformats.org/drawingml/2006/main">
            <a:r>
              <a:t/>
            </a:r>
          </a:p>
          <a:p xmlns:a="http://schemas.openxmlformats.org/drawingml/2006/main">
            <a:r>
              <a:t>[1:32] Build 4.</a:t>
            </a:r>
          </a:p>
          <a:p xmlns:a="http://schemas.openxmlformats.org/drawingml/2006/main">
            <a:r>
              <a:t/>
            </a:r>
          </a:p>
          <a:p xmlns:a="http://schemas.openxmlformats.org/drawingml/2006/main">
            <a:r>
              <a:t>Under it all, the protocol's own security floor: no token passthrough, scope minimization, consent before a local server's commands run, sandboxed execution.</a:t>
            </a:r>
          </a:p>
          <a:p xmlns:a="http://schemas.openxmlformats.org/drawingml/2006/main">
            <a:r>
              <a:t/>
            </a:r>
          </a:p>
          <a:p xmlns:a="http://schemas.openxmlformats.org/drawingml/2006/main">
            <a:r>
              <a:t>[1:50] Advance to slide 13.</a:t>
            </a:r>
          </a:p>
          <a:p xmlns:a="http://schemas.openxmlformats.org/drawingml/2006/main">
            <a:r>
              <a:t/>
            </a:r>
          </a:p>
          <a:p xmlns:a="http://schemas.openxmlformats.org/drawingml/2006/main">
            <a:r>
              <a:t>The track runs about 1:45 at a measured pace. Cuttable if the section runs long, in this order: the Smart mode sentence; the namespace line; the "wrong tool selection" sentence. Do not cut the contract line, the SWE-bench line, the 55,000 figure, or "read-only, reversible, consequential," which slide 13 builds 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Codex CLI config reference: `sandbox_mode` read-only, workspace-write, danger-full-access; `mcp_servers.&lt;id&gt;` and per-server `default_tools_approval_mode`. Devin CLI permissions page: the five modes and Smart mode's "a fast model judges whether the action is safe to run unattended." Research §3 in `research/section-2.md`. `[primary]`, checked in a browser September 14, 2026.</a:t>
            </a:r>
          </a:p>
          <a:p xmlns:a="http://schemas.openxmlformats.org/drawingml/2006/main">
            <a:r>
              <a:t>- Anthropic, "Writing effective tools for agents, with agents," September 2025. Consolidation, namespacing ("non-trivial effects on our tool-use evaluations"), "significantly improves Claude's precision in retrieval tasks," 206 versus 72 tokens, and the SWE-bench Verified sentence. "Contract between deterministic code and a non-deterministic caller" is the talk's paraphrase of their deterministic-versus-non-deterministic framing, so it is bold but not in quote marks. Research §3. `[primary]`.</a:t>
            </a:r>
          </a:p>
          <a:p xmlns:a="http://schemas.openxmlformats.org/drawingml/2006/main">
            <a:r>
              <a:t>- Anthropic, "Introducing advanced tool use," November 2025. "Approximately 55K tokens before the conversation even" begins; 85% reduction with tool search; "the most common failures are wrong tool selection and incorrect parameters, especially when tools have similar names." Research §3. `[primary]`.</a:t>
            </a:r>
          </a:p>
          <a:p xmlns:a="http://schemas.openxmlformats.org/drawingml/2006/main">
            <a:r>
              <a:t>- MCP Security Best Practices, spec revision 2026-07-28. Token passthrough "explicitly forbidden"; scope minimization; consent before executing commands for one-click local server setup; sandboxed execution as a SHOULD. Research §3.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Take the two screenshots the week of the talk: your own MCP config entry and a live permission prompt.</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12b</a:t>
            </a:r>
          </a:p>
          <a:p xmlns:a="http://schemas.openxmlformats.org/drawingml/2006/main">
            <a:r>
              <a:t>Beat 2.3 Tools and extensibility, first half. Section 2. Time 1:50 of the beat's 3:00; slide 13 takes 1:10.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You have installed MCP servers, in both tools. And you have seen the permission prompt. Codex has three sandbox modes: read-only, workspace-write, full access. Devin CLI has five permission modes, from Normal, where reads pass and writes ask, to Autonomous, where the sandbox decides what a command can touch. And in Smart mode, a fast model judges whether each action is safe to run unattended. That prompt is a design decision rendered as UI. **Read-only, reversible, consequential.**</a:t>
            </a:r>
          </a:p>
          <a:p xmlns:a="http://schemas.openxmlformats.org/drawingml/2006/main">
            <a:r>
              <a:t/>
            </a:r>
          </a:p>
          <a:p xmlns:a="http://schemas.openxmlformats.org/drawingml/2006/main">
            <a:r>
              <a:t>[0:38] Build 2.</a:t>
            </a:r>
          </a:p>
          <a:p xmlns:a="http://schemas.openxmlformats.org/drawingml/2006/main">
            <a:r>
              <a:t/>
            </a:r>
          </a:p>
          <a:p xmlns:a="http://schemas.openxmlformats.org/drawingml/2006/main">
            <a:r>
              <a:t>What someone engineered. Anthropic's reframe: **a tool is a contract between deterministic code and a non-deterministic caller, and you design it for the caller.** Consolidate: one schedule_event tool, not list_users plus list_events plus create_event. Namespace: even prefix versus suffix had measurable effects on tool-use evals. Return names, not UUIDs: resolving identifiers to meaningful names "significantly improves" precision. And let the agent choose concise or detailed: 72 tokens versus 206 for the same Slack result.</a:t>
            </a:r>
          </a:p>
          <a:p xmlns:a="http://schemas.openxmlformats.org/drawingml/2006/main">
            <a:r>
              <a:t/>
            </a:r>
          </a:p>
          <a:p xmlns:a="http://schemas.openxmlformats.org/drawingml/2006/main">
            <a:r>
              <a:t>[1:08] Build 3.</a:t>
            </a:r>
          </a:p>
          <a:p xmlns:a="http://schemas.openxmlformats.org/drawingml/2006/main">
            <a:r>
              <a:t/>
            </a:r>
          </a:p>
          <a:p xmlns:a="http://schemas.openxmlformats.org/drawingml/2006/main">
            <a:r>
              <a:t>Descriptions are prompt engineering you can measure. **Precise refinements to tool descriptions took Claude Sonnet 3.5 to state of the art on SWE-bench Verified.** In Anthropic's words, "even small refinements to tool descriptions can yield dramatic improvements." And context cost is real: **five MCP servers cost about 55,000 tokens before the first message.** Deferred loading with tool search cut that by 85%. Wrong tool selection is the top failure when names are similar.</a:t>
            </a:r>
          </a:p>
          <a:p xmlns:a="http://schemas.openxmlformats.org/drawingml/2006/main">
            <a:r>
              <a:t/>
            </a:r>
          </a:p>
          <a:p xmlns:a="http://schemas.openxmlformats.org/drawingml/2006/main">
            <a:r>
              <a:t>[1:32] Build 4.</a:t>
            </a:r>
          </a:p>
          <a:p xmlns:a="http://schemas.openxmlformats.org/drawingml/2006/main">
            <a:r>
              <a:t/>
            </a:r>
          </a:p>
          <a:p xmlns:a="http://schemas.openxmlformats.org/drawingml/2006/main">
            <a:r>
              <a:t>Under it all, the protocol's own security floor: no token passthrough, scope minimization, consent before a local server's commands run, sandboxed execution.</a:t>
            </a:r>
          </a:p>
          <a:p xmlns:a="http://schemas.openxmlformats.org/drawingml/2006/main">
            <a:r>
              <a:t/>
            </a:r>
          </a:p>
          <a:p xmlns:a="http://schemas.openxmlformats.org/drawingml/2006/main">
            <a:r>
              <a:t>[1:50] Advance to slide 13.</a:t>
            </a:r>
          </a:p>
          <a:p xmlns:a="http://schemas.openxmlformats.org/drawingml/2006/main">
            <a:r>
              <a:t/>
            </a:r>
          </a:p>
          <a:p xmlns:a="http://schemas.openxmlformats.org/drawingml/2006/main">
            <a:r>
              <a:t>The track runs about 1:45 at a measured pace. Cuttable if the section runs long, in this order: the Smart mode sentence; the namespace line; the "wrong tool selection" sentence. Do not cut the contract line, the SWE-bench line, the 55,000 figure, or "read-only, reversible, consequential," which slide 13 builds 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Codex CLI config reference: `sandbox_mode` read-only, workspace-write, danger-full-access; `mcp_servers.&lt;id&gt;` and per-server `default_tools_approval_mode`. Devin CLI permissions page: the five modes and Smart mode's "a fast model judges whether the action is safe to run unattended." Research §3 in `research/section-2.md`. `[primary]`, checked in a browser September 14, 2026.</a:t>
            </a:r>
          </a:p>
          <a:p xmlns:a="http://schemas.openxmlformats.org/drawingml/2006/main">
            <a:r>
              <a:t>- Anthropic, "Writing effective tools for agents, with agents," September 2025. Consolidation, namespacing ("non-trivial effects on our tool-use evaluations"), "significantly improves Claude's precision in retrieval tasks," 206 versus 72 tokens, and the SWE-bench Verified sentence. "Contract between deterministic code and a non-deterministic caller" is the talk's paraphrase of their deterministic-versus-non-deterministic framing, so it is bold but not in quote marks. Research §3. `[primary]`.</a:t>
            </a:r>
          </a:p>
          <a:p xmlns:a="http://schemas.openxmlformats.org/drawingml/2006/main">
            <a:r>
              <a:t>- Anthropic, "Introducing advanced tool use," November 2025. "Approximately 55K tokens before the conversation even" begins; 85% reduction with tool search; "the most common failures are wrong tool selection and incorrect parameters, especially when tools have similar names." Research §3. `[primary]`.</a:t>
            </a:r>
          </a:p>
          <a:p xmlns:a="http://schemas.openxmlformats.org/drawingml/2006/main">
            <a:r>
              <a:t>- MCP Security Best Practices, spec revision 2026-07-28. Token passthrough "explicitly forbidden"; scope minimization; consent before executing commands for one-click local server setup; sandboxed execution as a SHOULD. Research §3.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Take the two screenshots the week of the talk: your own MCP config entry and a live permission prompt.</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13</a:t>
            </a:r>
          </a:p>
          <a:p xmlns:a="http://schemas.openxmlformats.org/drawingml/2006/main">
            <a:r>
              <a:t>Beat 2.3 Tools and extensibility, second half. Section 2. Time 1:10 of the beat's 3:00; slide 12 took 1:50.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The vendor wrote the descriptions, chose the granularity, shaped the payloads, and built the approval UI. Now you write the descriptions, and you eval them. You decide verbosity, because it is your token bill and your context budget. **You classify every action, and you build the gate.**</a:t>
            </a:r>
          </a:p>
          <a:p xmlns:a="http://schemas.openxmlformats.org/drawingml/2006/main">
            <a:r>
              <a:t/>
            </a:r>
          </a:p>
          <a:p xmlns:a="http://schemas.openxmlformats.org/drawingml/2006/main">
            <a:r>
              <a:t>[0:20] Build 2.</a:t>
            </a:r>
          </a:p>
          <a:p xmlns:a="http://schemas.openxmlformats.org/drawingml/2006/main">
            <a:r>
              <a:t/>
            </a:r>
          </a:p>
          <a:p xmlns:a="http://schemas.openxmlformats.org/drawingml/2006/main">
            <a:r>
              <a:t>Customer-facing: **nobody is sitting there to click approve.** The gate becomes an async human step or an automated policy. Devin's Smart mode is that policy, shipped as a product feature. Both are things you engineer.</a:t>
            </a:r>
          </a:p>
          <a:p xmlns:a="http://schemas.openxmlformats.org/drawingml/2006/main">
            <a:r>
              <a:t/>
            </a:r>
          </a:p>
          <a:p xmlns:a="http://schemas.openxmlformats.org/drawingml/2006/main">
            <a:r>
              <a:t>[0:34] Build 3.</a:t>
            </a:r>
          </a:p>
          <a:p xmlns:a="http://schemas.openxmlformats.org/drawingml/2006/main">
            <a:r>
              <a:t/>
            </a:r>
          </a:p>
          <a:p xmlns:a="http://schemas.openxmlformats.org/drawingml/2006/main">
            <a:r>
              <a:t>Two examples of what happens at the gate. CamoLeak, last October: a comment hidden in a pull request made Copilot Chat exfiltrate private repository data through image URLs. CVSS 9.6. And ClawHub, in February: an audit of 2,857 agent skills found 341 malicious. **One in eight.**</a:t>
            </a:r>
          </a:p>
          <a:p xmlns:a="http://schemas.openxmlformats.org/drawingml/2006/main">
            <a:r>
              <a:t/>
            </a:r>
          </a:p>
          <a:p xmlns:a="http://schemas.openxmlformats.org/drawingml/2006/main">
            <a:r>
              <a:t>[0:54] Build 4.</a:t>
            </a:r>
          </a:p>
          <a:p xmlns:a="http://schemas.openxmlformats.org/drawingml/2006/main">
            <a:r>
              <a:t/>
            </a:r>
          </a:p>
          <a:p xmlns:a="http://schemas.openxmlformats.org/drawingml/2006/main">
            <a:r>
              <a:t>The pitfall: **one endpoint per tool.** Your API surface is not a tool set.</a:t>
            </a:r>
          </a:p>
          <a:p xmlns:a="http://schemas.openxmlformats.org/drawingml/2006/main">
            <a:r>
              <a:t/>
            </a:r>
          </a:p>
          <a:p xmlns:a="http://schemas.openxmlformats.org/drawingml/2006/main">
            <a:r>
              <a:t>[1:00] **Design tools for a caller that reads the description every time and can still get it wrong.**</a:t>
            </a:r>
          </a:p>
          <a:p xmlns:a="http://schemas.openxmlformats.org/drawingml/2006/main">
            <a:r>
              <a:t/>
            </a:r>
          </a:p>
          <a:p xmlns:a="http://schemas.openxmlformats.org/drawingml/2006/main">
            <a:r>
              <a:t>[1:10] Advance to slide 14.</a:t>
            </a:r>
          </a:p>
          <a:p xmlns:a="http://schemas.openxmlformats.org/drawingml/2006/main">
            <a:r>
              <a:t/>
            </a:r>
          </a:p>
          <a:p xmlns:a="http://schemas.openxmlformats.org/drawingml/2006/main">
            <a:r>
              <a:t>The track runs about 1:06. Cuttable if the section runs long: the Devin Smart mode sentence. Do not cut either incident; they are the only concrete failures in this area, and the CamoLeak mechanism returns as the lethal trifecta on slide 18.</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Legit Security, Omer Mayraz, "CamoLeak," October 8, 2025. "CVSS 9.6"; hidden `&lt;!-- --&gt;` comments; Camo proxy URLs rendered "as ASCII art composed entirely of images"; fixed August 14, 2025. Research §3 in `research/section-2.md`. `[primary]`, checked in a browser September 14, 2026. The `[verify]` flag is cleared in the outline.</a:t>
            </a:r>
          </a:p>
          <a:p xmlns:a="http://schemas.openxmlformats.org/drawingml/2006/main">
            <a:r>
              <a:t>- Koi Security's ClawHub audit via The Hacker News, February 2, 2026. "A security audit of 2,857 skills on ClawHub has found 341 malicious skills." Research §3. `[primary]`, checked September 14, 2026. Flag cleared. Bitdefender's 17% is a different sample; do not mix the two.</a:t>
            </a:r>
          </a:p>
          <a:p xmlns:a="http://schemas.openxmlformats.org/drawingml/2006/main">
            <a:r>
              <a:t>- Devin CLI permissions page for Smart mode. Research §3. `[primary]`.</a:t>
            </a:r>
          </a:p>
          <a:p xmlns:a="http://schemas.openxmlformats.org/drawingml/2006/main">
            <a:r>
              <a:t>- The action classes and the four things you own are the talk's own framing, from Anthropic's tool-design post and the MCP security floor on slide 12. Research §3.</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 Both flags on this slide are cleared.</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14</a:t>
            </a:r>
          </a:p>
          <a:p xmlns:a="http://schemas.openxmlformats.org/drawingml/2006/main">
            <a:r>
              <a:t>Beat 2.4 Orchestration, first half. Section 2. Time 2:00 of the beat's 3:30; slide 15 takes 1:30. Builds: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Plan mode. Subagents. Hooks. Compaction. Resume and fork. Both tools have every one of them. **Underneath all of it is one loop: gather context, take action, verify, repeat.**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t>[0:26] Build 2.</a:t>
            </a:r>
          </a:p>
          <a:p xmlns:a="http://schemas.openxmlformats.org/drawingml/2006/main">
            <a:r>
              <a:t/>
            </a:r>
          </a:p>
          <a:p xmlns:a="http://schemas.openxmlformats.org/drawingml/2006/main">
            <a:r>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t>[0:46] Build 3.</a:t>
            </a:r>
          </a:p>
          <a:p xmlns:a="http://schemas.openxmlformats.org/drawingml/2006/main">
            <a:r>
              <a:t/>
            </a:r>
          </a:p>
          <a:p xmlns:a="http://schemas.openxmlformats.org/drawingml/2006/main">
            <a:r>
              <a:t>Addy Osmani's line applies most sharply here: **"A decent model with a great harness beats a great model with a bad harness."** Evidence from OpenAI last month,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t>[1:10] Build 4.</a:t>
            </a:r>
          </a:p>
          <a:p xmlns:a="http://schemas.openxmlformats.org/drawingml/2006/main">
            <a:r>
              <a:t/>
            </a:r>
          </a:p>
          <a:p xmlns:a="http://schemas.openxmlformats.org/drawingml/2006/main">
            <a:r>
              <a:t>Anthropic found two failure modes in long-running agents. **Over-ambition: try to one-shot the whole app. Premature completion: a later instance sees progress and declares the job done.** The fix was engineering, not prompting. An initializer writes a feature list and a progress file. Each session does one feature with a fixed startup routine. And there is a hard rule that tests are never edited to pass.</a:t>
            </a:r>
          </a:p>
          <a:p xmlns:a="http://schemas.openxmlformats.org/drawingml/2006/main">
            <a:r>
              <a:t/>
            </a:r>
          </a:p>
          <a:p xmlns:a="http://schemas.openxmlformats.org/drawingml/2006/main">
            <a:r>
              <a:t>[1:38] Build 5.</a:t>
            </a:r>
          </a:p>
          <a:p xmlns:a="http://schemas.openxmlformats.org/drawingml/2006/main">
            <a:r>
              <a:t/>
            </a:r>
          </a:p>
          <a:p xmlns:a="http://schemas.openxmlformats.org/drawingml/2006/main">
            <a:r>
              <a:t>Multi-agent, honestly. **A lead plus subagents beat a single agent by 90% on a research eval. It also used fifteen times the tokens of a chat.** And it is a poor fit for work where agents need shared context or have dependencies. Anthropic names coding as the example.</a:t>
            </a:r>
          </a:p>
          <a:p xmlns:a="http://schemas.openxmlformats.org/drawingml/2006/main">
            <a:r>
              <a:t/>
            </a:r>
          </a:p>
          <a:p xmlns:a="http://schemas.openxmlformats.org/drawingml/2006/main">
            <a:r>
              <a:t>[2:00] Advance to slide 15.</a:t>
            </a:r>
          </a:p>
          <a:p xmlns:a="http://schemas.openxmlformats.org/drawingml/2006/main">
            <a:r>
              <a:t/>
            </a:r>
          </a:p>
          <a:p xmlns:a="http://schemas.openxmlformats.org/drawingml/2006/main">
            <a:r>
              <a:t>The track runs about 1:58, so it is full. Cuttable if the section runs long, in this order: "Codex ships hooks turned off. You turn them on."; "The other harness boxes on the map get their own areas in this talk," since slide 7 made the point. Do not cut the loop sentence, the five decisions, the Osmani quote, the two failure modes, or the multi-agent numbers.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Codex CLI and Devin CLI docs for `/plan`, subagents, hooks, `/compact`, `/resume`, `/fork`; Codex `features.hooks` defaults to off. Research §4 in `research/section-2.md`. `[primary]`, checked in a browser September 14, 2026.</a:t>
            </a:r>
          </a:p>
          <a:p xmlns:a="http://schemas.openxmlformats.org/drawingml/2006/main">
            <a:r>
              <a:t>- Anthropic, "Building agents with the Claude Agent SDK," September 2025, for the loop: gather context, take action, verify work, repeat. Research §0. `[primary]`.</a:t>
            </a:r>
          </a:p>
          <a:p xmlns:a="http://schemas.openxmlformats.org/drawingml/2006/main">
            <a:r>
              <a:t>- Anthropic, "Building effective agents," December 2024, for stopping conditions "such as a maximum number of iterations." Research §4. `[primary]`.</a:t>
            </a:r>
          </a:p>
          <a:p xmlns:a="http://schemas.openxmlformats.org/drawingml/2006/main">
            <a:r>
              <a:t>- Osmani, "Agent Harness Engineering," April 2026. Quote verbatim. Research §0 and §4. `[primary]`.</a:t>
            </a:r>
          </a:p>
          <a:p xmlns:a="http://schemas.openxmlformats.org/drawingml/2006/main">
            <a:r>
              <a:t>- OpenAI, "Codex as a platform," August 2026. "On ARC-AGI-3, retained reasoning and context compaction raised GPT-5.6 Sol's score from 13.3% to 38.3% while reducing output tokens sixfold." Rounded on the slide; the exact figures are here for questions. Research §0. `[primary]`.</a:t>
            </a:r>
          </a:p>
          <a:p xmlns:a="http://schemas.openxmlformats.org/drawingml/2006/main">
            <a:r>
              <a:t>- Anthropic, "Effective harnesses for long-running agents," November 2025. Over-ambition and premature completion paraphrased from their wording; "It is unacceptable to remove or edit tests" is verbatim. Research §4. `[primary]`.</a:t>
            </a:r>
          </a:p>
          <a:p xmlns:a="http://schemas.openxmlformats.org/drawingml/2006/main">
            <a:r>
              <a:t>- Anthropic, "How we built our multi-agent research system," June 2025. "Outperformed single-agent Claude Opus 4 by 90.2%"; "about 15x more tokens than chats"; poor fit for "domains that require all agents to share the same context or involve many dependencies between agents." Research §4.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 No `[verify]` flags on this slide.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14b</a:t>
            </a:r>
          </a:p>
          <a:p xmlns:a="http://schemas.openxmlformats.org/drawingml/2006/main">
            <a:r>
              <a:t>Beat 2.4 Orchestration, first half. Section 2. Time 2:00 of the beat's 3:30; slide 15 takes 1:30. Builds: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Plan mode. Subagents. Hooks. Compaction. Resume and fork. Both tools have every one of them. **Underneath all of it is one loop: gather context, take action, verify, repeat.**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t>[0:26] Build 2.</a:t>
            </a:r>
          </a:p>
          <a:p xmlns:a="http://schemas.openxmlformats.org/drawingml/2006/main">
            <a:r>
              <a:t/>
            </a:r>
          </a:p>
          <a:p xmlns:a="http://schemas.openxmlformats.org/drawingml/2006/main">
            <a:r>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t>[0:46] Build 3.</a:t>
            </a:r>
          </a:p>
          <a:p xmlns:a="http://schemas.openxmlformats.org/drawingml/2006/main">
            <a:r>
              <a:t/>
            </a:r>
          </a:p>
          <a:p xmlns:a="http://schemas.openxmlformats.org/drawingml/2006/main">
            <a:r>
              <a:t>Addy Osmani's line applies most sharply here: **"A decent model with a great harness beats a great model with a bad harness."** Evidence from OpenAI last month,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t>[1:10] Build 4.</a:t>
            </a:r>
          </a:p>
          <a:p xmlns:a="http://schemas.openxmlformats.org/drawingml/2006/main">
            <a:r>
              <a:t/>
            </a:r>
          </a:p>
          <a:p xmlns:a="http://schemas.openxmlformats.org/drawingml/2006/main">
            <a:r>
              <a:t>Anthropic found two failure modes in long-running agents. **Over-ambition: try to one-shot the whole app. Premature completion: a later instance sees progress and declares the job done.** The fix was engineering, not prompting. An initializer writes a feature list and a progress file. Each session does one feature with a fixed startup routine. And there is a hard rule that tests are never edited to pass.</a:t>
            </a:r>
          </a:p>
          <a:p xmlns:a="http://schemas.openxmlformats.org/drawingml/2006/main">
            <a:r>
              <a:t/>
            </a:r>
          </a:p>
          <a:p xmlns:a="http://schemas.openxmlformats.org/drawingml/2006/main">
            <a:r>
              <a:t>[1:38] Build 5.</a:t>
            </a:r>
          </a:p>
          <a:p xmlns:a="http://schemas.openxmlformats.org/drawingml/2006/main">
            <a:r>
              <a:t/>
            </a:r>
          </a:p>
          <a:p xmlns:a="http://schemas.openxmlformats.org/drawingml/2006/main">
            <a:r>
              <a:t>Multi-agent, honestly. **A lead plus subagents beat a single agent by 90% on a research eval. It also used fifteen times the tokens of a chat.** And it is a poor fit for work where agents need shared context or have dependencies. Anthropic names coding as the example.</a:t>
            </a:r>
          </a:p>
          <a:p xmlns:a="http://schemas.openxmlformats.org/drawingml/2006/main">
            <a:r>
              <a:t/>
            </a:r>
          </a:p>
          <a:p xmlns:a="http://schemas.openxmlformats.org/drawingml/2006/main">
            <a:r>
              <a:t>[2:00] Advance to slide 15.</a:t>
            </a:r>
          </a:p>
          <a:p xmlns:a="http://schemas.openxmlformats.org/drawingml/2006/main">
            <a:r>
              <a:t/>
            </a:r>
          </a:p>
          <a:p xmlns:a="http://schemas.openxmlformats.org/drawingml/2006/main">
            <a:r>
              <a:t>The track runs about 1:58, so it is full. Cuttable if the section runs long, in this order: "Codex ships hooks turned off. You turn them on."; "The other harness boxes on the map get their own areas in this talk," since slide 7 made the point. Do not cut the loop sentence, the five decisions, the Osmani quote, the two failure modes, or the multi-agent numbers.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Codex CLI and Devin CLI docs for `/plan`, subagents, hooks, `/compact`, `/resume`, `/fork`; Codex `features.hooks` defaults to off. Research §4 in `research/section-2.md`. `[primary]`, checked in a browser September 14, 2026.</a:t>
            </a:r>
          </a:p>
          <a:p xmlns:a="http://schemas.openxmlformats.org/drawingml/2006/main">
            <a:r>
              <a:t>- Anthropic, "Building agents with the Claude Agent SDK," September 2025, for the loop: gather context, take action, verify work, repeat. Research §0. `[primary]`.</a:t>
            </a:r>
          </a:p>
          <a:p xmlns:a="http://schemas.openxmlformats.org/drawingml/2006/main">
            <a:r>
              <a:t>- Anthropic, "Building effective agents," December 2024, for stopping conditions "such as a maximum number of iterations." Research §4. `[primary]`.</a:t>
            </a:r>
          </a:p>
          <a:p xmlns:a="http://schemas.openxmlformats.org/drawingml/2006/main">
            <a:r>
              <a:t>- Osmani, "Agent Harness Engineering," April 2026. Quote verbatim. Research §0 and §4. `[primary]`.</a:t>
            </a:r>
          </a:p>
          <a:p xmlns:a="http://schemas.openxmlformats.org/drawingml/2006/main">
            <a:r>
              <a:t>- OpenAI, "Codex as a platform," August 2026. "On ARC-AGI-3, retained reasoning and context compaction raised GPT-5.6 Sol's score from 13.3% to 38.3% while reducing output tokens sixfold." Rounded on the slide; the exact figures are here for questions. Research §0. `[primary]`.</a:t>
            </a:r>
          </a:p>
          <a:p xmlns:a="http://schemas.openxmlformats.org/drawingml/2006/main">
            <a:r>
              <a:t>- Anthropic, "Effective harnesses for long-running agents," November 2025. Over-ambition and premature completion paraphrased from their wording; "It is unacceptable to remove or edit tests" is verbatim. Research §4. `[primary]`.</a:t>
            </a:r>
          </a:p>
          <a:p xmlns:a="http://schemas.openxmlformats.org/drawingml/2006/main">
            <a:r>
              <a:t>- Anthropic, "How we built our multi-agent research system," June 2025. "Outperformed single-agent Claude Opus 4 by 90.2%"; "about 15x more tokens than chats"; poor fit for "domains that require all agents to share the same context or involve many dependencies between agents." Research §4.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 No `[verify]` flags on this slide.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15</a:t>
            </a:r>
          </a:p>
          <a:p xmlns:a="http://schemas.openxmlformats.org/drawingml/2006/main">
            <a:r>
              <a:t>Beat 2.4 Orchestration, second half. Section 2. Time 1:30 of the beat's 3:30; slide 14 took 2:00.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Workflows are LLMs and tools on predefined code paths. Agents direct their own. **Start with the workflow.** Five patterns cover most of it: chaining, routing, parallelization, orchestrator and workers, evaluator and optimizer.</a:t>
            </a:r>
          </a:p>
          <a:p xmlns:a="http://schemas.openxmlformats.org/drawingml/2006/main">
            <a:r>
              <a:t/>
            </a:r>
          </a:p>
          <a:p xmlns:a="http://schemas.openxmlformats.org/drawingml/2006/main">
            <a:r>
              <a:t>[0:14] Build 2.</a:t>
            </a:r>
          </a:p>
          <a:p xmlns:a="http://schemas.openxmlformats.org/drawingml/2006/main">
            <a:r>
              <a:t/>
            </a:r>
          </a:p>
          <a:p xmlns:a="http://schemas.openxmlformats.org/drawingml/2006/main">
            <a:r>
              <a:t>**You own the loop.** Stopping conditions, starting with a maximum number of iterations. State and resume. Retries. Escalation to a human as a tool call. Routing between a planner and cheap workers. The compaction trigger. And the budgets: tokens, actions, latency. Twelve-factor agents says it in four lines: own your prompts, own your context window, own your control flow, contact humans with tool calls.</a:t>
            </a:r>
          </a:p>
          <a:p xmlns:a="http://schemas.openxmlformats.org/drawingml/2006/main">
            <a:r>
              <a:t/>
            </a:r>
          </a:p>
          <a:p xmlns:a="http://schemas.openxmlformats.org/drawingml/2006/main">
            <a:r>
              <a:t>[0:42] Build 3.</a:t>
            </a:r>
          </a:p>
          <a:p xmlns:a="http://schemas.openxmlformats.org/drawingml/2006/main">
            <a:r>
              <a:t/>
            </a:r>
          </a:p>
          <a:p xmlns:a="http://schemas.openxmlformats.org/drawingml/2006/main">
            <a:r>
              <a:t>Customer-facing: a human is waiting. Latency is a product requirement. **An unbounded loop is an outage.**</a:t>
            </a:r>
          </a:p>
          <a:p xmlns:a="http://schemas.openxmlformats.org/drawingml/2006/main">
            <a:r>
              <a:t/>
            </a:r>
          </a:p>
          <a:p xmlns:a="http://schemas.openxmlformats.org/drawingml/2006/main">
            <a:r>
              <a:t>[0:50] Build 4.</a:t>
            </a:r>
          </a:p>
          <a:p xmlns:a="http://schemas.openxmlformats.org/drawingml/2006/main">
            <a:r>
              <a:t/>
            </a:r>
          </a:p>
          <a:p xmlns:a="http://schemas.openxmlformats.org/drawingml/2006/main">
            <a:r>
              <a:t>The pitfall: **multi-agent orchestration before a workflow was tried.** Gartner said in June 2025 that over 40% of agentic AI projects will be canceled by the end of 2027, "due to escalating costs, unclear business value or inadequate risk controls." Every one of those three is cheaper to discover on a workflow than on a fleet of agents.</a:t>
            </a:r>
          </a:p>
          <a:p xmlns:a="http://schemas.openxmlformats.org/drawingml/2006/main">
            <a:r>
              <a:t/>
            </a:r>
          </a:p>
          <a:p xmlns:a="http://schemas.openxmlformats.org/drawingml/2006/main">
            <a:r>
              <a:t>[1:10] **The loop is where autonomy gets its limits. Start with the workflow.**</a:t>
            </a:r>
          </a:p>
          <a:p xmlns:a="http://schemas.openxmlformats.org/drawingml/2006/main">
            <a:r>
              <a:t/>
            </a:r>
          </a:p>
          <a:p xmlns:a="http://schemas.openxmlformats.org/drawingml/2006/main">
            <a:r>
              <a:t>[1:30] Advance to slide 16.</a:t>
            </a:r>
          </a:p>
          <a:p xmlns:a="http://schemas.openxmlformats.org/drawingml/2006/main">
            <a:r>
              <a:t/>
            </a:r>
          </a:p>
          <a:p xmlns:a="http://schemas.openxmlformats.org/drawingml/2006/main">
            <a:r>
              <a:t>The track runs about 1:15. The slack belongs to build 2, which is a list and should not be rushed. Cuttable if the section runs long: the five pattern names, since they are on the slide; the last sentence after the Gartner quote. Do not cut "start with the workflow," "you own the loop," "an unbounded loop is an outage," the pitfall, or the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"Building effective agents," December 2024. Workflow and agent definitions quoted; "we recommend finding the simplest solution possible"; stopping conditions "such as a maximum number of iterations"; the five patterns: prompt chaining, routing, parallelization, orchestrator-workers, evaluator-optimizer. Research §4 in `research/section-2.md`. `[primary]`.</a:t>
            </a:r>
          </a:p>
          <a:p xmlns:a="http://schemas.openxmlformats.org/drawingml/2006/main">
            <a:r>
              <a:t>- Dex Horthy, HumanLayer, "12-Factor Agents." Factors 2, 3, 8, and 7 in the order spoken: own your prompts, own your context window, own your control flow, contact humans with tool calls. Research §4. `[primary]`.</a:t>
            </a:r>
          </a:p>
          <a:p xmlns:a="http://schemas.openxmlformats.org/drawingml/2006/main">
            <a:r>
              <a:t>- Gartner, press release, June 25, 2025. "Over 40% of agentic AI projects will be canceled by the end of 2027, due to escalating costs, unclear business value or inadequate risk controls." Research §4. `[primary]`, read in a browser September 14, 2026. The `[verify wording]` flag is cleared in the outline.</a:t>
            </a:r>
          </a:p>
          <a:p xmlns:a="http://schemas.openxmlformats.org/drawingml/2006/main">
            <a:r>
              <a:t>- Planner-to-worker routing points back to the LangChain figures on slide 9. Research §1.</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 The flag on this slide is cleared.</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https://arxiv.org/abs/2307.09009</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16</a:t>
            </a:r>
          </a:p>
          <a:p xmlns:a="http://schemas.openxmlformats.org/drawingml/2006/main">
            <a:r>
              <a:t>Beat 2.5 Verification and evals, first half. Section 2. Time 3:45 of the beat's 5:00, including story #2 at 1:00; slide 17 takes 1:15. Builds: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The coding agent works because your repo already has a verifier: the test suite. Write, run, read the failure, retry. It works only because ground truth was already there. And you have seen the failure. Martin Fowler: **"LLMs are quite happy to say 'all tests green', yet when I run them, there are failures."** Anthropic saw the same thing in long-running agents: an instance declares the job done. **The fix is a hook that runs the check, not a model that reports it.** Codex adds a `/review` command and an auto reviewer that can deny a command outright. Same idea, shipped as a product.</a:t>
            </a:r>
          </a:p>
          <a:p xmlns:a="http://schemas.openxmlformats.org/drawingml/2006/main">
            <a:r>
              <a:t/>
            </a:r>
          </a:p>
          <a:p xmlns:a="http://schemas.openxmlformats.org/drawingml/2006/main">
            <a:r>
              <a:t>[0:38] Build 2.</a:t>
            </a:r>
          </a:p>
          <a:p xmlns:a="http://schemas.openxmlformats.org/drawingml/2006/main">
            <a:r>
              <a:t/>
            </a:r>
          </a:p>
          <a:p xmlns:a="http://schemas.openxmlformats.org/drawingml/2006/main">
            <a:r>
              <a:t>What someone engineered: two different things, and the words matter. **Verification asks: is this one output or action correct?** It runs inside the loop. Rules-based checks like linting. Visual checks like screenshots. An LLM judge for fuzzy rules, which is less robust and costs latency. **Evaluation asks: is the behavior correct across a population of runs?** It runs outside the loop. The vocabulary: task, trial, grader, suite. Three kinds of grader. Code-based: fast, cheap, objective, brittle. Model-based: flexible, non-deterministic, needs human calibration. Human: the gold standard, and slow.</a:t>
            </a:r>
          </a:p>
          <a:p xmlns:a="http://schemas.openxmlformats.org/drawingml/2006/main">
            <a:r>
              <a:t/>
            </a:r>
          </a:p>
          <a:p xmlns:a="http://schemas.openxmlformats.org/drawingml/2006/main">
            <a:r>
              <a:t>[1:16] Build 3.</a:t>
            </a:r>
          </a:p>
          <a:p xmlns:a="http://schemas.openxmlformats.org/drawingml/2006/main">
            <a:r>
              <a:t/>
            </a:r>
          </a:p>
          <a:p xmlns:a="http://schemas.openxmlformats.org/drawingml/2006/main">
            <a:r>
              <a:t>**Grade the outcome, not the transcript.** "Your flight has been booked" at the end of a transcript is not the same as a reservation row in the database. And do not grade the process either, because agents find valid paths you did not anticipate.</a:t>
            </a:r>
          </a:p>
          <a:p xmlns:a="http://schemas.openxmlformats.org/drawingml/2006/main">
            <a:r>
              <a:t/>
            </a:r>
          </a:p>
          <a:p xmlns:a="http://schemas.openxmlformats.org/drawingml/2006/main">
            <a:r>
              <a:t>[1:34] Build 4.</a:t>
            </a:r>
          </a:p>
          <a:p xmlns:a="http://schemas.openxmlformats.org/drawingml/2006/main">
            <a:r>
              <a:t/>
            </a:r>
          </a:p>
          <a:p xmlns:a="http://schemas.openxmlformats.org/drawingml/2006/main">
            <a:r>
              <a:t>Non-determinism has its own arithmetic. pass at k is at least one success in k tries. pass to the k is all k succeed. Identical at k equals one. Opposite stories at k equals ten. **For a customer-facing agent you care about pass to the k.**</a:t>
            </a:r>
          </a:p>
          <a:p xmlns:a="http://schemas.openxmlformats.org/drawingml/2006/main">
            <a:r>
              <a:t/>
            </a:r>
          </a:p>
          <a:p xmlns:a="http://schemas.openxmlformats.org/drawingml/2006/main">
            <a:r>
              <a:t>[1:52] Build 5.</a:t>
            </a:r>
          </a:p>
          <a:p xmlns:a="http://schemas.openxmlformats.org/drawingml/2006/main">
            <a:r>
              <a:t/>
            </a:r>
          </a:p>
          <a:p xmlns:a="http://schemas.openxmlformats.org/drawingml/2006/main">
            <a:r>
              <a:t>Where to start: **twenty to fifty tasks drawn from real failures. Error analysis is the core activity.** Hamel Husain's teams spend sixty to eighty percent of development time on it. "You can never stop looking at data." And a diagnostic worth memorizing: a zero percent pass rate with a frontier model usually means a broken task, not a broken agent. Criteria drift from the start of the talk returns here. Grading outputs is how you discover the criteria, so the suite grows from looking, not from the spec.</a:t>
            </a:r>
          </a:p>
          <a:p xmlns:a="http://schemas.openxmlformats.org/drawingml/2006/main">
            <a:r>
              <a:t/>
            </a:r>
          </a:p>
          <a:p xmlns:a="http://schemas.openxmlformats.org/drawingml/2006/main">
            <a:r>
              <a:t>[2:28] Story #2.</a:t>
            </a:r>
          </a:p>
          <a:p xmlns:a="http://schemas.openxmlformats.org/drawingml/2006/main">
            <a:r>
              <a:t/>
            </a:r>
          </a:p>
          <a:p xmlns:a="http://schemas.openxmlformats.org/drawingml/2006/main">
            <a:r>
              <a:t>**[your story #2]** A failure your tests passed and evals or production caught. It must show three things: the suite was green, the behavior was wrong, and a population-level check or a real user found it. Sixty seconds.</a:t>
            </a:r>
          </a:p>
          <a:p xmlns:a="http://schemas.openxmlformats.org/drawingml/2006/main">
            <a:r>
              <a:t/>
            </a:r>
          </a:p>
          <a:p xmlns:a="http://schemas.openxmlformats.org/drawingml/2006/main">
            <a:r>
              <a:t>[3:28] Hold, then advance to slide 17 at [3:45].</a:t>
            </a:r>
          </a:p>
          <a:p xmlns:a="http://schemas.openxmlformats.org/drawingml/2006/main">
            <a:r>
              <a:t/>
            </a:r>
          </a:p>
          <a:p xmlns:a="http://schemas.openxmlformats.org/drawingml/2006/main">
            <a:r>
              <a:t>The track runs about 2:28 before the story and 3:28 after it, against 3:45. Cuttable if the section runs long, in this order: the Codex `/review` sentence; the grader descriptions in build 2, since they are on the slide; "And do not grade the process either." Do not cut the Fowler quote, the two definitions, "grade the outcome," pass to the k, the twenty-to-fifty line, or the criteria drift callback.</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Fowler, "Some thoughts on LLMs and Software Development," August 2025. Quoted verbatim without the leading "I find." Research §5 in `research/section-2.md`. `[primary]`.</a:t>
            </a:r>
          </a:p>
          <a:p xmlns:a="http://schemas.openxmlformats.org/drawingml/2006/main">
            <a:r>
              <a:t>- Anthropic, "Effective harnesses for long-running agents," November 2025, for premature completion. Research §4. `[primary]`.</a:t>
            </a:r>
          </a:p>
          <a:p xmlns:a="http://schemas.openxmlformats.org/drawingml/2006/main">
            <a:r>
              <a:t>- Codex CLI slash commands: `/review` "Ask for a working tree review"; `/approve` "Approve one retry of a recent auto review denial." Research §5. `[primary]`, checked in a browser September 14, 2026.</a:t>
            </a:r>
          </a:p>
          <a:p xmlns:a="http://schemas.openxmlformats.org/drawingml/2006/main">
            <a:r>
              <a:t>- Anthropic, "Building agents with the Claude Agent SDK," September 2025. Rules-based feedback, visual feedback, LLM as judge for "fuzzy rules" with "heavy latency tradeoffs." Research §0. `[primary]`.</a:t>
            </a:r>
          </a:p>
          <a:p xmlns:a="http://schemas.openxmlformats.org/drawingml/2006/main">
            <a:r>
              <a:t>- Anthropic, "Demystifying evals for AI agents," January 2026. Vocabulary; graders; the flight-booking sentence; "agents regularly find valid approaches that eval designers didn't anticipate"; pass@k and pass^k with "At k=1, they're identical" and "By k=10, they tell opposite stories"; "20-50 simple tasks drawn from real failures is a great start"; "a 0% pass rate across many trials is most often a signal of a broken task, not an incapable agent." Research §5. `[primary]`.</a:t>
            </a:r>
          </a:p>
          <a:p xmlns:a="http://schemas.openxmlformats.org/drawingml/2006/main">
            <a:r>
              <a:t>- Husain, "AI Evals: Everything You Need to Know," updated September 2026: "Error analysis is the most important activity in evals"; "We've spent 60-80% of our development time on error analysis and evaluation." "Your AI Product Needs Evals," March 2024: "You can never stop looking at data." Research §5. `[primary]`.</a:t>
            </a:r>
          </a:p>
          <a:p xmlns:a="http://schemas.openxmlformats.org/drawingml/2006/main">
            <a:r>
              <a:t>- Shankar et al., UIST 2024, for criteria drift. Research §3 in `research/section-1.md`.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Story #2. Decide whether it stays here or is told with story #1 merged into it. If both stories exist, this slot takes one of them, not both.</a:t>
            </a:r>
          </a:p>
          <a:p xmlns:a="http://schemas.openxmlformats.org/drawingml/2006/main">
            <a:r>
              <a:t>- Decide whether the story is told over build 5 or over a blank slide.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https://www.anthropic.com/engineering/demystifying-evals-for-ai-agents</a:t>
            </a:r>
          </a:p>
          <a:p xmlns:a="http://schemas.openxmlformats.org/drawingml/2006/main">
            <a:r>
              <a:t>https://hamel.dev/blog/posts/evals/</a:t>
            </a:r>
          </a:p>
          <a:p xmlns:a="http://schemas.openxmlformats.org/drawingml/2006/main">
            <a:r>
              <a:t>https://hamel.dev/blog/posts/evals-faq/</a:t>
            </a:r>
          </a:p>
          <a:p xmlns:a="http://schemas.openxmlformats.org/drawingml/2006/main">
            <a:r>
              <a:t>https://hamel.dev/blog/posts/llm-judge/</a:t>
            </a:r>
          </a:p>
          <a:p xmlns:a="http://schemas.openxmlformats.org/drawingml/2006/main">
            <a:r>
              <a:t>https://arxiv.org/abs/2404.12272</a:t>
            </a:r>
          </a:p>
          <a:p xmlns:a="http://schemas.openxmlformats.org/drawingml/2006/main">
            <a:r>
              <a:t>https://eugeneyan.com/writing/llm-evaluators/</a:t>
            </a:r>
          </a:p>
          <a:p xmlns:a="http://schemas.openxmlformats.org/drawingml/2006/main">
            <a:r>
              <a:t>https://developers.openai.com/api/docs/guides/evaluation-best-practices</a:t>
            </a:r>
          </a:p>
          <a:p xmlns:a="http://schemas.openxmlformats.org/drawingml/2006/main">
            <a:r>
              <a:t>https://developers.openai.com/api/docs/guides/agent-evals</a:t>
            </a:r>
          </a:p>
          <a:p xmlns:a="http://schemas.openxmlformats.org/drawingml/2006/main">
            <a:r>
              <a:t>https://developers.openai.com/api/docs/guides/graders</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16b</a:t>
            </a:r>
          </a:p>
          <a:p xmlns:a="http://schemas.openxmlformats.org/drawingml/2006/main">
            <a:r>
              <a:t>Beat 2.5 Verification and evals, first half. Section 2. Time 3:45 of the beat's 5:00, including story #2 at 1:00; slide 17 takes 1:15. Builds: 5.</a:t>
            </a:r>
          </a:p>
          <a:p xmlns:a="http://schemas.openxmlformats.org/drawingml/2006/main">
            <a:r>
              <a:t>Hold on the final build for story #2. The presenter story remains a slot in the source.</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The coding agent works because your repo already has a verifier: the test suite. Write, run, read the failure, retry. It works only because ground truth was already there. And you have seen the failure. Martin Fowler: **"LLMs are quite happy to say 'all tests green', yet when I run them, there are failures."** Anthropic saw the same thing in long-running agents: an instance declares the job done. **The fix is a hook that runs the check, not a model that reports it.** Codex adds a `/review` command and an auto reviewer that can deny a command outright. Same idea, shipped as a product.</a:t>
            </a:r>
          </a:p>
          <a:p xmlns:a="http://schemas.openxmlformats.org/drawingml/2006/main">
            <a:r>
              <a:t/>
            </a:r>
          </a:p>
          <a:p xmlns:a="http://schemas.openxmlformats.org/drawingml/2006/main">
            <a:r>
              <a:t>[0:38] Build 2.</a:t>
            </a:r>
          </a:p>
          <a:p xmlns:a="http://schemas.openxmlformats.org/drawingml/2006/main">
            <a:r>
              <a:t/>
            </a:r>
          </a:p>
          <a:p xmlns:a="http://schemas.openxmlformats.org/drawingml/2006/main">
            <a:r>
              <a:t>What someone engineered: two different things, and the words matter. **Verification asks: is this one output or action correct?** It runs inside the loop. Rules-based checks like linting. Visual checks like screenshots. An LLM judge for fuzzy rules, which is less robust and costs latency. **Evaluation asks: is the behavior correct across a population of runs?** It runs outside the loop. The vocabulary: task, trial, grader, suite. Three kinds of grader. Code-based: fast, cheap, objective, brittle. Model-based: flexible, non-deterministic, needs human calibration. Human: the gold standard, and slow.</a:t>
            </a:r>
          </a:p>
          <a:p xmlns:a="http://schemas.openxmlformats.org/drawingml/2006/main">
            <a:r>
              <a:t/>
            </a:r>
          </a:p>
          <a:p xmlns:a="http://schemas.openxmlformats.org/drawingml/2006/main">
            <a:r>
              <a:t>[1:16] Build 3.</a:t>
            </a:r>
          </a:p>
          <a:p xmlns:a="http://schemas.openxmlformats.org/drawingml/2006/main">
            <a:r>
              <a:t/>
            </a:r>
          </a:p>
          <a:p xmlns:a="http://schemas.openxmlformats.org/drawingml/2006/main">
            <a:r>
              <a:t>**Grade the outcome, not the transcript.** "Your flight has been booked" at the end of a transcript is not the same as a reservation row in the database. And do not grade the process either, because agents find valid paths you did not anticipate.</a:t>
            </a:r>
          </a:p>
          <a:p xmlns:a="http://schemas.openxmlformats.org/drawingml/2006/main">
            <a:r>
              <a:t/>
            </a:r>
          </a:p>
          <a:p xmlns:a="http://schemas.openxmlformats.org/drawingml/2006/main">
            <a:r>
              <a:t>[1:34] Build 4.</a:t>
            </a:r>
          </a:p>
          <a:p xmlns:a="http://schemas.openxmlformats.org/drawingml/2006/main">
            <a:r>
              <a:t/>
            </a:r>
          </a:p>
          <a:p xmlns:a="http://schemas.openxmlformats.org/drawingml/2006/main">
            <a:r>
              <a:t>Non-determinism has its own arithmetic. pass at k is at least one success in k tries. pass to the k is all k succeed. Identical at k equals one. Opposite stories at k equals ten. **For a customer-facing agent you care about pass to the k.**</a:t>
            </a:r>
          </a:p>
          <a:p xmlns:a="http://schemas.openxmlformats.org/drawingml/2006/main">
            <a:r>
              <a:t/>
            </a:r>
          </a:p>
          <a:p xmlns:a="http://schemas.openxmlformats.org/drawingml/2006/main">
            <a:r>
              <a:t>[1:52] Build 5.</a:t>
            </a:r>
          </a:p>
          <a:p xmlns:a="http://schemas.openxmlformats.org/drawingml/2006/main">
            <a:r>
              <a:t/>
            </a:r>
          </a:p>
          <a:p xmlns:a="http://schemas.openxmlformats.org/drawingml/2006/main">
            <a:r>
              <a:t>Where to start: **twenty to fifty tasks drawn from real failures. Error analysis is the core activity.** Hamel Husain's teams spend sixty to eighty percent of development time on it. "You can never stop looking at data." And a diagnostic worth memorizing: a zero percent pass rate with a frontier model usually means a broken task, not a broken agent. Criteria drift from the start of the talk returns here. Grading outputs is how you discover the criteria, so the suite grows from looking, not from the spec.</a:t>
            </a:r>
          </a:p>
          <a:p xmlns:a="http://schemas.openxmlformats.org/drawingml/2006/main">
            <a:r>
              <a:t/>
            </a:r>
          </a:p>
          <a:p xmlns:a="http://schemas.openxmlformats.org/drawingml/2006/main">
            <a:r>
              <a:t>[2:28] Story #2.</a:t>
            </a:r>
          </a:p>
          <a:p xmlns:a="http://schemas.openxmlformats.org/drawingml/2006/main">
            <a:r>
              <a:t/>
            </a:r>
          </a:p>
          <a:p xmlns:a="http://schemas.openxmlformats.org/drawingml/2006/main">
            <a:r>
              <a:t>**[your story #2]** A failure your tests passed and evals or production caught. It must show three things: the suite was green, the behavior was wrong, and a population-level check or a real user found it. Sixty seconds.</a:t>
            </a:r>
          </a:p>
          <a:p xmlns:a="http://schemas.openxmlformats.org/drawingml/2006/main">
            <a:r>
              <a:t/>
            </a:r>
          </a:p>
          <a:p xmlns:a="http://schemas.openxmlformats.org/drawingml/2006/main">
            <a:r>
              <a:t>[3:28] Hold, then advance to slide 17 at [3:45].</a:t>
            </a:r>
          </a:p>
          <a:p xmlns:a="http://schemas.openxmlformats.org/drawingml/2006/main">
            <a:r>
              <a:t/>
            </a:r>
          </a:p>
          <a:p xmlns:a="http://schemas.openxmlformats.org/drawingml/2006/main">
            <a:r>
              <a:t>The track runs about 2:28 before the story and 3:28 after it, against 3:45. Cuttable if the section runs long, in this order: the Codex `/review` sentence; the grader descriptions in build 2, since they are on the slide; "And do not grade the process either." Do not cut the Fowler quote, the two definitions, "grade the outcome," pass to the k, the twenty-to-fifty line, or the criteria drift callback.</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Fowler, "Some thoughts on LLMs and Software Development," August 2025. Quoted verbatim without the leading "I find." Research §5 in `research/section-2.md`. `[primary]`.</a:t>
            </a:r>
          </a:p>
          <a:p xmlns:a="http://schemas.openxmlformats.org/drawingml/2006/main">
            <a:r>
              <a:t>- Anthropic, "Effective harnesses for long-running agents," November 2025, for premature completion. Research §4. `[primary]`.</a:t>
            </a:r>
          </a:p>
          <a:p xmlns:a="http://schemas.openxmlformats.org/drawingml/2006/main">
            <a:r>
              <a:t>- Codex CLI slash commands: `/review` "Ask for a working tree review"; `/approve` "Approve one retry of a recent auto review denial." Research §5. `[primary]`, checked in a browser September 14, 2026.</a:t>
            </a:r>
          </a:p>
          <a:p xmlns:a="http://schemas.openxmlformats.org/drawingml/2006/main">
            <a:r>
              <a:t>- Anthropic, "Building agents with the Claude Agent SDK," September 2025. Rules-based feedback, visual feedback, LLM as judge for "fuzzy rules" with "heavy latency tradeoffs." Research §0. `[primary]`.</a:t>
            </a:r>
          </a:p>
          <a:p xmlns:a="http://schemas.openxmlformats.org/drawingml/2006/main">
            <a:r>
              <a:t>- Anthropic, "Demystifying evals for AI agents," January 2026. Vocabulary; graders; the flight-booking sentence; "agents regularly find valid approaches that eval designers didn't anticipate"; pass@k and pass^k with "At k=1, they're identical" and "By k=10, they tell opposite stories"; "20-50 simple tasks drawn from real failures is a great start"; "a 0% pass rate across many trials is most often a signal of a broken task, not an incapable agent." Research §5. `[primary]`.</a:t>
            </a:r>
          </a:p>
          <a:p xmlns:a="http://schemas.openxmlformats.org/drawingml/2006/main">
            <a:r>
              <a:t>- Husain, "AI Evals: Everything You Need to Know," updated September 2026: "Error analysis is the most important activity in evals"; "We've spent 60-80% of our development time on error analysis and evaluation." "Your AI Product Needs Evals," March 2024: "You can never stop looking at data." Research §5. `[primary]`.</a:t>
            </a:r>
          </a:p>
          <a:p xmlns:a="http://schemas.openxmlformats.org/drawingml/2006/main">
            <a:r>
              <a:t>- Shankar et al., UIST 2024, for criteria drift. Research §3 in `research/section-1.md`.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Story #2. Decide whether it stays here or is told with story #1 merged into it. If both stories exist, this slot takes one of them, not both.</a:t>
            </a:r>
          </a:p>
          <a:p xmlns:a="http://schemas.openxmlformats.org/drawingml/2006/main">
            <a:r>
              <a:t>- Decide whether the story is told over build 5 or over a blank slide.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https://www.anthropic.com/engineering/demystifying-evals-for-ai-agents</a:t>
            </a:r>
          </a:p>
          <a:p xmlns:a="http://schemas.openxmlformats.org/drawingml/2006/main">
            <a:r>
              <a:t>https://hamel.dev/blog/posts/evals/</a:t>
            </a:r>
          </a:p>
          <a:p xmlns:a="http://schemas.openxmlformats.org/drawingml/2006/main">
            <a:r>
              <a:t>https://hamel.dev/blog/posts/evals-faq/</a:t>
            </a:r>
          </a:p>
          <a:p xmlns:a="http://schemas.openxmlformats.org/drawingml/2006/main">
            <a:r>
              <a:t>https://hamel.dev/blog/posts/llm-judge/</a:t>
            </a:r>
          </a:p>
          <a:p xmlns:a="http://schemas.openxmlformats.org/drawingml/2006/main">
            <a:r>
              <a:t>https://arxiv.org/abs/2404.12272</a:t>
            </a:r>
          </a:p>
          <a:p xmlns:a="http://schemas.openxmlformats.org/drawingml/2006/main">
            <a:r>
              <a:t>https://eugeneyan.com/writing/llm-evaluators/</a:t>
            </a:r>
          </a:p>
          <a:p xmlns:a="http://schemas.openxmlformats.org/drawingml/2006/main">
            <a:r>
              <a:t>https://developers.openai.com/api/docs/guides/evaluation-best-practices</a:t>
            </a:r>
          </a:p>
          <a:p xmlns:a="http://schemas.openxmlformats.org/drawingml/2006/main">
            <a:r>
              <a:t>https://developers.openai.com/api/docs/guides/agent-evals</a:t>
            </a:r>
          </a:p>
          <a:p xmlns:a="http://schemas.openxmlformats.org/drawingml/2006/main">
            <a:r>
              <a:t>https://developers.openai.com/api/docs/guides/graders</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17</a:t>
            </a:r>
          </a:p>
          <a:p xmlns:a="http://schemas.openxmlformats.org/drawingml/2006/main">
            <a:r>
              <a:t>Beat 2.5 Verification and evals, second half. Section 2. Time 1:15 of the beat's 5:00; slide 16 took 3:45.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**Your domain has no test suite.** There is no compiler for "was this refund decision correct" or "was this summary faithful."</a:t>
            </a:r>
          </a:p>
          <a:p xmlns:a="http://schemas.openxmlformats.org/drawingml/2006/main">
            <a:r>
              <a:t/>
            </a:r>
          </a:p>
          <a:p xmlns:a="http://schemas.openxmlformats.org/drawingml/2006/main">
            <a:r>
              <a:t>[0:09] Build 2.</a:t>
            </a:r>
          </a:p>
          <a:p xmlns:a="http://schemas.openxmlformats.org/drawingml/2006/main">
            <a:r>
              <a:t/>
            </a:r>
          </a:p>
          <a:p xmlns:a="http://schemas.openxmlformats.org/drawingml/2006/main">
            <a:r>
              <a:t>So you build the verifier: a schema check, a business-rule assertion, a database state check, a rubric-driven second model, or a human. Then, separately, you build the eval suite, because verifying one run tells you nothing about the distribution. Then you keep running it, on sampled production traffic, because **the offline suite is a frozen snapshot and your users are not.** That is the third commitment from the start of the talk.</a:t>
            </a:r>
          </a:p>
          <a:p xmlns:a="http://schemas.openxmlformats.org/drawingml/2006/main">
            <a:r>
              <a:t/>
            </a:r>
          </a:p>
          <a:p xmlns:a="http://schemas.openxmlformats.org/drawingml/2006/main">
            <a:r>
              <a:t>[0:37] Build 3.</a:t>
            </a:r>
          </a:p>
          <a:p xmlns:a="http://schemas.openxmlformats.org/drawingml/2006/main">
            <a:r>
              <a:t/>
            </a:r>
          </a:p>
          <a:p xmlns:a="http://schemas.openxmlformats.org/drawingml/2006/main">
            <a:r>
              <a:t>And here is the payoff for the models section. **When a new model ships, and several did this summer, the suite is what lets you say yes or no in a day instead of a quarter.**</a:t>
            </a:r>
          </a:p>
          <a:p xmlns:a="http://schemas.openxmlformats.org/drawingml/2006/main">
            <a:r>
              <a:t/>
            </a:r>
          </a:p>
          <a:p xmlns:a="http://schemas.openxmlformats.org/drawingml/2006/main">
            <a:r>
              <a:t>[0:51] Build 4.</a:t>
            </a:r>
          </a:p>
          <a:p xmlns:a="http://schemas.openxmlformats.org/drawingml/2006/main">
            <a:r>
              <a:t/>
            </a:r>
          </a:p>
          <a:p xmlns:a="http://schemas.openxmlformats.org/drawingml/2006/main">
            <a:r>
              <a:t>Two pitfalls. **Skipping error analysis for a generic judge or a public benchmark. And grading the transcript instead of the outcome.**</a:t>
            </a:r>
          </a:p>
          <a:p xmlns:a="http://schemas.openxmlformats.org/drawingml/2006/main">
            <a:r>
              <a:t/>
            </a:r>
          </a:p>
          <a:p xmlns:a="http://schemas.openxmlformats.org/drawingml/2006/main">
            <a:r>
              <a:t>[0:59] **Tests check a path. Evals check a distribution. You need both, and only one of them ever stops.**</a:t>
            </a:r>
          </a:p>
          <a:p xmlns:a="http://schemas.openxmlformats.org/drawingml/2006/main">
            <a:r>
              <a:t/>
            </a:r>
          </a:p>
          <a:p xmlns:a="http://schemas.openxmlformats.org/drawingml/2006/main">
            <a:r>
              <a:t>[1:15] Advance to slide 18.</a:t>
            </a:r>
          </a:p>
          <a:p xmlns:a="http://schemas.openxmlformats.org/drawingml/2006/main">
            <a:r>
              <a:t/>
            </a:r>
          </a:p>
          <a:p xmlns:a="http://schemas.openxmlformats.org/drawingml/2006/main">
            <a:r>
              <a:t>The track runs about 1:06. The slack is for the takeaway, which should be delivered slowly; it is the line the third commitment was built to reach. Nothing on this slide is cuttable.</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verifier list, the three steps, and the payoff are the talk's own framing, built on Anthropic's evals post and the Agent SDK post cited on slide 16. Research §5 in `research/section-2.md`.</a:t>
            </a:r>
          </a:p>
          <a:p xmlns:a="http://schemas.openxmlformats.org/drawingml/2006/main">
            <a:r>
              <a:t>- "Several did this summer": research §7 lists Sonnet 5 and Opus 5 with summer 2026 dates marked `UNVERIFIED`. The phrasing is deliberately loose. If you want a named model and date on stage, confirm one the week of the talk.</a:t>
            </a:r>
          </a:p>
          <a:p xmlns:a="http://schemas.openxmlformats.org/drawingml/2006/main">
            <a:r>
              <a:t>- Both pitfalls trace to Husain ("Generic evaluations waste time and create false confidence") and Anthropic (outcome versus transcript). Research §5, and §3 in `research/section-3.md`. `[primary]`.</a:t>
            </a:r>
          </a:p>
          <a:p xmlns:a="http://schemas.openxmlformats.org/drawingml/2006/main">
            <a:r>
              <a:t>- Slide 9's pitfall is the setup for build 3. Research §1.</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Optionally name a model and release date in build 3's spoken line, after checking it the week of the talk.</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https://www.anthropic.com/engineering/demystifying-evals-for-ai-agents</a:t>
            </a:r>
          </a:p>
          <a:p xmlns:a="http://schemas.openxmlformats.org/drawingml/2006/main">
            <a:r>
              <a:t>https://hamel.dev/blog/posts/evals/</a:t>
            </a:r>
          </a:p>
          <a:p xmlns:a="http://schemas.openxmlformats.org/drawingml/2006/main">
            <a:r>
              <a:t>https://hamel.dev/blog/posts/evals-faq/</a:t>
            </a:r>
          </a:p>
          <a:p xmlns:a="http://schemas.openxmlformats.org/drawingml/2006/main">
            <a:r>
              <a:t>https://hamel.dev/blog/posts/llm-judge/</a:t>
            </a:r>
          </a:p>
          <a:p xmlns:a="http://schemas.openxmlformats.org/drawingml/2006/main">
            <a:r>
              <a:t>https://arxiv.org/abs/2404.12272</a:t>
            </a:r>
          </a:p>
          <a:p xmlns:a="http://schemas.openxmlformats.org/drawingml/2006/main">
            <a:r>
              <a:t>https://eugeneyan.com/writing/llm-evaluators/</a:t>
            </a:r>
          </a:p>
          <a:p xmlns:a="http://schemas.openxmlformats.org/drawingml/2006/main">
            <a:r>
              <a:t>https://developers.openai.com/api/docs/guides/evaluation-best-practices</a:t>
            </a:r>
          </a:p>
          <a:p xmlns:a="http://schemas.openxmlformats.org/drawingml/2006/main">
            <a:r>
              <a:t>https://developers.openai.com/api/docs/guides/agent-evals</a:t>
            </a:r>
          </a:p>
          <a:p xmlns:a="http://schemas.openxmlformats.org/drawingml/2006/main">
            <a:r>
              <a:t>https://developers.openai.com/api/docs/guides/graders</a:t>
            </a:r>
          </a:p>
          <a:p xmlns:a="http://schemas.openxmlformats.org/drawingml/2006/main">
            <a:r>
              <a:t>https://blog.modelcontextprotocol.io/posts/2026-07-28/</a:t>
            </a:r>
          </a:p>
          <a:p xmlns:a="http://schemas.openxmlformats.org/drawingml/2006/main">
            <a:r>
              <a:t>https://en.wikipedia.org/wiki/OpenClaw</a:t>
            </a:r>
          </a:p>
          <a:p xmlns:a="http://schemas.openxmlformats.org/drawingml/2006/main">
            <a:r>
              <a:t>https://engineering.zalando.com/posts/2026/08/agentic-engineering-at-zalando-a-snapshot.html</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https://arxiv.org/abs/2307.09009</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18</a:t>
            </a:r>
          </a:p>
          <a:p xmlns:a="http://schemas.openxmlformats.org/drawingml/2006/main">
            <a:r>
              <a:t>Beat 2.6 Operating it, first half. Section 2. Time 3:15 of the beat's 4:30; slide 19 takes 1:15. Builds: 7.</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`/usage`, in both tools. The OpenTelemetry exporter in Codex's config. The sandbox, and in Devin CLI the domain allowlist that goes with it. The OAuth login when you connected an MCP server. And a trust and safety team you have never met.</a:t>
            </a:r>
          </a:p>
          <a:p xmlns:a="http://schemas.openxmlformats.org/drawingml/2006/main">
            <a:r>
              <a:t/>
            </a:r>
          </a:p>
          <a:p xmlns:a="http://schemas.openxmlformats.org/drawingml/2006/main">
            <a:r>
              <a:t>[0:16] Build 2. Observability.</a:t>
            </a:r>
          </a:p>
          <a:p xmlns:a="http://schemas.openxmlformats.org/drawingml/2006/main">
            <a:r>
              <a:t/>
            </a:r>
          </a:p>
          <a:p xmlns:a="http://schemas.openxmlformats.org/drawingml/2006/main">
            <a:r>
              <a:t>Traces per model call, tool call, and agent step. OpenTelemetry has GenAI conventions for exactly this, still marked Development, so pin a snapshot and expect names to move. The metrics that matter: **cost per completed task, not per request.** p95 and p99 tokens, because long conversations and bad retrieval concentrate cost in the tail. Cache hit rate. Loop iterations per task. Tool failure rate. Datadog's line from July: **"The next wave of agent failures won't be about what agents can't do. It'll be about what teams can't observe."**</a:t>
            </a:r>
          </a:p>
          <a:p xmlns:a="http://schemas.openxmlformats.org/drawingml/2006/main">
            <a:r>
              <a:t/>
            </a:r>
          </a:p>
          <a:p xmlns:a="http://schemas.openxmlformats.org/drawingml/2006/main">
            <a:r>
              <a:t>[0:52] Build 3. Guardrails.</a:t>
            </a:r>
          </a:p>
          <a:p xmlns:a="http://schemas.openxmlformats.org/drawingml/2006/main">
            <a:r>
              <a:t/>
            </a:r>
          </a:p>
          <a:p xmlns:a="http://schemas.openxmlformats.org/drawingml/2006/main">
            <a:r>
              <a:t>Defense in depth at every boundary. Input classification. Provenance tags on retrieved content. Sandboxed tool execution. Output validation. Circuit breakers on tokens and actions. Approval gates on consequential actions. Least-privilege scopes.</a:t>
            </a:r>
          </a:p>
          <a:p xmlns:a="http://schemas.openxmlformats.org/drawingml/2006/main">
            <a:r>
              <a:t/>
            </a:r>
          </a:p>
          <a:p xmlns:a="http://schemas.openxmlformats.org/drawingml/2006/main">
            <a:r>
              <a:t>[1:06] Build 4. Security.</a:t>
            </a:r>
          </a:p>
          <a:p xmlns:a="http://schemas.openxmlformats.org/drawingml/2006/main">
            <a:r>
              <a:t/>
            </a:r>
          </a:p>
          <a:p xmlns:a="http://schemas.openxmlformats.org/drawingml/2006/main">
            <a:r>
              <a:t>Simon Willison's lethal trifecta. **Private data, untrusted content, external communication. Any two is safe.** All three is an exfiltration path, because "LLMs are unable to reliably distinguish the importance of instructions based on where they came from." Nobody knows how to stop injection completely, and a filter that catches 95% is not a security control. OWASP's LLM Top 10 has prompt injection at number one and excessive agency at number six, and OWASP shipped an agentic top ten for 2026: goal hijack, tool misuse, identity and privilege abuse, memory and context poisoning, cascading failures, rogue agents.</a:t>
            </a:r>
          </a:p>
          <a:p xmlns:a="http://schemas.openxmlformats.org/drawingml/2006/main">
            <a:r>
              <a:t/>
            </a:r>
          </a:p>
          <a:p xmlns:a="http://schemas.openxmlformats.org/drawingml/2006/main">
            <a:r>
              <a:t>[1:44] Build 5. Identity.</a:t>
            </a:r>
          </a:p>
          <a:p xmlns:a="http://schemas.openxmlformats.org/drawingml/2006/main">
            <a:r>
              <a:t/>
            </a:r>
          </a:p>
          <a:p xmlns:a="http://schemas.openxmlformats.org/drawingml/2006/main">
            <a:r>
              <a:t>The agent gets its own identity, plus short-lived delegated authority from the user. No token passthrough. No omnibus scopes.</a:t>
            </a:r>
          </a:p>
          <a:p xmlns:a="http://schemas.openxmlformats.org/drawingml/2006/main">
            <a:r>
              <a:t/>
            </a:r>
          </a:p>
          <a:p xmlns:a="http://schemas.openxmlformats.org/drawingml/2006/main">
            <a:r>
              <a:t>[1:53] Build 6. Governance.</a:t>
            </a:r>
          </a:p>
          <a:p xmlns:a="http://schemas.openxmlformats.org/drawingml/2006/main">
            <a:r>
              <a:t/>
            </a:r>
          </a:p>
          <a:p xmlns:a="http://schemas.openxmlformats.org/drawingml/2006/main">
            <a:r>
              <a:t>Audit trails and approvals. And since August 2, **EU AI Act Article 50: if your system interacts with people, you tell them it is an AI.**</a:t>
            </a:r>
          </a:p>
          <a:p xmlns:a="http://schemas.openxmlformats.org/drawingml/2006/main">
            <a:r>
              <a:t/>
            </a:r>
          </a:p>
          <a:p xmlns:a="http://schemas.openxmlformats.org/drawingml/2006/main">
            <a:r>
              <a:t>[2:04] Build 7. Three incidents, fast.</a:t>
            </a:r>
          </a:p>
          <a:p xmlns:a="http://schemas.openxmlformats.org/drawingml/2006/main">
            <a:r>
              <a:t/>
            </a:r>
          </a:p>
          <a:p xmlns:a="http://schemas.openxmlformats.org/drawingml/2006/main">
            <a:r>
              <a:t>EchoLeak, CVE-2025-32711. A zero-click injection in Microsoft 365 Copilot. One crafted email, and data from OneDrive, SharePoint, and Teams left through a trusted domain. **The trifecta in a shipped product.** Replit, July 2025. An agent deleted a production database during a code freeze. The fixes shipped afterward: dev and prod separation, a planning-only mode, one-click restore. Those fixes are the guardrails box on the diagram. Moffatt versus Air Canada, February 2024. The airline argued its chatbot was a separate legal entity. The tribunal disagreed. **The chatbot's answer was the company's answer.**</a:t>
            </a:r>
          </a:p>
          <a:p xmlns:a="http://schemas.openxmlformats.org/drawingml/2006/main">
            <a:r>
              <a:t/>
            </a:r>
          </a:p>
          <a:p xmlns:a="http://schemas.openxmlformats.org/drawingml/2006/main">
            <a:r>
              <a:t>[3:15] Advance to slide 19.</a:t>
            </a:r>
          </a:p>
          <a:p xmlns:a="http://schemas.openxmlformats.org/drawingml/2006/main">
            <a:r>
              <a:t/>
            </a:r>
          </a:p>
          <a:p xmlns:a="http://schemas.openxmlformats.org/drawingml/2006/main">
            <a:r>
              <a:t>The track runs about 2:50. The slack is for the incidents, which are dense with names and should not be rushed. Cuttable if the section runs long, in this order: the OWASP list of six agentic names, keeping "prompt injection at number one"; the Guardrails band spoken as a list, since it is on the slide; the OpenTelemetry status clause. Do not cut cost per completed task, the trifecta, Article 50, or any of the three incidents.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Codex CLI and Devin CLI docs: `/usage` in both; Codex `otel.exporter`; Devin `--sandbox` with `sandbox.allowed_domains`; `devin mcp login`. Research §6 in `research/section-2.md`. `[primary]`, checked in a browser September 14, 2026.</a:t>
            </a:r>
          </a:p>
          <a:p xmlns:a="http://schemas.openxmlformats.org/drawingml/2006/main">
            <a:r>
              <a:t>- OpenTelemetry GenAI semantic conventions repository: "Status: Development"; "Warning: Semantic conventions are subject to change." Research §6. `[primary]`, checked September 14, 2026. The `[verify status]` flag is cleared.</a:t>
            </a:r>
          </a:p>
          <a:p xmlns:a="http://schemas.openxmlformats.org/drawingml/2006/main">
            <a:r>
              <a:t>- Datadog, "State of AI Engineering," July 2026. Quote verbatim. Research §6, and §3 in `research/section-1.md`. `[primary]`.</a:t>
            </a:r>
          </a:p>
          <a:p xmlns:a="http://schemas.openxmlformats.org/drawingml/2006/main">
            <a:r>
              <a:t>- Willison, "The lethal trifecta for AI agents," June 2025. The three named verbatim; "LLMs are unable to reliably distinguish the importance of instructions based on where they came from" verbatim. "Any two is safe" is the talk's paraphrase of his argument. Research §6. `[primary]`.</a:t>
            </a:r>
          </a:p>
          <a:p xmlns:a="http://schemas.openxmlformats.org/drawingml/2006/main">
            <a:r>
              <a:t>- OWASP Top 10 for LLM Applications 2025: LLM01 and LLM06. OWASP Top 10 for Agentic Applications 2026, announced December 9, 2025: the six names spoken match the announcement. Research §6. `[primary]`, checked September 14, 2026. Flag cleared.</a:t>
            </a:r>
          </a:p>
          <a:p xmlns:a="http://schemas.openxmlformats.org/drawingml/2006/main">
            <a:r>
              <a:t>- MCP Security Best Practices, July 2026, for no token passthrough and no omnibus scopes. The agent-identity-plus-delegation pattern is presented as direction, not standard. Research §3 and §6.</a:t>
            </a:r>
          </a:p>
          <a:p xmlns:a="http://schemas.openxmlformats.org/drawingml/2006/main">
            <a:r>
              <a:t>- EU AI Act tracker, Article 50: applies from August 2, 2026; interaction disclosure not extended by the Omnibus. Research §6. `[primary]` for the tracker, checked September 14, 2026. Flag cleared.</a:t>
            </a:r>
          </a:p>
          <a:p xmlns:a="http://schemas.openxmlformats.org/drawingml/2006/main">
            <a:r>
              <a:t>- EchoLeak: CVE-2025-32711, CVSS 9.3, Aim Security, June 2025; arXiv analysis 2509.10540. Replit: Fortune, July 23, 2025, and AI Incident Database 1152. Moffatt v. Air Canada: BC Civil Resolution Tribunal, February 2024, via McCarthy Tétrault. Research §6.</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Decide whether build 1 is chips only or chips plus one OAuth consent screenshot.</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https://github.com/open-telemetry/semantic-conventions-genai</a:t>
            </a:r>
          </a:p>
          <a:p xmlns:a="http://schemas.openxmlformats.org/drawingml/2006/main">
            <a:r>
              <a:t>https://opentelemetry.io/docs/specs/semconv/gen-ai/</a:t>
            </a:r>
          </a:p>
          <a:p xmlns:a="http://schemas.openxmlformats.org/drawingml/2006/main">
            <a:r>
              <a:t>https://opentelemetry.io/blog/2026/genai-observability/</a:t>
            </a:r>
          </a:p>
          <a:p xmlns:a="http://schemas.openxmlformats.org/drawingml/2006/main">
            <a:r>
              <a:t>https://www.datadoghq.com/state-of-ai-engineering/</a:t>
            </a:r>
          </a:p>
          <a:p xmlns:a="http://schemas.openxmlformats.org/drawingml/2006/main">
            <a:r>
              <a:t>https://simonwillison.net/2025/Jun/16/the-lethal-trifecta/</a:t>
            </a:r>
          </a:p>
          <a:p xmlns:a="http://schemas.openxmlformats.org/drawingml/2006/main">
            <a:r>
              <a:t>https://owasp.org/www-project-top-10-for-large-language-model-applications/assets/PDF/OWASP-Top-10-for-LLMs-v2025.pdf</a:t>
            </a:r>
          </a:p>
          <a:p xmlns:a="http://schemas.openxmlformats.org/drawingml/2006/main">
            <a:r>
              <a:t>https://genai.owasp.org/2025/12/09/owasp-top-10-for-agentic-applications-the-benchmark-for-agentic-security-in-the-age-of-autonomous-ai/</a:t>
            </a:r>
          </a:p>
          <a:p xmlns:a="http://schemas.openxmlformats.org/drawingml/2006/main">
            <a:r>
              <a:t>https://genai.owasp.org/resource/owasp-top-10-for-agentic-applications-for-2026/</a:t>
            </a:r>
          </a:p>
          <a:p xmlns:a="http://schemas.openxmlformats.org/drawingml/2006/main">
            <a:r>
              <a:t>https://artificialintelligenceact.eu/transparency-rules-article-50/</a:t>
            </a:r>
          </a:p>
          <a:p xmlns:a="http://schemas.openxmlformats.org/drawingml/2006/main">
            <a:r>
              <a:t>https://arxiv.org/pdf/2509.10540</a:t>
            </a:r>
          </a:p>
          <a:p xmlns:a="http://schemas.openxmlformats.org/drawingml/2006/main">
            <a:r>
              <a:t>https://fortune.com/2025/07/23/ai-coding-tool-replit-wiped-database-called-it-a-catastrophic-failure</a:t>
            </a:r>
          </a:p>
          <a:p xmlns:a="http://schemas.openxmlformats.org/drawingml/2006/main">
            <a:r>
              <a:t>https://incidentdatabase.ai/cite/1152/</a:t>
            </a:r>
          </a:p>
          <a:p xmlns:a="http://schemas.openxmlformats.org/drawingml/2006/main">
            <a:r>
              <a:t>https://www.mccarthy.ca/en/insights/blogs/techlex/moffatt-v-air-canada-misrepresentation-ai-chatbot</a:t>
            </a:r>
          </a:p>
          <a:p xmlns:a="http://schemas.openxmlformats.org/drawingml/2006/main">
            <a:r>
              <a:t>https://www-cdn.anthropic.com/d7dd50dd1185f59be051b307150d877f2b82bd2c.pdf</a:t>
            </a:r>
          </a:p>
          <a:p xmlns:a="http://schemas.openxmlformats.org/drawingml/2006/main">
            <a:r>
              <a:t>https://attack.mitre.org/campaigns/C0062/</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18b</a:t>
            </a:r>
          </a:p>
          <a:p xmlns:a="http://schemas.openxmlformats.org/drawingml/2006/main">
            <a:r>
              <a:t>Beat 2.6 Operating it, first half. Section 2. Time 3:15 of the beat's 4:30; slide 19 takes 1:15. Builds: 7.</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`/usage`, in both tools. The OpenTelemetry exporter in Codex's config. The sandbox, and in Devin CLI the domain allowlist that goes with it. The OAuth login when you connected an MCP server. And a trust and safety team you have never met.</a:t>
            </a:r>
          </a:p>
          <a:p xmlns:a="http://schemas.openxmlformats.org/drawingml/2006/main">
            <a:r>
              <a:t/>
            </a:r>
          </a:p>
          <a:p xmlns:a="http://schemas.openxmlformats.org/drawingml/2006/main">
            <a:r>
              <a:t>[0:16] Build 2. Observability.</a:t>
            </a:r>
          </a:p>
          <a:p xmlns:a="http://schemas.openxmlformats.org/drawingml/2006/main">
            <a:r>
              <a:t/>
            </a:r>
          </a:p>
          <a:p xmlns:a="http://schemas.openxmlformats.org/drawingml/2006/main">
            <a:r>
              <a:t>Traces per model call, tool call, and agent step. OpenTelemetry has GenAI conventions for exactly this, still marked Development, so pin a snapshot and expect names to move. The metrics that matter: **cost per completed task, not per request.** p95 and p99 tokens, because long conversations and bad retrieval concentrate cost in the tail. Cache hit rate. Loop iterations per task. Tool failure rate. Datadog's line from July: **"The next wave of agent failures won't be about what agents can't do. It'll be about what teams can't observe."**</a:t>
            </a:r>
          </a:p>
          <a:p xmlns:a="http://schemas.openxmlformats.org/drawingml/2006/main">
            <a:r>
              <a:t/>
            </a:r>
          </a:p>
          <a:p xmlns:a="http://schemas.openxmlformats.org/drawingml/2006/main">
            <a:r>
              <a:t>[0:52] Build 3. Guardrails.</a:t>
            </a:r>
          </a:p>
          <a:p xmlns:a="http://schemas.openxmlformats.org/drawingml/2006/main">
            <a:r>
              <a:t/>
            </a:r>
          </a:p>
          <a:p xmlns:a="http://schemas.openxmlformats.org/drawingml/2006/main">
            <a:r>
              <a:t>Defense in depth at every boundary. Input classification. Provenance tags on retrieved content. Sandboxed tool execution. Output validation. Circuit breakers on tokens and actions. Approval gates on consequential actions. Least-privilege scopes.</a:t>
            </a:r>
          </a:p>
          <a:p xmlns:a="http://schemas.openxmlformats.org/drawingml/2006/main">
            <a:r>
              <a:t/>
            </a:r>
          </a:p>
          <a:p xmlns:a="http://schemas.openxmlformats.org/drawingml/2006/main">
            <a:r>
              <a:t>[1:06] Build 4. Security.</a:t>
            </a:r>
          </a:p>
          <a:p xmlns:a="http://schemas.openxmlformats.org/drawingml/2006/main">
            <a:r>
              <a:t/>
            </a:r>
          </a:p>
          <a:p xmlns:a="http://schemas.openxmlformats.org/drawingml/2006/main">
            <a:r>
              <a:t>Simon Willison's lethal trifecta. **Private data, untrusted content, external communication. Any two is safe.** All three is an exfiltration path, because "LLMs are unable to reliably distinguish the importance of instructions based on where they came from." Nobody knows how to stop injection completely, and a filter that catches 95% is not a security control. OWASP's LLM Top 10 has prompt injection at number one and excessive agency at number six, and OWASP shipped an agentic top ten for 2026: goal hijack, tool misuse, identity and privilege abuse, memory and context poisoning, cascading failures, rogue agents.</a:t>
            </a:r>
          </a:p>
          <a:p xmlns:a="http://schemas.openxmlformats.org/drawingml/2006/main">
            <a:r>
              <a:t/>
            </a:r>
          </a:p>
          <a:p xmlns:a="http://schemas.openxmlformats.org/drawingml/2006/main">
            <a:r>
              <a:t>[1:44] Build 5. Identity.</a:t>
            </a:r>
          </a:p>
          <a:p xmlns:a="http://schemas.openxmlformats.org/drawingml/2006/main">
            <a:r>
              <a:t/>
            </a:r>
          </a:p>
          <a:p xmlns:a="http://schemas.openxmlformats.org/drawingml/2006/main">
            <a:r>
              <a:t>The agent gets its own identity, plus short-lived delegated authority from the user. No token passthrough. No omnibus scopes.</a:t>
            </a:r>
          </a:p>
          <a:p xmlns:a="http://schemas.openxmlformats.org/drawingml/2006/main">
            <a:r>
              <a:t/>
            </a:r>
          </a:p>
          <a:p xmlns:a="http://schemas.openxmlformats.org/drawingml/2006/main">
            <a:r>
              <a:t>[1:53] Build 6. Governance.</a:t>
            </a:r>
          </a:p>
          <a:p xmlns:a="http://schemas.openxmlformats.org/drawingml/2006/main">
            <a:r>
              <a:t/>
            </a:r>
          </a:p>
          <a:p xmlns:a="http://schemas.openxmlformats.org/drawingml/2006/main">
            <a:r>
              <a:t>Audit trails and approvals. And since August 2, **EU AI Act Article 50: if your system interacts with people, you tell them it is an AI.**</a:t>
            </a:r>
          </a:p>
          <a:p xmlns:a="http://schemas.openxmlformats.org/drawingml/2006/main">
            <a:r>
              <a:t/>
            </a:r>
          </a:p>
          <a:p xmlns:a="http://schemas.openxmlformats.org/drawingml/2006/main">
            <a:r>
              <a:t>[2:04] Build 7. Three incidents, fast.</a:t>
            </a:r>
          </a:p>
          <a:p xmlns:a="http://schemas.openxmlformats.org/drawingml/2006/main">
            <a:r>
              <a:t/>
            </a:r>
          </a:p>
          <a:p xmlns:a="http://schemas.openxmlformats.org/drawingml/2006/main">
            <a:r>
              <a:t>EchoLeak, CVE-2025-32711. A zero-click injection in Microsoft 365 Copilot. One crafted email, and data from OneDrive, SharePoint, and Teams left through a trusted domain. **The trifecta in a shipped product.** Replit, July 2025. An agent deleted a production database during a code freeze. The fixes shipped afterward: dev and prod separation, a planning-only mode, one-click restore. Those fixes are the guardrails box on the diagram. Moffatt versus Air Canada, February 2024. The airline argued its chatbot was a separate legal entity. The tribunal disagreed. **The chatbot's answer was the company's answer.**</a:t>
            </a:r>
          </a:p>
          <a:p xmlns:a="http://schemas.openxmlformats.org/drawingml/2006/main">
            <a:r>
              <a:t/>
            </a:r>
          </a:p>
          <a:p xmlns:a="http://schemas.openxmlformats.org/drawingml/2006/main">
            <a:r>
              <a:t>[3:15] Advance to slide 19.</a:t>
            </a:r>
          </a:p>
          <a:p xmlns:a="http://schemas.openxmlformats.org/drawingml/2006/main">
            <a:r>
              <a:t/>
            </a:r>
          </a:p>
          <a:p xmlns:a="http://schemas.openxmlformats.org/drawingml/2006/main">
            <a:r>
              <a:t>The track runs about 2:50. The slack is for the incidents, which are dense with names and should not be rushed. Cuttable if the section runs long, in this order: the OWASP list of six agentic names, keeping "prompt injection at number one"; the Guardrails band spoken as a list, since it is on the slide; the OpenTelemetry status clause. Do not cut cost per completed task, the trifecta, Article 50, or any of the three incidents.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Codex CLI and Devin CLI docs: `/usage` in both; Codex `otel.exporter`; Devin `--sandbox` with `sandbox.allowed_domains`; `devin mcp login`. Research §6 in `research/section-2.md`. `[primary]`, checked in a browser September 14, 2026.</a:t>
            </a:r>
          </a:p>
          <a:p xmlns:a="http://schemas.openxmlformats.org/drawingml/2006/main">
            <a:r>
              <a:t>- OpenTelemetry GenAI semantic conventions repository: "Status: Development"; "Warning: Semantic conventions are subject to change." Research §6. `[primary]`, checked September 14, 2026. The `[verify status]` flag is cleared.</a:t>
            </a:r>
          </a:p>
          <a:p xmlns:a="http://schemas.openxmlformats.org/drawingml/2006/main">
            <a:r>
              <a:t>- Datadog, "State of AI Engineering," July 2026. Quote verbatim. Research §6, and §3 in `research/section-1.md`. `[primary]`.</a:t>
            </a:r>
          </a:p>
          <a:p xmlns:a="http://schemas.openxmlformats.org/drawingml/2006/main">
            <a:r>
              <a:t>- Willison, "The lethal trifecta for AI agents," June 2025. The three named verbatim; "LLMs are unable to reliably distinguish the importance of instructions based on where they came from" verbatim. "Any two is safe" is the talk's paraphrase of his argument. Research §6. `[primary]`.</a:t>
            </a:r>
          </a:p>
          <a:p xmlns:a="http://schemas.openxmlformats.org/drawingml/2006/main">
            <a:r>
              <a:t>- OWASP Top 10 for LLM Applications 2025: LLM01 and LLM06. OWASP Top 10 for Agentic Applications 2026, announced December 9, 2025: the six names spoken match the announcement. Research §6. `[primary]`, checked September 14, 2026. Flag cleared.</a:t>
            </a:r>
          </a:p>
          <a:p xmlns:a="http://schemas.openxmlformats.org/drawingml/2006/main">
            <a:r>
              <a:t>- MCP Security Best Practices, July 2026, for no token passthrough and no omnibus scopes. The agent-identity-plus-delegation pattern is presented as direction, not standard. Research §3 and §6.</a:t>
            </a:r>
          </a:p>
          <a:p xmlns:a="http://schemas.openxmlformats.org/drawingml/2006/main">
            <a:r>
              <a:t>- EU AI Act tracker, Article 50: applies from August 2, 2026; interaction disclosure not extended by the Omnibus. Research §6. `[primary]` for the tracker, checked September 14, 2026. Flag cleared.</a:t>
            </a:r>
          </a:p>
          <a:p xmlns:a="http://schemas.openxmlformats.org/drawingml/2006/main">
            <a:r>
              <a:t>- EchoLeak: CVE-2025-32711, CVSS 9.3, Aim Security, June 2025; arXiv analysis 2509.10540. Replit: Fortune, July 23, 2025, and AI Incident Database 1152. Moffatt v. Air Canada: BC Civil Resolution Tribunal, February 2024, via McCarthy Tétrault. Research §6.</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Decide whether build 1 is chips only or chips plus one OAuth consent screenshot.</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https://github.com/open-telemetry/semantic-conventions-genai</a:t>
            </a:r>
          </a:p>
          <a:p xmlns:a="http://schemas.openxmlformats.org/drawingml/2006/main">
            <a:r>
              <a:t>https://opentelemetry.io/docs/specs/semconv/gen-ai/</a:t>
            </a:r>
          </a:p>
          <a:p xmlns:a="http://schemas.openxmlformats.org/drawingml/2006/main">
            <a:r>
              <a:t>https://opentelemetry.io/blog/2026/genai-observability/</a:t>
            </a:r>
          </a:p>
          <a:p xmlns:a="http://schemas.openxmlformats.org/drawingml/2006/main">
            <a:r>
              <a:t>https://www.datadoghq.com/state-of-ai-engineering/</a:t>
            </a:r>
          </a:p>
          <a:p xmlns:a="http://schemas.openxmlformats.org/drawingml/2006/main">
            <a:r>
              <a:t>https://simonwillison.net/2025/Jun/16/the-lethal-trifecta/</a:t>
            </a:r>
          </a:p>
          <a:p xmlns:a="http://schemas.openxmlformats.org/drawingml/2006/main">
            <a:r>
              <a:t>https://owasp.org/www-project-top-10-for-large-language-model-applications/assets/PDF/OWASP-Top-10-for-LLMs-v2025.pdf</a:t>
            </a:r>
          </a:p>
          <a:p xmlns:a="http://schemas.openxmlformats.org/drawingml/2006/main">
            <a:r>
              <a:t>https://genai.owasp.org/2025/12/09/owasp-top-10-for-agentic-applications-the-benchmark-for-agentic-security-in-the-age-of-autonomous-ai/</a:t>
            </a:r>
          </a:p>
          <a:p xmlns:a="http://schemas.openxmlformats.org/drawingml/2006/main">
            <a:r>
              <a:t>https://genai.owasp.org/resource/owasp-top-10-for-agentic-applications-for-2026/</a:t>
            </a:r>
          </a:p>
          <a:p xmlns:a="http://schemas.openxmlformats.org/drawingml/2006/main">
            <a:r>
              <a:t>https://artificialintelligenceact.eu/transparency-rules-article-50/</a:t>
            </a:r>
          </a:p>
          <a:p xmlns:a="http://schemas.openxmlformats.org/drawingml/2006/main">
            <a:r>
              <a:t>https://arxiv.org/pdf/2509.10540</a:t>
            </a:r>
          </a:p>
          <a:p xmlns:a="http://schemas.openxmlformats.org/drawingml/2006/main">
            <a:r>
              <a:t>https://fortune.com/2025/07/23/ai-coding-tool-replit-wiped-database-called-it-a-catastrophic-failure</a:t>
            </a:r>
          </a:p>
          <a:p xmlns:a="http://schemas.openxmlformats.org/drawingml/2006/main">
            <a:r>
              <a:t>https://incidentdatabase.ai/cite/1152/</a:t>
            </a:r>
          </a:p>
          <a:p xmlns:a="http://schemas.openxmlformats.org/drawingml/2006/main">
            <a:r>
              <a:t>https://www.mccarthy.ca/en/insights/blogs/techlex/moffatt-v-air-canada-misrepresentation-ai-chatbot</a:t>
            </a:r>
          </a:p>
          <a:p xmlns:a="http://schemas.openxmlformats.org/drawingml/2006/main">
            <a:r>
              <a:t>https://www-cdn.anthropic.com/d7dd50dd1185f59be051b307150d877f2b82bd2c.pdf</a:t>
            </a:r>
          </a:p>
          <a:p xmlns:a="http://schemas.openxmlformats.org/drawingml/2006/main">
            <a:r>
              <a:t>https://attack.mitre.org/campaigns/C0062/</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19</a:t>
            </a:r>
          </a:p>
          <a:p xmlns:a="http://schemas.openxmlformats.org/drawingml/2006/main">
            <a:r>
              <a:t>Beat 2.6 Operating it, second half, plus the section wrap. Section 2. Time 1:15 of the beat's 4:30; slide 18 took 3:15. Builds: 3.</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All of this was built for you and rendered as a permission prompt, a sandbox, an OAuth flow, and a `/usage` command. In your deployment there is no prompt to click, because the user is a customer and often is not present. **The approval gate becomes an async workflow or a policy. The sandbox becomes your infrastructure. The audit trail becomes a compliance artifact. And the law says you disclose.**</a:t>
            </a:r>
          </a:p>
          <a:p xmlns:a="http://schemas.openxmlformats.org/drawingml/2006/main">
            <a:r>
              <a:t/>
            </a:r>
          </a:p>
          <a:p xmlns:a="http://schemas.openxmlformats.org/drawingml/2006/main">
            <a:r>
              <a:t>[0:30] Build 2.</a:t>
            </a:r>
          </a:p>
          <a:p xmlns:a="http://schemas.openxmlformats.org/drawingml/2006/main">
            <a:r>
              <a:t/>
            </a:r>
          </a:p>
          <a:p xmlns:a="http://schemas.openxmlformats.org/drawingml/2006/main">
            <a:r>
              <a:t>The pitfall: **assembling the lethal trifecta by accident, one reasonable integration at a time.** A retriever, then a web fetch tool, then an email sender. Nobody decides to build an exfiltration path.</a:t>
            </a:r>
          </a:p>
          <a:p xmlns:a="http://schemas.openxmlformats.org/drawingml/2006/main">
            <a:r>
              <a:t/>
            </a:r>
          </a:p>
          <a:p xmlns:a="http://schemas.openxmlformats.org/drawingml/2006/main">
            <a:r>
              <a:t>[0:46] **When it's your agent, its answer is your answer.**</a:t>
            </a:r>
          </a:p>
          <a:p xmlns:a="http://schemas.openxmlformats.org/drawingml/2006/main">
            <a:r>
              <a:t/>
            </a:r>
          </a:p>
          <a:p xmlns:a="http://schemas.openxmlformats.org/drawingml/2006/main">
            <a:r>
              <a:t>[0:50] Build 3. Hard cut to the diagram.</a:t>
            </a:r>
          </a:p>
          <a:p xmlns:a="http://schemas.openxmlformats.org/drawingml/2006/main">
            <a:r>
              <a:t/>
            </a:r>
          </a:p>
          <a:p xmlns:a="http://schemas.openxmlformats.org/drawingml/2006/main">
            <a:r>
              <a:t>**That is the map. Every box on it is something you can engineer, because most of it is engineering you already know how to do.**</a:t>
            </a:r>
          </a:p>
          <a:p xmlns:a="http://schemas.openxmlformats.org/drawingml/2006/main">
            <a:r>
              <a:t/>
            </a:r>
          </a:p>
          <a:p xmlns:a="http://schemas.openxmlformats.org/drawingml/2006/main">
            <a:r>
              <a:t>[1:15] Advance to slide 20. Let the diagram sit for the remaining seconds; it is the last image of Section 2.</a:t>
            </a:r>
          </a:p>
          <a:p xmlns:a="http://schemas.openxmlformats.org/drawingml/2006/main">
            <a:r>
              <a:t/>
            </a:r>
          </a:p>
          <a:p xmlns:a="http://schemas.openxmlformats.org/drawingml/2006/main">
            <a:r>
              <a:t>The track runs about 1:00. The slack is for the diagram. Nothing on this slide is cuttable.</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four translations restate slide 18; no new claims. Research §6 in `research/section-2.md`.</a:t>
            </a:r>
          </a:p>
          <a:p xmlns:a="http://schemas.openxmlformats.org/drawingml/2006/main">
            <a:r>
              <a:t>- Willison's lethal trifecta, June 2025, for the pitfall. Research §6. `[primary]`.</a:t>
            </a:r>
          </a:p>
          <a:p xmlns:a="http://schemas.openxmlformats.org/drawingml/2006/main">
            <a:r>
              <a:t>- EU AI Act tracker for Article 50 in the fourth row. Research §6. `[primary]` for the tracker, checked in a browser September 14, 2026.</a:t>
            </a:r>
          </a:p>
          <a:p xmlns:a="http://schemas.openxmlformats.org/drawingml/2006/main">
            <a:r>
              <a:t>- The diagram variant is generated from the landscape SVG; the only change is the badges and the title suffix.</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Review the "yours" badge color and placement against the deck template once one is chosen.</a:t>
            </a:r>
          </a:p>
          <a:p xmlns:a="http://schemas.openxmlformats.org/drawingml/2006/main">
            <a:r>
              <a:t>- Decide whether the Model box should read "yours to select" as drafted, or carry a plain "yours" like the others.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https://github.com/open-telemetry/semantic-conventions-genai</a:t>
            </a:r>
          </a:p>
          <a:p xmlns:a="http://schemas.openxmlformats.org/drawingml/2006/main">
            <a:r>
              <a:t>https://opentelemetry.io/docs/specs/semconv/gen-ai/</a:t>
            </a:r>
          </a:p>
          <a:p xmlns:a="http://schemas.openxmlformats.org/drawingml/2006/main">
            <a:r>
              <a:t>https://opentelemetry.io/blog/2026/genai-observability/</a:t>
            </a:r>
          </a:p>
          <a:p xmlns:a="http://schemas.openxmlformats.org/drawingml/2006/main">
            <a:r>
              <a:t>https://www.datadoghq.com/state-of-ai-engineering/</a:t>
            </a:r>
          </a:p>
          <a:p xmlns:a="http://schemas.openxmlformats.org/drawingml/2006/main">
            <a:r>
              <a:t>https://simonwillison.net/2025/Jun/16/the-lethal-trifecta/</a:t>
            </a:r>
          </a:p>
          <a:p xmlns:a="http://schemas.openxmlformats.org/drawingml/2006/main">
            <a:r>
              <a:t>https://owasp.org/www-project-top-10-for-large-language-model-applications/assets/PDF/OWASP-Top-10-for-LLMs-v2025.pdf</a:t>
            </a:r>
          </a:p>
          <a:p xmlns:a="http://schemas.openxmlformats.org/drawingml/2006/main">
            <a:r>
              <a:t>https://genai.owasp.org/2025/12/09/owasp-top-10-for-agentic-applications-the-benchmark-for-agentic-security-in-the-age-of-autonomous-ai/</a:t>
            </a:r>
          </a:p>
          <a:p xmlns:a="http://schemas.openxmlformats.org/drawingml/2006/main">
            <a:r>
              <a:t>https://genai.owasp.org/resource/owasp-top-10-for-agentic-applications-for-2026/</a:t>
            </a:r>
          </a:p>
          <a:p xmlns:a="http://schemas.openxmlformats.org/drawingml/2006/main">
            <a:r>
              <a:t>https://artificialintelligenceact.eu/transparency-rules-article-50/</a:t>
            </a:r>
          </a:p>
          <a:p xmlns:a="http://schemas.openxmlformats.org/drawingml/2006/main">
            <a:r>
              <a:t>https://arxiv.org/pdf/2509.10540</a:t>
            </a:r>
          </a:p>
          <a:p xmlns:a="http://schemas.openxmlformats.org/drawingml/2006/main">
            <a:r>
              <a:t>https://fortune.com/2025/07/23/ai-coding-tool-replit-wiped-database-called-it-a-catastrophic-failure</a:t>
            </a:r>
          </a:p>
          <a:p xmlns:a="http://schemas.openxmlformats.org/drawingml/2006/main">
            <a:r>
              <a:t>https://incidentdatabase.ai/cite/1152/</a:t>
            </a:r>
          </a:p>
          <a:p xmlns:a="http://schemas.openxmlformats.org/drawingml/2006/main">
            <a:r>
              <a:t>https://www.mccarthy.ca/en/insights/blogs/techlex/moffatt-v-air-canada-misrepresentation-ai-chatbot</a:t>
            </a:r>
          </a:p>
          <a:p xmlns:a="http://schemas.openxmlformats.org/drawingml/2006/main">
            <a:r>
              <a:t>https://www-cdn.anthropic.com/d7dd50dd1185f59be051b307150d877f2b82bd2c.pdf</a:t>
            </a:r>
          </a:p>
          <a:p xmlns:a="http://schemas.openxmlformats.org/drawingml/2006/main">
            <a:r>
              <a:t>https://attack.mitre.org/campaigns/C0062/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19b</a:t>
            </a:r>
          </a:p>
          <a:p xmlns:a="http://schemas.openxmlformats.org/drawingml/2006/main">
            <a:r>
              <a:t>Beat 2.6 Operating it, second half, plus the section wrap. Section 2. Time 1:15 of the beat's 4:30; slide 18 took 3:15. Builds: 3.</a:t>
            </a:r>
          </a:p>
          <a:p xmlns:a="http://schemas.openxmlformats.org/drawingml/2006/main">
            <a:r>
              <a:t>Source slide 19, build 3. Hard cut to the section wrap at 0:50.</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All of this was built for you and rendered as a permission prompt, a sandbox, an OAuth flow, and a `/usage` command. In your deployment there is no prompt to click, because the user is a customer and often is not present. **The approval gate becomes an async workflow or a policy. The sandbox becomes your infrastructure. The audit trail becomes a compliance artifact. And the law says you disclose.**</a:t>
            </a:r>
          </a:p>
          <a:p xmlns:a="http://schemas.openxmlformats.org/drawingml/2006/main">
            <a:r>
              <a:t/>
            </a:r>
          </a:p>
          <a:p xmlns:a="http://schemas.openxmlformats.org/drawingml/2006/main">
            <a:r>
              <a:t>[0:30] Build 2.</a:t>
            </a:r>
          </a:p>
          <a:p xmlns:a="http://schemas.openxmlformats.org/drawingml/2006/main">
            <a:r>
              <a:t/>
            </a:r>
          </a:p>
          <a:p xmlns:a="http://schemas.openxmlformats.org/drawingml/2006/main">
            <a:r>
              <a:t>The pitfall: **assembling the lethal trifecta by accident, one reasonable integration at a time.** A retriever, then a web fetch tool, then an email sender. Nobody decides to build an exfiltration path.</a:t>
            </a:r>
          </a:p>
          <a:p xmlns:a="http://schemas.openxmlformats.org/drawingml/2006/main">
            <a:r>
              <a:t/>
            </a:r>
          </a:p>
          <a:p xmlns:a="http://schemas.openxmlformats.org/drawingml/2006/main">
            <a:r>
              <a:t>[0:46] **When it's your agent, its answer is your answer.**</a:t>
            </a:r>
          </a:p>
          <a:p xmlns:a="http://schemas.openxmlformats.org/drawingml/2006/main">
            <a:r>
              <a:t/>
            </a:r>
          </a:p>
          <a:p xmlns:a="http://schemas.openxmlformats.org/drawingml/2006/main">
            <a:r>
              <a:t>[0:50] Build 3. Hard cut to the diagram.</a:t>
            </a:r>
          </a:p>
          <a:p xmlns:a="http://schemas.openxmlformats.org/drawingml/2006/main">
            <a:r>
              <a:t/>
            </a:r>
          </a:p>
          <a:p xmlns:a="http://schemas.openxmlformats.org/drawingml/2006/main">
            <a:r>
              <a:t>**That is the map. Every box on it is something you can engineer, because most of it is engineering you already know how to do.**</a:t>
            </a:r>
          </a:p>
          <a:p xmlns:a="http://schemas.openxmlformats.org/drawingml/2006/main">
            <a:r>
              <a:t/>
            </a:r>
          </a:p>
          <a:p xmlns:a="http://schemas.openxmlformats.org/drawingml/2006/main">
            <a:r>
              <a:t>[1:15] Advance to slide 20. Let the diagram sit for the remaining seconds; it is the last image of Section 2.</a:t>
            </a:r>
          </a:p>
          <a:p xmlns:a="http://schemas.openxmlformats.org/drawingml/2006/main">
            <a:r>
              <a:t/>
            </a:r>
          </a:p>
          <a:p xmlns:a="http://schemas.openxmlformats.org/drawingml/2006/main">
            <a:r>
              <a:t>The track runs about 1:00. The slack is for the diagram. Nothing on this slide is cuttable.</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four translations restate slide 18; no new claims. Research §6 in `research/section-2.md`.</a:t>
            </a:r>
          </a:p>
          <a:p xmlns:a="http://schemas.openxmlformats.org/drawingml/2006/main">
            <a:r>
              <a:t>- Willison's lethal trifecta, June 2025, for the pitfall. Research §6. `[primary]`.</a:t>
            </a:r>
          </a:p>
          <a:p xmlns:a="http://schemas.openxmlformats.org/drawingml/2006/main">
            <a:r>
              <a:t>- EU AI Act tracker for Article 50 in the fourth row. Research §6. `[primary]` for the tracker, checked in a browser September 14, 2026.</a:t>
            </a:r>
          </a:p>
          <a:p xmlns:a="http://schemas.openxmlformats.org/drawingml/2006/main">
            <a:r>
              <a:t>- The diagram variant is generated from the landscape SVG; the only change is the badges and the title suffix.</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Review the "yours" badge color and placement against the deck template once one is chosen.</a:t>
            </a:r>
          </a:p>
          <a:p xmlns:a="http://schemas.openxmlformats.org/drawingml/2006/main">
            <a:r>
              <a:t>- Decide whether the Model box should read "yours to select" as drafted, or carry a plain "yours" like the others.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https://github.com/open-telemetry/semantic-conventions-genai</a:t>
            </a:r>
          </a:p>
          <a:p xmlns:a="http://schemas.openxmlformats.org/drawingml/2006/main">
            <a:r>
              <a:t>https://opentelemetry.io/docs/specs/semconv/gen-ai/</a:t>
            </a:r>
          </a:p>
          <a:p xmlns:a="http://schemas.openxmlformats.org/drawingml/2006/main">
            <a:r>
              <a:t>https://opentelemetry.io/blog/2026/genai-observability/</a:t>
            </a:r>
          </a:p>
          <a:p xmlns:a="http://schemas.openxmlformats.org/drawingml/2006/main">
            <a:r>
              <a:t>https://www.datadoghq.com/state-of-ai-engineering/</a:t>
            </a:r>
          </a:p>
          <a:p xmlns:a="http://schemas.openxmlformats.org/drawingml/2006/main">
            <a:r>
              <a:t>https://simonwillison.net/2025/Jun/16/the-lethal-trifecta/</a:t>
            </a:r>
          </a:p>
          <a:p xmlns:a="http://schemas.openxmlformats.org/drawingml/2006/main">
            <a:r>
              <a:t>https://owasp.org/www-project-top-10-for-large-language-model-applications/assets/PDF/OWASP-Top-10-for-LLMs-v2025.pdf</a:t>
            </a:r>
          </a:p>
          <a:p xmlns:a="http://schemas.openxmlformats.org/drawingml/2006/main">
            <a:r>
              <a:t>https://genai.owasp.org/2025/12/09/owasp-top-10-for-agentic-applications-the-benchmark-for-agentic-security-in-the-age-of-autonomous-ai/</a:t>
            </a:r>
          </a:p>
          <a:p xmlns:a="http://schemas.openxmlformats.org/drawingml/2006/main">
            <a:r>
              <a:t>https://genai.owasp.org/resource/owasp-top-10-for-agentic-applications-for-2026/</a:t>
            </a:r>
          </a:p>
          <a:p xmlns:a="http://schemas.openxmlformats.org/drawingml/2006/main">
            <a:r>
              <a:t>https://artificialintelligenceact.eu/transparency-rules-article-50/</a:t>
            </a:r>
          </a:p>
          <a:p xmlns:a="http://schemas.openxmlformats.org/drawingml/2006/main">
            <a:r>
              <a:t>https://arxiv.org/pdf/2509.10540</a:t>
            </a:r>
          </a:p>
          <a:p xmlns:a="http://schemas.openxmlformats.org/drawingml/2006/main">
            <a:r>
              <a:t>https://fortune.com/2025/07/23/ai-coding-tool-replit-wiped-database-called-it-a-catastrophic-failure</a:t>
            </a:r>
          </a:p>
          <a:p xmlns:a="http://schemas.openxmlformats.org/drawingml/2006/main">
            <a:r>
              <a:t>https://incidentdatabase.ai/cite/1152/</a:t>
            </a:r>
          </a:p>
          <a:p xmlns:a="http://schemas.openxmlformats.org/drawingml/2006/main">
            <a:r>
              <a:t>https://www.mccarthy.ca/en/insights/blogs/techlex/moffatt-v-air-canada-misrepresentation-ai-chatbot</a:t>
            </a:r>
          </a:p>
          <a:p xmlns:a="http://schemas.openxmlformats.org/drawingml/2006/main">
            <a:r>
              <a:t>https://www-cdn.anthropic.com/d7dd50dd1185f59be051b307150d877f2b82bd2c.pdf</a:t>
            </a:r>
          </a:p>
          <a:p xmlns:a="http://schemas.openxmlformats.org/drawingml/2006/main">
            <a:r>
              <a:t>https://attack.mitre.org/campaigns/C0062/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20</a:t>
            </a:r>
          </a:p>
          <a:p xmlns:a="http://schemas.openxmlformats.org/drawingml/2006/main">
            <a:r>
              <a:t>Beat 3.1 What transfers. Section 3. Time 1:15. Builds: 2.</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Title up.</a:t>
            </a:r>
          </a:p>
          <a:p xmlns:a="http://schemas.openxmlformats.org/drawingml/2006/main">
            <a:r>
              <a:t/>
            </a:r>
          </a:p>
          <a:p xmlns:a="http://schemas.openxmlformats.org/drawingml/2006/main">
            <a:r>
              <a:t>Everything in the last twenty-five minutes was engineering. **Most of it is engineering you already do.**</a:t>
            </a:r>
          </a:p>
          <a:p xmlns:a="http://schemas.openxmlformats.org/drawingml/2006/main">
            <a:r>
              <a:t/>
            </a:r>
          </a:p>
          <a:p xmlns:a="http://schemas.openxmlformats.org/drawingml/2006/main">
            <a:r>
              <a:t>[0:06] Build 1.</a:t>
            </a:r>
          </a:p>
          <a:p xmlns:a="http://schemas.openxmlformats.org/drawingml/2006/main">
            <a:r>
              <a:t/>
            </a:r>
          </a:p>
          <a:p xmlns:a="http://schemas.openxmlformats.org/drawingml/2006/main">
            <a:r>
              <a:t>**Decomposition and systems thinking transfer whole.** Matt Morgis at Elsevier: "For experienced engineers who know how to break problems down, AI tools are an incredible force multiplier." The harness is a systems design problem. **Interface design becomes tool design.** The same instincts about contracts, naming, granularity, and error handling. The caller changed. **Testing discipline becomes eval discipline.** Not the same thing, but the habit of writing the check before trusting the code is the habit you need.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t>[0:50] Build 2.</a:t>
            </a:r>
          </a:p>
          <a:p xmlns:a="http://schemas.openxmlformats.org/drawingml/2006/main">
            <a:r>
              <a:t/>
            </a:r>
          </a:p>
          <a:p xmlns:a="http://schemas.openxmlformats.org/drawingml/2006/main">
            <a:r>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t>[1:06] **You are not starting over. You are adding a layer.**</a:t>
            </a:r>
          </a:p>
          <a:p xmlns:a="http://schemas.openxmlformats.org/drawingml/2006/main">
            <a:r>
              <a:t/>
            </a:r>
          </a:p>
          <a:p xmlns:a="http://schemas.openxmlformats.org/drawingml/2006/main">
            <a:r>
              <a:t>[1:15] Advance to slide 21.</a:t>
            </a:r>
          </a:p>
          <a:p xmlns:a="http://schemas.openxmlformats.org/drawingml/2006/main">
            <a:r>
              <a:t/>
            </a:r>
          </a:p>
          <a:p xmlns:a="http://schemas.openxmlformats.org/drawingml/2006/main">
            <a:r>
              <a:t>The track runs about 1:10. Cuttable if Section 3 runs long, in this order: the Morgis quote spoken aloud, since it is on the slide; the three near-identity rows spoken as sentences, reduced to "Observability, security, and operations transfer almost unchanged." Do not cut the three bold transformations, the field evidence, or the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Orosz, "AI Engineering in the real world," The Pragmatic Engineer, March 25, 2025. Morgis quote verbatim; profiles at incident.io, Sentry, Wordsmith, Augment Code, Elsevier, Simply Business, and DSI; Ryan Cogswell at DSI, twenty-five years, about two months. Research §1 in `research/section-3.md`. `[primary]`.</a:t>
            </a:r>
          </a:p>
          <a:p xmlns:a="http://schemas.openxmlformats.org/drawingml/2006/main">
            <a:r>
              <a:t>- OpenTelemetry GenAI conventions and OWASP, as referenced in rows 4 and 5, are sourced on slide 18. Research §6 in `research/section-2.md`. `[primary]`.</a:t>
            </a:r>
          </a:p>
          <a:p xmlns:a="http://schemas.openxmlformats.org/drawingml/2006/main">
            <a:r>
              <a:t>- The six-row mapping is the talk's own framing.</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21</a:t>
            </a:r>
          </a:p>
          <a:p xmlns:a="http://schemas.openxmlformats.org/drawingml/2006/main">
            <a:r>
              <a:t>Beat 3.2 What is new. Section 3. Time 1:15. Builds: 3.</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**The ladder the field climbed in three years: prompt engineering, then context engineering, then harness engineering.** Each one absorbs the last. Nobody stopped writing prompts. They stopped thinking prompts were the job.</a:t>
            </a:r>
          </a:p>
          <a:p xmlns:a="http://schemas.openxmlformats.org/drawingml/2006/main">
            <a:r>
              <a:t/>
            </a:r>
          </a:p>
          <a:p xmlns:a="http://schemas.openxmlformats.org/drawingml/2006/main">
            <a:r>
              <a:t>[0:14] Build 2.</a:t>
            </a:r>
          </a:p>
          <a:p xmlns:a="http://schemas.openxmlformats.org/drawingml/2006/main">
            <a:r>
              <a:t/>
            </a:r>
          </a:p>
          <a:p xmlns:a="http://schemas.openxmlformats.org/drawingml/2006/main">
            <a:r>
              <a:t>What you add, roughly in priority. Model behavior intuition, which you only get by reading outputs. Context engineering. Tool design for a caller that reads the description every time. Harness and loop design. **Evals and error analysis, which is where the time goes: sixty to eighty percent of it.** AI security, because the attack surface is now the model's reasoning. And cost and latency as first-class design constraints.</a:t>
            </a:r>
          </a:p>
          <a:p xmlns:a="http://schemas.openxmlformats.org/drawingml/2006/main">
            <a:r>
              <a:t/>
            </a:r>
          </a:p>
          <a:p xmlns:a="http://schemas.openxmlformats.org/drawingml/2006/main">
            <a:r>
              <a:t>[0:42] Build 3.</a:t>
            </a:r>
          </a:p>
          <a:p xmlns:a="http://schemas.openxmlformats.org/drawingml/2006/main">
            <a:r>
              <a:t/>
            </a:r>
          </a:p>
          <a:p xmlns:a="http://schemas.openxmlformats.org/drawingml/2006/main">
            <a:r>
              <a:t>The one most engineers find hardest, from Ross McNairn at Wordsmith: **"Getting comfortable with evaluations and iterating on non-deterministic outputs is the biggest challenge most devs have."**</a:t>
            </a:r>
          </a:p>
          <a:p xmlns:a="http://schemas.openxmlformats.org/drawingml/2006/main">
            <a:r>
              <a:t/>
            </a:r>
          </a:p>
          <a:p xmlns:a="http://schemas.openxmlformats.org/drawingml/2006/main">
            <a:r>
              <a:t>[0:54] **The new skill is not prompting. It is being comfortable measuring a system you cannot fully specify.**</a:t>
            </a:r>
          </a:p>
          <a:p xmlns:a="http://schemas.openxmlformats.org/drawingml/2006/main">
            <a:r>
              <a:t/>
            </a:r>
          </a:p>
          <a:p xmlns:a="http://schemas.openxmlformats.org/drawingml/2006/main">
            <a:r>
              <a:t>[1:15] Advance to slide 22.</a:t>
            </a:r>
          </a:p>
          <a:p xmlns:a="http://schemas.openxmlformats.org/drawingml/2006/main">
            <a:r>
              <a:t/>
            </a:r>
          </a:p>
          <a:p xmlns:a="http://schemas.openxmlformats.org/drawingml/2006/main">
            <a:r>
              <a:t>The track runs about 1:02. The slack belongs to the quote and the takeaway. Cuttable if Section 3 runs long: the sublines on items 1, 3, and 6, spoken as the bare competency names. Do not cut the ladder sentence, the sixty-to-eighty line, the McNairn quote, or the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ladder: prompt engineering as the 2023 vocabulary; context engineering from Karpathy, June 2025, and Anthropic, September 2025; harness engineering from OpenAI, February 2026, and Osmani, April 2026. Research §2 in `research/section-3.md` and §7 in `research/section-2.md`. `[primary]` for the dated posts. The year labels are the talk's own placement.</a:t>
            </a:r>
          </a:p>
          <a:p xmlns:a="http://schemas.openxmlformats.org/drawingml/2006/main">
            <a:r>
              <a:t>- Husain, "AI Evals: Everything You Need to Know," updated September 2026: "We've spent 60-80% of our development time on error analysis and evaluation." Research §2 in `research/section-3.md`. `[primary]`.</a:t>
            </a:r>
          </a:p>
          <a:p xmlns:a="http://schemas.openxmlformats.org/drawingml/2006/main">
            <a:r>
              <a:t>- Orosz, "AI Engineering in the real world," March 2025. McNairn quote verbatim. Research §2. `[primary]`.</a:t>
            </a:r>
          </a:p>
          <a:p xmlns:a="http://schemas.openxmlformats.org/drawingml/2006/main">
            <a:r>
              <a:t>- The priority order is the talk's own; research §2 notes no source ranks the competencies, and the ladder plus Husain's time allocation is the nearest defensible ordering.</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21b</a:t>
            </a:r>
          </a:p>
          <a:p xmlns:a="http://schemas.openxmlformats.org/drawingml/2006/main">
            <a:r>
              <a:t>Beat 3.2 What is new. Section 3. Time 1:15. Builds: 3.</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**The ladder the field climbed in three years: prompt engineering, then context engineering, then harness engineering.** Each one absorbs the last. Nobody stopped writing prompts. They stopped thinking prompts were the job.</a:t>
            </a:r>
          </a:p>
          <a:p xmlns:a="http://schemas.openxmlformats.org/drawingml/2006/main">
            <a:r>
              <a:t/>
            </a:r>
          </a:p>
          <a:p xmlns:a="http://schemas.openxmlformats.org/drawingml/2006/main">
            <a:r>
              <a:t>[0:14] Build 2.</a:t>
            </a:r>
          </a:p>
          <a:p xmlns:a="http://schemas.openxmlformats.org/drawingml/2006/main">
            <a:r>
              <a:t/>
            </a:r>
          </a:p>
          <a:p xmlns:a="http://schemas.openxmlformats.org/drawingml/2006/main">
            <a:r>
              <a:t>What you add, roughly in priority. Model behavior intuition, which you only get by reading outputs. Context engineering. Tool design for a caller that reads the description every time. Harness and loop design. **Evals and error analysis, which is where the time goes: sixty to eighty percent of it.** AI security, because the attack surface is now the model's reasoning. And cost and latency as first-class design constraints.</a:t>
            </a:r>
          </a:p>
          <a:p xmlns:a="http://schemas.openxmlformats.org/drawingml/2006/main">
            <a:r>
              <a:t/>
            </a:r>
          </a:p>
          <a:p xmlns:a="http://schemas.openxmlformats.org/drawingml/2006/main">
            <a:r>
              <a:t>[0:42] Build 3.</a:t>
            </a:r>
          </a:p>
          <a:p xmlns:a="http://schemas.openxmlformats.org/drawingml/2006/main">
            <a:r>
              <a:t/>
            </a:r>
          </a:p>
          <a:p xmlns:a="http://schemas.openxmlformats.org/drawingml/2006/main">
            <a:r>
              <a:t>The one most engineers find hardest, from Ross McNairn at Wordsmith: **"Getting comfortable with evaluations and iterating on non-deterministic outputs is the biggest challenge most devs have."**</a:t>
            </a:r>
          </a:p>
          <a:p xmlns:a="http://schemas.openxmlformats.org/drawingml/2006/main">
            <a:r>
              <a:t/>
            </a:r>
          </a:p>
          <a:p xmlns:a="http://schemas.openxmlformats.org/drawingml/2006/main">
            <a:r>
              <a:t>[0:54] **The new skill is not prompting. It is being comfortable measuring a system you cannot fully specify.**</a:t>
            </a:r>
          </a:p>
          <a:p xmlns:a="http://schemas.openxmlformats.org/drawingml/2006/main">
            <a:r>
              <a:t/>
            </a:r>
          </a:p>
          <a:p xmlns:a="http://schemas.openxmlformats.org/drawingml/2006/main">
            <a:r>
              <a:t>[1:15] Advance to slide 22.</a:t>
            </a:r>
          </a:p>
          <a:p xmlns:a="http://schemas.openxmlformats.org/drawingml/2006/main">
            <a:r>
              <a:t/>
            </a:r>
          </a:p>
          <a:p xmlns:a="http://schemas.openxmlformats.org/drawingml/2006/main">
            <a:r>
              <a:t>The track runs about 1:02. The slack belongs to the quote and the takeaway. Cuttable if Section 3 runs long: the sublines on items 1, 3, and 6, spoken as the bare competency names. Do not cut the ladder sentence, the sixty-to-eighty line, the McNairn quote, or the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ladder: prompt engineering as the 2023 vocabulary; context engineering from Karpathy, June 2025, and Anthropic, September 2025; harness engineering from OpenAI, February 2026, and Osmani, April 2026. Research §2 in `research/section-3.md` and §7 in `research/section-2.md`. `[primary]` for the dated posts. The year labels are the talk's own placement.</a:t>
            </a:r>
          </a:p>
          <a:p xmlns:a="http://schemas.openxmlformats.org/drawingml/2006/main">
            <a:r>
              <a:t>- Husain, "AI Evals: Everything You Need to Know," updated September 2026: "We've spent 60-80% of our development time on error analysis and evaluation." Research §2 in `research/section-3.md`. `[primary]`.</a:t>
            </a:r>
          </a:p>
          <a:p xmlns:a="http://schemas.openxmlformats.org/drawingml/2006/main">
            <a:r>
              <a:t>- Orosz, "AI Engineering in the real world," March 2025. McNairn quote verbatim. Research §2. `[primary]`.</a:t>
            </a:r>
          </a:p>
          <a:p xmlns:a="http://schemas.openxmlformats.org/drawingml/2006/main">
            <a:r>
              <a:t>- The priority order is the talk's own; research §2 notes no source ranks the competencies, and the ladder plus Husain's time allocation is the nearest defensible ordering.</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22</a:t>
            </a:r>
          </a:p>
          <a:p xmlns:a="http://schemas.openxmlformats.org/drawingml/2006/main">
            <a:r>
              <a:t>Beat 3.3 The pitfalls, on one slide. Section 3. Time 0:35. Builds: 1.</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Slide up. Let them read it.</a:t>
            </a:r>
          </a:p>
          <a:p xmlns:a="http://schemas.openxmlformats.org/drawingml/2006/main">
            <a:r>
              <a:t/>
            </a:r>
          </a:p>
          <a:p xmlns:a="http://schemas.openxmlformats.org/drawingml/2006/main">
            <a:r>
              <a:t>You have seen all six.</a:t>
            </a:r>
          </a:p>
          <a:p xmlns:a="http://schemas.openxmlformats.org/drawingml/2006/main">
            <a:r>
              <a:t/>
            </a:r>
          </a:p>
          <a:p xmlns:a="http://schemas.openxmlformats.org/drawingml/2006/main">
            <a:r>
              <a:t>[0:05] **Every one is a symptom of the same thing: treating the demo as the product.** works.any() shipped as works.all().</a:t>
            </a:r>
          </a:p>
          <a:p xmlns:a="http://schemas.openxmlformats.org/drawingml/2006/main">
            <a:r>
              <a:t/>
            </a:r>
          </a:p>
          <a:p xmlns:a="http://schemas.openxmlformats.org/drawingml/2006/main">
            <a:r>
              <a:t>[0:13] One more that is not on the map: reaching for a framework before understanding the loop. Anthropic's warning is that frameworks "create extra layers of abstraction that can obscure the underlying prompts and responses." Learn the loop first.</a:t>
            </a:r>
          </a:p>
          <a:p xmlns:a="http://schemas.openxmlformats.org/drawingml/2006/main">
            <a:r>
              <a:t/>
            </a:r>
          </a:p>
          <a:p xmlns:a="http://schemas.openxmlformats.org/drawingml/2006/main">
            <a:r>
              <a:t>[0:29] **Every pitfall on this list is a demo mistaken for a product.**</a:t>
            </a:r>
          </a:p>
          <a:p xmlns:a="http://schemas.openxmlformats.org/drawingml/2006/main">
            <a:r>
              <a:t/>
            </a:r>
          </a:p>
          <a:p xmlns:a="http://schemas.openxmlformats.org/drawingml/2006/main">
            <a:r>
              <a:t>[0:35] Advance to slide 23.</a:t>
            </a:r>
          </a:p>
          <a:p xmlns:a="http://schemas.openxmlformats.org/drawingml/2006/main">
            <a:r>
              <a:t/>
            </a:r>
          </a:p>
          <a:p xmlns:a="http://schemas.openxmlformats.org/drawingml/2006/main">
            <a:r>
              <a:t>The track runs about 0:34. The five seconds of silence at the top are deliberate; the audience needs them to recognize the six lines. Cuttable if Section 3 runs long: the framework paragraph, which returns on slide 23 as "own the harness." Do not cut the two bold lines.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six pitfalls are Section 2's, one per area. Research §1 through §6 in `research/section-2.md`.</a:t>
            </a:r>
          </a:p>
          <a:p xmlns:a="http://schemas.openxmlformats.org/drawingml/2006/main">
            <a:r>
              <a:t>- Anthropic, "Building effective agents," December 2024. Frameworks "often create extra layers of abstraction that can obscure the underlying prompts and responses, making them harder to debug." Quoted as a substring. Research §3 in `research/section-3.md`. `[primary]`.</a:t>
            </a:r>
          </a:p>
          <a:p xmlns:a="http://schemas.openxmlformats.org/drawingml/2006/main">
            <a:r>
              <a:t>- works.any() and works.all() from slide 1. Research §2 in `research/section-1.md`.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Decide whether the framework pitfall appears as a second build or stays spoken.</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23</a:t>
            </a:r>
          </a:p>
          <a:p xmlns:a="http://schemas.openxmlformats.org/drawingml/2006/main">
            <a:r>
              <a:t>Beat 3.4 The roadmap. Section 3. Time 1:25, including story #3 at 0:30. Builds: 2.</a:t>
            </a:r>
          </a:p>
          <a:p xmlns:a="http://schemas.openxmlformats.org/drawingml/2006/main">
            <a:r>
              <a:t>Sublines are spoken. The six-stage adoption arc uses the compact fallback.</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Four steps. **Look before you build. On Monday, review twenty to fifty outputs of whatever AI feature you are closest to, by hand.** Write down what is wrong with each one. That is your first eval. Do it before any infrastructure.</a:t>
            </a:r>
          </a:p>
          <a:p xmlns:a="http://schemas.openxmlformats.org/drawingml/2006/main">
            <a:r>
              <a:t/>
            </a:r>
          </a:p>
          <a:p xmlns:a="http://schemas.openxmlformats.org/drawingml/2006/main">
            <a:r>
              <a:t>[0:18] **Start constrained. A single model call with retrieval and examples. Then a workflow on predefined code paths. Add a loop only when it demonstrably improves outcomes.**</a:t>
            </a:r>
          </a:p>
          <a:p xmlns:a="http://schemas.openxmlformats.org/drawingml/2006/main">
            <a:r>
              <a:t/>
            </a:r>
          </a:p>
          <a:p xmlns:a="http://schemas.openxmlformats.org/drawingml/2006/main">
            <a:r>
              <a:t>[0:29] Own the harness. Your prompts, your context window, your control flow. Learn the loop before you adopt a framework for it, so the framework is a convenience you can evaluate, not a black box you depend on.</a:t>
            </a:r>
          </a:p>
          <a:p xmlns:a="http://schemas.openxmlformats.org/drawingml/2006/main">
            <a:r>
              <a:t/>
            </a:r>
          </a:p>
          <a:p xmlns:a="http://schemas.openxmlformats.org/drawingml/2006/main">
            <a:r>
              <a:t>[0:41] **Add autonomy as your evals earn it.** Every step up is paid for by a check that catches what it breaks.</a:t>
            </a:r>
          </a:p>
          <a:p xmlns:a="http://schemas.openxmlformats.org/drawingml/2006/main">
            <a:r>
              <a:t/>
            </a:r>
          </a:p>
          <a:p xmlns:a="http://schemas.openxmlformats.org/drawingml/2006/main">
            <a:r>
              <a:t>[0:49] Build 2.</a:t>
            </a:r>
          </a:p>
          <a:p xmlns:a="http://schemas.openxmlformats.org/drawingml/2006/main">
            <a:r>
              <a:t/>
            </a:r>
          </a:p>
          <a:p xmlns:a="http://schemas.openxmlformats.org/drawingml/2006/main">
            <a:r>
              <a:t>On the slide, the shape of Mitchell Hashimoto's own year: six steps, each earned by the last.</a:t>
            </a:r>
          </a:p>
          <a:p xmlns:a="http://schemas.openxmlformats.org/drawingml/2006/main">
            <a:r>
              <a:t/>
            </a:r>
          </a:p>
          <a:p xmlns:a="http://schemas.openxmlformats.org/drawingml/2006/main">
            <a:r>
              <a:t>[0:55] Story #3.</a:t>
            </a:r>
          </a:p>
          <a:p xmlns:a="http://schemas.openxmlformats.org/drawingml/2006/main">
            <a:r>
              <a:t/>
            </a:r>
          </a:p>
          <a:p xmlns:a="http://schemas.openxmlformats.org/drawingml/2006/main">
            <a:r>
              <a:t>**[your story #3]**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t>[1:25] **Autonomy is earned by evals, one step at a time.** Advance to slide 24 on the last word.</a:t>
            </a:r>
          </a:p>
          <a:p xmlns:a="http://schemas.openxmlformats.org/drawingml/2006/main">
            <a:r>
              <a:t/>
            </a:r>
          </a:p>
          <a:p xmlns:a="http://schemas.openxmlformats.org/drawingml/2006/main">
            <a:r>
              <a:t>The track runs about 1:27 with the story. If story #3 is not told, speak the arc in full instead: chat, then an agent reproducing manual work, then background agents, then delegating what you are confident in, then building verification tools, then continuous operation. Each step earned by the last. That version runs about 1:10.</a:t>
            </a:r>
          </a:p>
          <a:p xmlns:a="http://schemas.openxmlformats.org/drawingml/2006/main">
            <a:r>
              <a:t/>
            </a:r>
          </a:p>
          <a:p xmlns:a="http://schemas.openxmlformats.org/drawingml/2006/main">
            <a:r>
              <a:t>Cuttable if Section 3 runs long, in this order: the second sentence of "own the harness"; "Write down what is wrong with each one. That is your first eval." Backup for questions, not spoken: Anthropic's "find the simplest solution possible" and OpenAI's "start small, validate with real users, and grow."</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Husain, "AI Evals: Everything You Need to Know": "Start with error analysis, not infrastructure. Spend 30 minutes manually reviewing 20-50 LLM outputs." Research §4 in `research/section-3.md`. `[primary]`.</a:t>
            </a:r>
          </a:p>
          <a:p xmlns:a="http://schemas.openxmlformats.org/drawingml/2006/main">
            <a:r>
              <a:t>- Anthropic, "Building effective agents," December 2024: "we recommend finding the simplest solution possible"; "optimizing single LLM calls with retrieval and in-context examples is usually enough"; "adding complexity only when it demonstrably improves outcomes." Research §5 in `research/section-1.md`. `[primary]`.</a:t>
            </a:r>
          </a:p>
          <a:p xmlns:a="http://schemas.openxmlformats.org/drawingml/2006/main">
            <a:r>
              <a:t>- OpenAI, "A practical guide to building agents," 2025: "Start small, validate with real users, and grow capabilities over time." Research §4 in `research/section-3.md`. Quoted from the PDF; page numbers unconfirmed. Backup only.</a:t>
            </a:r>
          </a:p>
          <a:p xmlns:a="http://schemas.openxmlformats.org/drawingml/2006/main">
            <a:r>
              <a:t>- 12-Factor Agents for "own your prompts, own your context window, own your control flow." Research §4 in `research/section-2.md`. `[primary]`.</a:t>
            </a:r>
          </a:p>
          <a:p xmlns:a="http://schemas.openxmlformats.org/drawingml/2006/main">
            <a:r>
              <a:t>- Hashimoto, "My AI Adoption Journey," February 5, 2026. The six-step arc, paraphrased. Do not credit him with the phrase "harness engineering." Research §4 in `research/section-3.md`.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Story #3.</a:t>
            </a:r>
          </a:p>
          <a:p xmlns:a="http://schemas.openxmlformats.org/drawingml/2006/main">
            <a:r>
              <a:t>- Decide whether the sublines under the four steps appear on the slide or stay spoken.</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24</a:t>
            </a:r>
          </a:p>
          <a:p xmlns:a="http://schemas.openxmlformats.org/drawingml/2006/main">
            <a:r>
              <a:t>Beat 3.5 Resources and close, first half. Section 3. Time 0:08 of the beat's 0:30; slide 25 takes 0:22.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Slide up.</a:t>
            </a:r>
          </a:p>
          <a:p xmlns:a="http://schemas.openxmlformats.org/drawingml/2006/main">
            <a:r>
              <a:t/>
            </a:r>
          </a:p>
          <a:p xmlns:a="http://schemas.openxmlformats.org/drawingml/2006/main">
            <a:r>
              <a:t>Resources. They will be in the deck, so take the photo now.</a:t>
            </a:r>
          </a:p>
          <a:p xmlns:a="http://schemas.openxmlformats.org/drawingml/2006/main">
            <a:r>
              <a:t/>
            </a:r>
          </a:p>
          <a:p xmlns:a="http://schemas.openxmlformats.org/drawingml/2006/main">
            <a:r>
              <a:t>[0:08] Advance to slide 25.</a:t>
            </a:r>
          </a:p>
          <a:p xmlns:a="http://schemas.openxmlformats.org/drawingml/2006/main">
            <a:r>
              <a:t/>
            </a:r>
          </a:p>
          <a:p xmlns:a="http://schemas.openxmlformats.org/drawingml/2006/main">
            <a:r>
              <a:t>Nothing else is spoken. If someone photographs it slowly, wait; the close can absorb a few seconds.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Every item is cited in Section 2 or 3 and traced in the research files. The forthcoming Shankar and Husain book is listed for October 31, 2026 with ISBN 9798341660724; say "October" and nothing more precise. Research §4 in `research/section-3.md`.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Whether to add a QR code, and to what page.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25</a:t>
            </a:r>
          </a:p>
          <a:p xmlns:a="http://schemas.openxmlformats.org/drawingml/2006/main">
            <a:r>
              <a:t>Beat 3.5 Resources and close, second half. Section 3. Time 0:22 of the beat's 0:30; slide 24 took 0:08. Builds: 1. Stays up for the fifteen minutes of questions.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Slide up.</a:t>
            </a:r>
          </a:p>
          <a:p xmlns:a="http://schemas.openxmlformats.org/drawingml/2006/main">
            <a:r>
              <a:t/>
            </a:r>
          </a:p>
          <a:p xmlns:a="http://schemas.openxmlformats.org/drawingml/2006/main">
            <a:r>
              <a:t>**Using AI makes you an AI-enabled software engineer. Engineering systems that depend on AI makes you an AI engineer.** The difference is not the tools. **It is what you are responsible for.**</a:t>
            </a:r>
          </a:p>
          <a:p xmlns:a="http://schemas.openxmlformats.org/drawingml/2006/main">
            <a:r>
              <a:t/>
            </a:r>
          </a:p>
          <a:p xmlns:a="http://schemas.openxmlformats.org/drawingml/2006/main">
            <a:r>
              <a:t>[0:15] Build 1.</a:t>
            </a:r>
          </a:p>
          <a:p xmlns:a="http://schemas.openxmlformats.org/drawingml/2006/main">
            <a:r>
              <a:t/>
            </a:r>
          </a:p>
          <a:p xmlns:a="http://schemas.openxmlformats.org/drawingml/2006/main">
            <a:r>
              <a:t>We have fifteen minutes for your questions.</a:t>
            </a:r>
          </a:p>
          <a:p xmlns:a="http://schemas.openxmlformats.org/drawingml/2006/main">
            <a:r>
              <a:t/>
            </a:r>
          </a:p>
          <a:p xmlns:a="http://schemas.openxmlformats.org/drawingml/2006/main">
            <a:r>
              <a:t>[0:22] Section 4 begins. The slide stays.</a:t>
            </a:r>
          </a:p>
          <a:p xmlns:a="http://schemas.openxmlformats.org/drawingml/2006/main">
            <a:r>
              <a:t/>
            </a:r>
          </a:p>
          <a:p xmlns:a="http://schemas.openxmlformats.org/drawingml/2006/main">
            <a:r>
              <a:t>## Backup for the fifteen minutes</a:t>
            </a:r>
          </a:p>
          <a:p xmlns:a="http://schemas.openxmlformats.org/drawingml/2006/main">
            <a:r>
              <a:t/>
            </a:r>
          </a:p>
          <a:p xmlns:a="http://schemas.openxmlformats.org/drawingml/2006/main">
            <a:r>
              <a:t>The outline's Section 4 is canonical; this is the podium copy. Two-line answers, each traced to a slide.</a:t>
            </a:r>
          </a:p>
          <a:p xmlns:a="http://schemas.openxmlformats.org/drawingml/2006/main">
            <a:r>
              <a:t/>
            </a:r>
          </a:p>
          <a:p xmlns:a="http://schemas.openxmlformats.org/drawingml/2006/main">
            <a:r>
              <a:t>1. **Do I need to learn machine learning first?** No. swyx, quoting Karpathy: "One can be quite successful in this role without ever training anything." You need model behavior intuition from reading outputs, plus enough theory to know what a model cannot do. Slide 21.</a:t>
            </a:r>
          </a:p>
          <a:p xmlns:a="http://schemas.openxmlformats.org/drawingml/2006/main">
            <a:r>
              <a:t>2. **Which framework should I learn?** The loop, first. Frameworks obscure prompts and responses. Build one agent on raw API calls; after that a framework is a convenience you can evaluate. Slides 14 and 22.</a:t>
            </a:r>
          </a:p>
          <a:p xmlns:a="http://schemas.openxmlformats.org/drawingml/2006/main">
            <a:r>
              <a:t>3. **How are evals different from tests?** A test checks one path deterministically and must pass. An eval checks a distribution against graders and reports a rate, and a 100% pass rate usually means the suite is too easy. Slides 16 and 17.</a:t>
            </a:r>
          </a:p>
          <a:p xmlns:a="http://schemas.openxmlformats.org/drawingml/2006/main">
            <a:r>
              <a:t>4. **Is prompt injection solved?** No. Willison: "we still don't know how to 100% reliably prevent this from happening." Break the trifecta, treat retrieved content as untrusted, gate consequential actions. Slide 18.</a:t>
            </a:r>
          </a:p>
          <a:p xmlns:a="http://schemas.openxmlformats.org/drawingml/2006/main">
            <a:r>
              <a:t>5. **Single agent or multi-agent?** Single agent with tools until it demonstrably fails. Multi-agent pays for parallel, breadth-first work at about fifteen times the tokens and is a poor fit for shared context. Slide 14.</a:t>
            </a:r>
          </a:p>
          <a:p xmlns:a="http://schemas.openxmlformats.org/drawingml/2006/main">
            <a:r>
              <a:t>6. **What about cost at scale?** Measure cost per completed task. Lay out prompts for cache hits, route the calls that do not need the frontier model, set token and action budgets per run. Slides 9, 10, 15, 18.</a:t>
            </a:r>
          </a:p>
          <a:p xmlns:a="http://schemas.openxmlformats.org/drawingml/2006/main">
            <a:r>
              <a:t>7. **Will better models make the harness obsolete?** The harness moves up, not away. Compaction and verification loops were harness work two years ago; parts moved into the model and the remaining harness got bigger. Slide 7.</a:t>
            </a:r>
          </a:p>
          <a:p xmlns:a="http://schemas.openxmlformats.org/drawingml/2006/main">
            <a:r>
              <a:t>8. **How do I get hired as an AI engineer?** Ship one model-dependent system with an eval suite you can show. AI engineer is the top role on LinkedIn's 2026 list, and Dice reports AI and machine learning postings up 101% year over year in August 2026, more than five times the 18% for tech overall. The ranking says demand; the eval suite says you can do the job.</a:t>
            </a:r>
          </a:p>
          <a:p xmlns:a="http://schemas.openxmlformats.org/drawingml/2006/main">
            <a:r>
              <a:t/>
            </a:r>
          </a:p>
          <a:p xmlns:a="http://schemas.openxmlformats.org/drawingml/2006/main">
            <a:r>
              <a:t>If the room is quiet:</a:t>
            </a:r>
          </a:p>
          <a:p xmlns:a="http://schemas.openxmlformats.org/drawingml/2006/main">
            <a:r>
              <a:t/>
            </a:r>
          </a:p>
          <a:p xmlns:a="http://schemas.openxmlformats.org/drawingml/2006/main">
            <a:r>
              <a:t>- "Who here has shipped something where the model chose the control flow? What broke first?"</a:t>
            </a:r>
          </a:p>
          <a:p xmlns:a="http://schemas.openxmlformats.org/drawingml/2006/main">
            <a:r>
              <a:t>- "What did your coding agent do for you this week that you would have to build yourself?"</a:t>
            </a:r>
          </a:p>
          <a:p xmlns:a="http://schemas.openxmlformats.org/drawingml/2006/main">
            <a:r>
              <a:t>- "Where does your organization's AI project sit right now: pilot, workflow, or agent? What would it take to move it one step?"</a:t>
            </a:r>
          </a:p>
          <a:p xmlns:a="http://schemas.openxmlformats.org/drawingml/2006/main">
            <a:r>
              <a:t/>
            </a:r>
          </a:p>
          <a:p xmlns:a="http://schemas.openxmlformats.org/drawingml/2006/main">
            <a:r>
              <a:t>Not on stage, even if asked: the MIT NANDA 95% figure as fact, Karpathy's Sequoia lines, any salary band, the 89% versus 52% observability-versus-evals statistic. The "Do not use on stage" list at the end of the outline has the reasons.</a:t>
            </a:r>
          </a:p>
          <a:p xmlns:a="http://schemas.openxmlformats.org/drawingml/2006/main">
            <a:r>
              <a:t/>
            </a:r>
          </a:p>
          <a:p xmlns:a="http://schemas.openxmlformats.org/drawingml/2006/main">
            <a:r>
              <a:t>For a routing question, Devin CLI's Fusion (September 11, 2026) is in research §1 of `research/section-2.md`: a lead model for planning and review paired with a cheaper sidekick for execution. Not on the slides because it is a week old.</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thesis sentences: slide 3. Research §1 in `research/section-1.md`.</a:t>
            </a:r>
          </a:p>
          <a:p xmlns:a="http://schemas.openxmlformats.org/drawingml/2006/main">
            <a:r>
              <a:t>- Q&amp;A answers trace to the slides named. The Dice figure was confirmed on the publisher page September 14, 2026. Research §1 in `research/section-3.md`.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de60518900640a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ea3ce8d4768a49b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424a3e77758749b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96AF731E-4FC7-409D-9033-66E3CCC1ED37}"/>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f63eec8d94e47d2" /><Relationship Type="http://schemas.openxmlformats.org/officeDocument/2006/relationships/slideLayout" Target="/ppt/slideLayouts/slideLayout1.xml" Id="R5f5df0ac78a840e9"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7bb43efadbbd4a6b" /><Relationship Type="http://schemas.openxmlformats.org/officeDocument/2006/relationships/slideLayout" Target="/ppt/slideLayouts/slideLayout2.xml" Id="R7ac0485a026b4fd4" /><Relationship Type="http://schemas.openxmlformats.org/officeDocument/2006/relationships/slideLayout" Target="/ppt/slideLayouts/slideLayout3.xml" Id="R5fc216dfd6be467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5df0ac78a840e9"/>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7ac0485a026b4fd4"/>
    <p:sldLayoutId xmlns:r="http://schemas.openxmlformats.org/officeDocument/2006/relationships" id="2147483652" r:id="R5fc216dfd6be467a"/>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c8a79d5f16b541cf" /><Relationship Type="http://schemas.openxmlformats.org/officeDocument/2006/relationships/notesSlide" Target="/ppt/notesSlides/notesSlide1.xml" Id="Re1ba4ca2eb5e4c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3b8337f0eddf4094" /><Relationship Type="http://schemas.openxmlformats.org/officeDocument/2006/relationships/image" Target="/ppt/media/image.png" Id="Rc5c979a8eef94680" /><Relationship Type="http://schemas.openxmlformats.org/officeDocument/2006/relationships/notesSlide" Target="/ppt/notesSlides/notesSlide2.xml" Id="Rdb8fbcd5ea374b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80c8c90f3754460" /><Relationship Type="http://schemas.openxmlformats.org/officeDocument/2006/relationships/notesSlide" Target="/ppt/notesSlides/notesSlide3.xml" Id="Reaaa4b4c6fc849ea"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8f66d29248cb4396" /><Relationship Type="http://schemas.openxmlformats.org/officeDocument/2006/relationships/notesSlide" Target="/ppt/notesSlides/notesSlide4.xml" Id="R9949d25c48e942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453ef61766e941e3" /><Relationship Type="http://schemas.openxmlformats.org/officeDocument/2006/relationships/notesSlide" Target="/ppt/notesSlides/notesSlide5.xml" Id="R5c4483b123c14d2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6eae1a7b5b8247a8" /><Relationship Type="http://schemas.openxmlformats.org/officeDocument/2006/relationships/notesSlide" Target="/ppt/notesSlides/notesSlide6.xml" Id="R9824e78f82154b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739042cc619d4ec4" /><Relationship Type="http://schemas.openxmlformats.org/officeDocument/2006/relationships/image" Target="/ppt/media/image2.png" Id="Rcb8a0c9a3e8f404a" /><Relationship Type="http://schemas.openxmlformats.org/officeDocument/2006/relationships/image" Target="/ppt/media/image3.png" Id="R70763739399a4619" /><Relationship Type="http://schemas.openxmlformats.org/officeDocument/2006/relationships/image" Target="/ppt/media/image4.png" Id="R37cbd44ff83d4d45" /><Relationship Type="http://schemas.openxmlformats.org/officeDocument/2006/relationships/image" Target="/ppt/media/image5.png" Id="Rc1300fc7b3564725" /><Relationship Type="http://schemas.openxmlformats.org/officeDocument/2006/relationships/image" Target="/ppt/media/image6.png" Id="R621258a5fc064f50" /><Relationship Type="http://schemas.openxmlformats.org/officeDocument/2006/relationships/image" Target="/ppt/media/image7.png" Id="R2af65700f36a4588" /><Relationship Type="http://schemas.openxmlformats.org/officeDocument/2006/relationships/notesSlide" Target="/ppt/notesSlides/notesSlide7.xml" Id="R4388536f225f450b"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195f99c663444fb3" /><Relationship Type="http://schemas.openxmlformats.org/officeDocument/2006/relationships/notesSlide" Target="/ppt/notesSlides/notesSlide8.xml" Id="R4e9df958076f405e"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5296c8a65d6f42aa" /><Relationship Type="http://schemas.openxmlformats.org/officeDocument/2006/relationships/image" Target="/ppt/media/image8.png" Id="R53d4cd57ec894f69" /><Relationship Type="http://schemas.openxmlformats.org/officeDocument/2006/relationships/notesSlide" Target="/ppt/notesSlides/notesSlide9.xml" Id="R8da617c158e243c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828f0e23f32e4090" /><Relationship Type="http://schemas.openxmlformats.org/officeDocument/2006/relationships/image" Target="/ppt/media/image9.png" Id="R8ed44c95d2b5484d" /><Relationship Type="http://schemas.openxmlformats.org/officeDocument/2006/relationships/notesSlide" Target="/ppt/notesSlides/notesSlide10.xml" Id="Rb241dbc8b56c495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aa470e5f56c348de" /><Relationship Type="http://schemas.openxmlformats.org/officeDocument/2006/relationships/notesSlide" Target="/ppt/notesSlides/notesSlide11.xml" Id="R9e991dfccc8a41f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e08172b273d7469a" /><Relationship Type="http://schemas.openxmlformats.org/officeDocument/2006/relationships/image" Target="/ppt/media/image10.png" Id="R46222b2b8c3b4f7e" /><Relationship Type="http://schemas.openxmlformats.org/officeDocument/2006/relationships/notesSlide" Target="/ppt/notesSlides/notesSlide12.xml" Id="R20458caa8e2e4c7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33678a5e84da4307" /><Relationship Type="http://schemas.openxmlformats.org/officeDocument/2006/relationships/image" Target="/ppt/media/image11.png" Id="Rc7e9c2efc6ce4371" /><Relationship Type="http://schemas.openxmlformats.org/officeDocument/2006/relationships/notesSlide" Target="/ppt/notesSlides/notesSlide13.xml" Id="R9650245feac24bd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77d6bced46374de6" /><Relationship Type="http://schemas.openxmlformats.org/officeDocument/2006/relationships/notesSlide" Target="/ppt/notesSlides/notesSlide14.xml" Id="R073ce0395e224d5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350f463a21f7486e" /><Relationship Type="http://schemas.openxmlformats.org/officeDocument/2006/relationships/image" Target="/ppt/media/image12.png" Id="Rdf597d21a5f1493b" /><Relationship Type="http://schemas.openxmlformats.org/officeDocument/2006/relationships/notesSlide" Target="/ppt/notesSlides/notesSlide15.xml" Id="Rdc67b5db36574c4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e0b641e5c7f14e40" /><Relationship Type="http://schemas.openxmlformats.org/officeDocument/2006/relationships/image" Target="/ppt/media/image13.png" Id="R863d24e6adb0488c" /><Relationship Type="http://schemas.openxmlformats.org/officeDocument/2006/relationships/notesSlide" Target="/ppt/notesSlides/notesSlide16.xml" Id="Rf5caecceb6a8415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7d9ba3ee9375445a" /><Relationship Type="http://schemas.openxmlformats.org/officeDocument/2006/relationships/notesSlide" Target="/ppt/notesSlides/notesSlide17.xml" Id="R9af8bf7c22e34f1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6181870c99654f3b" /><Relationship Type="http://schemas.openxmlformats.org/officeDocument/2006/relationships/image" Target="/ppt/media/image14.png" Id="R4ca24c312aa34119" /><Relationship Type="http://schemas.openxmlformats.org/officeDocument/2006/relationships/notesSlide" Target="/ppt/notesSlides/notesSlide18.xml" Id="R452be8940cf74cb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ea5e148f75364e88" /><Relationship Type="http://schemas.openxmlformats.org/officeDocument/2006/relationships/image" Target="/ppt/media/image15.png" Id="R7b6498921ab4471c" /><Relationship Type="http://schemas.openxmlformats.org/officeDocument/2006/relationships/notesSlide" Target="/ppt/notesSlides/notesSlide19.xml" Id="R690113a5c0a843f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855c4cf93fdd4645" /><Relationship Type="http://schemas.openxmlformats.org/officeDocument/2006/relationships/notesSlide" Target="/ppt/notesSlides/notesSlide20.xml" Id="Ra13cb5179124432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707dcda20923453e" /><Relationship Type="http://schemas.openxmlformats.org/officeDocument/2006/relationships/image" Target="/ppt/media/image16.png" Id="R9429acdede7a493d" /><Relationship Type="http://schemas.openxmlformats.org/officeDocument/2006/relationships/notesSlide" Target="/ppt/notesSlides/notesSlide21.xml" Id="R132446487b784ca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b9e21687761f4f44" /><Relationship Type="http://schemas.openxmlformats.org/officeDocument/2006/relationships/image" Target="/ppt/media/image17.png" Id="R64144ebef5d94a1d" /><Relationship Type="http://schemas.openxmlformats.org/officeDocument/2006/relationships/notesSlide" Target="/ppt/notesSlides/notesSlide22.xml" Id="Re841db502c55485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eab8156bd1e94f5f" /><Relationship Type="http://schemas.openxmlformats.org/officeDocument/2006/relationships/notesSlide" Target="/ppt/notesSlides/notesSlide23.xml" Id="R504ab9d63f0a4f4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96c6d76fec0f47f9" /><Relationship Type="http://schemas.openxmlformats.org/officeDocument/2006/relationships/image" Target="/ppt/media/image18.png" Id="Ra161c868dc604db9" /><Relationship Type="http://schemas.openxmlformats.org/officeDocument/2006/relationships/notesSlide" Target="/ppt/notesSlides/notesSlide24.xml" Id="R725ae738905c4fb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a1002433e9c24147" /><Relationship Type="http://schemas.openxmlformats.org/officeDocument/2006/relationships/image" Target="/ppt/media/image19.png" Id="R9d1d36011229491c" /><Relationship Type="http://schemas.openxmlformats.org/officeDocument/2006/relationships/notesSlide" Target="/ppt/notesSlides/notesSlide25.xml" Id="R356ff4e5e4594a8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9ce997db269b4a05" /><Relationship Type="http://schemas.openxmlformats.org/officeDocument/2006/relationships/image" Target="/ppt/media/image20.png" Id="R157ddafb8a52404b" /><Relationship Type="http://schemas.openxmlformats.org/officeDocument/2006/relationships/notesSlide" Target="/ppt/notesSlides/notesSlide26.xml" Id="R9796503b6618492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f3929f149806434b" /><Relationship Type="http://schemas.openxmlformats.org/officeDocument/2006/relationships/image" Target="/ppt/media/image21.png" Id="Rdc8a5d0c28744db7" /><Relationship Type="http://schemas.openxmlformats.org/officeDocument/2006/relationships/notesSlide" Target="/ppt/notesSlides/notesSlide27.xml" Id="R2700a15013454eb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35a88139ceae4833" /><Relationship Type="http://schemas.openxmlformats.org/officeDocument/2006/relationships/image" Target="/ppt/media/image22.png" Id="Rdc040bdc2e034a6a" /><Relationship Type="http://schemas.openxmlformats.org/officeDocument/2006/relationships/notesSlide" Target="/ppt/notesSlides/notesSlide28.xml" Id="Rf930a0a333e445e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533b61fca9ac44a1" /><Relationship Type="http://schemas.openxmlformats.org/officeDocument/2006/relationships/image" Target="/ppt/media/image23.png" Id="Rbf5e6f554b724439" /><Relationship Type="http://schemas.openxmlformats.org/officeDocument/2006/relationships/notesSlide" Target="/ppt/notesSlides/notesSlide29.xml" Id="R2252931f17f24aa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831cab0948334321" /><Relationship Type="http://schemas.openxmlformats.org/officeDocument/2006/relationships/notesSlide" Target="/ppt/notesSlides/notesSlide30.xml" Id="R71dc98a7eef24da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544e461fc66f4c1e" /><Relationship Type="http://schemas.openxmlformats.org/officeDocument/2006/relationships/image" Target="/ppt/media/image24.png" Id="Rf50e9364dd3743d4" /><Relationship Type="http://schemas.openxmlformats.org/officeDocument/2006/relationships/notesSlide" Target="/ppt/notesSlides/notesSlide31.xml" Id="R776db9727e82440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5b55d62155fd4888" /><Relationship Type="http://schemas.openxmlformats.org/officeDocument/2006/relationships/notesSlide" Target="/ppt/notesSlides/notesSlide32.xml" Id="R57571173305e403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87df1103ebbd46cc" /><Relationship Type="http://schemas.openxmlformats.org/officeDocument/2006/relationships/notesSlide" Target="/ppt/notesSlides/notesSlide33.xml" Id="R4882b0f745724289"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 name="01-text-1">
            <a:extLst xmlns:a="http://schemas.openxmlformats.org/drawingml/2006/main">
              <a:ext uri="{FF2B5EF4-FFF2-40B4-BE49-F238E27FC236}">
                <a16:creationId xmlns:a16="http://schemas.microsoft.com/office/drawing/2014/main" id="{237EC047-E56A-4A6A-B4FF-BD3467EC4A75}"/>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E9E0D9AD-8889-4927-8E63-50E1F8E96592}"/>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977552E9-9C30-4D45-A84C-267BF2854842}"/>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01-text-4">
            <a:extLst xmlns:a="http://schemas.openxmlformats.org/drawingml/2006/main">
              <a:ext uri="{FF2B5EF4-FFF2-40B4-BE49-F238E27FC236}">
                <a16:creationId xmlns:a16="http://schemas.microsoft.com/office/drawing/2014/main" id="{7781049B-77A7-4549-9B24-276426EE4FAE}"/>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5" name="01-text-5">
            <a:extLst xmlns:a="http://schemas.openxmlformats.org/drawingml/2006/main">
              <a:ext uri="{FF2B5EF4-FFF2-40B4-BE49-F238E27FC236}">
                <a16:creationId xmlns:a16="http://schemas.microsoft.com/office/drawing/2014/main" id="{145CD535-E8C0-4495-9351-346E5F60F8D1}"/>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ADACA9"/>
                </a:solidFill>
                <a:latin typeface="Helvetica"/>
                <a:ea typeface="Helvetica"/>
                <a:cs typeface="Helvetica"/>
              </a:rPr>
              <a:t>Andrej Karpathy, June 2025</a:t>
            </a:r>
          </a:p>
        </p:txBody>
      </p:sp>
    </p:spTree>
    <p:extLst>
      <p:ext uri="{BB962C8B-B14F-4D97-AF65-F5344CB8AC3E}">
        <p14:creationId xmlns:p14="http://schemas.microsoft.com/office/powerpoint/2010/main" val="74610967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2"/>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3"/>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 name="02-image-1"/>
          <p:cNvPicPr>
            <a:picLocks xmlns:a="http://schemas.openxmlformats.org/drawingml/2006/main" noChangeAspect="1"/>
          </p:cNvPicPr>
          <p:nvPr/>
        </p:nvPicPr>
        <p:blipFill>
          <a:blip xmlns:r="http://schemas.openxmlformats.org/officeDocument/2006/relationships" xmlns:a="http://schemas.openxmlformats.org/drawingml/2006/main" r:embed="Rc5c979a8eef94680"/>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2" name="02-text-2">
            <a:extLst xmlns:a="http://schemas.openxmlformats.org/drawingml/2006/main">
              <a:ext uri="{FF2B5EF4-FFF2-40B4-BE49-F238E27FC236}">
                <a16:creationId xmlns:a16="http://schemas.microsoft.com/office/drawing/2014/main" id="{728CDC90-195E-4EED-98E9-69921DF4BE54}"/>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3" name="02-text-3">
            <a:extLst xmlns:a="http://schemas.openxmlformats.org/drawingml/2006/main">
              <a:ext uri="{FF2B5EF4-FFF2-40B4-BE49-F238E27FC236}">
                <a16:creationId xmlns:a16="http://schemas.microsoft.com/office/drawing/2014/main" id="{7258E972-61E6-40A4-8539-350527C60D83}"/>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4" name="02-text-4">
            <a:extLst xmlns:a="http://schemas.openxmlformats.org/drawingml/2006/main">
              <a:ext uri="{FF2B5EF4-FFF2-40B4-BE49-F238E27FC236}">
                <a16:creationId xmlns:a16="http://schemas.microsoft.com/office/drawing/2014/main" id="{9D74A2C0-4D9F-4DD2-BD6F-D2DE55CD292D}"/>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5" name="02-text-5">
            <a:extLst xmlns:a="http://schemas.openxmlformats.org/drawingml/2006/main">
              <a:ext uri="{FF2B5EF4-FFF2-40B4-BE49-F238E27FC236}">
                <a16:creationId xmlns:a16="http://schemas.microsoft.com/office/drawing/2014/main" id="{9B099F53-AB19-4560-AE4A-59C44A34C0B3}"/>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6" name="02-text-6">
            <a:extLst xmlns:a="http://schemas.openxmlformats.org/drawingml/2006/main">
              <a:ext uri="{FF2B5EF4-FFF2-40B4-BE49-F238E27FC236}">
                <a16:creationId xmlns:a16="http://schemas.microsoft.com/office/drawing/2014/main" id="{2F521FF0-D29A-45BD-8440-535F53B10F49}"/>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Tree>
    <p:extLst>
      <p:ext uri="{BB962C8B-B14F-4D97-AF65-F5344CB8AC3E}">
        <p14:creationId xmlns:p14="http://schemas.microsoft.com/office/powerpoint/2010/main" val="1391912435"/>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 name="03-text-1">
            <a:extLst xmlns:a="http://schemas.openxmlformats.org/drawingml/2006/main">
              <a:ext uri="{FF2B5EF4-FFF2-40B4-BE49-F238E27FC236}">
                <a16:creationId xmlns:a16="http://schemas.microsoft.com/office/drawing/2014/main" id="{BAE8A75E-E535-49A7-8083-BD328250642B}"/>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2" name="03-text-2">
            <a:extLst xmlns:a="http://schemas.openxmlformats.org/drawingml/2006/main">
              <a:ext uri="{FF2B5EF4-FFF2-40B4-BE49-F238E27FC236}">
                <a16:creationId xmlns:a16="http://schemas.microsoft.com/office/drawing/2014/main" id="{9FAD23A1-CC0E-4141-92FF-64AAFB635020}"/>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Tree>
    <p:extLst>
      <p:ext uri="{BB962C8B-B14F-4D97-AF65-F5344CB8AC3E}">
        <p14:creationId xmlns:p14="http://schemas.microsoft.com/office/powerpoint/2010/main" val="999698057"/>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9" name="04-table-1"/>
          <p:cNvGraphicFramePr/>
          <p:nvPr/>
        </p:nvGraphicFramePr>
        <p:xfrm>
          <a:off xmlns:a="http://schemas.openxmlformats.org/drawingml/2006/main" x="609600" y="863600"/>
          <a:ext xmlns:a="http://schemas.openxmlformats.org/drawingml/2006/main" cx="10972800" cy="4699000"/>
        </p:xfrm>
        <a:graphic xmlns:a="http://schemas.openxmlformats.org/drawingml/2006/main">
          <a:graphicData uri="http://schemas.openxmlformats.org/drawingml/2006/table">
            <a:tbl>
              <a:tblPr firstRow="0" firstCol="0" lastCol="0" bandRow="0" bandCol="0"/>
              <a:tblGrid>
                <a:gridCol w="5334000"/>
                <a:gridCol w="304800"/>
                <a:gridCol w="5334000"/>
              </a:tblGrid>
              <a:tr h="609600">
                <a:tc>
                  <a:txBody>
                    <a:bodyPr>
                      <a:noAutofit/>
                    </a:bodyPr>
                    <a:lstStyle/>
                    <a:p>
                      <a:pPr>
                        <a:lnSpc>
                          <a:spcPct val="125000"/>
                        </a:lnSpc>
                        <a:buNone/>
                      </a:pPr>
                      <a:r>
                        <a:rPr sz="2400" b="1">
                          <a:solidFill>
                            <a:srgbClr val="F948BE"/>
                          </a:solidFill>
                          <a:latin typeface="Helvetica"/>
                          <a:ea typeface="Helvetica"/>
                          <a:cs typeface="Helvetica"/>
                        </a:rPr>
                        <a:t>Using AI</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Engineering AI systems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63600">
                <a:tc>
                  <a:txBody>
                    <a:bodyPr>
                      <a:noAutofit/>
                    </a:bodyPr>
                    <a:lstStyle/>
                    <a:p>
                      <a:pPr>
                        <a:lnSpc>
                          <a:spcPct val="125000"/>
                        </a:lnSpc>
                        <a:buNone/>
                      </a:pPr>
                      <a:r>
                        <a:rPr sz="2000" b="0">
                          <a:solidFill>
                            <a:srgbClr val="FFFCF5"/>
                          </a:solidFill>
                          <a:latin typeface="Helvetica"/>
                          <a:ea typeface="Helvetica"/>
                          <a:cs typeface="Helvetica"/>
                        </a:rPr>
                        <a:t>The behavior lives 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Part of the behavior lives in a model</a:t>
                      </a:r>
                    </a:p>
                    <a:p>
                      <a:pPr>
                        <a:lnSpc>
                          <a:spcPct val="125000"/>
                        </a:lnSpc>
                        <a:buNone/>
                      </a:pPr>
                      <a:r>
                        <a:rPr sz="2000" b="0">
                          <a:solidFill>
                            <a:srgbClr val="FFFCF5"/>
                          </a:solidFill>
                          <a:latin typeface="Helvetica"/>
                          <a:ea typeface="Helvetica"/>
                          <a:cs typeface="Helvetica"/>
                        </a:rPr>
                        <a:t>you did not train.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The model is a tool in your workflow.</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The model is in the control flow.</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You review every output.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Nobody reviews every output.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63600">
                <a:tc>
                  <a:txBody>
                    <a:bodyPr>
                      <a:noAutofit/>
                    </a:bodyPr>
                    <a:lstStyle/>
                    <a:p>
                      <a:pPr>
                        <a:lnSpc>
                          <a:spcPct val="125000"/>
                        </a:lnSpc>
                        <a:buNone/>
                      </a:pPr>
                      <a:r>
                        <a:rPr sz="2000" b="0">
                          <a:solidFill>
                            <a:srgbClr val="FFFCF5"/>
                          </a:solidFill>
                          <a:latin typeface="Helvetica"/>
                          <a:ea typeface="Helvetica"/>
                          <a:cs typeface="Helvetica"/>
                        </a:rPr>
                        <a:t>You are the verifier.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The system has to verify itself.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39800">
                <a:tc>
                  <a:txBody>
                    <a:bodyPr>
                      <a:noAutofit/>
                    </a:bodyPr>
                    <a:lstStyle/>
                    <a:p>
                      <a:pPr>
                        <a:lnSpc>
                          <a:spcPct val="125000"/>
                        </a:lnSpc>
                        <a:buNone/>
                      </a:pPr>
                      <a:r>
                        <a:rPr sz="2000" b="0">
                          <a:solidFill>
                            <a:srgbClr val="FFFCF5"/>
                          </a:solidFill>
                          <a:latin typeface="Helvetica"/>
                          <a:ea typeface="Helvetica"/>
                          <a:cs typeface="Helvetica"/>
                        </a:rPr>
                        <a:t>The demo is the product,</a:t>
                      </a:r>
                    </a:p>
                    <a:p>
                      <a:pPr>
                        <a:lnSpc>
                          <a:spcPct val="125000"/>
                        </a:lnSpc>
                        <a:buNone/>
                      </a:pPr>
                      <a:r>
                        <a:rPr sz="2000" b="0">
                          <a:solidFill>
                            <a:srgbClr val="FFFCF5"/>
                          </a:solidFill>
                          <a:latin typeface="Helvetica"/>
                          <a:ea typeface="Helvetica"/>
                          <a:cs typeface="Helvetica"/>
                        </a:rPr>
                        <a:t>because you are there.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The demo is one path through</a:t>
                      </a:r>
                    </a:p>
                    <a:p>
                      <a:pPr>
                        <a:lnSpc>
                          <a:spcPct val="125000"/>
                        </a:lnSpc>
                        <a:buNone/>
                      </a:pPr>
                      <a:r>
                        <a:rPr sz="2000" b="0">
                          <a:solidFill>
                            <a:srgbClr val="FFFCF5"/>
                          </a:solidFill>
                          <a:latin typeface="Helvetica"/>
                          <a:ea typeface="Helvetica"/>
                          <a:cs typeface="Helvetica"/>
                        </a:rPr>
                        <a:t>a space of behaviors.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 name="04-text-2">
            <a:extLst xmlns:a="http://schemas.openxmlformats.org/drawingml/2006/main">
              <a:ext uri="{FF2B5EF4-FFF2-40B4-BE49-F238E27FC236}">
                <a16:creationId xmlns:a16="http://schemas.microsoft.com/office/drawing/2014/main" id="{718D4D3A-E0A1-4172-8A86-A2D7DA10E6CD}"/>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Consolas"/>
                <a:ea typeface="Consolas"/>
                <a:cs typeface="Consolas"/>
              </a:defRPr>
            </a:pPr>
            <a:r>
              <a:rPr b="0">
                <a:solidFill>
                  <a:srgbClr val="ADACA9"/>
                </a:solidFill>
                <a:latin typeface="Consolas"/>
                <a:ea typeface="Consolas"/>
                <a:cs typeface="Consolas"/>
              </a:rPr>
              <a:t>1</a:t>
            </a:r>
          </a:p>
        </p:txBody>
      </p:sp>
      <p:sp>
        <p:nvSpPr>
          <p:cNvPr id="3" name="04-text-3">
            <a:extLst xmlns:a="http://schemas.openxmlformats.org/drawingml/2006/main">
              <a:ext uri="{FF2B5EF4-FFF2-40B4-BE49-F238E27FC236}">
                <a16:creationId xmlns:a16="http://schemas.microsoft.com/office/drawing/2014/main" id="{3744B7D1-1E6F-4C40-A450-622C882111C1}"/>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4" name="04-text-4">
            <a:extLst xmlns:a="http://schemas.openxmlformats.org/drawingml/2006/main">
              <a:ext uri="{FF2B5EF4-FFF2-40B4-BE49-F238E27FC236}">
                <a16:creationId xmlns:a16="http://schemas.microsoft.com/office/drawing/2014/main" id="{A4A9DCB7-BB18-4844-9F0E-816310FF3F8D}"/>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Consolas"/>
                <a:ea typeface="Consolas"/>
                <a:cs typeface="Consolas"/>
              </a:defRPr>
            </a:pPr>
            <a:r>
              <a:rPr b="0">
                <a:solidFill>
                  <a:srgbClr val="ADACA9"/>
                </a:solidFill>
                <a:latin typeface="Consolas"/>
                <a:ea typeface="Consolas"/>
                <a:cs typeface="Consolas"/>
              </a:rPr>
              <a:t>2</a:t>
            </a:r>
          </a:p>
        </p:txBody>
      </p:sp>
      <p:sp>
        <p:nvSpPr>
          <p:cNvPr id="5" name="04-text-5">
            <a:extLst xmlns:a="http://schemas.openxmlformats.org/drawingml/2006/main">
              <a:ext uri="{FF2B5EF4-FFF2-40B4-BE49-F238E27FC236}">
                <a16:creationId xmlns:a16="http://schemas.microsoft.com/office/drawing/2014/main" id="{FDAD360A-1204-4AFC-8D2D-7F97AC258FD4}"/>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6" name="04-text-6">
            <a:extLst xmlns:a="http://schemas.openxmlformats.org/drawingml/2006/main">
              <a:ext uri="{FF2B5EF4-FFF2-40B4-BE49-F238E27FC236}">
                <a16:creationId xmlns:a16="http://schemas.microsoft.com/office/drawing/2014/main" id="{A96D0092-4256-4E9A-8572-36C6A2E8BE70}"/>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Consolas"/>
                <a:ea typeface="Consolas"/>
                <a:cs typeface="Consolas"/>
              </a:defRPr>
            </a:pPr>
            <a:r>
              <a:rPr b="0">
                <a:solidFill>
                  <a:srgbClr val="ADACA9"/>
                </a:solidFill>
                <a:latin typeface="Consolas"/>
                <a:ea typeface="Consolas"/>
                <a:cs typeface="Consolas"/>
              </a:rPr>
              <a:t>3</a:t>
            </a:r>
          </a:p>
        </p:txBody>
      </p:sp>
      <p:sp>
        <p:nvSpPr>
          <p:cNvPr id="7" name="04-text-7">
            <a:extLst xmlns:a="http://schemas.openxmlformats.org/drawingml/2006/main">
              <a:ext uri="{FF2B5EF4-FFF2-40B4-BE49-F238E27FC236}">
                <a16:creationId xmlns:a16="http://schemas.microsoft.com/office/drawing/2014/main" id="{3A235528-10BB-4153-A249-C2FB1796D0E7}"/>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8" name="04-text-8">
            <a:extLst xmlns:a="http://schemas.openxmlformats.org/drawingml/2006/main">
              <a:ext uri="{FF2B5EF4-FFF2-40B4-BE49-F238E27FC236}">
                <a16:creationId xmlns:a16="http://schemas.microsoft.com/office/drawing/2014/main" id="{37DD64FA-879F-4D1E-8165-16FB4F81B1D8}"/>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Tree>
    <p:extLst>
      <p:ext uri="{BB962C8B-B14F-4D97-AF65-F5344CB8AC3E}">
        <p14:creationId xmlns:p14="http://schemas.microsoft.com/office/powerpoint/2010/main" val="148492144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9"/>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 name="05-text-1">
            <a:extLst xmlns:a="http://schemas.openxmlformats.org/drawingml/2006/main">
              <a:ext uri="{FF2B5EF4-FFF2-40B4-BE49-F238E27FC236}">
                <a16:creationId xmlns:a16="http://schemas.microsoft.com/office/drawing/2014/main" id="{F0F02712-A6E1-4D16-92A9-AF737830053C}"/>
              </a:ext>
            </a:extLst>
          </p:cNvPr>
          <p:cNvSpPr>
            <a:spLocks xmlns:a="http://schemas.openxmlformats.org/drawingml/2006/main"/>
          </p:cNvSpPr>
          <p:nvPr/>
        </p:nvSpPr>
        <p:spPr>
          <a:xfrm xmlns:a="http://schemas.openxmlformats.org/drawingml/2006/main">
            <a:off x="6096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You will leave with</a:t>
            </a:r>
          </a:p>
        </p:txBody>
      </p:sp>
      <p:sp>
        <p:nvSpPr>
          <p:cNvPr id="2" name="05-text-2">
            <a:extLst xmlns:a="http://schemas.openxmlformats.org/drawingml/2006/main">
              <a:ext uri="{FF2B5EF4-FFF2-40B4-BE49-F238E27FC236}">
                <a16:creationId xmlns:a16="http://schemas.microsoft.com/office/drawing/2014/main" id="{52131D6E-687C-4372-A41C-A738DBFBB0E2}"/>
              </a:ext>
            </a:extLst>
          </p:cNvPr>
          <p:cNvSpPr>
            <a:spLocks xmlns:a="http://schemas.openxmlformats.org/drawingml/2006/main"/>
          </p:cNvSpPr>
          <p:nvPr/>
        </p:nvSpPr>
        <p:spPr>
          <a:xfrm xmlns:a="http://schemas.openxmlformats.org/drawingml/2006/main">
            <a:off x="62484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Agenda</a:t>
            </a:r>
          </a:p>
        </p:txBody>
      </p:sp>
      <p:sp>
        <p:nvSpPr>
          <p:cNvPr id="3" name="05-text-3">
            <a:extLst xmlns:a="http://schemas.openxmlformats.org/drawingml/2006/main">
              <a:ext uri="{FF2B5EF4-FFF2-40B4-BE49-F238E27FC236}">
                <a16:creationId xmlns:a16="http://schemas.microsoft.com/office/drawing/2014/main" id="{A4ECDCE6-C6B3-486D-A420-DDDF40DE9EBF}"/>
              </a:ext>
            </a:extLst>
          </p:cNvPr>
          <p:cNvSpPr>
            <a:spLocks xmlns:a="http://schemas.openxmlformats.org/drawingml/2006/main"/>
          </p:cNvSpPr>
          <p:nvPr/>
        </p:nvSpPr>
        <p:spPr>
          <a:xfrm xmlns:a="http://schemas.openxmlformats.org/drawingml/2006/main">
            <a:off x="609600" y="173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Consolas"/>
                <a:ea typeface="Consolas"/>
                <a:cs typeface="Consolas"/>
              </a:defRPr>
            </a:pPr>
            <a:r>
              <a:rPr b="0">
                <a:solidFill>
                  <a:srgbClr val="ADACA9"/>
                </a:solidFill>
                <a:latin typeface="Consolas"/>
                <a:ea typeface="Consolas"/>
                <a:cs typeface="Consolas"/>
              </a:rPr>
              <a:t>1</a:t>
            </a:r>
          </a:p>
        </p:txBody>
      </p:sp>
      <p:sp>
        <p:nvSpPr>
          <p:cNvPr id="4" name="05-text-4">
            <a:extLst xmlns:a="http://schemas.openxmlformats.org/drawingml/2006/main">
              <a:ext uri="{FF2B5EF4-FFF2-40B4-BE49-F238E27FC236}">
                <a16:creationId xmlns:a16="http://schemas.microsoft.com/office/drawing/2014/main" id="{52F889C2-8731-47B9-A281-50AF08DA19A7}"/>
              </a:ext>
            </a:extLst>
          </p:cNvPr>
          <p:cNvSpPr>
            <a:spLocks xmlns:a="http://schemas.openxmlformats.org/drawingml/2006/main"/>
          </p:cNvSpPr>
          <p:nvPr/>
        </p:nvSpPr>
        <p:spPr>
          <a:xfrm xmlns:a="http://schemas.openxmlformats.org/drawingml/2006/main">
            <a:off x="1117600" y="173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conceptual map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discipline.</a:t>
            </a:r>
          </a:p>
        </p:txBody>
      </p:sp>
      <p:sp>
        <p:nvSpPr>
          <p:cNvPr id="5" name="05-text-5">
            <a:extLst xmlns:a="http://schemas.openxmlformats.org/drawingml/2006/main">
              <a:ext uri="{FF2B5EF4-FFF2-40B4-BE49-F238E27FC236}">
                <a16:creationId xmlns:a16="http://schemas.microsoft.com/office/drawing/2014/main" id="{28504614-84E1-4331-AB56-94AF7E7353C9}"/>
              </a:ext>
            </a:extLst>
          </p:cNvPr>
          <p:cNvSpPr>
            <a:spLocks xmlns:a="http://schemas.openxmlformats.org/drawingml/2006/main"/>
          </p:cNvSpPr>
          <p:nvPr/>
        </p:nvSpPr>
        <p:spPr>
          <a:xfrm xmlns:a="http://schemas.openxmlformats.org/drawingml/2006/main">
            <a:off x="609600" y="300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Consolas"/>
                <a:ea typeface="Consolas"/>
                <a:cs typeface="Consolas"/>
              </a:defRPr>
            </a:pPr>
            <a:r>
              <a:rPr b="0">
                <a:solidFill>
                  <a:srgbClr val="ADACA9"/>
                </a:solidFill>
                <a:latin typeface="Consolas"/>
                <a:ea typeface="Consolas"/>
                <a:cs typeface="Consolas"/>
              </a:rPr>
              <a:t>2</a:t>
            </a:r>
          </a:p>
        </p:txBody>
      </p:sp>
      <p:sp>
        <p:nvSpPr>
          <p:cNvPr id="6" name="05-text-6">
            <a:extLst xmlns:a="http://schemas.openxmlformats.org/drawingml/2006/main">
              <a:ext uri="{FF2B5EF4-FFF2-40B4-BE49-F238E27FC236}">
                <a16:creationId xmlns:a16="http://schemas.microsoft.com/office/drawing/2014/main" id="{FD49E45F-389A-4330-BA9E-3CC7B6DD04CA}"/>
              </a:ext>
            </a:extLst>
          </p:cNvPr>
          <p:cNvSpPr>
            <a:spLocks xmlns:a="http://schemas.openxmlformats.org/drawingml/2006/main"/>
          </p:cNvSpPr>
          <p:nvPr/>
        </p:nvSpPr>
        <p:spPr>
          <a:xfrm xmlns:a="http://schemas.openxmlformats.org/drawingml/2006/main">
            <a:off x="1117600" y="300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 honest sense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much there is.</a:t>
            </a:r>
          </a:p>
        </p:txBody>
      </p:sp>
      <p:sp>
        <p:nvSpPr>
          <p:cNvPr id="7" name="05-text-7">
            <a:extLst xmlns:a="http://schemas.openxmlformats.org/drawingml/2006/main">
              <a:ext uri="{FF2B5EF4-FFF2-40B4-BE49-F238E27FC236}">
                <a16:creationId xmlns:a16="http://schemas.microsoft.com/office/drawing/2014/main" id="{0EE844BE-D915-4BD4-B7AA-3264BF0D228C}"/>
              </a:ext>
            </a:extLst>
          </p:cNvPr>
          <p:cNvSpPr>
            <a:spLocks xmlns:a="http://schemas.openxmlformats.org/drawingml/2006/main"/>
          </p:cNvSpPr>
          <p:nvPr/>
        </p:nvSpPr>
        <p:spPr>
          <a:xfrm xmlns:a="http://schemas.openxmlformats.org/drawingml/2006/main">
            <a:off x="609600" y="427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Consolas"/>
                <a:ea typeface="Consolas"/>
                <a:cs typeface="Consolas"/>
              </a:defRPr>
            </a:pPr>
            <a:r>
              <a:rPr b="0">
                <a:solidFill>
                  <a:srgbClr val="ADACA9"/>
                </a:solidFill>
                <a:latin typeface="Consolas"/>
                <a:ea typeface="Consolas"/>
                <a:cs typeface="Consolas"/>
              </a:rPr>
              <a:t>3</a:t>
            </a:r>
          </a:p>
        </p:txBody>
      </p:sp>
      <p:sp>
        <p:nvSpPr>
          <p:cNvPr id="8" name="05-text-8">
            <a:extLst xmlns:a="http://schemas.openxmlformats.org/drawingml/2006/main">
              <a:ext uri="{FF2B5EF4-FFF2-40B4-BE49-F238E27FC236}">
                <a16:creationId xmlns:a16="http://schemas.microsoft.com/office/drawing/2014/main" id="{640CD660-DD3F-4BAD-8E41-F6C065408C59}"/>
              </a:ext>
            </a:extLst>
          </p:cNvPr>
          <p:cNvSpPr>
            <a:spLocks xmlns:a="http://schemas.openxmlformats.org/drawingml/2006/main"/>
          </p:cNvSpPr>
          <p:nvPr/>
        </p:nvSpPr>
        <p:spPr>
          <a:xfrm xmlns:a="http://schemas.openxmlformats.org/drawingml/2006/main">
            <a:off x="1117600" y="427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roadmap for making</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9" name="05-text-9">
            <a:extLst xmlns:a="http://schemas.openxmlformats.org/drawingml/2006/main">
              <a:ext uri="{FF2B5EF4-FFF2-40B4-BE49-F238E27FC236}">
                <a16:creationId xmlns:a16="http://schemas.microsoft.com/office/drawing/2014/main" id="{F72A3F30-2862-4533-BE1B-5AD51DDFAC90}"/>
              </a:ext>
            </a:extLst>
          </p:cNvPr>
          <p:cNvSpPr>
            <a:spLocks xmlns:a="http://schemas.openxmlformats.org/drawingml/2006/main"/>
          </p:cNvSpPr>
          <p:nvPr/>
        </p:nvSpPr>
        <p:spPr>
          <a:xfrm xmlns:a="http://schemas.openxmlformats.org/drawingml/2006/main">
            <a:off x="6248400" y="1739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map.</a:t>
            </a:r>
          </a:p>
        </p:txBody>
      </p:sp>
      <p:sp>
        <p:nvSpPr>
          <p:cNvPr id="10" name="05-text-10">
            <a:extLst xmlns:a="http://schemas.openxmlformats.org/drawingml/2006/main">
              <a:ext uri="{FF2B5EF4-FFF2-40B4-BE49-F238E27FC236}">
                <a16:creationId xmlns:a16="http://schemas.microsoft.com/office/drawing/2014/main" id="{716DE7FF-5F79-48DA-93F6-37203A4F3DB7}"/>
              </a:ext>
            </a:extLst>
          </p:cNvPr>
          <p:cNvSpPr>
            <a:spLocks xmlns:a="http://schemas.openxmlformats.org/drawingml/2006/main"/>
          </p:cNvSpPr>
          <p:nvPr/>
        </p:nvSpPr>
        <p:spPr>
          <a:xfrm xmlns:a="http://schemas.openxmlformats.org/drawingml/2006/main">
            <a:off x="10185400" y="1739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 min</a:t>
            </a:r>
          </a:p>
        </p:txBody>
      </p:sp>
      <p:sp>
        <p:nvSpPr>
          <p:cNvPr id="11" name="05-text-11">
            <a:extLst xmlns:a="http://schemas.openxmlformats.org/drawingml/2006/main">
              <a:ext uri="{FF2B5EF4-FFF2-40B4-BE49-F238E27FC236}">
                <a16:creationId xmlns:a16="http://schemas.microsoft.com/office/drawing/2014/main" id="{25A09A14-EB74-45E5-9CA6-57531103A56D}"/>
              </a:ext>
            </a:extLst>
          </p:cNvPr>
          <p:cNvSpPr>
            <a:spLocks xmlns:a="http://schemas.openxmlformats.org/drawingml/2006/main"/>
          </p:cNvSpPr>
          <p:nvPr/>
        </p:nvSpPr>
        <p:spPr>
          <a:xfrm xmlns:a="http://schemas.openxmlformats.org/drawingml/2006/main">
            <a:off x="6248400" y="2628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Six areas.</a:t>
            </a:r>
          </a:p>
        </p:txBody>
      </p:sp>
      <p:sp>
        <p:nvSpPr>
          <p:cNvPr id="12" name="05-text-12">
            <a:extLst xmlns:a="http://schemas.openxmlformats.org/drawingml/2006/main">
              <a:ext uri="{FF2B5EF4-FFF2-40B4-BE49-F238E27FC236}">
                <a16:creationId xmlns:a16="http://schemas.microsoft.com/office/drawing/2014/main" id="{08DA5B6D-0AB3-4F1E-A3AC-8A57AF6B0BB5}"/>
              </a:ext>
            </a:extLst>
          </p:cNvPr>
          <p:cNvSpPr>
            <a:spLocks xmlns:a="http://schemas.openxmlformats.org/drawingml/2006/main"/>
          </p:cNvSpPr>
          <p:nvPr/>
        </p:nvSpPr>
        <p:spPr>
          <a:xfrm xmlns:a="http://schemas.openxmlformats.org/drawingml/2006/main">
            <a:off x="10185400" y="2628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23 min</a:t>
            </a:r>
          </a:p>
        </p:txBody>
      </p:sp>
      <p:sp>
        <p:nvSpPr>
          <p:cNvPr id="13" name="05-text-13">
            <a:extLst xmlns:a="http://schemas.openxmlformats.org/drawingml/2006/main">
              <a:ext uri="{FF2B5EF4-FFF2-40B4-BE49-F238E27FC236}">
                <a16:creationId xmlns:a16="http://schemas.microsoft.com/office/drawing/2014/main" id="{6B6B95E0-A4E2-4614-81B2-2BB2558275D5}"/>
              </a:ext>
            </a:extLst>
          </p:cNvPr>
          <p:cNvSpPr>
            <a:spLocks xmlns:a="http://schemas.openxmlformats.org/drawingml/2006/main"/>
          </p:cNvSpPr>
          <p:nvPr/>
        </p:nvSpPr>
        <p:spPr>
          <a:xfrm xmlns:a="http://schemas.openxmlformats.org/drawingml/2006/main">
            <a:off x="6248400" y="4343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14" name="05-text-14">
            <a:extLst xmlns:a="http://schemas.openxmlformats.org/drawingml/2006/main">
              <a:ext uri="{FF2B5EF4-FFF2-40B4-BE49-F238E27FC236}">
                <a16:creationId xmlns:a16="http://schemas.microsoft.com/office/drawing/2014/main" id="{BE617A7B-FD95-49A1-8FAB-D654144444C1}"/>
              </a:ext>
            </a:extLst>
          </p:cNvPr>
          <p:cNvSpPr>
            <a:spLocks xmlns:a="http://schemas.openxmlformats.org/drawingml/2006/main"/>
          </p:cNvSpPr>
          <p:nvPr/>
        </p:nvSpPr>
        <p:spPr>
          <a:xfrm xmlns:a="http://schemas.openxmlformats.org/drawingml/2006/main">
            <a:off x="10185400" y="4343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5 min</a:t>
            </a:r>
          </a:p>
        </p:txBody>
      </p:sp>
      <p:sp>
        <p:nvSpPr>
          <p:cNvPr id="15" name="05-text-15">
            <a:extLst xmlns:a="http://schemas.openxmlformats.org/drawingml/2006/main">
              <a:ext uri="{FF2B5EF4-FFF2-40B4-BE49-F238E27FC236}">
                <a16:creationId xmlns:a16="http://schemas.microsoft.com/office/drawing/2014/main" id="{5026DE0C-5E80-4FFA-AABB-ED5F333D74E8}"/>
              </a:ext>
            </a:extLst>
          </p:cNvPr>
          <p:cNvSpPr>
            <a:spLocks xmlns:a="http://schemas.openxmlformats.org/drawingml/2006/main"/>
          </p:cNvSpPr>
          <p:nvPr/>
        </p:nvSpPr>
        <p:spPr>
          <a:xfrm xmlns:a="http://schemas.openxmlformats.org/drawingml/2006/main">
            <a:off x="6248400" y="5232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Your questions.</a:t>
            </a:r>
          </a:p>
        </p:txBody>
      </p:sp>
      <p:sp>
        <p:nvSpPr>
          <p:cNvPr id="16" name="05-text-16">
            <a:extLst xmlns:a="http://schemas.openxmlformats.org/drawingml/2006/main">
              <a:ext uri="{FF2B5EF4-FFF2-40B4-BE49-F238E27FC236}">
                <a16:creationId xmlns:a16="http://schemas.microsoft.com/office/drawing/2014/main" id="{2BD7BADF-84FB-44FB-BCB8-0744D42BC516}"/>
              </a:ext>
            </a:extLst>
          </p:cNvPr>
          <p:cNvSpPr>
            <a:spLocks xmlns:a="http://schemas.openxmlformats.org/drawingml/2006/main"/>
          </p:cNvSpPr>
          <p:nvPr/>
        </p:nvSpPr>
        <p:spPr>
          <a:xfrm xmlns:a="http://schemas.openxmlformats.org/drawingml/2006/main">
            <a:off x="10185400" y="5232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15 min</a:t>
            </a:r>
          </a:p>
        </p:txBody>
      </p:sp>
      <p:sp>
        <p:nvSpPr>
          <p:cNvPr id="17" name="05-text-17">
            <a:extLst xmlns:a="http://schemas.openxmlformats.org/drawingml/2006/main">
              <a:ext uri="{FF2B5EF4-FFF2-40B4-BE49-F238E27FC236}">
                <a16:creationId xmlns:a16="http://schemas.microsoft.com/office/drawing/2014/main" id="{79B50978-0E47-4385-9EF6-7FD8E826B8CC}"/>
              </a:ext>
            </a:extLst>
          </p:cNvPr>
          <p:cNvSpPr>
            <a:spLocks xmlns:a="http://schemas.openxmlformats.org/drawingml/2006/main"/>
          </p:cNvSpPr>
          <p:nvPr/>
        </p:nvSpPr>
        <p:spPr>
          <a:xfrm xmlns:a="http://schemas.openxmlformats.org/drawingml/2006/main">
            <a:off x="6502400" y="3149600"/>
            <a:ext cx="5080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1064F8"/>
                </a:solidFill>
                <a:latin typeface="Helvetica"/>
                <a:ea typeface="Helvetica"/>
                <a:cs typeface="Helvetica"/>
              </a:rPr>
              <a:t>Models</a:t>
            </a:r>
            <a:r>
              <a:rPr b="0">
                <a:solidFill>
                  <a:srgbClr val="ADACA9"/>
                </a:solidFill>
                <a:latin typeface="Helvetica"/>
                <a:ea typeface="Helvetica"/>
                <a:cs typeface="Helvetica"/>
              </a:rPr>
              <a:t> · </a:t>
            </a:r>
            <a:r>
              <a:rPr b="0">
                <a:solidFill>
                  <a:srgbClr val="F948BE"/>
                </a:solidFill>
                <a:latin typeface="Helvetica"/>
                <a:ea typeface="Helvetica"/>
                <a:cs typeface="Helvetica"/>
              </a:rPr>
              <a:t>Context and knowledge</a:t>
            </a:r>
            <a:r>
              <a:rPr b="0">
                <a:solidFill>
                  <a:srgbClr val="ADACA9"/>
                </a:solidFill>
                <a:latin typeface="Helvetica"/>
                <a:ea typeface="Helvetica"/>
                <a:cs typeface="Helvetica"/>
              </a:rPr>
              <a:t> · </a:t>
            </a:r>
            <a:r>
              <a:rPr b="0">
                <a:solidFill>
                  <a:srgbClr val="F948BE"/>
                </a:solidFill>
                <a:latin typeface="Helvetica"/>
                <a:ea typeface="Helvetica"/>
                <a:cs typeface="Helvetica"/>
              </a:rPr>
              <a:t>Tools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948BE"/>
                </a:solidFill>
                <a:latin typeface="Helvetica"/>
                <a:ea typeface="Helvetica"/>
                <a:cs typeface="Helvetica"/>
              </a:rPr>
              <a:t>Orchestration</a:t>
            </a:r>
            <a:r>
              <a:rPr b="0">
                <a:solidFill>
                  <a:srgbClr val="ADACA9"/>
                </a:solidFill>
                <a:latin typeface="Helvetica"/>
                <a:ea typeface="Helvetica"/>
                <a:cs typeface="Helvetica"/>
              </a:rPr>
              <a:t> · </a:t>
            </a:r>
            <a:r>
              <a:rPr b="0">
                <a:solidFill>
                  <a:srgbClr val="01B66D"/>
                </a:solidFill>
                <a:latin typeface="Helvetica"/>
                <a:ea typeface="Helvetica"/>
                <a:cs typeface="Helvetica"/>
              </a:rPr>
              <a:t>Verification and evals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DAD00"/>
                </a:solidFill>
                <a:latin typeface="Helvetica"/>
                <a:ea typeface="Helvetica"/>
                <a:cs typeface="Helvetica"/>
              </a:rPr>
              <a:t>Operating it</a:t>
            </a:r>
          </a:p>
        </p:txBody>
      </p:sp>
      <p:sp>
        <p:nvSpPr>
          <p:cNvPr id="18" name="05-text-18">
            <a:extLst xmlns:a="http://schemas.openxmlformats.org/drawingml/2006/main">
              <a:ext uri="{FF2B5EF4-FFF2-40B4-BE49-F238E27FC236}">
                <a16:creationId xmlns:a16="http://schemas.microsoft.com/office/drawing/2014/main" id="{9DB1D61D-78F1-43CC-93A2-DD42A0952A85}"/>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For each area: what you touched, what someone engineered, when it's your agent.</a:t>
            </a:r>
          </a:p>
        </p:txBody>
      </p:sp>
    </p:spTree>
    <p:extLst>
      <p:ext uri="{BB962C8B-B14F-4D97-AF65-F5344CB8AC3E}">
        <p14:creationId xmlns:p14="http://schemas.microsoft.com/office/powerpoint/2010/main" val="1956114478"/>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 name="06-text-1">
            <a:extLst xmlns:a="http://schemas.openxmlformats.org/drawingml/2006/main">
              <a:ext uri="{FF2B5EF4-FFF2-40B4-BE49-F238E27FC236}">
                <a16:creationId xmlns:a16="http://schemas.microsoft.com/office/drawing/2014/main" id="{5BB9FAEF-E968-4792-B586-194D824FB824}"/>
              </a:ext>
            </a:extLst>
          </p:cNvPr>
          <p:cNvSpPr>
            <a:spLocks xmlns:a="http://schemas.openxmlformats.org/drawingml/2006/main"/>
          </p:cNvSpPr>
          <p:nvPr/>
        </p:nvSpPr>
        <p:spPr>
          <a:xfrm xmlns:a="http://schemas.openxmlformats.org/drawingml/2006/main">
            <a:off x="609600" y="6096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Consolas"/>
                <a:ea typeface="Consolas"/>
                <a:cs typeface="Consolas"/>
              </a:defRPr>
            </a:pPr>
            <a:r>
              <a:rPr b="0">
                <a:solidFill>
                  <a:srgbClr val="FFFCF5"/>
                </a:solidFill>
                <a:latin typeface="Consolas"/>
                <a:ea typeface="Consolas"/>
                <a:cs typeface="Consolas"/>
              </a:rPr>
              <a:t>›</a:t>
            </a:r>
          </a:p>
        </p:txBody>
      </p:sp>
      <p:sp>
        <p:nvSpPr>
          <p:cNvPr id="2" name="06-shape-2">
            <a:extLst xmlns:a="http://schemas.openxmlformats.org/drawingml/2006/main">
              <a:ext uri="{FF2B5EF4-FFF2-40B4-BE49-F238E27FC236}">
                <a16:creationId xmlns:a16="http://schemas.microsoft.com/office/drawing/2014/main" id="{35BFE7C3-1AA0-4DBF-8B7E-B48952410B4E}"/>
              </a:ext>
            </a:extLst>
          </p:cNvPr>
          <p:cNvSpPr>
            <a:spLocks xmlns:a="http://schemas.openxmlformats.org/drawingml/2006/main"/>
          </p:cNvSpPr>
          <p:nvPr/>
        </p:nvSpPr>
        <p:spPr>
          <a:xfrm xmlns:a="http://schemas.openxmlformats.org/drawingml/2006/main">
            <a:off x="1066800" y="660400"/>
            <a:ext cx="203200" cy="406400"/>
          </a:xfrm>
          <a:prstGeom xmlns:a="http://schemas.openxmlformats.org/drawingml/2006/main" prst="rect">
            <a:avLst/>
          </a:prstGeom>
          <a:solidFill xmlns:a="http://schemas.openxmlformats.org/drawingml/2006/main">
            <a:srgbClr val="FFFCF5"/>
          </a:solidFill>
          <a:ln xmlns:a="http://schemas.openxmlformats.org/drawingml/2006/main" w="0">
            <a:noFill/>
          </a:ln>
        </p:spPr>
      </p:sp>
    </p:spTree>
    <p:extLst>
      <p:ext uri="{BB962C8B-B14F-4D97-AF65-F5344CB8AC3E}">
        <p14:creationId xmlns:p14="http://schemas.microsoft.com/office/powerpoint/2010/main" val="480740449"/>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 name="07-image-1"/>
          <p:cNvPicPr>
            <a:picLocks xmlns:a="http://schemas.openxmlformats.org/drawingml/2006/main" noChangeAspect="1"/>
          </p:cNvPicPr>
          <p:nvPr/>
        </p:nvPicPr>
        <p:blipFill>
          <a:blip xmlns:r="http://schemas.openxmlformats.org/officeDocument/2006/relationships" xmlns:a="http://schemas.openxmlformats.org/drawingml/2006/main" r:embed="Rcb8a0c9a3e8f404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8" name="07-image-2"/>
          <p:cNvPicPr>
            <a:picLocks xmlns:a="http://schemas.openxmlformats.org/drawingml/2006/main" noChangeAspect="1"/>
          </p:cNvPicPr>
          <p:nvPr/>
        </p:nvPicPr>
        <p:blipFill>
          <a:blip xmlns:r="http://schemas.openxmlformats.org/officeDocument/2006/relationships" xmlns:a="http://schemas.openxmlformats.org/drawingml/2006/main" r:embed="R70763739399a461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9" name="07-image-3"/>
          <p:cNvPicPr>
            <a:picLocks xmlns:a="http://schemas.openxmlformats.org/drawingml/2006/main" noChangeAspect="1"/>
          </p:cNvPicPr>
          <p:nvPr/>
        </p:nvPicPr>
        <p:blipFill>
          <a:blip xmlns:r="http://schemas.openxmlformats.org/officeDocument/2006/relationships" xmlns:a="http://schemas.openxmlformats.org/drawingml/2006/main" r:embed="R37cbd44ff83d4d4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10" name="07-image-4"/>
          <p:cNvPicPr>
            <a:picLocks xmlns:a="http://schemas.openxmlformats.org/drawingml/2006/main" noChangeAspect="1"/>
          </p:cNvPicPr>
          <p:nvPr/>
        </p:nvPicPr>
        <p:blipFill>
          <a:blip xmlns:r="http://schemas.openxmlformats.org/officeDocument/2006/relationships" xmlns:a="http://schemas.openxmlformats.org/drawingml/2006/main" r:embed="Rc1300fc7b356472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11" name="07-image-5"/>
          <p:cNvPicPr>
            <a:picLocks xmlns:a="http://schemas.openxmlformats.org/drawingml/2006/main" noChangeAspect="1"/>
          </p:cNvPicPr>
          <p:nvPr/>
        </p:nvPicPr>
        <p:blipFill>
          <a:blip xmlns:r="http://schemas.openxmlformats.org/officeDocument/2006/relationships" xmlns:a="http://schemas.openxmlformats.org/drawingml/2006/main" r:embed="R621258a5fc064f5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12" name="07-image-6"/>
          <p:cNvPicPr>
            <a:picLocks xmlns:a="http://schemas.openxmlformats.org/drawingml/2006/main" noChangeAspect="1"/>
          </p:cNvPicPr>
          <p:nvPr/>
        </p:nvPicPr>
        <p:blipFill>
          <a:blip xmlns:r="http://schemas.openxmlformats.org/officeDocument/2006/relationships" xmlns:a="http://schemas.openxmlformats.org/drawingml/2006/main" r:embed="R2af65700f36a458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6345674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par>
                                <p:cTn id="7" presetID="10"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300" fill="hold"/>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nodeType="clickEffect">
                                  <p:stCondLst>
                                    <p:cond delay="0"/>
                                  </p:stCondLst>
                                  <p:childTnLst>
                                    <p:set>
                                      <p:cBhvr>
                                        <p:cTn id="13" dur="1" fill="hold">
                                          <p:stCondLst>
                                            <p:cond delay="0"/>
                                          </p:stCondLst>
                                        </p:cTn>
                                        <p:tgtEl>
                                          <p:spTgt spid="8"/>
                                        </p:tgtEl>
                                        <p:attrNameLst>
                                          <p:attrName>style.visibility</p:attrName>
                                        </p:attrNameLst>
                                      </p:cBhvr>
                                      <p:to>
                                        <p:strVal val="hidden"/>
                                      </p:to>
                                    </p:se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00" fill="hold"/>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9"/>
                                        </p:tgtEl>
                                        <p:attrNameLst>
                                          <p:attrName>style.visibility</p:attrName>
                                        </p:attrNameLst>
                                      </p:cBhvr>
                                      <p:to>
                                        <p:strVal val="hidden"/>
                                      </p:to>
                                    </p:set>
                                  </p:childTnLst>
                                </p:cTn>
                              </p:par>
                              <p:par>
                                <p:cTn id="21" presetID="10"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00" fill="hold"/>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nodeType="clickEffect">
                                  <p:stCondLst>
                                    <p:cond delay="0"/>
                                  </p:stCondLst>
                                  <p:childTnLst>
                                    <p:set>
                                      <p:cBhvr>
                                        <p:cTn id="27" dur="1" fill="hold">
                                          <p:stCondLst>
                                            <p:cond delay="0"/>
                                          </p:stCondLst>
                                        </p:cTn>
                                        <p:tgtEl>
                                          <p:spTgt spid="10"/>
                                        </p:tgtEl>
                                        <p:attrNameLst>
                                          <p:attrName>style.visibility</p:attrName>
                                        </p:attrNameLst>
                                      </p:cBhvr>
                                      <p:to>
                                        <p:strVal val="hidden"/>
                                      </p:to>
                                    </p:se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300" fill="hold"/>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1"/>
                                        </p:tgtEl>
                                        <p:attrNameLst>
                                          <p:attrName>style.visibility</p:attrName>
                                        </p:attrNameLst>
                                      </p:cBhvr>
                                      <p:to>
                                        <p:strVal val="hidden"/>
                                      </p:to>
                                    </p:set>
                                  </p:childTnLst>
                                </p:cTn>
                              </p:par>
                              <p:par>
                                <p:cTn id="35" presetID="10" presetClass="entr" presetSubtype="0"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300" fill="hold"/>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area-header">
            <a:extLst xmlns:a="http://schemas.openxmlformats.org/drawingml/2006/main">
              <a:ext uri="{FF2B5EF4-FFF2-40B4-BE49-F238E27FC236}">
                <a16:creationId xmlns:a16="http://schemas.microsoft.com/office/drawing/2014/main" id="{0498145E-0DAC-4523-A171-7C51B25465BF}"/>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2" name="!!area-name">
            <a:extLst xmlns:a="http://schemas.openxmlformats.org/drawingml/2006/main">
              <a:ext uri="{FF2B5EF4-FFF2-40B4-BE49-F238E27FC236}">
                <a16:creationId xmlns:a16="http://schemas.microsoft.com/office/drawing/2014/main" id="{50C1C052-8550-4377-AF82-8B49C267F4DC}"/>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3" name="!!area-beat">
            <a:extLst xmlns:a="http://schemas.openxmlformats.org/drawingml/2006/main">
              <a:ext uri="{FF2B5EF4-FFF2-40B4-BE49-F238E27FC236}">
                <a16:creationId xmlns:a16="http://schemas.microsoft.com/office/drawing/2014/main" id="{628E6AE7-8F22-4170-9417-38E104A5B073}"/>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What you touched</a:t>
            </a:r>
          </a:p>
        </p:txBody>
      </p:sp>
      <p:sp>
        <p:nvSpPr>
          <p:cNvPr id="4" name="!!screenshot-Devin Desktop">
            <a:extLst xmlns:a="http://schemas.openxmlformats.org/drawingml/2006/main">
              <a:ext uri="{FF2B5EF4-FFF2-40B4-BE49-F238E27FC236}">
                <a16:creationId xmlns:a16="http://schemas.microsoft.com/office/drawing/2014/main" id="{C413F0BF-76CB-4223-8C50-9CB739F52D55}"/>
              </a:ext>
            </a:extLst>
          </p:cNvPr>
          <p:cNvSpPr>
            <a:spLocks xmlns:a="http://schemas.openxmlformats.org/drawingml/2006/main"/>
          </p:cNvSpPr>
          <p:nvPr/>
        </p:nvSpPr>
        <p:spPr>
          <a:xfrm xmlns:a="http://schemas.openxmlformats.org/drawingml/2006/main">
            <a:off x="609600" y="1981200"/>
            <a:ext cx="72136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5" name="08-text-1">
            <a:extLst xmlns:a="http://schemas.openxmlformats.org/drawingml/2006/main">
              <a:ext uri="{FF2B5EF4-FFF2-40B4-BE49-F238E27FC236}">
                <a16:creationId xmlns:a16="http://schemas.microsoft.com/office/drawing/2014/main" id="{335EF5A7-FBC8-40E9-A73C-8B2CBC6B8847}"/>
              </a:ext>
            </a:extLst>
          </p:cNvPr>
          <p:cNvSpPr>
            <a:spLocks xmlns:a="http://schemas.openxmlformats.org/drawingml/2006/main"/>
          </p:cNvSpPr>
          <p:nvPr/>
        </p:nvSpPr>
        <p:spPr>
          <a:xfrm xmlns:a="http://schemas.openxmlformats.org/drawingml/2006/main">
            <a:off x="812800" y="2679700"/>
            <a:ext cx="6807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6" name="08-text-2">
            <a:extLst xmlns:a="http://schemas.openxmlformats.org/drawingml/2006/main">
              <a:ext uri="{FF2B5EF4-FFF2-40B4-BE49-F238E27FC236}">
                <a16:creationId xmlns:a16="http://schemas.microsoft.com/office/drawing/2014/main" id="{919EB16C-F7DF-42B6-86B6-D9B4532DAC1D}"/>
              </a:ext>
            </a:extLst>
          </p:cNvPr>
          <p:cNvSpPr>
            <a:spLocks xmlns:a="http://schemas.openxmlformats.org/drawingml/2006/main"/>
          </p:cNvSpPr>
          <p:nvPr/>
        </p:nvSpPr>
        <p:spPr>
          <a:xfrm xmlns:a="http://schemas.openxmlformats.org/drawingml/2006/main">
            <a:off x="812800" y="3200400"/>
            <a:ext cx="68072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Devin Desktop model picker</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Reasoning-effort slider visible</a:t>
            </a:r>
          </a:p>
        </p:txBody>
      </p:sp>
      <p:sp>
        <p:nvSpPr>
          <p:cNvPr id="7" name="!!screenshot-Codex CLI">
            <a:extLst xmlns:a="http://schemas.openxmlformats.org/drawingml/2006/main">
              <a:ext uri="{FF2B5EF4-FFF2-40B4-BE49-F238E27FC236}">
                <a16:creationId xmlns:a16="http://schemas.microsoft.com/office/drawing/2014/main" id="{B69DCE8C-55E3-480A-A41F-961D3C723DA3}"/>
              </a:ext>
            </a:extLst>
          </p:cNvPr>
          <p:cNvSpPr>
            <a:spLocks xmlns:a="http://schemas.openxmlformats.org/drawingml/2006/main"/>
          </p:cNvSpPr>
          <p:nvPr/>
        </p:nvSpPr>
        <p:spPr>
          <a:xfrm xmlns:a="http://schemas.openxmlformats.org/drawingml/2006/main">
            <a:off x="8128000" y="1981200"/>
            <a:ext cx="34544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8" name="08-text-3">
            <a:extLst xmlns:a="http://schemas.openxmlformats.org/drawingml/2006/main">
              <a:ext uri="{FF2B5EF4-FFF2-40B4-BE49-F238E27FC236}">
                <a16:creationId xmlns:a16="http://schemas.microsoft.com/office/drawing/2014/main" id="{660E2BC3-AD6A-45F2-AF06-C069D98F30AA}"/>
              </a:ext>
            </a:extLst>
          </p:cNvPr>
          <p:cNvSpPr>
            <a:spLocks xmlns:a="http://schemas.openxmlformats.org/drawingml/2006/main"/>
          </p:cNvSpPr>
          <p:nvPr/>
        </p:nvSpPr>
        <p:spPr>
          <a:xfrm xmlns:a="http://schemas.openxmlformats.org/drawingml/2006/main">
            <a:off x="8331200" y="2679700"/>
            <a:ext cx="3048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9" name="08-text-4">
            <a:extLst xmlns:a="http://schemas.openxmlformats.org/drawingml/2006/main">
              <a:ext uri="{FF2B5EF4-FFF2-40B4-BE49-F238E27FC236}">
                <a16:creationId xmlns:a16="http://schemas.microsoft.com/office/drawing/2014/main" id="{5FF7DBEC-107E-40F9-ACC9-287B8DC0352B}"/>
              </a:ext>
            </a:extLst>
          </p:cNvPr>
          <p:cNvSpPr>
            <a:spLocks xmlns:a="http://schemas.openxmlformats.org/drawingml/2006/main"/>
          </p:cNvSpPr>
          <p:nvPr/>
        </p:nvSpPr>
        <p:spPr>
          <a:xfrm xmlns:a="http://schemas.openxmlformats.org/drawingml/2006/main">
            <a:off x="8331200" y="3200400"/>
            <a:ext cx="30480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Codex /model picker</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Reasoning effort choices</a:t>
            </a:r>
          </a:p>
        </p:txBody>
      </p:sp>
      <p:sp>
        <p:nvSpPr>
          <p:cNvPr id="10" name="08-text-5">
            <a:extLst xmlns:a="http://schemas.openxmlformats.org/drawingml/2006/main">
              <a:ext uri="{FF2B5EF4-FFF2-40B4-BE49-F238E27FC236}">
                <a16:creationId xmlns:a16="http://schemas.microsoft.com/office/drawing/2014/main" id="{974668C4-3972-45AA-AFA7-E9DD981AF31D}"/>
              </a:ext>
            </a:extLst>
          </p:cNvPr>
          <p:cNvSpPr>
            <a:spLocks xmlns:a="http://schemas.openxmlformats.org/drawingml/2006/main"/>
          </p:cNvSpPr>
          <p:nvPr/>
        </p:nvSpPr>
        <p:spPr>
          <a:xfrm xmlns:a="http://schemas.openxmlformats.org/drawingml/2006/main">
            <a:off x="609600" y="5486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ADACA9"/>
                </a:solidFill>
                <a:latin typeface="Helvetica"/>
                <a:ea typeface="Helvetica"/>
                <a:cs typeface="Helvetica"/>
              </a:rPr>
              <a:t>Devin Desktop, the model picker</a:t>
            </a:r>
          </a:p>
        </p:txBody>
      </p:sp>
      <p:sp>
        <p:nvSpPr>
          <p:cNvPr id="11" name="08-text-6">
            <a:extLst xmlns:a="http://schemas.openxmlformats.org/drawingml/2006/main">
              <a:ext uri="{FF2B5EF4-FFF2-40B4-BE49-F238E27FC236}">
                <a16:creationId xmlns:a16="http://schemas.microsoft.com/office/drawing/2014/main" id="{E3C81629-7024-453B-864C-EEFC8ACF31ED}"/>
              </a:ext>
            </a:extLst>
          </p:cNvPr>
          <p:cNvSpPr>
            <a:spLocks xmlns:a="http://schemas.openxmlformats.org/drawingml/2006/main"/>
          </p:cNvSpPr>
          <p:nvPr/>
        </p:nvSpPr>
        <p:spPr>
          <a:xfrm xmlns:a="http://schemas.openxmlformats.org/drawingml/2006/main">
            <a:off x="8128000" y="5486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ADACA9"/>
                </a:solidFill>
                <a:latin typeface="Helvetica"/>
                <a:ea typeface="Helvetica"/>
                <a:cs typeface="Helvetica"/>
              </a:rPr>
              <a:t>Codex, </a:t>
            </a:r>
            <a:r>
              <a:rPr b="0">
                <a:solidFill>
                  <a:srgbClr val="FFFCF5"/>
                </a:solidFill>
                <a:latin typeface="Consolas"/>
                <a:ea typeface="Consolas"/>
                <a:cs typeface="Consolas"/>
              </a:rPr>
              <a:t>/model</a:t>
            </a:r>
          </a:p>
        </p:txBody>
      </p:sp>
    </p:spTree>
    <p:extLst>
      <p:ext uri="{BB962C8B-B14F-4D97-AF65-F5344CB8AC3E}">
        <p14:creationId xmlns:p14="http://schemas.microsoft.com/office/powerpoint/2010/main" val="1316462994"/>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 name="!!area-name">
            <a:extLst xmlns:a="http://schemas.openxmlformats.org/drawingml/2006/main">
              <a:ext uri="{FF2B5EF4-FFF2-40B4-BE49-F238E27FC236}">
                <a16:creationId xmlns:a16="http://schemas.microsoft.com/office/drawing/2014/main" id="{9006333B-D17D-4DB2-933F-294DC5FEE33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What you touched</a:t>
            </a:r>
          </a:p>
        </p:txBody>
      </p:sp>
      <p:pic>
        <p:nvPicPr>
          <p:cNvPr id="17" name="mini-map"/>
          <p:cNvPicPr>
            <a:picLocks xmlns:a="http://schemas.openxmlformats.org/drawingml/2006/main" noChangeAspect="1"/>
          </p:cNvPicPr>
          <p:nvPr/>
        </p:nvPicPr>
        <p:blipFill>
          <a:blip xmlns:r="http://schemas.openxmlformats.org/officeDocument/2006/relationships" xmlns:a="http://schemas.openxmlformats.org/drawingml/2006/main" r:embed="R53d4cd57ec894f6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creenshot-Devin">
            <a:extLst xmlns:a="http://schemas.openxmlformats.org/drawingml/2006/main">
              <a:ext uri="{FF2B5EF4-FFF2-40B4-BE49-F238E27FC236}">
                <a16:creationId xmlns:a16="http://schemas.microsoft.com/office/drawing/2014/main" id="{740FE49F-EB20-4ABE-96A5-053CE5FF7F0E}"/>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4" name="08b-text-1">
            <a:extLst xmlns:a="http://schemas.openxmlformats.org/drawingml/2006/main">
              <a:ext uri="{FF2B5EF4-FFF2-40B4-BE49-F238E27FC236}">
                <a16:creationId xmlns:a16="http://schemas.microsoft.com/office/drawing/2014/main" id="{827BB2A7-BBB0-4E40-AC97-6DD8F4A6ED33}"/>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5" name="08b-text-2">
            <a:extLst xmlns:a="http://schemas.openxmlformats.org/drawingml/2006/main">
              <a:ext uri="{FF2B5EF4-FFF2-40B4-BE49-F238E27FC236}">
                <a16:creationId xmlns:a16="http://schemas.microsoft.com/office/drawing/2014/main" id="{E41D8822-5326-40B4-8B7E-46BA3AD6981D}"/>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Devin</a:t>
            </a:r>
          </a:p>
        </p:txBody>
      </p:sp>
      <p:sp>
        <p:nvSpPr>
          <p:cNvPr id="6" name="!!screenshot-Codex">
            <a:extLst xmlns:a="http://schemas.openxmlformats.org/drawingml/2006/main">
              <a:ext uri="{FF2B5EF4-FFF2-40B4-BE49-F238E27FC236}">
                <a16:creationId xmlns:a16="http://schemas.microsoft.com/office/drawing/2014/main" id="{3ED32B03-C786-46DB-91CA-3A2F0E10EF04}"/>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7" name="08b-text-3">
            <a:extLst xmlns:a="http://schemas.openxmlformats.org/drawingml/2006/main">
              <a:ext uri="{FF2B5EF4-FFF2-40B4-BE49-F238E27FC236}">
                <a16:creationId xmlns:a16="http://schemas.microsoft.com/office/drawing/2014/main" id="{51A4490D-202A-4D20-BF75-C0C469A14435}"/>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8" name="08b-text-4">
            <a:extLst xmlns:a="http://schemas.openxmlformats.org/drawingml/2006/main">
              <a:ext uri="{FF2B5EF4-FFF2-40B4-BE49-F238E27FC236}">
                <a16:creationId xmlns:a16="http://schemas.microsoft.com/office/drawing/2014/main" id="{C16780B4-2CC5-4D78-AC6A-2CACFC45586C}"/>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Codex</a:t>
            </a:r>
          </a:p>
        </p:txBody>
      </p:sp>
      <p:sp>
        <p:nvSpPr>
          <p:cNvPr id="9" name="08b-text-5">
            <a:extLst xmlns:a="http://schemas.openxmlformats.org/drawingml/2006/main">
              <a:ext uri="{FF2B5EF4-FFF2-40B4-BE49-F238E27FC236}">
                <a16:creationId xmlns:a16="http://schemas.microsoft.com/office/drawing/2014/main" id="{D780E029-010E-4B31-B8FE-65B8B2337C80}"/>
              </a:ext>
            </a:extLst>
          </p:cNvPr>
          <p:cNvSpPr>
            <a:spLocks xmlns:a="http://schemas.openxmlformats.org/drawingml/2006/main"/>
          </p:cNvSpPr>
          <p:nvPr/>
        </p:nvSpPr>
        <p:spPr>
          <a:xfrm xmlns:a="http://schemas.openxmlformats.org/drawingml/2006/main">
            <a:off x="609600" y="2082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Behind the picker, someone:</a:t>
            </a:r>
          </a:p>
        </p:txBody>
      </p:sp>
      <p:sp>
        <p:nvSpPr>
          <p:cNvPr id="10" name="08b-text-6">
            <a:extLst xmlns:a="http://schemas.openxmlformats.org/drawingml/2006/main">
              <a:ext uri="{FF2B5EF4-FFF2-40B4-BE49-F238E27FC236}">
                <a16:creationId xmlns:a16="http://schemas.microsoft.com/office/drawing/2014/main" id="{263A191A-33B9-415A-9FB4-A10612628B88}"/>
              </a:ext>
            </a:extLst>
          </p:cNvPr>
          <p:cNvSpPr>
            <a:spLocks xmlns:a="http://schemas.openxmlformats.org/drawingml/2006/main"/>
          </p:cNvSpPr>
          <p:nvPr/>
        </p:nvSpPr>
        <p:spPr>
          <a:xfrm xmlns:a="http://schemas.openxmlformats.org/drawingml/2006/main">
            <a:off x="609600" y="26035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Chose the default.</a:t>
            </a:r>
          </a:p>
        </p:txBody>
      </p:sp>
      <p:sp>
        <p:nvSpPr>
          <p:cNvPr id="11" name="08b-text-7">
            <a:extLst xmlns:a="http://schemas.openxmlformats.org/drawingml/2006/main">
              <a:ext uri="{FF2B5EF4-FFF2-40B4-BE49-F238E27FC236}">
                <a16:creationId xmlns:a16="http://schemas.microsoft.com/office/drawing/2014/main" id="{A0623539-906C-4E8E-9DCC-0A074A4A6578}"/>
              </a:ext>
            </a:extLst>
          </p:cNvPr>
          <p:cNvSpPr>
            <a:spLocks xmlns:a="http://schemas.openxmlformats.org/drawingml/2006/main"/>
          </p:cNvSpPr>
          <p:nvPr/>
        </p:nvSpPr>
        <p:spPr>
          <a:xfrm xmlns:a="http://schemas.openxmlformats.org/drawingml/2006/main">
            <a:off x="609600" y="30734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Tuned prompts and tool descriptions per model.</a:t>
            </a:r>
          </a:p>
        </p:txBody>
      </p:sp>
      <p:sp>
        <p:nvSpPr>
          <p:cNvPr id="12" name="08b-text-8">
            <a:extLst xmlns:a="http://schemas.openxmlformats.org/drawingml/2006/main">
              <a:ext uri="{FF2B5EF4-FFF2-40B4-BE49-F238E27FC236}">
                <a16:creationId xmlns:a16="http://schemas.microsoft.com/office/drawing/2014/main" id="{720F8BB7-2886-49FF-8CC1-9E86AE73638D}"/>
              </a:ext>
            </a:extLst>
          </p:cNvPr>
          <p:cNvSpPr>
            <a:spLocks xmlns:a="http://schemas.openxmlformats.org/drawingml/2006/main"/>
          </p:cNvSpPr>
          <p:nvPr/>
        </p:nvSpPr>
        <p:spPr>
          <a:xfrm xmlns:a="http://schemas.openxmlformats.org/drawingml/2006/main">
            <a:off x="609600" y="35433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Built failover for when a model is overloaded.</a:t>
            </a:r>
          </a:p>
        </p:txBody>
      </p:sp>
      <p:sp>
        <p:nvSpPr>
          <p:cNvPr id="13" name="08b-text-9">
            <a:extLst xmlns:a="http://schemas.openxmlformats.org/drawingml/2006/main">
              <a:ext uri="{FF2B5EF4-FFF2-40B4-BE49-F238E27FC236}">
                <a16:creationId xmlns:a16="http://schemas.microsoft.com/office/drawing/2014/main" id="{9CD53671-4347-4C8C-9C9E-698A8F6F24E2}"/>
              </a:ext>
            </a:extLst>
          </p:cNvPr>
          <p:cNvSpPr>
            <a:spLocks xmlns:a="http://schemas.openxmlformats.org/drawingml/2006/main"/>
          </p:cNvSpPr>
          <p:nvPr/>
        </p:nvSpPr>
        <p:spPr>
          <a:xfrm xmlns:a="http://schemas.openxmlformats.org/drawingml/2006/main">
            <a:off x="609600" y="40132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Absorbed every price change.</a:t>
            </a:r>
          </a:p>
        </p:txBody>
      </p:sp>
      <p:sp>
        <p:nvSpPr>
          <p:cNvPr id="14" name="08b-text-10">
            <a:extLst xmlns:a="http://schemas.openxmlformats.org/drawingml/2006/main">
              <a:ext uri="{FF2B5EF4-FFF2-40B4-BE49-F238E27FC236}">
                <a16:creationId xmlns:a16="http://schemas.microsoft.com/office/drawing/2014/main" id="{9EB60A8E-264B-475D-A54F-149301CA1B9E}"/>
              </a:ext>
            </a:extLst>
          </p:cNvPr>
          <p:cNvSpPr>
            <a:spLocks xmlns:a="http://schemas.openxmlformats.org/drawingml/2006/main"/>
          </p:cNvSpPr>
          <p:nvPr/>
        </p:nvSpPr>
        <p:spPr>
          <a:xfrm xmlns:a="http://schemas.openxmlformats.org/drawingml/2006/main">
            <a:off x="609600" y="44831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Migrated you off every retired model.</a:t>
            </a:r>
          </a:p>
        </p:txBody>
      </p:sp>
      <p:sp>
        <p:nvSpPr>
          <p:cNvPr id="15" name="08b-text-11">
            <a:extLst xmlns:a="http://schemas.openxmlformats.org/drawingml/2006/main">
              <a:ext uri="{FF2B5EF4-FFF2-40B4-BE49-F238E27FC236}">
                <a16:creationId xmlns:a16="http://schemas.microsoft.com/office/drawing/2014/main" id="{E615FA97-6211-4B7B-AA7D-BAECBD689BAE}"/>
              </a:ext>
            </a:extLst>
          </p:cNvPr>
          <p:cNvSpPr>
            <a:spLocks xmlns:a="http://schemas.openxmlformats.org/drawingml/2006/main"/>
          </p:cNvSpPr>
          <p:nvPr/>
        </p:nvSpPr>
        <p:spPr>
          <a:xfrm xmlns:a="http://schemas.openxmlformats.org/drawingml/2006/main">
            <a:off x="609600" y="53467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Anthropic retired seven models this year. The latest was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August 5. Every migration happened behind a picker.</a:t>
            </a:r>
          </a:p>
        </p:txBody>
      </p:sp>
    </p:spTree>
    <p:extLst>
      <p:ext uri="{BB962C8B-B14F-4D97-AF65-F5344CB8AC3E}">
        <p14:creationId xmlns:p14="http://schemas.microsoft.com/office/powerpoint/2010/main" val="1448784902"/>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 name="!!area-name">
            <a:extLst xmlns:a="http://schemas.openxmlformats.org/drawingml/2006/main">
              <a:ext uri="{FF2B5EF4-FFF2-40B4-BE49-F238E27FC236}">
                <a16:creationId xmlns:a16="http://schemas.microsoft.com/office/drawing/2014/main" id="{EEB2D0A5-11B0-4CAE-A15E-DA337813FF1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it's your agent</a:t>
            </a:r>
          </a:p>
        </p:txBody>
      </p:sp>
      <p:pic>
        <p:nvPicPr>
          <p:cNvPr id="34" name="mini-map"/>
          <p:cNvPicPr>
            <a:picLocks xmlns:a="http://schemas.openxmlformats.org/drawingml/2006/main" noChangeAspect="1"/>
          </p:cNvPicPr>
          <p:nvPr/>
        </p:nvPicPr>
        <p:blipFill>
          <a:blip xmlns:r="http://schemas.openxmlformats.org/officeDocument/2006/relationships" xmlns:a="http://schemas.openxmlformats.org/drawingml/2006/main" r:embed="R8ed44c95d2b5484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61130E3B-9FDA-400C-988C-19D4326F4E7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is a component you select,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and replace.</a:t>
            </a:r>
          </a:p>
        </p:txBody>
      </p:sp>
      <p:sp>
        <p:nvSpPr>
          <p:cNvPr id="4" name="09-text-1">
            <a:extLst xmlns:a="http://schemas.openxmlformats.org/drawingml/2006/main">
              <a:ext uri="{FF2B5EF4-FFF2-40B4-BE49-F238E27FC236}">
                <a16:creationId xmlns:a16="http://schemas.microsoft.com/office/drawing/2014/main" id="{3BE593F3-2C47-4B1C-B7B6-4FD0F07E15C2}"/>
              </a:ext>
            </a:extLst>
          </p:cNvPr>
          <p:cNvSpPr>
            <a:spLocks xmlns:a="http://schemas.openxmlformats.org/drawingml/2006/main"/>
          </p:cNvSpPr>
          <p:nvPr/>
        </p:nvSpPr>
        <p:spPr>
          <a:xfrm xmlns:a="http://schemas.openxmlformats.org/drawingml/2006/main">
            <a:off x="609600" y="20320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a:t>
            </a:r>
          </a:p>
        </p:txBody>
      </p:sp>
      <p:sp>
        <p:nvSpPr>
          <p:cNvPr id="5" name="09-shape-2">
            <a:extLst xmlns:a="http://schemas.openxmlformats.org/drawingml/2006/main">
              <a:ext uri="{FF2B5EF4-FFF2-40B4-BE49-F238E27FC236}">
                <a16:creationId xmlns:a16="http://schemas.microsoft.com/office/drawing/2014/main" id="{E7D7808A-5088-4F6F-94D1-1467CBE99F28}"/>
              </a:ext>
            </a:extLst>
          </p:cNvPr>
          <p:cNvSpPr>
            <a:spLocks xmlns:a="http://schemas.openxmlformats.org/drawingml/2006/main"/>
          </p:cNvSpPr>
          <p:nvPr/>
        </p:nvSpPr>
        <p:spPr>
          <a:xfrm xmlns:a="http://schemas.openxmlformats.org/drawingml/2006/main">
            <a:off x="2489200" y="1981200"/>
            <a:ext cx="30099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6" name="09-text-3">
            <a:extLst xmlns:a="http://schemas.openxmlformats.org/drawingml/2006/main">
              <a:ext uri="{FF2B5EF4-FFF2-40B4-BE49-F238E27FC236}">
                <a16:creationId xmlns:a16="http://schemas.microsoft.com/office/drawing/2014/main" id="{D0CF6304-7C29-4F2B-8C74-F15A7BA3F578}"/>
              </a:ext>
            </a:extLst>
          </p:cNvPr>
          <p:cNvSpPr>
            <a:spLocks xmlns:a="http://schemas.openxmlformats.org/drawingml/2006/main"/>
          </p:cNvSpPr>
          <p:nvPr/>
        </p:nvSpPr>
        <p:spPr>
          <a:xfrm xmlns:a="http://schemas.openxmlformats.org/drawingml/2006/main">
            <a:off x="2641600" y="2019300"/>
            <a:ext cx="2705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Capability on your tasks</a:t>
            </a:r>
          </a:p>
        </p:txBody>
      </p:sp>
      <p:sp>
        <p:nvSpPr>
          <p:cNvPr id="7" name="09-shape-4">
            <a:extLst xmlns:a="http://schemas.openxmlformats.org/drawingml/2006/main">
              <a:ext uri="{FF2B5EF4-FFF2-40B4-BE49-F238E27FC236}">
                <a16:creationId xmlns:a16="http://schemas.microsoft.com/office/drawing/2014/main" id="{B72FA54E-AC29-476C-92F8-CD8A9F12AE8E}"/>
              </a:ext>
            </a:extLst>
          </p:cNvPr>
          <p:cNvSpPr>
            <a:spLocks xmlns:a="http://schemas.openxmlformats.org/drawingml/2006/main"/>
          </p:cNvSpPr>
          <p:nvPr/>
        </p:nvSpPr>
        <p:spPr>
          <a:xfrm xmlns:a="http://schemas.openxmlformats.org/drawingml/2006/main">
            <a:off x="5600700" y="1981200"/>
            <a:ext cx="30480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8" name="09-text-5">
            <a:extLst xmlns:a="http://schemas.openxmlformats.org/drawingml/2006/main">
              <a:ext uri="{FF2B5EF4-FFF2-40B4-BE49-F238E27FC236}">
                <a16:creationId xmlns:a16="http://schemas.microsoft.com/office/drawing/2014/main" id="{543C6406-842E-40E3-907B-B412B62ADC4A}"/>
              </a:ext>
            </a:extLst>
          </p:cNvPr>
          <p:cNvSpPr>
            <a:spLocks xmlns:a="http://schemas.openxmlformats.org/drawingml/2006/main"/>
          </p:cNvSpPr>
          <p:nvPr/>
        </p:nvSpPr>
        <p:spPr>
          <a:xfrm xmlns:a="http://schemas.openxmlformats.org/drawingml/2006/main">
            <a:off x="5753100" y="2019300"/>
            <a:ext cx="274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task</a:t>
            </a:r>
          </a:p>
        </p:txBody>
      </p:sp>
      <p:sp>
        <p:nvSpPr>
          <p:cNvPr id="9" name="09-shape-6">
            <a:extLst xmlns:a="http://schemas.openxmlformats.org/drawingml/2006/main">
              <a:ext uri="{FF2B5EF4-FFF2-40B4-BE49-F238E27FC236}">
                <a16:creationId xmlns:a16="http://schemas.microsoft.com/office/drawing/2014/main" id="{A5E5D268-B92C-4B5B-B9F9-E518C4EC8AF5}"/>
              </a:ext>
            </a:extLst>
          </p:cNvPr>
          <p:cNvSpPr>
            <a:spLocks xmlns:a="http://schemas.openxmlformats.org/drawingml/2006/main"/>
          </p:cNvSpPr>
          <p:nvPr/>
        </p:nvSpPr>
        <p:spPr>
          <a:xfrm xmlns:a="http://schemas.openxmlformats.org/drawingml/2006/main">
            <a:off x="8750300" y="1981200"/>
            <a:ext cx="19812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0" name="09-text-7">
            <a:extLst xmlns:a="http://schemas.openxmlformats.org/drawingml/2006/main">
              <a:ext uri="{FF2B5EF4-FFF2-40B4-BE49-F238E27FC236}">
                <a16:creationId xmlns:a16="http://schemas.microsoft.com/office/drawing/2014/main" id="{E68CAC6D-68F9-42D8-A836-9B14340396C4}"/>
              </a:ext>
            </a:extLst>
          </p:cNvPr>
          <p:cNvSpPr>
            <a:spLocks xmlns:a="http://schemas.openxmlformats.org/drawingml/2006/main"/>
          </p:cNvSpPr>
          <p:nvPr/>
        </p:nvSpPr>
        <p:spPr>
          <a:xfrm xmlns:a="http://schemas.openxmlformats.org/drawingml/2006/main">
            <a:off x="8902700" y="2019300"/>
            <a:ext cx="1676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Latency at p95</a:t>
            </a:r>
          </a:p>
        </p:txBody>
      </p:sp>
      <p:sp>
        <p:nvSpPr>
          <p:cNvPr id="11" name="09-shape-8">
            <a:extLst xmlns:a="http://schemas.openxmlformats.org/drawingml/2006/main">
              <a:ext uri="{FF2B5EF4-FFF2-40B4-BE49-F238E27FC236}">
                <a16:creationId xmlns:a16="http://schemas.microsoft.com/office/drawing/2014/main" id="{D518AC25-3355-4B4C-ADEA-A59C92E7660D}"/>
              </a:ext>
            </a:extLst>
          </p:cNvPr>
          <p:cNvSpPr>
            <a:spLocks xmlns:a="http://schemas.openxmlformats.org/drawingml/2006/main"/>
          </p:cNvSpPr>
          <p:nvPr/>
        </p:nvSpPr>
        <p:spPr>
          <a:xfrm xmlns:a="http://schemas.openxmlformats.org/drawingml/2006/main">
            <a:off x="2489200" y="2501900"/>
            <a:ext cx="21082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2" name="09-text-9">
            <a:extLst xmlns:a="http://schemas.openxmlformats.org/drawingml/2006/main">
              <a:ext uri="{FF2B5EF4-FFF2-40B4-BE49-F238E27FC236}">
                <a16:creationId xmlns:a16="http://schemas.microsoft.com/office/drawing/2014/main" id="{988353CD-F356-45E3-BB06-2433A4B795DD}"/>
              </a:ext>
            </a:extLst>
          </p:cNvPr>
          <p:cNvSpPr>
            <a:spLocks xmlns:a="http://schemas.openxmlformats.org/drawingml/2006/main"/>
          </p:cNvSpPr>
          <p:nvPr/>
        </p:nvSpPr>
        <p:spPr>
          <a:xfrm xmlns:a="http://schemas.openxmlformats.org/drawingml/2006/main">
            <a:off x="2641600" y="2540000"/>
            <a:ext cx="180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window</a:t>
            </a:r>
          </a:p>
        </p:txBody>
      </p:sp>
      <p:sp>
        <p:nvSpPr>
          <p:cNvPr id="13" name="09-shape-10">
            <a:extLst xmlns:a="http://schemas.openxmlformats.org/drawingml/2006/main">
              <a:ext uri="{FF2B5EF4-FFF2-40B4-BE49-F238E27FC236}">
                <a16:creationId xmlns:a16="http://schemas.microsoft.com/office/drawing/2014/main" id="{75A74827-9203-4F71-BF5E-1CFC4A595AD0}"/>
              </a:ext>
            </a:extLst>
          </p:cNvPr>
          <p:cNvSpPr>
            <a:spLocks xmlns:a="http://schemas.openxmlformats.org/drawingml/2006/main"/>
          </p:cNvSpPr>
          <p:nvPr/>
        </p:nvSpPr>
        <p:spPr>
          <a:xfrm xmlns:a="http://schemas.openxmlformats.org/drawingml/2006/main">
            <a:off x="4699000" y="2501900"/>
            <a:ext cx="2324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4" name="09-text-11">
            <a:extLst xmlns:a="http://schemas.openxmlformats.org/drawingml/2006/main">
              <a:ext uri="{FF2B5EF4-FFF2-40B4-BE49-F238E27FC236}">
                <a16:creationId xmlns:a16="http://schemas.microsoft.com/office/drawing/2014/main" id="{AA5AF3B1-75D4-4FDC-902A-11D1A01C48F2}"/>
              </a:ext>
            </a:extLst>
          </p:cNvPr>
          <p:cNvSpPr>
            <a:spLocks xmlns:a="http://schemas.openxmlformats.org/drawingml/2006/main"/>
          </p:cNvSpPr>
          <p:nvPr/>
        </p:nvSpPr>
        <p:spPr>
          <a:xfrm xmlns:a="http://schemas.openxmlformats.org/drawingml/2006/main">
            <a:off x="4851400" y="2540000"/>
            <a:ext cx="2019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Tool-use reliability</a:t>
            </a:r>
          </a:p>
        </p:txBody>
      </p:sp>
      <p:sp>
        <p:nvSpPr>
          <p:cNvPr id="15" name="09-shape-12">
            <a:extLst xmlns:a="http://schemas.openxmlformats.org/drawingml/2006/main">
              <a:ext uri="{FF2B5EF4-FFF2-40B4-BE49-F238E27FC236}">
                <a16:creationId xmlns:a16="http://schemas.microsoft.com/office/drawing/2014/main" id="{5E217657-C4BA-4EAF-832A-C7FFD33DBAC9}"/>
              </a:ext>
            </a:extLst>
          </p:cNvPr>
          <p:cNvSpPr>
            <a:spLocks xmlns:a="http://schemas.openxmlformats.org/drawingml/2006/main"/>
          </p:cNvSpPr>
          <p:nvPr/>
        </p:nvSpPr>
        <p:spPr>
          <a:xfrm xmlns:a="http://schemas.openxmlformats.org/drawingml/2006/main">
            <a:off x="7124700" y="2501900"/>
            <a:ext cx="20066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6" name="09-text-13">
            <a:extLst xmlns:a="http://schemas.openxmlformats.org/drawingml/2006/main">
              <a:ext uri="{FF2B5EF4-FFF2-40B4-BE49-F238E27FC236}">
                <a16:creationId xmlns:a16="http://schemas.microsoft.com/office/drawing/2014/main" id="{1A22CA8F-D907-47BD-B67B-A94F9C50361D}"/>
              </a:ext>
            </a:extLst>
          </p:cNvPr>
          <p:cNvSpPr>
            <a:spLocks xmlns:a="http://schemas.openxmlformats.org/drawingml/2006/main"/>
          </p:cNvSpPr>
          <p:nvPr/>
        </p:nvSpPr>
        <p:spPr>
          <a:xfrm xmlns:a="http://schemas.openxmlformats.org/drawingml/2006/main">
            <a:off x="7277100" y="2540000"/>
            <a:ext cx="1701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Data residency</a:t>
            </a:r>
          </a:p>
        </p:txBody>
      </p:sp>
      <p:sp>
        <p:nvSpPr>
          <p:cNvPr id="17" name="09-text-14">
            <a:extLst xmlns:a="http://schemas.openxmlformats.org/drawingml/2006/main">
              <a:ext uri="{FF2B5EF4-FFF2-40B4-BE49-F238E27FC236}">
                <a16:creationId xmlns:a16="http://schemas.microsoft.com/office/drawing/2014/main" id="{920BBBC1-BE3A-4F70-BDA6-71F8A725A904}"/>
              </a:ext>
            </a:extLst>
          </p:cNvPr>
          <p:cNvSpPr>
            <a:spLocks xmlns:a="http://schemas.openxmlformats.org/drawingml/2006/main"/>
          </p:cNvSpPr>
          <p:nvPr/>
        </p:nvSpPr>
        <p:spPr>
          <a:xfrm xmlns:a="http://schemas.openxmlformats.org/drawingml/2006/main">
            <a:off x="609600" y="30734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Measure</a:t>
            </a:r>
          </a:p>
        </p:txBody>
      </p:sp>
      <p:sp>
        <p:nvSpPr>
          <p:cNvPr id="18" name="09-text-15">
            <a:extLst xmlns:a="http://schemas.openxmlformats.org/drawingml/2006/main">
              <a:ext uri="{FF2B5EF4-FFF2-40B4-BE49-F238E27FC236}">
                <a16:creationId xmlns:a16="http://schemas.microsoft.com/office/drawing/2014/main" id="{ED047EAC-F574-4B0E-A77A-61094537EB44}"/>
              </a:ext>
            </a:extLst>
          </p:cNvPr>
          <p:cNvSpPr>
            <a:spLocks xmlns:a="http://schemas.openxmlformats.org/drawingml/2006/main"/>
          </p:cNvSpPr>
          <p:nvPr/>
        </p:nvSpPr>
        <p:spPr>
          <a:xfrm xmlns:a="http://schemas.openxmlformats.org/drawingml/2006/main">
            <a:off x="2489200" y="30226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Benchmarks measure someone else's traffic on someone else's harness. Your eval suite measures yours.</a:t>
            </a:r>
          </a:p>
        </p:txBody>
      </p:sp>
      <p:sp>
        <p:nvSpPr>
          <p:cNvPr id="19" name="09-text-16">
            <a:extLst xmlns:a="http://schemas.openxmlformats.org/drawingml/2006/main">
              <a:ext uri="{FF2B5EF4-FFF2-40B4-BE49-F238E27FC236}">
                <a16:creationId xmlns:a16="http://schemas.microsoft.com/office/drawing/2014/main" id="{9DBE7742-C3B6-46C8-ABCE-3E5DF61ECAF3}"/>
              </a:ext>
            </a:extLst>
          </p:cNvPr>
          <p:cNvSpPr>
            <a:spLocks xmlns:a="http://schemas.openxmlformats.org/drawingml/2006/main"/>
          </p:cNvSpPr>
          <p:nvPr/>
        </p:nvSpPr>
        <p:spPr>
          <a:xfrm xmlns:a="http://schemas.openxmlformats.org/drawingml/2006/main">
            <a:off x="609600" y="3886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Replace</a:t>
            </a:r>
          </a:p>
        </p:txBody>
      </p:sp>
      <p:sp>
        <p:nvSpPr>
          <p:cNvPr id="20" name="09-shape-17">
            <a:extLst xmlns:a="http://schemas.openxmlformats.org/drawingml/2006/main">
              <a:ext uri="{FF2B5EF4-FFF2-40B4-BE49-F238E27FC236}">
                <a16:creationId xmlns:a16="http://schemas.microsoft.com/office/drawing/2014/main" id="{BAD2691D-C442-4325-99E4-DA5C9CD0A0D2}"/>
              </a:ext>
            </a:extLst>
          </p:cNvPr>
          <p:cNvSpPr>
            <a:spLocks xmlns:a="http://schemas.openxmlformats.org/drawingml/2006/main"/>
          </p:cNvSpPr>
          <p:nvPr/>
        </p:nvSpPr>
        <p:spPr>
          <a:xfrm xmlns:a="http://schemas.openxmlformats.org/drawingml/2006/main">
            <a:off x="2489200" y="3835400"/>
            <a:ext cx="4445000" cy="990600"/>
          </a:xfrm>
          <a:prstGeom xmlns:a="http://schemas.openxmlformats.org/drawingml/2006/main" prst="roundRect">
            <a:avLst>
              <a:gd name="adj" fmla="val 10256"/>
            </a:avLst>
          </a:prstGeom>
          <a:solidFill xmlns:a="http://schemas.openxmlformats.org/drawingml/2006/main">
            <a:srgbClr val="13223F"/>
          </a:solidFill>
          <a:ln xmlns:a="http://schemas.openxmlformats.org/drawingml/2006/main" w="25400">
            <a:solidFill>
              <a:srgbClr val="1064F8"/>
            </a:solidFill>
          </a:ln>
        </p:spPr>
      </p:sp>
      <p:sp>
        <p:nvSpPr>
          <p:cNvPr id="21" name="09-text-18">
            <a:extLst xmlns:a="http://schemas.openxmlformats.org/drawingml/2006/main">
              <a:ext uri="{FF2B5EF4-FFF2-40B4-BE49-F238E27FC236}">
                <a16:creationId xmlns:a16="http://schemas.microsoft.com/office/drawing/2014/main" id="{1A853BB8-1453-4A50-9DCC-D9C87828C00A}"/>
              </a:ext>
            </a:extLst>
          </p:cNvPr>
          <p:cNvSpPr>
            <a:spLocks xmlns:a="http://schemas.openxmlformats.org/drawingml/2006/main"/>
          </p:cNvSpPr>
          <p:nvPr/>
        </p:nvSpPr>
        <p:spPr>
          <a:xfrm xmlns:a="http://schemas.openxmlformats.org/drawingml/2006/main">
            <a:off x="2692400" y="3987800"/>
            <a:ext cx="4038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Dated snapshot</a:t>
            </a:r>
          </a:p>
        </p:txBody>
      </p:sp>
      <p:sp>
        <p:nvSpPr>
          <p:cNvPr id="22" name="09-text-19">
            <a:extLst xmlns:a="http://schemas.openxmlformats.org/drawingml/2006/main">
              <a:ext uri="{FF2B5EF4-FFF2-40B4-BE49-F238E27FC236}">
                <a16:creationId xmlns:a16="http://schemas.microsoft.com/office/drawing/2014/main" id="{27560F88-2F12-4EAC-8152-BBA9A120415F}"/>
              </a:ext>
            </a:extLst>
          </p:cNvPr>
          <p:cNvSpPr>
            <a:spLocks xmlns:a="http://schemas.openxmlformats.org/drawingml/2006/main"/>
          </p:cNvSpPr>
          <p:nvPr/>
        </p:nvSpPr>
        <p:spPr>
          <a:xfrm xmlns:a="http://schemas.openxmlformats.org/drawingml/2006/main">
            <a:off x="2692400" y="4305300"/>
            <a:ext cx="40386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Reproducibility; expiry date.</a:t>
            </a:r>
          </a:p>
        </p:txBody>
      </p:sp>
      <p:sp>
        <p:nvSpPr>
          <p:cNvPr id="23" name="09-shape-20">
            <a:extLst xmlns:a="http://schemas.openxmlformats.org/drawingml/2006/main">
              <a:ext uri="{FF2B5EF4-FFF2-40B4-BE49-F238E27FC236}">
                <a16:creationId xmlns:a16="http://schemas.microsoft.com/office/drawing/2014/main" id="{765A4F15-B678-4EE6-8B7B-38EC1A6C9C7E}"/>
              </a:ext>
            </a:extLst>
          </p:cNvPr>
          <p:cNvSpPr>
            <a:spLocks xmlns:a="http://schemas.openxmlformats.org/drawingml/2006/main"/>
          </p:cNvSpPr>
          <p:nvPr/>
        </p:nvSpPr>
        <p:spPr>
          <a:xfrm xmlns:a="http://schemas.openxmlformats.org/drawingml/2006/main">
            <a:off x="7137400" y="3835400"/>
            <a:ext cx="4445000" cy="990600"/>
          </a:xfrm>
          <a:prstGeom xmlns:a="http://schemas.openxmlformats.org/drawingml/2006/main" prst="roundRect">
            <a:avLst>
              <a:gd name="adj" fmla="val 10256"/>
            </a:avLst>
          </a:prstGeom>
          <a:solidFill xmlns:a="http://schemas.openxmlformats.org/drawingml/2006/main">
            <a:srgbClr val="13223F"/>
          </a:solidFill>
          <a:ln xmlns:a="http://schemas.openxmlformats.org/drawingml/2006/main" w="25400">
            <a:solidFill>
              <a:srgbClr val="1064F8"/>
            </a:solidFill>
          </a:ln>
        </p:spPr>
      </p:sp>
      <p:sp>
        <p:nvSpPr>
          <p:cNvPr id="24" name="09-text-21">
            <a:extLst xmlns:a="http://schemas.openxmlformats.org/drawingml/2006/main">
              <a:ext uri="{FF2B5EF4-FFF2-40B4-BE49-F238E27FC236}">
                <a16:creationId xmlns:a16="http://schemas.microsoft.com/office/drawing/2014/main" id="{47575FF9-DB94-41C9-90A2-D9BB213ED571}"/>
              </a:ext>
            </a:extLst>
          </p:cNvPr>
          <p:cNvSpPr>
            <a:spLocks xmlns:a="http://schemas.openxmlformats.org/drawingml/2006/main"/>
          </p:cNvSpPr>
          <p:nvPr/>
        </p:nvSpPr>
        <p:spPr>
          <a:xfrm xmlns:a="http://schemas.openxmlformats.org/drawingml/2006/main">
            <a:off x="7340600" y="3987800"/>
            <a:ext cx="4038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Alias</a:t>
            </a:r>
          </a:p>
        </p:txBody>
      </p:sp>
      <p:sp>
        <p:nvSpPr>
          <p:cNvPr id="25" name="09-text-22">
            <a:extLst xmlns:a="http://schemas.openxmlformats.org/drawingml/2006/main">
              <a:ext uri="{FF2B5EF4-FFF2-40B4-BE49-F238E27FC236}">
                <a16:creationId xmlns:a16="http://schemas.microsoft.com/office/drawing/2014/main" id="{5533BF90-B5E1-4020-A0E9-CBD64CE34D29}"/>
              </a:ext>
            </a:extLst>
          </p:cNvPr>
          <p:cNvSpPr>
            <a:spLocks xmlns:a="http://schemas.openxmlformats.org/drawingml/2006/main"/>
          </p:cNvSpPr>
          <p:nvPr/>
        </p:nvSpPr>
        <p:spPr>
          <a:xfrm xmlns:a="http://schemas.openxmlformats.org/drawingml/2006/main">
            <a:off x="7340600" y="4305300"/>
            <a:ext cx="40386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Silent upgrades; silent drift.</a:t>
            </a:r>
          </a:p>
        </p:txBody>
      </p:sp>
      <p:sp>
        <p:nvSpPr>
          <p:cNvPr id="26" name="09-text-23">
            <a:extLst xmlns:a="http://schemas.openxmlformats.org/drawingml/2006/main">
              <a:ext uri="{FF2B5EF4-FFF2-40B4-BE49-F238E27FC236}">
                <a16:creationId xmlns:a16="http://schemas.microsoft.com/office/drawing/2014/main" id="{AD25387D-E5D1-4FC0-A2BD-21269C1932C5}"/>
              </a:ext>
            </a:extLst>
          </p:cNvPr>
          <p:cNvSpPr>
            <a:spLocks xmlns:a="http://schemas.openxmlformats.org/drawingml/2006/main"/>
          </p:cNvSpPr>
          <p:nvPr/>
        </p:nvSpPr>
        <p:spPr>
          <a:xfrm xmlns:a="http://schemas.openxmlformats.org/drawingml/2006/main">
            <a:off x="2489200" y="4826000"/>
            <a:ext cx="9093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GPT-4, same prime-number questions: 84% in March 2023, 51% in June.</a:t>
            </a:r>
          </a:p>
        </p:txBody>
      </p:sp>
      <p:sp>
        <p:nvSpPr>
          <p:cNvPr id="27" name="09-text-24">
            <a:extLst xmlns:a="http://schemas.openxmlformats.org/drawingml/2006/main">
              <a:ext uri="{FF2B5EF4-FFF2-40B4-BE49-F238E27FC236}">
                <a16:creationId xmlns:a16="http://schemas.microsoft.com/office/drawing/2014/main" id="{4CA3BBCF-4F6D-4E0A-B0B8-B61D26FDDEA6}"/>
              </a:ext>
            </a:extLst>
          </p:cNvPr>
          <p:cNvSpPr>
            <a:spLocks xmlns:a="http://schemas.openxmlformats.org/drawingml/2006/main"/>
          </p:cNvSpPr>
          <p:nvPr/>
        </p:nvSpPr>
        <p:spPr>
          <a:xfrm xmlns:a="http://schemas.openxmlformats.org/drawingml/2006/main">
            <a:off x="609600" y="5283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Route</a:t>
            </a:r>
          </a:p>
        </p:txBody>
      </p:sp>
      <p:sp>
        <p:nvSpPr>
          <p:cNvPr id="28" name="09-text-25">
            <a:extLst xmlns:a="http://schemas.openxmlformats.org/drawingml/2006/main">
              <a:ext uri="{FF2B5EF4-FFF2-40B4-BE49-F238E27FC236}">
                <a16:creationId xmlns:a16="http://schemas.microsoft.com/office/drawing/2014/main" id="{39F11D4F-7426-499D-8C5A-147C26785A0C}"/>
              </a:ext>
            </a:extLst>
          </p:cNvPr>
          <p:cNvSpPr>
            <a:spLocks xmlns:a="http://schemas.openxmlformats.org/drawingml/2006/main"/>
          </p:cNvSpPr>
          <p:nvPr/>
        </p:nvSpPr>
        <p:spPr>
          <a:xfrm xmlns:a="http://schemas.openxmlformats.org/drawingml/2006/main">
            <a:off x="2489200" y="5232400"/>
            <a:ext cx="9093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145 agent tasks: only </a:t>
            </a:r>
            <a:r>
              <a:rPr b="1">
                <a:solidFill>
                  <a:srgbClr val="FFFCF5"/>
                </a:solidFill>
                <a:latin typeface="Helvetica"/>
                <a:ea typeface="Helvetica"/>
                <a:cs typeface="Helvetica"/>
              </a:rPr>
              <a:t>7%</a:t>
            </a:r>
            <a:r>
              <a:rPr b="0">
                <a:solidFill>
                  <a:srgbClr val="FFFCF5"/>
                </a:solidFill>
                <a:latin typeface="Helvetica"/>
                <a:ea typeface="Helvetica"/>
                <a:cs typeface="Helvetica"/>
              </a:rPr>
              <a:t> of calls needed the frontier model.</a:t>
            </a:r>
          </a:p>
        </p:txBody>
      </p:sp>
      <p:sp>
        <p:nvSpPr>
          <p:cNvPr id="29" name="09-shape-26">
            <a:extLst xmlns:a="http://schemas.openxmlformats.org/drawingml/2006/main">
              <a:ext uri="{FF2B5EF4-FFF2-40B4-BE49-F238E27FC236}">
                <a16:creationId xmlns:a16="http://schemas.microsoft.com/office/drawing/2014/main" id="{B3FB6B59-8DB4-4B2B-A6A5-94224CBF69C5}"/>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30" name="09-shape-27">
            <a:extLst xmlns:a="http://schemas.openxmlformats.org/drawingml/2006/main">
              <a:ext uri="{FF2B5EF4-FFF2-40B4-BE49-F238E27FC236}">
                <a16:creationId xmlns:a16="http://schemas.microsoft.com/office/drawing/2014/main" id="{8255C387-E8B5-4885-BB95-8226B9F4B6CA}"/>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31" name="09-text-28">
            <a:extLst xmlns:a="http://schemas.openxmlformats.org/drawingml/2006/main">
              <a:ext uri="{FF2B5EF4-FFF2-40B4-BE49-F238E27FC236}">
                <a16:creationId xmlns:a16="http://schemas.microsoft.com/office/drawing/2014/main" id="{7040A0A7-6168-49C4-A7D4-A87E7A6EF294}"/>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Pitfall</a:t>
            </a:r>
          </a:p>
        </p:txBody>
      </p:sp>
      <p:sp>
        <p:nvSpPr>
          <p:cNvPr id="32" name="09-text-29">
            <a:extLst xmlns:a="http://schemas.openxmlformats.org/drawingml/2006/main">
              <a:ext uri="{FF2B5EF4-FFF2-40B4-BE49-F238E27FC236}">
                <a16:creationId xmlns:a16="http://schemas.microsoft.com/office/drawing/2014/main" id="{AFB1DF8C-F058-4169-991A-5AB0DE1AEA98}"/>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hardcoded model ID with no eval suite behind it.</a:t>
            </a:r>
          </a:p>
        </p:txBody>
      </p:sp>
    </p:spTree>
    <p:extLst>
      <p:ext uri="{BB962C8B-B14F-4D97-AF65-F5344CB8AC3E}">
        <p14:creationId xmlns:p14="http://schemas.microsoft.com/office/powerpoint/2010/main" val="111773790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200" fill="hold"/>
                                        <p:tgtEl>
                                          <p:spTgt spid="5"/>
                                        </p:tgtEl>
                                      </p:cBhvr>
                                    </p:animEffect>
                                  </p:childTnLst>
                                </p:cTn>
                              </p:par>
                              <p:par>
                                <p:cTn id="10" presetID="10"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00" fill="hold"/>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200" fill="hold"/>
                                        <p:tgtEl>
                                          <p:spTgt spid="7"/>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200" fill="hold"/>
                                        <p:tgtEl>
                                          <p:spTgt spid="8"/>
                                        </p:tgtEl>
                                      </p:cBhvr>
                                    </p:animEffect>
                                  </p:childTnLst>
                                </p:cTn>
                              </p:par>
                              <p:par>
                                <p:cTn id="19" presetID="10"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200" fill="hold"/>
                                        <p:tgtEl>
                                          <p:spTgt spid="9"/>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200" fill="hold"/>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200" fill="hold"/>
                                        <p:tgtEl>
                                          <p:spTgt spid="11"/>
                                        </p:tgtEl>
                                      </p:cBhvr>
                                    </p:animEffec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200" fill="hold"/>
                                        <p:tgtEl>
                                          <p:spTgt spid="12"/>
                                        </p:tgtEl>
                                      </p:cBhvr>
                                    </p:animEffect>
                                  </p:childTnLst>
                                </p:cTn>
                              </p:par>
                              <p:par>
                                <p:cTn id="31" presetID="10"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200" fill="hold"/>
                                        <p:tgtEl>
                                          <p:spTgt spid="13"/>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200" fill="hold"/>
                                        <p:tgtEl>
                                          <p:spTgt spid="14"/>
                                        </p:tgtEl>
                                      </p:cBhvr>
                                    </p:animEffect>
                                  </p:childTnLst>
                                </p:cTn>
                              </p:par>
                              <p:par>
                                <p:cTn id="37" presetID="10"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200" fill="hold"/>
                                        <p:tgtEl>
                                          <p:spTgt spid="15"/>
                                        </p:tgtEl>
                                      </p:cBhvr>
                                    </p:animEffect>
                                  </p:childTnLst>
                                </p:cTn>
                              </p:par>
                              <p:par>
                                <p:cTn id="40" presetID="10" presetClass="entr" presetSubtype="0"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200" fill="hold"/>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par>
                                <p:cTn id="53" presetID="10" presetClass="entr" presetSubtype="0" fill="hold"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00" fill="hold"/>
                                        <p:tgtEl>
                                          <p:spTgt spid="20"/>
                                        </p:tgtEl>
                                      </p:cBhvr>
                                    </p:animEffect>
                                  </p:childTnLst>
                                </p:cTn>
                              </p:par>
                              <p:par>
                                <p:cTn id="56" presetID="10" presetClass="entr" presetSubtype="0" fill="hold"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200" fill="hold"/>
                                        <p:tgtEl>
                                          <p:spTgt spid="21"/>
                                        </p:tgtEl>
                                      </p:cBhvr>
                                    </p:animEffect>
                                  </p:childTnLst>
                                </p:cTn>
                              </p:par>
                              <p:par>
                                <p:cTn id="59" presetID="10" presetClass="entr" presetSubtype="0" fill="hold"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200" fill="hold"/>
                                        <p:tgtEl>
                                          <p:spTgt spid="22"/>
                                        </p:tgtEl>
                                      </p:cBhvr>
                                    </p:animEffect>
                                  </p:childTnLst>
                                </p:cTn>
                              </p:par>
                              <p:par>
                                <p:cTn id="62" presetID="10" presetClass="entr" presetSubtype="0" fill="hold"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200" fill="hold"/>
                                        <p:tgtEl>
                                          <p:spTgt spid="23"/>
                                        </p:tgtEl>
                                      </p:cBhvr>
                                    </p:animEffect>
                                  </p:childTnLst>
                                </p:cTn>
                              </p:par>
                              <p:par>
                                <p:cTn id="65" presetID="10" presetClass="entr" presetSubtype="0" fill="hold"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200" fill="hold"/>
                                        <p:tgtEl>
                                          <p:spTgt spid="24"/>
                                        </p:tgtEl>
                                      </p:cBhvr>
                                    </p:animEffect>
                                  </p:childTnLst>
                                </p:cTn>
                              </p:par>
                              <p:par>
                                <p:cTn id="68" presetID="10" presetClass="entr" presetSubtype="0" fill="hold"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200" fill="hold"/>
                                        <p:tgtEl>
                                          <p:spTgt spid="25"/>
                                        </p:tgtEl>
                                      </p:cBhvr>
                                    </p:animEffect>
                                  </p:childTnLst>
                                </p:cTn>
                              </p:par>
                              <p:par>
                                <p:cTn id="71" presetID="1" presetClass="entr" presetSubtype="0" fill="hold" nodeType="withEffect">
                                  <p:stCondLst>
                                    <p:cond delay="0"/>
                                  </p:stCondLst>
                                  <p:childTnLst>
                                    <p:set>
                                      <p:cBhvr>
                                        <p:cTn id="72" dur="1" fill="hold">
                                          <p:stCondLst>
                                            <p:cond delay="0"/>
                                          </p:stCondLst>
                                        </p:cTn>
                                        <p:tgtEl>
                                          <p:spTgt spid="2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27"/>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300" fill="hold"/>
                                        <p:tgtEl>
                                          <p:spTgt spid="29"/>
                                        </p:tgtEl>
                                      </p:cBhvr>
                                    </p:animEffect>
                                  </p:childTnLst>
                                </p:cTn>
                              </p:par>
                              <p:par>
                                <p:cTn id="84" presetID="10" presetClass="entr" presetSubtype="0" fill="hold"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300" fill="hold"/>
                                        <p:tgtEl>
                                          <p:spTgt spid="30"/>
                                        </p:tgtEl>
                                      </p:cBhvr>
                                    </p:animEffect>
                                  </p:childTnLst>
                                </p:cTn>
                              </p:par>
                              <p:par>
                                <p:cTn id="87" presetID="10" presetClass="entr" presetSubtype="0" fill="hold"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300" fill="hold"/>
                                        <p:tgtEl>
                                          <p:spTgt spid="31"/>
                                        </p:tgtEl>
                                      </p:cBhvr>
                                    </p:animEffect>
                                  </p:childTnLst>
                                </p:cTn>
                              </p:par>
                              <p:par>
                                <p:cTn id="90" presetID="10" presetClass="entr" presetSubtype="0" fill="hold" nodeType="with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300" fill="hold"/>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area-header">
            <a:extLst xmlns:a="http://schemas.openxmlformats.org/drawingml/2006/main">
              <a:ext uri="{FF2B5EF4-FFF2-40B4-BE49-F238E27FC236}">
                <a16:creationId xmlns:a16="http://schemas.microsoft.com/office/drawing/2014/main" id="{149B3E0E-300C-4B2E-AE95-0EAAA7268DDE}"/>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 name="!!area-name">
            <a:extLst xmlns:a="http://schemas.openxmlformats.org/drawingml/2006/main">
              <a:ext uri="{FF2B5EF4-FFF2-40B4-BE49-F238E27FC236}">
                <a16:creationId xmlns:a16="http://schemas.microsoft.com/office/drawing/2014/main" id="{A3B1E4B4-099E-463D-9729-B7A9E7E613F3}"/>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Context and knowledge</a:t>
            </a:r>
          </a:p>
        </p:txBody>
      </p:sp>
      <p:sp>
        <p:nvSpPr>
          <p:cNvPr id="3" name="!!area-beat">
            <a:extLst xmlns:a="http://schemas.openxmlformats.org/drawingml/2006/main">
              <a:ext uri="{FF2B5EF4-FFF2-40B4-BE49-F238E27FC236}">
                <a16:creationId xmlns:a16="http://schemas.microsoft.com/office/drawing/2014/main" id="{70EC144F-41F0-4AFC-92EE-23586F80700A}"/>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What you touched</a:t>
            </a:r>
          </a:p>
        </p:txBody>
      </p:sp>
      <p:sp>
        <p:nvSpPr>
          <p:cNvPr id="4" name="!!screenshot-AGENTS.md">
            <a:extLst xmlns:a="http://schemas.openxmlformats.org/drawingml/2006/main">
              <a:ext uri="{FF2B5EF4-FFF2-40B4-BE49-F238E27FC236}">
                <a16:creationId xmlns:a16="http://schemas.microsoft.com/office/drawing/2014/main" id="{77283C69-009A-4C17-AF6A-91DA8C4AC432}"/>
              </a:ext>
            </a:extLst>
          </p:cNvPr>
          <p:cNvSpPr>
            <a:spLocks xmlns:a="http://schemas.openxmlformats.org/drawingml/2006/main"/>
          </p:cNvSpPr>
          <p:nvPr/>
        </p:nvSpPr>
        <p:spPr>
          <a:xfrm xmlns:a="http://schemas.openxmlformats.org/drawingml/2006/main">
            <a:off x="609600" y="1981200"/>
            <a:ext cx="53340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5" name="10-text-1">
            <a:extLst xmlns:a="http://schemas.openxmlformats.org/drawingml/2006/main">
              <a:ext uri="{FF2B5EF4-FFF2-40B4-BE49-F238E27FC236}">
                <a16:creationId xmlns:a16="http://schemas.microsoft.com/office/drawing/2014/main" id="{43375ACC-EA91-40D6-BFA4-5CDAB8C87F19}"/>
              </a:ext>
            </a:extLst>
          </p:cNvPr>
          <p:cNvSpPr>
            <a:spLocks xmlns:a="http://schemas.openxmlformats.org/drawingml/2006/main"/>
          </p:cNvSpPr>
          <p:nvPr/>
        </p:nvSpPr>
        <p:spPr>
          <a:xfrm xmlns:a="http://schemas.openxmlformats.org/drawingml/2006/main">
            <a:off x="812800" y="26797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6" name="10-text-2">
            <a:extLst xmlns:a="http://schemas.openxmlformats.org/drawingml/2006/main">
              <a:ext uri="{FF2B5EF4-FFF2-40B4-BE49-F238E27FC236}">
                <a16:creationId xmlns:a16="http://schemas.microsoft.com/office/drawing/2014/main" id="{D6FC0D47-28FC-4625-965E-B87BD284C6C8}"/>
              </a:ext>
            </a:extLst>
          </p:cNvPr>
          <p:cNvSpPr>
            <a:spLocks xmlns:a="http://schemas.openxmlformats.org/drawingml/2006/main"/>
          </p:cNvSpPr>
          <p:nvPr/>
        </p:nvSpPr>
        <p:spPr>
          <a:xfrm xmlns:a="http://schemas.openxmlformats.org/drawingml/2006/main">
            <a:off x="812800" y="32004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AGENTS.md</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10 to 15 lines</a:t>
            </a:r>
          </a:p>
        </p:txBody>
      </p:sp>
      <p:sp>
        <p:nvSpPr>
          <p:cNvPr id="7" name="!!screenshot-Codex CLI">
            <a:extLst xmlns:a="http://schemas.openxmlformats.org/drawingml/2006/main">
              <a:ext uri="{FF2B5EF4-FFF2-40B4-BE49-F238E27FC236}">
                <a16:creationId xmlns:a16="http://schemas.microsoft.com/office/drawing/2014/main" id="{F0DE889B-C77F-4AA5-A318-163C16CC70EE}"/>
              </a:ext>
            </a:extLst>
          </p:cNvPr>
          <p:cNvSpPr>
            <a:spLocks xmlns:a="http://schemas.openxmlformats.org/drawingml/2006/main"/>
          </p:cNvSpPr>
          <p:nvPr/>
        </p:nvSpPr>
        <p:spPr>
          <a:xfrm xmlns:a="http://schemas.openxmlformats.org/drawingml/2006/main">
            <a:off x="6248400" y="1981200"/>
            <a:ext cx="53340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8" name="10-text-3">
            <a:extLst xmlns:a="http://schemas.openxmlformats.org/drawingml/2006/main">
              <a:ext uri="{FF2B5EF4-FFF2-40B4-BE49-F238E27FC236}">
                <a16:creationId xmlns:a16="http://schemas.microsoft.com/office/drawing/2014/main" id="{62840BE0-8822-4567-A0B8-8C081A34900C}"/>
              </a:ext>
            </a:extLst>
          </p:cNvPr>
          <p:cNvSpPr>
            <a:spLocks xmlns:a="http://schemas.openxmlformats.org/drawingml/2006/main"/>
          </p:cNvSpPr>
          <p:nvPr/>
        </p:nvSpPr>
        <p:spPr>
          <a:xfrm xmlns:a="http://schemas.openxmlformats.org/drawingml/2006/main">
            <a:off x="6451600" y="26797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9" name="10-text-4">
            <a:extLst xmlns:a="http://schemas.openxmlformats.org/drawingml/2006/main">
              <a:ext uri="{FF2B5EF4-FFF2-40B4-BE49-F238E27FC236}">
                <a16:creationId xmlns:a16="http://schemas.microsoft.com/office/drawing/2014/main" id="{9130E335-9B58-47BC-8B69-E25085227100}"/>
              </a:ext>
            </a:extLst>
          </p:cNvPr>
          <p:cNvSpPr>
            <a:spLocks xmlns:a="http://schemas.openxmlformats.org/drawingml/2006/main"/>
          </p:cNvSpPr>
          <p:nvPr/>
        </p:nvSpPr>
        <p:spPr>
          <a:xfrm xmlns:a="http://schemas.openxmlformats.org/drawingml/2006/main">
            <a:off x="6451600" y="32004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Codex /compact notice</a:t>
            </a:r>
          </a:p>
        </p:txBody>
      </p:sp>
      <p:sp>
        <p:nvSpPr>
          <p:cNvPr id="10" name="10-text-5">
            <a:extLst xmlns:a="http://schemas.openxmlformats.org/drawingml/2006/main">
              <a:ext uri="{FF2B5EF4-FFF2-40B4-BE49-F238E27FC236}">
                <a16:creationId xmlns:a16="http://schemas.microsoft.com/office/drawing/2014/main" id="{3339DA6A-99B3-4BD9-98DD-2F9F3D0FFA84}"/>
              </a:ext>
            </a:extLst>
          </p:cNvPr>
          <p:cNvSpPr>
            <a:spLocks xmlns:a="http://schemas.openxmlformats.org/drawingml/2006/main"/>
          </p:cNvSpPr>
          <p:nvPr/>
        </p:nvSpPr>
        <p:spPr>
          <a:xfrm xmlns:a="http://schemas.openxmlformats.org/drawingml/2006/main">
            <a:off x="609600" y="54864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FFFCF5"/>
                </a:solidFill>
                <a:latin typeface="Consolas"/>
                <a:ea typeface="Consolas"/>
                <a:cs typeface="Consolas"/>
              </a:rPr>
              <a:t>AGENTS.md</a:t>
            </a:r>
          </a:p>
        </p:txBody>
      </p:sp>
      <p:sp>
        <p:nvSpPr>
          <p:cNvPr id="11" name="10-text-6">
            <a:extLst xmlns:a="http://schemas.openxmlformats.org/drawingml/2006/main">
              <a:ext uri="{FF2B5EF4-FFF2-40B4-BE49-F238E27FC236}">
                <a16:creationId xmlns:a16="http://schemas.microsoft.com/office/drawing/2014/main" id="{D60743DF-0281-4FA1-9066-090684E9919C}"/>
              </a:ext>
            </a:extLst>
          </p:cNvPr>
          <p:cNvSpPr>
            <a:spLocks xmlns:a="http://schemas.openxmlformats.org/drawingml/2006/main"/>
          </p:cNvSpPr>
          <p:nvPr/>
        </p:nvSpPr>
        <p:spPr>
          <a:xfrm xmlns:a="http://schemas.openxmlformats.org/drawingml/2006/main">
            <a:off x="6248400" y="54864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FFFCF5"/>
                </a:solidFill>
                <a:latin typeface="Consolas"/>
                <a:ea typeface="Consolas"/>
                <a:cs typeface="Consolas"/>
              </a:rPr>
              <a:t>/compact</a:t>
            </a:r>
          </a:p>
        </p:txBody>
      </p:sp>
    </p:spTree>
    <p:extLst>
      <p:ext uri="{BB962C8B-B14F-4D97-AF65-F5344CB8AC3E}">
        <p14:creationId xmlns:p14="http://schemas.microsoft.com/office/powerpoint/2010/main" val="519867156"/>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 name="!!area-name">
            <a:extLst xmlns:a="http://schemas.openxmlformats.org/drawingml/2006/main">
              <a:ext uri="{FF2B5EF4-FFF2-40B4-BE49-F238E27FC236}">
                <a16:creationId xmlns:a16="http://schemas.microsoft.com/office/drawing/2014/main" id="{9F4F054B-3859-40C7-9E2C-74F7DFED0DC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What you touched</a:t>
            </a:r>
          </a:p>
        </p:txBody>
      </p:sp>
      <p:pic>
        <p:nvPicPr>
          <p:cNvPr id="19" name="mini-map"/>
          <p:cNvPicPr>
            <a:picLocks xmlns:a="http://schemas.openxmlformats.org/drawingml/2006/main" noChangeAspect="1"/>
          </p:cNvPicPr>
          <p:nvPr/>
        </p:nvPicPr>
        <p:blipFill>
          <a:blip xmlns:r="http://schemas.openxmlformats.org/officeDocument/2006/relationships" xmlns:a="http://schemas.openxmlformats.org/drawingml/2006/main" r:embed="R46222b2b8c3b4f7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creenshot-AGENTS.md">
            <a:extLst xmlns:a="http://schemas.openxmlformats.org/drawingml/2006/main">
              <a:ext uri="{FF2B5EF4-FFF2-40B4-BE49-F238E27FC236}">
                <a16:creationId xmlns:a16="http://schemas.microsoft.com/office/drawing/2014/main" id="{7E33D1F0-E19E-4D6A-905D-B273FEC2BDF2}"/>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4" name="10b-text-1">
            <a:extLst xmlns:a="http://schemas.openxmlformats.org/drawingml/2006/main">
              <a:ext uri="{FF2B5EF4-FFF2-40B4-BE49-F238E27FC236}">
                <a16:creationId xmlns:a16="http://schemas.microsoft.com/office/drawing/2014/main" id="{811F3572-B428-4D10-81FB-B25195CB1DE1}"/>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5" name="10b-text-2">
            <a:extLst xmlns:a="http://schemas.openxmlformats.org/drawingml/2006/main">
              <a:ext uri="{FF2B5EF4-FFF2-40B4-BE49-F238E27FC236}">
                <a16:creationId xmlns:a16="http://schemas.microsoft.com/office/drawing/2014/main" id="{314DEED8-669C-4844-AB66-470B7CBC3FB5}"/>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AGENTS.md</a:t>
            </a:r>
          </a:p>
        </p:txBody>
      </p:sp>
      <p:sp>
        <p:nvSpPr>
          <p:cNvPr id="6" name="!!screenshot-/compact">
            <a:extLst xmlns:a="http://schemas.openxmlformats.org/drawingml/2006/main">
              <a:ext uri="{FF2B5EF4-FFF2-40B4-BE49-F238E27FC236}">
                <a16:creationId xmlns:a16="http://schemas.microsoft.com/office/drawing/2014/main" id="{95E2D189-6B79-49AA-B97D-BCA80E6B87F6}"/>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7" name="10b-text-3">
            <a:extLst xmlns:a="http://schemas.openxmlformats.org/drawingml/2006/main">
              <a:ext uri="{FF2B5EF4-FFF2-40B4-BE49-F238E27FC236}">
                <a16:creationId xmlns:a16="http://schemas.microsoft.com/office/drawing/2014/main" id="{668E8B23-466A-4EAA-96A6-88D8FE62F27A}"/>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8" name="10b-text-4">
            <a:extLst xmlns:a="http://schemas.openxmlformats.org/drawingml/2006/main">
              <a:ext uri="{FF2B5EF4-FFF2-40B4-BE49-F238E27FC236}">
                <a16:creationId xmlns:a16="http://schemas.microsoft.com/office/drawing/2014/main" id="{D4C425F5-DA16-4349-92B2-3D414B1476E3}"/>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/compact</a:t>
            </a:r>
          </a:p>
        </p:txBody>
      </p:sp>
      <p:sp>
        <p:nvSpPr>
          <p:cNvPr id="9" name="10b-text-5">
            <a:extLst xmlns:a="http://schemas.openxmlformats.org/drawingml/2006/main">
              <a:ext uri="{FF2B5EF4-FFF2-40B4-BE49-F238E27FC236}">
                <a16:creationId xmlns:a16="http://schemas.microsoft.com/office/drawing/2014/main" id="{CA5065B0-E4FB-4049-B6EE-16FEB9821A50}"/>
              </a:ext>
            </a:extLst>
          </p:cNvPr>
          <p:cNvSpPr>
            <a:spLocks xmlns:a="http://schemas.openxmlformats.org/drawingml/2006/main"/>
          </p:cNvSpPr>
          <p:nvPr/>
        </p:nvSpPr>
        <p:spPr>
          <a:xfrm xmlns:a="http://schemas.openxmlformats.org/drawingml/2006/main">
            <a:off x="609600" y="2082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context fails:</a:t>
            </a:r>
          </a:p>
        </p:txBody>
      </p:sp>
      <p:sp>
        <p:nvSpPr>
          <p:cNvPr id="10" name="10b-text-6">
            <a:extLst xmlns:a="http://schemas.openxmlformats.org/drawingml/2006/main">
              <a:ext uri="{FF2B5EF4-FFF2-40B4-BE49-F238E27FC236}">
                <a16:creationId xmlns:a16="http://schemas.microsoft.com/office/drawing/2014/main" id="{C40FF02B-8FC0-465C-AA3C-75E9C0A51E7F}"/>
              </a:ext>
            </a:extLst>
          </p:cNvPr>
          <p:cNvSpPr>
            <a:spLocks xmlns:a="http://schemas.openxmlformats.org/drawingml/2006/main"/>
          </p:cNvSpPr>
          <p:nvPr/>
        </p:nvSpPr>
        <p:spPr>
          <a:xfrm xmlns:a="http://schemas.openxmlformats.org/drawingml/2006/main">
            <a:off x="609600" y="25654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Poisoning · Distraction · Confusion · Clash</a:t>
            </a:r>
          </a:p>
        </p:txBody>
      </p:sp>
      <p:sp>
        <p:nvSpPr>
          <p:cNvPr id="11" name="10b-text-7">
            <a:extLst xmlns:a="http://schemas.openxmlformats.org/drawingml/2006/main">
              <a:ext uri="{FF2B5EF4-FFF2-40B4-BE49-F238E27FC236}">
                <a16:creationId xmlns:a16="http://schemas.microsoft.com/office/drawing/2014/main" id="{9F7AE5DA-1E1F-41AB-BB8F-CDB4DEBB0BA4}"/>
              </a:ext>
            </a:extLst>
          </p:cNvPr>
          <p:cNvSpPr>
            <a:spLocks xmlns:a="http://schemas.openxmlformats.org/drawingml/2006/main"/>
          </p:cNvSpPr>
          <p:nvPr/>
        </p:nvSpPr>
        <p:spPr>
          <a:xfrm xmlns:a="http://schemas.openxmlformats.org/drawingml/2006/main">
            <a:off x="609600" y="3352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18 models tested. Performance degrades as input grows, on simple tasks.</a:t>
            </a:r>
          </a:p>
        </p:txBody>
      </p:sp>
      <p:sp>
        <p:nvSpPr>
          <p:cNvPr id="12" name="10b-text-8">
            <a:extLst xmlns:a="http://schemas.openxmlformats.org/drawingml/2006/main">
              <a:ext uri="{FF2B5EF4-FFF2-40B4-BE49-F238E27FC236}">
                <a16:creationId xmlns:a16="http://schemas.microsoft.com/office/drawing/2014/main" id="{2B9091D0-7E1C-4B4D-B203-3C92944CFB1E}"/>
              </a:ext>
            </a:extLst>
          </p:cNvPr>
          <p:cNvSpPr>
            <a:spLocks xmlns:a="http://schemas.openxmlformats.org/drawingml/2006/main"/>
          </p:cNvSpPr>
          <p:nvPr/>
        </p:nvSpPr>
        <p:spPr>
          <a:xfrm xmlns:a="http://schemas.openxmlformats.org/drawingml/2006/main">
            <a:off x="609600" y="3810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someone engineered:</a:t>
            </a:r>
          </a:p>
        </p:txBody>
      </p:sp>
      <p:sp>
        <p:nvSpPr>
          <p:cNvPr id="13" name="10b-text-9">
            <a:extLst xmlns:a="http://schemas.openxmlformats.org/drawingml/2006/main">
              <a:ext uri="{FF2B5EF4-FFF2-40B4-BE49-F238E27FC236}">
                <a16:creationId xmlns:a16="http://schemas.microsoft.com/office/drawing/2014/main" id="{A2014D55-B0A4-4064-918A-8C245971DE89}"/>
              </a:ext>
            </a:extLst>
          </p:cNvPr>
          <p:cNvSpPr>
            <a:spLocks xmlns:a="http://schemas.openxmlformats.org/drawingml/2006/main"/>
          </p:cNvSpPr>
          <p:nvPr/>
        </p:nvSpPr>
        <p:spPr>
          <a:xfrm xmlns:a="http://schemas.openxmlformats.org/drawingml/2006/main">
            <a:off x="609600" y="4292600"/>
            <a:ext cx="109728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system prompt at the right altitude.</a:t>
            </a:r>
          </a:p>
        </p:txBody>
      </p:sp>
      <p:sp>
        <p:nvSpPr>
          <p:cNvPr id="14" name="10b-text-10">
            <a:extLst xmlns:a="http://schemas.openxmlformats.org/drawingml/2006/main">
              <a:ext uri="{FF2B5EF4-FFF2-40B4-BE49-F238E27FC236}">
                <a16:creationId xmlns:a16="http://schemas.microsoft.com/office/drawing/2014/main" id="{4EDB7EA9-E07D-4BA6-B71E-1383A9576FF5}"/>
              </a:ext>
            </a:extLst>
          </p:cNvPr>
          <p:cNvSpPr>
            <a:spLocks xmlns:a="http://schemas.openxmlformats.org/drawingml/2006/main"/>
          </p:cNvSpPr>
          <p:nvPr/>
        </p:nvSpPr>
        <p:spPr>
          <a:xfrm xmlns:a="http://schemas.openxmlformats.org/drawingml/2006/main">
            <a:off x="609600" y="4686300"/>
            <a:ext cx="109728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compaction policy.</a:t>
            </a:r>
          </a:p>
        </p:txBody>
      </p:sp>
      <p:sp>
        <p:nvSpPr>
          <p:cNvPr id="15" name="10b-text-11">
            <a:extLst xmlns:a="http://schemas.openxmlformats.org/drawingml/2006/main">
              <a:ext uri="{FF2B5EF4-FFF2-40B4-BE49-F238E27FC236}">
                <a16:creationId xmlns:a16="http://schemas.microsoft.com/office/drawing/2014/main" id="{F6E2E149-C4D2-4BA9-A67D-D4B70D31853E}"/>
              </a:ext>
            </a:extLst>
          </p:cNvPr>
          <p:cNvSpPr>
            <a:spLocks xmlns:a="http://schemas.openxmlformats.org/drawingml/2006/main"/>
          </p:cNvSpPr>
          <p:nvPr/>
        </p:nvSpPr>
        <p:spPr>
          <a:xfrm xmlns:a="http://schemas.openxmlformats.org/drawingml/2006/main">
            <a:off x="609600" y="5080000"/>
            <a:ext cx="109728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memory convention.</a:t>
            </a:r>
          </a:p>
        </p:txBody>
      </p:sp>
      <p:sp>
        <p:nvSpPr>
          <p:cNvPr id="16" name="10b-text-12">
            <a:extLst xmlns:a="http://schemas.openxmlformats.org/drawingml/2006/main">
              <a:ext uri="{FF2B5EF4-FFF2-40B4-BE49-F238E27FC236}">
                <a16:creationId xmlns:a16="http://schemas.microsoft.com/office/drawing/2014/main" id="{9B2B26A7-E7B2-4C2C-973F-3F90FC55E0E5}"/>
              </a:ext>
            </a:extLst>
          </p:cNvPr>
          <p:cNvSpPr>
            <a:spLocks xmlns:a="http://schemas.openxmlformats.org/drawingml/2006/main"/>
          </p:cNvSpPr>
          <p:nvPr/>
        </p:nvSpPr>
        <p:spPr>
          <a:xfrm xmlns:a="http://schemas.openxmlformats.org/drawingml/2006/main">
            <a:off x="609600" y="5473700"/>
            <a:ext cx="109728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A retrieval strategy: grep and reads, not embeddings.</a:t>
            </a:r>
          </a:p>
        </p:txBody>
      </p:sp>
      <p:sp>
        <p:nvSpPr>
          <p:cNvPr id="17" name="10b-text-13">
            <a:extLst xmlns:a="http://schemas.openxmlformats.org/drawingml/2006/main">
              <a:ext uri="{FF2B5EF4-FFF2-40B4-BE49-F238E27FC236}">
                <a16:creationId xmlns:a16="http://schemas.microsoft.com/office/drawing/2014/main" id="{FBA23DCA-B954-46E7-9C68-9616CDE35C81}"/>
              </a:ext>
            </a:extLst>
          </p:cNvPr>
          <p:cNvSpPr>
            <a:spLocks xmlns:a="http://schemas.openxmlformats.org/drawingml/2006/main"/>
          </p:cNvSpPr>
          <p:nvPr/>
        </p:nvSpPr>
        <p:spPr>
          <a:xfrm xmlns:a="http://schemas.openxmlformats.org/drawingml/2006/main">
            <a:off x="609600" y="5867400"/>
            <a:ext cx="109728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cache-aware layout.</a:t>
            </a:r>
          </a:p>
        </p:txBody>
      </p:sp>
    </p:spTree>
    <p:extLst>
      <p:ext uri="{BB962C8B-B14F-4D97-AF65-F5344CB8AC3E}">
        <p14:creationId xmlns:p14="http://schemas.microsoft.com/office/powerpoint/2010/main" val="924380886"/>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 name="!!area-name">
            <a:extLst xmlns:a="http://schemas.openxmlformats.org/drawingml/2006/main">
              <a:ext uri="{FF2B5EF4-FFF2-40B4-BE49-F238E27FC236}">
                <a16:creationId xmlns:a16="http://schemas.microsoft.com/office/drawing/2014/main" id="{1770AEB9-23D9-4374-B177-4B12961BDEF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it's your agent</a:t>
            </a:r>
          </a:p>
        </p:txBody>
      </p:sp>
      <p:pic>
        <p:nvPicPr>
          <p:cNvPr id="34" name="mini-map"/>
          <p:cNvPicPr>
            <a:picLocks xmlns:a="http://schemas.openxmlformats.org/drawingml/2006/main" noChangeAspect="1"/>
          </p:cNvPicPr>
          <p:nvPr/>
        </p:nvPicPr>
        <p:blipFill>
          <a:blip xmlns:r="http://schemas.openxmlformats.org/officeDocument/2006/relationships" xmlns:a="http://schemas.openxmlformats.org/drawingml/2006/main" r:embed="Rc7e9c2efc6ce437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5D8043B3-A9FB-4C5B-8DCA-5A9F8AD1724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Every token in the window is now</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your decision.</a:t>
            </a:r>
          </a:p>
        </p:txBody>
      </p:sp>
      <p:sp>
        <p:nvSpPr>
          <p:cNvPr id="4" name="11-shape-1">
            <a:extLst xmlns:a="http://schemas.openxmlformats.org/drawingml/2006/main">
              <a:ext uri="{FF2B5EF4-FFF2-40B4-BE49-F238E27FC236}">
                <a16:creationId xmlns:a16="http://schemas.microsoft.com/office/drawing/2014/main" id="{D5D08BFB-1700-477D-A142-CEBCAC7E05BB}"/>
              </a:ext>
            </a:extLst>
          </p:cNvPr>
          <p:cNvSpPr>
            <a:spLocks xmlns:a="http://schemas.openxmlformats.org/drawingml/2006/main"/>
          </p:cNvSpPr>
          <p:nvPr/>
        </p:nvSpPr>
        <p:spPr>
          <a:xfrm xmlns:a="http://schemas.openxmlformats.org/drawingml/2006/main">
            <a:off x="609600" y="2057400"/>
            <a:ext cx="10972800" cy="1498600"/>
          </a:xfrm>
          <a:prstGeom xmlns:a="http://schemas.openxmlformats.org/drawingml/2006/main" prst="roundRect">
            <a:avLst>
              <a:gd name="adj" fmla="val 5085"/>
            </a:avLst>
          </a:prstGeom>
          <a:noFill xmlns:a="http://schemas.openxmlformats.org/drawingml/2006/main"/>
          <a:ln xmlns:a="http://schemas.openxmlformats.org/drawingml/2006/main" w="25400">
            <a:solidFill>
              <a:srgbClr val="F948BE"/>
            </a:solidFill>
          </a:ln>
        </p:spPr>
      </p:sp>
      <p:sp>
        <p:nvSpPr>
          <p:cNvPr id="5" name="11-shape-2">
            <a:extLst xmlns:a="http://schemas.openxmlformats.org/drawingml/2006/main">
              <a:ext uri="{FF2B5EF4-FFF2-40B4-BE49-F238E27FC236}">
                <a16:creationId xmlns:a16="http://schemas.microsoft.com/office/drawing/2014/main" id="{3EC9828C-B234-4641-B419-764B8B46C62B}"/>
              </a:ext>
            </a:extLst>
          </p:cNvPr>
          <p:cNvSpPr>
            <a:spLocks xmlns:a="http://schemas.openxmlformats.org/drawingml/2006/main"/>
          </p:cNvSpPr>
          <p:nvPr/>
        </p:nvSpPr>
        <p:spPr>
          <a:xfrm xmlns:a="http://schemas.openxmlformats.org/drawingml/2006/main">
            <a:off x="812800" y="1905000"/>
            <a:ext cx="1397000" cy="279400"/>
          </a:xfrm>
          <a:prstGeom xmlns:a="http://schemas.openxmlformats.org/drawingml/2006/main" prst="rect">
            <a:avLst/>
          </a:prstGeom>
          <a:solidFill xmlns:a="http://schemas.openxmlformats.org/drawingml/2006/main">
            <a:srgbClr val="14161C"/>
          </a:solidFill>
          <a:ln xmlns:a="http://schemas.openxmlformats.org/drawingml/2006/main" w="0">
            <a:noFill/>
          </a:ln>
        </p:spPr>
      </p:sp>
      <p:sp>
        <p:nvSpPr>
          <p:cNvPr id="6" name="11-text-3">
            <a:extLst xmlns:a="http://schemas.openxmlformats.org/drawingml/2006/main">
              <a:ext uri="{FF2B5EF4-FFF2-40B4-BE49-F238E27FC236}">
                <a16:creationId xmlns:a16="http://schemas.microsoft.com/office/drawing/2014/main" id="{8197B39B-A535-4CEE-BC5C-FD22E5B99C2E}"/>
              </a:ext>
            </a:extLst>
          </p:cNvPr>
          <p:cNvSpPr>
            <a:spLocks xmlns:a="http://schemas.openxmlformats.org/drawingml/2006/main"/>
          </p:cNvSpPr>
          <p:nvPr/>
        </p:nvSpPr>
        <p:spPr>
          <a:xfrm xmlns:a="http://schemas.openxmlformats.org/drawingml/2006/main">
            <a:off x="914400" y="19050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the window</a:t>
            </a:r>
          </a:p>
        </p:txBody>
      </p:sp>
      <p:sp>
        <p:nvSpPr>
          <p:cNvPr id="7" name="11-shape-4">
            <a:extLst xmlns:a="http://schemas.openxmlformats.org/drawingml/2006/main">
              <a:ext uri="{FF2B5EF4-FFF2-40B4-BE49-F238E27FC236}">
                <a16:creationId xmlns:a16="http://schemas.microsoft.com/office/drawing/2014/main" id="{A36DC288-C768-44B6-8858-6BCAD29C304F}"/>
              </a:ext>
            </a:extLst>
          </p:cNvPr>
          <p:cNvSpPr>
            <a:spLocks xmlns:a="http://schemas.openxmlformats.org/drawingml/2006/main"/>
          </p:cNvSpPr>
          <p:nvPr/>
        </p:nvSpPr>
        <p:spPr>
          <a:xfrm xmlns:a="http://schemas.openxmlformats.org/drawingml/2006/main">
            <a:off x="762000" y="23114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8" name="11-text-5">
            <a:extLst xmlns:a="http://schemas.openxmlformats.org/drawingml/2006/main">
              <a:ext uri="{FF2B5EF4-FFF2-40B4-BE49-F238E27FC236}">
                <a16:creationId xmlns:a16="http://schemas.microsoft.com/office/drawing/2014/main" id="{92FA5EEB-7D4A-4236-BC83-86AA33FD5057}"/>
              </a:ext>
            </a:extLst>
          </p:cNvPr>
          <p:cNvSpPr>
            <a:spLocks xmlns:a="http://schemas.openxmlformats.org/drawingml/2006/main"/>
          </p:cNvSpPr>
          <p:nvPr/>
        </p:nvSpPr>
        <p:spPr>
          <a:xfrm xmlns:a="http://schemas.openxmlformats.org/drawingml/2006/main">
            <a:off x="965200" y="24638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a:t>
            </a:r>
          </a:p>
        </p:txBody>
      </p:sp>
      <p:sp>
        <p:nvSpPr>
          <p:cNvPr id="9" name="11-shape-6">
            <a:extLst xmlns:a="http://schemas.openxmlformats.org/drawingml/2006/main">
              <a:ext uri="{FF2B5EF4-FFF2-40B4-BE49-F238E27FC236}">
                <a16:creationId xmlns:a16="http://schemas.microsoft.com/office/drawing/2014/main" id="{2B12A057-D919-4968-A503-8C21F8DC5D3F}"/>
              </a:ext>
            </a:extLst>
          </p:cNvPr>
          <p:cNvSpPr>
            <a:spLocks xmlns:a="http://schemas.openxmlformats.org/drawingml/2006/main"/>
          </p:cNvSpPr>
          <p:nvPr/>
        </p:nvSpPr>
        <p:spPr>
          <a:xfrm xmlns:a="http://schemas.openxmlformats.org/drawingml/2006/main">
            <a:off x="2565400" y="23114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10" name="11-text-7">
            <a:extLst xmlns:a="http://schemas.openxmlformats.org/drawingml/2006/main">
              <a:ext uri="{FF2B5EF4-FFF2-40B4-BE49-F238E27FC236}">
                <a16:creationId xmlns:a16="http://schemas.microsoft.com/office/drawing/2014/main" id="{BAC3A786-B48A-4533-B456-0E1E602150DB}"/>
              </a:ext>
            </a:extLst>
          </p:cNvPr>
          <p:cNvSpPr>
            <a:spLocks xmlns:a="http://schemas.openxmlformats.org/drawingml/2006/main"/>
          </p:cNvSpPr>
          <p:nvPr/>
        </p:nvSpPr>
        <p:spPr>
          <a:xfrm xmlns:a="http://schemas.openxmlformats.org/drawingml/2006/main">
            <a:off x="2768600" y="24638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Examples</a:t>
            </a:r>
          </a:p>
        </p:txBody>
      </p:sp>
      <p:sp>
        <p:nvSpPr>
          <p:cNvPr id="11" name="11-shape-8">
            <a:extLst xmlns:a="http://schemas.openxmlformats.org/drawingml/2006/main">
              <a:ext uri="{FF2B5EF4-FFF2-40B4-BE49-F238E27FC236}">
                <a16:creationId xmlns:a16="http://schemas.microsoft.com/office/drawing/2014/main" id="{7B1897D5-3EF2-499F-BD8F-2A6BAB34135F}"/>
              </a:ext>
            </a:extLst>
          </p:cNvPr>
          <p:cNvSpPr>
            <a:spLocks xmlns:a="http://schemas.openxmlformats.org/drawingml/2006/main"/>
          </p:cNvSpPr>
          <p:nvPr/>
        </p:nvSpPr>
        <p:spPr>
          <a:xfrm xmlns:a="http://schemas.openxmlformats.org/drawingml/2006/main">
            <a:off x="4368800" y="23114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12" name="11-text-9">
            <a:extLst xmlns:a="http://schemas.openxmlformats.org/drawingml/2006/main">
              <a:ext uri="{FF2B5EF4-FFF2-40B4-BE49-F238E27FC236}">
                <a16:creationId xmlns:a16="http://schemas.microsoft.com/office/drawing/2014/main" id="{BFBE768E-ABD5-4C0E-A678-5BA0F02744B4}"/>
              </a:ext>
            </a:extLst>
          </p:cNvPr>
          <p:cNvSpPr>
            <a:spLocks xmlns:a="http://schemas.openxmlformats.org/drawingml/2006/main"/>
          </p:cNvSpPr>
          <p:nvPr/>
        </p:nvSpPr>
        <p:spPr>
          <a:xfrm xmlns:a="http://schemas.openxmlformats.org/drawingml/2006/main">
            <a:off x="4572000" y="24638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knowledge</a:t>
            </a:r>
          </a:p>
        </p:txBody>
      </p:sp>
      <p:sp>
        <p:nvSpPr>
          <p:cNvPr id="13" name="11-shape-10">
            <a:extLst xmlns:a="http://schemas.openxmlformats.org/drawingml/2006/main">
              <a:ext uri="{FF2B5EF4-FFF2-40B4-BE49-F238E27FC236}">
                <a16:creationId xmlns:a16="http://schemas.microsoft.com/office/drawing/2014/main" id="{D5D3AA10-4303-45BF-A31A-465DF47251B1}"/>
              </a:ext>
            </a:extLst>
          </p:cNvPr>
          <p:cNvSpPr>
            <a:spLocks xmlns:a="http://schemas.openxmlformats.org/drawingml/2006/main"/>
          </p:cNvSpPr>
          <p:nvPr/>
        </p:nvSpPr>
        <p:spPr>
          <a:xfrm xmlns:a="http://schemas.openxmlformats.org/drawingml/2006/main">
            <a:off x="6172200" y="23114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14" name="11-text-11">
            <a:extLst xmlns:a="http://schemas.openxmlformats.org/drawingml/2006/main">
              <a:ext uri="{FF2B5EF4-FFF2-40B4-BE49-F238E27FC236}">
                <a16:creationId xmlns:a16="http://schemas.microsoft.com/office/drawing/2014/main" id="{6710D676-B446-49BC-BDA2-D00616F15339}"/>
              </a:ext>
            </a:extLst>
          </p:cNvPr>
          <p:cNvSpPr>
            <a:spLocks xmlns:a="http://schemas.openxmlformats.org/drawingml/2006/main"/>
          </p:cNvSpPr>
          <p:nvPr/>
        </p:nvSpPr>
        <p:spPr>
          <a:xfrm xmlns:a="http://schemas.openxmlformats.org/drawingml/2006/main">
            <a:off x="6375400" y="24638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Session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state</a:t>
            </a:r>
          </a:p>
        </p:txBody>
      </p:sp>
      <p:sp>
        <p:nvSpPr>
          <p:cNvPr id="15" name="11-shape-12">
            <a:extLst xmlns:a="http://schemas.openxmlformats.org/drawingml/2006/main">
              <a:ext uri="{FF2B5EF4-FFF2-40B4-BE49-F238E27FC236}">
                <a16:creationId xmlns:a16="http://schemas.microsoft.com/office/drawing/2014/main" id="{B8CB6BB7-25C9-4D5E-B5F9-FCC67BF7C1C6}"/>
              </a:ext>
            </a:extLst>
          </p:cNvPr>
          <p:cNvSpPr>
            <a:spLocks xmlns:a="http://schemas.openxmlformats.org/drawingml/2006/main"/>
          </p:cNvSpPr>
          <p:nvPr/>
        </p:nvSpPr>
        <p:spPr>
          <a:xfrm xmlns:a="http://schemas.openxmlformats.org/drawingml/2006/main">
            <a:off x="7975600" y="23114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16" name="11-text-13">
            <a:extLst xmlns:a="http://schemas.openxmlformats.org/drawingml/2006/main">
              <a:ext uri="{FF2B5EF4-FFF2-40B4-BE49-F238E27FC236}">
                <a16:creationId xmlns:a16="http://schemas.microsoft.com/office/drawing/2014/main" id="{E05A658D-12A9-4D0B-916B-81934D7C72F1}"/>
              </a:ext>
            </a:extLst>
          </p:cNvPr>
          <p:cNvSpPr>
            <a:spLocks xmlns:a="http://schemas.openxmlformats.org/drawingml/2006/main"/>
          </p:cNvSpPr>
          <p:nvPr/>
        </p:nvSpPr>
        <p:spPr>
          <a:xfrm xmlns:a="http://schemas.openxmlformats.org/drawingml/2006/main">
            <a:off x="8178800" y="24638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Memory</a:t>
            </a:r>
          </a:p>
        </p:txBody>
      </p:sp>
      <p:sp>
        <p:nvSpPr>
          <p:cNvPr id="17" name="11-shape-14">
            <a:extLst xmlns:a="http://schemas.openxmlformats.org/drawingml/2006/main">
              <a:ext uri="{FF2B5EF4-FFF2-40B4-BE49-F238E27FC236}">
                <a16:creationId xmlns:a16="http://schemas.microsoft.com/office/drawing/2014/main" id="{00CBFF07-3E46-44FE-82BC-8F426EF37B02}"/>
              </a:ext>
            </a:extLst>
          </p:cNvPr>
          <p:cNvSpPr>
            <a:spLocks xmlns:a="http://schemas.openxmlformats.org/drawingml/2006/main"/>
          </p:cNvSpPr>
          <p:nvPr/>
        </p:nvSpPr>
        <p:spPr>
          <a:xfrm xmlns:a="http://schemas.openxmlformats.org/drawingml/2006/main">
            <a:off x="9779000" y="23114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18" name="11-text-15">
            <a:extLst xmlns:a="http://schemas.openxmlformats.org/drawingml/2006/main">
              <a:ext uri="{FF2B5EF4-FFF2-40B4-BE49-F238E27FC236}">
                <a16:creationId xmlns:a16="http://schemas.microsoft.com/office/drawing/2014/main" id="{E7AB55C6-ECDA-44E7-9370-D6BF2FC38869}"/>
              </a:ext>
            </a:extLst>
          </p:cNvPr>
          <p:cNvSpPr>
            <a:spLocks xmlns:a="http://schemas.openxmlformats.org/drawingml/2006/main"/>
          </p:cNvSpPr>
          <p:nvPr/>
        </p:nvSpPr>
        <p:spPr>
          <a:xfrm xmlns:a="http://schemas.openxmlformats.org/drawingml/2006/main">
            <a:off x="9982200" y="24638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results</a:t>
            </a:r>
          </a:p>
        </p:txBody>
      </p:sp>
      <p:sp>
        <p:nvSpPr>
          <p:cNvPr id="19" name="11-text-16">
            <a:extLst xmlns:a="http://schemas.openxmlformats.org/drawingml/2006/main">
              <a:ext uri="{FF2B5EF4-FFF2-40B4-BE49-F238E27FC236}">
                <a16:creationId xmlns:a16="http://schemas.microsoft.com/office/drawing/2014/main" id="{F5B00A84-92C1-4CDF-A597-4F2D7C98D451}"/>
              </a:ext>
            </a:extLst>
          </p:cNvPr>
          <p:cNvSpPr>
            <a:spLocks xmlns:a="http://schemas.openxmlformats.org/drawingml/2006/main"/>
          </p:cNvSpPr>
          <p:nvPr/>
        </p:nvSpPr>
        <p:spPr>
          <a:xfrm xmlns:a="http://schemas.openxmlformats.org/drawingml/2006/main">
            <a:off x="609600" y="3683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Each has a relevance, a freshness, a provenance, and a size.</a:t>
            </a:r>
          </a:p>
        </p:txBody>
      </p:sp>
      <p:sp>
        <p:nvSpPr>
          <p:cNvPr id="20" name="11-shape-17">
            <a:extLst xmlns:a="http://schemas.openxmlformats.org/drawingml/2006/main">
              <a:ext uri="{FF2B5EF4-FFF2-40B4-BE49-F238E27FC236}">
                <a16:creationId xmlns:a16="http://schemas.microsoft.com/office/drawing/2014/main" id="{93F72FB5-3615-4833-ABCC-9DD47E70CF7E}"/>
              </a:ext>
            </a:extLst>
          </p:cNvPr>
          <p:cNvSpPr>
            <a:spLocks xmlns:a="http://schemas.openxmlformats.org/drawingml/2006/main"/>
          </p:cNvSpPr>
          <p:nvPr/>
        </p:nvSpPr>
        <p:spPr>
          <a:xfrm xmlns:a="http://schemas.openxmlformats.org/drawingml/2006/main">
            <a:off x="609600" y="4191000"/>
            <a:ext cx="20320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1" name="11-text-18">
            <a:extLst xmlns:a="http://schemas.openxmlformats.org/drawingml/2006/main">
              <a:ext uri="{FF2B5EF4-FFF2-40B4-BE49-F238E27FC236}">
                <a16:creationId xmlns:a16="http://schemas.microsoft.com/office/drawing/2014/main" id="{468BEF9E-5B6B-4EEF-ADFA-02E9D2AC83DC}"/>
              </a:ext>
            </a:extLst>
          </p:cNvPr>
          <p:cNvSpPr>
            <a:spLocks xmlns:a="http://schemas.openxmlformats.org/drawingml/2006/main"/>
          </p:cNvSpPr>
          <p:nvPr/>
        </p:nvSpPr>
        <p:spPr>
          <a:xfrm xmlns:a="http://schemas.openxmlformats.org/drawingml/2006/main">
            <a:off x="762000" y="4229100"/>
            <a:ext cx="172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budget</a:t>
            </a:r>
          </a:p>
        </p:txBody>
      </p:sp>
      <p:sp>
        <p:nvSpPr>
          <p:cNvPr id="22" name="11-shape-19">
            <a:extLst xmlns:a="http://schemas.openxmlformats.org/drawingml/2006/main">
              <a:ext uri="{FF2B5EF4-FFF2-40B4-BE49-F238E27FC236}">
                <a16:creationId xmlns:a16="http://schemas.microsoft.com/office/drawing/2014/main" id="{0F3A92C7-DFA3-4870-8210-1C4D44B88AC1}"/>
              </a:ext>
            </a:extLst>
          </p:cNvPr>
          <p:cNvSpPr>
            <a:spLocks xmlns:a="http://schemas.openxmlformats.org/drawingml/2006/main"/>
          </p:cNvSpPr>
          <p:nvPr/>
        </p:nvSpPr>
        <p:spPr>
          <a:xfrm xmlns:a="http://schemas.openxmlformats.org/drawingml/2006/main">
            <a:off x="2743200" y="4191000"/>
            <a:ext cx="23876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3" name="11-text-20">
            <a:extLst xmlns:a="http://schemas.openxmlformats.org/drawingml/2006/main">
              <a:ext uri="{FF2B5EF4-FFF2-40B4-BE49-F238E27FC236}">
                <a16:creationId xmlns:a16="http://schemas.microsoft.com/office/drawing/2014/main" id="{7EFC3F8A-20D3-48CE-BD65-A4948C2F88E5}"/>
              </a:ext>
            </a:extLst>
          </p:cNvPr>
          <p:cNvSpPr>
            <a:spLocks xmlns:a="http://schemas.openxmlformats.org/drawingml/2006/main"/>
          </p:cNvSpPr>
          <p:nvPr/>
        </p:nvSpPr>
        <p:spPr>
          <a:xfrm xmlns:a="http://schemas.openxmlformats.org/drawingml/2006/main">
            <a:off x="2895600" y="4229100"/>
            <a:ext cx="208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Compaction policy</a:t>
            </a:r>
          </a:p>
        </p:txBody>
      </p:sp>
      <p:sp>
        <p:nvSpPr>
          <p:cNvPr id="24" name="11-shape-21">
            <a:extLst xmlns:a="http://schemas.openxmlformats.org/drawingml/2006/main">
              <a:ext uri="{FF2B5EF4-FFF2-40B4-BE49-F238E27FC236}">
                <a16:creationId xmlns:a16="http://schemas.microsoft.com/office/drawing/2014/main" id="{A09B98DE-0ED2-48F5-9F17-D646B4F33A31}"/>
              </a:ext>
            </a:extLst>
          </p:cNvPr>
          <p:cNvSpPr>
            <a:spLocks xmlns:a="http://schemas.openxmlformats.org/drawingml/2006/main"/>
          </p:cNvSpPr>
          <p:nvPr/>
        </p:nvSpPr>
        <p:spPr>
          <a:xfrm xmlns:a="http://schemas.openxmlformats.org/drawingml/2006/main">
            <a:off x="5232400" y="4191000"/>
            <a:ext cx="25273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5" name="11-text-22">
            <a:extLst xmlns:a="http://schemas.openxmlformats.org/drawingml/2006/main">
              <a:ext uri="{FF2B5EF4-FFF2-40B4-BE49-F238E27FC236}">
                <a16:creationId xmlns:a16="http://schemas.microsoft.com/office/drawing/2014/main" id="{AD2C51B3-0A41-4CE9-ADD2-8E0433FC6BB7}"/>
              </a:ext>
            </a:extLst>
          </p:cNvPr>
          <p:cNvSpPr>
            <a:spLocks xmlns:a="http://schemas.openxmlformats.org/drawingml/2006/main"/>
          </p:cNvSpPr>
          <p:nvPr/>
        </p:nvSpPr>
        <p:spPr>
          <a:xfrm xmlns:a="http://schemas.openxmlformats.org/drawingml/2006/main">
            <a:off x="5384800" y="4229100"/>
            <a:ext cx="222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Memory convention</a:t>
            </a:r>
          </a:p>
        </p:txBody>
      </p:sp>
      <p:sp>
        <p:nvSpPr>
          <p:cNvPr id="26" name="11-shape-23">
            <a:extLst xmlns:a="http://schemas.openxmlformats.org/drawingml/2006/main">
              <a:ext uri="{FF2B5EF4-FFF2-40B4-BE49-F238E27FC236}">
                <a16:creationId xmlns:a16="http://schemas.microsoft.com/office/drawing/2014/main" id="{CF316ADC-B823-4542-B691-198AB7178331}"/>
              </a:ext>
            </a:extLst>
          </p:cNvPr>
          <p:cNvSpPr>
            <a:spLocks xmlns:a="http://schemas.openxmlformats.org/drawingml/2006/main"/>
          </p:cNvSpPr>
          <p:nvPr/>
        </p:nvSpPr>
        <p:spPr>
          <a:xfrm xmlns:a="http://schemas.openxmlformats.org/drawingml/2006/main">
            <a:off x="7861300" y="4191000"/>
            <a:ext cx="22860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7" name="11-text-24">
            <a:extLst xmlns:a="http://schemas.openxmlformats.org/drawingml/2006/main">
              <a:ext uri="{FF2B5EF4-FFF2-40B4-BE49-F238E27FC236}">
                <a16:creationId xmlns:a16="http://schemas.microsoft.com/office/drawing/2014/main" id="{B4368833-F576-4DF4-976D-40B9FF9E3977}"/>
              </a:ext>
            </a:extLst>
          </p:cNvPr>
          <p:cNvSpPr>
            <a:spLocks xmlns:a="http://schemas.openxmlformats.org/drawingml/2006/main"/>
          </p:cNvSpPr>
          <p:nvPr/>
        </p:nvSpPr>
        <p:spPr>
          <a:xfrm xmlns:a="http://schemas.openxmlformats.org/drawingml/2006/main">
            <a:off x="8013700" y="4229100"/>
            <a:ext cx="1981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strategy</a:t>
            </a:r>
          </a:p>
        </p:txBody>
      </p:sp>
      <p:sp>
        <p:nvSpPr>
          <p:cNvPr id="28" name="11-text-25">
            <a:extLst xmlns:a="http://schemas.openxmlformats.org/drawingml/2006/main">
              <a:ext uri="{FF2B5EF4-FFF2-40B4-BE49-F238E27FC236}">
                <a16:creationId xmlns:a16="http://schemas.microsoft.com/office/drawing/2014/main" id="{5EE55182-D65C-4698-B43A-59162107E20F}"/>
              </a:ext>
            </a:extLst>
          </p:cNvPr>
          <p:cNvSpPr>
            <a:spLocks xmlns:a="http://schemas.openxmlformats.org/drawingml/2006/main"/>
          </p:cNvSpPr>
          <p:nvPr/>
        </p:nvSpPr>
        <p:spPr>
          <a:xfrm xmlns:a="http://schemas.openxmlformats.org/drawingml/2006/main">
            <a:off x="609600" y="48895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compaction that drops a constraint is a wrong answer to a customer.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memory that crosses sessions is a breach.</a:t>
            </a:r>
          </a:p>
        </p:txBody>
      </p:sp>
      <p:sp>
        <p:nvSpPr>
          <p:cNvPr id="29" name="11-shape-26">
            <a:extLst xmlns:a="http://schemas.openxmlformats.org/drawingml/2006/main">
              <a:ext uri="{FF2B5EF4-FFF2-40B4-BE49-F238E27FC236}">
                <a16:creationId xmlns:a16="http://schemas.microsoft.com/office/drawing/2014/main" id="{8216B3D6-5FDF-4E88-B1F2-94A48C532418}"/>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30" name="11-shape-27">
            <a:extLst xmlns:a="http://schemas.openxmlformats.org/drawingml/2006/main">
              <a:ext uri="{FF2B5EF4-FFF2-40B4-BE49-F238E27FC236}">
                <a16:creationId xmlns:a16="http://schemas.microsoft.com/office/drawing/2014/main" id="{D408BFD5-7B24-4F61-8A13-DA802780ED6F}"/>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31" name="11-text-28">
            <a:extLst xmlns:a="http://schemas.openxmlformats.org/drawingml/2006/main">
              <a:ext uri="{FF2B5EF4-FFF2-40B4-BE49-F238E27FC236}">
                <a16:creationId xmlns:a16="http://schemas.microsoft.com/office/drawing/2014/main" id="{988755F8-5157-4888-9721-D4ECBCA4B1F5}"/>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32" name="11-text-29">
            <a:extLst xmlns:a="http://schemas.openxmlformats.org/drawingml/2006/main">
              <a:ext uri="{FF2B5EF4-FFF2-40B4-BE49-F238E27FC236}">
                <a16:creationId xmlns:a16="http://schemas.microsoft.com/office/drawing/2014/main" id="{A048F35E-05DE-4E35-BE61-C4D74B75D56D}"/>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Tree>
    <p:extLst>
      <p:ext uri="{BB962C8B-B14F-4D97-AF65-F5344CB8AC3E}">
        <p14:creationId xmlns:p14="http://schemas.microsoft.com/office/powerpoint/2010/main" val="106944849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200" fill="hold"/>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200" fill="hold"/>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200" fill="hold"/>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200" fill="hold"/>
                                        <p:tgtEl>
                                          <p:spTgt spid="10"/>
                                        </p:tgtEl>
                                      </p:cBhvr>
                                    </p:animEffect>
                                  </p:childTnLst>
                                </p:cTn>
                              </p:par>
                              <p:par>
                                <p:cTn id="23" presetID="10"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200" fill="hold"/>
                                        <p:tgtEl>
                                          <p:spTgt spid="11"/>
                                        </p:tgtEl>
                                      </p:cBhvr>
                                    </p:animEffect>
                                  </p:childTnLst>
                                </p:cTn>
                              </p:par>
                              <p:par>
                                <p:cTn id="26" presetID="10"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200" fill="hold"/>
                                        <p:tgtEl>
                                          <p:spTgt spid="12"/>
                                        </p:tgtEl>
                                      </p:cBhvr>
                                    </p:animEffect>
                                  </p:childTnLst>
                                </p:cTn>
                              </p:par>
                              <p:par>
                                <p:cTn id="29" presetID="10"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200" fill="hold"/>
                                        <p:tgtEl>
                                          <p:spTgt spid="13"/>
                                        </p:tgtEl>
                                      </p:cBhvr>
                                    </p:animEffect>
                                  </p:childTnLst>
                                </p:cTn>
                              </p:par>
                              <p:par>
                                <p:cTn id="32" presetID="10" presetClass="entr" presetSubtype="0"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200" fill="hold"/>
                                        <p:tgtEl>
                                          <p:spTgt spid="14"/>
                                        </p:tgtEl>
                                      </p:cBhvr>
                                    </p:animEffect>
                                  </p:childTnLst>
                                </p:cTn>
                              </p:par>
                              <p:par>
                                <p:cTn id="35" presetID="10"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200" fill="hold"/>
                                        <p:tgtEl>
                                          <p:spTgt spid="15"/>
                                        </p:tgtEl>
                                      </p:cBhvr>
                                    </p:animEffect>
                                  </p:childTnLst>
                                </p:cTn>
                              </p:par>
                              <p:par>
                                <p:cTn id="38" presetID="10" presetClass="entr" presetSubtype="0"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200" fill="hold"/>
                                        <p:tgtEl>
                                          <p:spTgt spid="16"/>
                                        </p:tgtEl>
                                      </p:cBhvr>
                                    </p:animEffect>
                                  </p:childTnLst>
                                </p:cTn>
                              </p:par>
                              <p:par>
                                <p:cTn id="41" presetID="10"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200" fill="hold"/>
                                        <p:tgtEl>
                                          <p:spTgt spid="17"/>
                                        </p:tgtEl>
                                      </p:cBhvr>
                                    </p:animEffect>
                                  </p:childTnLst>
                                </p:cTn>
                              </p:par>
                              <p:par>
                                <p:cTn id="44" presetID="10" presetClass="entr" presetSubtype="0" fill="hold"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200" fill="hold"/>
                                        <p:tgtEl>
                                          <p:spTgt spid="18"/>
                                        </p:tgtEl>
                                      </p:cBhvr>
                                    </p:animEffect>
                                  </p:childTnLst>
                                </p:cTn>
                              </p:par>
                              <p:par>
                                <p:cTn id="47" presetID="1" presetClass="entr" presetSubtype="0"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200" fill="hold"/>
                                        <p:tgtEl>
                                          <p:spTgt spid="20"/>
                                        </p:tgtEl>
                                      </p:cBhvr>
                                    </p:animEffect>
                                  </p:childTnLst>
                                </p:cTn>
                              </p:par>
                              <p:par>
                                <p:cTn id="54" presetID="10" presetClass="entr" presetSubtype="0" fill="hold"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200" fill="hold"/>
                                        <p:tgtEl>
                                          <p:spTgt spid="21"/>
                                        </p:tgtEl>
                                      </p:cBhvr>
                                    </p:animEffect>
                                  </p:childTnLst>
                                </p:cTn>
                              </p:par>
                              <p:par>
                                <p:cTn id="57" presetID="10" presetClass="entr" presetSubtype="0" fill="hold"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200" fill="hold"/>
                                        <p:tgtEl>
                                          <p:spTgt spid="22"/>
                                        </p:tgtEl>
                                      </p:cBhvr>
                                    </p:animEffect>
                                  </p:childTnLst>
                                </p:cTn>
                              </p:par>
                              <p:par>
                                <p:cTn id="60" presetID="10" presetClass="entr" presetSubtype="0" fill="hold"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200" fill="hold"/>
                                        <p:tgtEl>
                                          <p:spTgt spid="23"/>
                                        </p:tgtEl>
                                      </p:cBhvr>
                                    </p:animEffect>
                                  </p:childTnLst>
                                </p:cTn>
                              </p:par>
                              <p:par>
                                <p:cTn id="63" presetID="10" presetClass="entr" presetSubtype="0" fill="hold"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200" fill="hold"/>
                                        <p:tgtEl>
                                          <p:spTgt spid="24"/>
                                        </p:tgtEl>
                                      </p:cBhvr>
                                    </p:animEffect>
                                  </p:childTnLst>
                                </p:cTn>
                              </p:par>
                              <p:par>
                                <p:cTn id="66" presetID="10" presetClass="entr" presetSubtype="0" fill="hold"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200" fill="hold"/>
                                        <p:tgtEl>
                                          <p:spTgt spid="25"/>
                                        </p:tgtEl>
                                      </p:cBhvr>
                                    </p:animEffect>
                                  </p:childTnLst>
                                </p:cTn>
                              </p:par>
                              <p:par>
                                <p:cTn id="69" presetID="10" presetClass="entr" presetSubtype="0" fill="hold" nodeType="with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200" fill="hold"/>
                                        <p:tgtEl>
                                          <p:spTgt spid="26"/>
                                        </p:tgtEl>
                                      </p:cBhvr>
                                    </p:animEffect>
                                  </p:childTnLst>
                                </p:cTn>
                              </p:par>
                              <p:par>
                                <p:cTn id="72" presetID="10" presetClass="entr" presetSubtype="0" fill="hold"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200" fill="hold"/>
                                        <p:tgtEl>
                                          <p:spTgt spid="27"/>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300" fill="hold"/>
                                        <p:tgtEl>
                                          <p:spTgt spid="29"/>
                                        </p:tgtEl>
                                      </p:cBhvr>
                                    </p:animEffect>
                                  </p:childTnLst>
                                </p:cTn>
                              </p:par>
                              <p:par>
                                <p:cTn id="84" presetID="10" presetClass="entr" presetSubtype="0" fill="hold"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300" fill="hold"/>
                                        <p:tgtEl>
                                          <p:spTgt spid="30"/>
                                        </p:tgtEl>
                                      </p:cBhvr>
                                    </p:animEffect>
                                  </p:childTnLst>
                                </p:cTn>
                              </p:par>
                              <p:par>
                                <p:cTn id="87" presetID="10" presetClass="entr" presetSubtype="0" fill="hold"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300" fill="hold"/>
                                        <p:tgtEl>
                                          <p:spTgt spid="31"/>
                                        </p:tgtEl>
                                      </p:cBhvr>
                                    </p:animEffect>
                                  </p:childTnLst>
                                </p:cTn>
                              </p:par>
                              <p:par>
                                <p:cTn id="90" presetID="10" presetClass="entr" presetSubtype="0" fill="hold" nodeType="with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300" fill="hold"/>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 name="!!area-header">
            <a:extLst xmlns:a="http://schemas.openxmlformats.org/drawingml/2006/main">
              <a:ext uri="{FF2B5EF4-FFF2-40B4-BE49-F238E27FC236}">
                <a16:creationId xmlns:a16="http://schemas.microsoft.com/office/drawing/2014/main" id="{A7F3C566-4EF2-4F59-926B-3F34CD4C2A0A}"/>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 name="!!area-name">
            <a:extLst xmlns:a="http://schemas.openxmlformats.org/drawingml/2006/main">
              <a:ext uri="{FF2B5EF4-FFF2-40B4-BE49-F238E27FC236}">
                <a16:creationId xmlns:a16="http://schemas.microsoft.com/office/drawing/2014/main" id="{86B6845D-AB51-4AAD-A466-6868832C42F4}"/>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Tools and extensibility</a:t>
            </a:r>
          </a:p>
        </p:txBody>
      </p:sp>
      <p:sp>
        <p:nvSpPr>
          <p:cNvPr id="3" name="!!area-beat">
            <a:extLst xmlns:a="http://schemas.openxmlformats.org/drawingml/2006/main">
              <a:ext uri="{FF2B5EF4-FFF2-40B4-BE49-F238E27FC236}">
                <a16:creationId xmlns:a16="http://schemas.microsoft.com/office/drawing/2014/main" id="{91CBDF74-1AA0-4672-B9B4-77F6BEAAE910}"/>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What you touched</a:t>
            </a:r>
          </a:p>
        </p:txBody>
      </p:sp>
      <p:sp>
        <p:nvSpPr>
          <p:cNvPr id="4" name="!!screenshot-MCP configuration">
            <a:extLst xmlns:a="http://schemas.openxmlformats.org/drawingml/2006/main">
              <a:ext uri="{FF2B5EF4-FFF2-40B4-BE49-F238E27FC236}">
                <a16:creationId xmlns:a16="http://schemas.microsoft.com/office/drawing/2014/main" id="{D102214E-E0CB-4A84-8639-B9A39F16F898}"/>
              </a:ext>
            </a:extLst>
          </p:cNvPr>
          <p:cNvSpPr>
            <a:spLocks xmlns:a="http://schemas.openxmlformats.org/drawingml/2006/main"/>
          </p:cNvSpPr>
          <p:nvPr/>
        </p:nvSpPr>
        <p:spPr>
          <a:xfrm xmlns:a="http://schemas.openxmlformats.org/drawingml/2006/main">
            <a:off x="609600" y="1981200"/>
            <a:ext cx="5334000" cy="2870200"/>
          </a:xfrm>
          <a:prstGeom xmlns:a="http://schemas.openxmlformats.org/drawingml/2006/main" prst="roundRect">
            <a:avLst>
              <a:gd name="adj" fmla="val 1770"/>
            </a:avLst>
          </a:prstGeom>
          <a:solidFill xmlns:a="http://schemas.openxmlformats.org/drawingml/2006/main">
            <a:srgbClr val="303236"/>
          </a:solidFill>
          <a:ln xmlns:a="http://schemas.openxmlformats.org/drawingml/2006/main" w="12700">
            <a:solidFill>
              <a:srgbClr val="4C4D50"/>
            </a:solidFill>
          </a:ln>
        </p:spPr>
      </p:sp>
      <p:sp>
        <p:nvSpPr>
          <p:cNvPr id="5" name="12-text-1">
            <a:extLst xmlns:a="http://schemas.openxmlformats.org/drawingml/2006/main">
              <a:ext uri="{FF2B5EF4-FFF2-40B4-BE49-F238E27FC236}">
                <a16:creationId xmlns:a16="http://schemas.microsoft.com/office/drawing/2014/main" id="{E8C433CC-35A3-42DF-963B-58B05B07ED71}"/>
              </a:ext>
            </a:extLst>
          </p:cNvPr>
          <p:cNvSpPr>
            <a:spLocks xmlns:a="http://schemas.openxmlformats.org/drawingml/2006/main"/>
          </p:cNvSpPr>
          <p:nvPr/>
        </p:nvSpPr>
        <p:spPr>
          <a:xfrm xmlns:a="http://schemas.openxmlformats.org/drawingml/2006/main">
            <a:off x="812800" y="26797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6" name="12-text-2">
            <a:extLst xmlns:a="http://schemas.openxmlformats.org/drawingml/2006/main">
              <a:ext uri="{FF2B5EF4-FFF2-40B4-BE49-F238E27FC236}">
                <a16:creationId xmlns:a16="http://schemas.microsoft.com/office/drawing/2014/main" id="{EA8E4FAC-072E-4854-9A8A-0567043C0B08}"/>
              </a:ext>
            </a:extLst>
          </p:cNvPr>
          <p:cNvSpPr>
            <a:spLocks xmlns:a="http://schemas.openxmlformats.org/drawingml/2006/main"/>
          </p:cNvSpPr>
          <p:nvPr/>
        </p:nvSpPr>
        <p:spPr>
          <a:xfrm xmlns:a="http://schemas.openxmlformats.org/drawingml/2006/main">
            <a:off x="812800" y="32004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MCP server configuration</a:t>
            </a:r>
          </a:p>
        </p:txBody>
      </p:sp>
      <p:sp>
        <p:nvSpPr>
          <p:cNvPr id="7" name="!!screenshot-The permission prompt">
            <a:extLst xmlns:a="http://schemas.openxmlformats.org/drawingml/2006/main">
              <a:ext uri="{FF2B5EF4-FFF2-40B4-BE49-F238E27FC236}">
                <a16:creationId xmlns:a16="http://schemas.microsoft.com/office/drawing/2014/main" id="{B2518FE8-31A2-4189-B486-9A95AD9AE489}"/>
              </a:ext>
            </a:extLst>
          </p:cNvPr>
          <p:cNvSpPr>
            <a:spLocks xmlns:a="http://schemas.openxmlformats.org/drawingml/2006/main"/>
          </p:cNvSpPr>
          <p:nvPr/>
        </p:nvSpPr>
        <p:spPr>
          <a:xfrm xmlns:a="http://schemas.openxmlformats.org/drawingml/2006/main">
            <a:off x="6248400" y="1981200"/>
            <a:ext cx="5334000" cy="2870200"/>
          </a:xfrm>
          <a:prstGeom xmlns:a="http://schemas.openxmlformats.org/drawingml/2006/main" prst="roundRect">
            <a:avLst>
              <a:gd name="adj" fmla="val 1770"/>
            </a:avLst>
          </a:prstGeom>
          <a:solidFill xmlns:a="http://schemas.openxmlformats.org/drawingml/2006/main">
            <a:srgbClr val="303236"/>
          </a:solidFill>
          <a:ln xmlns:a="http://schemas.openxmlformats.org/drawingml/2006/main" w="12700">
            <a:solidFill>
              <a:srgbClr val="4C4D50"/>
            </a:solidFill>
          </a:ln>
        </p:spPr>
      </p:sp>
      <p:sp>
        <p:nvSpPr>
          <p:cNvPr id="8" name="12-text-3">
            <a:extLst xmlns:a="http://schemas.openxmlformats.org/drawingml/2006/main">
              <a:ext uri="{FF2B5EF4-FFF2-40B4-BE49-F238E27FC236}">
                <a16:creationId xmlns:a16="http://schemas.microsoft.com/office/drawing/2014/main" id="{20F5051F-3F7E-4EB7-8755-67486E518796}"/>
              </a:ext>
            </a:extLst>
          </p:cNvPr>
          <p:cNvSpPr>
            <a:spLocks xmlns:a="http://schemas.openxmlformats.org/drawingml/2006/main"/>
          </p:cNvSpPr>
          <p:nvPr/>
        </p:nvSpPr>
        <p:spPr>
          <a:xfrm xmlns:a="http://schemas.openxmlformats.org/drawingml/2006/main">
            <a:off x="6451600" y="26797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9" name="12-text-4">
            <a:extLst xmlns:a="http://schemas.openxmlformats.org/drawingml/2006/main">
              <a:ext uri="{FF2B5EF4-FFF2-40B4-BE49-F238E27FC236}">
                <a16:creationId xmlns:a16="http://schemas.microsoft.com/office/drawing/2014/main" id="{0FD33E8D-B859-46BB-A629-1C4E07C8B62B}"/>
              </a:ext>
            </a:extLst>
          </p:cNvPr>
          <p:cNvSpPr>
            <a:spLocks xmlns:a="http://schemas.openxmlformats.org/drawingml/2006/main"/>
          </p:cNvSpPr>
          <p:nvPr/>
        </p:nvSpPr>
        <p:spPr>
          <a:xfrm xmlns:a="http://schemas.openxmlformats.org/drawingml/2006/main">
            <a:off x="6451600" y="32004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Live shell-command approval prompt</a:t>
            </a:r>
          </a:p>
        </p:txBody>
      </p:sp>
      <p:sp>
        <p:nvSpPr>
          <p:cNvPr id="10" name="12-text-5">
            <a:extLst xmlns:a="http://schemas.openxmlformats.org/drawingml/2006/main">
              <a:ext uri="{FF2B5EF4-FFF2-40B4-BE49-F238E27FC236}">
                <a16:creationId xmlns:a16="http://schemas.microsoft.com/office/drawing/2014/main" id="{1B0E2062-42CA-47DA-AD89-CBF48CE3F871}"/>
              </a:ext>
            </a:extLst>
          </p:cNvPr>
          <p:cNvSpPr>
            <a:spLocks xmlns:a="http://schemas.openxmlformats.org/drawingml/2006/main"/>
          </p:cNvSpPr>
          <p:nvPr/>
        </p:nvSpPr>
        <p:spPr>
          <a:xfrm xmlns:a="http://schemas.openxmlformats.org/drawingml/2006/main">
            <a:off x="609600" y="4953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ADACA9"/>
                </a:solidFill>
                <a:latin typeface="Helvetica"/>
                <a:ea typeface="Helvetica"/>
                <a:cs typeface="Helvetica"/>
              </a:rPr>
              <a:t>Codex, </a:t>
            </a:r>
            <a:r>
              <a:rPr b="0">
                <a:solidFill>
                  <a:srgbClr val="FFFCF5"/>
                </a:solidFill>
                <a:latin typeface="Consolas"/>
                <a:ea typeface="Consolas"/>
                <a:cs typeface="Consolas"/>
              </a:rPr>
              <a:t>config.toml</a:t>
            </a:r>
          </a:p>
        </p:txBody>
      </p:sp>
      <p:sp>
        <p:nvSpPr>
          <p:cNvPr id="11" name="12-text-6">
            <a:extLst xmlns:a="http://schemas.openxmlformats.org/drawingml/2006/main">
              <a:ext uri="{FF2B5EF4-FFF2-40B4-BE49-F238E27FC236}">
                <a16:creationId xmlns:a16="http://schemas.microsoft.com/office/drawing/2014/main" id="{39F8CD88-CE0B-45A9-837B-B41048905F0E}"/>
              </a:ext>
            </a:extLst>
          </p:cNvPr>
          <p:cNvSpPr>
            <a:spLocks xmlns:a="http://schemas.openxmlformats.org/drawingml/2006/main"/>
          </p:cNvSpPr>
          <p:nvPr/>
        </p:nvSpPr>
        <p:spPr>
          <a:xfrm xmlns:a="http://schemas.openxmlformats.org/drawingml/2006/main">
            <a:off x="6248400" y="4953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ADACA9"/>
                </a:solidFill>
                <a:latin typeface="Helvetica"/>
                <a:ea typeface="Helvetica"/>
                <a:cs typeface="Helvetica"/>
              </a:rPr>
              <a:t>Shell command approval</a:t>
            </a:r>
          </a:p>
        </p:txBody>
      </p:sp>
      <p:sp>
        <p:nvSpPr>
          <p:cNvPr id="12" name="12-text-7">
            <a:extLst xmlns:a="http://schemas.openxmlformats.org/drawingml/2006/main">
              <a:ext uri="{FF2B5EF4-FFF2-40B4-BE49-F238E27FC236}">
                <a16:creationId xmlns:a16="http://schemas.microsoft.com/office/drawing/2014/main" id="{7AF61428-6C98-4510-9EC9-FA7BBBFC38B5}"/>
              </a:ext>
            </a:extLst>
          </p:cNvPr>
          <p:cNvSpPr>
            <a:spLocks xmlns:a="http://schemas.openxmlformats.org/drawingml/2006/main"/>
          </p:cNvSpPr>
          <p:nvPr/>
        </p:nvSpPr>
        <p:spPr>
          <a:xfrm xmlns:a="http://schemas.openxmlformats.org/drawingml/2006/main">
            <a:off x="609600" y="5511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ADACA9"/>
                </a:solidFill>
                <a:latin typeface="Helvetica"/>
                <a:ea typeface="Helvetica"/>
                <a:cs typeface="Helvetica"/>
              </a:rPr>
              <a:t>Codex sandbox: read-only · workspace-write · full access</a:t>
            </a:r>
          </a:p>
        </p:txBody>
      </p:sp>
      <p:sp>
        <p:nvSpPr>
          <p:cNvPr id="13" name="12-text-8">
            <a:extLst xmlns:a="http://schemas.openxmlformats.org/drawingml/2006/main">
              <a:ext uri="{FF2B5EF4-FFF2-40B4-BE49-F238E27FC236}">
                <a16:creationId xmlns:a16="http://schemas.microsoft.com/office/drawing/2014/main" id="{1EBB41BD-7271-45F0-8DFA-9AE91F83D86E}"/>
              </a:ext>
            </a:extLst>
          </p:cNvPr>
          <p:cNvSpPr>
            <a:spLocks xmlns:a="http://schemas.openxmlformats.org/drawingml/2006/main"/>
          </p:cNvSpPr>
          <p:nvPr/>
        </p:nvSpPr>
        <p:spPr>
          <a:xfrm xmlns:a="http://schemas.openxmlformats.org/drawingml/2006/main">
            <a:off x="609600" y="5918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ADACA9"/>
                </a:solidFill>
                <a:latin typeface="Helvetica"/>
                <a:ea typeface="Helvetica"/>
                <a:cs typeface="Helvetica"/>
              </a:rPr>
              <a:t>Devin CLI modes: Normal · Accept Edits · Smart · Bypass · Autonomous</a:t>
            </a:r>
          </a:p>
        </p:txBody>
      </p:sp>
    </p:spTree>
    <p:extLst>
      <p:ext uri="{BB962C8B-B14F-4D97-AF65-F5344CB8AC3E}">
        <p14:creationId xmlns:p14="http://schemas.microsoft.com/office/powerpoint/2010/main" val="2112308713"/>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 name="!!area-name">
            <a:extLst xmlns:a="http://schemas.openxmlformats.org/drawingml/2006/main">
              <a:ext uri="{FF2B5EF4-FFF2-40B4-BE49-F238E27FC236}">
                <a16:creationId xmlns:a16="http://schemas.microsoft.com/office/drawing/2014/main" id="{C1C0E761-EDF5-4C6B-A691-0DB0892963D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What you touched</a:t>
            </a:r>
          </a:p>
        </p:txBody>
      </p:sp>
      <p:pic>
        <p:nvPicPr>
          <p:cNvPr id="18" name="mini-map"/>
          <p:cNvPicPr>
            <a:picLocks xmlns:a="http://schemas.openxmlformats.org/drawingml/2006/main" noChangeAspect="1"/>
          </p:cNvPicPr>
          <p:nvPr/>
        </p:nvPicPr>
        <p:blipFill>
          <a:blip xmlns:r="http://schemas.openxmlformats.org/officeDocument/2006/relationships" xmlns:a="http://schemas.openxmlformats.org/drawingml/2006/main" r:embed="Rdf597d21a5f1493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creenshot-MCP">
            <a:extLst xmlns:a="http://schemas.openxmlformats.org/drawingml/2006/main">
              <a:ext uri="{FF2B5EF4-FFF2-40B4-BE49-F238E27FC236}">
                <a16:creationId xmlns:a16="http://schemas.microsoft.com/office/drawing/2014/main" id="{B48E0E41-6F0F-4837-A23F-43A11FD5F806}"/>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4" name="12b-text-1">
            <a:extLst xmlns:a="http://schemas.openxmlformats.org/drawingml/2006/main">
              <a:ext uri="{FF2B5EF4-FFF2-40B4-BE49-F238E27FC236}">
                <a16:creationId xmlns:a16="http://schemas.microsoft.com/office/drawing/2014/main" id="{020A80A5-91B3-48C2-9A00-F69016FC1D2A}"/>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5" name="12b-text-2">
            <a:extLst xmlns:a="http://schemas.openxmlformats.org/drawingml/2006/main">
              <a:ext uri="{FF2B5EF4-FFF2-40B4-BE49-F238E27FC236}">
                <a16:creationId xmlns:a16="http://schemas.microsoft.com/office/drawing/2014/main" id="{4E542845-2DD8-4EDE-A0B4-3119B92AF6F1}"/>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MCP</a:t>
            </a:r>
          </a:p>
        </p:txBody>
      </p:sp>
      <p:sp>
        <p:nvSpPr>
          <p:cNvPr id="6" name="!!screenshot-Approval">
            <a:extLst xmlns:a="http://schemas.openxmlformats.org/drawingml/2006/main">
              <a:ext uri="{FF2B5EF4-FFF2-40B4-BE49-F238E27FC236}">
                <a16:creationId xmlns:a16="http://schemas.microsoft.com/office/drawing/2014/main" id="{7EF37677-196B-4EDC-8273-62D6D0D47C85}"/>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7" name="12b-text-3">
            <a:extLst xmlns:a="http://schemas.openxmlformats.org/drawingml/2006/main">
              <a:ext uri="{FF2B5EF4-FFF2-40B4-BE49-F238E27FC236}">
                <a16:creationId xmlns:a16="http://schemas.microsoft.com/office/drawing/2014/main" id="{85C21375-0A21-4EBD-A551-E098DE6BAA49}"/>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8" name="12b-text-4">
            <a:extLst xmlns:a="http://schemas.openxmlformats.org/drawingml/2006/main">
              <a:ext uri="{FF2B5EF4-FFF2-40B4-BE49-F238E27FC236}">
                <a16:creationId xmlns:a16="http://schemas.microsoft.com/office/drawing/2014/main" id="{D46AE65F-5026-42D3-A84F-B48A675A64A9}"/>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Approval</a:t>
            </a:r>
          </a:p>
        </p:txBody>
      </p:sp>
      <p:sp>
        <p:nvSpPr>
          <p:cNvPr id="9" name="12b-text-5">
            <a:extLst xmlns:a="http://schemas.openxmlformats.org/drawingml/2006/main">
              <a:ext uri="{FF2B5EF4-FFF2-40B4-BE49-F238E27FC236}">
                <a16:creationId xmlns:a16="http://schemas.microsoft.com/office/drawing/2014/main" id="{FA945EF7-C702-454E-8C55-F8D768A6B008}"/>
              </a:ext>
            </a:extLst>
          </p:cNvPr>
          <p:cNvSpPr>
            <a:spLocks xmlns:a="http://schemas.openxmlformats.org/drawingml/2006/main"/>
          </p:cNvSpPr>
          <p:nvPr/>
        </p:nvSpPr>
        <p:spPr>
          <a:xfrm xmlns:a="http://schemas.openxmlformats.org/drawingml/2006/main">
            <a:off x="609600" y="2082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Design the tool for the caller:</a:t>
            </a:r>
          </a:p>
        </p:txBody>
      </p:sp>
      <p:sp>
        <p:nvSpPr>
          <p:cNvPr id="10" name="12b-text-6">
            <a:extLst xmlns:a="http://schemas.openxmlformats.org/drawingml/2006/main">
              <a:ext uri="{FF2B5EF4-FFF2-40B4-BE49-F238E27FC236}">
                <a16:creationId xmlns:a16="http://schemas.microsoft.com/office/drawing/2014/main" id="{34D6D3C3-D923-42B4-BD05-04174B6A079F}"/>
              </a:ext>
            </a:extLst>
          </p:cNvPr>
          <p:cNvSpPr>
            <a:spLocks xmlns:a="http://schemas.openxmlformats.org/drawingml/2006/main"/>
          </p:cNvSpPr>
          <p:nvPr/>
        </p:nvSpPr>
        <p:spPr>
          <a:xfrm xmlns:a="http://schemas.openxmlformats.org/drawingml/2006/main">
            <a:off x="609600" y="26416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Consolidate. One </a:t>
            </a:r>
            <a:r>
              <a:rPr b="0">
                <a:solidFill>
                  <a:srgbClr val="1064F8"/>
                </a:solidFill>
                <a:latin typeface="Consolas"/>
                <a:ea typeface="Consolas"/>
                <a:cs typeface="Consolas"/>
              </a:rPr>
              <a:t>schedule_event</a:t>
            </a:r>
            <a:r>
              <a:rPr b="0">
                <a:solidFill>
                  <a:srgbClr val="FFFCF5"/>
                </a:solidFill>
                <a:latin typeface="Helvetica"/>
                <a:ea typeface="Helvetica"/>
                <a:cs typeface="Helvetica"/>
              </a:rPr>
              <a:t>, not </a:t>
            </a:r>
            <a:r>
              <a:rPr b="0">
                <a:solidFill>
                  <a:srgbClr val="1064F8"/>
                </a:solidFill>
                <a:latin typeface="Consolas"/>
                <a:ea typeface="Consolas"/>
                <a:cs typeface="Consolas"/>
              </a:rPr>
              <a:t>list_users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plus </a:t>
            </a:r>
            <a:r>
              <a:rPr b="0">
                <a:solidFill>
                  <a:srgbClr val="1064F8"/>
                </a:solidFill>
                <a:latin typeface="Consolas"/>
                <a:ea typeface="Consolas"/>
                <a:cs typeface="Consolas"/>
              </a:rPr>
              <a:t>list_events</a:t>
            </a:r>
            <a:r>
              <a:rPr b="0">
                <a:solidFill>
                  <a:srgbClr val="FFFCF5"/>
                </a:solidFill>
                <a:latin typeface="Helvetica"/>
                <a:ea typeface="Helvetica"/>
                <a:cs typeface="Helvetica"/>
              </a:rPr>
              <a:t> plus </a:t>
            </a:r>
            <a:r>
              <a:rPr b="0">
                <a:solidFill>
                  <a:srgbClr val="1064F8"/>
                </a:solidFill>
                <a:latin typeface="Consolas"/>
                <a:ea typeface="Consolas"/>
                <a:cs typeface="Consolas"/>
              </a:rPr>
              <a:t>create_event</a:t>
            </a:r>
            <a:r>
              <a:rPr b="0">
                <a:solidFill>
                  <a:srgbClr val="FFFCF5"/>
                </a:solidFill>
                <a:latin typeface="Helvetica"/>
                <a:ea typeface="Helvetica"/>
                <a:cs typeface="Helvetica"/>
              </a:rPr>
              <a:t>.</a:t>
            </a:r>
          </a:p>
        </p:txBody>
      </p:sp>
      <p:sp>
        <p:nvSpPr>
          <p:cNvPr id="11" name="12b-text-7">
            <a:extLst xmlns:a="http://schemas.openxmlformats.org/drawingml/2006/main">
              <a:ext uri="{FF2B5EF4-FFF2-40B4-BE49-F238E27FC236}">
                <a16:creationId xmlns:a16="http://schemas.microsoft.com/office/drawing/2014/main" id="{70FCCF3B-DB3C-40C0-BAFB-25AE3F4E2B56}"/>
              </a:ext>
            </a:extLst>
          </p:cNvPr>
          <p:cNvSpPr>
            <a:spLocks xmlns:a="http://schemas.openxmlformats.org/drawingml/2006/main"/>
          </p:cNvSpPr>
          <p:nvPr/>
        </p:nvSpPr>
        <p:spPr>
          <a:xfrm xmlns:a="http://schemas.openxmlformats.org/drawingml/2006/main">
            <a:off x="609600" y="3632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Namespace. Prefix versus suffix moved the evals.</a:t>
            </a:r>
          </a:p>
        </p:txBody>
      </p:sp>
      <p:sp>
        <p:nvSpPr>
          <p:cNvPr id="12" name="12b-text-8">
            <a:extLst xmlns:a="http://schemas.openxmlformats.org/drawingml/2006/main">
              <a:ext uri="{FF2B5EF4-FFF2-40B4-BE49-F238E27FC236}">
                <a16:creationId xmlns:a16="http://schemas.microsoft.com/office/drawing/2014/main" id="{27EE9D1F-05D5-41D0-A0E8-6686475F820D}"/>
              </a:ext>
            </a:extLst>
          </p:cNvPr>
          <p:cNvSpPr>
            <a:spLocks xmlns:a="http://schemas.openxmlformats.org/drawingml/2006/main"/>
          </p:cNvSpPr>
          <p:nvPr/>
        </p:nvSpPr>
        <p:spPr>
          <a:xfrm xmlns:a="http://schemas.openxmlformats.org/drawingml/2006/main">
            <a:off x="609600" y="42164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Return names, not UUIDs.</a:t>
            </a:r>
          </a:p>
        </p:txBody>
      </p:sp>
      <p:sp>
        <p:nvSpPr>
          <p:cNvPr id="13" name="12b-text-9">
            <a:extLst xmlns:a="http://schemas.openxmlformats.org/drawingml/2006/main">
              <a:ext uri="{FF2B5EF4-FFF2-40B4-BE49-F238E27FC236}">
                <a16:creationId xmlns:a16="http://schemas.microsoft.com/office/drawing/2014/main" id="{808EA5FD-C53B-4B00-962A-B162638CD358}"/>
              </a:ext>
            </a:extLst>
          </p:cNvPr>
          <p:cNvSpPr>
            <a:spLocks xmlns:a="http://schemas.openxmlformats.org/drawingml/2006/main"/>
          </p:cNvSpPr>
          <p:nvPr/>
        </p:nvSpPr>
        <p:spPr>
          <a:xfrm xmlns:a="http://schemas.openxmlformats.org/drawingml/2006/main">
            <a:off x="609600" y="48006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Let the caller choose. Concise or detailed: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72 tokens versus 206 for the same result.</a:t>
            </a:r>
          </a:p>
        </p:txBody>
      </p:sp>
      <p:sp>
        <p:nvSpPr>
          <p:cNvPr id="14" name="12b-text-10">
            <a:extLst xmlns:a="http://schemas.openxmlformats.org/drawingml/2006/main">
              <a:ext uri="{FF2B5EF4-FFF2-40B4-BE49-F238E27FC236}">
                <a16:creationId xmlns:a16="http://schemas.microsoft.com/office/drawing/2014/main" id="{F2C9EBD8-07E1-4736-9026-BBDA10DA7010}"/>
              </a:ext>
            </a:extLst>
          </p:cNvPr>
          <p:cNvSpPr>
            <a:spLocks xmlns:a="http://schemas.openxmlformats.org/drawingml/2006/main"/>
          </p:cNvSpPr>
          <p:nvPr/>
        </p:nvSpPr>
        <p:spPr>
          <a:xfrm xmlns:a="http://schemas.openxmlformats.org/drawingml/2006/main">
            <a:off x="609600" y="24638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 descriptions alone took Claude Sonnet 3.5</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 state of the art on SWE-bench Verified.</a:t>
            </a:r>
          </a:p>
        </p:txBody>
      </p:sp>
      <p:sp>
        <p:nvSpPr>
          <p:cNvPr id="15" name="12b-text-11">
            <a:extLst xmlns:a="http://schemas.openxmlformats.org/drawingml/2006/main">
              <a:ext uri="{FF2B5EF4-FFF2-40B4-BE49-F238E27FC236}">
                <a16:creationId xmlns:a16="http://schemas.microsoft.com/office/drawing/2014/main" id="{FCEA268D-FFA4-4DB3-AFD7-92FD82ECEA55}"/>
              </a:ext>
            </a:extLst>
          </p:cNvPr>
          <p:cNvSpPr>
            <a:spLocks xmlns:a="http://schemas.openxmlformats.org/drawingml/2006/main"/>
          </p:cNvSpPr>
          <p:nvPr/>
        </p:nvSpPr>
        <p:spPr>
          <a:xfrm xmlns:a="http://schemas.openxmlformats.org/drawingml/2006/main">
            <a:off x="609600" y="4013200"/>
            <a:ext cx="10972800" cy="93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Five MCP servers: about 55,000 tokens before the first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message. Deferred loading cut it by 85%.</a:t>
            </a:r>
          </a:p>
        </p:txBody>
      </p:sp>
      <p:sp>
        <p:nvSpPr>
          <p:cNvPr id="16" name="12b-text-12">
            <a:extLst xmlns:a="http://schemas.openxmlformats.org/drawingml/2006/main">
              <a:ext uri="{FF2B5EF4-FFF2-40B4-BE49-F238E27FC236}">
                <a16:creationId xmlns:a16="http://schemas.microsoft.com/office/drawing/2014/main" id="{EE82D188-6474-423D-BB6F-70A79FB001CD}"/>
              </a:ext>
            </a:extLst>
          </p:cNvPr>
          <p:cNvSpPr>
            <a:spLocks xmlns:a="http://schemas.openxmlformats.org/drawingml/2006/main"/>
          </p:cNvSpPr>
          <p:nvPr/>
        </p:nvSpPr>
        <p:spPr>
          <a:xfrm xmlns:a="http://schemas.openxmlformats.org/drawingml/2006/main">
            <a:off x="609600" y="5689600"/>
            <a:ext cx="109728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The protocol's floor: no token passthrough · minimal scopes · consent before local commands</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 sandboxed execution</a:t>
            </a:r>
          </a:p>
        </p:txBody>
      </p:sp>
    </p:spTree>
    <p:extLst>
      <p:ext uri="{BB962C8B-B14F-4D97-AF65-F5344CB8AC3E}">
        <p14:creationId xmlns:p14="http://schemas.microsoft.com/office/powerpoint/2010/main" val="1888965220"/>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9"/>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0"/>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11"/>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12"/>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13"/>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 name="!!area-name">
            <a:extLst xmlns:a="http://schemas.openxmlformats.org/drawingml/2006/main">
              <a:ext uri="{FF2B5EF4-FFF2-40B4-BE49-F238E27FC236}">
                <a16:creationId xmlns:a16="http://schemas.microsoft.com/office/drawing/2014/main" id="{0CD7A586-F2B7-4017-84E2-27B266DABDA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it's your agent</a:t>
            </a:r>
          </a:p>
        </p:txBody>
      </p:sp>
      <p:pic>
        <p:nvPicPr>
          <p:cNvPr id="33" name="mini-map"/>
          <p:cNvPicPr>
            <a:picLocks xmlns:a="http://schemas.openxmlformats.org/drawingml/2006/main" noChangeAspect="1"/>
          </p:cNvPicPr>
          <p:nvPr/>
        </p:nvPicPr>
        <p:blipFill>
          <a:blip xmlns:r="http://schemas.openxmlformats.org/officeDocument/2006/relationships" xmlns:a="http://schemas.openxmlformats.org/drawingml/2006/main" r:embed="R863d24e6adb0488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82BEACFD-8ABF-4C7A-8A05-F818ADE12A7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write the contract.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build the gate.</a:t>
            </a:r>
          </a:p>
        </p:txBody>
      </p:sp>
      <p:sp>
        <p:nvSpPr>
          <p:cNvPr id="4" name="13-shape-1">
            <a:extLst xmlns:a="http://schemas.openxmlformats.org/drawingml/2006/main">
              <a:ext uri="{FF2B5EF4-FFF2-40B4-BE49-F238E27FC236}">
                <a16:creationId xmlns:a16="http://schemas.microsoft.com/office/drawing/2014/main" id="{BB67459C-9B2C-4A4E-B8D4-D0D768268C25}"/>
              </a:ext>
            </a:extLst>
          </p:cNvPr>
          <p:cNvSpPr>
            <a:spLocks xmlns:a="http://schemas.openxmlformats.org/drawingml/2006/main"/>
          </p:cNvSpPr>
          <p:nvPr/>
        </p:nvSpPr>
        <p:spPr>
          <a:xfrm xmlns:a="http://schemas.openxmlformats.org/drawingml/2006/main">
            <a:off x="609600" y="1981200"/>
            <a:ext cx="3962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5" name="13-text-2">
            <a:extLst xmlns:a="http://schemas.openxmlformats.org/drawingml/2006/main">
              <a:ext uri="{FF2B5EF4-FFF2-40B4-BE49-F238E27FC236}">
                <a16:creationId xmlns:a16="http://schemas.microsoft.com/office/drawing/2014/main" id="{3157BAC7-CEF0-4631-BC56-64B4EAF96002}"/>
              </a:ext>
            </a:extLst>
          </p:cNvPr>
          <p:cNvSpPr>
            <a:spLocks xmlns:a="http://schemas.openxmlformats.org/drawingml/2006/main"/>
          </p:cNvSpPr>
          <p:nvPr/>
        </p:nvSpPr>
        <p:spPr>
          <a:xfrm xmlns:a="http://schemas.openxmlformats.org/drawingml/2006/main">
            <a:off x="762000" y="2019300"/>
            <a:ext cx="365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descriptions, and their evals</a:t>
            </a:r>
          </a:p>
        </p:txBody>
      </p:sp>
      <p:sp>
        <p:nvSpPr>
          <p:cNvPr id="6" name="13-shape-3">
            <a:extLst xmlns:a="http://schemas.openxmlformats.org/drawingml/2006/main">
              <a:ext uri="{FF2B5EF4-FFF2-40B4-BE49-F238E27FC236}">
                <a16:creationId xmlns:a16="http://schemas.microsoft.com/office/drawing/2014/main" id="{E8B10044-3417-42EA-BC30-9B5D30C91496}"/>
              </a:ext>
            </a:extLst>
          </p:cNvPr>
          <p:cNvSpPr>
            <a:spLocks xmlns:a="http://schemas.openxmlformats.org/drawingml/2006/main"/>
          </p:cNvSpPr>
          <p:nvPr/>
        </p:nvSpPr>
        <p:spPr>
          <a:xfrm xmlns:a="http://schemas.openxmlformats.org/drawingml/2006/main">
            <a:off x="4673600" y="1981200"/>
            <a:ext cx="18415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7" name="13-text-4">
            <a:extLst xmlns:a="http://schemas.openxmlformats.org/drawingml/2006/main">
              <a:ext uri="{FF2B5EF4-FFF2-40B4-BE49-F238E27FC236}">
                <a16:creationId xmlns:a16="http://schemas.microsoft.com/office/drawing/2014/main" id="{4F66E7FD-29EB-4C30-B7CA-874C43AD3022}"/>
              </a:ext>
            </a:extLst>
          </p:cNvPr>
          <p:cNvSpPr>
            <a:spLocks xmlns:a="http://schemas.openxmlformats.org/drawingml/2006/main"/>
          </p:cNvSpPr>
          <p:nvPr/>
        </p:nvSpPr>
        <p:spPr>
          <a:xfrm xmlns:a="http://schemas.openxmlformats.org/drawingml/2006/main">
            <a:off x="4826000" y="2019300"/>
            <a:ext cx="1536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verbosity</a:t>
            </a:r>
          </a:p>
        </p:txBody>
      </p:sp>
      <p:sp>
        <p:nvSpPr>
          <p:cNvPr id="8" name="13-shape-5">
            <a:extLst xmlns:a="http://schemas.openxmlformats.org/drawingml/2006/main">
              <a:ext uri="{FF2B5EF4-FFF2-40B4-BE49-F238E27FC236}">
                <a16:creationId xmlns:a16="http://schemas.microsoft.com/office/drawing/2014/main" id="{D49221A5-EB8D-4606-A601-F6292D65385C}"/>
              </a:ext>
            </a:extLst>
          </p:cNvPr>
          <p:cNvSpPr>
            <a:spLocks xmlns:a="http://schemas.openxmlformats.org/drawingml/2006/main"/>
          </p:cNvSpPr>
          <p:nvPr/>
        </p:nvSpPr>
        <p:spPr>
          <a:xfrm xmlns:a="http://schemas.openxmlformats.org/drawingml/2006/main">
            <a:off x="6616700" y="1981200"/>
            <a:ext cx="24130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9" name="13-text-6">
            <a:extLst xmlns:a="http://schemas.openxmlformats.org/drawingml/2006/main">
              <a:ext uri="{FF2B5EF4-FFF2-40B4-BE49-F238E27FC236}">
                <a16:creationId xmlns:a16="http://schemas.microsoft.com/office/drawing/2014/main" id="{71D2F3BC-33C7-4A08-A0AF-BA4837A94856}"/>
              </a:ext>
            </a:extLst>
          </p:cNvPr>
          <p:cNvSpPr>
            <a:spLocks xmlns:a="http://schemas.openxmlformats.org/drawingml/2006/main"/>
          </p:cNvSpPr>
          <p:nvPr/>
        </p:nvSpPr>
        <p:spPr>
          <a:xfrm xmlns:a="http://schemas.openxmlformats.org/drawingml/2006/main">
            <a:off x="6769100" y="2019300"/>
            <a:ext cx="2108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action classes</a:t>
            </a:r>
          </a:p>
        </p:txBody>
      </p:sp>
      <p:sp>
        <p:nvSpPr>
          <p:cNvPr id="10" name="13-shape-7">
            <a:extLst xmlns:a="http://schemas.openxmlformats.org/drawingml/2006/main">
              <a:ext uri="{FF2B5EF4-FFF2-40B4-BE49-F238E27FC236}">
                <a16:creationId xmlns:a16="http://schemas.microsoft.com/office/drawing/2014/main" id="{229CDA38-C796-440B-816D-90AE4175206F}"/>
              </a:ext>
            </a:extLst>
          </p:cNvPr>
          <p:cNvSpPr>
            <a:spLocks xmlns:a="http://schemas.openxmlformats.org/drawingml/2006/main"/>
          </p:cNvSpPr>
          <p:nvPr/>
        </p:nvSpPr>
        <p:spPr>
          <a:xfrm xmlns:a="http://schemas.openxmlformats.org/drawingml/2006/main">
            <a:off x="9131300" y="1981200"/>
            <a:ext cx="1308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1" name="13-text-8">
            <a:extLst xmlns:a="http://schemas.openxmlformats.org/drawingml/2006/main">
              <a:ext uri="{FF2B5EF4-FFF2-40B4-BE49-F238E27FC236}">
                <a16:creationId xmlns:a16="http://schemas.microsoft.com/office/drawing/2014/main" id="{83272A7C-ACC2-40A0-BFD9-BAF924C2B200}"/>
              </a:ext>
            </a:extLst>
          </p:cNvPr>
          <p:cNvSpPr>
            <a:spLocks xmlns:a="http://schemas.openxmlformats.org/drawingml/2006/main"/>
          </p:cNvSpPr>
          <p:nvPr/>
        </p:nvSpPr>
        <p:spPr>
          <a:xfrm xmlns:a="http://schemas.openxmlformats.org/drawingml/2006/main">
            <a:off x="9283700" y="2019300"/>
            <a:ext cx="1003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gate</a:t>
            </a:r>
          </a:p>
        </p:txBody>
      </p:sp>
      <p:sp>
        <p:nvSpPr>
          <p:cNvPr id="12" name="13-shape-9">
            <a:extLst xmlns:a="http://schemas.openxmlformats.org/drawingml/2006/main">
              <a:ext uri="{FF2B5EF4-FFF2-40B4-BE49-F238E27FC236}">
                <a16:creationId xmlns:a16="http://schemas.microsoft.com/office/drawing/2014/main" id="{9FC11F32-CE71-4CE7-82E6-FF40C81A5F3C}"/>
              </a:ext>
            </a:extLst>
          </p:cNvPr>
          <p:cNvSpPr>
            <a:spLocks xmlns:a="http://schemas.openxmlformats.org/drawingml/2006/main"/>
          </p:cNvSpPr>
          <p:nvPr/>
        </p:nvSpPr>
        <p:spPr>
          <a:xfrm xmlns:a="http://schemas.openxmlformats.org/drawingml/2006/main">
            <a:off x="609600" y="2679700"/>
            <a:ext cx="3454400" cy="1574800"/>
          </a:xfrm>
          <a:prstGeom xmlns:a="http://schemas.openxmlformats.org/drawingml/2006/main" prst="roundRect">
            <a:avLst>
              <a:gd name="adj" fmla="val 6452"/>
            </a:avLst>
          </a:prstGeom>
          <a:solidFill xmlns:a="http://schemas.openxmlformats.org/drawingml/2006/main">
            <a:srgbClr val="2B1B2C"/>
          </a:solidFill>
          <a:ln xmlns:a="http://schemas.openxmlformats.org/drawingml/2006/main" w="25400">
            <a:solidFill>
              <a:srgbClr val="F948BE"/>
            </a:solidFill>
          </a:ln>
        </p:spPr>
      </p:sp>
      <p:sp>
        <p:nvSpPr>
          <p:cNvPr id="13" name="13-text-10">
            <a:extLst xmlns:a="http://schemas.openxmlformats.org/drawingml/2006/main">
              <a:ext uri="{FF2B5EF4-FFF2-40B4-BE49-F238E27FC236}">
                <a16:creationId xmlns:a16="http://schemas.microsoft.com/office/drawing/2014/main" id="{6E677C60-A8BF-4065-AE81-76139A9C096C}"/>
              </a:ext>
            </a:extLst>
          </p:cNvPr>
          <p:cNvSpPr>
            <a:spLocks xmlns:a="http://schemas.openxmlformats.org/drawingml/2006/main"/>
          </p:cNvSpPr>
          <p:nvPr/>
        </p:nvSpPr>
        <p:spPr>
          <a:xfrm xmlns:a="http://schemas.openxmlformats.org/drawingml/2006/main">
            <a:off x="812800" y="2832100"/>
            <a:ext cx="3048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Read-only</a:t>
            </a:r>
          </a:p>
        </p:txBody>
      </p:sp>
      <p:sp>
        <p:nvSpPr>
          <p:cNvPr id="14" name="13-text-11">
            <a:extLst xmlns:a="http://schemas.openxmlformats.org/drawingml/2006/main">
              <a:ext uri="{FF2B5EF4-FFF2-40B4-BE49-F238E27FC236}">
                <a16:creationId xmlns:a16="http://schemas.microsoft.com/office/drawing/2014/main" id="{FDD16683-C023-418E-B100-F41104E13D21}"/>
              </a:ext>
            </a:extLst>
          </p:cNvPr>
          <p:cNvSpPr>
            <a:spLocks xmlns:a="http://schemas.openxmlformats.org/drawingml/2006/main"/>
          </p:cNvSpPr>
          <p:nvPr/>
        </p:nvSpPr>
        <p:spPr>
          <a:xfrm xmlns:a="http://schemas.openxmlformats.org/drawingml/2006/main">
            <a:off x="812800" y="3289300"/>
            <a:ext cx="3048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Runs.</a:t>
            </a:r>
          </a:p>
        </p:txBody>
      </p:sp>
      <p:sp>
        <p:nvSpPr>
          <p:cNvPr id="15" name="13-shape-12">
            <a:extLst xmlns:a="http://schemas.openxmlformats.org/drawingml/2006/main">
              <a:ext uri="{FF2B5EF4-FFF2-40B4-BE49-F238E27FC236}">
                <a16:creationId xmlns:a16="http://schemas.microsoft.com/office/drawing/2014/main" id="{18DB599A-F721-4B6C-B8D0-7E49ADC7D9E4}"/>
              </a:ext>
            </a:extLst>
          </p:cNvPr>
          <p:cNvSpPr>
            <a:spLocks xmlns:a="http://schemas.openxmlformats.org/drawingml/2006/main"/>
          </p:cNvSpPr>
          <p:nvPr/>
        </p:nvSpPr>
        <p:spPr>
          <a:xfrm xmlns:a="http://schemas.openxmlformats.org/drawingml/2006/main">
            <a:off x="4368800" y="2679700"/>
            <a:ext cx="3454400" cy="1574800"/>
          </a:xfrm>
          <a:prstGeom xmlns:a="http://schemas.openxmlformats.org/drawingml/2006/main" prst="roundRect">
            <a:avLst>
              <a:gd name="adj" fmla="val 6452"/>
            </a:avLst>
          </a:prstGeom>
          <a:solidFill xmlns:a="http://schemas.openxmlformats.org/drawingml/2006/main">
            <a:srgbClr val="2B1B2C"/>
          </a:solidFill>
          <a:ln xmlns:a="http://schemas.openxmlformats.org/drawingml/2006/main" w="25400">
            <a:solidFill>
              <a:srgbClr val="F948BE"/>
            </a:solidFill>
          </a:ln>
        </p:spPr>
      </p:sp>
      <p:sp>
        <p:nvSpPr>
          <p:cNvPr id="16" name="13-text-13">
            <a:extLst xmlns:a="http://schemas.openxmlformats.org/drawingml/2006/main">
              <a:ext uri="{FF2B5EF4-FFF2-40B4-BE49-F238E27FC236}">
                <a16:creationId xmlns:a16="http://schemas.microsoft.com/office/drawing/2014/main" id="{05D1E3DA-CB74-470B-A89E-CED56964F2E4}"/>
              </a:ext>
            </a:extLst>
          </p:cNvPr>
          <p:cNvSpPr>
            <a:spLocks xmlns:a="http://schemas.openxmlformats.org/drawingml/2006/main"/>
          </p:cNvSpPr>
          <p:nvPr/>
        </p:nvSpPr>
        <p:spPr>
          <a:xfrm xmlns:a="http://schemas.openxmlformats.org/drawingml/2006/main">
            <a:off x="4572000" y="2832100"/>
            <a:ext cx="3048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Reversible</a:t>
            </a:r>
          </a:p>
        </p:txBody>
      </p:sp>
      <p:sp>
        <p:nvSpPr>
          <p:cNvPr id="17" name="13-text-14">
            <a:extLst xmlns:a="http://schemas.openxmlformats.org/drawingml/2006/main">
              <a:ext uri="{FF2B5EF4-FFF2-40B4-BE49-F238E27FC236}">
                <a16:creationId xmlns:a16="http://schemas.microsoft.com/office/drawing/2014/main" id="{70FB01F5-CD66-4B38-B08A-91019D98CF02}"/>
              </a:ext>
            </a:extLst>
          </p:cNvPr>
          <p:cNvSpPr>
            <a:spLocks xmlns:a="http://schemas.openxmlformats.org/drawingml/2006/main"/>
          </p:cNvSpPr>
          <p:nvPr/>
        </p:nvSpPr>
        <p:spPr>
          <a:xfrm xmlns:a="http://schemas.openxmlformats.org/drawingml/2006/main">
            <a:off x="4572000" y="3289300"/>
            <a:ext cx="3048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Checkpoint.</a:t>
            </a:r>
          </a:p>
        </p:txBody>
      </p:sp>
      <p:sp>
        <p:nvSpPr>
          <p:cNvPr id="18" name="13-shape-15">
            <a:extLst xmlns:a="http://schemas.openxmlformats.org/drawingml/2006/main">
              <a:ext uri="{FF2B5EF4-FFF2-40B4-BE49-F238E27FC236}">
                <a16:creationId xmlns:a16="http://schemas.microsoft.com/office/drawing/2014/main" id="{CB9A366A-D050-4727-A312-FDFEB00F9B30}"/>
              </a:ext>
            </a:extLst>
          </p:cNvPr>
          <p:cNvSpPr>
            <a:spLocks xmlns:a="http://schemas.openxmlformats.org/drawingml/2006/main"/>
          </p:cNvSpPr>
          <p:nvPr/>
        </p:nvSpPr>
        <p:spPr>
          <a:xfrm xmlns:a="http://schemas.openxmlformats.org/drawingml/2006/main">
            <a:off x="8128000" y="2679700"/>
            <a:ext cx="3454400" cy="1574800"/>
          </a:xfrm>
          <a:prstGeom xmlns:a="http://schemas.openxmlformats.org/drawingml/2006/main" prst="roundRect">
            <a:avLst>
              <a:gd name="adj" fmla="val 6452"/>
            </a:avLst>
          </a:prstGeom>
          <a:solidFill xmlns:a="http://schemas.openxmlformats.org/drawingml/2006/main">
            <a:srgbClr val="2B1B2C"/>
          </a:solidFill>
          <a:ln xmlns:a="http://schemas.openxmlformats.org/drawingml/2006/main" w="25400">
            <a:solidFill>
              <a:srgbClr val="F948BE"/>
            </a:solidFill>
          </a:ln>
        </p:spPr>
      </p:sp>
      <p:sp>
        <p:nvSpPr>
          <p:cNvPr id="19" name="13-text-16">
            <a:extLst xmlns:a="http://schemas.openxmlformats.org/drawingml/2006/main">
              <a:ext uri="{FF2B5EF4-FFF2-40B4-BE49-F238E27FC236}">
                <a16:creationId xmlns:a16="http://schemas.microsoft.com/office/drawing/2014/main" id="{88D7CC8B-7382-4ACC-8A1B-7DA2D02609B0}"/>
              </a:ext>
            </a:extLst>
          </p:cNvPr>
          <p:cNvSpPr>
            <a:spLocks xmlns:a="http://schemas.openxmlformats.org/drawingml/2006/main"/>
          </p:cNvSpPr>
          <p:nvPr/>
        </p:nvSpPr>
        <p:spPr>
          <a:xfrm xmlns:a="http://schemas.openxmlformats.org/drawingml/2006/main">
            <a:off x="8331200" y="2832100"/>
            <a:ext cx="3048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Consequential</a:t>
            </a:r>
          </a:p>
        </p:txBody>
      </p:sp>
      <p:sp>
        <p:nvSpPr>
          <p:cNvPr id="20" name="13-text-17">
            <a:extLst xmlns:a="http://schemas.openxmlformats.org/drawingml/2006/main">
              <a:ext uri="{FF2B5EF4-FFF2-40B4-BE49-F238E27FC236}">
                <a16:creationId xmlns:a16="http://schemas.microsoft.com/office/drawing/2014/main" id="{CEC5E889-05FB-4931-AC0A-74C57A74CFC1}"/>
              </a:ext>
            </a:extLst>
          </p:cNvPr>
          <p:cNvSpPr>
            <a:spLocks xmlns:a="http://schemas.openxmlformats.org/drawingml/2006/main"/>
          </p:cNvSpPr>
          <p:nvPr/>
        </p:nvSpPr>
        <p:spPr>
          <a:xfrm xmlns:a="http://schemas.openxmlformats.org/drawingml/2006/main">
            <a:off x="8331200" y="3289300"/>
            <a:ext cx="3048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Gate.</a:t>
            </a:r>
          </a:p>
        </p:txBody>
      </p:sp>
      <p:sp>
        <p:nvSpPr>
          <p:cNvPr id="21" name="13-text-18">
            <a:extLst xmlns:a="http://schemas.openxmlformats.org/drawingml/2006/main">
              <a:ext uri="{FF2B5EF4-FFF2-40B4-BE49-F238E27FC236}">
                <a16:creationId xmlns:a16="http://schemas.microsoft.com/office/drawing/2014/main" id="{E50DBC0B-867B-4B98-832A-46D33CC232E1}"/>
              </a:ext>
            </a:extLst>
          </p:cNvPr>
          <p:cNvSpPr>
            <a:spLocks xmlns:a="http://schemas.openxmlformats.org/drawingml/2006/main"/>
          </p:cNvSpPr>
          <p:nvPr/>
        </p:nvSpPr>
        <p:spPr>
          <a:xfrm xmlns:a="http://schemas.openxmlformats.org/drawingml/2006/main">
            <a:off x="8331200" y="3632200"/>
            <a:ext cx="30480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 async human step, or</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 automated policy.</a:t>
            </a:r>
          </a:p>
        </p:txBody>
      </p:sp>
      <p:sp>
        <p:nvSpPr>
          <p:cNvPr id="22" name="13-shape-19">
            <a:extLst xmlns:a="http://schemas.openxmlformats.org/drawingml/2006/main">
              <a:ext uri="{FF2B5EF4-FFF2-40B4-BE49-F238E27FC236}">
                <a16:creationId xmlns:a16="http://schemas.microsoft.com/office/drawing/2014/main" id="{3A500B82-5851-4877-965C-6E15CC9DEA39}"/>
              </a:ext>
            </a:extLst>
          </p:cNvPr>
          <p:cNvSpPr>
            <a:spLocks xmlns:a="http://schemas.openxmlformats.org/drawingml/2006/main"/>
          </p:cNvSpPr>
          <p:nvPr/>
        </p:nvSpPr>
        <p:spPr>
          <a:xfrm xmlns:a="http://schemas.openxmlformats.org/drawingml/2006/main">
            <a:off x="609600" y="2336800"/>
            <a:ext cx="10972800" cy="1524000"/>
          </a:xfrm>
          <a:prstGeom xmlns:a="http://schemas.openxmlformats.org/drawingml/2006/main" prst="roundRect">
            <a:avLst>
              <a:gd name="adj" fmla="val 6667"/>
            </a:avLst>
          </a:prstGeom>
          <a:solidFill xmlns:a="http://schemas.openxmlformats.org/drawingml/2006/main">
            <a:srgbClr val="303236"/>
          </a:solidFill>
          <a:ln xmlns:a="http://schemas.openxmlformats.org/drawingml/2006/main" w="0">
            <a:noFill/>
          </a:ln>
        </p:spPr>
      </p:sp>
      <p:sp>
        <p:nvSpPr>
          <p:cNvPr id="23" name="13-text-20">
            <a:extLst xmlns:a="http://schemas.openxmlformats.org/drawingml/2006/main">
              <a:ext uri="{FF2B5EF4-FFF2-40B4-BE49-F238E27FC236}">
                <a16:creationId xmlns:a16="http://schemas.microsoft.com/office/drawing/2014/main" id="{CEC7D22F-6540-4316-9865-76F245AE564F}"/>
              </a:ext>
            </a:extLst>
          </p:cNvPr>
          <p:cNvSpPr>
            <a:spLocks xmlns:a="http://schemas.openxmlformats.org/drawingml/2006/main"/>
          </p:cNvSpPr>
          <p:nvPr/>
        </p:nvSpPr>
        <p:spPr>
          <a:xfrm xmlns:a="http://schemas.openxmlformats.org/drawingml/2006/main">
            <a:off x="812800" y="2489200"/>
            <a:ext cx="1056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CamoLeak, October 2025.</a:t>
            </a:r>
          </a:p>
        </p:txBody>
      </p:sp>
      <p:sp>
        <p:nvSpPr>
          <p:cNvPr id="24" name="13-text-21">
            <a:extLst xmlns:a="http://schemas.openxmlformats.org/drawingml/2006/main">
              <a:ext uri="{FF2B5EF4-FFF2-40B4-BE49-F238E27FC236}">
                <a16:creationId xmlns:a16="http://schemas.microsoft.com/office/drawing/2014/main" id="{2E72E506-B183-44F0-AE18-1D99D22CC077}"/>
              </a:ext>
            </a:extLst>
          </p:cNvPr>
          <p:cNvSpPr>
            <a:spLocks xmlns:a="http://schemas.openxmlformats.org/drawingml/2006/main"/>
          </p:cNvSpPr>
          <p:nvPr/>
        </p:nvSpPr>
        <p:spPr>
          <a:xfrm xmlns:a="http://schemas.openxmlformats.org/drawingml/2006/main">
            <a:off x="812800" y="2870200"/>
            <a:ext cx="10566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comment hidden in a pull request. Copilot Chat exfiltrated private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repository data through image URLs. CVSS 9.6.</a:t>
            </a:r>
          </a:p>
        </p:txBody>
      </p:sp>
      <p:sp>
        <p:nvSpPr>
          <p:cNvPr id="25" name="13-shape-22">
            <a:extLst xmlns:a="http://schemas.openxmlformats.org/drawingml/2006/main">
              <a:ext uri="{FF2B5EF4-FFF2-40B4-BE49-F238E27FC236}">
                <a16:creationId xmlns:a16="http://schemas.microsoft.com/office/drawing/2014/main" id="{E86BDE9F-A5E7-40B4-966E-7834FBD59C21}"/>
              </a:ext>
            </a:extLst>
          </p:cNvPr>
          <p:cNvSpPr>
            <a:spLocks xmlns:a="http://schemas.openxmlformats.org/drawingml/2006/main"/>
          </p:cNvSpPr>
          <p:nvPr/>
        </p:nvSpPr>
        <p:spPr>
          <a:xfrm xmlns:a="http://schemas.openxmlformats.org/drawingml/2006/main">
            <a:off x="609600" y="4165600"/>
            <a:ext cx="10972800" cy="1270000"/>
          </a:xfrm>
          <a:prstGeom xmlns:a="http://schemas.openxmlformats.org/drawingml/2006/main" prst="roundRect">
            <a:avLst>
              <a:gd name="adj" fmla="val 8000"/>
            </a:avLst>
          </a:prstGeom>
          <a:solidFill xmlns:a="http://schemas.openxmlformats.org/drawingml/2006/main">
            <a:srgbClr val="303236"/>
          </a:solidFill>
          <a:ln xmlns:a="http://schemas.openxmlformats.org/drawingml/2006/main" w="0">
            <a:noFill/>
          </a:ln>
        </p:spPr>
      </p:sp>
      <p:sp>
        <p:nvSpPr>
          <p:cNvPr id="26" name="13-text-23">
            <a:extLst xmlns:a="http://schemas.openxmlformats.org/drawingml/2006/main">
              <a:ext uri="{FF2B5EF4-FFF2-40B4-BE49-F238E27FC236}">
                <a16:creationId xmlns:a16="http://schemas.microsoft.com/office/drawing/2014/main" id="{E2EFDF33-3F9F-46C2-A889-70ADB7A7C437}"/>
              </a:ext>
            </a:extLst>
          </p:cNvPr>
          <p:cNvSpPr>
            <a:spLocks xmlns:a="http://schemas.openxmlformats.org/drawingml/2006/main"/>
          </p:cNvSpPr>
          <p:nvPr/>
        </p:nvSpPr>
        <p:spPr>
          <a:xfrm xmlns:a="http://schemas.openxmlformats.org/drawingml/2006/main">
            <a:off x="812800" y="4318000"/>
            <a:ext cx="1056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ClawHub, February 2026.</a:t>
            </a:r>
          </a:p>
        </p:txBody>
      </p:sp>
      <p:sp>
        <p:nvSpPr>
          <p:cNvPr id="27" name="13-text-24">
            <a:extLst xmlns:a="http://schemas.openxmlformats.org/drawingml/2006/main">
              <a:ext uri="{FF2B5EF4-FFF2-40B4-BE49-F238E27FC236}">
                <a16:creationId xmlns:a16="http://schemas.microsoft.com/office/drawing/2014/main" id="{9C46DF56-2861-447D-B6B6-75EDD65C5477}"/>
              </a:ext>
            </a:extLst>
          </p:cNvPr>
          <p:cNvSpPr>
            <a:spLocks xmlns:a="http://schemas.openxmlformats.org/drawingml/2006/main"/>
          </p:cNvSpPr>
          <p:nvPr/>
        </p:nvSpPr>
        <p:spPr>
          <a:xfrm xmlns:a="http://schemas.openxmlformats.org/drawingml/2006/main">
            <a:off x="812800" y="4699000"/>
            <a:ext cx="105664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341 of 2,857 agent skills were malicious. One in eight.</a:t>
            </a:r>
          </a:p>
        </p:txBody>
      </p:sp>
      <p:sp>
        <p:nvSpPr>
          <p:cNvPr id="28" name="13-shape-25">
            <a:extLst xmlns:a="http://schemas.openxmlformats.org/drawingml/2006/main">
              <a:ext uri="{FF2B5EF4-FFF2-40B4-BE49-F238E27FC236}">
                <a16:creationId xmlns:a16="http://schemas.microsoft.com/office/drawing/2014/main" id="{D1DA37D0-FC23-4D6F-95D8-0000BBCD5FB8}"/>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29" name="13-shape-26">
            <a:extLst xmlns:a="http://schemas.openxmlformats.org/drawingml/2006/main">
              <a:ext uri="{FF2B5EF4-FFF2-40B4-BE49-F238E27FC236}">
                <a16:creationId xmlns:a16="http://schemas.microsoft.com/office/drawing/2014/main" id="{E22C3711-4161-4A59-8C6E-0CFA141C88FC}"/>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30" name="13-text-27">
            <a:extLst xmlns:a="http://schemas.openxmlformats.org/drawingml/2006/main">
              <a:ext uri="{FF2B5EF4-FFF2-40B4-BE49-F238E27FC236}">
                <a16:creationId xmlns:a16="http://schemas.microsoft.com/office/drawing/2014/main" id="{F7D79CB7-CADA-43D6-99B6-427B7DC962E5}"/>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31" name="13-text-28">
            <a:extLst xmlns:a="http://schemas.openxmlformats.org/drawingml/2006/main">
              <a:ext uri="{FF2B5EF4-FFF2-40B4-BE49-F238E27FC236}">
                <a16:creationId xmlns:a16="http://schemas.microsoft.com/office/drawing/2014/main" id="{BD0C3752-EFFD-4006-988D-5A044E8675CA}"/>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one endpoint per tool.</a:t>
            </a:r>
          </a:p>
        </p:txBody>
      </p:sp>
    </p:spTree>
    <p:extLst>
      <p:ext uri="{BB962C8B-B14F-4D97-AF65-F5344CB8AC3E}">
        <p14:creationId xmlns:p14="http://schemas.microsoft.com/office/powerpoint/2010/main" val="123036954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fill="hold"/>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 fill="hold"/>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200" fill="hold"/>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200" fill="hold"/>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200" fill="hold"/>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200" fill="hold"/>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200" fill="hold"/>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200" fill="hold"/>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200" fill="hold"/>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200" fill="hold"/>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200" fill="hold"/>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200" fill="hold"/>
                                        <p:tgtEl>
                                          <p:spTgt spid="15"/>
                                        </p:tgtEl>
                                      </p:cBhvr>
                                    </p:animEffect>
                                  </p:childTnLst>
                                </p:cTn>
                              </p:par>
                              <p:par>
                                <p:cTn id="43" presetID="10"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200" fill="hold"/>
                                        <p:tgtEl>
                                          <p:spTgt spid="16"/>
                                        </p:tgtEl>
                                      </p:cBhvr>
                                    </p:animEffect>
                                  </p:childTnLst>
                                </p:cTn>
                              </p:par>
                              <p:par>
                                <p:cTn id="46" presetID="10"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200" fill="hold"/>
                                        <p:tgtEl>
                                          <p:spTgt spid="17"/>
                                        </p:tgtEl>
                                      </p:cBhvr>
                                    </p:animEffect>
                                  </p:childTnLst>
                                </p:cTn>
                              </p:par>
                              <p:par>
                                <p:cTn id="49" presetID="10"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200" fill="hold"/>
                                        <p:tgtEl>
                                          <p:spTgt spid="18"/>
                                        </p:tgtEl>
                                      </p:cBhvr>
                                    </p:animEffect>
                                  </p:childTnLst>
                                </p:cTn>
                              </p:par>
                              <p:par>
                                <p:cTn id="52" presetID="10" presetClass="entr" presetSubtype="0" fill="hold"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200" fill="hold"/>
                                        <p:tgtEl>
                                          <p:spTgt spid="19"/>
                                        </p:tgtEl>
                                      </p:cBhvr>
                                    </p:animEffect>
                                  </p:childTnLst>
                                </p:cTn>
                              </p:par>
                              <p:par>
                                <p:cTn id="55" presetID="10" presetClass="entr" presetSubtype="0"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200" fill="hold"/>
                                        <p:tgtEl>
                                          <p:spTgt spid="20"/>
                                        </p:tgtEl>
                                      </p:cBhvr>
                                    </p:animEffect>
                                  </p:childTnLst>
                                </p:cTn>
                              </p:par>
                              <p:par>
                                <p:cTn id="58" presetID="10" presetClass="entr" presetSubtype="0" fill="hold"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200" fill="hold"/>
                                        <p:tgtEl>
                                          <p:spTgt spid="21"/>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nodeType="clickEffect">
                                  <p:stCondLst>
                                    <p:cond delay="0"/>
                                  </p:stCondLst>
                                  <p:childTnLst>
                                    <p:set>
                                      <p:cBhvr>
                                        <p:cTn id="64" dur="1" fill="hold">
                                          <p:stCondLst>
                                            <p:cond delay="0"/>
                                          </p:stCondLst>
                                        </p:cTn>
                                        <p:tgtEl>
                                          <p:spTgt spid="4"/>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5"/>
                                        </p:tgtEl>
                                        <p:attrNameLst>
                                          <p:attrName>style.visibility</p:attrName>
                                        </p:attrNameLst>
                                      </p:cBhvr>
                                      <p:to>
                                        <p:strVal val="hidden"/>
                                      </p:to>
                                    </p:set>
                                  </p:childTnLst>
                                </p:cTn>
                              </p:par>
                              <p:par>
                                <p:cTn id="67" presetID="1" presetClass="exit" presetSubtype="0" fill="hold" nodeType="withEffect">
                                  <p:stCondLst>
                                    <p:cond delay="0"/>
                                  </p:stCondLst>
                                  <p:childTnLst>
                                    <p:set>
                                      <p:cBhvr>
                                        <p:cTn id="68" dur="1" fill="hold">
                                          <p:stCondLst>
                                            <p:cond delay="0"/>
                                          </p:stCondLst>
                                        </p:cTn>
                                        <p:tgtEl>
                                          <p:spTgt spid="6"/>
                                        </p:tgtEl>
                                        <p:attrNameLst>
                                          <p:attrName>style.visibility</p:attrName>
                                        </p:attrNameLst>
                                      </p:cBhvr>
                                      <p:to>
                                        <p:strVal val="hidden"/>
                                      </p:to>
                                    </p:set>
                                  </p:childTnLst>
                                </p:cTn>
                              </p:par>
                              <p:par>
                                <p:cTn id="69" presetID="1" presetClass="exit" presetSubtype="0" fill="hold" nodeType="withEffect">
                                  <p:stCondLst>
                                    <p:cond delay="0"/>
                                  </p:stCondLst>
                                  <p:childTnLst>
                                    <p:set>
                                      <p:cBhvr>
                                        <p:cTn id="70" dur="1" fill="hold">
                                          <p:stCondLst>
                                            <p:cond delay="0"/>
                                          </p:stCondLst>
                                        </p:cTn>
                                        <p:tgtEl>
                                          <p:spTgt spid="7"/>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8"/>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9"/>
                                        </p:tgtEl>
                                        <p:attrNameLst>
                                          <p:attrName>style.visibility</p:attrName>
                                        </p:attrNameLst>
                                      </p:cBhvr>
                                      <p:to>
                                        <p:strVal val="hidden"/>
                                      </p:to>
                                    </p:set>
                                  </p:childTnLst>
                                </p:cTn>
                              </p:par>
                              <p:par>
                                <p:cTn id="75" presetID="1" presetClass="exit" presetSubtype="0" fill="hold" nodeType="withEffect">
                                  <p:stCondLst>
                                    <p:cond delay="0"/>
                                  </p:stCondLst>
                                  <p:childTnLst>
                                    <p:set>
                                      <p:cBhvr>
                                        <p:cTn id="76" dur="1" fill="hold">
                                          <p:stCondLst>
                                            <p:cond delay="0"/>
                                          </p:stCondLst>
                                        </p:cTn>
                                        <p:tgtEl>
                                          <p:spTgt spid="10"/>
                                        </p:tgtEl>
                                        <p:attrNameLst>
                                          <p:attrName>style.visibility</p:attrName>
                                        </p:attrNameLst>
                                      </p:cBhvr>
                                      <p:to>
                                        <p:strVal val="hidden"/>
                                      </p:to>
                                    </p:set>
                                  </p:childTnLst>
                                </p:cTn>
                              </p:par>
                              <p:par>
                                <p:cTn id="77" presetID="1" presetClass="exit" presetSubtype="0" fill="hold" nodeType="withEffect">
                                  <p:stCondLst>
                                    <p:cond delay="0"/>
                                  </p:stCondLst>
                                  <p:childTnLst>
                                    <p:set>
                                      <p:cBhvr>
                                        <p:cTn id="78" dur="1" fill="hold">
                                          <p:stCondLst>
                                            <p:cond delay="0"/>
                                          </p:stCondLst>
                                        </p:cTn>
                                        <p:tgtEl>
                                          <p:spTgt spid="11"/>
                                        </p:tgtEl>
                                        <p:attrNameLst>
                                          <p:attrName>style.visibility</p:attrName>
                                        </p:attrNameLst>
                                      </p:cBhvr>
                                      <p:to>
                                        <p:strVal val="hidden"/>
                                      </p:to>
                                    </p:set>
                                  </p:childTnLst>
                                </p:cTn>
                              </p:par>
                              <p:par>
                                <p:cTn id="79" presetID="1" presetClass="exit" presetSubtype="0" fill="hold" nodeType="withEffect">
                                  <p:stCondLst>
                                    <p:cond delay="0"/>
                                  </p:stCondLst>
                                  <p:childTnLst>
                                    <p:set>
                                      <p:cBhvr>
                                        <p:cTn id="80" dur="1" fill="hold">
                                          <p:stCondLst>
                                            <p:cond delay="0"/>
                                          </p:stCondLst>
                                        </p:cTn>
                                        <p:tgtEl>
                                          <p:spTgt spid="12"/>
                                        </p:tgtEl>
                                        <p:attrNameLst>
                                          <p:attrName>style.visibility</p:attrName>
                                        </p:attrNameLst>
                                      </p:cBhvr>
                                      <p:to>
                                        <p:strVal val="hidden"/>
                                      </p:to>
                                    </p:set>
                                  </p:childTnLst>
                                </p:cTn>
                              </p:par>
                              <p:par>
                                <p:cTn id="81" presetID="1" presetClass="exit" presetSubtype="0" fill="hold" nodeType="withEffect">
                                  <p:stCondLst>
                                    <p:cond delay="0"/>
                                  </p:stCondLst>
                                  <p:childTnLst>
                                    <p:set>
                                      <p:cBhvr>
                                        <p:cTn id="82" dur="1" fill="hold">
                                          <p:stCondLst>
                                            <p:cond delay="0"/>
                                          </p:stCondLst>
                                        </p:cTn>
                                        <p:tgtEl>
                                          <p:spTgt spid="13"/>
                                        </p:tgtEl>
                                        <p:attrNameLst>
                                          <p:attrName>style.visibility</p:attrName>
                                        </p:attrNameLst>
                                      </p:cBhvr>
                                      <p:to>
                                        <p:strVal val="hidden"/>
                                      </p:to>
                                    </p:set>
                                  </p:childTnLst>
                                </p:cTn>
                              </p:par>
                              <p:par>
                                <p:cTn id="83" presetID="1" presetClass="exit" presetSubtype="0" fill="hold" nodeType="withEffect">
                                  <p:stCondLst>
                                    <p:cond delay="0"/>
                                  </p:stCondLst>
                                  <p:childTnLst>
                                    <p:set>
                                      <p:cBhvr>
                                        <p:cTn id="84" dur="1" fill="hold">
                                          <p:stCondLst>
                                            <p:cond delay="0"/>
                                          </p:stCondLst>
                                        </p:cTn>
                                        <p:tgtEl>
                                          <p:spTgt spid="14"/>
                                        </p:tgtEl>
                                        <p:attrNameLst>
                                          <p:attrName>style.visibility</p:attrName>
                                        </p:attrNameLst>
                                      </p:cBhvr>
                                      <p:to>
                                        <p:strVal val="hidden"/>
                                      </p:to>
                                    </p:set>
                                  </p:childTnLst>
                                </p:cTn>
                              </p:par>
                              <p:par>
                                <p:cTn id="85" presetID="1" presetClass="exit" presetSubtype="0" fill="hold" nodeType="withEffect">
                                  <p:stCondLst>
                                    <p:cond delay="0"/>
                                  </p:stCondLst>
                                  <p:childTnLst>
                                    <p:set>
                                      <p:cBhvr>
                                        <p:cTn id="86" dur="1" fill="hold">
                                          <p:stCondLst>
                                            <p:cond delay="0"/>
                                          </p:stCondLst>
                                        </p:cTn>
                                        <p:tgtEl>
                                          <p:spTgt spid="15"/>
                                        </p:tgtEl>
                                        <p:attrNameLst>
                                          <p:attrName>style.visibility</p:attrName>
                                        </p:attrNameLst>
                                      </p:cBhvr>
                                      <p:to>
                                        <p:strVal val="hidden"/>
                                      </p:to>
                                    </p:set>
                                  </p:childTnLst>
                                </p:cTn>
                              </p:par>
                              <p:par>
                                <p:cTn id="87" presetID="1" presetClass="exit" presetSubtype="0" fill="hold" nodeType="withEffect">
                                  <p:stCondLst>
                                    <p:cond delay="0"/>
                                  </p:stCondLst>
                                  <p:childTnLst>
                                    <p:set>
                                      <p:cBhvr>
                                        <p:cTn id="88" dur="1" fill="hold">
                                          <p:stCondLst>
                                            <p:cond delay="0"/>
                                          </p:stCondLst>
                                        </p:cTn>
                                        <p:tgtEl>
                                          <p:spTgt spid="16"/>
                                        </p:tgtEl>
                                        <p:attrNameLst>
                                          <p:attrName>style.visibility</p:attrName>
                                        </p:attrNameLst>
                                      </p:cBhvr>
                                      <p:to>
                                        <p:strVal val="hidden"/>
                                      </p:to>
                                    </p:set>
                                  </p:childTnLst>
                                </p:cTn>
                              </p:par>
                              <p:par>
                                <p:cTn id="89" presetID="1" presetClass="exit" presetSubtype="0" fill="hold" nodeType="withEffect">
                                  <p:stCondLst>
                                    <p:cond delay="0"/>
                                  </p:stCondLst>
                                  <p:childTnLst>
                                    <p:set>
                                      <p:cBhvr>
                                        <p:cTn id="90" dur="1" fill="hold">
                                          <p:stCondLst>
                                            <p:cond delay="0"/>
                                          </p:stCondLst>
                                        </p:cTn>
                                        <p:tgtEl>
                                          <p:spTgt spid="17"/>
                                        </p:tgtEl>
                                        <p:attrNameLst>
                                          <p:attrName>style.visibility</p:attrName>
                                        </p:attrNameLst>
                                      </p:cBhvr>
                                      <p:to>
                                        <p:strVal val="hidden"/>
                                      </p:to>
                                    </p:set>
                                  </p:childTnLst>
                                </p:cTn>
                              </p:par>
                              <p:par>
                                <p:cTn id="91" presetID="1" presetClass="exit" presetSubtype="0" fill="hold" nodeType="withEffect">
                                  <p:stCondLst>
                                    <p:cond delay="0"/>
                                  </p:stCondLst>
                                  <p:childTnLst>
                                    <p:set>
                                      <p:cBhvr>
                                        <p:cTn id="92" dur="1" fill="hold">
                                          <p:stCondLst>
                                            <p:cond delay="0"/>
                                          </p:stCondLst>
                                        </p:cTn>
                                        <p:tgtEl>
                                          <p:spTgt spid="18"/>
                                        </p:tgtEl>
                                        <p:attrNameLst>
                                          <p:attrName>style.visibility</p:attrName>
                                        </p:attrNameLst>
                                      </p:cBhvr>
                                      <p:to>
                                        <p:strVal val="hidden"/>
                                      </p:to>
                                    </p:set>
                                  </p:childTnLst>
                                </p:cTn>
                              </p:par>
                              <p:par>
                                <p:cTn id="93" presetID="1" presetClass="exit" presetSubtype="0" fill="hold" nodeType="withEffect">
                                  <p:stCondLst>
                                    <p:cond delay="0"/>
                                  </p:stCondLst>
                                  <p:childTnLst>
                                    <p:set>
                                      <p:cBhvr>
                                        <p:cTn id="94" dur="1" fill="hold">
                                          <p:stCondLst>
                                            <p:cond delay="0"/>
                                          </p:stCondLst>
                                        </p:cTn>
                                        <p:tgtEl>
                                          <p:spTgt spid="19"/>
                                        </p:tgtEl>
                                        <p:attrNameLst>
                                          <p:attrName>style.visibility</p:attrName>
                                        </p:attrNameLst>
                                      </p:cBhvr>
                                      <p:to>
                                        <p:strVal val="hidden"/>
                                      </p:to>
                                    </p:set>
                                  </p:childTnLst>
                                </p:cTn>
                              </p:par>
                              <p:par>
                                <p:cTn id="95" presetID="1" presetClass="exit" presetSubtype="0" fill="hold" nodeType="withEffect">
                                  <p:stCondLst>
                                    <p:cond delay="0"/>
                                  </p:stCondLst>
                                  <p:childTnLst>
                                    <p:set>
                                      <p:cBhvr>
                                        <p:cTn id="96" dur="1" fill="hold">
                                          <p:stCondLst>
                                            <p:cond delay="0"/>
                                          </p:stCondLst>
                                        </p:cTn>
                                        <p:tgtEl>
                                          <p:spTgt spid="20"/>
                                        </p:tgtEl>
                                        <p:attrNameLst>
                                          <p:attrName>style.visibility</p:attrName>
                                        </p:attrNameLst>
                                      </p:cBhvr>
                                      <p:to>
                                        <p:strVal val="hidden"/>
                                      </p:to>
                                    </p:set>
                                  </p:childTnLst>
                                </p:cTn>
                              </p:par>
                              <p:par>
                                <p:cTn id="97" presetID="1" presetClass="exit" presetSubtype="0" fill="hold" nodeType="withEffect">
                                  <p:stCondLst>
                                    <p:cond delay="0"/>
                                  </p:stCondLst>
                                  <p:childTnLst>
                                    <p:set>
                                      <p:cBhvr>
                                        <p:cTn id="98" dur="1" fill="hold">
                                          <p:stCondLst>
                                            <p:cond delay="0"/>
                                          </p:stCondLst>
                                        </p:cTn>
                                        <p:tgtEl>
                                          <p:spTgt spid="21"/>
                                        </p:tgtEl>
                                        <p:attrNameLst>
                                          <p:attrName>style.visibility</p:attrName>
                                        </p:attrNameLst>
                                      </p:cBhvr>
                                      <p:to>
                                        <p:strVal val="hidden"/>
                                      </p:to>
                                    </p:set>
                                  </p:childTnLst>
                                </p:cTn>
                              </p:par>
                              <p:par>
                                <p:cTn id="99" presetID="10" presetClass="entr" presetSubtype="0" fill="hold" nodeType="withEffect">
                                  <p:stCondLst>
                                    <p:cond delay="0"/>
                                  </p:stCondLst>
                                  <p:childTnLst>
                                    <p:set>
                                      <p:cBhvr>
                                        <p:cTn id="100" dur="1" fill="hold">
                                          <p:stCondLst>
                                            <p:cond delay="0"/>
                                          </p:stCondLst>
                                        </p:cTn>
                                        <p:tgtEl>
                                          <p:spTgt spid="22"/>
                                        </p:tgtEl>
                                        <p:attrNameLst>
                                          <p:attrName>style.visibility</p:attrName>
                                        </p:attrNameLst>
                                      </p:cBhvr>
                                      <p:to>
                                        <p:strVal val="visible"/>
                                      </p:to>
                                    </p:set>
                                    <p:animEffect transition="in" filter="fade">
                                      <p:cBhvr>
                                        <p:cTn id="101" dur="200" fill="hold"/>
                                        <p:tgtEl>
                                          <p:spTgt spid="22"/>
                                        </p:tgtEl>
                                      </p:cBhvr>
                                    </p:animEffect>
                                  </p:childTnLst>
                                </p:cTn>
                              </p:par>
                              <p:par>
                                <p:cTn id="102" presetID="10" presetClass="entr" presetSubtype="0" fill="hold" nodeType="withEffect">
                                  <p:stCondLst>
                                    <p:cond delay="0"/>
                                  </p:stCondLst>
                                  <p:childTnLst>
                                    <p:set>
                                      <p:cBhvr>
                                        <p:cTn id="103" dur="1" fill="hold">
                                          <p:stCondLst>
                                            <p:cond delay="0"/>
                                          </p:stCondLst>
                                        </p:cTn>
                                        <p:tgtEl>
                                          <p:spTgt spid="23"/>
                                        </p:tgtEl>
                                        <p:attrNameLst>
                                          <p:attrName>style.visibility</p:attrName>
                                        </p:attrNameLst>
                                      </p:cBhvr>
                                      <p:to>
                                        <p:strVal val="visible"/>
                                      </p:to>
                                    </p:set>
                                    <p:animEffect transition="in" filter="fade">
                                      <p:cBhvr>
                                        <p:cTn id="104" dur="200" fill="hold"/>
                                        <p:tgtEl>
                                          <p:spTgt spid="23"/>
                                        </p:tgtEl>
                                      </p:cBhvr>
                                    </p:animEffect>
                                  </p:childTnLst>
                                </p:cTn>
                              </p:par>
                              <p:par>
                                <p:cTn id="105" presetID="10" presetClass="entr" presetSubtype="0" fill="hold" nodeType="withEffect">
                                  <p:stCondLst>
                                    <p:cond delay="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200" fill="hold"/>
                                        <p:tgtEl>
                                          <p:spTgt spid="24"/>
                                        </p:tgtEl>
                                      </p:cBhvr>
                                    </p:animEffect>
                                  </p:childTnLst>
                                </p:cTn>
                              </p:par>
                              <p:par>
                                <p:cTn id="108" presetID="10" presetClass="entr" presetSubtype="0" fill="hold" nodeType="withEffect">
                                  <p:stCondLst>
                                    <p:cond delay="0"/>
                                  </p:stCondLst>
                                  <p:childTnLst>
                                    <p:set>
                                      <p:cBhvr>
                                        <p:cTn id="109" dur="1" fill="hold">
                                          <p:stCondLst>
                                            <p:cond delay="0"/>
                                          </p:stCondLst>
                                        </p:cTn>
                                        <p:tgtEl>
                                          <p:spTgt spid="25"/>
                                        </p:tgtEl>
                                        <p:attrNameLst>
                                          <p:attrName>style.visibility</p:attrName>
                                        </p:attrNameLst>
                                      </p:cBhvr>
                                      <p:to>
                                        <p:strVal val="visible"/>
                                      </p:to>
                                    </p:set>
                                    <p:animEffect transition="in" filter="fade">
                                      <p:cBhvr>
                                        <p:cTn id="110" dur="200" fill="hold"/>
                                        <p:tgtEl>
                                          <p:spTgt spid="25"/>
                                        </p:tgtEl>
                                      </p:cBhvr>
                                    </p:animEffect>
                                  </p:childTnLst>
                                </p:cTn>
                              </p:par>
                              <p:par>
                                <p:cTn id="111" presetID="10" presetClass="entr" presetSubtype="0" fill="hold" nodeType="withEffect">
                                  <p:stCondLst>
                                    <p:cond delay="0"/>
                                  </p:stCondLst>
                                  <p:childTnLst>
                                    <p:set>
                                      <p:cBhvr>
                                        <p:cTn id="112" dur="1" fill="hold">
                                          <p:stCondLst>
                                            <p:cond delay="0"/>
                                          </p:stCondLst>
                                        </p:cTn>
                                        <p:tgtEl>
                                          <p:spTgt spid="26"/>
                                        </p:tgtEl>
                                        <p:attrNameLst>
                                          <p:attrName>style.visibility</p:attrName>
                                        </p:attrNameLst>
                                      </p:cBhvr>
                                      <p:to>
                                        <p:strVal val="visible"/>
                                      </p:to>
                                    </p:set>
                                    <p:animEffect transition="in" filter="fade">
                                      <p:cBhvr>
                                        <p:cTn id="113" dur="200" fill="hold"/>
                                        <p:tgtEl>
                                          <p:spTgt spid="26"/>
                                        </p:tgtEl>
                                      </p:cBhvr>
                                    </p:animEffect>
                                  </p:childTnLst>
                                </p:cTn>
                              </p:par>
                              <p:par>
                                <p:cTn id="114" presetID="10" presetClass="entr" presetSubtype="0" fill="hold" nodeType="withEffect">
                                  <p:stCondLst>
                                    <p:cond delay="0"/>
                                  </p:stCondLst>
                                  <p:childTnLst>
                                    <p:set>
                                      <p:cBhvr>
                                        <p:cTn id="115" dur="1" fill="hold">
                                          <p:stCondLst>
                                            <p:cond delay="0"/>
                                          </p:stCondLst>
                                        </p:cTn>
                                        <p:tgtEl>
                                          <p:spTgt spid="27"/>
                                        </p:tgtEl>
                                        <p:attrNameLst>
                                          <p:attrName>style.visibility</p:attrName>
                                        </p:attrNameLst>
                                      </p:cBhvr>
                                      <p:to>
                                        <p:strVal val="visible"/>
                                      </p:to>
                                    </p:set>
                                    <p:animEffect transition="in" filter="fade">
                                      <p:cBhvr>
                                        <p:cTn id="116" dur="200" fill="hold"/>
                                        <p:tgtEl>
                                          <p:spTgt spid="27"/>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nodeType="clickEffect">
                                  <p:stCondLst>
                                    <p:cond delay="0"/>
                                  </p:stCondLst>
                                  <p:childTnLst>
                                    <p:set>
                                      <p:cBhvr>
                                        <p:cTn id="120" dur="1" fill="hold">
                                          <p:stCondLst>
                                            <p:cond delay="0"/>
                                          </p:stCondLst>
                                        </p:cTn>
                                        <p:tgtEl>
                                          <p:spTgt spid="28"/>
                                        </p:tgtEl>
                                        <p:attrNameLst>
                                          <p:attrName>style.visibility</p:attrName>
                                        </p:attrNameLst>
                                      </p:cBhvr>
                                      <p:to>
                                        <p:strVal val="visible"/>
                                      </p:to>
                                    </p:set>
                                    <p:animEffect transition="in" filter="fade">
                                      <p:cBhvr>
                                        <p:cTn id="121" dur="300" fill="hold"/>
                                        <p:tgtEl>
                                          <p:spTgt spid="28"/>
                                        </p:tgtEl>
                                      </p:cBhvr>
                                    </p:animEffect>
                                  </p:childTnLst>
                                </p:cTn>
                              </p:par>
                              <p:par>
                                <p:cTn id="122" presetID="10" presetClass="entr" presetSubtype="0" fill="hold" nodeType="withEffect">
                                  <p:stCondLst>
                                    <p:cond delay="0"/>
                                  </p:stCondLst>
                                  <p:childTnLst>
                                    <p:set>
                                      <p:cBhvr>
                                        <p:cTn id="123" dur="1" fill="hold">
                                          <p:stCondLst>
                                            <p:cond delay="0"/>
                                          </p:stCondLst>
                                        </p:cTn>
                                        <p:tgtEl>
                                          <p:spTgt spid="29"/>
                                        </p:tgtEl>
                                        <p:attrNameLst>
                                          <p:attrName>style.visibility</p:attrName>
                                        </p:attrNameLst>
                                      </p:cBhvr>
                                      <p:to>
                                        <p:strVal val="visible"/>
                                      </p:to>
                                    </p:set>
                                    <p:animEffect transition="in" filter="fade">
                                      <p:cBhvr>
                                        <p:cTn id="124" dur="300" fill="hold"/>
                                        <p:tgtEl>
                                          <p:spTgt spid="29"/>
                                        </p:tgtEl>
                                      </p:cBhvr>
                                    </p:animEffect>
                                  </p:childTnLst>
                                </p:cTn>
                              </p:par>
                              <p:par>
                                <p:cTn id="125" presetID="10" presetClass="entr" presetSubtype="0" fill="hold" nodeType="withEffect">
                                  <p:stCondLst>
                                    <p:cond delay="0"/>
                                  </p:stCondLst>
                                  <p:childTnLst>
                                    <p:set>
                                      <p:cBhvr>
                                        <p:cTn id="126" dur="1" fill="hold">
                                          <p:stCondLst>
                                            <p:cond delay="0"/>
                                          </p:stCondLst>
                                        </p:cTn>
                                        <p:tgtEl>
                                          <p:spTgt spid="30"/>
                                        </p:tgtEl>
                                        <p:attrNameLst>
                                          <p:attrName>style.visibility</p:attrName>
                                        </p:attrNameLst>
                                      </p:cBhvr>
                                      <p:to>
                                        <p:strVal val="visible"/>
                                      </p:to>
                                    </p:set>
                                    <p:animEffect transition="in" filter="fade">
                                      <p:cBhvr>
                                        <p:cTn id="127" dur="300" fill="hold"/>
                                        <p:tgtEl>
                                          <p:spTgt spid="30"/>
                                        </p:tgtEl>
                                      </p:cBhvr>
                                    </p:animEffect>
                                  </p:childTnLst>
                                </p:cTn>
                              </p:par>
                              <p:par>
                                <p:cTn id="128" presetID="10" presetClass="entr" presetSubtype="0" fill="hold" nodeType="withEffect">
                                  <p:stCondLst>
                                    <p:cond delay="0"/>
                                  </p:stCondLst>
                                  <p:childTnLst>
                                    <p:set>
                                      <p:cBhvr>
                                        <p:cTn id="129" dur="1" fill="hold">
                                          <p:stCondLst>
                                            <p:cond delay="0"/>
                                          </p:stCondLst>
                                        </p:cTn>
                                        <p:tgtEl>
                                          <p:spTgt spid="31"/>
                                        </p:tgtEl>
                                        <p:attrNameLst>
                                          <p:attrName>style.visibility</p:attrName>
                                        </p:attrNameLst>
                                      </p:cBhvr>
                                      <p:to>
                                        <p:strVal val="visible"/>
                                      </p:to>
                                    </p:set>
                                    <p:animEffect transition="in" filter="fade">
                                      <p:cBhvr>
                                        <p:cTn id="130" dur="300" fill="hold"/>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 name="!!area-header">
            <a:extLst xmlns:a="http://schemas.openxmlformats.org/drawingml/2006/main">
              <a:ext uri="{FF2B5EF4-FFF2-40B4-BE49-F238E27FC236}">
                <a16:creationId xmlns:a16="http://schemas.microsoft.com/office/drawing/2014/main" id="{F1B278A2-7CDB-421F-8D68-E43579297F8E}"/>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 name="!!area-name">
            <a:extLst xmlns:a="http://schemas.openxmlformats.org/drawingml/2006/main">
              <a:ext uri="{FF2B5EF4-FFF2-40B4-BE49-F238E27FC236}">
                <a16:creationId xmlns:a16="http://schemas.microsoft.com/office/drawing/2014/main" id="{89BFEAD1-1502-4380-9A2E-853F6110D18B}"/>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3" name="!!area-beat">
            <a:extLst xmlns:a="http://schemas.openxmlformats.org/drawingml/2006/main">
              <a:ext uri="{FF2B5EF4-FFF2-40B4-BE49-F238E27FC236}">
                <a16:creationId xmlns:a16="http://schemas.microsoft.com/office/drawing/2014/main" id="{BBDBFE8E-01E9-457F-BD0C-980678141D46}"/>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What you touched</a:t>
            </a:r>
          </a:p>
        </p:txBody>
      </p:sp>
      <p:sp>
        <p:nvSpPr>
          <p:cNvPr id="4" name="14-shape-1">
            <a:extLst xmlns:a="http://schemas.openxmlformats.org/drawingml/2006/main">
              <a:ext uri="{FF2B5EF4-FFF2-40B4-BE49-F238E27FC236}">
                <a16:creationId xmlns:a16="http://schemas.microsoft.com/office/drawing/2014/main" id="{77AFB2C9-15DA-47DF-8F77-FB6330B5014A}"/>
              </a:ext>
            </a:extLst>
          </p:cNvPr>
          <p:cNvSpPr>
            <a:spLocks xmlns:a="http://schemas.openxmlformats.org/drawingml/2006/main"/>
          </p:cNvSpPr>
          <p:nvPr/>
        </p:nvSpPr>
        <p:spPr>
          <a:xfrm xmlns:a="http://schemas.openxmlformats.org/drawingml/2006/main">
            <a:off x="609600" y="2082800"/>
            <a:ext cx="10033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5" name="14-text-2">
            <a:extLst xmlns:a="http://schemas.openxmlformats.org/drawingml/2006/main">
              <a:ext uri="{FF2B5EF4-FFF2-40B4-BE49-F238E27FC236}">
                <a16:creationId xmlns:a16="http://schemas.microsoft.com/office/drawing/2014/main" id="{28919A26-A45D-4DF7-8D29-CFC6DFA0EB1E}"/>
              </a:ext>
            </a:extLst>
          </p:cNvPr>
          <p:cNvSpPr>
            <a:spLocks xmlns:a="http://schemas.openxmlformats.org/drawingml/2006/main"/>
          </p:cNvSpPr>
          <p:nvPr/>
        </p:nvSpPr>
        <p:spPr>
          <a:xfrm xmlns:a="http://schemas.openxmlformats.org/drawingml/2006/main">
            <a:off x="762000" y="2120900"/>
            <a:ext cx="69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/plan</a:t>
            </a:r>
          </a:p>
        </p:txBody>
      </p:sp>
      <p:sp>
        <p:nvSpPr>
          <p:cNvPr id="6" name="14-shape-3">
            <a:extLst xmlns:a="http://schemas.openxmlformats.org/drawingml/2006/main">
              <a:ext uri="{FF2B5EF4-FFF2-40B4-BE49-F238E27FC236}">
                <a16:creationId xmlns:a16="http://schemas.microsoft.com/office/drawing/2014/main" id="{5A229BB7-8074-42F8-8FC1-8DB9CCC47769}"/>
              </a:ext>
            </a:extLst>
          </p:cNvPr>
          <p:cNvSpPr>
            <a:spLocks xmlns:a="http://schemas.openxmlformats.org/drawingml/2006/main"/>
          </p:cNvSpPr>
          <p:nvPr/>
        </p:nvSpPr>
        <p:spPr>
          <a:xfrm xmlns:a="http://schemas.openxmlformats.org/drawingml/2006/main">
            <a:off x="1714500" y="2082800"/>
            <a:ext cx="14859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7" name="14-text-4">
            <a:extLst xmlns:a="http://schemas.openxmlformats.org/drawingml/2006/main">
              <a:ext uri="{FF2B5EF4-FFF2-40B4-BE49-F238E27FC236}">
                <a16:creationId xmlns:a16="http://schemas.microsoft.com/office/drawing/2014/main" id="{218686A0-04E2-4E2B-AF03-B750807C9BAF}"/>
              </a:ext>
            </a:extLst>
          </p:cNvPr>
          <p:cNvSpPr>
            <a:spLocks xmlns:a="http://schemas.openxmlformats.org/drawingml/2006/main"/>
          </p:cNvSpPr>
          <p:nvPr/>
        </p:nvSpPr>
        <p:spPr>
          <a:xfrm xmlns:a="http://schemas.openxmlformats.org/drawingml/2006/main">
            <a:off x="1866900" y="2120900"/>
            <a:ext cx="1181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subagents</a:t>
            </a:r>
          </a:p>
        </p:txBody>
      </p:sp>
      <p:sp>
        <p:nvSpPr>
          <p:cNvPr id="8" name="14-shape-5">
            <a:extLst xmlns:a="http://schemas.openxmlformats.org/drawingml/2006/main">
              <a:ext uri="{FF2B5EF4-FFF2-40B4-BE49-F238E27FC236}">
                <a16:creationId xmlns:a16="http://schemas.microsoft.com/office/drawing/2014/main" id="{02A0CC64-8825-4AE8-A0CD-EDA043D29052}"/>
              </a:ext>
            </a:extLst>
          </p:cNvPr>
          <p:cNvSpPr>
            <a:spLocks xmlns:a="http://schemas.openxmlformats.org/drawingml/2006/main"/>
          </p:cNvSpPr>
          <p:nvPr/>
        </p:nvSpPr>
        <p:spPr>
          <a:xfrm xmlns:a="http://schemas.openxmlformats.org/drawingml/2006/main">
            <a:off x="3302000" y="2082800"/>
            <a:ext cx="9906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9" name="14-text-6">
            <a:extLst xmlns:a="http://schemas.openxmlformats.org/drawingml/2006/main">
              <a:ext uri="{FF2B5EF4-FFF2-40B4-BE49-F238E27FC236}">
                <a16:creationId xmlns:a16="http://schemas.microsoft.com/office/drawing/2014/main" id="{BD637873-16CE-461B-9E96-A2E1B63D618E}"/>
              </a:ext>
            </a:extLst>
          </p:cNvPr>
          <p:cNvSpPr>
            <a:spLocks xmlns:a="http://schemas.openxmlformats.org/drawingml/2006/main"/>
          </p:cNvSpPr>
          <p:nvPr/>
        </p:nvSpPr>
        <p:spPr>
          <a:xfrm xmlns:a="http://schemas.openxmlformats.org/drawingml/2006/main">
            <a:off x="3454400" y="2120900"/>
            <a:ext cx="685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hooks</a:t>
            </a:r>
          </a:p>
        </p:txBody>
      </p:sp>
      <p:sp>
        <p:nvSpPr>
          <p:cNvPr id="10" name="14-shape-7">
            <a:extLst xmlns:a="http://schemas.openxmlformats.org/drawingml/2006/main">
              <a:ext uri="{FF2B5EF4-FFF2-40B4-BE49-F238E27FC236}">
                <a16:creationId xmlns:a16="http://schemas.microsoft.com/office/drawing/2014/main" id="{28470C5A-171E-467C-9667-59F1924B69E1}"/>
              </a:ext>
            </a:extLst>
          </p:cNvPr>
          <p:cNvSpPr>
            <a:spLocks xmlns:a="http://schemas.openxmlformats.org/drawingml/2006/main"/>
          </p:cNvSpPr>
          <p:nvPr/>
        </p:nvSpPr>
        <p:spPr>
          <a:xfrm xmlns:a="http://schemas.openxmlformats.org/drawingml/2006/main">
            <a:off x="4394200" y="2082800"/>
            <a:ext cx="14224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11" name="14-text-8">
            <a:extLst xmlns:a="http://schemas.openxmlformats.org/drawingml/2006/main">
              <a:ext uri="{FF2B5EF4-FFF2-40B4-BE49-F238E27FC236}">
                <a16:creationId xmlns:a16="http://schemas.microsoft.com/office/drawing/2014/main" id="{E1B46AF0-8B2B-4BBA-BF84-0366EB59776C}"/>
              </a:ext>
            </a:extLst>
          </p:cNvPr>
          <p:cNvSpPr>
            <a:spLocks xmlns:a="http://schemas.openxmlformats.org/drawingml/2006/main"/>
          </p:cNvSpPr>
          <p:nvPr/>
        </p:nvSpPr>
        <p:spPr>
          <a:xfrm xmlns:a="http://schemas.openxmlformats.org/drawingml/2006/main">
            <a:off x="4546600" y="2120900"/>
            <a:ext cx="111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/compact</a:t>
            </a:r>
          </a:p>
        </p:txBody>
      </p:sp>
      <p:sp>
        <p:nvSpPr>
          <p:cNvPr id="12" name="14-shape-9">
            <a:extLst xmlns:a="http://schemas.openxmlformats.org/drawingml/2006/main">
              <a:ext uri="{FF2B5EF4-FFF2-40B4-BE49-F238E27FC236}">
                <a16:creationId xmlns:a16="http://schemas.microsoft.com/office/drawing/2014/main" id="{646EDE4A-1E9B-47F4-8413-FB80489018EC}"/>
              </a:ext>
            </a:extLst>
          </p:cNvPr>
          <p:cNvSpPr>
            <a:spLocks xmlns:a="http://schemas.openxmlformats.org/drawingml/2006/main"/>
          </p:cNvSpPr>
          <p:nvPr/>
        </p:nvSpPr>
        <p:spPr>
          <a:xfrm xmlns:a="http://schemas.openxmlformats.org/drawingml/2006/main">
            <a:off x="5918200" y="2082800"/>
            <a:ext cx="12827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13" name="14-text-10">
            <a:extLst xmlns:a="http://schemas.openxmlformats.org/drawingml/2006/main">
              <a:ext uri="{FF2B5EF4-FFF2-40B4-BE49-F238E27FC236}">
                <a16:creationId xmlns:a16="http://schemas.microsoft.com/office/drawing/2014/main" id="{44364976-A547-4244-BE51-C04E6F95DCE7}"/>
              </a:ext>
            </a:extLst>
          </p:cNvPr>
          <p:cNvSpPr>
            <a:spLocks xmlns:a="http://schemas.openxmlformats.org/drawingml/2006/main"/>
          </p:cNvSpPr>
          <p:nvPr/>
        </p:nvSpPr>
        <p:spPr>
          <a:xfrm xmlns:a="http://schemas.openxmlformats.org/drawingml/2006/main">
            <a:off x="6070600" y="2120900"/>
            <a:ext cx="977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/resume</a:t>
            </a:r>
          </a:p>
        </p:txBody>
      </p:sp>
      <p:sp>
        <p:nvSpPr>
          <p:cNvPr id="14" name="14-shape-11">
            <a:extLst xmlns:a="http://schemas.openxmlformats.org/drawingml/2006/main">
              <a:ext uri="{FF2B5EF4-FFF2-40B4-BE49-F238E27FC236}">
                <a16:creationId xmlns:a16="http://schemas.microsoft.com/office/drawing/2014/main" id="{40CC57EC-EE49-4B6F-A982-BC78D9D35025}"/>
              </a:ext>
            </a:extLst>
          </p:cNvPr>
          <p:cNvSpPr>
            <a:spLocks xmlns:a="http://schemas.openxmlformats.org/drawingml/2006/main"/>
          </p:cNvSpPr>
          <p:nvPr/>
        </p:nvSpPr>
        <p:spPr>
          <a:xfrm xmlns:a="http://schemas.openxmlformats.org/drawingml/2006/main">
            <a:off x="7302500" y="2082800"/>
            <a:ext cx="10033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15" name="14-text-12">
            <a:extLst xmlns:a="http://schemas.openxmlformats.org/drawingml/2006/main">
              <a:ext uri="{FF2B5EF4-FFF2-40B4-BE49-F238E27FC236}">
                <a16:creationId xmlns:a16="http://schemas.microsoft.com/office/drawing/2014/main" id="{5CCC0136-46C5-4075-8474-1F7ACEA4BAD1}"/>
              </a:ext>
            </a:extLst>
          </p:cNvPr>
          <p:cNvSpPr>
            <a:spLocks xmlns:a="http://schemas.openxmlformats.org/drawingml/2006/main"/>
          </p:cNvSpPr>
          <p:nvPr/>
        </p:nvSpPr>
        <p:spPr>
          <a:xfrm xmlns:a="http://schemas.openxmlformats.org/drawingml/2006/main">
            <a:off x="7454900" y="2120900"/>
            <a:ext cx="69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/fork</a:t>
            </a:r>
          </a:p>
        </p:txBody>
      </p:sp>
      <p:sp>
        <p:nvSpPr>
          <p:cNvPr id="16" name="14-text-13">
            <a:extLst xmlns:a="http://schemas.openxmlformats.org/drawingml/2006/main">
              <a:ext uri="{FF2B5EF4-FFF2-40B4-BE49-F238E27FC236}">
                <a16:creationId xmlns:a16="http://schemas.microsoft.com/office/drawing/2014/main" id="{F09449E6-EE4F-4848-A1E8-6715DA41F5D2}"/>
              </a:ext>
            </a:extLst>
          </p:cNvPr>
          <p:cNvSpPr>
            <a:spLocks xmlns:a="http://schemas.openxmlformats.org/drawingml/2006/main"/>
          </p:cNvSpPr>
          <p:nvPr/>
        </p:nvSpPr>
        <p:spPr>
          <a:xfrm xmlns:a="http://schemas.openxmlformats.org/drawingml/2006/main">
            <a:off x="3810000" y="3022600"/>
            <a:ext cx="4572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gather context</a:t>
            </a:r>
          </a:p>
        </p:txBody>
      </p:sp>
      <p:sp>
        <p:nvSpPr>
          <p:cNvPr id="17" name="14-text-14">
            <a:extLst xmlns:a="http://schemas.openxmlformats.org/drawingml/2006/main">
              <a:ext uri="{FF2B5EF4-FFF2-40B4-BE49-F238E27FC236}">
                <a16:creationId xmlns:a16="http://schemas.microsoft.com/office/drawing/2014/main" id="{006C273E-0E43-4539-ADF6-6F0C2F4E5505}"/>
              </a:ext>
            </a:extLst>
          </p:cNvPr>
          <p:cNvSpPr>
            <a:spLocks xmlns:a="http://schemas.openxmlformats.org/drawingml/2006/main"/>
          </p:cNvSpPr>
          <p:nvPr/>
        </p:nvSpPr>
        <p:spPr>
          <a:xfrm xmlns:a="http://schemas.openxmlformats.org/drawingml/2006/main">
            <a:off x="7289800" y="48133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take action</a:t>
            </a:r>
          </a:p>
        </p:txBody>
      </p:sp>
      <p:sp>
        <p:nvSpPr>
          <p:cNvPr id="18" name="14-text-15">
            <a:extLst xmlns:a="http://schemas.openxmlformats.org/drawingml/2006/main">
              <a:ext uri="{FF2B5EF4-FFF2-40B4-BE49-F238E27FC236}">
                <a16:creationId xmlns:a16="http://schemas.microsoft.com/office/drawing/2014/main" id="{7581B7C9-0BFC-4206-961F-54442D534B4C}"/>
              </a:ext>
            </a:extLst>
          </p:cNvPr>
          <p:cNvSpPr>
            <a:spLocks xmlns:a="http://schemas.openxmlformats.org/drawingml/2006/main"/>
          </p:cNvSpPr>
          <p:nvPr/>
        </p:nvSpPr>
        <p:spPr>
          <a:xfrm xmlns:a="http://schemas.openxmlformats.org/drawingml/2006/main">
            <a:off x="2260600" y="4813300"/>
            <a:ext cx="2286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19" name="14-line-17">
            <a:extLst xmlns:a="http://schemas.openxmlformats.org/drawingml/2006/main">
              <a:ext uri="{FF2B5EF4-FFF2-40B4-BE49-F238E27FC236}">
                <a16:creationId xmlns:a16="http://schemas.microsoft.com/office/drawing/2014/main" id="{B81D9768-E098-4123-A053-8835870740E4}"/>
              </a:ext>
            </a:extLst>
          </p:cNvPr>
          <p:cNvSpPr>
            <a:spLocks xmlns:a="http://schemas.openxmlformats.org/drawingml/2006/main"/>
          </p:cNvSpPr>
          <p:nvPr/>
        </p:nvSpPr>
        <p:spPr>
          <a:xfrm xmlns:a="http://schemas.openxmlformats.org/drawingml/2006/main" flipH="0" flipV="0">
            <a:off x="7035800" y="3556000"/>
            <a:ext cx="1028700" cy="8509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0" name="14-line-19">
            <a:extLst xmlns:a="http://schemas.openxmlformats.org/drawingml/2006/main">
              <a:ext uri="{FF2B5EF4-FFF2-40B4-BE49-F238E27FC236}">
                <a16:creationId xmlns:a16="http://schemas.microsoft.com/office/drawing/2014/main" id="{0FD93FA9-77D2-40D4-9A87-1965D5939EF2}"/>
              </a:ext>
            </a:extLst>
          </p:cNvPr>
          <p:cNvSpPr>
            <a:spLocks xmlns:a="http://schemas.openxmlformats.org/drawingml/2006/main"/>
          </p:cNvSpPr>
          <p:nvPr/>
        </p:nvSpPr>
        <p:spPr>
          <a:xfrm xmlns:a="http://schemas.openxmlformats.org/drawingml/2006/main" flipH="1" flipV="0">
            <a:off x="4597400" y="5092700"/>
            <a:ext cx="2565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1" name="14-line-21">
            <a:extLst xmlns:a="http://schemas.openxmlformats.org/drawingml/2006/main">
              <a:ext uri="{FF2B5EF4-FFF2-40B4-BE49-F238E27FC236}">
                <a16:creationId xmlns:a16="http://schemas.microsoft.com/office/drawing/2014/main" id="{309DEB0B-7080-4597-9909-567080881D6D}"/>
              </a:ext>
            </a:extLst>
          </p:cNvPr>
          <p:cNvSpPr>
            <a:spLocks xmlns:a="http://schemas.openxmlformats.org/drawingml/2006/main"/>
          </p:cNvSpPr>
          <p:nvPr/>
        </p:nvSpPr>
        <p:spPr>
          <a:xfrm xmlns:a="http://schemas.openxmlformats.org/drawingml/2006/main" flipH="0" flipV="1">
            <a:off x="3644900" y="3556000"/>
            <a:ext cx="1270000" cy="8890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Tree>
    <p:extLst>
      <p:ext uri="{BB962C8B-B14F-4D97-AF65-F5344CB8AC3E}">
        <p14:creationId xmlns:p14="http://schemas.microsoft.com/office/powerpoint/2010/main" val="2042664726"/>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 name="!!area-name">
            <a:extLst xmlns:a="http://schemas.openxmlformats.org/drawingml/2006/main">
              <a:ext uri="{FF2B5EF4-FFF2-40B4-BE49-F238E27FC236}">
                <a16:creationId xmlns:a16="http://schemas.microsoft.com/office/drawing/2014/main" id="{D0AF5BAD-11C3-439F-AAD1-C722AF8DFC7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What you touched</a:t>
            </a:r>
          </a:p>
        </p:txBody>
      </p:sp>
      <p:pic>
        <p:nvPicPr>
          <p:cNvPr id="17" name="mini-map"/>
          <p:cNvPicPr>
            <a:picLocks xmlns:a="http://schemas.openxmlformats.org/drawingml/2006/main" noChangeAspect="1"/>
          </p:cNvPicPr>
          <p:nvPr/>
        </p:nvPicPr>
        <p:blipFill>
          <a:blip xmlns:r="http://schemas.openxmlformats.org/officeDocument/2006/relationships" xmlns:a="http://schemas.openxmlformats.org/drawingml/2006/main" r:embed="R4ca24c312aa3411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14b-text-1">
            <a:extLst xmlns:a="http://schemas.openxmlformats.org/drawingml/2006/main">
              <a:ext uri="{FF2B5EF4-FFF2-40B4-BE49-F238E27FC236}">
                <a16:creationId xmlns:a16="http://schemas.microsoft.com/office/drawing/2014/main" id="{4692BE1E-CB07-48C6-A9B3-34CC3157E331}"/>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4" name="14b-text-2">
            <a:extLst xmlns:a="http://schemas.openxmlformats.org/drawingml/2006/main">
              <a:ext uri="{FF2B5EF4-FFF2-40B4-BE49-F238E27FC236}">
                <a16:creationId xmlns:a16="http://schemas.microsoft.com/office/drawing/2014/main" id="{51E7935C-F0A8-472F-A890-3D648177B5C4}"/>
              </a:ext>
            </a:extLst>
          </p:cNvPr>
          <p:cNvSpPr>
            <a:spLocks xmlns:a="http://schemas.openxmlformats.org/drawingml/2006/main"/>
          </p:cNvSpPr>
          <p:nvPr/>
        </p:nvSpPr>
        <p:spPr>
          <a:xfrm xmlns:a="http://schemas.openxmlformats.org/drawingml/2006/main">
            <a:off x="609600" y="1422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loop's decisions:</a:t>
            </a:r>
          </a:p>
        </p:txBody>
      </p:sp>
      <p:sp>
        <p:nvSpPr>
          <p:cNvPr id="5" name="14b-text-3">
            <a:extLst xmlns:a="http://schemas.openxmlformats.org/drawingml/2006/main">
              <a:ext uri="{FF2B5EF4-FFF2-40B4-BE49-F238E27FC236}">
                <a16:creationId xmlns:a16="http://schemas.microsoft.com/office/drawing/2014/main" id="{33FE1E1F-4C51-4E91-BBD7-8D9D305791EE}"/>
              </a:ext>
            </a:extLst>
          </p:cNvPr>
          <p:cNvSpPr>
            <a:spLocks xmlns:a="http://schemas.openxmlformats.org/drawingml/2006/main"/>
          </p:cNvSpPr>
          <p:nvPr/>
        </p:nvSpPr>
        <p:spPr>
          <a:xfrm xmlns:a="http://schemas.openxmlformats.org/drawingml/2006/main">
            <a:off x="609600" y="2057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stop.</a:t>
            </a:r>
          </a:p>
        </p:txBody>
      </p:sp>
      <p:sp>
        <p:nvSpPr>
          <p:cNvPr id="6" name="14b-text-4">
            <a:extLst xmlns:a="http://schemas.openxmlformats.org/drawingml/2006/main">
              <a:ext uri="{FF2B5EF4-FFF2-40B4-BE49-F238E27FC236}">
                <a16:creationId xmlns:a16="http://schemas.microsoft.com/office/drawing/2014/main" id="{0A12B6C0-93C6-45B6-8A12-3203D9D84F76}"/>
              </a:ext>
            </a:extLst>
          </p:cNvPr>
          <p:cNvSpPr>
            <a:spLocks xmlns:a="http://schemas.openxmlformats.org/drawingml/2006/main"/>
          </p:cNvSpPr>
          <p:nvPr/>
        </p:nvSpPr>
        <p:spPr>
          <a:xfrm xmlns:a="http://schemas.openxmlformats.org/drawingml/2006/main">
            <a:off x="609600" y="2692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carries between turns.</a:t>
            </a:r>
          </a:p>
        </p:txBody>
      </p:sp>
      <p:sp>
        <p:nvSpPr>
          <p:cNvPr id="7" name="14b-text-5">
            <a:extLst xmlns:a="http://schemas.openxmlformats.org/drawingml/2006/main">
              <a:ext uri="{FF2B5EF4-FFF2-40B4-BE49-F238E27FC236}">
                <a16:creationId xmlns:a16="http://schemas.microsoft.com/office/drawing/2014/main" id="{E71C564F-314E-4AA2-A224-64587A6D97FC}"/>
              </a:ext>
            </a:extLst>
          </p:cNvPr>
          <p:cNvSpPr>
            <a:spLocks xmlns:a="http://schemas.openxmlformats.org/drawingml/2006/main"/>
          </p:cNvSpPr>
          <p:nvPr/>
        </p:nvSpPr>
        <p:spPr>
          <a:xfrm xmlns:a="http://schemas.openxmlformats.org/drawingml/2006/main">
            <a:off x="609600" y="3327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compact.</a:t>
            </a:r>
          </a:p>
        </p:txBody>
      </p:sp>
      <p:sp>
        <p:nvSpPr>
          <p:cNvPr id="8" name="14b-text-6">
            <a:extLst xmlns:a="http://schemas.openxmlformats.org/drawingml/2006/main">
              <a:ext uri="{FF2B5EF4-FFF2-40B4-BE49-F238E27FC236}">
                <a16:creationId xmlns:a16="http://schemas.microsoft.com/office/drawing/2014/main" id="{9EA86377-F4A0-4139-A8A4-C573F9017C49}"/>
              </a:ext>
            </a:extLst>
          </p:cNvPr>
          <p:cNvSpPr>
            <a:spLocks xmlns:a="http://schemas.openxmlformats.org/drawingml/2006/main"/>
          </p:cNvSpPr>
          <p:nvPr/>
        </p:nvSpPr>
        <p:spPr>
          <a:xfrm xmlns:a="http://schemas.openxmlformats.org/drawingml/2006/main">
            <a:off x="609600" y="3962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spawn a subagent, and what to hand it.</a:t>
            </a:r>
          </a:p>
        </p:txBody>
      </p:sp>
      <p:sp>
        <p:nvSpPr>
          <p:cNvPr id="9" name="14b-text-7">
            <a:extLst xmlns:a="http://schemas.openxmlformats.org/drawingml/2006/main">
              <a:ext uri="{FF2B5EF4-FFF2-40B4-BE49-F238E27FC236}">
                <a16:creationId xmlns:a16="http://schemas.microsoft.com/office/drawing/2014/main" id="{DB3BE315-CDE2-469A-8B7E-1AD91BCC63EA}"/>
              </a:ext>
            </a:extLst>
          </p:cNvPr>
          <p:cNvSpPr>
            <a:spLocks xmlns:a="http://schemas.openxmlformats.org/drawingml/2006/main"/>
          </p:cNvSpPr>
          <p:nvPr/>
        </p:nvSpPr>
        <p:spPr>
          <a:xfrm xmlns:a="http://schemas.openxmlformats.org/drawingml/2006/main">
            <a:off x="609600" y="4597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Where a hook fires.</a:t>
            </a:r>
          </a:p>
        </p:txBody>
      </p:sp>
      <p:sp>
        <p:nvSpPr>
          <p:cNvPr id="10" name="14b-text-8">
            <a:extLst xmlns:a="http://schemas.openxmlformats.org/drawingml/2006/main">
              <a:ext uri="{FF2B5EF4-FFF2-40B4-BE49-F238E27FC236}">
                <a16:creationId xmlns:a16="http://schemas.microsoft.com/office/drawing/2014/main" id="{EE0EDB49-1DFB-44EF-920C-7A6563C5249B}"/>
              </a:ext>
            </a:extLst>
          </p:cNvPr>
          <p:cNvSpPr>
            <a:spLocks xmlns:a="http://schemas.openxmlformats.org/drawingml/2006/main"/>
          </p:cNvSpPr>
          <p:nvPr/>
        </p:nvSpPr>
        <p:spPr>
          <a:xfrm xmlns:a="http://schemas.openxmlformats.org/drawingml/2006/main">
            <a:off x="609600" y="1854200"/>
            <a:ext cx="10972800" cy="210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 great harness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beats a great model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a bad harness."</a:t>
            </a:r>
          </a:p>
        </p:txBody>
      </p:sp>
      <p:sp>
        <p:nvSpPr>
          <p:cNvPr id="11" name="14b-text-9">
            <a:extLst xmlns:a="http://schemas.openxmlformats.org/drawingml/2006/main">
              <a:ext uri="{FF2B5EF4-FFF2-40B4-BE49-F238E27FC236}">
                <a16:creationId xmlns:a16="http://schemas.microsoft.com/office/drawing/2014/main" id="{33AEE706-5B00-4BB3-B4F5-2F687436FA2E}"/>
              </a:ext>
            </a:extLst>
          </p:cNvPr>
          <p:cNvSpPr>
            <a:spLocks xmlns:a="http://schemas.openxmlformats.org/drawingml/2006/main"/>
          </p:cNvSpPr>
          <p:nvPr/>
        </p:nvSpPr>
        <p:spPr>
          <a:xfrm xmlns:a="http://schemas.openxmlformats.org/drawingml/2006/main">
            <a:off x="609600" y="4114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ADACA9"/>
                </a:solidFill>
                <a:latin typeface="Helvetica"/>
                <a:ea typeface="Helvetica"/>
                <a:cs typeface="Helvetica"/>
              </a:rPr>
              <a:t>Addy Osmani, April 2026</a:t>
            </a:r>
          </a:p>
        </p:txBody>
      </p:sp>
      <p:sp>
        <p:nvSpPr>
          <p:cNvPr id="12" name="14b-text-10">
            <a:extLst xmlns:a="http://schemas.openxmlformats.org/drawingml/2006/main">
              <a:ext uri="{FF2B5EF4-FFF2-40B4-BE49-F238E27FC236}">
                <a16:creationId xmlns:a16="http://schemas.microsoft.com/office/drawing/2014/main" id="{FDD9883B-2D30-4D5B-B2F6-E77AF7C13698}"/>
              </a:ext>
            </a:extLst>
          </p:cNvPr>
          <p:cNvSpPr>
            <a:spLocks xmlns:a="http://schemas.openxmlformats.org/drawingml/2006/main"/>
          </p:cNvSpPr>
          <p:nvPr/>
        </p:nvSpPr>
        <p:spPr>
          <a:xfrm xmlns:a="http://schemas.openxmlformats.org/drawingml/2006/main">
            <a:off x="609600" y="4851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Same model, better loop: 13% to 38% on ARC-AGI-3,</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 six times fewer output tokens.</a:t>
            </a:r>
          </a:p>
        </p:txBody>
      </p:sp>
      <p:sp>
        <p:nvSpPr>
          <p:cNvPr id="13" name="14b-text-11">
            <a:extLst xmlns:a="http://schemas.openxmlformats.org/drawingml/2006/main">
              <a:ext uri="{FF2B5EF4-FFF2-40B4-BE49-F238E27FC236}">
                <a16:creationId xmlns:a16="http://schemas.microsoft.com/office/drawing/2014/main" id="{10D620D4-1A20-4A47-B3BE-06BDFA3B9537}"/>
              </a:ext>
            </a:extLst>
          </p:cNvPr>
          <p:cNvSpPr>
            <a:spLocks xmlns:a="http://schemas.openxmlformats.org/drawingml/2006/main"/>
          </p:cNvSpPr>
          <p:nvPr/>
        </p:nvSpPr>
        <p:spPr>
          <a:xfrm xmlns:a="http://schemas.openxmlformats.org/drawingml/2006/main">
            <a:off x="609600" y="1803400"/>
            <a:ext cx="10972800" cy="195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Over-ambition:</a:t>
            </a:r>
            <a:r>
              <a:rPr b="0">
                <a:solidFill>
                  <a:srgbClr val="FFFCF5"/>
                </a:solidFill>
                <a:latin typeface="Helvetica"/>
                <a:ea typeface="Helvetica"/>
                <a:cs typeface="Helvetica"/>
              </a:rPr>
              <a:t> try to one-shot the whole app.</a:t>
            </a:r>
          </a:p>
          <a:p xmlns:a="http://schemas.openxmlformats.org/drawingml/2006/main">
            <a:pPr algn="l">
              <a:lnSpc>
                <a:spcPct val="125000"/>
              </a:lnSpc>
              <a:defRPr sz="2400" b="0">
                <a:solidFill>
                  <a:srgbClr val="FFFCF5"/>
                </a:solidFill>
                <a:latin typeface="Helvetica"/>
                <a:ea typeface="Helvetica"/>
                <a:cs typeface="Helvetica"/>
              </a:defRPr>
            </a:pPr>
          </a:p>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Premature completion:</a:t>
            </a:r>
            <a:r>
              <a:rPr b="0">
                <a:solidFill>
                  <a:srgbClr val="FFFCF5"/>
                </a:solidFill>
                <a:latin typeface="Helvetica"/>
                <a:ea typeface="Helvetica"/>
                <a:cs typeface="Helvetica"/>
              </a:rPr>
              <a:t> see progress, declare the job done.</a:t>
            </a:r>
          </a:p>
        </p:txBody>
      </p:sp>
      <p:sp>
        <p:nvSpPr>
          <p:cNvPr id="14" name="14b-text-12">
            <a:extLst xmlns:a="http://schemas.openxmlformats.org/drawingml/2006/main">
              <a:ext uri="{FF2B5EF4-FFF2-40B4-BE49-F238E27FC236}">
                <a16:creationId xmlns:a16="http://schemas.microsoft.com/office/drawing/2014/main" id="{CF8626FD-1E1C-41CB-BF19-1C1F6DDF6C20}"/>
              </a:ext>
            </a:extLst>
          </p:cNvPr>
          <p:cNvSpPr>
            <a:spLocks xmlns:a="http://schemas.openxmlformats.org/drawingml/2006/main"/>
          </p:cNvSpPr>
          <p:nvPr/>
        </p:nvSpPr>
        <p:spPr>
          <a:xfrm xmlns:a="http://schemas.openxmlformats.org/drawingml/2006/main">
            <a:off x="609600" y="42799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fix: an initializer, a feature list, a progress file,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feature per session, and tests are never edited to pass.</a:t>
            </a:r>
          </a:p>
        </p:txBody>
      </p:sp>
      <p:sp>
        <p:nvSpPr>
          <p:cNvPr id="15" name="14b-text-13">
            <a:extLst xmlns:a="http://schemas.openxmlformats.org/drawingml/2006/main">
              <a:ext uri="{FF2B5EF4-FFF2-40B4-BE49-F238E27FC236}">
                <a16:creationId xmlns:a16="http://schemas.microsoft.com/office/drawing/2014/main" id="{95BD8D28-3A15-409B-9E09-3F950D983D7A}"/>
              </a:ext>
            </a:extLst>
          </p:cNvPr>
          <p:cNvSpPr>
            <a:spLocks xmlns:a="http://schemas.openxmlformats.org/drawingml/2006/main"/>
          </p:cNvSpPr>
          <p:nvPr/>
        </p:nvSpPr>
        <p:spPr>
          <a:xfrm xmlns:a="http://schemas.openxmlformats.org/drawingml/2006/main">
            <a:off x="609600" y="1968500"/>
            <a:ext cx="10972800" cy="358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Lead plus subagents: </a:t>
            </a:r>
            <a:r>
              <a:rPr b="1">
                <a:solidFill>
                  <a:srgbClr val="FFFCF5"/>
                </a:solidFill>
                <a:latin typeface="Helvetica"/>
                <a:ea typeface="Helvetica"/>
                <a:cs typeface="Helvetica"/>
              </a:rPr>
              <a:t>90% better</a:t>
            </a:r>
            <a:r>
              <a:rPr b="0">
                <a:solidFill>
                  <a:srgbClr val="FFFCF5"/>
                </a:solidFill>
                <a:latin typeface="Helvetica"/>
                <a:ea typeface="Helvetica"/>
                <a:cs typeface="Helvetica"/>
              </a:rPr>
              <a:t> on a research eval.</a:t>
            </a:r>
          </a:p>
          <a:p xmlns:a="http://schemas.openxmlformats.org/drawingml/2006/main">
            <a:pPr algn="l">
              <a:lnSpc>
                <a:spcPct val="115000"/>
              </a:lnSpc>
              <a:defRPr sz="3200" b="0">
                <a:solidFill>
                  <a:srgbClr val="FFFCF5"/>
                </a:solidFill>
                <a:latin typeface="Helvetica"/>
                <a:ea typeface="Helvetica"/>
                <a:cs typeface="Helvetica"/>
              </a:defRPr>
            </a:pPr>
          </a:p>
          <a:p xmlns:a="http://schemas.openxmlformats.org/drawingml/2006/main">
            <a:pPr algn="l">
              <a:lnSpc>
                <a:spcPct val="115000"/>
              </a:lnSpc>
              <a:defRPr sz="3200" b="0">
                <a:solidFill>
                  <a:srgbClr val="FFFCF5"/>
                </a:solidFill>
                <a:latin typeface="Helvetica"/>
                <a:ea typeface="Helvetica"/>
                <a:cs typeface="Helvetica"/>
              </a:defRPr>
            </a:pPr>
            <a:r>
              <a:rPr b="1">
                <a:solidFill>
                  <a:srgbClr val="FFFCF5"/>
                </a:solidFill>
                <a:latin typeface="Helvetica"/>
                <a:ea typeface="Helvetica"/>
                <a:cs typeface="Helvetica"/>
              </a:rPr>
              <a:t>Fifteen times the tokens</a:t>
            </a:r>
            <a:r>
              <a:rPr b="0">
                <a:solidFill>
                  <a:srgbClr val="FFFCF5"/>
                </a:solidFill>
                <a:latin typeface="Helvetica"/>
                <a:ea typeface="Helvetica"/>
                <a:cs typeface="Helvetica"/>
              </a:rPr>
              <a:t> of a chat.</a:t>
            </a:r>
          </a:p>
          <a:p xmlns:a="http://schemas.openxmlformats.org/drawingml/2006/main">
            <a:pPr algn="l">
              <a:lnSpc>
                <a:spcPct val="115000"/>
              </a:lnSpc>
              <a:defRPr sz="3200" b="0">
                <a:solidFill>
                  <a:srgbClr val="FFFCF5"/>
                </a:solidFill>
                <a:latin typeface="Helvetica"/>
                <a:ea typeface="Helvetica"/>
                <a:cs typeface="Helvetica"/>
              </a:defRPr>
            </a:pPr>
          </a:p>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Poor fit when agents need shared context.</a:t>
            </a:r>
          </a:p>
        </p:txBody>
      </p:sp>
    </p:spTree>
    <p:extLst>
      <p:ext uri="{BB962C8B-B14F-4D97-AF65-F5344CB8AC3E}">
        <p14:creationId xmlns:p14="http://schemas.microsoft.com/office/powerpoint/2010/main" val="1878088381"/>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5"/>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6"/>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7"/>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8"/>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9"/>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10"/>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11"/>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12"/>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13"/>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14"/>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 name="!!area-name">
            <a:extLst xmlns:a="http://schemas.openxmlformats.org/drawingml/2006/main">
              <a:ext uri="{FF2B5EF4-FFF2-40B4-BE49-F238E27FC236}">
                <a16:creationId xmlns:a16="http://schemas.microsoft.com/office/drawing/2014/main" id="{2583BB5C-9E85-46A1-80F3-1839C4C6610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it's your agent</a:t>
            </a:r>
          </a:p>
        </p:txBody>
      </p:sp>
      <p:pic>
        <p:nvPicPr>
          <p:cNvPr id="25" name="mini-map"/>
          <p:cNvPicPr>
            <a:picLocks xmlns:a="http://schemas.openxmlformats.org/drawingml/2006/main" noChangeAspect="1"/>
          </p:cNvPicPr>
          <p:nvPr/>
        </p:nvPicPr>
        <p:blipFill>
          <a:blip xmlns:r="http://schemas.openxmlformats.org/officeDocument/2006/relationships" xmlns:a="http://schemas.openxmlformats.org/drawingml/2006/main" r:embed="R7b6498921ab4471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92AECEC4-EAC4-4EAA-A8D3-56D0EC2C497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graphicFrame>
        <p:nvGraphicFramePr>
          <p:cNvPr id="27" name="15-table-1"/>
          <p:cNvGraphicFramePr/>
          <p:nvPr/>
        </p:nvGraphicFramePr>
        <p:xfrm>
          <a:off xmlns:a="http://schemas.openxmlformats.org/drawingml/2006/main" x="609600" y="1828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5334000"/>
                <a:gridCol w="304800"/>
                <a:gridCol w="5334000"/>
              </a:tblGrid>
              <a:tr h="508000">
                <a:tc>
                  <a:txBody>
                    <a:bodyPr>
                      <a:noAutofit/>
                    </a:bodyPr>
                    <a:lstStyle/>
                    <a:p>
                      <a:pPr>
                        <a:lnSpc>
                          <a:spcPct val="125000"/>
                        </a:lnSpc>
                        <a:buNone/>
                      </a:pPr>
                      <a:r>
                        <a:rPr sz="2400" b="1">
                          <a:solidFill>
                            <a:srgbClr val="F948BE"/>
                          </a:solidFill>
                          <a:latin typeface="Helvetica"/>
                          <a:ea typeface="Helvetica"/>
                          <a:cs typeface="Helvetica"/>
                        </a:rPr>
                        <a:t>Workflows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Agents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63600">
                <a:tc>
                  <a:txBody>
                    <a:bodyPr>
                      <a:noAutofit/>
                    </a:bodyPr>
                    <a:lstStyle/>
                    <a:p>
                      <a:pPr>
                        <a:lnSpc>
                          <a:spcPct val="125000"/>
                        </a:lnSpc>
                        <a:buNone/>
                      </a:pPr>
                      <a:r>
                        <a:rPr sz="2000" b="0">
                          <a:solidFill>
                            <a:srgbClr val="FFFCF5"/>
                          </a:solidFill>
                          <a:latin typeface="Helvetica"/>
                          <a:ea typeface="Helvetica"/>
                          <a:cs typeface="Helvetica"/>
                        </a:rPr>
                        <a:t>LLMs and tools on predefined code paths.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LLMs that direct their own process.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 name="15-shape-2">
            <a:extLst xmlns:a="http://schemas.openxmlformats.org/drawingml/2006/main">
              <a:ext uri="{FF2B5EF4-FFF2-40B4-BE49-F238E27FC236}">
                <a16:creationId xmlns:a16="http://schemas.microsoft.com/office/drawing/2014/main" id="{7D199A5C-0FDB-4108-A7E4-792F9BA423DE}"/>
              </a:ext>
            </a:extLst>
          </p:cNvPr>
          <p:cNvSpPr>
            <a:spLocks xmlns:a="http://schemas.openxmlformats.org/drawingml/2006/main"/>
          </p:cNvSpPr>
          <p:nvPr/>
        </p:nvSpPr>
        <p:spPr>
          <a:xfrm xmlns:a="http://schemas.openxmlformats.org/drawingml/2006/main">
            <a:off x="609600" y="3530600"/>
            <a:ext cx="1308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6" name="15-text-3">
            <a:extLst xmlns:a="http://schemas.openxmlformats.org/drawingml/2006/main">
              <a:ext uri="{FF2B5EF4-FFF2-40B4-BE49-F238E27FC236}">
                <a16:creationId xmlns:a16="http://schemas.microsoft.com/office/drawing/2014/main" id="{E9F8B477-4D68-40CC-961E-550F6BA261F9}"/>
              </a:ext>
            </a:extLst>
          </p:cNvPr>
          <p:cNvSpPr>
            <a:spLocks xmlns:a="http://schemas.openxmlformats.org/drawingml/2006/main"/>
          </p:cNvSpPr>
          <p:nvPr/>
        </p:nvSpPr>
        <p:spPr>
          <a:xfrm xmlns:a="http://schemas.openxmlformats.org/drawingml/2006/main">
            <a:off x="762000" y="3568700"/>
            <a:ext cx="1003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Chaining</a:t>
            </a:r>
          </a:p>
        </p:txBody>
      </p:sp>
      <p:sp>
        <p:nvSpPr>
          <p:cNvPr id="7" name="15-shape-4">
            <a:extLst xmlns:a="http://schemas.openxmlformats.org/drawingml/2006/main">
              <a:ext uri="{FF2B5EF4-FFF2-40B4-BE49-F238E27FC236}">
                <a16:creationId xmlns:a16="http://schemas.microsoft.com/office/drawing/2014/main" id="{ACC5EA91-43BB-4558-9D9C-F9D5F2CDC691}"/>
              </a:ext>
            </a:extLst>
          </p:cNvPr>
          <p:cNvSpPr>
            <a:spLocks xmlns:a="http://schemas.openxmlformats.org/drawingml/2006/main"/>
          </p:cNvSpPr>
          <p:nvPr/>
        </p:nvSpPr>
        <p:spPr>
          <a:xfrm xmlns:a="http://schemas.openxmlformats.org/drawingml/2006/main">
            <a:off x="2019300" y="3530600"/>
            <a:ext cx="1181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8" name="15-text-5">
            <a:extLst xmlns:a="http://schemas.openxmlformats.org/drawingml/2006/main">
              <a:ext uri="{FF2B5EF4-FFF2-40B4-BE49-F238E27FC236}">
                <a16:creationId xmlns:a16="http://schemas.microsoft.com/office/drawing/2014/main" id="{BB64987A-A145-46EF-A960-E6672AF40C77}"/>
              </a:ext>
            </a:extLst>
          </p:cNvPr>
          <p:cNvSpPr>
            <a:spLocks xmlns:a="http://schemas.openxmlformats.org/drawingml/2006/main"/>
          </p:cNvSpPr>
          <p:nvPr/>
        </p:nvSpPr>
        <p:spPr>
          <a:xfrm xmlns:a="http://schemas.openxmlformats.org/drawingml/2006/main">
            <a:off x="2171700" y="3568700"/>
            <a:ext cx="876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Routing</a:t>
            </a:r>
          </a:p>
        </p:txBody>
      </p:sp>
      <p:sp>
        <p:nvSpPr>
          <p:cNvPr id="9" name="15-shape-6">
            <a:extLst xmlns:a="http://schemas.openxmlformats.org/drawingml/2006/main">
              <a:ext uri="{FF2B5EF4-FFF2-40B4-BE49-F238E27FC236}">
                <a16:creationId xmlns:a16="http://schemas.microsoft.com/office/drawing/2014/main" id="{9A691852-E1AA-4CC6-B179-9B1814CD2AB4}"/>
              </a:ext>
            </a:extLst>
          </p:cNvPr>
          <p:cNvSpPr>
            <a:spLocks xmlns:a="http://schemas.openxmlformats.org/drawingml/2006/main"/>
          </p:cNvSpPr>
          <p:nvPr/>
        </p:nvSpPr>
        <p:spPr>
          <a:xfrm xmlns:a="http://schemas.openxmlformats.org/drawingml/2006/main">
            <a:off x="3302000" y="3530600"/>
            <a:ext cx="18923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0" name="15-text-7">
            <a:extLst xmlns:a="http://schemas.openxmlformats.org/drawingml/2006/main">
              <a:ext uri="{FF2B5EF4-FFF2-40B4-BE49-F238E27FC236}">
                <a16:creationId xmlns:a16="http://schemas.microsoft.com/office/drawing/2014/main" id="{556420C9-94AC-42E8-85E2-91F4847EF092}"/>
              </a:ext>
            </a:extLst>
          </p:cNvPr>
          <p:cNvSpPr>
            <a:spLocks xmlns:a="http://schemas.openxmlformats.org/drawingml/2006/main"/>
          </p:cNvSpPr>
          <p:nvPr/>
        </p:nvSpPr>
        <p:spPr>
          <a:xfrm xmlns:a="http://schemas.openxmlformats.org/drawingml/2006/main">
            <a:off x="3454400" y="3568700"/>
            <a:ext cx="158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Parallelization</a:t>
            </a:r>
          </a:p>
        </p:txBody>
      </p:sp>
      <p:sp>
        <p:nvSpPr>
          <p:cNvPr id="11" name="15-shape-8">
            <a:extLst xmlns:a="http://schemas.openxmlformats.org/drawingml/2006/main">
              <a:ext uri="{FF2B5EF4-FFF2-40B4-BE49-F238E27FC236}">
                <a16:creationId xmlns:a16="http://schemas.microsoft.com/office/drawing/2014/main" id="{55548324-7E79-435B-A606-D29FFEB47A9B}"/>
              </a:ext>
            </a:extLst>
          </p:cNvPr>
          <p:cNvSpPr>
            <a:spLocks xmlns:a="http://schemas.openxmlformats.org/drawingml/2006/main"/>
          </p:cNvSpPr>
          <p:nvPr/>
        </p:nvSpPr>
        <p:spPr>
          <a:xfrm xmlns:a="http://schemas.openxmlformats.org/drawingml/2006/main">
            <a:off x="5295900" y="3530600"/>
            <a:ext cx="31750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2" name="15-text-9">
            <a:extLst xmlns:a="http://schemas.openxmlformats.org/drawingml/2006/main">
              <a:ext uri="{FF2B5EF4-FFF2-40B4-BE49-F238E27FC236}">
                <a16:creationId xmlns:a16="http://schemas.microsoft.com/office/drawing/2014/main" id="{EF00D208-E316-4D48-8F3D-0C456CF899A0}"/>
              </a:ext>
            </a:extLst>
          </p:cNvPr>
          <p:cNvSpPr>
            <a:spLocks xmlns:a="http://schemas.openxmlformats.org/drawingml/2006/main"/>
          </p:cNvSpPr>
          <p:nvPr/>
        </p:nvSpPr>
        <p:spPr>
          <a:xfrm xmlns:a="http://schemas.openxmlformats.org/drawingml/2006/main">
            <a:off x="5448300" y="3568700"/>
            <a:ext cx="2870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Orchestrator and workers</a:t>
            </a:r>
          </a:p>
        </p:txBody>
      </p:sp>
      <p:sp>
        <p:nvSpPr>
          <p:cNvPr id="13" name="15-shape-10">
            <a:extLst xmlns:a="http://schemas.openxmlformats.org/drawingml/2006/main">
              <a:ext uri="{FF2B5EF4-FFF2-40B4-BE49-F238E27FC236}">
                <a16:creationId xmlns:a16="http://schemas.microsoft.com/office/drawing/2014/main" id="{A91CA24A-67DD-456B-84BF-A32FA93A45AF}"/>
              </a:ext>
            </a:extLst>
          </p:cNvPr>
          <p:cNvSpPr>
            <a:spLocks xmlns:a="http://schemas.openxmlformats.org/drawingml/2006/main"/>
          </p:cNvSpPr>
          <p:nvPr/>
        </p:nvSpPr>
        <p:spPr>
          <a:xfrm xmlns:a="http://schemas.openxmlformats.org/drawingml/2006/main">
            <a:off x="8572500" y="3530600"/>
            <a:ext cx="29845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4" name="15-text-11">
            <a:extLst xmlns:a="http://schemas.openxmlformats.org/drawingml/2006/main">
              <a:ext uri="{FF2B5EF4-FFF2-40B4-BE49-F238E27FC236}">
                <a16:creationId xmlns:a16="http://schemas.microsoft.com/office/drawing/2014/main" id="{328D4A57-8BDC-4F8E-91CC-F6C77A1B82D1}"/>
              </a:ext>
            </a:extLst>
          </p:cNvPr>
          <p:cNvSpPr>
            <a:spLocks xmlns:a="http://schemas.openxmlformats.org/drawingml/2006/main"/>
          </p:cNvSpPr>
          <p:nvPr/>
        </p:nvSpPr>
        <p:spPr>
          <a:xfrm xmlns:a="http://schemas.openxmlformats.org/drawingml/2006/main">
            <a:off x="8724900" y="3568700"/>
            <a:ext cx="2679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Evaluator and optimizer</a:t>
            </a:r>
          </a:p>
        </p:txBody>
      </p:sp>
      <p:sp>
        <p:nvSpPr>
          <p:cNvPr id="15" name="15-text-12">
            <a:extLst xmlns:a="http://schemas.openxmlformats.org/drawingml/2006/main">
              <a:ext uri="{FF2B5EF4-FFF2-40B4-BE49-F238E27FC236}">
                <a16:creationId xmlns:a16="http://schemas.microsoft.com/office/drawing/2014/main" id="{6ED32468-E3AE-4F81-BC3A-06B22DD6DB47}"/>
              </a:ext>
            </a:extLst>
          </p:cNvPr>
          <p:cNvSpPr>
            <a:spLocks xmlns:a="http://schemas.openxmlformats.org/drawingml/2006/main"/>
          </p:cNvSpPr>
          <p:nvPr/>
        </p:nvSpPr>
        <p:spPr>
          <a:xfrm xmlns:a="http://schemas.openxmlformats.org/drawingml/2006/main">
            <a:off x="609600" y="1841500"/>
            <a:ext cx="10972800" cy="1193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loop · Stopping conditions · State and resume · Retries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Escalation as a tool call · Planner-to-worker routing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compaction trigger · Budgets: tokens, actions, latency</a:t>
            </a:r>
          </a:p>
        </p:txBody>
      </p:sp>
      <p:sp>
        <p:nvSpPr>
          <p:cNvPr id="16" name="15-text-13">
            <a:extLst xmlns:a="http://schemas.openxmlformats.org/drawingml/2006/main">
              <a:ext uri="{FF2B5EF4-FFF2-40B4-BE49-F238E27FC236}">
                <a16:creationId xmlns:a16="http://schemas.microsoft.com/office/drawing/2014/main" id="{43B7EEAA-9C51-4C5C-B83A-A6FB72797B37}"/>
              </a:ext>
            </a:extLst>
          </p:cNvPr>
          <p:cNvSpPr>
            <a:spLocks xmlns:a="http://schemas.openxmlformats.org/drawingml/2006/main"/>
          </p:cNvSpPr>
          <p:nvPr/>
        </p:nvSpPr>
        <p:spPr>
          <a:xfrm xmlns:a="http://schemas.openxmlformats.org/drawingml/2006/main">
            <a:off x="609600" y="33274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Own your prompts. Own your context window.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Own your control flow. Contact humans with tool calls.</a:t>
            </a:r>
          </a:p>
        </p:txBody>
      </p:sp>
      <p:sp>
        <p:nvSpPr>
          <p:cNvPr id="17" name="15-text-14">
            <a:extLst xmlns:a="http://schemas.openxmlformats.org/drawingml/2006/main">
              <a:ext uri="{FF2B5EF4-FFF2-40B4-BE49-F238E27FC236}">
                <a16:creationId xmlns:a16="http://schemas.microsoft.com/office/drawing/2014/main" id="{B87D27E9-36D1-47F8-B05A-89CFFA36A001}"/>
              </a:ext>
            </a:extLst>
          </p:cNvPr>
          <p:cNvSpPr>
            <a:spLocks xmlns:a="http://schemas.openxmlformats.org/drawingml/2006/main"/>
          </p:cNvSpPr>
          <p:nvPr/>
        </p:nvSpPr>
        <p:spPr>
          <a:xfrm xmlns:a="http://schemas.openxmlformats.org/drawingml/2006/main">
            <a:off x="609600" y="4191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ADACA9"/>
                </a:solidFill>
                <a:latin typeface="Helvetica"/>
                <a:ea typeface="Helvetica"/>
                <a:cs typeface="Helvetica"/>
              </a:rPr>
              <a:t>12-Factor Agents, Dex Horthy</a:t>
            </a:r>
          </a:p>
        </p:txBody>
      </p:sp>
      <p:sp>
        <p:nvSpPr>
          <p:cNvPr id="18" name="15-text-15">
            <a:extLst xmlns:a="http://schemas.openxmlformats.org/drawingml/2006/main">
              <a:ext uri="{FF2B5EF4-FFF2-40B4-BE49-F238E27FC236}">
                <a16:creationId xmlns:a16="http://schemas.microsoft.com/office/drawing/2014/main" id="{1727158C-E142-4FCB-9083-7D4F0AA03329}"/>
              </a:ext>
            </a:extLst>
          </p:cNvPr>
          <p:cNvSpPr>
            <a:spLocks xmlns:a="http://schemas.openxmlformats.org/drawingml/2006/main"/>
          </p:cNvSpPr>
          <p:nvPr/>
        </p:nvSpPr>
        <p:spPr>
          <a:xfrm xmlns:a="http://schemas.openxmlformats.org/drawingml/2006/main">
            <a:off x="609600" y="4597400"/>
            <a:ext cx="109728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human is waiting. Latency is a product requirement.</a:t>
            </a:r>
          </a:p>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An unbounded loop is an outage.</a:t>
            </a:r>
          </a:p>
        </p:txBody>
      </p:sp>
      <p:sp>
        <p:nvSpPr>
          <p:cNvPr id="19" name="15-shape-16">
            <a:extLst xmlns:a="http://schemas.openxmlformats.org/drawingml/2006/main">
              <a:ext uri="{FF2B5EF4-FFF2-40B4-BE49-F238E27FC236}">
                <a16:creationId xmlns:a16="http://schemas.microsoft.com/office/drawing/2014/main" id="{B448D485-5ADF-404C-B559-759A392807F1}"/>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20" name="15-shape-17">
            <a:extLst xmlns:a="http://schemas.openxmlformats.org/drawingml/2006/main">
              <a:ext uri="{FF2B5EF4-FFF2-40B4-BE49-F238E27FC236}">
                <a16:creationId xmlns:a16="http://schemas.microsoft.com/office/drawing/2014/main" id="{F736323B-5DB6-4194-8265-5474DC96D9A1}"/>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1" name="15-text-18">
            <a:extLst xmlns:a="http://schemas.openxmlformats.org/drawingml/2006/main">
              <a:ext uri="{FF2B5EF4-FFF2-40B4-BE49-F238E27FC236}">
                <a16:creationId xmlns:a16="http://schemas.microsoft.com/office/drawing/2014/main" id="{45DC7991-8082-4A95-A026-700A0D0E5037}"/>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22" name="15-text-19">
            <a:extLst xmlns:a="http://schemas.openxmlformats.org/drawingml/2006/main">
              <a:ext uri="{FF2B5EF4-FFF2-40B4-BE49-F238E27FC236}">
                <a16:creationId xmlns:a16="http://schemas.microsoft.com/office/drawing/2014/main" id="{1D216F97-A07F-4514-98CA-A9BF01FAAD15}"/>
              </a:ext>
            </a:extLst>
          </p:cNvPr>
          <p:cNvSpPr>
            <a:spLocks xmlns:a="http://schemas.openxmlformats.org/drawingml/2006/main"/>
          </p:cNvSpPr>
          <p:nvPr/>
        </p:nvSpPr>
        <p:spPr>
          <a:xfrm xmlns:a="http://schemas.openxmlformats.org/drawingml/2006/main">
            <a:off x="2489200" y="5740400"/>
            <a:ext cx="909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23" name="15-text-20">
            <a:extLst xmlns:a="http://schemas.openxmlformats.org/drawingml/2006/main">
              <a:ext uri="{FF2B5EF4-FFF2-40B4-BE49-F238E27FC236}">
                <a16:creationId xmlns:a16="http://schemas.microsoft.com/office/drawing/2014/main" id="{5C20F566-392D-4CC8-86D9-71D90E68746D}"/>
              </a:ext>
            </a:extLst>
          </p:cNvPr>
          <p:cNvSpPr>
            <a:spLocks xmlns:a="http://schemas.openxmlformats.org/drawingml/2006/main"/>
          </p:cNvSpPr>
          <p:nvPr/>
        </p:nvSpPr>
        <p:spPr>
          <a:xfrm xmlns:a="http://schemas.openxmlformats.org/drawingml/2006/main">
            <a:off x="2489200" y="6172200"/>
            <a:ext cx="9093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Gartner, June 2025: over 40% canceled by end of 2027, "due to escalating</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costs, unclear business value or inadequate risk controls."</a:t>
            </a:r>
          </a:p>
        </p:txBody>
      </p:sp>
    </p:spTree>
    <p:extLst>
      <p:ext uri="{BB962C8B-B14F-4D97-AF65-F5344CB8AC3E}">
        <p14:creationId xmlns:p14="http://schemas.microsoft.com/office/powerpoint/2010/main" val="150582313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200" fill="hold"/>
                                        <p:tgtEl>
                                          <p:spTgt spid="5"/>
                                        </p:tgtEl>
                                      </p:cBhvr>
                                    </p:animEffect>
                                  </p:childTnLst>
                                </p:cTn>
                              </p:par>
                              <p:par>
                                <p:cTn id="10" presetID="10"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00" fill="hold"/>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200" fill="hold"/>
                                        <p:tgtEl>
                                          <p:spTgt spid="7"/>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200" fill="hold"/>
                                        <p:tgtEl>
                                          <p:spTgt spid="8"/>
                                        </p:tgtEl>
                                      </p:cBhvr>
                                    </p:animEffect>
                                  </p:childTnLst>
                                </p:cTn>
                              </p:par>
                              <p:par>
                                <p:cTn id="19" presetID="10"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200" fill="hold"/>
                                        <p:tgtEl>
                                          <p:spTgt spid="9"/>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200" fill="hold"/>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200" fill="hold"/>
                                        <p:tgtEl>
                                          <p:spTgt spid="11"/>
                                        </p:tgtEl>
                                      </p:cBhvr>
                                    </p:animEffec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200" fill="hold"/>
                                        <p:tgtEl>
                                          <p:spTgt spid="12"/>
                                        </p:tgtEl>
                                      </p:cBhvr>
                                    </p:animEffect>
                                  </p:childTnLst>
                                </p:cTn>
                              </p:par>
                              <p:par>
                                <p:cTn id="31" presetID="10"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200" fill="hold"/>
                                        <p:tgtEl>
                                          <p:spTgt spid="13"/>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200" fill="hold"/>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27"/>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5"/>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6"/>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7"/>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8"/>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9"/>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10"/>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11"/>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12"/>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13"/>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14"/>
                                        </p:tgtEl>
                                        <p:attrNameLst>
                                          <p:attrName>style.visibility</p:attrName>
                                        </p:attrNameLst>
                                      </p:cBhvr>
                                      <p:to>
                                        <p:strVal val="hidden"/>
                                      </p:to>
                                    </p:set>
                                  </p:childTnLst>
                                </p:cTn>
                              </p:par>
                              <p:par>
                                <p:cTn id="61" presetID="1" presetClass="entr" presetSubtype="0" fill="hold" nodeType="withEffect">
                                  <p:stCondLst>
                                    <p:cond delay="0"/>
                                  </p:stCondLst>
                                  <p:childTnLst>
                                    <p:set>
                                      <p:cBhvr>
                                        <p:cTn id="62" dur="1" fill="hold">
                                          <p:stCondLst>
                                            <p:cond delay="0"/>
                                          </p:stCondLst>
                                        </p:cTn>
                                        <p:tgtEl>
                                          <p:spTgt spid="15"/>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300" fill="hold"/>
                                        <p:tgtEl>
                                          <p:spTgt spid="19"/>
                                        </p:tgtEl>
                                      </p:cBhvr>
                                    </p:animEffect>
                                  </p:childTnLst>
                                </p:cTn>
                              </p:par>
                              <p:par>
                                <p:cTn id="76" presetID="10" presetClass="entr" presetSubtype="0" fill="hold" nodeType="with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300" fill="hold"/>
                                        <p:tgtEl>
                                          <p:spTgt spid="20"/>
                                        </p:tgtEl>
                                      </p:cBhvr>
                                    </p:animEffect>
                                  </p:childTnLst>
                                </p:cTn>
                              </p:par>
                              <p:par>
                                <p:cTn id="79" presetID="10" presetClass="entr" presetSubtype="0" fill="hold" nodeType="withEffect">
                                  <p:stCondLst>
                                    <p:cond delay="0"/>
                                  </p:stCondLst>
                                  <p:childTnLst>
                                    <p:set>
                                      <p:cBhvr>
                                        <p:cTn id="80" dur="1" fill="hold">
                                          <p:stCondLst>
                                            <p:cond delay="0"/>
                                          </p:stCondLst>
                                        </p:cTn>
                                        <p:tgtEl>
                                          <p:spTgt spid="21"/>
                                        </p:tgtEl>
                                        <p:attrNameLst>
                                          <p:attrName>style.visibility</p:attrName>
                                        </p:attrNameLst>
                                      </p:cBhvr>
                                      <p:to>
                                        <p:strVal val="visible"/>
                                      </p:to>
                                    </p:set>
                                    <p:animEffect transition="in" filter="fade">
                                      <p:cBhvr>
                                        <p:cTn id="81" dur="300" fill="hold"/>
                                        <p:tgtEl>
                                          <p:spTgt spid="21"/>
                                        </p:tgtEl>
                                      </p:cBhvr>
                                    </p:animEffect>
                                  </p:childTnLst>
                                </p:cTn>
                              </p:par>
                              <p:par>
                                <p:cTn id="82" presetID="10" presetClass="entr" presetSubtype="0" fill="hold" nodeType="withEffect">
                                  <p:stCondLst>
                                    <p:cond delay="0"/>
                                  </p:stCondLst>
                                  <p:childTnLst>
                                    <p:set>
                                      <p:cBhvr>
                                        <p:cTn id="83" dur="1" fill="hold">
                                          <p:stCondLst>
                                            <p:cond delay="0"/>
                                          </p:stCondLst>
                                        </p:cTn>
                                        <p:tgtEl>
                                          <p:spTgt spid="22"/>
                                        </p:tgtEl>
                                        <p:attrNameLst>
                                          <p:attrName>style.visibility</p:attrName>
                                        </p:attrNameLst>
                                      </p:cBhvr>
                                      <p:to>
                                        <p:strVal val="visible"/>
                                      </p:to>
                                    </p:set>
                                    <p:animEffect transition="in" filter="fade">
                                      <p:cBhvr>
                                        <p:cTn id="84" dur="300" fill="hold"/>
                                        <p:tgtEl>
                                          <p:spTgt spid="22"/>
                                        </p:tgtEl>
                                      </p:cBhvr>
                                    </p:animEffect>
                                  </p:childTnLst>
                                </p:cTn>
                              </p:par>
                              <p:par>
                                <p:cTn id="85" presetID="1" presetClass="entr" presetSubtype="0" fill="hold" nodeType="withEffect">
                                  <p:stCondLst>
                                    <p:cond delay="0"/>
                                  </p:stCondLst>
                                  <p:childTnLst>
                                    <p:set>
                                      <p:cBhvr>
                                        <p:cTn id="8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 name="!!area-header">
            <a:extLst xmlns:a="http://schemas.openxmlformats.org/drawingml/2006/main">
              <a:ext uri="{FF2B5EF4-FFF2-40B4-BE49-F238E27FC236}">
                <a16:creationId xmlns:a16="http://schemas.microsoft.com/office/drawing/2014/main" id="{19A8083D-130C-40DD-B6DD-4CEF7BC6F732}"/>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2" name="!!area-name">
            <a:extLst xmlns:a="http://schemas.openxmlformats.org/drawingml/2006/main">
              <a:ext uri="{FF2B5EF4-FFF2-40B4-BE49-F238E27FC236}">
                <a16:creationId xmlns:a16="http://schemas.microsoft.com/office/drawing/2014/main" id="{F831DF0B-EF4C-46C1-B19A-5FD96BB1625F}"/>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Verification and evals</a:t>
            </a:r>
          </a:p>
        </p:txBody>
      </p:sp>
      <p:sp>
        <p:nvSpPr>
          <p:cNvPr id="3" name="!!area-beat">
            <a:extLst xmlns:a="http://schemas.openxmlformats.org/drawingml/2006/main">
              <a:ext uri="{FF2B5EF4-FFF2-40B4-BE49-F238E27FC236}">
                <a16:creationId xmlns:a16="http://schemas.microsoft.com/office/drawing/2014/main" id="{B3B16AF9-2B02-4DD0-B3B5-F8614624BB72}"/>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What you touched</a:t>
            </a:r>
          </a:p>
        </p:txBody>
      </p:sp>
      <p:sp>
        <p:nvSpPr>
          <p:cNvPr id="4" name="16-text-1">
            <a:extLst xmlns:a="http://schemas.openxmlformats.org/drawingml/2006/main">
              <a:ext uri="{FF2B5EF4-FFF2-40B4-BE49-F238E27FC236}">
                <a16:creationId xmlns:a16="http://schemas.microsoft.com/office/drawing/2014/main" id="{A0E5D48F-568E-4ACF-BC12-CA58AECF5ECF}"/>
              </a:ext>
            </a:extLst>
          </p:cNvPr>
          <p:cNvSpPr>
            <a:spLocks xmlns:a="http://schemas.openxmlformats.org/drawingml/2006/main"/>
          </p:cNvSpPr>
          <p:nvPr/>
        </p:nvSpPr>
        <p:spPr>
          <a:xfrm xmlns:a="http://schemas.openxmlformats.org/drawingml/2006/main">
            <a:off x="6096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write</a:t>
            </a:r>
          </a:p>
        </p:txBody>
      </p:sp>
      <p:sp>
        <p:nvSpPr>
          <p:cNvPr id="5" name="16-text-2">
            <a:extLst xmlns:a="http://schemas.openxmlformats.org/drawingml/2006/main">
              <a:ext uri="{FF2B5EF4-FFF2-40B4-BE49-F238E27FC236}">
                <a16:creationId xmlns:a16="http://schemas.microsoft.com/office/drawing/2014/main" id="{6B38D87E-4462-41C0-A48C-0CADFF394220}"/>
              </a:ext>
            </a:extLst>
          </p:cNvPr>
          <p:cNvSpPr>
            <a:spLocks xmlns:a="http://schemas.openxmlformats.org/drawingml/2006/main"/>
          </p:cNvSpPr>
          <p:nvPr/>
        </p:nvSpPr>
        <p:spPr>
          <a:xfrm xmlns:a="http://schemas.openxmlformats.org/drawingml/2006/main">
            <a:off x="34290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a:t>
            </a:r>
          </a:p>
        </p:txBody>
      </p:sp>
      <p:sp>
        <p:nvSpPr>
          <p:cNvPr id="6" name="16-text-3">
            <a:extLst xmlns:a="http://schemas.openxmlformats.org/drawingml/2006/main">
              <a:ext uri="{FF2B5EF4-FFF2-40B4-BE49-F238E27FC236}">
                <a16:creationId xmlns:a16="http://schemas.microsoft.com/office/drawing/2014/main" id="{AE2C6DD0-38F8-45CA-9BC7-5225CB428783}"/>
              </a:ext>
            </a:extLst>
          </p:cNvPr>
          <p:cNvSpPr>
            <a:spLocks xmlns:a="http://schemas.openxmlformats.org/drawingml/2006/main"/>
          </p:cNvSpPr>
          <p:nvPr/>
        </p:nvSpPr>
        <p:spPr>
          <a:xfrm xmlns:a="http://schemas.openxmlformats.org/drawingml/2006/main">
            <a:off x="62484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read the failure</a:t>
            </a:r>
          </a:p>
        </p:txBody>
      </p:sp>
      <p:sp>
        <p:nvSpPr>
          <p:cNvPr id="7" name="16-text-4">
            <a:extLst xmlns:a="http://schemas.openxmlformats.org/drawingml/2006/main">
              <a:ext uri="{FF2B5EF4-FFF2-40B4-BE49-F238E27FC236}">
                <a16:creationId xmlns:a16="http://schemas.microsoft.com/office/drawing/2014/main" id="{6931B01E-4B55-470D-BDAC-7899BF5D8470}"/>
              </a:ext>
            </a:extLst>
          </p:cNvPr>
          <p:cNvSpPr>
            <a:spLocks xmlns:a="http://schemas.openxmlformats.org/drawingml/2006/main"/>
          </p:cNvSpPr>
          <p:nvPr/>
        </p:nvSpPr>
        <p:spPr>
          <a:xfrm xmlns:a="http://schemas.openxmlformats.org/drawingml/2006/main">
            <a:off x="90678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retry</a:t>
            </a:r>
          </a:p>
        </p:txBody>
      </p:sp>
      <p:sp>
        <p:nvSpPr>
          <p:cNvPr id="8" name="16-line-6">
            <a:extLst xmlns:a="http://schemas.openxmlformats.org/drawingml/2006/main">
              <a:ext uri="{FF2B5EF4-FFF2-40B4-BE49-F238E27FC236}">
                <a16:creationId xmlns:a16="http://schemas.microsoft.com/office/drawing/2014/main" id="{7BB632AB-9DE6-4CC0-B473-7F45983F0579}"/>
              </a:ext>
            </a:extLst>
          </p:cNvPr>
          <p:cNvSpPr>
            <a:spLocks xmlns:a="http://schemas.openxmlformats.org/drawingml/2006/main"/>
          </p:cNvSpPr>
          <p:nvPr/>
        </p:nvSpPr>
        <p:spPr>
          <a:xfrm xmlns:a="http://schemas.openxmlformats.org/drawingml/2006/main" flipH="0" flipV="0">
            <a:off x="27305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9" name="16-line-8">
            <a:extLst xmlns:a="http://schemas.openxmlformats.org/drawingml/2006/main">
              <a:ext uri="{FF2B5EF4-FFF2-40B4-BE49-F238E27FC236}">
                <a16:creationId xmlns:a16="http://schemas.microsoft.com/office/drawing/2014/main" id="{969DAC81-A4B0-49BA-875F-129CC844B26F}"/>
              </a:ext>
            </a:extLst>
          </p:cNvPr>
          <p:cNvSpPr>
            <a:spLocks xmlns:a="http://schemas.openxmlformats.org/drawingml/2006/main"/>
          </p:cNvSpPr>
          <p:nvPr/>
        </p:nvSpPr>
        <p:spPr>
          <a:xfrm xmlns:a="http://schemas.openxmlformats.org/drawingml/2006/main" flipH="0" flipV="0">
            <a:off x="55499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0" name="16-line-10">
            <a:extLst xmlns:a="http://schemas.openxmlformats.org/drawingml/2006/main">
              <a:ext uri="{FF2B5EF4-FFF2-40B4-BE49-F238E27FC236}">
                <a16:creationId xmlns:a16="http://schemas.microsoft.com/office/drawing/2014/main" id="{0DEBC1A7-D74B-4672-BB1E-2E1EC78889E1}"/>
              </a:ext>
            </a:extLst>
          </p:cNvPr>
          <p:cNvSpPr>
            <a:spLocks xmlns:a="http://schemas.openxmlformats.org/drawingml/2006/main"/>
          </p:cNvSpPr>
          <p:nvPr/>
        </p:nvSpPr>
        <p:spPr>
          <a:xfrm xmlns:a="http://schemas.openxmlformats.org/drawingml/2006/main" flipH="0" flipV="0">
            <a:off x="83693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 name="16-text-11">
            <a:extLst xmlns:a="http://schemas.openxmlformats.org/drawingml/2006/main">
              <a:ext uri="{FF2B5EF4-FFF2-40B4-BE49-F238E27FC236}">
                <a16:creationId xmlns:a16="http://schemas.microsoft.com/office/drawing/2014/main" id="{C10EF5F5-7D3F-4DD1-9993-E6C203F2D9B9}"/>
              </a:ext>
            </a:extLst>
          </p:cNvPr>
          <p:cNvSpPr>
            <a:spLocks xmlns:a="http://schemas.openxmlformats.org/drawingml/2006/main"/>
          </p:cNvSpPr>
          <p:nvPr/>
        </p:nvSpPr>
        <p:spPr>
          <a:xfrm xmlns:a="http://schemas.openxmlformats.org/drawingml/2006/main">
            <a:off x="609600" y="3581400"/>
            <a:ext cx="10972800" cy="20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"LLMs are quite happy to say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'all tests green', yet when I run them,</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there are failures."</a:t>
            </a:r>
          </a:p>
        </p:txBody>
      </p:sp>
      <p:sp>
        <p:nvSpPr>
          <p:cNvPr id="12" name="16-text-12">
            <a:extLst xmlns:a="http://schemas.openxmlformats.org/drawingml/2006/main">
              <a:ext uri="{FF2B5EF4-FFF2-40B4-BE49-F238E27FC236}">
                <a16:creationId xmlns:a16="http://schemas.microsoft.com/office/drawing/2014/main" id="{EF3D285E-2AF3-4190-A91C-E11AD3A91B0A}"/>
              </a:ext>
            </a:extLst>
          </p:cNvPr>
          <p:cNvSpPr>
            <a:spLocks xmlns:a="http://schemas.openxmlformats.org/drawingml/2006/main"/>
          </p:cNvSpPr>
          <p:nvPr/>
        </p:nvSpPr>
        <p:spPr>
          <a:xfrm xmlns:a="http://schemas.openxmlformats.org/drawingml/2006/main">
            <a:off x="609600" y="5765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ADACA9"/>
                </a:solidFill>
                <a:latin typeface="Helvetica"/>
                <a:ea typeface="Helvetica"/>
                <a:cs typeface="Helvetica"/>
              </a:rPr>
              <a:t>Martin Fowler, August 2025</a:t>
            </a:r>
          </a:p>
        </p:txBody>
      </p:sp>
    </p:spTree>
    <p:extLst>
      <p:ext uri="{BB962C8B-B14F-4D97-AF65-F5344CB8AC3E}">
        <p14:creationId xmlns:p14="http://schemas.microsoft.com/office/powerpoint/2010/main" val="919972609"/>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 name="!!area-name">
            <a:extLst xmlns:a="http://schemas.openxmlformats.org/drawingml/2006/main">
              <a:ext uri="{FF2B5EF4-FFF2-40B4-BE49-F238E27FC236}">
                <a16:creationId xmlns:a16="http://schemas.microsoft.com/office/drawing/2014/main" id="{9B4AD9DA-4918-4B28-A0ED-18954046BD6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What you touched</a:t>
            </a:r>
          </a:p>
        </p:txBody>
      </p:sp>
      <p:pic>
        <p:nvPicPr>
          <p:cNvPr id="17" name="mini-map"/>
          <p:cNvPicPr>
            <a:picLocks xmlns:a="http://schemas.openxmlformats.org/drawingml/2006/main" noChangeAspect="1"/>
          </p:cNvPicPr>
          <p:nvPr/>
        </p:nvPicPr>
        <p:blipFill>
          <a:blip xmlns:r="http://schemas.openxmlformats.org/officeDocument/2006/relationships" xmlns:a="http://schemas.openxmlformats.org/drawingml/2006/main" r:embed="R9429acdede7a493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16b-text-1">
            <a:extLst xmlns:a="http://schemas.openxmlformats.org/drawingml/2006/main">
              <a:ext uri="{FF2B5EF4-FFF2-40B4-BE49-F238E27FC236}">
                <a16:creationId xmlns:a16="http://schemas.microsoft.com/office/drawing/2014/main" id="{04EA0DD7-9A6D-43DA-AF86-41B3937D9D74}"/>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graphicFrame>
        <p:nvGraphicFramePr>
          <p:cNvPr id="19" name="16b-table-2"/>
          <p:cNvGraphicFramePr/>
          <p:nvPr/>
        </p:nvGraphicFramePr>
        <p:xfrm>
          <a:off xmlns:a="http://schemas.openxmlformats.org/drawingml/2006/main" x="609600" y="1676400"/>
          <a:ext xmlns:a="http://schemas.openxmlformats.org/drawingml/2006/main" cx="10972800" cy="32639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01B66D"/>
                          </a:solidFill>
                          <a:latin typeface="Helvetica"/>
                          <a:ea typeface="Helvetica"/>
                          <a:cs typeface="Helvetica"/>
                        </a:rPr>
                        <a:t>Verification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Evaluation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Is this one output or action correct?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Is the behavior correct across</a:t>
                      </a:r>
                    </a:p>
                    <a:p>
                      <a:pPr>
                        <a:lnSpc>
                          <a:spcPct val="125000"/>
                        </a:lnSpc>
                        <a:buNone/>
                      </a:pPr>
                      <a:r>
                        <a:rPr sz="2000" b="0">
                          <a:solidFill>
                            <a:srgbClr val="FFFCF5"/>
                          </a:solidFill>
                          <a:latin typeface="Helvetica"/>
                          <a:ea typeface="Helvetica"/>
                          <a:cs typeface="Helvetica"/>
                        </a:rPr>
                        <a:t>a population of runs?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73100">
                <a:tc>
                  <a:txBody>
                    <a:bodyPr>
                      <a:noAutofit/>
                    </a:bodyPr>
                    <a:lstStyle/>
                    <a:p>
                      <a:pPr>
                        <a:lnSpc>
                          <a:spcPct val="125000"/>
                        </a:lnSpc>
                        <a:buNone/>
                      </a:pPr>
                      <a:r>
                        <a:rPr sz="2000" b="0">
                          <a:solidFill>
                            <a:srgbClr val="FFFCF5"/>
                          </a:solidFill>
                          <a:latin typeface="Helvetica"/>
                          <a:ea typeface="Helvetica"/>
                          <a:cs typeface="Helvetica"/>
                        </a:rPr>
                        <a:t>Inside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Outside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16000">
                <a:tc>
                  <a:txBody>
                    <a:bodyPr>
                      <a:noAutofit/>
                    </a:bodyPr>
                    <a:lstStyle/>
                    <a:p>
                      <a:pPr>
                        <a:lnSpc>
                          <a:spcPct val="125000"/>
                        </a:lnSpc>
                        <a:buNone/>
                      </a:pPr>
                      <a:r>
                        <a:rPr sz="2000" b="0">
                          <a:solidFill>
                            <a:srgbClr val="FFFCF5"/>
                          </a:solidFill>
                          <a:latin typeface="Helvetica"/>
                          <a:ea typeface="Helvetica"/>
                          <a:cs typeface="Helvetica"/>
                        </a:rPr>
                        <a:t>Lint. Screenshot.</a:t>
                      </a:r>
                    </a:p>
                    <a:p>
                      <a:pPr>
                        <a:lnSpc>
                          <a:spcPct val="125000"/>
                        </a:lnSpc>
                        <a:buNone/>
                      </a:pPr>
                      <a:r>
                        <a:rPr sz="2000" b="0">
                          <a:solidFill>
                            <a:srgbClr val="FFFCF5"/>
                          </a:solidFill>
                          <a:latin typeface="Helvetica"/>
                          <a:ea typeface="Helvetica"/>
                          <a:cs typeface="Helvetica"/>
                        </a:rPr>
                        <a:t>A judge for fuzzy rules.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Task. Trial. Grader. Suite.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 name="16b-text-3">
            <a:extLst xmlns:a="http://schemas.openxmlformats.org/drawingml/2006/main">
              <a:ext uri="{FF2B5EF4-FFF2-40B4-BE49-F238E27FC236}">
                <a16:creationId xmlns:a16="http://schemas.microsoft.com/office/drawing/2014/main" id="{A45433D6-591F-480E-B9FF-E547FB0624CF}"/>
              </a:ext>
            </a:extLst>
          </p:cNvPr>
          <p:cNvSpPr>
            <a:spLocks xmlns:a="http://schemas.openxmlformats.org/drawingml/2006/main"/>
          </p:cNvSpPr>
          <p:nvPr/>
        </p:nvSpPr>
        <p:spPr>
          <a:xfrm xmlns:a="http://schemas.openxmlformats.org/drawingml/2006/main">
            <a:off x="6248400" y="5105400"/>
            <a:ext cx="53340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Graders: code (fast, brittle) ·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(flexible, needs calibration) · human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(gold standard, slow)</a:t>
            </a:r>
          </a:p>
        </p:txBody>
      </p:sp>
      <p:sp>
        <p:nvSpPr>
          <p:cNvPr id="6" name="16b-text-4">
            <a:extLst xmlns:a="http://schemas.openxmlformats.org/drawingml/2006/main">
              <a:ext uri="{FF2B5EF4-FFF2-40B4-BE49-F238E27FC236}">
                <a16:creationId xmlns:a16="http://schemas.microsoft.com/office/drawing/2014/main" id="{1ACBF8D6-51AC-462A-B1DA-71BF64D0BA4E}"/>
              </a:ext>
            </a:extLst>
          </p:cNvPr>
          <p:cNvSpPr>
            <a:spLocks xmlns:a="http://schemas.openxmlformats.org/drawingml/2006/main"/>
          </p:cNvSpPr>
          <p:nvPr/>
        </p:nvSpPr>
        <p:spPr>
          <a:xfrm xmlns:a="http://schemas.openxmlformats.org/drawingml/2006/main">
            <a:off x="609600" y="2260600"/>
            <a:ext cx="10972800" cy="142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Grade the outcome,</a:t>
            </a:r>
          </a:p>
          <a:p xmlns:a="http://schemas.openxmlformats.org/drawingml/2006/main">
            <a:pPr algn="l">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not the transcript.</a:t>
            </a:r>
          </a:p>
        </p:txBody>
      </p:sp>
      <p:sp>
        <p:nvSpPr>
          <p:cNvPr id="7" name="16b-text-5">
            <a:extLst xmlns:a="http://schemas.openxmlformats.org/drawingml/2006/main">
              <a:ext uri="{FF2B5EF4-FFF2-40B4-BE49-F238E27FC236}">
                <a16:creationId xmlns:a16="http://schemas.microsoft.com/office/drawing/2014/main" id="{03115609-0CB3-4435-8FE6-B7DE6BFE53AA}"/>
              </a:ext>
            </a:extLst>
          </p:cNvPr>
          <p:cNvSpPr>
            <a:spLocks xmlns:a="http://schemas.openxmlformats.org/drawingml/2006/main"/>
          </p:cNvSpPr>
          <p:nvPr/>
        </p:nvSpPr>
        <p:spPr>
          <a:xfrm xmlns:a="http://schemas.openxmlformats.org/drawingml/2006/main">
            <a:off x="609600" y="42418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"Your flight has been booked" is a sentence.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reservation row is an outcome.</a:t>
            </a:r>
          </a:p>
        </p:txBody>
      </p:sp>
      <p:sp>
        <p:nvSpPr>
          <p:cNvPr id="8" name="16b-text-6">
            <a:extLst xmlns:a="http://schemas.openxmlformats.org/drawingml/2006/main">
              <a:ext uri="{FF2B5EF4-FFF2-40B4-BE49-F238E27FC236}">
                <a16:creationId xmlns:a16="http://schemas.microsoft.com/office/drawing/2014/main" id="{24EBC90F-973B-4562-B465-419DF83CE5D8}"/>
              </a:ext>
            </a:extLst>
          </p:cNvPr>
          <p:cNvSpPr>
            <a:spLocks xmlns:a="http://schemas.openxmlformats.org/drawingml/2006/main"/>
          </p:cNvSpPr>
          <p:nvPr/>
        </p:nvSpPr>
        <p:spPr>
          <a:xfrm xmlns:a="http://schemas.openxmlformats.org/drawingml/2006/main">
            <a:off x="609600" y="22733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9" name="16b-text-7">
            <a:extLst xmlns:a="http://schemas.openxmlformats.org/drawingml/2006/main">
              <a:ext uri="{FF2B5EF4-FFF2-40B4-BE49-F238E27FC236}">
                <a16:creationId xmlns:a16="http://schemas.microsoft.com/office/drawing/2014/main" id="{C2E9EC8D-CC2C-4AD0-AC45-AF05426538DA}"/>
              </a:ext>
            </a:extLst>
          </p:cNvPr>
          <p:cNvSpPr>
            <a:spLocks xmlns:a="http://schemas.openxmlformats.org/drawingml/2006/main"/>
          </p:cNvSpPr>
          <p:nvPr/>
        </p:nvSpPr>
        <p:spPr>
          <a:xfrm xmlns:a="http://schemas.openxmlformats.org/drawingml/2006/main">
            <a:off x="4064000" y="24003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at least one of k trials succeeds.</a:t>
            </a:r>
          </a:p>
        </p:txBody>
      </p:sp>
      <p:sp>
        <p:nvSpPr>
          <p:cNvPr id="10" name="16b-text-8">
            <a:extLst xmlns:a="http://schemas.openxmlformats.org/drawingml/2006/main">
              <a:ext uri="{FF2B5EF4-FFF2-40B4-BE49-F238E27FC236}">
                <a16:creationId xmlns:a16="http://schemas.microsoft.com/office/drawing/2014/main" id="{D0199C9C-5E6A-4813-BFED-58956B1A95C6}"/>
              </a:ext>
            </a:extLst>
          </p:cNvPr>
          <p:cNvSpPr>
            <a:spLocks xmlns:a="http://schemas.openxmlformats.org/drawingml/2006/main"/>
          </p:cNvSpPr>
          <p:nvPr/>
        </p:nvSpPr>
        <p:spPr>
          <a:xfrm xmlns:a="http://schemas.openxmlformats.org/drawingml/2006/main">
            <a:off x="609600" y="35687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11" name="16b-text-9">
            <a:extLst xmlns:a="http://schemas.openxmlformats.org/drawingml/2006/main">
              <a:ext uri="{FF2B5EF4-FFF2-40B4-BE49-F238E27FC236}">
                <a16:creationId xmlns:a16="http://schemas.microsoft.com/office/drawing/2014/main" id="{18513259-C5C9-484B-8453-F878CAFAA781}"/>
              </a:ext>
            </a:extLst>
          </p:cNvPr>
          <p:cNvSpPr>
            <a:spLocks xmlns:a="http://schemas.openxmlformats.org/drawingml/2006/main"/>
          </p:cNvSpPr>
          <p:nvPr/>
        </p:nvSpPr>
        <p:spPr>
          <a:xfrm xmlns:a="http://schemas.openxmlformats.org/drawingml/2006/main">
            <a:off x="4064000" y="36957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all k trials succeed.</a:t>
            </a:r>
          </a:p>
        </p:txBody>
      </p:sp>
      <p:sp>
        <p:nvSpPr>
          <p:cNvPr id="12" name="16b-text-10">
            <a:extLst xmlns:a="http://schemas.openxmlformats.org/drawingml/2006/main">
              <a:ext uri="{FF2B5EF4-FFF2-40B4-BE49-F238E27FC236}">
                <a16:creationId xmlns:a16="http://schemas.microsoft.com/office/drawing/2014/main" id="{E0758C44-E221-47E2-9EB7-FAD930802F45}"/>
              </a:ext>
            </a:extLst>
          </p:cNvPr>
          <p:cNvSpPr>
            <a:spLocks xmlns:a="http://schemas.openxmlformats.org/drawingml/2006/main"/>
          </p:cNvSpPr>
          <p:nvPr/>
        </p:nvSpPr>
        <p:spPr>
          <a:xfrm xmlns:a="http://schemas.openxmlformats.org/drawingml/2006/main">
            <a:off x="609600" y="5168900"/>
            <a:ext cx="109728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Identical at k = 1. Opposite stories at k = 10.</a:t>
            </a:r>
          </a:p>
        </p:txBody>
      </p:sp>
      <p:sp>
        <p:nvSpPr>
          <p:cNvPr id="13" name="16b-text-11">
            <a:extLst xmlns:a="http://schemas.openxmlformats.org/drawingml/2006/main">
              <a:ext uri="{FF2B5EF4-FFF2-40B4-BE49-F238E27FC236}">
                <a16:creationId xmlns:a16="http://schemas.microsoft.com/office/drawing/2014/main" id="{47F16DEE-2215-452A-ABB4-D4E75384E76B}"/>
              </a:ext>
            </a:extLst>
          </p:cNvPr>
          <p:cNvSpPr>
            <a:spLocks xmlns:a="http://schemas.openxmlformats.org/drawingml/2006/main"/>
          </p:cNvSpPr>
          <p:nvPr/>
        </p:nvSpPr>
        <p:spPr>
          <a:xfrm xmlns:a="http://schemas.openxmlformats.org/drawingml/2006/main">
            <a:off x="609600" y="20066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Start with </a:t>
            </a:r>
            <a:r>
              <a:rPr b="1">
                <a:solidFill>
                  <a:srgbClr val="FFFCF5"/>
                </a:solidFill>
                <a:latin typeface="Helvetica"/>
                <a:ea typeface="Helvetica"/>
                <a:cs typeface="Helvetica"/>
              </a:rPr>
              <a:t>20 to 50 tasks</a:t>
            </a:r>
            <a:r>
              <a:rPr b="0">
                <a:solidFill>
                  <a:srgbClr val="FFFCF5"/>
                </a:solidFill>
                <a:latin typeface="Helvetica"/>
                <a:ea typeface="Helvetica"/>
                <a:cs typeface="Helvetica"/>
              </a:rPr>
              <a:t> drawn from real failures.</a:t>
            </a:r>
          </a:p>
        </p:txBody>
      </p:sp>
      <p:sp>
        <p:nvSpPr>
          <p:cNvPr id="14" name="16b-text-12">
            <a:extLst xmlns:a="http://schemas.openxmlformats.org/drawingml/2006/main">
              <a:ext uri="{FF2B5EF4-FFF2-40B4-BE49-F238E27FC236}">
                <a16:creationId xmlns:a16="http://schemas.microsoft.com/office/drawing/2014/main" id="{A597AFE6-BDC6-4526-BF76-5B6AE4999641}"/>
              </a:ext>
            </a:extLst>
          </p:cNvPr>
          <p:cNvSpPr>
            <a:spLocks xmlns:a="http://schemas.openxmlformats.org/drawingml/2006/main"/>
          </p:cNvSpPr>
          <p:nvPr/>
        </p:nvSpPr>
        <p:spPr>
          <a:xfrm xmlns:a="http://schemas.openxmlformats.org/drawingml/2006/main">
            <a:off x="609600" y="32766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Error analysis is </a:t>
            </a:r>
            <a:r>
              <a:rPr b="1">
                <a:solidFill>
                  <a:srgbClr val="FFFCF5"/>
                </a:solidFill>
                <a:latin typeface="Helvetica"/>
                <a:ea typeface="Helvetica"/>
                <a:cs typeface="Helvetica"/>
              </a:rPr>
              <a:t>60 to 80%</a:t>
            </a:r>
            <a:r>
              <a:rPr b="0">
                <a:solidFill>
                  <a:srgbClr val="FFFCF5"/>
                </a:solidFill>
                <a:latin typeface="Helvetica"/>
                <a:ea typeface="Helvetica"/>
                <a:cs typeface="Helvetica"/>
              </a:rPr>
              <a:t> of the time.</a:t>
            </a:r>
          </a:p>
        </p:txBody>
      </p:sp>
      <p:sp>
        <p:nvSpPr>
          <p:cNvPr id="15" name="16b-text-13">
            <a:extLst xmlns:a="http://schemas.openxmlformats.org/drawingml/2006/main">
              <a:ext uri="{FF2B5EF4-FFF2-40B4-BE49-F238E27FC236}">
                <a16:creationId xmlns:a16="http://schemas.microsoft.com/office/drawing/2014/main" id="{3B0896D2-E437-4E2A-B900-4945512578FA}"/>
              </a:ext>
            </a:extLst>
          </p:cNvPr>
          <p:cNvSpPr>
            <a:spLocks xmlns:a="http://schemas.openxmlformats.org/drawingml/2006/main"/>
          </p:cNvSpPr>
          <p:nvPr/>
        </p:nvSpPr>
        <p:spPr>
          <a:xfrm xmlns:a="http://schemas.openxmlformats.org/drawingml/2006/main">
            <a:off x="609600" y="45466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A </a:t>
            </a:r>
            <a:r>
              <a:rPr b="1">
                <a:solidFill>
                  <a:srgbClr val="FFFCF5"/>
                </a:solidFill>
                <a:latin typeface="Helvetica"/>
                <a:ea typeface="Helvetica"/>
                <a:cs typeface="Helvetica"/>
              </a:rPr>
              <a:t>0% pass rate</a:t>
            </a:r>
            <a:r>
              <a:rPr b="0">
                <a:solidFill>
                  <a:srgbClr val="FFFCF5"/>
                </a:solidFill>
                <a:latin typeface="Helvetica"/>
                <a:ea typeface="Helvetica"/>
                <a:cs typeface="Helvetica"/>
              </a:rPr>
              <a:t> with a frontier model</a:t>
            </a:r>
          </a:p>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is usually a broken task.</a:t>
            </a:r>
          </a:p>
        </p:txBody>
      </p:sp>
    </p:spTree>
    <p:extLst>
      <p:ext uri="{BB962C8B-B14F-4D97-AF65-F5344CB8AC3E}">
        <p14:creationId xmlns:p14="http://schemas.microsoft.com/office/powerpoint/2010/main" val="1690667542"/>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9"/>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5"/>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6"/>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7"/>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0"/>
                                          </p:stCondLst>
                                        </p:cTn>
                                        <p:tgtEl>
                                          <p:spTgt spid="8"/>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9"/>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10"/>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11"/>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12"/>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 name="!!area-name">
            <a:extLst xmlns:a="http://schemas.openxmlformats.org/drawingml/2006/main">
              <a:ext uri="{FF2B5EF4-FFF2-40B4-BE49-F238E27FC236}">
                <a16:creationId xmlns:a16="http://schemas.microsoft.com/office/drawing/2014/main" id="{CCE6E308-63A3-4660-9A25-7437F38416F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it's your agent</a:t>
            </a:r>
          </a:p>
        </p:txBody>
      </p:sp>
      <p:pic>
        <p:nvPicPr>
          <p:cNvPr id="24" name="mini-map"/>
          <p:cNvPicPr>
            <a:picLocks xmlns:a="http://schemas.openxmlformats.org/drawingml/2006/main" noChangeAspect="1"/>
          </p:cNvPicPr>
          <p:nvPr/>
        </p:nvPicPr>
        <p:blipFill>
          <a:blip xmlns:r="http://schemas.openxmlformats.org/officeDocument/2006/relationships" xmlns:a="http://schemas.openxmlformats.org/drawingml/2006/main" r:embed="R64144ebef5d94a1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C00BC3E1-28E1-4F4C-B681-D8F43494923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Verify one. Evaluate many.</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Keep evaluating.</a:t>
            </a:r>
          </a:p>
        </p:txBody>
      </p:sp>
      <p:sp>
        <p:nvSpPr>
          <p:cNvPr id="4" name="17-text-1">
            <a:extLst xmlns:a="http://schemas.openxmlformats.org/drawingml/2006/main">
              <a:ext uri="{FF2B5EF4-FFF2-40B4-BE49-F238E27FC236}">
                <a16:creationId xmlns:a16="http://schemas.microsoft.com/office/drawing/2014/main" id="{38E7349B-55D4-4312-949D-5CCBC59E0A22}"/>
              </a:ext>
            </a:extLst>
          </p:cNvPr>
          <p:cNvSpPr>
            <a:spLocks xmlns:a="http://schemas.openxmlformats.org/drawingml/2006/main"/>
          </p:cNvSpPr>
          <p:nvPr/>
        </p:nvSpPr>
        <p:spPr>
          <a:xfrm xmlns:a="http://schemas.openxmlformats.org/drawingml/2006/main">
            <a:off x="609600" y="2527300"/>
            <a:ext cx="109728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Your domain has no test suite.</a:t>
            </a:r>
          </a:p>
        </p:txBody>
      </p:sp>
      <p:sp>
        <p:nvSpPr>
          <p:cNvPr id="5" name="17-text-2">
            <a:extLst xmlns:a="http://schemas.openxmlformats.org/drawingml/2006/main">
              <a:ext uri="{FF2B5EF4-FFF2-40B4-BE49-F238E27FC236}">
                <a16:creationId xmlns:a16="http://schemas.microsoft.com/office/drawing/2014/main" id="{35D21025-7CFB-4998-8A30-606E762F9658}"/>
              </a:ext>
            </a:extLst>
          </p:cNvPr>
          <p:cNvSpPr>
            <a:spLocks xmlns:a="http://schemas.openxmlformats.org/drawingml/2006/main"/>
          </p:cNvSpPr>
          <p:nvPr/>
        </p:nvSpPr>
        <p:spPr>
          <a:xfrm xmlns:a="http://schemas.openxmlformats.org/drawingml/2006/main">
            <a:off x="609600" y="37719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"Was this refund decision correct?"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"Was this summary faithful?"</a:t>
            </a:r>
          </a:p>
        </p:txBody>
      </p:sp>
      <p:sp>
        <p:nvSpPr>
          <p:cNvPr id="6" name="17-shape-3">
            <a:extLst xmlns:a="http://schemas.openxmlformats.org/drawingml/2006/main">
              <a:ext uri="{FF2B5EF4-FFF2-40B4-BE49-F238E27FC236}">
                <a16:creationId xmlns:a16="http://schemas.microsoft.com/office/drawing/2014/main" id="{61C91FFA-16C5-489D-B098-5E995A3842AD}"/>
              </a:ext>
            </a:extLst>
          </p:cNvPr>
          <p:cNvSpPr>
            <a:spLocks xmlns:a="http://schemas.openxmlformats.org/drawingml/2006/main"/>
          </p:cNvSpPr>
          <p:nvPr/>
        </p:nvSpPr>
        <p:spPr>
          <a:xfrm xmlns:a="http://schemas.openxmlformats.org/drawingml/2006/main">
            <a:off x="609600" y="2146300"/>
            <a:ext cx="3454400" cy="2794000"/>
          </a:xfrm>
          <a:prstGeom xmlns:a="http://schemas.openxmlformats.org/drawingml/2006/main" prst="roundRect">
            <a:avLst>
              <a:gd name="adj" fmla="val 3636"/>
            </a:avLst>
          </a:prstGeom>
          <a:solidFill xmlns:a="http://schemas.openxmlformats.org/drawingml/2006/main">
            <a:srgbClr val="303236"/>
          </a:solidFill>
          <a:ln xmlns:a="http://schemas.openxmlformats.org/drawingml/2006/main" w="0">
            <a:noFill/>
          </a:ln>
        </p:spPr>
      </p:sp>
      <p:sp>
        <p:nvSpPr>
          <p:cNvPr id="7" name="17-text-4">
            <a:extLst xmlns:a="http://schemas.openxmlformats.org/drawingml/2006/main">
              <a:ext uri="{FF2B5EF4-FFF2-40B4-BE49-F238E27FC236}">
                <a16:creationId xmlns:a16="http://schemas.microsoft.com/office/drawing/2014/main" id="{A54D94BF-8091-4303-A892-A208314CE089}"/>
              </a:ext>
            </a:extLst>
          </p:cNvPr>
          <p:cNvSpPr>
            <a:spLocks xmlns:a="http://schemas.openxmlformats.org/drawingml/2006/main"/>
          </p:cNvSpPr>
          <p:nvPr/>
        </p:nvSpPr>
        <p:spPr>
          <a:xfrm xmlns:a="http://schemas.openxmlformats.org/drawingml/2006/main">
            <a:off x="812800" y="2298700"/>
            <a:ext cx="81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Consolas"/>
                <a:ea typeface="Consolas"/>
                <a:cs typeface="Consolas"/>
              </a:defRPr>
            </a:pPr>
            <a:r>
              <a:rPr b="0">
                <a:solidFill>
                  <a:srgbClr val="ADACA9"/>
                </a:solidFill>
                <a:latin typeface="Consolas"/>
                <a:ea typeface="Consolas"/>
                <a:cs typeface="Consolas"/>
              </a:rPr>
              <a:t>1</a:t>
            </a:r>
          </a:p>
        </p:txBody>
      </p:sp>
      <p:sp>
        <p:nvSpPr>
          <p:cNvPr id="8" name="17-text-5">
            <a:extLst xmlns:a="http://schemas.openxmlformats.org/drawingml/2006/main">
              <a:ext uri="{FF2B5EF4-FFF2-40B4-BE49-F238E27FC236}">
                <a16:creationId xmlns:a16="http://schemas.microsoft.com/office/drawing/2014/main" id="{F98FF42F-E3B8-464C-9799-D7323194B646}"/>
              </a:ext>
            </a:extLst>
          </p:cNvPr>
          <p:cNvSpPr>
            <a:spLocks xmlns:a="http://schemas.openxmlformats.org/drawingml/2006/main"/>
          </p:cNvSpPr>
          <p:nvPr/>
        </p:nvSpPr>
        <p:spPr>
          <a:xfrm xmlns:a="http://schemas.openxmlformats.org/drawingml/2006/main">
            <a:off x="812800" y="311150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Build the verifier.</a:t>
            </a:r>
          </a:p>
        </p:txBody>
      </p:sp>
      <p:sp>
        <p:nvSpPr>
          <p:cNvPr id="9" name="17-text-6">
            <a:extLst xmlns:a="http://schemas.openxmlformats.org/drawingml/2006/main">
              <a:ext uri="{FF2B5EF4-FFF2-40B4-BE49-F238E27FC236}">
                <a16:creationId xmlns:a16="http://schemas.microsoft.com/office/drawing/2014/main" id="{8EA859D2-6983-44E6-AC23-778952EEE925}"/>
              </a:ext>
            </a:extLst>
          </p:cNvPr>
          <p:cNvSpPr>
            <a:spLocks xmlns:a="http://schemas.openxmlformats.org/drawingml/2006/main"/>
          </p:cNvSpPr>
          <p:nvPr/>
        </p:nvSpPr>
        <p:spPr>
          <a:xfrm xmlns:a="http://schemas.openxmlformats.org/drawingml/2006/main">
            <a:off x="812800" y="3898900"/>
            <a:ext cx="3048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Schema check · business rule · database state · rubric-driven second model · human</a:t>
            </a:r>
          </a:p>
        </p:txBody>
      </p:sp>
      <p:sp>
        <p:nvSpPr>
          <p:cNvPr id="10" name="17-shape-7">
            <a:extLst xmlns:a="http://schemas.openxmlformats.org/drawingml/2006/main">
              <a:ext uri="{FF2B5EF4-FFF2-40B4-BE49-F238E27FC236}">
                <a16:creationId xmlns:a16="http://schemas.microsoft.com/office/drawing/2014/main" id="{915AB6B8-CF83-48F1-ADB8-558BDC7E9D09}"/>
              </a:ext>
            </a:extLst>
          </p:cNvPr>
          <p:cNvSpPr>
            <a:spLocks xmlns:a="http://schemas.openxmlformats.org/drawingml/2006/main"/>
          </p:cNvSpPr>
          <p:nvPr/>
        </p:nvSpPr>
        <p:spPr>
          <a:xfrm xmlns:a="http://schemas.openxmlformats.org/drawingml/2006/main">
            <a:off x="4368800" y="2146300"/>
            <a:ext cx="3454400" cy="2794000"/>
          </a:xfrm>
          <a:prstGeom xmlns:a="http://schemas.openxmlformats.org/drawingml/2006/main" prst="roundRect">
            <a:avLst>
              <a:gd name="adj" fmla="val 3636"/>
            </a:avLst>
          </a:prstGeom>
          <a:solidFill xmlns:a="http://schemas.openxmlformats.org/drawingml/2006/main">
            <a:srgbClr val="303236"/>
          </a:solidFill>
          <a:ln xmlns:a="http://schemas.openxmlformats.org/drawingml/2006/main" w="0">
            <a:noFill/>
          </a:ln>
        </p:spPr>
      </p:sp>
      <p:sp>
        <p:nvSpPr>
          <p:cNvPr id="11" name="17-text-8">
            <a:extLst xmlns:a="http://schemas.openxmlformats.org/drawingml/2006/main">
              <a:ext uri="{FF2B5EF4-FFF2-40B4-BE49-F238E27FC236}">
                <a16:creationId xmlns:a16="http://schemas.microsoft.com/office/drawing/2014/main" id="{46CB29D4-5B33-49FC-80A3-958999869BBA}"/>
              </a:ext>
            </a:extLst>
          </p:cNvPr>
          <p:cNvSpPr>
            <a:spLocks xmlns:a="http://schemas.openxmlformats.org/drawingml/2006/main"/>
          </p:cNvSpPr>
          <p:nvPr/>
        </p:nvSpPr>
        <p:spPr>
          <a:xfrm xmlns:a="http://schemas.openxmlformats.org/drawingml/2006/main">
            <a:off x="4572000" y="2298700"/>
            <a:ext cx="81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Consolas"/>
                <a:ea typeface="Consolas"/>
                <a:cs typeface="Consolas"/>
              </a:defRPr>
            </a:pPr>
            <a:r>
              <a:rPr b="0">
                <a:solidFill>
                  <a:srgbClr val="ADACA9"/>
                </a:solidFill>
                <a:latin typeface="Consolas"/>
                <a:ea typeface="Consolas"/>
                <a:cs typeface="Consolas"/>
              </a:rPr>
              <a:t>2</a:t>
            </a:r>
          </a:p>
        </p:txBody>
      </p:sp>
      <p:sp>
        <p:nvSpPr>
          <p:cNvPr id="12" name="17-text-9">
            <a:extLst xmlns:a="http://schemas.openxmlformats.org/drawingml/2006/main">
              <a:ext uri="{FF2B5EF4-FFF2-40B4-BE49-F238E27FC236}">
                <a16:creationId xmlns:a16="http://schemas.microsoft.com/office/drawing/2014/main" id="{716A8F02-BC0F-4010-92F2-7793EE3E1461}"/>
              </a:ext>
            </a:extLst>
          </p:cNvPr>
          <p:cNvSpPr>
            <a:spLocks xmlns:a="http://schemas.openxmlformats.org/drawingml/2006/main"/>
          </p:cNvSpPr>
          <p:nvPr/>
        </p:nvSpPr>
        <p:spPr>
          <a:xfrm xmlns:a="http://schemas.openxmlformats.org/drawingml/2006/main">
            <a:off x="4572000" y="311150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Build the eval suite.</a:t>
            </a:r>
          </a:p>
        </p:txBody>
      </p:sp>
      <p:sp>
        <p:nvSpPr>
          <p:cNvPr id="13" name="17-text-10">
            <a:extLst xmlns:a="http://schemas.openxmlformats.org/drawingml/2006/main">
              <a:ext uri="{FF2B5EF4-FFF2-40B4-BE49-F238E27FC236}">
                <a16:creationId xmlns:a16="http://schemas.microsoft.com/office/drawing/2014/main" id="{F22C6DBA-6E66-48F3-A12E-F7A5F481FF9F}"/>
              </a:ext>
            </a:extLst>
          </p:cNvPr>
          <p:cNvSpPr>
            <a:spLocks xmlns:a="http://schemas.openxmlformats.org/drawingml/2006/main"/>
          </p:cNvSpPr>
          <p:nvPr/>
        </p:nvSpPr>
        <p:spPr>
          <a:xfrm xmlns:a="http://schemas.openxmlformats.org/drawingml/2006/main">
            <a:off x="4572000" y="3898900"/>
            <a:ext cx="3048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 population of runs, not one run.</a:t>
            </a:r>
          </a:p>
        </p:txBody>
      </p:sp>
      <p:sp>
        <p:nvSpPr>
          <p:cNvPr id="14" name="17-shape-11">
            <a:extLst xmlns:a="http://schemas.openxmlformats.org/drawingml/2006/main">
              <a:ext uri="{FF2B5EF4-FFF2-40B4-BE49-F238E27FC236}">
                <a16:creationId xmlns:a16="http://schemas.microsoft.com/office/drawing/2014/main" id="{AFE7F4EB-7282-4866-AB6B-82EEDCAB4138}"/>
              </a:ext>
            </a:extLst>
          </p:cNvPr>
          <p:cNvSpPr>
            <a:spLocks xmlns:a="http://schemas.openxmlformats.org/drawingml/2006/main"/>
          </p:cNvSpPr>
          <p:nvPr/>
        </p:nvSpPr>
        <p:spPr>
          <a:xfrm xmlns:a="http://schemas.openxmlformats.org/drawingml/2006/main">
            <a:off x="8128000" y="2146300"/>
            <a:ext cx="3454400" cy="2794000"/>
          </a:xfrm>
          <a:prstGeom xmlns:a="http://schemas.openxmlformats.org/drawingml/2006/main" prst="roundRect">
            <a:avLst>
              <a:gd name="adj" fmla="val 3636"/>
            </a:avLst>
          </a:prstGeom>
          <a:solidFill xmlns:a="http://schemas.openxmlformats.org/drawingml/2006/main">
            <a:srgbClr val="303236"/>
          </a:solidFill>
          <a:ln xmlns:a="http://schemas.openxmlformats.org/drawingml/2006/main" w="0">
            <a:noFill/>
          </a:ln>
        </p:spPr>
      </p:sp>
      <p:sp>
        <p:nvSpPr>
          <p:cNvPr id="15" name="17-text-12">
            <a:extLst xmlns:a="http://schemas.openxmlformats.org/drawingml/2006/main">
              <a:ext uri="{FF2B5EF4-FFF2-40B4-BE49-F238E27FC236}">
                <a16:creationId xmlns:a16="http://schemas.microsoft.com/office/drawing/2014/main" id="{C4267869-5C83-4B4A-A0D1-1A6792962AB6}"/>
              </a:ext>
            </a:extLst>
          </p:cNvPr>
          <p:cNvSpPr>
            <a:spLocks xmlns:a="http://schemas.openxmlformats.org/drawingml/2006/main"/>
          </p:cNvSpPr>
          <p:nvPr/>
        </p:nvSpPr>
        <p:spPr>
          <a:xfrm xmlns:a="http://schemas.openxmlformats.org/drawingml/2006/main">
            <a:off x="8331200" y="2298700"/>
            <a:ext cx="81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Consolas"/>
                <a:ea typeface="Consolas"/>
                <a:cs typeface="Consolas"/>
              </a:defRPr>
            </a:pPr>
            <a:r>
              <a:rPr b="0">
                <a:solidFill>
                  <a:srgbClr val="ADACA9"/>
                </a:solidFill>
                <a:latin typeface="Consolas"/>
                <a:ea typeface="Consolas"/>
                <a:cs typeface="Consolas"/>
              </a:rPr>
              <a:t>3</a:t>
            </a:r>
          </a:p>
        </p:txBody>
      </p:sp>
      <p:sp>
        <p:nvSpPr>
          <p:cNvPr id="16" name="17-text-13">
            <a:extLst xmlns:a="http://schemas.openxmlformats.org/drawingml/2006/main">
              <a:ext uri="{FF2B5EF4-FFF2-40B4-BE49-F238E27FC236}">
                <a16:creationId xmlns:a16="http://schemas.microsoft.com/office/drawing/2014/main" id="{4A965AE4-D14E-4506-99C5-878727536B6A}"/>
              </a:ext>
            </a:extLst>
          </p:cNvPr>
          <p:cNvSpPr>
            <a:spLocks xmlns:a="http://schemas.openxmlformats.org/drawingml/2006/main"/>
          </p:cNvSpPr>
          <p:nvPr/>
        </p:nvSpPr>
        <p:spPr>
          <a:xfrm xmlns:a="http://schemas.openxmlformats.org/drawingml/2006/main">
            <a:off x="8331200" y="311150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Keep running it.</a:t>
            </a:r>
          </a:p>
        </p:txBody>
      </p:sp>
      <p:sp>
        <p:nvSpPr>
          <p:cNvPr id="17" name="17-text-14">
            <a:extLst xmlns:a="http://schemas.openxmlformats.org/drawingml/2006/main">
              <a:ext uri="{FF2B5EF4-FFF2-40B4-BE49-F238E27FC236}">
                <a16:creationId xmlns:a16="http://schemas.microsoft.com/office/drawing/2014/main" id="{6999DFF7-4CF8-40EA-BC3E-59D92C94DB08}"/>
              </a:ext>
            </a:extLst>
          </p:cNvPr>
          <p:cNvSpPr>
            <a:spLocks xmlns:a="http://schemas.openxmlformats.org/drawingml/2006/main"/>
          </p:cNvSpPr>
          <p:nvPr/>
        </p:nvSpPr>
        <p:spPr>
          <a:xfrm xmlns:a="http://schemas.openxmlformats.org/drawingml/2006/main">
            <a:off x="8331200" y="3898900"/>
            <a:ext cx="3048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On sampled production traffic. The offline suite is a frozen snapshot; your users are not.</a:t>
            </a:r>
          </a:p>
        </p:txBody>
      </p:sp>
      <p:sp>
        <p:nvSpPr>
          <p:cNvPr id="18" name="17-text-15">
            <a:extLst xmlns:a="http://schemas.openxmlformats.org/drawingml/2006/main">
              <a:ext uri="{FF2B5EF4-FFF2-40B4-BE49-F238E27FC236}">
                <a16:creationId xmlns:a16="http://schemas.microsoft.com/office/drawing/2014/main" id="{2BC910C9-4F8F-44EC-9162-BE4290A4D64E}"/>
              </a:ext>
            </a:extLst>
          </p:cNvPr>
          <p:cNvSpPr>
            <a:spLocks xmlns:a="http://schemas.openxmlformats.org/drawingml/2006/main"/>
          </p:cNvSpPr>
          <p:nvPr/>
        </p:nvSpPr>
        <p:spPr>
          <a:xfrm xmlns:a="http://schemas.openxmlformats.org/drawingml/2006/main">
            <a:off x="609600" y="49911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new model ships. The suite says yes or no</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 a day, not a quarter.</a:t>
            </a:r>
          </a:p>
        </p:txBody>
      </p:sp>
      <p:sp>
        <p:nvSpPr>
          <p:cNvPr id="19" name="17-shape-16">
            <a:extLst xmlns:a="http://schemas.openxmlformats.org/drawingml/2006/main">
              <a:ext uri="{FF2B5EF4-FFF2-40B4-BE49-F238E27FC236}">
                <a16:creationId xmlns:a16="http://schemas.microsoft.com/office/drawing/2014/main" id="{0464BE29-D757-48F3-8EBB-448C16F6E91A}"/>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20" name="17-shape-17">
            <a:extLst xmlns:a="http://schemas.openxmlformats.org/drawingml/2006/main">
              <a:ext uri="{FF2B5EF4-FFF2-40B4-BE49-F238E27FC236}">
                <a16:creationId xmlns:a16="http://schemas.microsoft.com/office/drawing/2014/main" id="{77E87AAD-384C-4995-9E32-646315066893}"/>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21" name="17-text-18">
            <a:extLst xmlns:a="http://schemas.openxmlformats.org/drawingml/2006/main">
              <a:ext uri="{FF2B5EF4-FFF2-40B4-BE49-F238E27FC236}">
                <a16:creationId xmlns:a16="http://schemas.microsoft.com/office/drawing/2014/main" id="{E81C3181-EFDC-470F-A647-97F4F7001FCA}"/>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22" name="17-text-19">
            <a:extLst xmlns:a="http://schemas.openxmlformats.org/drawingml/2006/main">
              <a:ext uri="{FF2B5EF4-FFF2-40B4-BE49-F238E27FC236}">
                <a16:creationId xmlns:a16="http://schemas.microsoft.com/office/drawing/2014/main" id="{2A376B23-2AB4-4353-BB29-0E4CAADECCFF}"/>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Grading the transcript instead of the outcome.</a:t>
            </a:r>
          </a:p>
        </p:txBody>
      </p:sp>
    </p:spTree>
    <p:extLst>
      <p:ext uri="{BB962C8B-B14F-4D97-AF65-F5344CB8AC3E}">
        <p14:creationId xmlns:p14="http://schemas.microsoft.com/office/powerpoint/2010/main" val="18819601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4"/>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5"/>
                                        </p:tgtEl>
                                        <p:attrNameLst>
                                          <p:attrName>style.visibility</p:attrName>
                                        </p:attrNameLst>
                                      </p:cBhvr>
                                      <p:to>
                                        <p:strVal val="hidden"/>
                                      </p:to>
                                    </p:set>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200" fill="hold"/>
                                        <p:tgtEl>
                                          <p:spTgt spid="6"/>
                                        </p:tgtEl>
                                      </p:cBhvr>
                                    </p:animEffect>
                                  </p:childTnLst>
                                </p:cTn>
                              </p:par>
                              <p:par>
                                <p:cTn id="18" presetID="1"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child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200" fill="hold"/>
                                        <p:tgtEl>
                                          <p:spTgt spid="10"/>
                                        </p:tgtEl>
                                      </p:cBhvr>
                                    </p:animEffec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0"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200" fill="hold"/>
                                        <p:tgtEl>
                                          <p:spTgt spid="14"/>
                                        </p:tgtEl>
                                      </p:cBhvr>
                                    </p:animEffect>
                                  </p:childTnLst>
                                </p:cTn>
                              </p:par>
                              <p:par>
                                <p:cTn id="36" presetID="1" presetClass="entr" presetSubtype="0" fill="hold" nodeType="withEffect">
                                  <p:stCondLst>
                                    <p:cond delay="0"/>
                                  </p:stCondLst>
                                  <p:childTnLst>
                                    <p:set>
                                      <p:cBhvr>
                                        <p:cTn id="37" dur="1" fill="hold">
                                          <p:stCondLst>
                                            <p:cond delay="0"/>
                                          </p:stCondLst>
                                        </p:cTn>
                                        <p:tgtEl>
                                          <p:spTgt spid="15"/>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1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300" fill="hold"/>
                                        <p:tgtEl>
                                          <p:spTgt spid="19"/>
                                        </p:tgtEl>
                                      </p:cBhvr>
                                    </p:animEffect>
                                  </p:childTnLst>
                                </p:cTn>
                              </p:par>
                              <p:par>
                                <p:cTn id="51" presetID="10" presetClass="entr" presetSubtype="0" fill="hold"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300" fill="hold"/>
                                        <p:tgtEl>
                                          <p:spTgt spid="20"/>
                                        </p:tgtEl>
                                      </p:cBhvr>
                                    </p:animEffect>
                                  </p:childTnLst>
                                </p:cTn>
                              </p:par>
                              <p:par>
                                <p:cTn id="54" presetID="10" presetClass="entr" presetSubtype="0" fill="hold"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300" fill="hold"/>
                                        <p:tgtEl>
                                          <p:spTgt spid="21"/>
                                        </p:tgtEl>
                                      </p:cBhvr>
                                    </p:animEffect>
                                  </p:childTnLst>
                                </p:cTn>
                              </p:par>
                              <p:par>
                                <p:cTn id="57" presetID="10" presetClass="entr" presetSubtype="0" fill="hold"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300" fill="hold"/>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 name="!!area-header">
            <a:extLst xmlns:a="http://schemas.openxmlformats.org/drawingml/2006/main">
              <a:ext uri="{FF2B5EF4-FFF2-40B4-BE49-F238E27FC236}">
                <a16:creationId xmlns:a16="http://schemas.microsoft.com/office/drawing/2014/main" id="{EE5CB972-1963-4AB1-97A7-B1A9C4F8B660}"/>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2" name="!!area-name">
            <a:extLst xmlns:a="http://schemas.openxmlformats.org/drawingml/2006/main">
              <a:ext uri="{FF2B5EF4-FFF2-40B4-BE49-F238E27FC236}">
                <a16:creationId xmlns:a16="http://schemas.microsoft.com/office/drawing/2014/main" id="{D9FA2D60-5A6A-4851-944A-AA360EC8868C}"/>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Operating it</a:t>
            </a:r>
          </a:p>
        </p:txBody>
      </p:sp>
      <p:sp>
        <p:nvSpPr>
          <p:cNvPr id="3" name="!!area-beat">
            <a:extLst xmlns:a="http://schemas.openxmlformats.org/drawingml/2006/main">
              <a:ext uri="{FF2B5EF4-FFF2-40B4-BE49-F238E27FC236}">
                <a16:creationId xmlns:a16="http://schemas.microsoft.com/office/drawing/2014/main" id="{A5AE3D5B-5220-4A01-916F-554E35DDB7F9}"/>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What you touched</a:t>
            </a:r>
          </a:p>
        </p:txBody>
      </p:sp>
      <p:sp>
        <p:nvSpPr>
          <p:cNvPr id="4" name="18-shape-1">
            <a:extLst xmlns:a="http://schemas.openxmlformats.org/drawingml/2006/main">
              <a:ext uri="{FF2B5EF4-FFF2-40B4-BE49-F238E27FC236}">
                <a16:creationId xmlns:a16="http://schemas.microsoft.com/office/drawing/2014/main" id="{DC6E61A2-4918-4A92-8EF5-3ACFCF196239}"/>
              </a:ext>
            </a:extLst>
          </p:cNvPr>
          <p:cNvSpPr>
            <a:spLocks xmlns:a="http://schemas.openxmlformats.org/drawingml/2006/main"/>
          </p:cNvSpPr>
          <p:nvPr/>
        </p:nvSpPr>
        <p:spPr>
          <a:xfrm xmlns:a="http://schemas.openxmlformats.org/drawingml/2006/main">
            <a:off x="609600" y="2489200"/>
            <a:ext cx="11430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5" name="18-text-2">
            <a:extLst xmlns:a="http://schemas.openxmlformats.org/drawingml/2006/main">
              <a:ext uri="{FF2B5EF4-FFF2-40B4-BE49-F238E27FC236}">
                <a16:creationId xmlns:a16="http://schemas.microsoft.com/office/drawing/2014/main" id="{0805754D-4BD1-4CE5-9E20-BAFF09F5058B}"/>
              </a:ext>
            </a:extLst>
          </p:cNvPr>
          <p:cNvSpPr>
            <a:spLocks xmlns:a="http://schemas.openxmlformats.org/drawingml/2006/main"/>
          </p:cNvSpPr>
          <p:nvPr/>
        </p:nvSpPr>
        <p:spPr>
          <a:xfrm xmlns:a="http://schemas.openxmlformats.org/drawingml/2006/main">
            <a:off x="762000" y="2527300"/>
            <a:ext cx="838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/usage</a:t>
            </a:r>
          </a:p>
        </p:txBody>
      </p:sp>
      <p:sp>
        <p:nvSpPr>
          <p:cNvPr id="6" name="18-shape-3">
            <a:extLst xmlns:a="http://schemas.openxmlformats.org/drawingml/2006/main">
              <a:ext uri="{FF2B5EF4-FFF2-40B4-BE49-F238E27FC236}">
                <a16:creationId xmlns:a16="http://schemas.microsoft.com/office/drawing/2014/main" id="{132E1974-E169-4144-A2CE-BB50512B0F74}"/>
              </a:ext>
            </a:extLst>
          </p:cNvPr>
          <p:cNvSpPr>
            <a:spLocks xmlns:a="http://schemas.openxmlformats.org/drawingml/2006/main"/>
          </p:cNvSpPr>
          <p:nvPr/>
        </p:nvSpPr>
        <p:spPr>
          <a:xfrm xmlns:a="http://schemas.openxmlformats.org/drawingml/2006/main">
            <a:off x="1854200" y="2489200"/>
            <a:ext cx="3454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7" name="18-text-4">
            <a:extLst xmlns:a="http://schemas.openxmlformats.org/drawingml/2006/main">
              <a:ext uri="{FF2B5EF4-FFF2-40B4-BE49-F238E27FC236}">
                <a16:creationId xmlns:a16="http://schemas.microsoft.com/office/drawing/2014/main" id="{6A849530-5AA5-4F99-BA60-EFA08CB805F7}"/>
              </a:ext>
            </a:extLst>
          </p:cNvPr>
          <p:cNvSpPr>
            <a:spLocks xmlns:a="http://schemas.openxmlformats.org/drawingml/2006/main"/>
          </p:cNvSpPr>
          <p:nvPr/>
        </p:nvSpPr>
        <p:spPr>
          <a:xfrm xmlns:a="http://schemas.openxmlformats.org/drawingml/2006/main">
            <a:off x="2006600" y="2527300"/>
            <a:ext cx="314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OpenTelemetry exporter</a:t>
            </a:r>
          </a:p>
        </p:txBody>
      </p:sp>
      <p:sp>
        <p:nvSpPr>
          <p:cNvPr id="8" name="18-shape-5">
            <a:extLst xmlns:a="http://schemas.openxmlformats.org/drawingml/2006/main">
              <a:ext uri="{FF2B5EF4-FFF2-40B4-BE49-F238E27FC236}">
                <a16:creationId xmlns:a16="http://schemas.microsoft.com/office/drawing/2014/main" id="{3374FFBF-71E7-4207-B390-39B5130AB0DB}"/>
              </a:ext>
            </a:extLst>
          </p:cNvPr>
          <p:cNvSpPr>
            <a:spLocks xmlns:a="http://schemas.openxmlformats.org/drawingml/2006/main"/>
          </p:cNvSpPr>
          <p:nvPr/>
        </p:nvSpPr>
        <p:spPr>
          <a:xfrm xmlns:a="http://schemas.openxmlformats.org/drawingml/2006/main">
            <a:off x="5410200" y="2489200"/>
            <a:ext cx="1689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9" name="18-text-6">
            <a:extLst xmlns:a="http://schemas.openxmlformats.org/drawingml/2006/main">
              <a:ext uri="{FF2B5EF4-FFF2-40B4-BE49-F238E27FC236}">
                <a16:creationId xmlns:a16="http://schemas.microsoft.com/office/drawing/2014/main" id="{54902D7E-FA73-429B-88D7-D02DCB8B63D6}"/>
              </a:ext>
            </a:extLst>
          </p:cNvPr>
          <p:cNvSpPr>
            <a:spLocks xmlns:a="http://schemas.openxmlformats.org/drawingml/2006/main"/>
          </p:cNvSpPr>
          <p:nvPr/>
        </p:nvSpPr>
        <p:spPr>
          <a:xfrm xmlns:a="http://schemas.openxmlformats.org/drawingml/2006/main">
            <a:off x="5562600" y="2527300"/>
            <a:ext cx="1384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sandbox</a:t>
            </a:r>
          </a:p>
        </p:txBody>
      </p:sp>
      <p:sp>
        <p:nvSpPr>
          <p:cNvPr id="10" name="18-shape-7">
            <a:extLst xmlns:a="http://schemas.openxmlformats.org/drawingml/2006/main">
              <a:ext uri="{FF2B5EF4-FFF2-40B4-BE49-F238E27FC236}">
                <a16:creationId xmlns:a16="http://schemas.microsoft.com/office/drawing/2014/main" id="{265B3733-BA3D-46EA-AD19-90FAE5FC2221}"/>
              </a:ext>
            </a:extLst>
          </p:cNvPr>
          <p:cNvSpPr>
            <a:spLocks xmlns:a="http://schemas.openxmlformats.org/drawingml/2006/main"/>
          </p:cNvSpPr>
          <p:nvPr/>
        </p:nvSpPr>
        <p:spPr>
          <a:xfrm xmlns:a="http://schemas.openxmlformats.org/drawingml/2006/main">
            <a:off x="7200900" y="2489200"/>
            <a:ext cx="2057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1" name="18-text-8">
            <a:extLst xmlns:a="http://schemas.openxmlformats.org/drawingml/2006/main">
              <a:ext uri="{FF2B5EF4-FFF2-40B4-BE49-F238E27FC236}">
                <a16:creationId xmlns:a16="http://schemas.microsoft.com/office/drawing/2014/main" id="{B731F18C-DD1C-4617-ACA7-6A27F3979C0E}"/>
              </a:ext>
            </a:extLst>
          </p:cNvPr>
          <p:cNvSpPr>
            <a:spLocks xmlns:a="http://schemas.openxmlformats.org/drawingml/2006/main"/>
          </p:cNvSpPr>
          <p:nvPr/>
        </p:nvSpPr>
        <p:spPr>
          <a:xfrm xmlns:a="http://schemas.openxmlformats.org/drawingml/2006/main">
            <a:off x="7353300" y="2527300"/>
            <a:ext cx="1752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OAuth login</a:t>
            </a:r>
          </a:p>
        </p:txBody>
      </p:sp>
      <p:sp>
        <p:nvSpPr>
          <p:cNvPr id="12" name="18-text-9">
            <a:extLst xmlns:a="http://schemas.openxmlformats.org/drawingml/2006/main">
              <a:ext uri="{FF2B5EF4-FFF2-40B4-BE49-F238E27FC236}">
                <a16:creationId xmlns:a16="http://schemas.microsoft.com/office/drawing/2014/main" id="{B32DBE3B-0FA2-4AF0-81E2-ACBFBE6F6207}"/>
              </a:ext>
            </a:extLst>
          </p:cNvPr>
          <p:cNvSpPr>
            <a:spLocks xmlns:a="http://schemas.openxmlformats.org/drawingml/2006/main"/>
          </p:cNvSpPr>
          <p:nvPr/>
        </p:nvSpPr>
        <p:spPr>
          <a:xfrm xmlns:a="http://schemas.openxmlformats.org/drawingml/2006/main">
            <a:off x="609600" y="38354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And a trust and safety team you have never met.</a:t>
            </a:r>
          </a:p>
        </p:txBody>
      </p:sp>
    </p:spTree>
    <p:extLst>
      <p:ext uri="{BB962C8B-B14F-4D97-AF65-F5344CB8AC3E}">
        <p14:creationId xmlns:p14="http://schemas.microsoft.com/office/powerpoint/2010/main" val="334948855"/>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 name="!!area-name">
            <a:extLst xmlns:a="http://schemas.openxmlformats.org/drawingml/2006/main">
              <a:ext uri="{FF2B5EF4-FFF2-40B4-BE49-F238E27FC236}">
                <a16:creationId xmlns:a16="http://schemas.microsoft.com/office/drawing/2014/main" id="{03FA3E56-A8C9-4931-AF02-AB5B1E208B4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What you touched</a:t>
            </a:r>
          </a:p>
        </p:txBody>
      </p:sp>
      <p:pic>
        <p:nvPicPr>
          <p:cNvPr id="25" name="mini-map"/>
          <p:cNvPicPr>
            <a:picLocks xmlns:a="http://schemas.openxmlformats.org/drawingml/2006/main" noChangeAspect="1"/>
          </p:cNvPicPr>
          <p:nvPr/>
        </p:nvPicPr>
        <p:blipFill>
          <a:blip xmlns:r="http://schemas.openxmlformats.org/officeDocument/2006/relationships" xmlns:a="http://schemas.openxmlformats.org/drawingml/2006/main" r:embed="Ra161c868dc604db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18b-text-1">
            <a:extLst xmlns:a="http://schemas.openxmlformats.org/drawingml/2006/main">
              <a:ext uri="{FF2B5EF4-FFF2-40B4-BE49-F238E27FC236}">
                <a16:creationId xmlns:a16="http://schemas.microsoft.com/office/drawing/2014/main" id="{D4D4C680-FB3E-411F-A9E9-5DE20EA81720}"/>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 name="18b-text-2">
            <a:extLst xmlns:a="http://schemas.openxmlformats.org/drawingml/2006/main">
              <a:ext uri="{FF2B5EF4-FFF2-40B4-BE49-F238E27FC236}">
                <a16:creationId xmlns:a16="http://schemas.microsoft.com/office/drawing/2014/main" id="{972DFBBE-BAEC-4442-9222-69CE1BA74584}"/>
              </a:ext>
            </a:extLst>
          </p:cNvPr>
          <p:cNvSpPr>
            <a:spLocks xmlns:a="http://schemas.openxmlformats.org/drawingml/2006/main"/>
          </p:cNvSpPr>
          <p:nvPr/>
        </p:nvSpPr>
        <p:spPr>
          <a:xfrm xmlns:a="http://schemas.openxmlformats.org/drawingml/2006/main">
            <a:off x="609600" y="1320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Observability</a:t>
            </a:r>
          </a:p>
        </p:txBody>
      </p:sp>
      <p:sp>
        <p:nvSpPr>
          <p:cNvPr id="5" name="18b-text-3">
            <a:extLst xmlns:a="http://schemas.openxmlformats.org/drawingml/2006/main">
              <a:ext uri="{FF2B5EF4-FFF2-40B4-BE49-F238E27FC236}">
                <a16:creationId xmlns:a16="http://schemas.microsoft.com/office/drawing/2014/main" id="{2F6289AC-BCDB-41F6-84F9-8468DF55B6B0}"/>
              </a:ext>
            </a:extLst>
          </p:cNvPr>
          <p:cNvSpPr>
            <a:spLocks xmlns:a="http://schemas.openxmlformats.org/drawingml/2006/main"/>
          </p:cNvSpPr>
          <p:nvPr/>
        </p:nvSpPr>
        <p:spPr>
          <a:xfrm xmlns:a="http://schemas.openxmlformats.org/drawingml/2006/main">
            <a:off x="2489200" y="1270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task · p95 and p99 tokens · cache hit rate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loop iterations per task · tool failure rate</a:t>
            </a:r>
          </a:p>
        </p:txBody>
      </p:sp>
      <p:sp>
        <p:nvSpPr>
          <p:cNvPr id="6" name="18b-text-4">
            <a:extLst xmlns:a="http://schemas.openxmlformats.org/drawingml/2006/main">
              <a:ext uri="{FF2B5EF4-FFF2-40B4-BE49-F238E27FC236}">
                <a16:creationId xmlns:a16="http://schemas.microsoft.com/office/drawing/2014/main" id="{860A7778-608B-4A26-9A5E-3D863731603B}"/>
              </a:ext>
            </a:extLst>
          </p:cNvPr>
          <p:cNvSpPr>
            <a:spLocks xmlns:a="http://schemas.openxmlformats.org/drawingml/2006/main"/>
          </p:cNvSpPr>
          <p:nvPr/>
        </p:nvSpPr>
        <p:spPr>
          <a:xfrm xmlns:a="http://schemas.openxmlformats.org/drawingml/2006/main">
            <a:off x="609600" y="21336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Guardrails</a:t>
            </a:r>
          </a:p>
        </p:txBody>
      </p:sp>
      <p:sp>
        <p:nvSpPr>
          <p:cNvPr id="7" name="18b-text-5">
            <a:extLst xmlns:a="http://schemas.openxmlformats.org/drawingml/2006/main">
              <a:ext uri="{FF2B5EF4-FFF2-40B4-BE49-F238E27FC236}">
                <a16:creationId xmlns:a16="http://schemas.microsoft.com/office/drawing/2014/main" id="{2A2A6F06-7025-4FD3-AFA5-1ECF7F5997F4}"/>
              </a:ext>
            </a:extLst>
          </p:cNvPr>
          <p:cNvSpPr>
            <a:spLocks xmlns:a="http://schemas.openxmlformats.org/drawingml/2006/main"/>
          </p:cNvSpPr>
          <p:nvPr/>
        </p:nvSpPr>
        <p:spPr>
          <a:xfrm xmlns:a="http://schemas.openxmlformats.org/drawingml/2006/main">
            <a:off x="2489200" y="20828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input classification · provenance tags · sandboxed execution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output validation · circuit breakers · approval gates · least privilege</a:t>
            </a:r>
          </a:p>
        </p:txBody>
      </p:sp>
      <p:sp>
        <p:nvSpPr>
          <p:cNvPr id="8" name="18b-text-6">
            <a:extLst xmlns:a="http://schemas.openxmlformats.org/drawingml/2006/main">
              <a:ext uri="{FF2B5EF4-FFF2-40B4-BE49-F238E27FC236}">
                <a16:creationId xmlns:a16="http://schemas.microsoft.com/office/drawing/2014/main" id="{8456167C-77E4-4BC2-98F0-3F1147744811}"/>
              </a:ext>
            </a:extLst>
          </p:cNvPr>
          <p:cNvSpPr>
            <a:spLocks xmlns:a="http://schemas.openxmlformats.org/drawingml/2006/main"/>
          </p:cNvSpPr>
          <p:nvPr/>
        </p:nvSpPr>
        <p:spPr>
          <a:xfrm xmlns:a="http://schemas.openxmlformats.org/drawingml/2006/main">
            <a:off x="609600" y="29464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Identity</a:t>
            </a:r>
          </a:p>
        </p:txBody>
      </p:sp>
      <p:sp>
        <p:nvSpPr>
          <p:cNvPr id="9" name="18b-text-7">
            <a:extLst xmlns:a="http://schemas.openxmlformats.org/drawingml/2006/main">
              <a:ext uri="{FF2B5EF4-FFF2-40B4-BE49-F238E27FC236}">
                <a16:creationId xmlns:a16="http://schemas.microsoft.com/office/drawing/2014/main" id="{469C5B44-31CA-42BF-925E-E0B2BBA27EF4}"/>
              </a:ext>
            </a:extLst>
          </p:cNvPr>
          <p:cNvSpPr>
            <a:spLocks xmlns:a="http://schemas.openxmlformats.org/drawingml/2006/main"/>
          </p:cNvSpPr>
          <p:nvPr/>
        </p:nvSpPr>
        <p:spPr>
          <a:xfrm xmlns:a="http://schemas.openxmlformats.org/drawingml/2006/main">
            <a:off x="2489200" y="28956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agent's own identity, plus short-lived delegated authority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from the user. No token passthrough. No omnibus scopes.</a:t>
            </a:r>
          </a:p>
        </p:txBody>
      </p:sp>
      <p:sp>
        <p:nvSpPr>
          <p:cNvPr id="10" name="18b-text-8">
            <a:extLst xmlns:a="http://schemas.openxmlformats.org/drawingml/2006/main">
              <a:ext uri="{FF2B5EF4-FFF2-40B4-BE49-F238E27FC236}">
                <a16:creationId xmlns:a16="http://schemas.microsoft.com/office/drawing/2014/main" id="{7D964045-5DC6-4C1B-9DCD-D6881E09BE89}"/>
              </a:ext>
            </a:extLst>
          </p:cNvPr>
          <p:cNvSpPr>
            <a:spLocks xmlns:a="http://schemas.openxmlformats.org/drawingml/2006/main"/>
          </p:cNvSpPr>
          <p:nvPr/>
        </p:nvSpPr>
        <p:spPr>
          <a:xfrm xmlns:a="http://schemas.openxmlformats.org/drawingml/2006/main">
            <a:off x="609600" y="375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Governance</a:t>
            </a:r>
          </a:p>
        </p:txBody>
      </p:sp>
      <p:sp>
        <p:nvSpPr>
          <p:cNvPr id="11" name="18b-text-9">
            <a:extLst xmlns:a="http://schemas.openxmlformats.org/drawingml/2006/main">
              <a:ext uri="{FF2B5EF4-FFF2-40B4-BE49-F238E27FC236}">
                <a16:creationId xmlns:a16="http://schemas.microsoft.com/office/drawing/2014/main" id="{1ABF43E7-7258-4C2E-89F8-99F8E48565A6}"/>
              </a:ext>
            </a:extLst>
          </p:cNvPr>
          <p:cNvSpPr>
            <a:spLocks xmlns:a="http://schemas.openxmlformats.org/drawingml/2006/main"/>
          </p:cNvSpPr>
          <p:nvPr/>
        </p:nvSpPr>
        <p:spPr>
          <a:xfrm xmlns:a="http://schemas.openxmlformats.org/drawingml/2006/main">
            <a:off x="2489200" y="370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audit trails and approvals. Since August 2, 2026, Article 50:</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if it interacts with people, tell them it is an AI.</a:t>
            </a:r>
          </a:p>
        </p:txBody>
      </p:sp>
      <p:sp>
        <p:nvSpPr>
          <p:cNvPr id="12" name="18b-text-10">
            <a:extLst xmlns:a="http://schemas.openxmlformats.org/drawingml/2006/main">
              <a:ext uri="{FF2B5EF4-FFF2-40B4-BE49-F238E27FC236}">
                <a16:creationId xmlns:a16="http://schemas.microsoft.com/office/drawing/2014/main" id="{B298E049-CD12-425D-9414-4BB032D0F67E}"/>
              </a:ext>
            </a:extLst>
          </p:cNvPr>
          <p:cNvSpPr>
            <a:spLocks xmlns:a="http://schemas.openxmlformats.org/drawingml/2006/main"/>
          </p:cNvSpPr>
          <p:nvPr/>
        </p:nvSpPr>
        <p:spPr>
          <a:xfrm xmlns:a="http://schemas.openxmlformats.org/drawingml/2006/main">
            <a:off x="609600" y="45720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Security</a:t>
            </a:r>
          </a:p>
        </p:txBody>
      </p:sp>
      <p:sp>
        <p:nvSpPr>
          <p:cNvPr id="13" name="18b-line-12">
            <a:extLst xmlns:a="http://schemas.openxmlformats.org/drawingml/2006/main">
              <a:ext uri="{FF2B5EF4-FFF2-40B4-BE49-F238E27FC236}">
                <a16:creationId xmlns:a16="http://schemas.microsoft.com/office/drawing/2014/main" id="{7DCCE99E-8A85-4A06-9291-3D55E71D6ED3}"/>
              </a:ext>
            </a:extLst>
          </p:cNvPr>
          <p:cNvSpPr>
            <a:spLocks xmlns:a="http://schemas.openxmlformats.org/drawingml/2006/main"/>
          </p:cNvSpPr>
          <p:nvPr/>
        </p:nvSpPr>
        <p:spPr>
          <a:xfrm xmlns:a="http://schemas.openxmlformats.org/drawingml/2006/main" flipH="0" flipV="0">
            <a:off x="3378200" y="4851400"/>
            <a:ext cx="1295400" cy="8636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4" name="18b-line-14">
            <a:extLst xmlns:a="http://schemas.openxmlformats.org/drawingml/2006/main">
              <a:ext uri="{FF2B5EF4-FFF2-40B4-BE49-F238E27FC236}">
                <a16:creationId xmlns:a16="http://schemas.microsoft.com/office/drawing/2014/main" id="{39CAF4D4-B82E-4C66-93B6-56671E68F670}"/>
              </a:ext>
            </a:extLst>
          </p:cNvPr>
          <p:cNvSpPr>
            <a:spLocks xmlns:a="http://schemas.openxmlformats.org/drawingml/2006/main"/>
          </p:cNvSpPr>
          <p:nvPr/>
        </p:nvSpPr>
        <p:spPr>
          <a:xfrm xmlns:a="http://schemas.openxmlformats.org/drawingml/2006/main" flipH="1" flipV="0">
            <a:off x="2095500" y="5715000"/>
            <a:ext cx="25781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5" name="18b-line-16">
            <a:extLst xmlns:a="http://schemas.openxmlformats.org/drawingml/2006/main">
              <a:ext uri="{FF2B5EF4-FFF2-40B4-BE49-F238E27FC236}">
                <a16:creationId xmlns:a16="http://schemas.microsoft.com/office/drawing/2014/main" id="{F663EE0A-4307-4B3A-8CD0-959237F49ABA}"/>
              </a:ext>
            </a:extLst>
          </p:cNvPr>
          <p:cNvSpPr>
            <a:spLocks xmlns:a="http://schemas.openxmlformats.org/drawingml/2006/main"/>
          </p:cNvSpPr>
          <p:nvPr/>
        </p:nvSpPr>
        <p:spPr>
          <a:xfrm xmlns:a="http://schemas.openxmlformats.org/drawingml/2006/main" flipH="0" flipV="1">
            <a:off x="2095500" y="4851400"/>
            <a:ext cx="1282700" cy="8636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6" name="18b-text-17">
            <a:extLst xmlns:a="http://schemas.openxmlformats.org/drawingml/2006/main">
              <a:ext uri="{FF2B5EF4-FFF2-40B4-BE49-F238E27FC236}">
                <a16:creationId xmlns:a16="http://schemas.microsoft.com/office/drawing/2014/main" id="{FDC786D5-A232-4D8F-A015-43CC5612033C}"/>
              </a:ext>
            </a:extLst>
          </p:cNvPr>
          <p:cNvSpPr>
            <a:spLocks xmlns:a="http://schemas.openxmlformats.org/drawingml/2006/main"/>
          </p:cNvSpPr>
          <p:nvPr/>
        </p:nvSpPr>
        <p:spPr>
          <a:xfrm xmlns:a="http://schemas.openxmlformats.org/drawingml/2006/main">
            <a:off x="2667000" y="4508500"/>
            <a:ext cx="1676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17" name="18b-text-18">
            <a:extLst xmlns:a="http://schemas.openxmlformats.org/drawingml/2006/main">
              <a:ext uri="{FF2B5EF4-FFF2-40B4-BE49-F238E27FC236}">
                <a16:creationId xmlns:a16="http://schemas.microsoft.com/office/drawing/2014/main" id="{86AEC724-BB09-45DF-813C-1BC42C93EF2F}"/>
              </a:ext>
            </a:extLst>
          </p:cNvPr>
          <p:cNvSpPr>
            <a:spLocks xmlns:a="http://schemas.openxmlformats.org/drawingml/2006/main"/>
          </p:cNvSpPr>
          <p:nvPr/>
        </p:nvSpPr>
        <p:spPr>
          <a:xfrm xmlns:a="http://schemas.openxmlformats.org/drawingml/2006/main">
            <a:off x="1320800" y="5791200"/>
            <a:ext cx="2159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18" name="18b-text-19">
            <a:extLst xmlns:a="http://schemas.openxmlformats.org/drawingml/2006/main">
              <a:ext uri="{FF2B5EF4-FFF2-40B4-BE49-F238E27FC236}">
                <a16:creationId xmlns:a16="http://schemas.microsoft.com/office/drawing/2014/main" id="{1E24F18A-A754-4DCE-91DA-E0F2AE3484A9}"/>
              </a:ext>
            </a:extLst>
          </p:cNvPr>
          <p:cNvSpPr>
            <a:spLocks xmlns:a="http://schemas.openxmlformats.org/drawingml/2006/main"/>
          </p:cNvSpPr>
          <p:nvPr/>
        </p:nvSpPr>
        <p:spPr>
          <a:xfrm xmlns:a="http://schemas.openxmlformats.org/drawingml/2006/main">
            <a:off x="3708400" y="5791200"/>
            <a:ext cx="2413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
        <p:nvSpPr>
          <p:cNvPr id="19" name="18b-text-20">
            <a:extLst xmlns:a="http://schemas.openxmlformats.org/drawingml/2006/main">
              <a:ext uri="{FF2B5EF4-FFF2-40B4-BE49-F238E27FC236}">
                <a16:creationId xmlns:a16="http://schemas.microsoft.com/office/drawing/2014/main" id="{EB73DD68-3B52-417A-AE69-1512566A73C1}"/>
              </a:ext>
            </a:extLst>
          </p:cNvPr>
          <p:cNvSpPr>
            <a:spLocks xmlns:a="http://schemas.openxmlformats.org/drawingml/2006/main"/>
          </p:cNvSpPr>
          <p:nvPr/>
        </p:nvSpPr>
        <p:spPr>
          <a:xfrm xmlns:a="http://schemas.openxmlformats.org/drawingml/2006/main">
            <a:off x="6248400" y="4775200"/>
            <a:ext cx="53340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Any two is safe; all three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is an exfiltration path.</a:t>
            </a:r>
          </a:p>
        </p:txBody>
      </p:sp>
      <p:sp>
        <p:nvSpPr>
          <p:cNvPr id="20" name="18b-text-21">
            <a:extLst xmlns:a="http://schemas.openxmlformats.org/drawingml/2006/main">
              <a:ext uri="{FF2B5EF4-FFF2-40B4-BE49-F238E27FC236}">
                <a16:creationId xmlns:a16="http://schemas.microsoft.com/office/drawing/2014/main" id="{EA12AD85-9614-4303-A9E2-0066E48C36F4}"/>
              </a:ext>
            </a:extLst>
          </p:cNvPr>
          <p:cNvSpPr>
            <a:spLocks xmlns:a="http://schemas.openxmlformats.org/drawingml/2006/main"/>
          </p:cNvSpPr>
          <p:nvPr/>
        </p:nvSpPr>
        <p:spPr>
          <a:xfrm xmlns:a="http://schemas.openxmlformats.org/drawingml/2006/main">
            <a:off x="6248400" y="56388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ADACA9"/>
                </a:solidFill>
                <a:latin typeface="Helvetica"/>
                <a:ea typeface="Helvetica"/>
                <a:cs typeface="Helvetica"/>
              </a:rPr>
              <a:t>Simon Willison, June 2025</a:t>
            </a:r>
          </a:p>
        </p:txBody>
      </p:sp>
      <p:sp>
        <p:nvSpPr>
          <p:cNvPr id="21" name="18b-text-22">
            <a:extLst xmlns:a="http://schemas.openxmlformats.org/drawingml/2006/main">
              <a:ext uri="{FF2B5EF4-FFF2-40B4-BE49-F238E27FC236}">
                <a16:creationId xmlns:a16="http://schemas.microsoft.com/office/drawing/2014/main" id="{9B9F4A88-4E38-41D9-B9FC-1405D235D04B}"/>
              </a:ext>
            </a:extLst>
          </p:cNvPr>
          <p:cNvSpPr>
            <a:spLocks xmlns:a="http://schemas.openxmlformats.org/drawingml/2006/main"/>
          </p:cNvSpPr>
          <p:nvPr/>
        </p:nvSpPr>
        <p:spPr>
          <a:xfrm xmlns:a="http://schemas.openxmlformats.org/drawingml/2006/main">
            <a:off x="609600" y="1638300"/>
            <a:ext cx="10972800" cy="142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EchoLeak, June 2025.</a:t>
            </a:r>
            <a:r>
              <a:rPr b="0">
                <a:solidFill>
                  <a:srgbClr val="FFFCF5"/>
                </a:solidFill>
                <a:latin typeface="Helvetica"/>
                <a:ea typeface="Helvetica"/>
                <a:cs typeface="Helvetica"/>
              </a:rPr>
              <a:t> CVE-2025-32711. One email.</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Data from OneDrive, SharePoint, and Teams left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through a trusted domain.</a:t>
            </a:r>
          </a:p>
        </p:txBody>
      </p:sp>
      <p:sp>
        <p:nvSpPr>
          <p:cNvPr id="22" name="18b-text-23">
            <a:extLst xmlns:a="http://schemas.openxmlformats.org/drawingml/2006/main">
              <a:ext uri="{FF2B5EF4-FFF2-40B4-BE49-F238E27FC236}">
                <a16:creationId xmlns:a16="http://schemas.microsoft.com/office/drawing/2014/main" id="{49E55EA0-8338-4756-80B7-7AF1FF2ABB00}"/>
              </a:ext>
            </a:extLst>
          </p:cNvPr>
          <p:cNvSpPr>
            <a:spLocks xmlns:a="http://schemas.openxmlformats.org/drawingml/2006/main"/>
          </p:cNvSpPr>
          <p:nvPr/>
        </p:nvSpPr>
        <p:spPr>
          <a:xfrm xmlns:a="http://schemas.openxmlformats.org/drawingml/2006/main">
            <a:off x="609600" y="3124200"/>
            <a:ext cx="10972800" cy="142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Replit, July 2025.</a:t>
            </a:r>
            <a:r>
              <a:rPr b="0">
                <a:solidFill>
                  <a:srgbClr val="FFFCF5"/>
                </a:solidFill>
                <a:latin typeface="Helvetica"/>
                <a:ea typeface="Helvetica"/>
                <a:cs typeface="Helvetica"/>
              </a:rPr>
              <a:t> An agent deleted a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database during a code freeze.</a:t>
            </a:r>
          </a:p>
        </p:txBody>
      </p:sp>
      <p:sp>
        <p:nvSpPr>
          <p:cNvPr id="23" name="18b-text-24">
            <a:extLst xmlns:a="http://schemas.openxmlformats.org/drawingml/2006/main">
              <a:ext uri="{FF2B5EF4-FFF2-40B4-BE49-F238E27FC236}">
                <a16:creationId xmlns:a16="http://schemas.microsoft.com/office/drawing/2014/main" id="{BF6C54E4-1726-420A-9FB9-86E8ED75DA4E}"/>
              </a:ext>
            </a:extLst>
          </p:cNvPr>
          <p:cNvSpPr>
            <a:spLocks xmlns:a="http://schemas.openxmlformats.org/drawingml/2006/main"/>
          </p:cNvSpPr>
          <p:nvPr/>
        </p:nvSpPr>
        <p:spPr>
          <a:xfrm xmlns:a="http://schemas.openxmlformats.org/drawingml/2006/main">
            <a:off x="609600" y="4610100"/>
            <a:ext cx="10972800" cy="142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Moffatt v. Air Canada, February 2024.</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chatbot is a separate legal entity."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tribunal disagreed.</a:t>
            </a:r>
          </a:p>
        </p:txBody>
      </p:sp>
    </p:spTree>
    <p:extLst>
      <p:ext uri="{BB962C8B-B14F-4D97-AF65-F5344CB8AC3E}">
        <p14:creationId xmlns:p14="http://schemas.microsoft.com/office/powerpoint/2010/main" val="1520806788"/>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nodeType="clickEffect">
                                  <p:stCondLst>
                                    <p:cond delay="0"/>
                                  </p:stCondLst>
                                  <p:childTnLst>
                                    <p:set>
                                      <p:cBhvr>
                                        <p:cTn id="44" dur="1" fill="hold">
                                          <p:stCondLst>
                                            <p:cond delay="0"/>
                                          </p:stCondLst>
                                        </p:cTn>
                                        <p:tgtEl>
                                          <p:spTgt spid="4"/>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5"/>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6"/>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7"/>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8"/>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9"/>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10"/>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11"/>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12"/>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13"/>
                                        </p:tgtEl>
                                        <p:attrNameLst>
                                          <p:attrName>style.visibility</p:attrName>
                                        </p:attrNameLst>
                                      </p:cBhvr>
                                      <p:to>
                                        <p:strVal val="hidden"/>
                                      </p:to>
                                    </p:set>
                                  </p:childTnLst>
                                </p:cTn>
                              </p:par>
                              <p:par>
                                <p:cTn id="63" presetID="1" presetClass="exit" presetSubtype="0" fill="hold" nodeType="withEffect">
                                  <p:stCondLst>
                                    <p:cond delay="0"/>
                                  </p:stCondLst>
                                  <p:childTnLst>
                                    <p:set>
                                      <p:cBhvr>
                                        <p:cTn id="64" dur="1" fill="hold">
                                          <p:stCondLst>
                                            <p:cond delay="0"/>
                                          </p:stCondLst>
                                        </p:cTn>
                                        <p:tgtEl>
                                          <p:spTgt spid="14"/>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15"/>
                                        </p:tgtEl>
                                        <p:attrNameLst>
                                          <p:attrName>style.visibility</p:attrName>
                                        </p:attrNameLst>
                                      </p:cBhvr>
                                      <p:to>
                                        <p:strVal val="hidden"/>
                                      </p:to>
                                    </p:set>
                                  </p:childTnLst>
                                </p:cTn>
                              </p:par>
                              <p:par>
                                <p:cTn id="67" presetID="1" presetClass="exit" presetSubtype="0" fill="hold" nodeType="withEffect">
                                  <p:stCondLst>
                                    <p:cond delay="0"/>
                                  </p:stCondLst>
                                  <p:childTnLst>
                                    <p:set>
                                      <p:cBhvr>
                                        <p:cTn id="68" dur="1" fill="hold">
                                          <p:stCondLst>
                                            <p:cond delay="0"/>
                                          </p:stCondLst>
                                        </p:cTn>
                                        <p:tgtEl>
                                          <p:spTgt spid="16"/>
                                        </p:tgtEl>
                                        <p:attrNameLst>
                                          <p:attrName>style.visibility</p:attrName>
                                        </p:attrNameLst>
                                      </p:cBhvr>
                                      <p:to>
                                        <p:strVal val="hidden"/>
                                      </p:to>
                                    </p:set>
                                  </p:childTnLst>
                                </p:cTn>
                              </p:par>
                              <p:par>
                                <p:cTn id="69" presetID="1" presetClass="exit" presetSubtype="0" fill="hold" nodeType="withEffect">
                                  <p:stCondLst>
                                    <p:cond delay="0"/>
                                  </p:stCondLst>
                                  <p:childTnLst>
                                    <p:set>
                                      <p:cBhvr>
                                        <p:cTn id="70" dur="1" fill="hold">
                                          <p:stCondLst>
                                            <p:cond delay="0"/>
                                          </p:stCondLst>
                                        </p:cTn>
                                        <p:tgtEl>
                                          <p:spTgt spid="17"/>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18"/>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19"/>
                                        </p:tgtEl>
                                        <p:attrNameLst>
                                          <p:attrName>style.visibility</p:attrName>
                                        </p:attrNameLst>
                                      </p:cBhvr>
                                      <p:to>
                                        <p:strVal val="hidden"/>
                                      </p:to>
                                    </p:set>
                                  </p:childTnLst>
                                </p:cTn>
                              </p:par>
                              <p:par>
                                <p:cTn id="75" presetID="1" presetClass="exit" presetSubtype="0" fill="hold" nodeType="withEffect">
                                  <p:stCondLst>
                                    <p:cond delay="0"/>
                                  </p:stCondLst>
                                  <p:childTnLst>
                                    <p:set>
                                      <p:cBhvr>
                                        <p:cTn id="76" dur="1" fill="hold">
                                          <p:stCondLst>
                                            <p:cond delay="0"/>
                                          </p:stCondLst>
                                        </p:cTn>
                                        <p:tgtEl>
                                          <p:spTgt spid="20"/>
                                        </p:tgtEl>
                                        <p:attrNameLst>
                                          <p:attrName>style.visibility</p:attrName>
                                        </p:attrNameLst>
                                      </p:cBhvr>
                                      <p:to>
                                        <p:strVal val="hidden"/>
                                      </p:to>
                                    </p:set>
                                  </p:childTnLst>
                                </p:cTn>
                              </p:par>
                              <p:par>
                                <p:cTn id="77" presetID="1" presetClass="entr" presetSubtype="0" fill="hold" nodeType="withEffect">
                                  <p:stCondLst>
                                    <p:cond delay="0"/>
                                  </p:stCondLst>
                                  <p:childTnLst>
                                    <p:set>
                                      <p:cBhvr>
                                        <p:cTn id="78" dur="1" fill="hold">
                                          <p:stCondLst>
                                            <p:cond delay="0"/>
                                          </p:stCondLst>
                                        </p:cTn>
                                        <p:tgtEl>
                                          <p:spTgt spid="21"/>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22"/>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 name="!!area-name">
            <a:extLst xmlns:a="http://schemas.openxmlformats.org/drawingml/2006/main">
              <a:ext uri="{FF2B5EF4-FFF2-40B4-BE49-F238E27FC236}">
                <a16:creationId xmlns:a16="http://schemas.microsoft.com/office/drawing/2014/main" id="{4B0A6BC0-88A7-441C-9553-633D6111020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it's your agent</a:t>
            </a:r>
          </a:p>
        </p:txBody>
      </p:sp>
      <p:pic>
        <p:nvPicPr>
          <p:cNvPr id="16" name="mini-map"/>
          <p:cNvPicPr>
            <a:picLocks xmlns:a="http://schemas.openxmlformats.org/drawingml/2006/main" noChangeAspect="1"/>
          </p:cNvPicPr>
          <p:nvPr/>
        </p:nvPicPr>
        <p:blipFill>
          <a:blip xmlns:r="http://schemas.openxmlformats.org/officeDocument/2006/relationships" xmlns:a="http://schemas.openxmlformats.org/drawingml/2006/main" r:embed="R9d1d36011229491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27F13743-B04F-40E7-A603-95EC05C8380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There is no prompt to click.</a:t>
            </a:r>
          </a:p>
        </p:txBody>
      </p:sp>
      <p:graphicFrame>
        <p:nvGraphicFramePr>
          <p:cNvPr id="18" name="19-table-1"/>
          <p:cNvGraphicFramePr/>
          <p:nvPr/>
        </p:nvGraphicFramePr>
        <p:xfrm>
          <a:off xmlns:a="http://schemas.openxmlformats.org/drawingml/2006/main" x="609600" y="1854200"/>
          <a:ext xmlns:a="http://schemas.openxmlformats.org/drawingml/2006/main" cx="10972800" cy="3479800"/>
        </p:xfrm>
        <a:graphic xmlns:a="http://schemas.openxmlformats.org/drawingml/2006/main">
          <a:graphicData uri="http://schemas.openxmlformats.org/drawingml/2006/table">
            <a:tbl>
              <a:tblPr firstRow="0" firstCol="0" lastCol="0" bandRow="0" bandCol="0"/>
              <a:tblGrid>
                <a:gridCol w="5334000"/>
                <a:gridCol w="304800"/>
                <a:gridCol w="5334000"/>
              </a:tblGrid>
              <a:tr h="558800">
                <a:tc>
                  <a:txBody>
                    <a:bodyPr>
                      <a:noAutofit/>
                    </a:bodyPr>
                    <a:lstStyle/>
                    <a:p>
                      <a:pPr>
                        <a:lnSpc>
                          <a:spcPct val="125000"/>
                        </a:lnSpc>
                        <a:buNone/>
                      </a:pPr>
                      <a:r>
                        <a:rPr sz="2400" b="1">
                          <a:solidFill>
                            <a:srgbClr val="FDAD00"/>
                          </a:solidFill>
                          <a:latin typeface="Helvetica"/>
                          <a:ea typeface="Helvetica"/>
                          <a:cs typeface="Helvetica"/>
                        </a:rPr>
                        <a:t>In the coding agent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DAD00"/>
                          </a:solidFill>
                          <a:latin typeface="Helvetica"/>
                          <a:ea typeface="Helvetica"/>
                          <a:cs typeface="Helvetica"/>
                        </a:rPr>
                        <a:t>In your deployment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98500">
                <a:tc>
                  <a:txBody>
                    <a:bodyPr>
                      <a:noAutofit/>
                    </a:bodyPr>
                    <a:lstStyle/>
                    <a:p>
                      <a:pPr>
                        <a:lnSpc>
                          <a:spcPct val="125000"/>
                        </a:lnSpc>
                        <a:buNone/>
                      </a:pPr>
                      <a:r>
                        <a:rPr sz="2000" b="0">
                          <a:solidFill>
                            <a:srgbClr val="FFFCF5"/>
                          </a:solidFill>
                          <a:latin typeface="Helvetica"/>
                          <a:ea typeface="Helvetica"/>
                          <a:cs typeface="Helvetica"/>
                        </a:rPr>
                        <a:t>The approval prompt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async workflow, or a policy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98500">
                <a:tc>
                  <a:txBody>
                    <a:bodyPr>
                      <a:noAutofit/>
                    </a:bodyPr>
                    <a:lstStyle/>
                    <a:p>
                      <a:pPr>
                        <a:lnSpc>
                          <a:spcPct val="125000"/>
                        </a:lnSpc>
                        <a:buNone/>
                      </a:pPr>
                      <a:r>
                        <a:rPr sz="2000" b="0">
                          <a:solidFill>
                            <a:srgbClr val="FFFCF5"/>
                          </a:solidFill>
                          <a:latin typeface="Helvetica"/>
                          <a:ea typeface="Helvetica"/>
                          <a:cs typeface="Helvetica"/>
                        </a:rPr>
                        <a:t>The sandbox</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infrastructure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98500">
                <a:tc>
                  <a:txBody>
                    <a:bodyPr>
                      <a:noAutofit/>
                    </a:bodyPr>
                    <a:lstStyle/>
                    <a:p>
                      <a:pPr>
                        <a:lnSpc>
                          <a:spcPct val="125000"/>
                        </a:lnSpc>
                        <a:buNone/>
                      </a:pPr>
                      <a:r>
                        <a:rPr sz="2000" b="0">
                          <a:solidFill>
                            <a:srgbClr val="FFFCF5"/>
                          </a:solidFill>
                          <a:latin typeface="Helvetica"/>
                          <a:ea typeface="Helvetica"/>
                          <a:cs typeface="Helvetica"/>
                        </a:rPr>
                        <a:t>The audit log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 compliance artifact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25500">
                <a:tc>
                  <a:txBody>
                    <a:bodyPr>
                      <a:noAutofit/>
                    </a:bodyPr>
                    <a:lstStyle/>
                    <a:p>
                      <a:pPr>
                        <a:lnSpc>
                          <a:spcPct val="125000"/>
                        </a:lnSpc>
                        <a:buNone/>
                      </a:pPr>
                      <a:r>
                        <a:rPr sz="2000" b="0">
                          <a:solidFill>
                            <a:srgbClr val="FFFCF5"/>
                          </a:solidFill>
                          <a:latin typeface="Helvetica"/>
                          <a:ea typeface="Helvetica"/>
                          <a:cs typeface="Helvetica"/>
                        </a:rPr>
                        <a:t>A vendor's disclosure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Article 50: you tell them it is an AI</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 name="19-shape-2">
            <a:extLst xmlns:a="http://schemas.openxmlformats.org/drawingml/2006/main">
              <a:ext uri="{FF2B5EF4-FFF2-40B4-BE49-F238E27FC236}">
                <a16:creationId xmlns:a16="http://schemas.microsoft.com/office/drawing/2014/main" id="{1FF61CB9-0E87-4184-9813-20EF47459779}"/>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6" name="19-shape-3">
            <a:extLst xmlns:a="http://schemas.openxmlformats.org/drawingml/2006/main">
              <a:ext uri="{FF2B5EF4-FFF2-40B4-BE49-F238E27FC236}">
                <a16:creationId xmlns:a16="http://schemas.microsoft.com/office/drawing/2014/main" id="{E413D690-349F-4BAB-BF92-B64C2AC2C27F}"/>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7" name="19-text-4">
            <a:extLst xmlns:a="http://schemas.openxmlformats.org/drawingml/2006/main">
              <a:ext uri="{FF2B5EF4-FFF2-40B4-BE49-F238E27FC236}">
                <a16:creationId xmlns:a16="http://schemas.microsoft.com/office/drawing/2014/main" id="{45EB8FC1-DAFA-4BE2-81B4-F0504EE9C76B}"/>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8" name="19-text-5">
            <a:extLst xmlns:a="http://schemas.openxmlformats.org/drawingml/2006/main">
              <a:ext uri="{FF2B5EF4-FFF2-40B4-BE49-F238E27FC236}">
                <a16:creationId xmlns:a16="http://schemas.microsoft.com/office/drawing/2014/main" id="{E755FDF8-4D8C-47D4-A0B5-31881D799160}"/>
              </a:ext>
            </a:extLst>
          </p:cNvPr>
          <p:cNvSpPr>
            <a:spLocks xmlns:a="http://schemas.openxmlformats.org/drawingml/2006/main"/>
          </p:cNvSpPr>
          <p:nvPr/>
        </p:nvSpPr>
        <p:spPr>
          <a:xfrm xmlns:a="http://schemas.openxmlformats.org/drawingml/2006/main">
            <a:off x="2489200" y="5803900"/>
            <a:ext cx="51562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9" name="19-line-7">
            <a:extLst xmlns:a="http://schemas.openxmlformats.org/drawingml/2006/main">
              <a:ext uri="{FF2B5EF4-FFF2-40B4-BE49-F238E27FC236}">
                <a16:creationId xmlns:a16="http://schemas.microsoft.com/office/drawing/2014/main" id="{33B41979-4B03-4EA8-B371-48C559E1517F}"/>
              </a:ext>
            </a:extLst>
          </p:cNvPr>
          <p:cNvSpPr>
            <a:spLocks xmlns:a="http://schemas.openxmlformats.org/drawingml/2006/main"/>
          </p:cNvSpPr>
          <p:nvPr/>
        </p:nvSpPr>
        <p:spPr>
          <a:xfrm xmlns:a="http://schemas.openxmlformats.org/drawingml/2006/main" flipH="0" flipV="0">
            <a:off x="9855200" y="5918200"/>
            <a:ext cx="939800" cy="3429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0" name="19-line-9">
            <a:extLst xmlns:a="http://schemas.openxmlformats.org/drawingml/2006/main">
              <a:ext uri="{FF2B5EF4-FFF2-40B4-BE49-F238E27FC236}">
                <a16:creationId xmlns:a16="http://schemas.microsoft.com/office/drawing/2014/main" id="{ECB5C5F9-C4C8-4507-9295-BEEB663B6519}"/>
              </a:ext>
            </a:extLst>
          </p:cNvPr>
          <p:cNvSpPr>
            <a:spLocks xmlns:a="http://schemas.openxmlformats.org/drawingml/2006/main"/>
          </p:cNvSpPr>
          <p:nvPr/>
        </p:nvSpPr>
        <p:spPr>
          <a:xfrm xmlns:a="http://schemas.openxmlformats.org/drawingml/2006/main" flipH="1" flipV="0">
            <a:off x="8674100" y="6261100"/>
            <a:ext cx="21209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1" name="19-line-11">
            <a:extLst xmlns:a="http://schemas.openxmlformats.org/drawingml/2006/main">
              <a:ext uri="{FF2B5EF4-FFF2-40B4-BE49-F238E27FC236}">
                <a16:creationId xmlns:a16="http://schemas.microsoft.com/office/drawing/2014/main" id="{ECC76405-55FF-4CE7-B79B-9343E282EF19}"/>
              </a:ext>
            </a:extLst>
          </p:cNvPr>
          <p:cNvSpPr>
            <a:spLocks xmlns:a="http://schemas.openxmlformats.org/drawingml/2006/main"/>
          </p:cNvSpPr>
          <p:nvPr/>
        </p:nvSpPr>
        <p:spPr>
          <a:xfrm xmlns:a="http://schemas.openxmlformats.org/drawingml/2006/main" flipH="0" flipV="1">
            <a:off x="8674100" y="5918200"/>
            <a:ext cx="1181100" cy="3429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2" name="19-text-12">
            <a:extLst xmlns:a="http://schemas.openxmlformats.org/drawingml/2006/main">
              <a:ext uri="{FF2B5EF4-FFF2-40B4-BE49-F238E27FC236}">
                <a16:creationId xmlns:a16="http://schemas.microsoft.com/office/drawing/2014/main" id="{E6470B95-B1E2-4B20-9CCD-8F6FC8478986}"/>
              </a:ext>
            </a:extLst>
          </p:cNvPr>
          <p:cNvSpPr>
            <a:spLocks xmlns:a="http://schemas.openxmlformats.org/drawingml/2006/main"/>
          </p:cNvSpPr>
          <p:nvPr/>
        </p:nvSpPr>
        <p:spPr>
          <a:xfrm xmlns:a="http://schemas.openxmlformats.org/drawingml/2006/main">
            <a:off x="9499600" y="5638800"/>
            <a:ext cx="18415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 retriever</a:t>
            </a:r>
          </a:p>
        </p:txBody>
      </p:sp>
      <p:sp>
        <p:nvSpPr>
          <p:cNvPr id="13" name="19-text-13">
            <a:extLst xmlns:a="http://schemas.openxmlformats.org/drawingml/2006/main">
              <a:ext uri="{FF2B5EF4-FFF2-40B4-BE49-F238E27FC236}">
                <a16:creationId xmlns:a16="http://schemas.microsoft.com/office/drawing/2014/main" id="{10F09BFD-AF8E-4667-AB3B-9EC59DC92B4E}"/>
              </a:ext>
            </a:extLst>
          </p:cNvPr>
          <p:cNvSpPr>
            <a:spLocks xmlns:a="http://schemas.openxmlformats.org/drawingml/2006/main"/>
          </p:cNvSpPr>
          <p:nvPr/>
        </p:nvSpPr>
        <p:spPr>
          <a:xfrm xmlns:a="http://schemas.openxmlformats.org/drawingml/2006/main">
            <a:off x="7950200" y="6350000"/>
            <a:ext cx="1905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 web fetch tool</a:t>
            </a:r>
          </a:p>
        </p:txBody>
      </p:sp>
      <p:sp>
        <p:nvSpPr>
          <p:cNvPr id="14" name="19-text-14">
            <a:extLst xmlns:a="http://schemas.openxmlformats.org/drawingml/2006/main">
              <a:ext uri="{FF2B5EF4-FFF2-40B4-BE49-F238E27FC236}">
                <a16:creationId xmlns:a16="http://schemas.microsoft.com/office/drawing/2014/main" id="{2BAFF54F-1294-4404-BD8A-B10A8C228281}"/>
              </a:ext>
            </a:extLst>
          </p:cNvPr>
          <p:cNvSpPr>
            <a:spLocks xmlns:a="http://schemas.openxmlformats.org/drawingml/2006/main"/>
          </p:cNvSpPr>
          <p:nvPr/>
        </p:nvSpPr>
        <p:spPr>
          <a:xfrm xmlns:a="http://schemas.openxmlformats.org/drawingml/2006/main">
            <a:off x="10033000" y="6350000"/>
            <a:ext cx="1930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an email sender</a:t>
            </a:r>
          </a:p>
        </p:txBody>
      </p:sp>
    </p:spTree>
    <p:extLst>
      <p:ext uri="{BB962C8B-B14F-4D97-AF65-F5344CB8AC3E}">
        <p14:creationId xmlns:p14="http://schemas.microsoft.com/office/powerpoint/2010/main" val="184227258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00" fill="hold"/>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300" fill="hold"/>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300" fill="hold"/>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300" fill="hold"/>
                                        <p:tgtEl>
                                          <p:spTgt spid="8"/>
                                        </p:tgtEl>
                                      </p:cBhvr>
                                    </p:animEffec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2" name="19b-image-1"/>
          <p:cNvPicPr>
            <a:picLocks xmlns:a="http://schemas.openxmlformats.org/drawingml/2006/main" noChangeAspect="1"/>
          </p:cNvPicPr>
          <p:nvPr/>
        </p:nvPicPr>
        <p:blipFill>
          <a:blip xmlns:r="http://schemas.openxmlformats.org/officeDocument/2006/relationships" xmlns:a="http://schemas.openxmlformats.org/drawingml/2006/main" r:embed="R157ddafb8a52404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691238310"/>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8" name="!!area-name">
            <a:extLst xmlns:a="http://schemas.openxmlformats.org/drawingml/2006/main">
              <a:ext uri="{FF2B5EF4-FFF2-40B4-BE49-F238E27FC236}">
                <a16:creationId xmlns:a16="http://schemas.microsoft.com/office/drawing/2014/main" id="{CAAAE05C-4070-45C2-B4FB-907F8CDB3A2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9" name="mini-map"/>
          <p:cNvPicPr>
            <a:picLocks xmlns:a="http://schemas.openxmlformats.org/drawingml/2006/main" noChangeAspect="1"/>
          </p:cNvPicPr>
          <p:nvPr/>
        </p:nvPicPr>
        <p:blipFill>
          <a:blip xmlns:r="http://schemas.openxmlformats.org/officeDocument/2006/relationships" xmlns:a="http://schemas.openxmlformats.org/drawingml/2006/main" r:embed="Rdc8a5d0c28744db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563D5946-A79A-47CE-9E79-3BC5FE74448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graphicFrame>
        <p:nvGraphicFramePr>
          <p:cNvPr id="11" name="20-table-1"/>
          <p:cNvGraphicFramePr/>
          <p:nvPr/>
        </p:nvGraphicFramePr>
        <p:xfrm>
          <a:off xmlns:a="http://schemas.openxmlformats.org/drawingml/2006/main" x="609600" y="1638300"/>
          <a:ext xmlns:a="http://schemas.openxmlformats.org/drawingml/2006/main" cx="10972800" cy="36703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01B66D"/>
                          </a:solidFill>
                          <a:latin typeface="Helvetica"/>
                          <a:ea typeface="Helvetica"/>
                          <a:cs typeface="Helvetica"/>
                        </a:rPr>
                        <a:t>You already do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It becomes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826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Harness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826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Tool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826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Eval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82600">
                <a:tc>
                  <a:txBody>
                    <a:bodyPr>
                      <a:noAutofit/>
                    </a:bodyPr>
                    <a:lstStyle/>
                    <a:p>
                      <a:pPr>
                        <a:lnSpc>
                          <a:spcPct val="125000"/>
                        </a:lnSpc>
                        <a:buNone/>
                      </a:pPr>
                      <a:r>
                        <a:rPr sz="2000" b="0">
                          <a:solidFill>
                            <a:srgbClr val="FFFCF5"/>
                          </a:solidFill>
                          <a:latin typeface="Helvetica"/>
                          <a:ea typeface="Helvetica"/>
                          <a:cs typeface="Helvetica"/>
                        </a:rPr>
                        <a:t>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with a new schema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826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Least privilege for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23900">
                <a:tc>
                  <a:txBody>
                    <a:bodyPr>
                      <a:noAutofit/>
                    </a:bodyPr>
                    <a:lstStyle/>
                    <a:p>
                      <a:pPr>
                        <a:lnSpc>
                          <a:spcPct val="125000"/>
                        </a:lnSpc>
                        <a:buNone/>
                      </a:pPr>
                      <a:r>
                        <a:rPr sz="2000" b="0">
                          <a:solidFill>
                            <a:srgbClr val="FFFCF5"/>
                          </a:solidFill>
                          <a:latin typeface="Helvetica"/>
                          <a:ea typeface="Helvetica"/>
                          <a:cs typeface="Helvetica"/>
                        </a:rPr>
                        <a:t>Operations: cost, latency,</a:t>
                      </a:r>
                    </a:p>
                    <a:p>
                      <a:pPr>
                        <a:lnSpc>
                          <a:spcPct val="125000"/>
                        </a:lnSpc>
                        <a:buNone/>
                      </a:pPr>
                      <a:r>
                        <a:rPr sz="2000" b="0">
                          <a:solidFill>
                            <a:srgbClr val="FFFCF5"/>
                          </a:solidFill>
                          <a:latin typeface="Helvetica"/>
                          <a:ea typeface="Helvetica"/>
                          <a:cs typeface="Helvetica"/>
                        </a:rPr>
                        <a:t>incidents, rollback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in tokens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 name="20-text-2">
            <a:extLst xmlns:a="http://schemas.openxmlformats.org/drawingml/2006/main">
              <a:ext uri="{FF2B5EF4-FFF2-40B4-BE49-F238E27FC236}">
                <a16:creationId xmlns:a16="http://schemas.microsoft.com/office/drawing/2014/main" id="{711A3430-DC82-47B3-9E43-F78C7A04E25F}"/>
              </a:ext>
            </a:extLst>
          </p:cNvPr>
          <p:cNvSpPr>
            <a:spLocks xmlns:a="http://schemas.openxmlformats.org/drawingml/2006/main"/>
          </p:cNvSpPr>
          <p:nvPr/>
        </p:nvSpPr>
        <p:spPr>
          <a:xfrm xmlns:a="http://schemas.openxmlformats.org/drawingml/2006/main">
            <a:off x="609600" y="222250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Engineers at incident.io, Sentry, Elsevier, and others crossed over in months, not years.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twenty-five-year veteran: about two months.</a:t>
            </a:r>
          </a:p>
        </p:txBody>
      </p:sp>
      <p:sp>
        <p:nvSpPr>
          <p:cNvPr id="6" name="20-text-3">
            <a:extLst xmlns:a="http://schemas.openxmlformats.org/drawingml/2006/main">
              <a:ext uri="{FF2B5EF4-FFF2-40B4-BE49-F238E27FC236}">
                <a16:creationId xmlns:a16="http://schemas.microsoft.com/office/drawing/2014/main" id="{84410D2E-9612-4875-A589-1498AF62B76E}"/>
              </a:ext>
            </a:extLst>
          </p:cNvPr>
          <p:cNvSpPr>
            <a:spLocks xmlns:a="http://schemas.openxmlformats.org/drawingml/2006/main"/>
          </p:cNvSpPr>
          <p:nvPr/>
        </p:nvSpPr>
        <p:spPr>
          <a:xfrm xmlns:a="http://schemas.openxmlformats.org/drawingml/2006/main">
            <a:off x="609600" y="3975100"/>
            <a:ext cx="109728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experienced engineers who know how to break problems down, AI tools are an incredible force multiplier."</a:t>
            </a:r>
          </a:p>
        </p:txBody>
      </p:sp>
      <p:sp>
        <p:nvSpPr>
          <p:cNvPr id="7" name="20-text-4">
            <a:extLst xmlns:a="http://schemas.openxmlformats.org/drawingml/2006/main">
              <a:ext uri="{FF2B5EF4-FFF2-40B4-BE49-F238E27FC236}">
                <a16:creationId xmlns:a16="http://schemas.microsoft.com/office/drawing/2014/main" id="{7DAA387D-CD03-4F6B-85B7-E9BE291CFD46}"/>
              </a:ext>
            </a:extLst>
          </p:cNvPr>
          <p:cNvSpPr>
            <a:spLocks xmlns:a="http://schemas.openxmlformats.org/drawingml/2006/main"/>
          </p:cNvSpPr>
          <p:nvPr/>
        </p:nvSpPr>
        <p:spPr>
          <a:xfrm xmlns:a="http://schemas.openxmlformats.org/drawingml/2006/main">
            <a:off x="609600" y="5410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ADACA9"/>
                </a:solidFill>
                <a:latin typeface="Helvetica"/>
                <a:ea typeface="Helvetica"/>
                <a:cs typeface="Helvetica"/>
              </a:rPr>
              <a:t>Matt Morgis, Elsevier, via The Pragmatic Engineer, March 2025</a:t>
            </a:r>
          </a:p>
        </p:txBody>
      </p:sp>
    </p:spTree>
    <p:extLst>
      <p:ext uri="{BB962C8B-B14F-4D97-AF65-F5344CB8AC3E}">
        <p14:creationId xmlns:p14="http://schemas.microsoft.com/office/powerpoint/2010/main" val="16449971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1"/>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 name="!!area-name">
            <a:extLst xmlns:a="http://schemas.openxmlformats.org/drawingml/2006/main">
              <a:ext uri="{FF2B5EF4-FFF2-40B4-BE49-F238E27FC236}">
                <a16:creationId xmlns:a16="http://schemas.microsoft.com/office/drawing/2014/main" id="{EF89EB48-DC49-4457-854A-418E52AB1CF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15" name="mini-map"/>
          <p:cNvPicPr>
            <a:picLocks xmlns:a="http://schemas.openxmlformats.org/drawingml/2006/main" noChangeAspect="1"/>
          </p:cNvPicPr>
          <p:nvPr/>
        </p:nvPicPr>
        <p:blipFill>
          <a:blip xmlns:r="http://schemas.openxmlformats.org/officeDocument/2006/relationships" xmlns:a="http://schemas.openxmlformats.org/drawingml/2006/main" r:embed="Rdc040bdc2e034a6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544FE43A-78E5-4FFF-B436-D38E5932F7E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is new</a:t>
            </a:r>
          </a:p>
        </p:txBody>
      </p:sp>
      <p:sp>
        <p:nvSpPr>
          <p:cNvPr id="4" name="21-text-1">
            <a:extLst xmlns:a="http://schemas.openxmlformats.org/drawingml/2006/main">
              <a:ext uri="{FF2B5EF4-FFF2-40B4-BE49-F238E27FC236}">
                <a16:creationId xmlns:a16="http://schemas.microsoft.com/office/drawing/2014/main" id="{861BB22F-487E-4CE8-9EE2-E608A588C65C}"/>
              </a:ext>
            </a:extLst>
          </p:cNvPr>
          <p:cNvSpPr>
            <a:spLocks xmlns:a="http://schemas.openxmlformats.org/drawingml/2006/main"/>
          </p:cNvSpPr>
          <p:nvPr/>
        </p:nvSpPr>
        <p:spPr>
          <a:xfrm xmlns:a="http://schemas.openxmlformats.org/drawingml/2006/main">
            <a:off x="609600" y="3962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Prompt engineering</a:t>
            </a:r>
          </a:p>
        </p:txBody>
      </p:sp>
      <p:sp>
        <p:nvSpPr>
          <p:cNvPr id="5" name="21-line-3">
            <a:extLst xmlns:a="http://schemas.openxmlformats.org/drawingml/2006/main">
              <a:ext uri="{FF2B5EF4-FFF2-40B4-BE49-F238E27FC236}">
                <a16:creationId xmlns:a16="http://schemas.microsoft.com/office/drawing/2014/main" id="{BBC43F76-BF03-403F-84C7-89186965E562}"/>
              </a:ext>
            </a:extLst>
          </p:cNvPr>
          <p:cNvSpPr>
            <a:spLocks xmlns:a="http://schemas.openxmlformats.org/drawingml/2006/main"/>
          </p:cNvSpPr>
          <p:nvPr/>
        </p:nvSpPr>
        <p:spPr>
          <a:xfrm xmlns:a="http://schemas.openxmlformats.org/drawingml/2006/main" flipH="0" flipV="0">
            <a:off x="609600" y="4445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6" name="21-text-4">
            <a:extLst xmlns:a="http://schemas.openxmlformats.org/drawingml/2006/main">
              <a:ext uri="{FF2B5EF4-FFF2-40B4-BE49-F238E27FC236}">
                <a16:creationId xmlns:a16="http://schemas.microsoft.com/office/drawing/2014/main" id="{4BF27F62-0F9E-4B60-A1C8-C62C43BC7DE9}"/>
              </a:ext>
            </a:extLst>
          </p:cNvPr>
          <p:cNvSpPr>
            <a:spLocks xmlns:a="http://schemas.openxmlformats.org/drawingml/2006/main"/>
          </p:cNvSpPr>
          <p:nvPr/>
        </p:nvSpPr>
        <p:spPr>
          <a:xfrm xmlns:a="http://schemas.openxmlformats.org/drawingml/2006/main">
            <a:off x="609600" y="4597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2023</a:t>
            </a:r>
          </a:p>
        </p:txBody>
      </p:sp>
      <p:sp>
        <p:nvSpPr>
          <p:cNvPr id="7" name="21-text-5">
            <a:extLst xmlns:a="http://schemas.openxmlformats.org/drawingml/2006/main">
              <a:ext uri="{FF2B5EF4-FFF2-40B4-BE49-F238E27FC236}">
                <a16:creationId xmlns:a16="http://schemas.microsoft.com/office/drawing/2014/main" id="{7013174A-5996-433E-9B8A-26FF637690C2}"/>
              </a:ext>
            </a:extLst>
          </p:cNvPr>
          <p:cNvSpPr>
            <a:spLocks xmlns:a="http://schemas.openxmlformats.org/drawingml/2006/main"/>
          </p:cNvSpPr>
          <p:nvPr/>
        </p:nvSpPr>
        <p:spPr>
          <a:xfrm xmlns:a="http://schemas.openxmlformats.org/drawingml/2006/main">
            <a:off x="4368800" y="3073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8" name="21-line-7">
            <a:extLst xmlns:a="http://schemas.openxmlformats.org/drawingml/2006/main">
              <a:ext uri="{FF2B5EF4-FFF2-40B4-BE49-F238E27FC236}">
                <a16:creationId xmlns:a16="http://schemas.microsoft.com/office/drawing/2014/main" id="{C4E16DCA-653A-4DF3-9E28-61FC77181EDF}"/>
              </a:ext>
            </a:extLst>
          </p:cNvPr>
          <p:cNvSpPr>
            <a:spLocks xmlns:a="http://schemas.openxmlformats.org/drawingml/2006/main"/>
          </p:cNvSpPr>
          <p:nvPr/>
        </p:nvSpPr>
        <p:spPr>
          <a:xfrm xmlns:a="http://schemas.openxmlformats.org/drawingml/2006/main" flipH="0" flipV="0">
            <a:off x="4368800" y="3556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9" name="21-text-8">
            <a:extLst xmlns:a="http://schemas.openxmlformats.org/drawingml/2006/main">
              <a:ext uri="{FF2B5EF4-FFF2-40B4-BE49-F238E27FC236}">
                <a16:creationId xmlns:a16="http://schemas.microsoft.com/office/drawing/2014/main" id="{F3DFE3E9-39BA-4166-98D5-478E73F5A85B}"/>
              </a:ext>
            </a:extLst>
          </p:cNvPr>
          <p:cNvSpPr>
            <a:spLocks xmlns:a="http://schemas.openxmlformats.org/drawingml/2006/main"/>
          </p:cNvSpPr>
          <p:nvPr/>
        </p:nvSpPr>
        <p:spPr>
          <a:xfrm xmlns:a="http://schemas.openxmlformats.org/drawingml/2006/main">
            <a:off x="4368800" y="3708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2025</a:t>
            </a:r>
          </a:p>
        </p:txBody>
      </p:sp>
      <p:sp>
        <p:nvSpPr>
          <p:cNvPr id="10" name="21-text-9">
            <a:extLst xmlns:a="http://schemas.openxmlformats.org/drawingml/2006/main">
              <a:ext uri="{FF2B5EF4-FFF2-40B4-BE49-F238E27FC236}">
                <a16:creationId xmlns:a16="http://schemas.microsoft.com/office/drawing/2014/main" id="{9AC429DE-C750-46F4-B652-7EB918A5E070}"/>
              </a:ext>
            </a:extLst>
          </p:cNvPr>
          <p:cNvSpPr>
            <a:spLocks xmlns:a="http://schemas.openxmlformats.org/drawingml/2006/main"/>
          </p:cNvSpPr>
          <p:nvPr/>
        </p:nvSpPr>
        <p:spPr>
          <a:xfrm xmlns:a="http://schemas.openxmlformats.org/drawingml/2006/main">
            <a:off x="8128000" y="2184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engineering</a:t>
            </a:r>
          </a:p>
        </p:txBody>
      </p:sp>
      <p:sp>
        <p:nvSpPr>
          <p:cNvPr id="11" name="21-line-11">
            <a:extLst xmlns:a="http://schemas.openxmlformats.org/drawingml/2006/main">
              <a:ext uri="{FF2B5EF4-FFF2-40B4-BE49-F238E27FC236}">
                <a16:creationId xmlns:a16="http://schemas.microsoft.com/office/drawing/2014/main" id="{954AE8DD-ACDB-45F3-9D0E-BBB7C8741734}"/>
              </a:ext>
            </a:extLst>
          </p:cNvPr>
          <p:cNvSpPr>
            <a:spLocks xmlns:a="http://schemas.openxmlformats.org/drawingml/2006/main"/>
          </p:cNvSpPr>
          <p:nvPr/>
        </p:nvSpPr>
        <p:spPr>
          <a:xfrm xmlns:a="http://schemas.openxmlformats.org/drawingml/2006/main" flipH="0" flipV="0">
            <a:off x="8128000" y="2667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2" name="21-text-12">
            <a:extLst xmlns:a="http://schemas.openxmlformats.org/drawingml/2006/main">
              <a:ext uri="{FF2B5EF4-FFF2-40B4-BE49-F238E27FC236}">
                <a16:creationId xmlns:a16="http://schemas.microsoft.com/office/drawing/2014/main" id="{E51B447E-427E-44FA-A91F-724BAB258DFB}"/>
              </a:ext>
            </a:extLst>
          </p:cNvPr>
          <p:cNvSpPr>
            <a:spLocks xmlns:a="http://schemas.openxmlformats.org/drawingml/2006/main"/>
          </p:cNvSpPr>
          <p:nvPr/>
        </p:nvSpPr>
        <p:spPr>
          <a:xfrm xmlns:a="http://schemas.openxmlformats.org/drawingml/2006/main">
            <a:off x="8128000" y="2819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2026</a:t>
            </a:r>
          </a:p>
        </p:txBody>
      </p:sp>
      <p:sp>
        <p:nvSpPr>
          <p:cNvPr id="13" name="21-text-13">
            <a:extLst xmlns:a="http://schemas.openxmlformats.org/drawingml/2006/main">
              <a:ext uri="{FF2B5EF4-FFF2-40B4-BE49-F238E27FC236}">
                <a16:creationId xmlns:a16="http://schemas.microsoft.com/office/drawing/2014/main" id="{7CA8407D-208A-49DF-9502-316C58BECA55}"/>
              </a:ext>
            </a:extLst>
          </p:cNvPr>
          <p:cNvSpPr>
            <a:spLocks xmlns:a="http://schemas.openxmlformats.org/drawingml/2006/main"/>
          </p:cNvSpPr>
          <p:nvPr/>
        </p:nvSpPr>
        <p:spPr>
          <a:xfrm xmlns:a="http://schemas.openxmlformats.org/drawingml/2006/main">
            <a:off x="609600" y="5613400"/>
            <a:ext cx="10972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Each one absorbs the last.</a:t>
            </a:r>
          </a:p>
        </p:txBody>
      </p:sp>
    </p:spTree>
    <p:extLst>
      <p:ext uri="{BB962C8B-B14F-4D97-AF65-F5344CB8AC3E}">
        <p14:creationId xmlns:p14="http://schemas.microsoft.com/office/powerpoint/2010/main" val="591320732"/>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 name="!!area-name">
            <a:extLst xmlns:a="http://schemas.openxmlformats.org/drawingml/2006/main">
              <a:ext uri="{FF2B5EF4-FFF2-40B4-BE49-F238E27FC236}">
                <a16:creationId xmlns:a16="http://schemas.microsoft.com/office/drawing/2014/main" id="{80C37686-0270-476C-9F6C-9011BD84F66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21" name="mini-map"/>
          <p:cNvPicPr>
            <a:picLocks xmlns:a="http://schemas.openxmlformats.org/drawingml/2006/main" noChangeAspect="1"/>
          </p:cNvPicPr>
          <p:nvPr/>
        </p:nvPicPr>
        <p:blipFill>
          <a:blip xmlns:r="http://schemas.openxmlformats.org/officeDocument/2006/relationships" xmlns:a="http://schemas.openxmlformats.org/drawingml/2006/main" r:embed="Rbf5e6f554b72443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21b-text-1">
            <a:extLst xmlns:a="http://schemas.openxmlformats.org/drawingml/2006/main">
              <a:ext uri="{FF2B5EF4-FFF2-40B4-BE49-F238E27FC236}">
                <a16:creationId xmlns:a16="http://schemas.microsoft.com/office/drawing/2014/main" id="{87339F65-A0D7-4B58-BB36-143E92CC9180}"/>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4" name="21b-text-2">
            <a:extLst xmlns:a="http://schemas.openxmlformats.org/drawingml/2006/main">
              <a:ext uri="{FF2B5EF4-FFF2-40B4-BE49-F238E27FC236}">
                <a16:creationId xmlns:a16="http://schemas.microsoft.com/office/drawing/2014/main" id="{FF630929-6E48-42CE-BA80-5D456D22C5CE}"/>
              </a:ext>
            </a:extLst>
          </p:cNvPr>
          <p:cNvSpPr>
            <a:spLocks xmlns:a="http://schemas.openxmlformats.org/drawingml/2006/main"/>
          </p:cNvSpPr>
          <p:nvPr/>
        </p:nvSpPr>
        <p:spPr>
          <a:xfrm xmlns:a="http://schemas.openxmlformats.org/drawingml/2006/main">
            <a:off x="609600" y="1422400"/>
            <a:ext cx="406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Consolas"/>
                <a:ea typeface="Consolas"/>
                <a:cs typeface="Consolas"/>
              </a:defRPr>
            </a:pPr>
            <a:r>
              <a:rPr b="0">
                <a:solidFill>
                  <a:srgbClr val="ADACA9"/>
                </a:solidFill>
                <a:latin typeface="Consolas"/>
                <a:ea typeface="Consolas"/>
                <a:cs typeface="Consolas"/>
              </a:rPr>
              <a:t>1</a:t>
            </a:r>
          </a:p>
        </p:txBody>
      </p:sp>
      <p:sp>
        <p:nvSpPr>
          <p:cNvPr id="5" name="21b-text-3">
            <a:extLst xmlns:a="http://schemas.openxmlformats.org/drawingml/2006/main">
              <a:ext uri="{FF2B5EF4-FFF2-40B4-BE49-F238E27FC236}">
                <a16:creationId xmlns:a16="http://schemas.microsoft.com/office/drawing/2014/main" id="{5640670C-0798-46F2-B005-F58E5FC08D69}"/>
              </a:ext>
            </a:extLst>
          </p:cNvPr>
          <p:cNvSpPr>
            <a:spLocks xmlns:a="http://schemas.openxmlformats.org/drawingml/2006/main"/>
          </p:cNvSpPr>
          <p:nvPr/>
        </p:nvSpPr>
        <p:spPr>
          <a:xfrm xmlns:a="http://schemas.openxmlformats.org/drawingml/2006/main">
            <a:off x="1117600" y="1422400"/>
            <a:ext cx="10464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behavior intuition. Only from reading outputs.</a:t>
            </a:r>
          </a:p>
        </p:txBody>
      </p:sp>
      <p:sp>
        <p:nvSpPr>
          <p:cNvPr id="6" name="21b-text-4">
            <a:extLst xmlns:a="http://schemas.openxmlformats.org/drawingml/2006/main">
              <a:ext uri="{FF2B5EF4-FFF2-40B4-BE49-F238E27FC236}">
                <a16:creationId xmlns:a16="http://schemas.microsoft.com/office/drawing/2014/main" id="{AEA4FC6D-4F38-4B8F-B5E7-B51CBA99956B}"/>
              </a:ext>
            </a:extLst>
          </p:cNvPr>
          <p:cNvSpPr>
            <a:spLocks xmlns:a="http://schemas.openxmlformats.org/drawingml/2006/main"/>
          </p:cNvSpPr>
          <p:nvPr/>
        </p:nvSpPr>
        <p:spPr>
          <a:xfrm xmlns:a="http://schemas.openxmlformats.org/drawingml/2006/main">
            <a:off x="609600" y="2082800"/>
            <a:ext cx="406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Consolas"/>
                <a:ea typeface="Consolas"/>
                <a:cs typeface="Consolas"/>
              </a:defRPr>
            </a:pPr>
            <a:r>
              <a:rPr b="0">
                <a:solidFill>
                  <a:srgbClr val="ADACA9"/>
                </a:solidFill>
                <a:latin typeface="Consolas"/>
                <a:ea typeface="Consolas"/>
                <a:cs typeface="Consolas"/>
              </a:rPr>
              <a:t>2</a:t>
            </a:r>
          </a:p>
        </p:txBody>
      </p:sp>
      <p:sp>
        <p:nvSpPr>
          <p:cNvPr id="7" name="21b-text-5">
            <a:extLst xmlns:a="http://schemas.openxmlformats.org/drawingml/2006/main">
              <a:ext uri="{FF2B5EF4-FFF2-40B4-BE49-F238E27FC236}">
                <a16:creationId xmlns:a16="http://schemas.microsoft.com/office/drawing/2014/main" id="{08F56362-563C-466B-8FD2-C076934CFAA6}"/>
              </a:ext>
            </a:extLst>
          </p:cNvPr>
          <p:cNvSpPr>
            <a:spLocks xmlns:a="http://schemas.openxmlformats.org/drawingml/2006/main"/>
          </p:cNvSpPr>
          <p:nvPr/>
        </p:nvSpPr>
        <p:spPr>
          <a:xfrm xmlns:a="http://schemas.openxmlformats.org/drawingml/2006/main">
            <a:off x="1117600" y="2082800"/>
            <a:ext cx="10464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8" name="21b-text-6">
            <a:extLst xmlns:a="http://schemas.openxmlformats.org/drawingml/2006/main">
              <a:ext uri="{FF2B5EF4-FFF2-40B4-BE49-F238E27FC236}">
                <a16:creationId xmlns:a16="http://schemas.microsoft.com/office/drawing/2014/main" id="{F8A9FAC9-B5A6-4F61-88D9-262AEA07FEEB}"/>
              </a:ext>
            </a:extLst>
          </p:cNvPr>
          <p:cNvSpPr>
            <a:spLocks xmlns:a="http://schemas.openxmlformats.org/drawingml/2006/main"/>
          </p:cNvSpPr>
          <p:nvPr/>
        </p:nvSpPr>
        <p:spPr>
          <a:xfrm xmlns:a="http://schemas.openxmlformats.org/drawingml/2006/main">
            <a:off x="609600" y="2743200"/>
            <a:ext cx="406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Consolas"/>
                <a:ea typeface="Consolas"/>
                <a:cs typeface="Consolas"/>
              </a:defRPr>
            </a:pPr>
            <a:r>
              <a:rPr b="0">
                <a:solidFill>
                  <a:srgbClr val="ADACA9"/>
                </a:solidFill>
                <a:latin typeface="Consolas"/>
                <a:ea typeface="Consolas"/>
                <a:cs typeface="Consolas"/>
              </a:rPr>
              <a:t>3</a:t>
            </a:r>
          </a:p>
        </p:txBody>
      </p:sp>
      <p:sp>
        <p:nvSpPr>
          <p:cNvPr id="9" name="21b-text-7">
            <a:extLst xmlns:a="http://schemas.openxmlformats.org/drawingml/2006/main">
              <a:ext uri="{FF2B5EF4-FFF2-40B4-BE49-F238E27FC236}">
                <a16:creationId xmlns:a16="http://schemas.microsoft.com/office/drawing/2014/main" id="{B43D8E13-09BA-4A19-887F-0D2B472B16BC}"/>
              </a:ext>
            </a:extLst>
          </p:cNvPr>
          <p:cNvSpPr>
            <a:spLocks xmlns:a="http://schemas.openxmlformats.org/drawingml/2006/main"/>
          </p:cNvSpPr>
          <p:nvPr/>
        </p:nvSpPr>
        <p:spPr>
          <a:xfrm xmlns:a="http://schemas.openxmlformats.org/drawingml/2006/main">
            <a:off x="1117600" y="2743200"/>
            <a:ext cx="10464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 design, for a caller that reads the description every time.</a:t>
            </a:r>
          </a:p>
        </p:txBody>
      </p:sp>
      <p:sp>
        <p:nvSpPr>
          <p:cNvPr id="10" name="21b-text-8">
            <a:extLst xmlns:a="http://schemas.openxmlformats.org/drawingml/2006/main">
              <a:ext uri="{FF2B5EF4-FFF2-40B4-BE49-F238E27FC236}">
                <a16:creationId xmlns:a16="http://schemas.microsoft.com/office/drawing/2014/main" id="{19F9CF1E-4C4B-44AD-94FF-DFDE5669E994}"/>
              </a:ext>
            </a:extLst>
          </p:cNvPr>
          <p:cNvSpPr>
            <a:spLocks xmlns:a="http://schemas.openxmlformats.org/drawingml/2006/main"/>
          </p:cNvSpPr>
          <p:nvPr/>
        </p:nvSpPr>
        <p:spPr>
          <a:xfrm xmlns:a="http://schemas.openxmlformats.org/drawingml/2006/main">
            <a:off x="609600" y="3403600"/>
            <a:ext cx="406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Consolas"/>
                <a:ea typeface="Consolas"/>
                <a:cs typeface="Consolas"/>
              </a:defRPr>
            </a:pPr>
            <a:r>
              <a:rPr b="0">
                <a:solidFill>
                  <a:srgbClr val="ADACA9"/>
                </a:solidFill>
                <a:latin typeface="Consolas"/>
                <a:ea typeface="Consolas"/>
                <a:cs typeface="Consolas"/>
              </a:rPr>
              <a:t>4</a:t>
            </a:r>
          </a:p>
        </p:txBody>
      </p:sp>
      <p:sp>
        <p:nvSpPr>
          <p:cNvPr id="11" name="21b-text-9">
            <a:extLst xmlns:a="http://schemas.openxmlformats.org/drawingml/2006/main">
              <a:ext uri="{FF2B5EF4-FFF2-40B4-BE49-F238E27FC236}">
                <a16:creationId xmlns:a16="http://schemas.microsoft.com/office/drawing/2014/main" id="{7AFDEB3A-5A85-40E3-BDA9-92C816BD40EB}"/>
              </a:ext>
            </a:extLst>
          </p:cNvPr>
          <p:cNvSpPr>
            <a:spLocks xmlns:a="http://schemas.openxmlformats.org/drawingml/2006/main"/>
          </p:cNvSpPr>
          <p:nvPr/>
        </p:nvSpPr>
        <p:spPr>
          <a:xfrm xmlns:a="http://schemas.openxmlformats.org/drawingml/2006/main">
            <a:off x="1117600" y="3403600"/>
            <a:ext cx="10464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and loop design.</a:t>
            </a:r>
          </a:p>
        </p:txBody>
      </p:sp>
      <p:sp>
        <p:nvSpPr>
          <p:cNvPr id="12" name="21b-text-10">
            <a:extLst xmlns:a="http://schemas.openxmlformats.org/drawingml/2006/main">
              <a:ext uri="{FF2B5EF4-FFF2-40B4-BE49-F238E27FC236}">
                <a16:creationId xmlns:a16="http://schemas.microsoft.com/office/drawing/2014/main" id="{B8EBD78B-2D5E-43CE-80D0-7EEF90ABC773}"/>
              </a:ext>
            </a:extLst>
          </p:cNvPr>
          <p:cNvSpPr>
            <a:spLocks xmlns:a="http://schemas.openxmlformats.org/drawingml/2006/main"/>
          </p:cNvSpPr>
          <p:nvPr/>
        </p:nvSpPr>
        <p:spPr>
          <a:xfrm xmlns:a="http://schemas.openxmlformats.org/drawingml/2006/main">
            <a:off x="609600" y="4064000"/>
            <a:ext cx="406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Consolas"/>
                <a:ea typeface="Consolas"/>
                <a:cs typeface="Consolas"/>
              </a:defRPr>
            </a:pPr>
            <a:r>
              <a:rPr b="0">
                <a:solidFill>
                  <a:srgbClr val="ADACA9"/>
                </a:solidFill>
                <a:latin typeface="Consolas"/>
                <a:ea typeface="Consolas"/>
                <a:cs typeface="Consolas"/>
              </a:rPr>
              <a:t>5</a:t>
            </a:r>
          </a:p>
        </p:txBody>
      </p:sp>
      <p:sp>
        <p:nvSpPr>
          <p:cNvPr id="13" name="21b-text-11">
            <a:extLst xmlns:a="http://schemas.openxmlformats.org/drawingml/2006/main">
              <a:ext uri="{FF2B5EF4-FFF2-40B4-BE49-F238E27FC236}">
                <a16:creationId xmlns:a16="http://schemas.microsoft.com/office/drawing/2014/main" id="{D3240A60-531B-4F3B-8546-C1B05BFBDE54}"/>
              </a:ext>
            </a:extLst>
          </p:cNvPr>
          <p:cNvSpPr>
            <a:spLocks xmlns:a="http://schemas.openxmlformats.org/drawingml/2006/main"/>
          </p:cNvSpPr>
          <p:nvPr/>
        </p:nvSpPr>
        <p:spPr>
          <a:xfrm xmlns:a="http://schemas.openxmlformats.org/drawingml/2006/main">
            <a:off x="1117600" y="4064000"/>
            <a:ext cx="10464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Evals and error analysis. Sixty to eighty percent of the time.</a:t>
            </a:r>
          </a:p>
        </p:txBody>
      </p:sp>
      <p:sp>
        <p:nvSpPr>
          <p:cNvPr id="14" name="21b-text-12">
            <a:extLst xmlns:a="http://schemas.openxmlformats.org/drawingml/2006/main">
              <a:ext uri="{FF2B5EF4-FFF2-40B4-BE49-F238E27FC236}">
                <a16:creationId xmlns:a16="http://schemas.microsoft.com/office/drawing/2014/main" id="{4172A311-7C43-43F0-8CF4-2D108502E7B1}"/>
              </a:ext>
            </a:extLst>
          </p:cNvPr>
          <p:cNvSpPr>
            <a:spLocks xmlns:a="http://schemas.openxmlformats.org/drawingml/2006/main"/>
          </p:cNvSpPr>
          <p:nvPr/>
        </p:nvSpPr>
        <p:spPr>
          <a:xfrm xmlns:a="http://schemas.openxmlformats.org/drawingml/2006/main">
            <a:off x="609600" y="4724400"/>
            <a:ext cx="406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Consolas"/>
                <a:ea typeface="Consolas"/>
                <a:cs typeface="Consolas"/>
              </a:defRPr>
            </a:pPr>
            <a:r>
              <a:rPr b="0">
                <a:solidFill>
                  <a:srgbClr val="ADACA9"/>
                </a:solidFill>
                <a:latin typeface="Consolas"/>
                <a:ea typeface="Consolas"/>
                <a:cs typeface="Consolas"/>
              </a:rPr>
              <a:t>6</a:t>
            </a:r>
          </a:p>
        </p:txBody>
      </p:sp>
      <p:sp>
        <p:nvSpPr>
          <p:cNvPr id="15" name="21b-text-13">
            <a:extLst xmlns:a="http://schemas.openxmlformats.org/drawingml/2006/main">
              <a:ext uri="{FF2B5EF4-FFF2-40B4-BE49-F238E27FC236}">
                <a16:creationId xmlns:a16="http://schemas.microsoft.com/office/drawing/2014/main" id="{B2488E2D-A9FE-43F3-AE28-A42A913A0F3C}"/>
              </a:ext>
            </a:extLst>
          </p:cNvPr>
          <p:cNvSpPr>
            <a:spLocks xmlns:a="http://schemas.openxmlformats.org/drawingml/2006/main"/>
          </p:cNvSpPr>
          <p:nvPr/>
        </p:nvSpPr>
        <p:spPr>
          <a:xfrm xmlns:a="http://schemas.openxmlformats.org/drawingml/2006/main">
            <a:off x="1117600" y="4724400"/>
            <a:ext cx="10464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AI security. The attack surface is the model's reasoning.</a:t>
            </a:r>
          </a:p>
        </p:txBody>
      </p:sp>
      <p:sp>
        <p:nvSpPr>
          <p:cNvPr id="16" name="21b-text-14">
            <a:extLst xmlns:a="http://schemas.openxmlformats.org/drawingml/2006/main">
              <a:ext uri="{FF2B5EF4-FFF2-40B4-BE49-F238E27FC236}">
                <a16:creationId xmlns:a16="http://schemas.microsoft.com/office/drawing/2014/main" id="{D5A9C7E8-2D1C-4E43-9403-9B46DBCEDBA0}"/>
              </a:ext>
            </a:extLst>
          </p:cNvPr>
          <p:cNvSpPr>
            <a:spLocks xmlns:a="http://schemas.openxmlformats.org/drawingml/2006/main"/>
          </p:cNvSpPr>
          <p:nvPr/>
        </p:nvSpPr>
        <p:spPr>
          <a:xfrm xmlns:a="http://schemas.openxmlformats.org/drawingml/2006/main">
            <a:off x="609600" y="5384800"/>
            <a:ext cx="406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Consolas"/>
                <a:ea typeface="Consolas"/>
                <a:cs typeface="Consolas"/>
              </a:defRPr>
            </a:pPr>
            <a:r>
              <a:rPr b="0">
                <a:solidFill>
                  <a:srgbClr val="ADACA9"/>
                </a:solidFill>
                <a:latin typeface="Consolas"/>
                <a:ea typeface="Consolas"/>
                <a:cs typeface="Consolas"/>
              </a:rPr>
              <a:t>7</a:t>
            </a:r>
          </a:p>
        </p:txBody>
      </p:sp>
      <p:sp>
        <p:nvSpPr>
          <p:cNvPr id="17" name="21b-text-15">
            <a:extLst xmlns:a="http://schemas.openxmlformats.org/drawingml/2006/main">
              <a:ext uri="{FF2B5EF4-FFF2-40B4-BE49-F238E27FC236}">
                <a16:creationId xmlns:a16="http://schemas.microsoft.com/office/drawing/2014/main" id="{68095108-B9B4-4523-A06F-7AAF3A0FC13C}"/>
              </a:ext>
            </a:extLst>
          </p:cNvPr>
          <p:cNvSpPr>
            <a:spLocks xmlns:a="http://schemas.openxmlformats.org/drawingml/2006/main"/>
          </p:cNvSpPr>
          <p:nvPr/>
        </p:nvSpPr>
        <p:spPr>
          <a:xfrm xmlns:a="http://schemas.openxmlformats.org/drawingml/2006/main">
            <a:off x="1117600" y="5384800"/>
            <a:ext cx="10464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and latency as design constraints.</a:t>
            </a:r>
          </a:p>
        </p:txBody>
      </p:sp>
      <p:sp>
        <p:nvSpPr>
          <p:cNvPr id="18" name="21b-text-16">
            <a:extLst xmlns:a="http://schemas.openxmlformats.org/drawingml/2006/main">
              <a:ext uri="{FF2B5EF4-FFF2-40B4-BE49-F238E27FC236}">
                <a16:creationId xmlns:a16="http://schemas.microsoft.com/office/drawing/2014/main" id="{8710DCE4-A091-409B-ABA6-6B1AD15BB752}"/>
              </a:ext>
            </a:extLst>
          </p:cNvPr>
          <p:cNvSpPr>
            <a:spLocks xmlns:a="http://schemas.openxmlformats.org/drawingml/2006/main"/>
          </p:cNvSpPr>
          <p:nvPr/>
        </p:nvSpPr>
        <p:spPr>
          <a:xfrm xmlns:a="http://schemas.openxmlformats.org/drawingml/2006/main">
            <a:off x="609600" y="1866900"/>
            <a:ext cx="10972800" cy="269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"Getting comfortable with evaluations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iterating on non-deterministic</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outputs is the biggest challenge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most devs have."</a:t>
            </a:r>
          </a:p>
        </p:txBody>
      </p:sp>
      <p:sp>
        <p:nvSpPr>
          <p:cNvPr id="19" name="21b-text-17">
            <a:extLst xmlns:a="http://schemas.openxmlformats.org/drawingml/2006/main">
              <a:ext uri="{FF2B5EF4-FFF2-40B4-BE49-F238E27FC236}">
                <a16:creationId xmlns:a16="http://schemas.microsoft.com/office/drawing/2014/main" id="{0092242B-BABB-441C-8D7A-331717D9FC80}"/>
              </a:ext>
            </a:extLst>
          </p:cNvPr>
          <p:cNvSpPr>
            <a:spLocks xmlns:a="http://schemas.openxmlformats.org/drawingml/2006/main"/>
          </p:cNvSpPr>
          <p:nvPr/>
        </p:nvSpPr>
        <p:spPr>
          <a:xfrm xmlns:a="http://schemas.openxmlformats.org/drawingml/2006/main">
            <a:off x="609600" y="48133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ADACA9"/>
                </a:solidFill>
                <a:latin typeface="Helvetica"/>
                <a:ea typeface="Helvetica"/>
                <a:cs typeface="Helvetica"/>
              </a:rPr>
              <a:t>Ross McNairn, Wordsmith, via The Pragmatic Engineer, March 2025</a:t>
            </a:r>
          </a:p>
        </p:txBody>
      </p:sp>
    </p:spTree>
    <p:extLst>
      <p:ext uri="{BB962C8B-B14F-4D97-AF65-F5344CB8AC3E}">
        <p14:creationId xmlns:p14="http://schemas.microsoft.com/office/powerpoint/2010/main" val="2055122592"/>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5"/>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6"/>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7"/>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8"/>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9"/>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10"/>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11"/>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12"/>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13"/>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14"/>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15"/>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16"/>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17"/>
                                        </p:tgtEl>
                                        <p:attrNameLst>
                                          <p:attrName>style.visibility</p:attrName>
                                        </p:attrNameLst>
                                      </p:cBhvr>
                                      <p:to>
                                        <p:strVal val="hidden"/>
                                      </p:to>
                                    </p:set>
                                  </p:childTnLst>
                                </p:cTn>
                              </p:par>
                              <p:par>
                                <p:cTn id="33" presetID="1" presetClass="entr" presetSubtype="0"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 name="!!area-name">
            <a:extLst xmlns:a="http://schemas.openxmlformats.org/drawingml/2006/main">
              <a:ext uri="{FF2B5EF4-FFF2-40B4-BE49-F238E27FC236}">
                <a16:creationId xmlns:a16="http://schemas.microsoft.com/office/drawing/2014/main" id="{9C90EF57-3415-4DC6-A7DE-E755554DD16A}"/>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2" name="22-shape-1">
            <a:extLst xmlns:a="http://schemas.openxmlformats.org/drawingml/2006/main">
              <a:ext uri="{FF2B5EF4-FFF2-40B4-BE49-F238E27FC236}">
                <a16:creationId xmlns:a16="http://schemas.microsoft.com/office/drawing/2014/main" id="{F4CA6CE8-1FC0-41E7-9A02-86FBA6068884}"/>
              </a:ext>
            </a:extLst>
          </p:cNvPr>
          <p:cNvSpPr>
            <a:spLocks xmlns:a="http://schemas.openxmlformats.org/drawingml/2006/main"/>
          </p:cNvSpPr>
          <p:nvPr/>
        </p:nvSpPr>
        <p:spPr>
          <a:xfrm xmlns:a="http://schemas.openxmlformats.org/drawingml/2006/main">
            <a:off x="0" y="12192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3" name="22-shape-2">
            <a:extLst xmlns:a="http://schemas.openxmlformats.org/drawingml/2006/main">
              <a:ext uri="{FF2B5EF4-FFF2-40B4-BE49-F238E27FC236}">
                <a16:creationId xmlns:a16="http://schemas.microsoft.com/office/drawing/2014/main" id="{0AA9FEC1-72CE-4826-9C85-FF14EC1A1B87}"/>
              </a:ext>
            </a:extLst>
          </p:cNvPr>
          <p:cNvSpPr>
            <a:spLocks xmlns:a="http://schemas.openxmlformats.org/drawingml/2006/main"/>
          </p:cNvSpPr>
          <p:nvPr/>
        </p:nvSpPr>
        <p:spPr>
          <a:xfrm xmlns:a="http://schemas.openxmlformats.org/drawingml/2006/main">
            <a:off x="0" y="1219200"/>
            <a:ext cx="4064000" cy="7112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4" name="22-text-3">
            <a:extLst xmlns:a="http://schemas.openxmlformats.org/drawingml/2006/main">
              <a:ext uri="{FF2B5EF4-FFF2-40B4-BE49-F238E27FC236}">
                <a16:creationId xmlns:a16="http://schemas.microsoft.com/office/drawing/2014/main" id="{4A274936-B35A-4524-BE60-A2020E9DCD41}"/>
              </a:ext>
            </a:extLst>
          </p:cNvPr>
          <p:cNvSpPr>
            <a:spLocks xmlns:a="http://schemas.openxmlformats.org/drawingml/2006/main"/>
          </p:cNvSpPr>
          <p:nvPr/>
        </p:nvSpPr>
        <p:spPr>
          <a:xfrm xmlns:a="http://schemas.openxmlformats.org/drawingml/2006/main">
            <a:off x="609600" y="1371600"/>
            <a:ext cx="3251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5" name="22-text-4">
            <a:extLst xmlns:a="http://schemas.openxmlformats.org/drawingml/2006/main">
              <a:ext uri="{FF2B5EF4-FFF2-40B4-BE49-F238E27FC236}">
                <a16:creationId xmlns:a16="http://schemas.microsoft.com/office/drawing/2014/main" id="{6B04EB97-646A-4B11-AFF4-785A045412D1}"/>
              </a:ext>
            </a:extLst>
          </p:cNvPr>
          <p:cNvSpPr>
            <a:spLocks xmlns:a="http://schemas.openxmlformats.org/drawingml/2006/main"/>
          </p:cNvSpPr>
          <p:nvPr/>
        </p:nvSpPr>
        <p:spPr>
          <a:xfrm xmlns:a="http://schemas.openxmlformats.org/drawingml/2006/main">
            <a:off x="4368800" y="1257300"/>
            <a:ext cx="72136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hardcoded model ID with no eval suite behind it.</a:t>
            </a:r>
          </a:p>
        </p:txBody>
      </p:sp>
      <p:sp>
        <p:nvSpPr>
          <p:cNvPr id="6" name="22-shape-5">
            <a:extLst xmlns:a="http://schemas.openxmlformats.org/drawingml/2006/main">
              <a:ext uri="{FF2B5EF4-FFF2-40B4-BE49-F238E27FC236}">
                <a16:creationId xmlns:a16="http://schemas.microsoft.com/office/drawing/2014/main" id="{A2870F8F-0DA5-474C-A5B7-35CCF8846146}"/>
              </a:ext>
            </a:extLst>
          </p:cNvPr>
          <p:cNvSpPr>
            <a:spLocks xmlns:a="http://schemas.openxmlformats.org/drawingml/2006/main"/>
          </p:cNvSpPr>
          <p:nvPr/>
        </p:nvSpPr>
        <p:spPr>
          <a:xfrm xmlns:a="http://schemas.openxmlformats.org/drawingml/2006/main">
            <a:off x="0" y="20320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7" name="22-shape-6">
            <a:extLst xmlns:a="http://schemas.openxmlformats.org/drawingml/2006/main">
              <a:ext uri="{FF2B5EF4-FFF2-40B4-BE49-F238E27FC236}">
                <a16:creationId xmlns:a16="http://schemas.microsoft.com/office/drawing/2014/main" id="{415200DC-7AE8-4CB2-B623-A5E0631FA233}"/>
              </a:ext>
            </a:extLst>
          </p:cNvPr>
          <p:cNvSpPr>
            <a:spLocks xmlns:a="http://schemas.openxmlformats.org/drawingml/2006/main"/>
          </p:cNvSpPr>
          <p:nvPr/>
        </p:nvSpPr>
        <p:spPr>
          <a:xfrm xmlns:a="http://schemas.openxmlformats.org/drawingml/2006/main">
            <a:off x="0" y="2032000"/>
            <a:ext cx="40640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8" name="22-text-7">
            <a:extLst xmlns:a="http://schemas.openxmlformats.org/drawingml/2006/main">
              <a:ext uri="{FF2B5EF4-FFF2-40B4-BE49-F238E27FC236}">
                <a16:creationId xmlns:a16="http://schemas.microsoft.com/office/drawing/2014/main" id="{5D74A768-F993-43CD-9B14-A15690B72347}"/>
              </a:ext>
            </a:extLst>
          </p:cNvPr>
          <p:cNvSpPr>
            <a:spLocks xmlns:a="http://schemas.openxmlformats.org/drawingml/2006/main"/>
          </p:cNvSpPr>
          <p:nvPr/>
        </p:nvSpPr>
        <p:spPr>
          <a:xfrm xmlns:a="http://schemas.openxmlformats.org/drawingml/2006/main">
            <a:off x="609600" y="2184400"/>
            <a:ext cx="3251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p:txBody>
      </p:sp>
      <p:sp>
        <p:nvSpPr>
          <p:cNvPr id="9" name="22-text-8">
            <a:extLst xmlns:a="http://schemas.openxmlformats.org/drawingml/2006/main">
              <a:ext uri="{FF2B5EF4-FFF2-40B4-BE49-F238E27FC236}">
                <a16:creationId xmlns:a16="http://schemas.microsoft.com/office/drawing/2014/main" id="{A40F8D22-CACB-4208-A24A-7A9F813C5B7B}"/>
              </a:ext>
            </a:extLst>
          </p:cNvPr>
          <p:cNvSpPr>
            <a:spLocks xmlns:a="http://schemas.openxmlformats.org/drawingml/2006/main"/>
          </p:cNvSpPr>
          <p:nvPr/>
        </p:nvSpPr>
        <p:spPr>
          <a:xfrm xmlns:a="http://schemas.openxmlformats.org/drawingml/2006/main">
            <a:off x="4368800" y="2070100"/>
            <a:ext cx="72136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10" name="22-shape-9">
            <a:extLst xmlns:a="http://schemas.openxmlformats.org/drawingml/2006/main">
              <a:ext uri="{FF2B5EF4-FFF2-40B4-BE49-F238E27FC236}">
                <a16:creationId xmlns:a16="http://schemas.microsoft.com/office/drawing/2014/main" id="{C38261F8-4D0D-4B39-AAA4-751A00B7B318}"/>
              </a:ext>
            </a:extLst>
          </p:cNvPr>
          <p:cNvSpPr>
            <a:spLocks xmlns:a="http://schemas.openxmlformats.org/drawingml/2006/main"/>
          </p:cNvSpPr>
          <p:nvPr/>
        </p:nvSpPr>
        <p:spPr>
          <a:xfrm xmlns:a="http://schemas.openxmlformats.org/drawingml/2006/main">
            <a:off x="0" y="28448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11" name="22-shape-10">
            <a:extLst xmlns:a="http://schemas.openxmlformats.org/drawingml/2006/main">
              <a:ext uri="{FF2B5EF4-FFF2-40B4-BE49-F238E27FC236}">
                <a16:creationId xmlns:a16="http://schemas.microsoft.com/office/drawing/2014/main" id="{A661B7D6-9E63-40FE-A64E-E6304E243AD1}"/>
              </a:ext>
            </a:extLst>
          </p:cNvPr>
          <p:cNvSpPr>
            <a:spLocks xmlns:a="http://schemas.openxmlformats.org/drawingml/2006/main"/>
          </p:cNvSpPr>
          <p:nvPr/>
        </p:nvSpPr>
        <p:spPr>
          <a:xfrm xmlns:a="http://schemas.openxmlformats.org/drawingml/2006/main">
            <a:off x="0" y="2844800"/>
            <a:ext cx="40640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2" name="22-text-11">
            <a:extLst xmlns:a="http://schemas.openxmlformats.org/drawingml/2006/main">
              <a:ext uri="{FF2B5EF4-FFF2-40B4-BE49-F238E27FC236}">
                <a16:creationId xmlns:a16="http://schemas.microsoft.com/office/drawing/2014/main" id="{A144751D-EECB-4B29-8EAC-82C683CBE1F0}"/>
              </a:ext>
            </a:extLst>
          </p:cNvPr>
          <p:cNvSpPr>
            <a:spLocks xmlns:a="http://schemas.openxmlformats.org/drawingml/2006/main"/>
          </p:cNvSpPr>
          <p:nvPr/>
        </p:nvSpPr>
        <p:spPr>
          <a:xfrm xmlns:a="http://schemas.openxmlformats.org/drawingml/2006/main">
            <a:off x="609600" y="2997200"/>
            <a:ext cx="3251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a:t>
            </a:r>
          </a:p>
        </p:txBody>
      </p:sp>
      <p:sp>
        <p:nvSpPr>
          <p:cNvPr id="13" name="22-text-12">
            <a:extLst xmlns:a="http://schemas.openxmlformats.org/drawingml/2006/main">
              <a:ext uri="{FF2B5EF4-FFF2-40B4-BE49-F238E27FC236}">
                <a16:creationId xmlns:a16="http://schemas.microsoft.com/office/drawing/2014/main" id="{5FCFA431-96A7-4034-ADC7-AA64944A11D9}"/>
              </a:ext>
            </a:extLst>
          </p:cNvPr>
          <p:cNvSpPr>
            <a:spLocks xmlns:a="http://schemas.openxmlformats.org/drawingml/2006/main"/>
          </p:cNvSpPr>
          <p:nvPr/>
        </p:nvSpPr>
        <p:spPr>
          <a:xfrm xmlns:a="http://schemas.openxmlformats.org/drawingml/2006/main">
            <a:off x="4368800" y="2882900"/>
            <a:ext cx="72136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one endpoint per tool.</a:t>
            </a:r>
          </a:p>
        </p:txBody>
      </p:sp>
      <p:sp>
        <p:nvSpPr>
          <p:cNvPr id="14" name="22-shape-13">
            <a:extLst xmlns:a="http://schemas.openxmlformats.org/drawingml/2006/main">
              <a:ext uri="{FF2B5EF4-FFF2-40B4-BE49-F238E27FC236}">
                <a16:creationId xmlns:a16="http://schemas.microsoft.com/office/drawing/2014/main" id="{8A12C16C-B75A-44D3-9CA9-F8008EF76BDD}"/>
              </a:ext>
            </a:extLst>
          </p:cNvPr>
          <p:cNvSpPr>
            <a:spLocks xmlns:a="http://schemas.openxmlformats.org/drawingml/2006/main"/>
          </p:cNvSpPr>
          <p:nvPr/>
        </p:nvSpPr>
        <p:spPr>
          <a:xfrm xmlns:a="http://schemas.openxmlformats.org/drawingml/2006/main">
            <a:off x="0" y="36576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15" name="22-shape-14">
            <a:extLst xmlns:a="http://schemas.openxmlformats.org/drawingml/2006/main">
              <a:ext uri="{FF2B5EF4-FFF2-40B4-BE49-F238E27FC236}">
                <a16:creationId xmlns:a16="http://schemas.microsoft.com/office/drawing/2014/main" id="{609CE7C9-2940-4084-99E2-19CDD978D7BC}"/>
              </a:ext>
            </a:extLst>
          </p:cNvPr>
          <p:cNvSpPr>
            <a:spLocks xmlns:a="http://schemas.openxmlformats.org/drawingml/2006/main"/>
          </p:cNvSpPr>
          <p:nvPr/>
        </p:nvSpPr>
        <p:spPr>
          <a:xfrm xmlns:a="http://schemas.openxmlformats.org/drawingml/2006/main">
            <a:off x="0" y="3657600"/>
            <a:ext cx="40640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6" name="22-text-15">
            <a:extLst xmlns:a="http://schemas.openxmlformats.org/drawingml/2006/main">
              <a:ext uri="{FF2B5EF4-FFF2-40B4-BE49-F238E27FC236}">
                <a16:creationId xmlns:a16="http://schemas.microsoft.com/office/drawing/2014/main" id="{ACA3D9F5-61CA-48F0-BEA0-CDF3A0BBBE5F}"/>
              </a:ext>
            </a:extLst>
          </p:cNvPr>
          <p:cNvSpPr>
            <a:spLocks xmlns:a="http://schemas.openxmlformats.org/drawingml/2006/main"/>
          </p:cNvSpPr>
          <p:nvPr/>
        </p:nvSpPr>
        <p:spPr>
          <a:xfrm xmlns:a="http://schemas.openxmlformats.org/drawingml/2006/main">
            <a:off x="609600" y="3810000"/>
            <a:ext cx="3251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17" name="22-text-16">
            <a:extLst xmlns:a="http://schemas.openxmlformats.org/drawingml/2006/main">
              <a:ext uri="{FF2B5EF4-FFF2-40B4-BE49-F238E27FC236}">
                <a16:creationId xmlns:a16="http://schemas.microsoft.com/office/drawing/2014/main" id="{AB6A7B47-9162-439E-9E36-2494DE2A475B}"/>
              </a:ext>
            </a:extLst>
          </p:cNvPr>
          <p:cNvSpPr>
            <a:spLocks xmlns:a="http://schemas.openxmlformats.org/drawingml/2006/main"/>
          </p:cNvSpPr>
          <p:nvPr/>
        </p:nvSpPr>
        <p:spPr>
          <a:xfrm xmlns:a="http://schemas.openxmlformats.org/drawingml/2006/main">
            <a:off x="4368800" y="3695700"/>
            <a:ext cx="72136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18" name="22-shape-17">
            <a:extLst xmlns:a="http://schemas.openxmlformats.org/drawingml/2006/main">
              <a:ext uri="{FF2B5EF4-FFF2-40B4-BE49-F238E27FC236}">
                <a16:creationId xmlns:a16="http://schemas.microsoft.com/office/drawing/2014/main" id="{4DC01F31-6BB6-43A8-A35C-ED894C20F01C}"/>
              </a:ext>
            </a:extLst>
          </p:cNvPr>
          <p:cNvSpPr>
            <a:spLocks xmlns:a="http://schemas.openxmlformats.org/drawingml/2006/main"/>
          </p:cNvSpPr>
          <p:nvPr/>
        </p:nvSpPr>
        <p:spPr>
          <a:xfrm xmlns:a="http://schemas.openxmlformats.org/drawingml/2006/main">
            <a:off x="0" y="44704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19" name="22-shape-18">
            <a:extLst xmlns:a="http://schemas.openxmlformats.org/drawingml/2006/main">
              <a:ext uri="{FF2B5EF4-FFF2-40B4-BE49-F238E27FC236}">
                <a16:creationId xmlns:a16="http://schemas.microsoft.com/office/drawing/2014/main" id="{670EDC55-1B29-49A7-9053-41C7CDA0092E}"/>
              </a:ext>
            </a:extLst>
          </p:cNvPr>
          <p:cNvSpPr>
            <a:spLocks xmlns:a="http://schemas.openxmlformats.org/drawingml/2006/main"/>
          </p:cNvSpPr>
          <p:nvPr/>
        </p:nvSpPr>
        <p:spPr>
          <a:xfrm xmlns:a="http://schemas.openxmlformats.org/drawingml/2006/main">
            <a:off x="0" y="4470400"/>
            <a:ext cx="4064000" cy="7112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20" name="22-text-19">
            <a:extLst xmlns:a="http://schemas.openxmlformats.org/drawingml/2006/main">
              <a:ext uri="{FF2B5EF4-FFF2-40B4-BE49-F238E27FC236}">
                <a16:creationId xmlns:a16="http://schemas.microsoft.com/office/drawing/2014/main" id="{2C2EB1D1-C472-48E0-AE1D-1CC4FFE217E7}"/>
              </a:ext>
            </a:extLst>
          </p:cNvPr>
          <p:cNvSpPr>
            <a:spLocks xmlns:a="http://schemas.openxmlformats.org/drawingml/2006/main"/>
          </p:cNvSpPr>
          <p:nvPr/>
        </p:nvSpPr>
        <p:spPr>
          <a:xfrm xmlns:a="http://schemas.openxmlformats.org/drawingml/2006/main">
            <a:off x="609600" y="4622800"/>
            <a:ext cx="3251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Evals</a:t>
            </a:r>
          </a:p>
        </p:txBody>
      </p:sp>
      <p:sp>
        <p:nvSpPr>
          <p:cNvPr id="21" name="22-text-20">
            <a:extLst xmlns:a="http://schemas.openxmlformats.org/drawingml/2006/main">
              <a:ext uri="{FF2B5EF4-FFF2-40B4-BE49-F238E27FC236}">
                <a16:creationId xmlns:a16="http://schemas.microsoft.com/office/drawing/2014/main" id="{3B0FD530-206A-4E9E-B58E-97978D297399}"/>
              </a:ext>
            </a:extLst>
          </p:cNvPr>
          <p:cNvSpPr>
            <a:spLocks xmlns:a="http://schemas.openxmlformats.org/drawingml/2006/main"/>
          </p:cNvSpPr>
          <p:nvPr/>
        </p:nvSpPr>
        <p:spPr>
          <a:xfrm xmlns:a="http://schemas.openxmlformats.org/drawingml/2006/main">
            <a:off x="4368800" y="4508500"/>
            <a:ext cx="72136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Grading the transcript instead of the outcome.</a:t>
            </a:r>
          </a:p>
        </p:txBody>
      </p:sp>
      <p:sp>
        <p:nvSpPr>
          <p:cNvPr id="22" name="22-shape-21">
            <a:extLst xmlns:a="http://schemas.openxmlformats.org/drawingml/2006/main">
              <a:ext uri="{FF2B5EF4-FFF2-40B4-BE49-F238E27FC236}">
                <a16:creationId xmlns:a16="http://schemas.microsoft.com/office/drawing/2014/main" id="{9A7EF412-7ADD-4A1D-BFBE-87508B2C9FC0}"/>
              </a:ext>
            </a:extLst>
          </p:cNvPr>
          <p:cNvSpPr>
            <a:spLocks xmlns:a="http://schemas.openxmlformats.org/drawingml/2006/main"/>
          </p:cNvSpPr>
          <p:nvPr/>
        </p:nvSpPr>
        <p:spPr>
          <a:xfrm xmlns:a="http://schemas.openxmlformats.org/drawingml/2006/main">
            <a:off x="0" y="52832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23" name="22-shape-22">
            <a:extLst xmlns:a="http://schemas.openxmlformats.org/drawingml/2006/main">
              <a:ext uri="{FF2B5EF4-FFF2-40B4-BE49-F238E27FC236}">
                <a16:creationId xmlns:a16="http://schemas.microsoft.com/office/drawing/2014/main" id="{663ADD57-DA9F-414F-9BE2-554A09D78FAE}"/>
              </a:ext>
            </a:extLst>
          </p:cNvPr>
          <p:cNvSpPr>
            <a:spLocks xmlns:a="http://schemas.openxmlformats.org/drawingml/2006/main"/>
          </p:cNvSpPr>
          <p:nvPr/>
        </p:nvSpPr>
        <p:spPr>
          <a:xfrm xmlns:a="http://schemas.openxmlformats.org/drawingml/2006/main">
            <a:off x="0" y="5283200"/>
            <a:ext cx="4064000" cy="711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24" name="22-text-23">
            <a:extLst xmlns:a="http://schemas.openxmlformats.org/drawingml/2006/main">
              <a:ext uri="{FF2B5EF4-FFF2-40B4-BE49-F238E27FC236}">
                <a16:creationId xmlns:a16="http://schemas.microsoft.com/office/drawing/2014/main" id="{B78C5A52-C8BD-4F27-B234-8BAEA7918AA6}"/>
              </a:ext>
            </a:extLst>
          </p:cNvPr>
          <p:cNvSpPr>
            <a:spLocks xmlns:a="http://schemas.openxmlformats.org/drawingml/2006/main"/>
          </p:cNvSpPr>
          <p:nvPr/>
        </p:nvSpPr>
        <p:spPr>
          <a:xfrm xmlns:a="http://schemas.openxmlformats.org/drawingml/2006/main">
            <a:off x="609600" y="5435600"/>
            <a:ext cx="3251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Operating</a:t>
            </a:r>
          </a:p>
        </p:txBody>
      </p:sp>
      <p:sp>
        <p:nvSpPr>
          <p:cNvPr id="25" name="22-text-24">
            <a:extLst xmlns:a="http://schemas.openxmlformats.org/drawingml/2006/main">
              <a:ext uri="{FF2B5EF4-FFF2-40B4-BE49-F238E27FC236}">
                <a16:creationId xmlns:a16="http://schemas.microsoft.com/office/drawing/2014/main" id="{80D3B695-FCBC-4587-9362-CE64E391F005}"/>
              </a:ext>
            </a:extLst>
          </p:cNvPr>
          <p:cNvSpPr>
            <a:spLocks xmlns:a="http://schemas.openxmlformats.org/drawingml/2006/main"/>
          </p:cNvSpPr>
          <p:nvPr/>
        </p:nvSpPr>
        <p:spPr>
          <a:xfrm xmlns:a="http://schemas.openxmlformats.org/drawingml/2006/main">
            <a:off x="4368800" y="5321300"/>
            <a:ext cx="72136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Tree>
    <p:extLst>
      <p:ext uri="{BB962C8B-B14F-4D97-AF65-F5344CB8AC3E}">
        <p14:creationId xmlns:p14="http://schemas.microsoft.com/office/powerpoint/2010/main" val="1919791957"/>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 name="!!area-name">
            <a:extLst xmlns:a="http://schemas.openxmlformats.org/drawingml/2006/main">
              <a:ext uri="{FF2B5EF4-FFF2-40B4-BE49-F238E27FC236}">
                <a16:creationId xmlns:a16="http://schemas.microsoft.com/office/drawing/2014/main" id="{5F504449-AD87-4ECC-83E2-45A93B63B65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19" name="mini-map"/>
          <p:cNvPicPr>
            <a:picLocks xmlns:a="http://schemas.openxmlformats.org/drawingml/2006/main" noChangeAspect="1"/>
          </p:cNvPicPr>
          <p:nvPr/>
        </p:nvPicPr>
        <p:blipFill>
          <a:blip xmlns:r="http://schemas.openxmlformats.org/officeDocument/2006/relationships" xmlns:a="http://schemas.openxmlformats.org/drawingml/2006/main" r:embed="Rf50e9364dd3743d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4E141801-CC96-4CCA-9BA5-D0B7F1A2491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 name="23-shape-1">
            <a:extLst xmlns:a="http://schemas.openxmlformats.org/drawingml/2006/main">
              <a:ext uri="{FF2B5EF4-FFF2-40B4-BE49-F238E27FC236}">
                <a16:creationId xmlns:a16="http://schemas.microsoft.com/office/drawing/2014/main" id="{114EFFA7-E84F-420F-A8D4-3E0894A1DBDB}"/>
              </a:ext>
            </a:extLst>
          </p:cNvPr>
          <p:cNvSpPr>
            <a:spLocks xmlns:a="http://schemas.openxmlformats.org/drawingml/2006/main"/>
          </p:cNvSpPr>
          <p:nvPr/>
        </p:nvSpPr>
        <p:spPr>
          <a:xfrm xmlns:a="http://schemas.openxmlformats.org/drawingml/2006/main">
            <a:off x="609600" y="17018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 name="23-text-2">
            <a:extLst xmlns:a="http://schemas.openxmlformats.org/drawingml/2006/main">
              <a:ext uri="{FF2B5EF4-FFF2-40B4-BE49-F238E27FC236}">
                <a16:creationId xmlns:a16="http://schemas.microsoft.com/office/drawing/2014/main" id="{478596A6-65BD-4972-9E77-D8F12AF7DF2D}"/>
              </a:ext>
            </a:extLst>
          </p:cNvPr>
          <p:cNvSpPr>
            <a:spLocks xmlns:a="http://schemas.openxmlformats.org/drawingml/2006/main"/>
          </p:cNvSpPr>
          <p:nvPr/>
        </p:nvSpPr>
        <p:spPr>
          <a:xfrm xmlns:a="http://schemas.openxmlformats.org/drawingml/2006/main">
            <a:off x="812800" y="17399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Consolas"/>
                <a:ea typeface="Consolas"/>
                <a:cs typeface="Consolas"/>
              </a:defRPr>
            </a:pPr>
            <a:r>
              <a:rPr b="0">
                <a:solidFill>
                  <a:srgbClr val="ADACA9"/>
                </a:solidFill>
                <a:latin typeface="Consolas"/>
                <a:ea typeface="Consolas"/>
                <a:cs typeface="Consolas"/>
              </a:rPr>
              <a:t>1</a:t>
            </a:r>
          </a:p>
        </p:txBody>
      </p:sp>
      <p:sp>
        <p:nvSpPr>
          <p:cNvPr id="6" name="23-text-3">
            <a:extLst xmlns:a="http://schemas.openxmlformats.org/drawingml/2006/main">
              <a:ext uri="{FF2B5EF4-FFF2-40B4-BE49-F238E27FC236}">
                <a16:creationId xmlns:a16="http://schemas.microsoft.com/office/drawing/2014/main" id="{21C480F3-9DAF-40C7-B95F-4F58B6D55411}"/>
              </a:ext>
            </a:extLst>
          </p:cNvPr>
          <p:cNvSpPr>
            <a:spLocks xmlns:a="http://schemas.openxmlformats.org/drawingml/2006/main"/>
          </p:cNvSpPr>
          <p:nvPr/>
        </p:nvSpPr>
        <p:spPr>
          <a:xfrm xmlns:a="http://schemas.openxmlformats.org/drawingml/2006/main">
            <a:off x="1727200" y="18288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Look before you build.</a:t>
            </a:r>
          </a:p>
        </p:txBody>
      </p:sp>
      <p:sp>
        <p:nvSpPr>
          <p:cNvPr id="7" name="23-shape-4">
            <a:extLst xmlns:a="http://schemas.openxmlformats.org/drawingml/2006/main">
              <a:ext uri="{FF2B5EF4-FFF2-40B4-BE49-F238E27FC236}">
                <a16:creationId xmlns:a16="http://schemas.microsoft.com/office/drawing/2014/main" id="{5A3FF699-2545-4DAD-9C3E-F455A1B151F8}"/>
              </a:ext>
            </a:extLst>
          </p:cNvPr>
          <p:cNvSpPr>
            <a:spLocks xmlns:a="http://schemas.openxmlformats.org/drawingml/2006/main"/>
          </p:cNvSpPr>
          <p:nvPr/>
        </p:nvSpPr>
        <p:spPr>
          <a:xfrm xmlns:a="http://schemas.openxmlformats.org/drawingml/2006/main">
            <a:off x="609600" y="25527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8" name="23-text-5">
            <a:extLst xmlns:a="http://schemas.openxmlformats.org/drawingml/2006/main">
              <a:ext uri="{FF2B5EF4-FFF2-40B4-BE49-F238E27FC236}">
                <a16:creationId xmlns:a16="http://schemas.microsoft.com/office/drawing/2014/main" id="{A1AA80A0-8F3C-4DF1-B013-152643A7E6CC}"/>
              </a:ext>
            </a:extLst>
          </p:cNvPr>
          <p:cNvSpPr>
            <a:spLocks xmlns:a="http://schemas.openxmlformats.org/drawingml/2006/main"/>
          </p:cNvSpPr>
          <p:nvPr/>
        </p:nvSpPr>
        <p:spPr>
          <a:xfrm xmlns:a="http://schemas.openxmlformats.org/drawingml/2006/main">
            <a:off x="812800" y="25908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Consolas"/>
                <a:ea typeface="Consolas"/>
                <a:cs typeface="Consolas"/>
              </a:defRPr>
            </a:pPr>
            <a:r>
              <a:rPr b="0">
                <a:solidFill>
                  <a:srgbClr val="ADACA9"/>
                </a:solidFill>
                <a:latin typeface="Consolas"/>
                <a:ea typeface="Consolas"/>
                <a:cs typeface="Consolas"/>
              </a:rPr>
              <a:t>2</a:t>
            </a:r>
          </a:p>
        </p:txBody>
      </p:sp>
      <p:sp>
        <p:nvSpPr>
          <p:cNvPr id="9" name="23-text-6">
            <a:extLst xmlns:a="http://schemas.openxmlformats.org/drawingml/2006/main">
              <a:ext uri="{FF2B5EF4-FFF2-40B4-BE49-F238E27FC236}">
                <a16:creationId xmlns:a16="http://schemas.microsoft.com/office/drawing/2014/main" id="{60FD6278-0E48-4B47-BB1C-1CB083B67CD6}"/>
              </a:ext>
            </a:extLst>
          </p:cNvPr>
          <p:cNvSpPr>
            <a:spLocks xmlns:a="http://schemas.openxmlformats.org/drawingml/2006/main"/>
          </p:cNvSpPr>
          <p:nvPr/>
        </p:nvSpPr>
        <p:spPr>
          <a:xfrm xmlns:a="http://schemas.openxmlformats.org/drawingml/2006/main">
            <a:off x="1727200" y="26797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constrained.</a:t>
            </a:r>
          </a:p>
        </p:txBody>
      </p:sp>
      <p:sp>
        <p:nvSpPr>
          <p:cNvPr id="10" name="23-shape-7">
            <a:extLst xmlns:a="http://schemas.openxmlformats.org/drawingml/2006/main">
              <a:ext uri="{FF2B5EF4-FFF2-40B4-BE49-F238E27FC236}">
                <a16:creationId xmlns:a16="http://schemas.microsoft.com/office/drawing/2014/main" id="{9F280EA2-A71B-4403-A455-0C94DF9C9979}"/>
              </a:ext>
            </a:extLst>
          </p:cNvPr>
          <p:cNvSpPr>
            <a:spLocks xmlns:a="http://schemas.openxmlformats.org/drawingml/2006/main"/>
          </p:cNvSpPr>
          <p:nvPr/>
        </p:nvSpPr>
        <p:spPr>
          <a:xfrm xmlns:a="http://schemas.openxmlformats.org/drawingml/2006/main">
            <a:off x="609600" y="34036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11" name="23-text-8">
            <a:extLst xmlns:a="http://schemas.openxmlformats.org/drawingml/2006/main">
              <a:ext uri="{FF2B5EF4-FFF2-40B4-BE49-F238E27FC236}">
                <a16:creationId xmlns:a16="http://schemas.microsoft.com/office/drawing/2014/main" id="{5916AB84-F2D3-45B0-AED3-43DFFAAA54D4}"/>
              </a:ext>
            </a:extLst>
          </p:cNvPr>
          <p:cNvSpPr>
            <a:spLocks xmlns:a="http://schemas.openxmlformats.org/drawingml/2006/main"/>
          </p:cNvSpPr>
          <p:nvPr/>
        </p:nvSpPr>
        <p:spPr>
          <a:xfrm xmlns:a="http://schemas.openxmlformats.org/drawingml/2006/main">
            <a:off x="812800" y="34417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Consolas"/>
                <a:ea typeface="Consolas"/>
                <a:cs typeface="Consolas"/>
              </a:defRPr>
            </a:pPr>
            <a:r>
              <a:rPr b="0">
                <a:solidFill>
                  <a:srgbClr val="ADACA9"/>
                </a:solidFill>
                <a:latin typeface="Consolas"/>
                <a:ea typeface="Consolas"/>
                <a:cs typeface="Consolas"/>
              </a:rPr>
              <a:t>3</a:t>
            </a:r>
          </a:p>
        </p:txBody>
      </p:sp>
      <p:sp>
        <p:nvSpPr>
          <p:cNvPr id="12" name="23-text-9">
            <a:extLst xmlns:a="http://schemas.openxmlformats.org/drawingml/2006/main">
              <a:ext uri="{FF2B5EF4-FFF2-40B4-BE49-F238E27FC236}">
                <a16:creationId xmlns:a16="http://schemas.microsoft.com/office/drawing/2014/main" id="{76E7F2AF-C8D1-4C04-9F6B-85B83082F443}"/>
              </a:ext>
            </a:extLst>
          </p:cNvPr>
          <p:cNvSpPr>
            <a:spLocks xmlns:a="http://schemas.openxmlformats.org/drawingml/2006/main"/>
          </p:cNvSpPr>
          <p:nvPr/>
        </p:nvSpPr>
        <p:spPr>
          <a:xfrm xmlns:a="http://schemas.openxmlformats.org/drawingml/2006/main">
            <a:off x="1727200" y="35306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Own the harness.</a:t>
            </a:r>
          </a:p>
        </p:txBody>
      </p:sp>
      <p:sp>
        <p:nvSpPr>
          <p:cNvPr id="13" name="23-shape-10">
            <a:extLst xmlns:a="http://schemas.openxmlformats.org/drawingml/2006/main">
              <a:ext uri="{FF2B5EF4-FFF2-40B4-BE49-F238E27FC236}">
                <a16:creationId xmlns:a16="http://schemas.microsoft.com/office/drawing/2014/main" id="{1CE16635-9570-49D5-ACF7-82FCC23E73A6}"/>
              </a:ext>
            </a:extLst>
          </p:cNvPr>
          <p:cNvSpPr>
            <a:spLocks xmlns:a="http://schemas.openxmlformats.org/drawingml/2006/main"/>
          </p:cNvSpPr>
          <p:nvPr/>
        </p:nvSpPr>
        <p:spPr>
          <a:xfrm xmlns:a="http://schemas.openxmlformats.org/drawingml/2006/main">
            <a:off x="609600" y="42545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14" name="23-text-11">
            <a:extLst xmlns:a="http://schemas.openxmlformats.org/drawingml/2006/main">
              <a:ext uri="{FF2B5EF4-FFF2-40B4-BE49-F238E27FC236}">
                <a16:creationId xmlns:a16="http://schemas.microsoft.com/office/drawing/2014/main" id="{8A9A1C68-B2AF-451A-9EAF-EB472A390FFE}"/>
              </a:ext>
            </a:extLst>
          </p:cNvPr>
          <p:cNvSpPr>
            <a:spLocks xmlns:a="http://schemas.openxmlformats.org/drawingml/2006/main"/>
          </p:cNvSpPr>
          <p:nvPr/>
        </p:nvSpPr>
        <p:spPr>
          <a:xfrm xmlns:a="http://schemas.openxmlformats.org/drawingml/2006/main">
            <a:off x="812800" y="42926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Consolas"/>
                <a:ea typeface="Consolas"/>
                <a:cs typeface="Consolas"/>
              </a:defRPr>
            </a:pPr>
            <a:r>
              <a:rPr b="0">
                <a:solidFill>
                  <a:srgbClr val="ADACA9"/>
                </a:solidFill>
                <a:latin typeface="Consolas"/>
                <a:ea typeface="Consolas"/>
                <a:cs typeface="Consolas"/>
              </a:rPr>
              <a:t>4</a:t>
            </a:r>
          </a:p>
        </p:txBody>
      </p:sp>
      <p:sp>
        <p:nvSpPr>
          <p:cNvPr id="15" name="23-text-12">
            <a:extLst xmlns:a="http://schemas.openxmlformats.org/drawingml/2006/main">
              <a:ext uri="{FF2B5EF4-FFF2-40B4-BE49-F238E27FC236}">
                <a16:creationId xmlns:a16="http://schemas.microsoft.com/office/drawing/2014/main" id="{FFC1CE4A-7A1F-4063-8FB4-A13BBA5FC1C3}"/>
              </a:ext>
            </a:extLst>
          </p:cNvPr>
          <p:cNvSpPr>
            <a:spLocks xmlns:a="http://schemas.openxmlformats.org/drawingml/2006/main"/>
          </p:cNvSpPr>
          <p:nvPr/>
        </p:nvSpPr>
        <p:spPr>
          <a:xfrm xmlns:a="http://schemas.openxmlformats.org/drawingml/2006/main">
            <a:off x="1727200" y="43815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as your evals earn it.</a:t>
            </a:r>
          </a:p>
        </p:txBody>
      </p:sp>
      <p:sp>
        <p:nvSpPr>
          <p:cNvPr id="16" name="23-text-13">
            <a:extLst xmlns:a="http://schemas.openxmlformats.org/drawingml/2006/main">
              <a:ext uri="{FF2B5EF4-FFF2-40B4-BE49-F238E27FC236}">
                <a16:creationId xmlns:a16="http://schemas.microsoft.com/office/drawing/2014/main" id="{48033DE6-52E1-439E-8400-C3B2593E6DAA}"/>
              </a:ext>
            </a:extLst>
          </p:cNvPr>
          <p:cNvSpPr>
            <a:spLocks xmlns:a="http://schemas.openxmlformats.org/drawingml/2006/main"/>
          </p:cNvSpPr>
          <p:nvPr/>
        </p:nvSpPr>
        <p:spPr>
          <a:xfrm xmlns:a="http://schemas.openxmlformats.org/drawingml/2006/main">
            <a:off x="609600" y="51689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chat · reproduce manual work · background agents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delegate what you trust · build verification tools · continuous operation</a:t>
            </a:r>
          </a:p>
        </p:txBody>
      </p:sp>
      <p:sp>
        <p:nvSpPr>
          <p:cNvPr id="17" name="23-text-14">
            <a:extLst xmlns:a="http://schemas.openxmlformats.org/drawingml/2006/main">
              <a:ext uri="{FF2B5EF4-FFF2-40B4-BE49-F238E27FC236}">
                <a16:creationId xmlns:a16="http://schemas.microsoft.com/office/drawing/2014/main" id="{68D393CB-6D94-47AA-B2B6-B8C821AF2882}"/>
              </a:ext>
            </a:extLst>
          </p:cNvPr>
          <p:cNvSpPr>
            <a:spLocks xmlns:a="http://schemas.openxmlformats.org/drawingml/2006/main"/>
          </p:cNvSpPr>
          <p:nvPr/>
        </p:nvSpPr>
        <p:spPr>
          <a:xfrm xmlns:a="http://schemas.openxmlformats.org/drawingml/2006/main">
            <a:off x="609600" y="6146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Consolas"/>
                <a:ea typeface="Consolas"/>
                <a:cs typeface="Consolas"/>
              </a:rPr>
              <a:t>// </a:t>
            </a:r>
            <a:r>
              <a:rPr b="0">
                <a:solidFill>
                  <a:srgbClr val="ADACA9"/>
                </a:solidFill>
                <a:latin typeface="Helvetica"/>
                <a:ea typeface="Helvetica"/>
                <a:cs typeface="Helvetica"/>
              </a:rPr>
              <a:t>Mitchell Hashimoto, "My AI Adoption Journey," February 2026</a:t>
            </a:r>
          </a:p>
        </p:txBody>
      </p:sp>
    </p:spTree>
    <p:extLst>
      <p:ext uri="{BB962C8B-B14F-4D97-AF65-F5344CB8AC3E}">
        <p14:creationId xmlns:p14="http://schemas.microsoft.com/office/powerpoint/2010/main" val="1252076676"/>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 name="24-text-1">
            <a:extLst xmlns:a="http://schemas.openxmlformats.org/drawingml/2006/main">
              <a:ext uri="{FF2B5EF4-FFF2-40B4-BE49-F238E27FC236}">
                <a16:creationId xmlns:a16="http://schemas.microsoft.com/office/drawing/2014/main" id="{C83254C2-BAFD-4595-B534-60ED9C435C47}"/>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2" name="24-text-2">
            <a:extLst xmlns:a="http://schemas.openxmlformats.org/drawingml/2006/main">
              <a:ext uri="{FF2B5EF4-FFF2-40B4-BE49-F238E27FC236}">
                <a16:creationId xmlns:a16="http://schemas.microsoft.com/office/drawing/2014/main" id="{0B3F1B27-4B27-4C47-B375-668F301E120A}"/>
              </a:ext>
            </a:extLst>
          </p:cNvPr>
          <p:cNvSpPr>
            <a:spLocks xmlns:a="http://schemas.openxmlformats.org/drawingml/2006/main"/>
          </p:cNvSpPr>
          <p:nvPr/>
        </p:nvSpPr>
        <p:spPr>
          <a:xfrm xmlns:a="http://schemas.openxmlformats.org/drawingml/2006/main">
            <a:off x="609600" y="1676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3" name="24-text-3">
            <a:extLst xmlns:a="http://schemas.openxmlformats.org/drawingml/2006/main">
              <a:ext uri="{FF2B5EF4-FFF2-40B4-BE49-F238E27FC236}">
                <a16:creationId xmlns:a16="http://schemas.microsoft.com/office/drawing/2014/main" id="{432178AE-F00A-4838-9640-2F360D6169D3}"/>
              </a:ext>
            </a:extLst>
          </p:cNvPr>
          <p:cNvSpPr>
            <a:spLocks xmlns:a="http://schemas.openxmlformats.org/drawingml/2006/main"/>
          </p:cNvSpPr>
          <p:nvPr/>
        </p:nvSpPr>
        <p:spPr>
          <a:xfrm xmlns:a="http://schemas.openxmlformats.org/drawingml/2006/main">
            <a:off x="609600" y="1993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4" name="24-text-4">
            <a:extLst xmlns:a="http://schemas.openxmlformats.org/drawingml/2006/main">
              <a:ext uri="{FF2B5EF4-FFF2-40B4-BE49-F238E27FC236}">
                <a16:creationId xmlns:a16="http://schemas.microsoft.com/office/drawing/2014/main" id="{08B1C108-D94A-4A30-8DB1-C200DD5BE4A4}"/>
              </a:ext>
            </a:extLst>
          </p:cNvPr>
          <p:cNvSpPr>
            <a:spLocks xmlns:a="http://schemas.openxmlformats.org/drawingml/2006/main"/>
          </p:cNvSpPr>
          <p:nvPr/>
        </p:nvSpPr>
        <p:spPr>
          <a:xfrm xmlns:a="http://schemas.openxmlformats.org/drawingml/2006/main">
            <a:off x="609600" y="2463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 name="24-text-5">
            <a:extLst xmlns:a="http://schemas.openxmlformats.org/drawingml/2006/main">
              <a:ext uri="{FF2B5EF4-FFF2-40B4-BE49-F238E27FC236}">
                <a16:creationId xmlns:a16="http://schemas.microsoft.com/office/drawing/2014/main" id="{08DD05C2-C70E-4D02-9EC6-4284E289DA2E}"/>
              </a:ext>
            </a:extLst>
          </p:cNvPr>
          <p:cNvSpPr>
            <a:spLocks xmlns:a="http://schemas.openxmlformats.org/drawingml/2006/main"/>
          </p:cNvSpPr>
          <p:nvPr/>
        </p:nvSpPr>
        <p:spPr>
          <a:xfrm xmlns:a="http://schemas.openxmlformats.org/drawingml/2006/main">
            <a:off x="609600" y="2781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6" name="24-text-6">
            <a:extLst xmlns:a="http://schemas.openxmlformats.org/drawingml/2006/main">
              <a:ext uri="{FF2B5EF4-FFF2-40B4-BE49-F238E27FC236}">
                <a16:creationId xmlns:a16="http://schemas.microsoft.com/office/drawing/2014/main" id="{4E8263AA-A787-445A-A65F-E9CA774F82BD}"/>
              </a:ext>
            </a:extLst>
          </p:cNvPr>
          <p:cNvSpPr>
            <a:spLocks xmlns:a="http://schemas.openxmlformats.org/drawingml/2006/main"/>
          </p:cNvSpPr>
          <p:nvPr/>
        </p:nvSpPr>
        <p:spPr>
          <a:xfrm xmlns:a="http://schemas.openxmlformats.org/drawingml/2006/main">
            <a:off x="609600" y="3098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7" name="24-text-7">
            <a:extLst xmlns:a="http://schemas.openxmlformats.org/drawingml/2006/main">
              <a:ext uri="{FF2B5EF4-FFF2-40B4-BE49-F238E27FC236}">
                <a16:creationId xmlns:a16="http://schemas.microsoft.com/office/drawing/2014/main" id="{CB3C5B9D-5D25-419C-A3A6-40B7E51FC3BD}"/>
              </a:ext>
            </a:extLst>
          </p:cNvPr>
          <p:cNvSpPr>
            <a:spLocks xmlns:a="http://schemas.openxmlformats.org/drawingml/2006/main"/>
          </p:cNvSpPr>
          <p:nvPr/>
        </p:nvSpPr>
        <p:spPr>
          <a:xfrm xmlns:a="http://schemas.openxmlformats.org/drawingml/2006/main">
            <a:off x="609600" y="3568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8" name="24-text-8">
            <a:extLst xmlns:a="http://schemas.openxmlformats.org/drawingml/2006/main">
              <a:ext uri="{FF2B5EF4-FFF2-40B4-BE49-F238E27FC236}">
                <a16:creationId xmlns:a16="http://schemas.microsoft.com/office/drawing/2014/main" id="{CA6E38AB-94E3-4DFB-BEF8-215FA2015191}"/>
              </a:ext>
            </a:extLst>
          </p:cNvPr>
          <p:cNvSpPr>
            <a:spLocks xmlns:a="http://schemas.openxmlformats.org/drawingml/2006/main"/>
          </p:cNvSpPr>
          <p:nvPr/>
        </p:nvSpPr>
        <p:spPr>
          <a:xfrm xmlns:a="http://schemas.openxmlformats.org/drawingml/2006/main">
            <a:off x="609600" y="4038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9" name="24-text-9">
            <a:extLst xmlns:a="http://schemas.openxmlformats.org/drawingml/2006/main">
              <a:ext uri="{FF2B5EF4-FFF2-40B4-BE49-F238E27FC236}">
                <a16:creationId xmlns:a16="http://schemas.microsoft.com/office/drawing/2014/main" id="{6CEA6ACD-C5BA-427A-B424-AFD5B55BCFC2}"/>
              </a:ext>
            </a:extLst>
          </p:cNvPr>
          <p:cNvSpPr>
            <a:spLocks xmlns:a="http://schemas.openxmlformats.org/drawingml/2006/main"/>
          </p:cNvSpPr>
          <p:nvPr/>
        </p:nvSpPr>
        <p:spPr>
          <a:xfrm xmlns:a="http://schemas.openxmlformats.org/drawingml/2006/main">
            <a:off x="609600" y="4356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10" name="24-text-10">
            <a:extLst xmlns:a="http://schemas.openxmlformats.org/drawingml/2006/main">
              <a:ext uri="{FF2B5EF4-FFF2-40B4-BE49-F238E27FC236}">
                <a16:creationId xmlns:a16="http://schemas.microsoft.com/office/drawing/2014/main" id="{2FFB16AC-4424-4630-B963-1DC58164ACB3}"/>
              </a:ext>
            </a:extLst>
          </p:cNvPr>
          <p:cNvSpPr>
            <a:spLocks xmlns:a="http://schemas.openxmlformats.org/drawingml/2006/main"/>
          </p:cNvSpPr>
          <p:nvPr/>
        </p:nvSpPr>
        <p:spPr>
          <a:xfrm xmlns:a="http://schemas.openxmlformats.org/drawingml/2006/main">
            <a:off x="609600" y="467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11" name="24-text-11">
            <a:extLst xmlns:a="http://schemas.openxmlformats.org/drawingml/2006/main">
              <a:ext uri="{FF2B5EF4-FFF2-40B4-BE49-F238E27FC236}">
                <a16:creationId xmlns:a16="http://schemas.microsoft.com/office/drawing/2014/main" id="{535FE4A1-22A6-4467-9577-7AE1E4D461E1}"/>
              </a:ext>
            </a:extLst>
          </p:cNvPr>
          <p:cNvSpPr>
            <a:spLocks xmlns:a="http://schemas.openxmlformats.org/drawingml/2006/main"/>
          </p:cNvSpPr>
          <p:nvPr/>
        </p:nvSpPr>
        <p:spPr>
          <a:xfrm xmlns:a="http://schemas.openxmlformats.org/drawingml/2006/main">
            <a:off x="609600" y="5143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12" name="24-text-12">
            <a:extLst xmlns:a="http://schemas.openxmlformats.org/drawingml/2006/main">
              <a:ext uri="{FF2B5EF4-FFF2-40B4-BE49-F238E27FC236}">
                <a16:creationId xmlns:a16="http://schemas.microsoft.com/office/drawing/2014/main" id="{08A84639-3A33-4F55-86EE-02AD4BDE43EA}"/>
              </a:ext>
            </a:extLst>
          </p:cNvPr>
          <p:cNvSpPr>
            <a:spLocks xmlns:a="http://schemas.openxmlformats.org/drawingml/2006/main"/>
          </p:cNvSpPr>
          <p:nvPr/>
        </p:nvSpPr>
        <p:spPr>
          <a:xfrm xmlns:a="http://schemas.openxmlformats.org/drawingml/2006/main">
            <a:off x="609600" y="5461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13" name="24-text-13">
            <a:extLst xmlns:a="http://schemas.openxmlformats.org/drawingml/2006/main">
              <a:ext uri="{FF2B5EF4-FFF2-40B4-BE49-F238E27FC236}">
                <a16:creationId xmlns:a16="http://schemas.microsoft.com/office/drawing/2014/main" id="{B9A5EE7A-03B7-43C4-8220-AC6F2089A3A3}"/>
              </a:ext>
            </a:extLst>
          </p:cNvPr>
          <p:cNvSpPr>
            <a:spLocks xmlns:a="http://schemas.openxmlformats.org/drawingml/2006/main"/>
          </p:cNvSpPr>
          <p:nvPr/>
        </p:nvSpPr>
        <p:spPr>
          <a:xfrm xmlns:a="http://schemas.openxmlformats.org/drawingml/2006/main">
            <a:off x="609600" y="5930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Tree>
    <p:extLst>
      <p:ext uri="{BB962C8B-B14F-4D97-AF65-F5344CB8AC3E}">
        <p14:creationId xmlns:p14="http://schemas.microsoft.com/office/powerpoint/2010/main" val="15449456"/>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 name="25-text-1">
            <a:extLst xmlns:a="http://schemas.openxmlformats.org/drawingml/2006/main">
              <a:ext uri="{FF2B5EF4-FFF2-40B4-BE49-F238E27FC236}">
                <a16:creationId xmlns:a16="http://schemas.microsoft.com/office/drawing/2014/main" id="{73E86F6D-C0CE-45D1-8E96-A1067C6ECF09}"/>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2" name="25-text-2">
            <a:extLst xmlns:a="http://schemas.openxmlformats.org/drawingml/2006/main">
              <a:ext uri="{FF2B5EF4-FFF2-40B4-BE49-F238E27FC236}">
                <a16:creationId xmlns:a16="http://schemas.microsoft.com/office/drawing/2014/main" id="{D0E837E3-C58D-47EE-B563-267669328B9B}"/>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3" name="25-text-3">
            <a:extLst xmlns:a="http://schemas.openxmlformats.org/drawingml/2006/main">
              <a:ext uri="{FF2B5EF4-FFF2-40B4-BE49-F238E27FC236}">
                <a16:creationId xmlns:a16="http://schemas.microsoft.com/office/drawing/2014/main" id="{7C9B1D01-2DD2-49B7-AD2B-D3FC87487E1B}"/>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Tree>
    <p:extLst>
      <p:ext uri="{BB962C8B-B14F-4D97-AF65-F5344CB8AC3E}">
        <p14:creationId xmlns:p14="http://schemas.microsoft.com/office/powerpoint/2010/main" val="61127804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2026-09-15T04:39:28.4370000Z</dcterms:created>
  <dcterms:modified xsi:type="dcterms:W3CDTF">2026-09-15T04:39:28.4370000Z</dcterms:modified>
</coreProperties>
</file>